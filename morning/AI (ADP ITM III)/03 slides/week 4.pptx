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ttgy7avbgtls/mnt/agents/output/ai-course-week4/images/4_Dark_abstract_technology_wallpaper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332">
                  <a:alpha val="90000"/>
                </a:srgbClr>
              </a:gs>
              <a:gs pos="50000">
                <a:srgbClr val="1A2332">
                  <a:alpha val="80000"/>
                </a:srgbClr>
              </a:gs>
              <a:gs pos="100000">
                <a:srgbClr val="1A233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302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WEEK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3810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858000" y="48260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080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Environments &amp; Knowledge Based Agents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87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Lectures 7 &amp; 8 | Discrete &amp; Continuous Environments | Knowledge Based Agent Architecture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FFFFFF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667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556000"/>
            <a:ext cx="762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810000"/>
            <a:ext cx="381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 covers two fundamental topics in AI: understanding agent environments and knowledge-based agent systems.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0" y="2286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66000" y="2286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7: Environments in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6000" y="2730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 &amp; Continuous environments, PEAS model, environment characteristics, class activity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0000" y="3810000"/>
            <a:ext cx="8636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1" name="Text 9"/>
          <p:cNvSpPr/>
          <p:nvPr/>
        </p:nvSpPr>
        <p:spPr>
          <a:xfrm>
            <a:off x="6350000" y="4318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6000" y="4318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8: Knowledge Based Agents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6000" y="47625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KBA architecture, operations (TELL, ASK, EXECUTE), three levels of abstraction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ttgy7avbgtls/mnt/agents/output/ai-course-week4/images/7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332">
                  <a:alpha val="95000"/>
                </a:srgbClr>
              </a:gs>
              <a:gs pos="60000">
                <a:srgbClr val="1A2332">
                  <a:alpha val="90000"/>
                </a:srgbClr>
              </a:gs>
              <a:gs pos="100000">
                <a:srgbClr val="1A2332">
                  <a:alpha val="7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27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800" dirty="0">
                <a:solidFill>
                  <a:srgbClr val="FFFFFF">
                    <a:alpha val="1490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762000" y="266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3175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Environments in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3937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Discrete &amp; Continuous Environments and Their Characteristics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495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an Agent Environment?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587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environment is everything the agent interacts with — the external context in which an AI agent operates, perceives, acts, and learns.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33655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3365500"/>
            <a:ext cx="6858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Principle: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Understanding the environment is the first step in designing any intelligent agent.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431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0013" y="33338"/>
                </a:moveTo>
                <a:lnTo>
                  <a:pt x="100013" y="57150"/>
                </a:lnTo>
                <a:lnTo>
                  <a:pt x="53519" y="57150"/>
                </a:lnTo>
                <a:cubicBezTo>
                  <a:pt x="45006" y="57150"/>
                  <a:pt x="38100" y="64056"/>
                  <a:pt x="38100" y="72569"/>
                </a:cubicBezTo>
                <a:cubicBezTo>
                  <a:pt x="38100" y="74950"/>
                  <a:pt x="38636" y="77331"/>
                  <a:pt x="39707" y="79474"/>
                </a:cubicBezTo>
                <a:lnTo>
                  <a:pt x="59591" y="119241"/>
                </a:lnTo>
                <a:cubicBezTo>
                  <a:pt x="52804" y="120313"/>
                  <a:pt x="47565" y="126206"/>
                  <a:pt x="47565" y="133350"/>
                </a:cubicBezTo>
                <a:cubicBezTo>
                  <a:pt x="47565" y="141268"/>
                  <a:pt x="53935" y="147638"/>
                  <a:pt x="61853" y="147638"/>
                </a:cubicBezTo>
                <a:lnTo>
                  <a:pt x="65187" y="147638"/>
                </a:lnTo>
                <a:lnTo>
                  <a:pt x="57090" y="228600"/>
                </a:lnTo>
                <a:lnTo>
                  <a:pt x="23634" y="270450"/>
                </a:lnTo>
                <a:cubicBezTo>
                  <a:pt x="20657" y="274201"/>
                  <a:pt x="18990" y="278844"/>
                  <a:pt x="18990" y="283666"/>
                </a:cubicBezTo>
                <a:cubicBezTo>
                  <a:pt x="18990" y="295335"/>
                  <a:pt x="28456" y="304800"/>
                  <a:pt x="40124" y="304800"/>
                </a:cubicBezTo>
                <a:lnTo>
                  <a:pt x="188297" y="304800"/>
                </a:lnTo>
                <a:cubicBezTo>
                  <a:pt x="199965" y="304800"/>
                  <a:pt x="209431" y="295335"/>
                  <a:pt x="209431" y="283666"/>
                </a:cubicBezTo>
                <a:cubicBezTo>
                  <a:pt x="209431" y="278844"/>
                  <a:pt x="207824" y="274201"/>
                  <a:pt x="204787" y="270450"/>
                </a:cubicBezTo>
                <a:lnTo>
                  <a:pt x="171450" y="228600"/>
                </a:lnTo>
                <a:lnTo>
                  <a:pt x="163354" y="147638"/>
                </a:lnTo>
                <a:lnTo>
                  <a:pt x="166688" y="147638"/>
                </a:lnTo>
                <a:cubicBezTo>
                  <a:pt x="174605" y="147638"/>
                  <a:pt x="180975" y="141268"/>
                  <a:pt x="180975" y="133350"/>
                </a:cubicBezTo>
                <a:cubicBezTo>
                  <a:pt x="180975" y="126266"/>
                  <a:pt x="175796" y="120313"/>
                  <a:pt x="168950" y="119241"/>
                </a:cubicBezTo>
                <a:lnTo>
                  <a:pt x="188833" y="79474"/>
                </a:lnTo>
                <a:cubicBezTo>
                  <a:pt x="189905" y="77331"/>
                  <a:pt x="190440" y="74950"/>
                  <a:pt x="190440" y="72569"/>
                </a:cubicBezTo>
                <a:cubicBezTo>
                  <a:pt x="190440" y="64056"/>
                  <a:pt x="183535" y="57150"/>
                  <a:pt x="175022" y="57150"/>
                </a:cubicBezTo>
                <a:lnTo>
                  <a:pt x="128528" y="57150"/>
                </a:lnTo>
                <a:lnTo>
                  <a:pt x="128528" y="33338"/>
                </a:lnTo>
                <a:lnTo>
                  <a:pt x="138053" y="33338"/>
                </a:lnTo>
                <a:cubicBezTo>
                  <a:pt x="145971" y="33338"/>
                  <a:pt x="152340" y="26968"/>
                  <a:pt x="152340" y="19050"/>
                </a:cubicBezTo>
                <a:cubicBezTo>
                  <a:pt x="152340" y="11132"/>
                  <a:pt x="146030" y="4763"/>
                  <a:pt x="138113" y="4763"/>
                </a:cubicBezTo>
                <a:lnTo>
                  <a:pt x="128588" y="4763"/>
                </a:lnTo>
                <a:lnTo>
                  <a:pt x="128588" y="-4762"/>
                </a:lnTo>
                <a:cubicBezTo>
                  <a:pt x="128588" y="-12680"/>
                  <a:pt x="122218" y="-19050"/>
                  <a:pt x="114300" y="-19050"/>
                </a:cubicBezTo>
                <a:cubicBezTo>
                  <a:pt x="106382" y="-19050"/>
                  <a:pt x="100013" y="-12680"/>
                  <a:pt x="100013" y="-4762"/>
                </a:cubicBezTo>
                <a:lnTo>
                  <a:pt x="100013" y="4763"/>
                </a:lnTo>
                <a:lnTo>
                  <a:pt x="90488" y="4763"/>
                </a:lnTo>
                <a:cubicBezTo>
                  <a:pt x="82570" y="4763"/>
                  <a:pt x="76200" y="11132"/>
                  <a:pt x="76200" y="19050"/>
                </a:cubicBezTo>
                <a:cubicBezTo>
                  <a:pt x="76200" y="26968"/>
                  <a:pt x="82570" y="33338"/>
                  <a:pt x="90488" y="33338"/>
                </a:cubicBezTo>
                <a:lnTo>
                  <a:pt x="100013" y="33338"/>
                </a:lnTo>
                <a:close/>
                <a:moveTo>
                  <a:pt x="193953" y="166449"/>
                </a:moveTo>
                <a:lnTo>
                  <a:pt x="199013" y="217349"/>
                </a:lnTo>
                <a:lnTo>
                  <a:pt x="227231" y="252591"/>
                </a:lnTo>
                <a:lnTo>
                  <a:pt x="229731" y="255984"/>
                </a:lnTo>
                <a:cubicBezTo>
                  <a:pt x="235208" y="264140"/>
                  <a:pt x="238125" y="273784"/>
                  <a:pt x="238125" y="283666"/>
                </a:cubicBezTo>
                <a:cubicBezTo>
                  <a:pt x="238125" y="291227"/>
                  <a:pt x="236458" y="298430"/>
                  <a:pt x="233422" y="304800"/>
                </a:cubicBezTo>
                <a:lnTo>
                  <a:pt x="282893" y="304800"/>
                </a:lnTo>
                <a:cubicBezTo>
                  <a:pt x="294977" y="304800"/>
                  <a:pt x="304800" y="294977"/>
                  <a:pt x="304800" y="282892"/>
                </a:cubicBezTo>
                <a:cubicBezTo>
                  <a:pt x="304800" y="278547"/>
                  <a:pt x="303490" y="274320"/>
                  <a:pt x="301109" y="270748"/>
                </a:cubicBezTo>
                <a:lnTo>
                  <a:pt x="285750" y="247710"/>
                </a:lnTo>
                <a:lnTo>
                  <a:pt x="285750" y="209610"/>
                </a:lnTo>
                <a:lnTo>
                  <a:pt x="293668" y="201692"/>
                </a:lnTo>
                <a:cubicBezTo>
                  <a:pt x="300811" y="194548"/>
                  <a:pt x="304800" y="184845"/>
                  <a:pt x="304800" y="174724"/>
                </a:cubicBezTo>
                <a:lnTo>
                  <a:pt x="304800" y="114300"/>
                </a:lnTo>
                <a:cubicBezTo>
                  <a:pt x="304800" y="103763"/>
                  <a:pt x="296287" y="95250"/>
                  <a:pt x="285750" y="95250"/>
                </a:cubicBezTo>
                <a:cubicBezTo>
                  <a:pt x="275213" y="95250"/>
                  <a:pt x="266700" y="103763"/>
                  <a:pt x="266700" y="114300"/>
                </a:cubicBezTo>
                <a:lnTo>
                  <a:pt x="266700" y="123825"/>
                </a:lnTo>
                <a:lnTo>
                  <a:pt x="247650" y="123825"/>
                </a:lnTo>
                <a:lnTo>
                  <a:pt x="247650" y="114300"/>
                </a:lnTo>
                <a:cubicBezTo>
                  <a:pt x="247650" y="103763"/>
                  <a:pt x="239137" y="95250"/>
                  <a:pt x="228600" y="95250"/>
                </a:cubicBezTo>
                <a:cubicBezTo>
                  <a:pt x="218063" y="95250"/>
                  <a:pt x="209550" y="103763"/>
                  <a:pt x="209550" y="114300"/>
                </a:cubicBezTo>
                <a:lnTo>
                  <a:pt x="209550" y="133350"/>
                </a:lnTo>
                <a:cubicBezTo>
                  <a:pt x="209550" y="146685"/>
                  <a:pt x="203478" y="158591"/>
                  <a:pt x="193953" y="16644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93800" y="4889500"/>
            <a:ext cx="660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Chess Bot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Environment is the chessboard with all pieces and positions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23900" y="5778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93800" y="58166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Vacuum Robot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Environment is the room layout, furniture, and dirt locations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660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0486" y="69890"/>
                </a:moveTo>
                <a:lnTo>
                  <a:pt x="64949" y="114300"/>
                </a:lnTo>
                <a:lnTo>
                  <a:pt x="239851" y="114300"/>
                </a:lnTo>
                <a:lnTo>
                  <a:pt x="224314" y="69890"/>
                </a:lnTo>
                <a:cubicBezTo>
                  <a:pt x="221635" y="62270"/>
                  <a:pt x="214432" y="57150"/>
                  <a:pt x="206335" y="57150"/>
                </a:cubicBezTo>
                <a:lnTo>
                  <a:pt x="98465" y="57150"/>
                </a:lnTo>
                <a:cubicBezTo>
                  <a:pt x="90368" y="57150"/>
                  <a:pt x="83165" y="62270"/>
                  <a:pt x="80486" y="69890"/>
                </a:cubicBezTo>
                <a:close/>
                <a:moveTo>
                  <a:pt x="23574" y="117157"/>
                </a:moveTo>
                <a:lnTo>
                  <a:pt x="44529" y="57329"/>
                </a:lnTo>
                <a:cubicBezTo>
                  <a:pt x="52566" y="34409"/>
                  <a:pt x="74176" y="19050"/>
                  <a:pt x="98465" y="19050"/>
                </a:cubicBezTo>
                <a:lnTo>
                  <a:pt x="206335" y="19050"/>
                </a:lnTo>
                <a:cubicBezTo>
                  <a:pt x="230624" y="19050"/>
                  <a:pt x="252234" y="34409"/>
                  <a:pt x="260271" y="57329"/>
                </a:cubicBezTo>
                <a:lnTo>
                  <a:pt x="281226" y="117157"/>
                </a:lnTo>
                <a:cubicBezTo>
                  <a:pt x="295037" y="122873"/>
                  <a:pt x="304800" y="136505"/>
                  <a:pt x="304800" y="1524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66700" y="285750"/>
                </a:lnTo>
                <a:cubicBezTo>
                  <a:pt x="256163" y="285750"/>
                  <a:pt x="247650" y="277237"/>
                  <a:pt x="247650" y="266700"/>
                </a:cubicBezTo>
                <a:lnTo>
                  <a:pt x="247650" y="247650"/>
                </a:lnTo>
                <a:lnTo>
                  <a:pt x="57150" y="247650"/>
                </a:lnTo>
                <a:lnTo>
                  <a:pt x="57150" y="266700"/>
                </a:lnTo>
                <a:cubicBezTo>
                  <a:pt x="57150" y="277237"/>
                  <a:pt x="48637" y="285750"/>
                  <a:pt x="3810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152400"/>
                </a:lnTo>
                <a:cubicBezTo>
                  <a:pt x="0" y="136505"/>
                  <a:pt x="9763" y="122873"/>
                  <a:pt x="23574" y="117157"/>
                </a:cubicBezTo>
                <a:close/>
                <a:moveTo>
                  <a:pt x="76200" y="180975"/>
                </a:moveTo>
                <a:cubicBezTo>
                  <a:pt x="76200" y="170461"/>
                  <a:pt x="67664" y="161925"/>
                  <a:pt x="57150" y="161925"/>
                </a:cubicBezTo>
                <a:cubicBezTo>
                  <a:pt x="46636" y="161925"/>
                  <a:pt x="38100" y="170461"/>
                  <a:pt x="38100" y="180975"/>
                </a:cubicBezTo>
                <a:cubicBezTo>
                  <a:pt x="38100" y="191489"/>
                  <a:pt x="46636" y="200025"/>
                  <a:pt x="57150" y="200025"/>
                </a:cubicBezTo>
                <a:cubicBezTo>
                  <a:pt x="67664" y="200025"/>
                  <a:pt x="76200" y="191489"/>
                  <a:pt x="76200" y="180975"/>
                </a:cubicBezTo>
                <a:close/>
                <a:moveTo>
                  <a:pt x="247650" y="200025"/>
                </a:moveTo>
                <a:cubicBezTo>
                  <a:pt x="258164" y="200025"/>
                  <a:pt x="266700" y="191489"/>
                  <a:pt x="266700" y="180975"/>
                </a:cubicBezTo>
                <a:cubicBezTo>
                  <a:pt x="266700" y="170461"/>
                  <a:pt x="258164" y="161925"/>
                  <a:pt x="247650" y="161925"/>
                </a:cubicBezTo>
                <a:cubicBezTo>
                  <a:pt x="237136" y="161925"/>
                  <a:pt x="228600" y="170461"/>
                  <a:pt x="228600" y="180975"/>
                </a:cubicBezTo>
                <a:cubicBezTo>
                  <a:pt x="228600" y="191489"/>
                  <a:pt x="237136" y="200025"/>
                  <a:pt x="247650" y="2000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93800" y="6629400"/>
            <a:ext cx="660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Self-Driving Car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Environment is roads, traffic, pedestrians, weather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382000" y="1397000"/>
            <a:ext cx="7112000" cy="609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0" y="1587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Agent-Environment Interaction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414000" y="2286000"/>
            <a:ext cx="3048000" cy="8890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414000" y="2286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14000" y="5461000"/>
            <a:ext cx="3048000" cy="8890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4000" y="5461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414000" y="3302000"/>
            <a:ext cx="0" cy="2032000"/>
          </a:xfrm>
          <a:prstGeom prst="straightConnector1">
            <a:avLst/>
          </a:prstGeom>
          <a:noFill/>
          <a:ln w="25400">
            <a:solidFill>
              <a:srgbClr val="0F4C5C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8890000" y="3937000"/>
            <a:ext cx="139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 (percepts)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462000" y="3302000"/>
            <a:ext cx="0" cy="2032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arrow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3589000" y="3937000"/>
            <a:ext cx="139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Actuators (actions)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90000" y="6604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environment provides stimuli and feedback that shape the agent's decisions and behavior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PEAS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framework for specifying the task environment of an intelligent agent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3365500" cy="254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968500"/>
            <a:ext cx="336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667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Measure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30480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Quantifies the success of the agent's behavior and desired outcomes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1500" y="1841500"/>
            <a:ext cx="3365500" cy="254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4381500" y="1968500"/>
            <a:ext cx="336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67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0480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Everything the agent interacts with — physical or digital space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01000" y="1841500"/>
            <a:ext cx="3365500" cy="254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1968500"/>
            <a:ext cx="336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1500" y="2667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1500" y="30480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Mechanisms enabling the agent to influence and act on the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620500" y="1841500"/>
            <a:ext cx="3365500" cy="254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1620500" y="1968500"/>
            <a:ext cx="3365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>
                    <a:alpha val="25098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0" y="26670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0" y="30480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tools that allow the agent to perceive the environment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76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PEAS Example: Autonomous Taxi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14732000" cy="3048000"/>
        </p:xfrm>
        <a:graphic>
          <a:graphicData uri="http://schemas.openxmlformats.org/drawingml/2006/table">
            <a:tbl>
              <a:tblPr/>
              <a:tblGrid>
                <a:gridCol w="2946400"/>
                <a:gridCol w="117856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Performance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Safe, fast, legal, comfortable trip; maximize profits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Environment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Roads, traffic, pedestrians, customers, weather, signals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Actuators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Steering wheel, accelerator, brake, turn signals, horn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Sensors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Cameras, GPS, speedometer, LiDAR, radar, odometer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Environments: An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39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environments are classified along several key dimensions that determine agent design complexity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995363" y="20320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185738" y="20638"/>
                </a:moveTo>
                <a:cubicBezTo>
                  <a:pt x="133628" y="20638"/>
                  <a:pt x="91901" y="44371"/>
                  <a:pt x="61526" y="72618"/>
                </a:cubicBezTo>
                <a:cubicBezTo>
                  <a:pt x="31343" y="100672"/>
                  <a:pt x="11157" y="134144"/>
                  <a:pt x="1548" y="157167"/>
                </a:cubicBezTo>
                <a:cubicBezTo>
                  <a:pt x="-580" y="162262"/>
                  <a:pt x="-580" y="167938"/>
                  <a:pt x="1548" y="173033"/>
                </a:cubicBezTo>
                <a:cubicBezTo>
                  <a:pt x="11157" y="196056"/>
                  <a:pt x="31343" y="229592"/>
                  <a:pt x="61526" y="257582"/>
                </a:cubicBezTo>
                <a:cubicBezTo>
                  <a:pt x="91901" y="285765"/>
                  <a:pt x="133628" y="309563"/>
                  <a:pt x="185738" y="309563"/>
                </a:cubicBezTo>
                <a:cubicBezTo>
                  <a:pt x="237847" y="309563"/>
                  <a:pt x="279574" y="285829"/>
                  <a:pt x="309949" y="257582"/>
                </a:cubicBezTo>
                <a:cubicBezTo>
                  <a:pt x="340132" y="229528"/>
                  <a:pt x="360318" y="196056"/>
                  <a:pt x="369927" y="173033"/>
                </a:cubicBezTo>
                <a:cubicBezTo>
                  <a:pt x="372055" y="167938"/>
                  <a:pt x="372055" y="162262"/>
                  <a:pt x="369927" y="157167"/>
                </a:cubicBezTo>
                <a:cubicBezTo>
                  <a:pt x="360318" y="134144"/>
                  <a:pt x="340132" y="100608"/>
                  <a:pt x="309949" y="72618"/>
                </a:cubicBezTo>
                <a:cubicBezTo>
                  <a:pt x="279574" y="44435"/>
                  <a:pt x="237847" y="20637"/>
                  <a:pt x="185738" y="20637"/>
                </a:cubicBezTo>
                <a:close/>
                <a:moveTo>
                  <a:pt x="92869" y="165100"/>
                </a:moveTo>
                <a:cubicBezTo>
                  <a:pt x="92869" y="113844"/>
                  <a:pt x="134482" y="72231"/>
                  <a:pt x="185738" y="72231"/>
                </a:cubicBezTo>
                <a:cubicBezTo>
                  <a:pt x="236993" y="72231"/>
                  <a:pt x="278606" y="113844"/>
                  <a:pt x="278606" y="165100"/>
                </a:cubicBezTo>
                <a:cubicBezTo>
                  <a:pt x="278606" y="216356"/>
                  <a:pt x="236993" y="257969"/>
                  <a:pt x="185738" y="257969"/>
                </a:cubicBezTo>
                <a:cubicBezTo>
                  <a:pt x="134482" y="257969"/>
                  <a:pt x="92869" y="216356"/>
                  <a:pt x="92869" y="165100"/>
                </a:cubicBezTo>
                <a:close/>
                <a:moveTo>
                  <a:pt x="185738" y="123825"/>
                </a:moveTo>
                <a:cubicBezTo>
                  <a:pt x="185738" y="146591"/>
                  <a:pt x="167228" y="165100"/>
                  <a:pt x="144463" y="165100"/>
                </a:cubicBezTo>
                <a:cubicBezTo>
                  <a:pt x="137046" y="165100"/>
                  <a:pt x="130081" y="163165"/>
                  <a:pt x="124018" y="159683"/>
                </a:cubicBezTo>
                <a:cubicBezTo>
                  <a:pt x="123374" y="166712"/>
                  <a:pt x="123954" y="173935"/>
                  <a:pt x="125889" y="181094"/>
                </a:cubicBezTo>
                <a:cubicBezTo>
                  <a:pt x="134724" y="214114"/>
                  <a:pt x="168712" y="233720"/>
                  <a:pt x="201732" y="224884"/>
                </a:cubicBezTo>
                <a:cubicBezTo>
                  <a:pt x="234752" y="216049"/>
                  <a:pt x="254357" y="182061"/>
                  <a:pt x="245522" y="149041"/>
                </a:cubicBezTo>
                <a:cubicBezTo>
                  <a:pt x="237654" y="119569"/>
                  <a:pt x="209729" y="100801"/>
                  <a:pt x="180320" y="103381"/>
                </a:cubicBezTo>
                <a:cubicBezTo>
                  <a:pt x="183738" y="109379"/>
                  <a:pt x="185738" y="116344"/>
                  <a:pt x="185738" y="12382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473200" y="2006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vs Partially Observable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the agent fully see the state of the environment, or is information hidden?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841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1" name="Shape 9"/>
          <p:cNvSpPr/>
          <p:nvPr/>
        </p:nvSpPr>
        <p:spPr>
          <a:xfrm>
            <a:off x="5969000" y="2032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60419" y="22185"/>
                </a:moveTo>
                <a:cubicBezTo>
                  <a:pt x="268159" y="18961"/>
                  <a:pt x="276994" y="20766"/>
                  <a:pt x="282927" y="26635"/>
                </a:cubicBezTo>
                <a:lnTo>
                  <a:pt x="324202" y="67910"/>
                </a:lnTo>
                <a:cubicBezTo>
                  <a:pt x="328072" y="71780"/>
                  <a:pt x="330264" y="77004"/>
                  <a:pt x="330264" y="82486"/>
                </a:cubicBezTo>
                <a:cubicBezTo>
                  <a:pt x="330264" y="87967"/>
                  <a:pt x="328072" y="93191"/>
                  <a:pt x="324202" y="97061"/>
                </a:cubicBezTo>
                <a:lnTo>
                  <a:pt x="282927" y="138336"/>
                </a:lnTo>
                <a:cubicBezTo>
                  <a:pt x="276994" y="144269"/>
                  <a:pt x="268159" y="146010"/>
                  <a:pt x="260419" y="142786"/>
                </a:cubicBezTo>
                <a:cubicBezTo>
                  <a:pt x="252680" y="139561"/>
                  <a:pt x="247650" y="132144"/>
                  <a:pt x="247650" y="123825"/>
                </a:cubicBezTo>
                <a:lnTo>
                  <a:pt x="247650" y="103188"/>
                </a:lnTo>
                <a:lnTo>
                  <a:pt x="227013" y="103188"/>
                </a:lnTo>
                <a:cubicBezTo>
                  <a:pt x="220499" y="103188"/>
                  <a:pt x="214372" y="106219"/>
                  <a:pt x="210503" y="111443"/>
                </a:cubicBezTo>
                <a:lnTo>
                  <a:pt x="189607" y="139303"/>
                </a:lnTo>
                <a:lnTo>
                  <a:pt x="163810" y="104929"/>
                </a:lnTo>
                <a:lnTo>
                  <a:pt x="177482" y="86677"/>
                </a:lnTo>
                <a:cubicBezTo>
                  <a:pt x="189156" y="71070"/>
                  <a:pt x="207536" y="61912"/>
                  <a:pt x="227013" y="61912"/>
                </a:cubicBezTo>
                <a:lnTo>
                  <a:pt x="247650" y="61912"/>
                </a:lnTo>
                <a:lnTo>
                  <a:pt x="247650" y="41275"/>
                </a:lnTo>
                <a:cubicBezTo>
                  <a:pt x="247650" y="32956"/>
                  <a:pt x="252680" y="25410"/>
                  <a:pt x="260419" y="22185"/>
                </a:cubicBezTo>
                <a:close/>
                <a:moveTo>
                  <a:pt x="99318" y="190897"/>
                </a:moveTo>
                <a:lnTo>
                  <a:pt x="125115" y="225271"/>
                </a:lnTo>
                <a:lnTo>
                  <a:pt x="111443" y="243523"/>
                </a:lnTo>
                <a:cubicBezTo>
                  <a:pt x="99769" y="259130"/>
                  <a:pt x="81389" y="268288"/>
                  <a:pt x="61912" y="268288"/>
                </a:cubicBezTo>
                <a:lnTo>
                  <a:pt x="20638" y="268288"/>
                </a:lnTo>
                <a:cubicBezTo>
                  <a:pt x="9222" y="268288"/>
                  <a:pt x="0" y="259065"/>
                  <a:pt x="0" y="247650"/>
                </a:cubicBezTo>
                <a:cubicBezTo>
                  <a:pt x="0" y="236235"/>
                  <a:pt x="9222" y="227013"/>
                  <a:pt x="20638" y="227013"/>
                </a:cubicBezTo>
                <a:lnTo>
                  <a:pt x="61912" y="227013"/>
                </a:lnTo>
                <a:cubicBezTo>
                  <a:pt x="68426" y="227013"/>
                  <a:pt x="74553" y="223981"/>
                  <a:pt x="78423" y="218758"/>
                </a:cubicBezTo>
                <a:lnTo>
                  <a:pt x="99318" y="190897"/>
                </a:lnTo>
                <a:close/>
                <a:moveTo>
                  <a:pt x="282863" y="303500"/>
                </a:moveTo>
                <a:cubicBezTo>
                  <a:pt x="276929" y="309434"/>
                  <a:pt x="268094" y="311175"/>
                  <a:pt x="260355" y="307950"/>
                </a:cubicBezTo>
                <a:cubicBezTo>
                  <a:pt x="252616" y="304726"/>
                  <a:pt x="247650" y="297244"/>
                  <a:pt x="247650" y="288925"/>
                </a:cubicBezTo>
                <a:lnTo>
                  <a:pt x="247650" y="268288"/>
                </a:lnTo>
                <a:lnTo>
                  <a:pt x="227013" y="268288"/>
                </a:lnTo>
                <a:cubicBezTo>
                  <a:pt x="207536" y="268288"/>
                  <a:pt x="189156" y="259130"/>
                  <a:pt x="177482" y="243523"/>
                </a:cubicBezTo>
                <a:lnTo>
                  <a:pt x="78423" y="111443"/>
                </a:lnTo>
                <a:cubicBezTo>
                  <a:pt x="74553" y="106219"/>
                  <a:pt x="68426" y="103188"/>
                  <a:pt x="61912" y="103188"/>
                </a:cubicBezTo>
                <a:lnTo>
                  <a:pt x="20638" y="103188"/>
                </a:lnTo>
                <a:cubicBezTo>
                  <a:pt x="9222" y="103188"/>
                  <a:pt x="0" y="93965"/>
                  <a:pt x="0" y="82550"/>
                </a:cubicBezTo>
                <a:cubicBezTo>
                  <a:pt x="0" y="71135"/>
                  <a:pt x="9222" y="61912"/>
                  <a:pt x="20638" y="61912"/>
                </a:cubicBezTo>
                <a:lnTo>
                  <a:pt x="61912" y="61912"/>
                </a:lnTo>
                <a:cubicBezTo>
                  <a:pt x="81389" y="61912"/>
                  <a:pt x="99769" y="71070"/>
                  <a:pt x="111443" y="86678"/>
                </a:cubicBezTo>
                <a:lnTo>
                  <a:pt x="210503" y="218758"/>
                </a:lnTo>
                <a:cubicBezTo>
                  <a:pt x="214372" y="223981"/>
                  <a:pt x="220499" y="227013"/>
                  <a:pt x="227013" y="227013"/>
                </a:cubicBezTo>
                <a:lnTo>
                  <a:pt x="247650" y="227013"/>
                </a:lnTo>
                <a:lnTo>
                  <a:pt x="247650" y="206375"/>
                </a:lnTo>
                <a:cubicBezTo>
                  <a:pt x="247650" y="198056"/>
                  <a:pt x="252680" y="190510"/>
                  <a:pt x="260419" y="187285"/>
                </a:cubicBezTo>
                <a:cubicBezTo>
                  <a:pt x="268159" y="184061"/>
                  <a:pt x="276994" y="185866"/>
                  <a:pt x="282927" y="191735"/>
                </a:cubicBezTo>
                <a:lnTo>
                  <a:pt x="324202" y="233010"/>
                </a:lnTo>
                <a:cubicBezTo>
                  <a:pt x="328072" y="236880"/>
                  <a:pt x="330264" y="242104"/>
                  <a:pt x="330264" y="247586"/>
                </a:cubicBezTo>
                <a:cubicBezTo>
                  <a:pt x="330264" y="253067"/>
                  <a:pt x="328072" y="258291"/>
                  <a:pt x="324202" y="262161"/>
                </a:cubicBezTo>
                <a:lnTo>
                  <a:pt x="282927" y="303436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26200" y="2006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vs Stochastic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2476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next state predictable from the current state and action?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8415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22000" y="2032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46434"/>
                </a:moveTo>
                <a:cubicBezTo>
                  <a:pt x="0" y="37921"/>
                  <a:pt x="6901" y="30956"/>
                  <a:pt x="15478" y="30956"/>
                </a:cubicBezTo>
                <a:lnTo>
                  <a:pt x="46434" y="30956"/>
                </a:lnTo>
                <a:cubicBezTo>
                  <a:pt x="55012" y="30956"/>
                  <a:pt x="61912" y="37857"/>
                  <a:pt x="61912" y="46434"/>
                </a:cubicBezTo>
                <a:lnTo>
                  <a:pt x="61912" y="113506"/>
                </a:lnTo>
                <a:lnTo>
                  <a:pt x="77391" y="113506"/>
                </a:lnTo>
                <a:cubicBezTo>
                  <a:pt x="85968" y="113506"/>
                  <a:pt x="92869" y="120407"/>
                  <a:pt x="92869" y="128984"/>
                </a:cubicBezTo>
                <a:cubicBezTo>
                  <a:pt x="92869" y="137562"/>
                  <a:pt x="85968" y="144463"/>
                  <a:pt x="77391" y="144463"/>
                </a:cubicBezTo>
                <a:lnTo>
                  <a:pt x="15478" y="144463"/>
                </a:lnTo>
                <a:cubicBezTo>
                  <a:pt x="6901" y="144463"/>
                  <a:pt x="0" y="137562"/>
                  <a:pt x="0" y="128984"/>
                </a:cubicBezTo>
                <a:cubicBezTo>
                  <a:pt x="0" y="120407"/>
                  <a:pt x="6901" y="113506"/>
                  <a:pt x="15478" y="113506"/>
                </a:cubicBezTo>
                <a:lnTo>
                  <a:pt x="30956" y="113506"/>
                </a:lnTo>
                <a:lnTo>
                  <a:pt x="30956" y="61912"/>
                </a:lnTo>
                <a:lnTo>
                  <a:pt x="15478" y="61912"/>
                </a:lnTo>
                <a:cubicBezTo>
                  <a:pt x="6901" y="61912"/>
                  <a:pt x="0" y="55012"/>
                  <a:pt x="0" y="46434"/>
                </a:cubicBezTo>
                <a:close/>
                <a:moveTo>
                  <a:pt x="19606" y="194250"/>
                </a:moveTo>
                <a:cubicBezTo>
                  <a:pt x="26958" y="188704"/>
                  <a:pt x="35922" y="185738"/>
                  <a:pt x="45145" y="185738"/>
                </a:cubicBezTo>
                <a:lnTo>
                  <a:pt x="48305" y="185738"/>
                </a:lnTo>
                <a:cubicBezTo>
                  <a:pt x="70039" y="185738"/>
                  <a:pt x="87709" y="203408"/>
                  <a:pt x="87709" y="225142"/>
                </a:cubicBezTo>
                <a:cubicBezTo>
                  <a:pt x="87709" y="237783"/>
                  <a:pt x="81647" y="249585"/>
                  <a:pt x="71457" y="257001"/>
                </a:cubicBezTo>
                <a:lnTo>
                  <a:pt x="55979" y="268288"/>
                </a:lnTo>
                <a:lnTo>
                  <a:pt x="77391" y="268288"/>
                </a:lnTo>
                <a:cubicBezTo>
                  <a:pt x="85968" y="268288"/>
                  <a:pt x="92869" y="275188"/>
                  <a:pt x="92869" y="283766"/>
                </a:cubicBezTo>
                <a:cubicBezTo>
                  <a:pt x="92869" y="292343"/>
                  <a:pt x="85968" y="299244"/>
                  <a:pt x="77391" y="299244"/>
                </a:cubicBezTo>
                <a:lnTo>
                  <a:pt x="18896" y="299244"/>
                </a:lnTo>
                <a:cubicBezTo>
                  <a:pt x="8448" y="299244"/>
                  <a:pt x="0" y="290795"/>
                  <a:pt x="0" y="280348"/>
                </a:cubicBezTo>
                <a:cubicBezTo>
                  <a:pt x="0" y="274285"/>
                  <a:pt x="2902" y="268610"/>
                  <a:pt x="7804" y="265063"/>
                </a:cubicBezTo>
                <a:lnTo>
                  <a:pt x="53271" y="231978"/>
                </a:lnTo>
                <a:cubicBezTo>
                  <a:pt x="55463" y="230366"/>
                  <a:pt x="56753" y="227851"/>
                  <a:pt x="56753" y="225142"/>
                </a:cubicBezTo>
                <a:cubicBezTo>
                  <a:pt x="56753" y="220499"/>
                  <a:pt x="52948" y="216694"/>
                  <a:pt x="48305" y="216694"/>
                </a:cubicBezTo>
                <a:lnTo>
                  <a:pt x="45145" y="216694"/>
                </a:lnTo>
                <a:cubicBezTo>
                  <a:pt x="42629" y="216694"/>
                  <a:pt x="40179" y="217532"/>
                  <a:pt x="38179" y="219015"/>
                </a:cubicBezTo>
                <a:lnTo>
                  <a:pt x="24765" y="229076"/>
                </a:lnTo>
                <a:cubicBezTo>
                  <a:pt x="17929" y="234236"/>
                  <a:pt x="8255" y="232817"/>
                  <a:pt x="3096" y="225981"/>
                </a:cubicBezTo>
                <a:cubicBezTo>
                  <a:pt x="-2064" y="219144"/>
                  <a:pt x="-645" y="209471"/>
                  <a:pt x="6191" y="204311"/>
                </a:cubicBezTo>
                <a:lnTo>
                  <a:pt x="19606" y="194250"/>
                </a:lnTo>
                <a:close/>
                <a:moveTo>
                  <a:pt x="144463" y="41275"/>
                </a:moveTo>
                <a:lnTo>
                  <a:pt x="309563" y="41275"/>
                </a:lnTo>
                <a:cubicBezTo>
                  <a:pt x="320978" y="41275"/>
                  <a:pt x="330200" y="50497"/>
                  <a:pt x="330200" y="61912"/>
                </a:cubicBezTo>
                <a:cubicBezTo>
                  <a:pt x="330200" y="73328"/>
                  <a:pt x="320978" y="82550"/>
                  <a:pt x="309563" y="82550"/>
                </a:cubicBezTo>
                <a:lnTo>
                  <a:pt x="144463" y="82550"/>
                </a:lnTo>
                <a:cubicBezTo>
                  <a:pt x="133047" y="82550"/>
                  <a:pt x="123825" y="73328"/>
                  <a:pt x="123825" y="61912"/>
                </a:cubicBezTo>
                <a:cubicBezTo>
                  <a:pt x="123825" y="50497"/>
                  <a:pt x="133047" y="41275"/>
                  <a:pt x="144463" y="41275"/>
                </a:cubicBezTo>
                <a:close/>
                <a:moveTo>
                  <a:pt x="144463" y="144463"/>
                </a:moveTo>
                <a:lnTo>
                  <a:pt x="309563" y="144463"/>
                </a:lnTo>
                <a:cubicBezTo>
                  <a:pt x="320978" y="144463"/>
                  <a:pt x="330200" y="153685"/>
                  <a:pt x="330200" y="165100"/>
                </a:cubicBezTo>
                <a:cubicBezTo>
                  <a:pt x="330200" y="176515"/>
                  <a:pt x="320978" y="185738"/>
                  <a:pt x="309563" y="185738"/>
                </a:cubicBezTo>
                <a:lnTo>
                  <a:pt x="144463" y="185738"/>
                </a:lnTo>
                <a:cubicBezTo>
                  <a:pt x="133047" y="185738"/>
                  <a:pt x="123825" y="176515"/>
                  <a:pt x="123825" y="165100"/>
                </a:cubicBezTo>
                <a:cubicBezTo>
                  <a:pt x="123825" y="153685"/>
                  <a:pt x="133047" y="144463"/>
                  <a:pt x="144463" y="144463"/>
                </a:cubicBezTo>
                <a:close/>
                <a:moveTo>
                  <a:pt x="144463" y="247650"/>
                </a:moveTo>
                <a:lnTo>
                  <a:pt x="309563" y="247650"/>
                </a:lnTo>
                <a:cubicBezTo>
                  <a:pt x="320978" y="247650"/>
                  <a:pt x="330200" y="256872"/>
                  <a:pt x="330200" y="268288"/>
                </a:cubicBezTo>
                <a:cubicBezTo>
                  <a:pt x="330200" y="279703"/>
                  <a:pt x="320978" y="288925"/>
                  <a:pt x="309563" y="288925"/>
                </a:cubicBezTo>
                <a:lnTo>
                  <a:pt x="144463" y="288925"/>
                </a:lnTo>
                <a:cubicBezTo>
                  <a:pt x="133047" y="288925"/>
                  <a:pt x="123825" y="279703"/>
                  <a:pt x="123825" y="268288"/>
                </a:cubicBezTo>
                <a:cubicBezTo>
                  <a:pt x="123825" y="256872"/>
                  <a:pt x="133047" y="247650"/>
                  <a:pt x="144463" y="2476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Text 14"/>
          <p:cNvSpPr/>
          <p:nvPr/>
        </p:nvSpPr>
        <p:spPr>
          <a:xfrm>
            <a:off x="11379200" y="2006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vs Sequential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22000" y="24765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the current action affect future decisions and states?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0640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6638" y="42545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18500" y="-6385"/>
                </a:moveTo>
                <a:cubicBezTo>
                  <a:pt x="226174" y="-838"/>
                  <a:pt x="229012" y="9222"/>
                  <a:pt x="225529" y="17993"/>
                </a:cubicBezTo>
                <a:lnTo>
                  <a:pt x="174967" y="144463"/>
                </a:lnTo>
                <a:lnTo>
                  <a:pt x="268288" y="144463"/>
                </a:lnTo>
                <a:cubicBezTo>
                  <a:pt x="276994" y="144463"/>
                  <a:pt x="284733" y="149880"/>
                  <a:pt x="287700" y="158070"/>
                </a:cubicBezTo>
                <a:cubicBezTo>
                  <a:pt x="290666" y="166261"/>
                  <a:pt x="288151" y="175419"/>
                  <a:pt x="281508" y="180965"/>
                </a:cubicBezTo>
                <a:lnTo>
                  <a:pt x="95771" y="335746"/>
                </a:lnTo>
                <a:cubicBezTo>
                  <a:pt x="88483" y="341809"/>
                  <a:pt x="78100" y="342131"/>
                  <a:pt x="70425" y="336585"/>
                </a:cubicBezTo>
                <a:cubicBezTo>
                  <a:pt x="62751" y="331038"/>
                  <a:pt x="59913" y="320978"/>
                  <a:pt x="63396" y="312207"/>
                </a:cubicBezTo>
                <a:lnTo>
                  <a:pt x="113958" y="185738"/>
                </a:lnTo>
                <a:lnTo>
                  <a:pt x="20638" y="185738"/>
                </a:lnTo>
                <a:cubicBezTo>
                  <a:pt x="11931" y="185738"/>
                  <a:pt x="4192" y="180320"/>
                  <a:pt x="1225" y="172130"/>
                </a:cubicBezTo>
                <a:cubicBezTo>
                  <a:pt x="-1741" y="163939"/>
                  <a:pt x="774" y="154781"/>
                  <a:pt x="7417" y="149235"/>
                </a:cubicBezTo>
                <a:lnTo>
                  <a:pt x="193154" y="-5546"/>
                </a:lnTo>
                <a:cubicBezTo>
                  <a:pt x="200442" y="-11609"/>
                  <a:pt x="210825" y="-11931"/>
                  <a:pt x="218500" y="-638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" y="42291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vs Dynamic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699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the environment change while the agent is deliberating?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40640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69000" y="4254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51594"/>
                </a:moveTo>
                <a:cubicBezTo>
                  <a:pt x="0" y="34503"/>
                  <a:pt x="13866" y="20638"/>
                  <a:pt x="30956" y="20638"/>
                </a:cubicBezTo>
                <a:lnTo>
                  <a:pt x="92869" y="20638"/>
                </a:lnTo>
                <a:cubicBezTo>
                  <a:pt x="109959" y="20638"/>
                  <a:pt x="123825" y="34503"/>
                  <a:pt x="123825" y="51594"/>
                </a:cubicBezTo>
                <a:lnTo>
                  <a:pt x="123825" y="61912"/>
                </a:lnTo>
                <a:lnTo>
                  <a:pt x="206375" y="61912"/>
                </a:lnTo>
                <a:lnTo>
                  <a:pt x="206375" y="51594"/>
                </a:lnTo>
                <a:cubicBezTo>
                  <a:pt x="206375" y="34503"/>
                  <a:pt x="220241" y="20638"/>
                  <a:pt x="237331" y="20638"/>
                </a:cubicBezTo>
                <a:lnTo>
                  <a:pt x="299244" y="20638"/>
                </a:lnTo>
                <a:cubicBezTo>
                  <a:pt x="316334" y="20638"/>
                  <a:pt x="330200" y="34503"/>
                  <a:pt x="330200" y="51594"/>
                </a:cubicBezTo>
                <a:lnTo>
                  <a:pt x="330200" y="113506"/>
                </a:lnTo>
                <a:cubicBezTo>
                  <a:pt x="330200" y="130597"/>
                  <a:pt x="316334" y="144463"/>
                  <a:pt x="299244" y="144463"/>
                </a:cubicBezTo>
                <a:lnTo>
                  <a:pt x="237331" y="144463"/>
                </a:lnTo>
                <a:cubicBezTo>
                  <a:pt x="220241" y="144463"/>
                  <a:pt x="206375" y="130597"/>
                  <a:pt x="206375" y="113506"/>
                </a:cubicBezTo>
                <a:lnTo>
                  <a:pt x="206375" y="103188"/>
                </a:lnTo>
                <a:lnTo>
                  <a:pt x="123825" y="103188"/>
                </a:lnTo>
                <a:lnTo>
                  <a:pt x="123825" y="113506"/>
                </a:lnTo>
                <a:cubicBezTo>
                  <a:pt x="123825" y="118214"/>
                  <a:pt x="122729" y="122729"/>
                  <a:pt x="120858" y="126727"/>
                </a:cubicBezTo>
                <a:lnTo>
                  <a:pt x="165100" y="185738"/>
                </a:lnTo>
                <a:lnTo>
                  <a:pt x="216694" y="185738"/>
                </a:lnTo>
                <a:cubicBezTo>
                  <a:pt x="233784" y="185738"/>
                  <a:pt x="247650" y="199603"/>
                  <a:pt x="247650" y="216694"/>
                </a:cubicBezTo>
                <a:lnTo>
                  <a:pt x="247650" y="278606"/>
                </a:lnTo>
                <a:cubicBezTo>
                  <a:pt x="247650" y="295697"/>
                  <a:pt x="233784" y="309563"/>
                  <a:pt x="216694" y="309563"/>
                </a:cubicBezTo>
                <a:lnTo>
                  <a:pt x="154781" y="309563"/>
                </a:lnTo>
                <a:cubicBezTo>
                  <a:pt x="137691" y="309563"/>
                  <a:pt x="123825" y="295697"/>
                  <a:pt x="123825" y="278606"/>
                </a:cubicBezTo>
                <a:lnTo>
                  <a:pt x="123825" y="216694"/>
                </a:lnTo>
                <a:cubicBezTo>
                  <a:pt x="123825" y="211986"/>
                  <a:pt x="124921" y="207471"/>
                  <a:pt x="126792" y="203473"/>
                </a:cubicBezTo>
                <a:lnTo>
                  <a:pt x="82550" y="144463"/>
                </a:lnTo>
                <a:lnTo>
                  <a:pt x="30956" y="144463"/>
                </a:lnTo>
                <a:cubicBezTo>
                  <a:pt x="13866" y="144463"/>
                  <a:pt x="0" y="130597"/>
                  <a:pt x="0" y="113506"/>
                </a:cubicBezTo>
                <a:lnTo>
                  <a:pt x="0" y="51594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6426200" y="42291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Discrete vs Continuous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69000" y="4699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number of possible states and actions finite or infinite?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40640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80725" y="4254500"/>
            <a:ext cx="412750" cy="330200"/>
          </a:xfrm>
          <a:custGeom>
            <a:avLst/>
            <a:gdLst/>
            <a:ahLst/>
            <a:cxnLst/>
            <a:rect l="l" t="t" r="r" b="b"/>
            <a:pathLst>
              <a:path w="412750" h="330200">
                <a:moveTo>
                  <a:pt x="206375" y="10319"/>
                </a:moveTo>
                <a:cubicBezTo>
                  <a:pt x="243393" y="10319"/>
                  <a:pt x="273447" y="40373"/>
                  <a:pt x="273447" y="77391"/>
                </a:cubicBezTo>
                <a:cubicBezTo>
                  <a:pt x="273447" y="114409"/>
                  <a:pt x="243393" y="144463"/>
                  <a:pt x="206375" y="144463"/>
                </a:cubicBezTo>
                <a:cubicBezTo>
                  <a:pt x="169357" y="144463"/>
                  <a:pt x="139303" y="114409"/>
                  <a:pt x="139303" y="77391"/>
                </a:cubicBezTo>
                <a:cubicBezTo>
                  <a:pt x="139303" y="40373"/>
                  <a:pt x="169357" y="10319"/>
                  <a:pt x="206375" y="10319"/>
                </a:cubicBezTo>
                <a:close/>
                <a:moveTo>
                  <a:pt x="61912" y="56753"/>
                </a:moveTo>
                <a:cubicBezTo>
                  <a:pt x="87540" y="56753"/>
                  <a:pt x="108347" y="77560"/>
                  <a:pt x="108347" y="103188"/>
                </a:cubicBezTo>
                <a:cubicBezTo>
                  <a:pt x="108347" y="128815"/>
                  <a:pt x="87540" y="149622"/>
                  <a:pt x="61912" y="149622"/>
                </a:cubicBezTo>
                <a:cubicBezTo>
                  <a:pt x="36285" y="149622"/>
                  <a:pt x="15478" y="128815"/>
                  <a:pt x="15478" y="103188"/>
                </a:cubicBezTo>
                <a:cubicBezTo>
                  <a:pt x="15478" y="77560"/>
                  <a:pt x="36285" y="56753"/>
                  <a:pt x="61912" y="56753"/>
                </a:cubicBezTo>
                <a:close/>
                <a:moveTo>
                  <a:pt x="0" y="268288"/>
                </a:moveTo>
                <a:cubicBezTo>
                  <a:pt x="0" y="222692"/>
                  <a:pt x="36954" y="185738"/>
                  <a:pt x="82550" y="185738"/>
                </a:cubicBezTo>
                <a:cubicBezTo>
                  <a:pt x="90805" y="185738"/>
                  <a:pt x="98802" y="186963"/>
                  <a:pt x="106348" y="189220"/>
                </a:cubicBezTo>
                <a:cubicBezTo>
                  <a:pt x="85130" y="212953"/>
                  <a:pt x="72231" y="244296"/>
                  <a:pt x="72231" y="278606"/>
                </a:cubicBezTo>
                <a:lnTo>
                  <a:pt x="72231" y="288925"/>
                </a:lnTo>
                <a:cubicBezTo>
                  <a:pt x="72231" y="296277"/>
                  <a:pt x="73779" y="303242"/>
                  <a:pt x="76552" y="309563"/>
                </a:cubicBezTo>
                <a:lnTo>
                  <a:pt x="20638" y="309563"/>
                </a:lnTo>
                <a:cubicBezTo>
                  <a:pt x="9222" y="309563"/>
                  <a:pt x="0" y="300340"/>
                  <a:pt x="0" y="288925"/>
                </a:cubicBezTo>
                <a:lnTo>
                  <a:pt x="0" y="268288"/>
                </a:lnTo>
                <a:close/>
                <a:moveTo>
                  <a:pt x="336198" y="309563"/>
                </a:moveTo>
                <a:cubicBezTo>
                  <a:pt x="338971" y="303242"/>
                  <a:pt x="340519" y="296277"/>
                  <a:pt x="340519" y="288925"/>
                </a:cubicBezTo>
                <a:lnTo>
                  <a:pt x="340519" y="278606"/>
                </a:lnTo>
                <a:cubicBezTo>
                  <a:pt x="340519" y="244296"/>
                  <a:pt x="327620" y="212953"/>
                  <a:pt x="306402" y="189220"/>
                </a:cubicBezTo>
                <a:cubicBezTo>
                  <a:pt x="313948" y="186963"/>
                  <a:pt x="321945" y="185738"/>
                  <a:pt x="330200" y="185738"/>
                </a:cubicBezTo>
                <a:cubicBezTo>
                  <a:pt x="375796" y="185738"/>
                  <a:pt x="412750" y="222692"/>
                  <a:pt x="412750" y="268288"/>
                </a:cubicBezTo>
                <a:lnTo>
                  <a:pt x="412750" y="288925"/>
                </a:lnTo>
                <a:cubicBezTo>
                  <a:pt x="412750" y="300340"/>
                  <a:pt x="403528" y="309563"/>
                  <a:pt x="392113" y="309563"/>
                </a:cubicBezTo>
                <a:lnTo>
                  <a:pt x="336198" y="309563"/>
                </a:lnTo>
                <a:close/>
                <a:moveTo>
                  <a:pt x="304403" y="103188"/>
                </a:moveTo>
                <a:cubicBezTo>
                  <a:pt x="304403" y="77560"/>
                  <a:pt x="325210" y="56753"/>
                  <a:pt x="350838" y="56753"/>
                </a:cubicBezTo>
                <a:cubicBezTo>
                  <a:pt x="376465" y="56753"/>
                  <a:pt x="397272" y="77560"/>
                  <a:pt x="397272" y="103187"/>
                </a:cubicBezTo>
                <a:cubicBezTo>
                  <a:pt x="397272" y="128815"/>
                  <a:pt x="376465" y="149622"/>
                  <a:pt x="350838" y="149622"/>
                </a:cubicBezTo>
                <a:cubicBezTo>
                  <a:pt x="325210" y="149622"/>
                  <a:pt x="304403" y="128815"/>
                  <a:pt x="304403" y="103188"/>
                </a:cubicBezTo>
                <a:close/>
                <a:moveTo>
                  <a:pt x="103188" y="278606"/>
                </a:moveTo>
                <a:cubicBezTo>
                  <a:pt x="103188" y="221595"/>
                  <a:pt x="149364" y="175419"/>
                  <a:pt x="206375" y="175419"/>
                </a:cubicBezTo>
                <a:cubicBezTo>
                  <a:pt x="263386" y="175419"/>
                  <a:pt x="309563" y="221595"/>
                  <a:pt x="309563" y="278606"/>
                </a:cubicBezTo>
                <a:lnTo>
                  <a:pt x="309563" y="288925"/>
                </a:lnTo>
                <a:cubicBezTo>
                  <a:pt x="309563" y="300340"/>
                  <a:pt x="300340" y="309563"/>
                  <a:pt x="288925" y="309563"/>
                </a:cubicBezTo>
                <a:lnTo>
                  <a:pt x="123825" y="309563"/>
                </a:lnTo>
                <a:cubicBezTo>
                  <a:pt x="112410" y="309563"/>
                  <a:pt x="103188" y="300340"/>
                  <a:pt x="103188" y="288925"/>
                </a:cubicBezTo>
                <a:lnTo>
                  <a:pt x="103188" y="278606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11379200" y="4229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vs Multi-agent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22000" y="4699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agent acting alone or are other agents involved?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4770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990600" y="64770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hardest environments are partially observable, stochastic, sequential, dynamic, continuous, and multi-agent — requiring the most sophisticated agent designs.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Discrete Environments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8382000" cy="1460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35050" y="152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8600" y="57150"/>
                </a:moveTo>
                <a:lnTo>
                  <a:pt x="228600" y="95250"/>
                </a:lnTo>
                <a:lnTo>
                  <a:pt x="190500" y="95250"/>
                </a:lnTo>
                <a:lnTo>
                  <a:pt x="190500" y="57150"/>
                </a:lnTo>
                <a:lnTo>
                  <a:pt x="228600" y="57150"/>
                </a:lnTo>
                <a:close/>
                <a:moveTo>
                  <a:pt x="228600" y="133350"/>
                </a:moveTo>
                <a:lnTo>
                  <a:pt x="228600" y="171450"/>
                </a:lnTo>
                <a:lnTo>
                  <a:pt x="190500" y="171450"/>
                </a:lnTo>
                <a:lnTo>
                  <a:pt x="190500" y="133350"/>
                </a:lnTo>
                <a:lnTo>
                  <a:pt x="228600" y="133350"/>
                </a:lnTo>
                <a:close/>
                <a:moveTo>
                  <a:pt x="228600" y="209550"/>
                </a:moveTo>
                <a:lnTo>
                  <a:pt x="228600" y="247650"/>
                </a:lnTo>
                <a:lnTo>
                  <a:pt x="190500" y="247650"/>
                </a:lnTo>
                <a:lnTo>
                  <a:pt x="190500" y="209550"/>
                </a:lnTo>
                <a:lnTo>
                  <a:pt x="228600" y="209550"/>
                </a:lnTo>
                <a:close/>
                <a:moveTo>
                  <a:pt x="152400" y="171450"/>
                </a:moveTo>
                <a:lnTo>
                  <a:pt x="114300" y="171450"/>
                </a:lnTo>
                <a:lnTo>
                  <a:pt x="114300" y="133350"/>
                </a:lnTo>
                <a:lnTo>
                  <a:pt x="152400" y="133350"/>
                </a:lnTo>
                <a:lnTo>
                  <a:pt x="152400" y="171450"/>
                </a:lnTo>
                <a:close/>
                <a:moveTo>
                  <a:pt x="114300" y="209550"/>
                </a:moveTo>
                <a:lnTo>
                  <a:pt x="152400" y="209550"/>
                </a:lnTo>
                <a:lnTo>
                  <a:pt x="152400" y="247650"/>
                </a:lnTo>
                <a:lnTo>
                  <a:pt x="114300" y="247650"/>
                </a:lnTo>
                <a:lnTo>
                  <a:pt x="114300" y="209550"/>
                </a:lnTo>
                <a:close/>
                <a:moveTo>
                  <a:pt x="76200" y="171450"/>
                </a:moveTo>
                <a:lnTo>
                  <a:pt x="38100" y="171450"/>
                </a:lnTo>
                <a:lnTo>
                  <a:pt x="38100" y="133350"/>
                </a:lnTo>
                <a:lnTo>
                  <a:pt x="76200" y="133350"/>
                </a:lnTo>
                <a:lnTo>
                  <a:pt x="76200" y="171450"/>
                </a:lnTo>
                <a:close/>
                <a:moveTo>
                  <a:pt x="38100" y="209550"/>
                </a:moveTo>
                <a:lnTo>
                  <a:pt x="76200" y="209550"/>
                </a:lnTo>
                <a:lnTo>
                  <a:pt x="76200" y="247650"/>
                </a:ln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38100" y="95250"/>
                </a:moveTo>
                <a:lnTo>
                  <a:pt x="38100" y="57150"/>
                </a:lnTo>
                <a:lnTo>
                  <a:pt x="76200" y="57150"/>
                </a:lnTo>
                <a:lnTo>
                  <a:pt x="76200" y="95250"/>
                </a:lnTo>
                <a:lnTo>
                  <a:pt x="38100" y="95250"/>
                </a:lnTo>
                <a:close/>
                <a:moveTo>
                  <a:pt x="114300" y="95250"/>
                </a:moveTo>
                <a:lnTo>
                  <a:pt x="114300" y="57150"/>
                </a:lnTo>
                <a:lnTo>
                  <a:pt x="152400" y="57150"/>
                </a:lnTo>
                <a:lnTo>
                  <a:pt x="152400" y="95250"/>
                </a:lnTo>
                <a:lnTo>
                  <a:pt x="114300" y="95250"/>
                </a:lnTo>
                <a:close/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304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Discrete environments have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finite number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distinct states and a finite set of possible actions.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655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33274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Finite, countable set of states and actions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7846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" y="37465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 can enumerate all possible configurations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2037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41656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Easier to model and reason about mathematically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6228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" y="45847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algorithms and game theory apply well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20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Examples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5715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3462" y="5943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22238" y="-17462"/>
                </a:moveTo>
                <a:cubicBezTo>
                  <a:pt x="131896" y="-17462"/>
                  <a:pt x="139700" y="-9659"/>
                  <a:pt x="139700" y="0"/>
                </a:cubicBezTo>
                <a:lnTo>
                  <a:pt x="139700" y="17463"/>
                </a:lnTo>
                <a:lnTo>
                  <a:pt x="157163" y="17463"/>
                </a:lnTo>
                <a:cubicBezTo>
                  <a:pt x="166821" y="17463"/>
                  <a:pt x="174625" y="25266"/>
                  <a:pt x="174625" y="34925"/>
                </a:cubicBezTo>
                <a:cubicBezTo>
                  <a:pt x="174625" y="44584"/>
                  <a:pt x="166821" y="52388"/>
                  <a:pt x="157163" y="52388"/>
                </a:cubicBezTo>
                <a:lnTo>
                  <a:pt x="139700" y="52388"/>
                </a:lnTo>
                <a:lnTo>
                  <a:pt x="139700" y="87313"/>
                </a:lnTo>
                <a:lnTo>
                  <a:pt x="223629" y="87313"/>
                </a:lnTo>
                <a:cubicBezTo>
                  <a:pt x="235143" y="87313"/>
                  <a:pt x="244475" y="96644"/>
                  <a:pt x="244475" y="108158"/>
                </a:cubicBezTo>
                <a:cubicBezTo>
                  <a:pt x="244475" y="111651"/>
                  <a:pt x="243602" y="115089"/>
                  <a:pt x="241910" y="118145"/>
                </a:cubicBezTo>
                <a:lnTo>
                  <a:pt x="192088" y="209550"/>
                </a:lnTo>
                <a:lnTo>
                  <a:pt x="222756" y="247913"/>
                </a:lnTo>
                <a:cubicBezTo>
                  <a:pt x="225485" y="251351"/>
                  <a:pt x="227013" y="255607"/>
                  <a:pt x="227013" y="260028"/>
                </a:cubicBezTo>
                <a:cubicBezTo>
                  <a:pt x="227013" y="270723"/>
                  <a:pt x="218336" y="279400"/>
                  <a:pt x="207640" y="279400"/>
                </a:cubicBezTo>
                <a:lnTo>
                  <a:pt x="36835" y="279400"/>
                </a:lnTo>
                <a:cubicBezTo>
                  <a:pt x="26139" y="279400"/>
                  <a:pt x="17463" y="270723"/>
                  <a:pt x="17463" y="260028"/>
                </a:cubicBezTo>
                <a:cubicBezTo>
                  <a:pt x="17463" y="255607"/>
                  <a:pt x="18936" y="251351"/>
                  <a:pt x="21719" y="247913"/>
                </a:cubicBezTo>
                <a:lnTo>
                  <a:pt x="52388" y="209550"/>
                </a:lnTo>
                <a:lnTo>
                  <a:pt x="2565" y="118199"/>
                </a:lnTo>
                <a:cubicBezTo>
                  <a:pt x="873" y="115089"/>
                  <a:pt x="0" y="111651"/>
                  <a:pt x="0" y="108158"/>
                </a:cubicBezTo>
                <a:cubicBezTo>
                  <a:pt x="0" y="96644"/>
                  <a:pt x="9332" y="87313"/>
                  <a:pt x="20846" y="87313"/>
                </a:cubicBezTo>
                <a:lnTo>
                  <a:pt x="104775" y="87313"/>
                </a:lnTo>
                <a:lnTo>
                  <a:pt x="104775" y="52388"/>
                </a:lnTo>
                <a:lnTo>
                  <a:pt x="87313" y="52388"/>
                </a:lnTo>
                <a:cubicBezTo>
                  <a:pt x="77654" y="52388"/>
                  <a:pt x="69850" y="44584"/>
                  <a:pt x="69850" y="34925"/>
                </a:cubicBezTo>
                <a:cubicBezTo>
                  <a:pt x="69850" y="25266"/>
                  <a:pt x="77654" y="17463"/>
                  <a:pt x="87313" y="17463"/>
                </a:cubicBezTo>
                <a:lnTo>
                  <a:pt x="104775" y="17463"/>
                </a:lnTo>
                <a:lnTo>
                  <a:pt x="104775" y="0"/>
                </a:lnTo>
                <a:cubicBezTo>
                  <a:pt x="104775" y="-9659"/>
                  <a:pt x="112579" y="-17462"/>
                  <a:pt x="122238" y="-1746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22400" y="5816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22400" y="6159500"/>
            <a:ext cx="304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Finite board positions and legal moves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53000" y="5715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207000" y="594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22238" y="0"/>
                </a:moveTo>
                <a:cubicBezTo>
                  <a:pt x="141501" y="0"/>
                  <a:pt x="157163" y="11733"/>
                  <a:pt x="157163" y="26194"/>
                </a:cubicBezTo>
                <a:cubicBezTo>
                  <a:pt x="157163" y="31869"/>
                  <a:pt x="154761" y="37108"/>
                  <a:pt x="150614" y="41419"/>
                </a:cubicBezTo>
                <a:cubicBezTo>
                  <a:pt x="147012" y="45184"/>
                  <a:pt x="144066" y="49768"/>
                  <a:pt x="144066" y="55007"/>
                </a:cubicBezTo>
                <a:cubicBezTo>
                  <a:pt x="144066" y="63192"/>
                  <a:pt x="150723" y="69850"/>
                  <a:pt x="158909" y="69850"/>
                </a:cubicBezTo>
                <a:lnTo>
                  <a:pt x="183356" y="69850"/>
                </a:lnTo>
                <a:cubicBezTo>
                  <a:pt x="197817" y="69850"/>
                  <a:pt x="209550" y="81583"/>
                  <a:pt x="209550" y="96044"/>
                </a:cubicBezTo>
                <a:lnTo>
                  <a:pt x="209550" y="120491"/>
                </a:lnTo>
                <a:cubicBezTo>
                  <a:pt x="209550" y="128677"/>
                  <a:pt x="216208" y="135334"/>
                  <a:pt x="224393" y="135334"/>
                </a:cubicBezTo>
                <a:cubicBezTo>
                  <a:pt x="229577" y="135334"/>
                  <a:pt x="234216" y="132388"/>
                  <a:pt x="237981" y="128786"/>
                </a:cubicBezTo>
                <a:cubicBezTo>
                  <a:pt x="242292" y="124693"/>
                  <a:pt x="247531" y="122238"/>
                  <a:pt x="253206" y="122238"/>
                </a:cubicBezTo>
                <a:cubicBezTo>
                  <a:pt x="267667" y="122238"/>
                  <a:pt x="279400" y="137899"/>
                  <a:pt x="279400" y="157163"/>
                </a:cubicBezTo>
                <a:cubicBezTo>
                  <a:pt x="279400" y="176426"/>
                  <a:pt x="267667" y="192088"/>
                  <a:pt x="253206" y="192088"/>
                </a:cubicBezTo>
                <a:cubicBezTo>
                  <a:pt x="247531" y="192088"/>
                  <a:pt x="242238" y="189686"/>
                  <a:pt x="237981" y="185539"/>
                </a:cubicBezTo>
                <a:cubicBezTo>
                  <a:pt x="234216" y="181937"/>
                  <a:pt x="229632" y="178991"/>
                  <a:pt x="224393" y="178991"/>
                </a:cubicBezTo>
                <a:cubicBezTo>
                  <a:pt x="216208" y="178991"/>
                  <a:pt x="209550" y="185648"/>
                  <a:pt x="209550" y="193834"/>
                </a:cubicBezTo>
                <a:lnTo>
                  <a:pt x="209550" y="253206"/>
                </a:lnTo>
                <a:cubicBezTo>
                  <a:pt x="209550" y="267667"/>
                  <a:pt x="197817" y="279400"/>
                  <a:pt x="183356" y="279400"/>
                </a:cubicBezTo>
                <a:lnTo>
                  <a:pt x="152360" y="279400"/>
                </a:lnTo>
                <a:cubicBezTo>
                  <a:pt x="145375" y="279400"/>
                  <a:pt x="139700" y="273725"/>
                  <a:pt x="139700" y="266740"/>
                </a:cubicBezTo>
                <a:cubicBezTo>
                  <a:pt x="139700" y="261719"/>
                  <a:pt x="142865" y="257299"/>
                  <a:pt x="146903" y="254298"/>
                </a:cubicBezTo>
                <a:cubicBezTo>
                  <a:pt x="153233" y="249550"/>
                  <a:pt x="157163" y="243002"/>
                  <a:pt x="157163" y="235744"/>
                </a:cubicBezTo>
                <a:cubicBezTo>
                  <a:pt x="157163" y="221283"/>
                  <a:pt x="141501" y="209550"/>
                  <a:pt x="122238" y="209550"/>
                </a:cubicBezTo>
                <a:cubicBezTo>
                  <a:pt x="102974" y="209550"/>
                  <a:pt x="87313" y="221283"/>
                  <a:pt x="87313" y="235744"/>
                </a:cubicBezTo>
                <a:cubicBezTo>
                  <a:pt x="87313" y="243002"/>
                  <a:pt x="91242" y="249550"/>
                  <a:pt x="97572" y="254298"/>
                </a:cubicBezTo>
                <a:cubicBezTo>
                  <a:pt x="101610" y="257299"/>
                  <a:pt x="104775" y="261665"/>
                  <a:pt x="104775" y="266740"/>
                </a:cubicBezTo>
                <a:cubicBezTo>
                  <a:pt x="104775" y="273725"/>
                  <a:pt x="99100" y="279400"/>
                  <a:pt x="92115" y="279400"/>
                </a:cubicBezTo>
                <a:lnTo>
                  <a:pt x="26194" y="279400"/>
                </a:lnTo>
                <a:cubicBezTo>
                  <a:pt x="11733" y="279400"/>
                  <a:pt x="0" y="267667"/>
                  <a:pt x="0" y="253206"/>
                </a:cubicBezTo>
                <a:lnTo>
                  <a:pt x="0" y="187285"/>
                </a:lnTo>
                <a:cubicBezTo>
                  <a:pt x="0" y="180300"/>
                  <a:pt x="5675" y="174625"/>
                  <a:pt x="12660" y="174625"/>
                </a:cubicBezTo>
                <a:cubicBezTo>
                  <a:pt x="17681" y="174625"/>
                  <a:pt x="22101" y="177790"/>
                  <a:pt x="25102" y="181828"/>
                </a:cubicBezTo>
                <a:cubicBezTo>
                  <a:pt x="29850" y="188158"/>
                  <a:pt x="36398" y="192088"/>
                  <a:pt x="43656" y="192088"/>
                </a:cubicBezTo>
                <a:cubicBezTo>
                  <a:pt x="58117" y="192088"/>
                  <a:pt x="69850" y="176426"/>
                  <a:pt x="69850" y="157163"/>
                </a:cubicBezTo>
                <a:cubicBezTo>
                  <a:pt x="69850" y="137899"/>
                  <a:pt x="58117" y="122238"/>
                  <a:pt x="43656" y="122238"/>
                </a:cubicBezTo>
                <a:cubicBezTo>
                  <a:pt x="36398" y="122238"/>
                  <a:pt x="29850" y="126167"/>
                  <a:pt x="25102" y="132497"/>
                </a:cubicBezTo>
                <a:cubicBezTo>
                  <a:pt x="22101" y="136535"/>
                  <a:pt x="17735" y="139700"/>
                  <a:pt x="12660" y="139700"/>
                </a:cubicBezTo>
                <a:cubicBezTo>
                  <a:pt x="5675" y="139700"/>
                  <a:pt x="0" y="134025"/>
                  <a:pt x="0" y="127040"/>
                </a:cubicBezTo>
                <a:lnTo>
                  <a:pt x="0" y="96044"/>
                </a:lnTo>
                <a:cubicBezTo>
                  <a:pt x="0" y="81583"/>
                  <a:pt x="11733" y="69850"/>
                  <a:pt x="26194" y="69850"/>
                </a:cubicBezTo>
                <a:lnTo>
                  <a:pt x="85566" y="69850"/>
                </a:lnTo>
                <a:cubicBezTo>
                  <a:pt x="93752" y="69850"/>
                  <a:pt x="100409" y="63192"/>
                  <a:pt x="100409" y="55007"/>
                </a:cubicBezTo>
                <a:cubicBezTo>
                  <a:pt x="100409" y="49823"/>
                  <a:pt x="97463" y="45184"/>
                  <a:pt x="93861" y="41419"/>
                </a:cubicBezTo>
                <a:cubicBezTo>
                  <a:pt x="89768" y="37108"/>
                  <a:pt x="87313" y="31869"/>
                  <a:pt x="87313" y="26194"/>
                </a:cubicBezTo>
                <a:cubicBezTo>
                  <a:pt x="87313" y="11733"/>
                  <a:pt x="102974" y="0"/>
                  <a:pt x="122238" y="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13400" y="5816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8-Puzzle / Sliding Puzzle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13400" y="6159500"/>
            <a:ext cx="304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Finite tile configurations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9596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3462" y="71882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209550" y="52388"/>
                </a:moveTo>
                <a:lnTo>
                  <a:pt x="209550" y="122238"/>
                </a:lnTo>
                <a:lnTo>
                  <a:pt x="139700" y="122238"/>
                </a:lnTo>
                <a:lnTo>
                  <a:pt x="139700" y="52388"/>
                </a:lnTo>
                <a:lnTo>
                  <a:pt x="209550" y="52388"/>
                </a:lnTo>
                <a:close/>
                <a:moveTo>
                  <a:pt x="209550" y="157163"/>
                </a:moveTo>
                <a:lnTo>
                  <a:pt x="209550" y="227013"/>
                </a:lnTo>
                <a:lnTo>
                  <a:pt x="139700" y="227013"/>
                </a:lnTo>
                <a:lnTo>
                  <a:pt x="139700" y="157163"/>
                </a:lnTo>
                <a:lnTo>
                  <a:pt x="209550" y="157163"/>
                </a:lnTo>
                <a:close/>
                <a:moveTo>
                  <a:pt x="104775" y="122238"/>
                </a:moveTo>
                <a:lnTo>
                  <a:pt x="34925" y="122238"/>
                </a:lnTo>
                <a:lnTo>
                  <a:pt x="34925" y="52388"/>
                </a:lnTo>
                <a:lnTo>
                  <a:pt x="104775" y="52388"/>
                </a:lnTo>
                <a:lnTo>
                  <a:pt x="104775" y="122238"/>
                </a:lnTo>
                <a:close/>
                <a:moveTo>
                  <a:pt x="34925" y="157163"/>
                </a:moveTo>
                <a:lnTo>
                  <a:pt x="104775" y="157163"/>
                </a:lnTo>
                <a:lnTo>
                  <a:pt x="104775" y="227013"/>
                </a:lnTo>
                <a:lnTo>
                  <a:pt x="34925" y="227013"/>
                </a:lnTo>
                <a:lnTo>
                  <a:pt x="34925" y="157163"/>
                </a:lnTo>
                <a:close/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227013"/>
                </a:lnTo>
                <a:cubicBezTo>
                  <a:pt x="0" y="246276"/>
                  <a:pt x="15662" y="261938"/>
                  <a:pt x="34925" y="261938"/>
                </a:cubicBezTo>
                <a:lnTo>
                  <a:pt x="209550" y="261938"/>
                </a:lnTo>
                <a:cubicBezTo>
                  <a:pt x="228813" y="261938"/>
                  <a:pt x="244475" y="246276"/>
                  <a:pt x="244475" y="227013"/>
                </a:cubicBezTo>
                <a:lnTo>
                  <a:pt x="244475" y="52388"/>
                </a:lnTo>
                <a:cubicBezTo>
                  <a:pt x="244475" y="33124"/>
                  <a:pt x="228813" y="17463"/>
                  <a:pt x="209550" y="17463"/>
                </a:cubicBezTo>
                <a:lnTo>
                  <a:pt x="34925" y="1746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422400" y="70612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Tic-Tac-Toe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22400" y="7404100"/>
            <a:ext cx="304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cells, finite game tree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53000" y="69596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32" name="Shape 30"/>
          <p:cNvSpPr/>
          <p:nvPr/>
        </p:nvSpPr>
        <p:spPr>
          <a:xfrm>
            <a:off x="5172075" y="71882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314325" y="26194"/>
                </a:moveTo>
                <a:cubicBezTo>
                  <a:pt x="314325" y="20136"/>
                  <a:pt x="311214" y="14516"/>
                  <a:pt x="306030" y="11351"/>
                </a:cubicBezTo>
                <a:cubicBezTo>
                  <a:pt x="300846" y="8186"/>
                  <a:pt x="294461" y="7858"/>
                  <a:pt x="289059" y="10587"/>
                </a:cubicBezTo>
                <a:lnTo>
                  <a:pt x="225648" y="42292"/>
                </a:lnTo>
                <a:lnTo>
                  <a:pt x="127749" y="9604"/>
                </a:lnTo>
                <a:cubicBezTo>
                  <a:pt x="123329" y="8131"/>
                  <a:pt x="118581" y="8458"/>
                  <a:pt x="114434" y="10532"/>
                </a:cubicBezTo>
                <a:lnTo>
                  <a:pt x="44584" y="45457"/>
                </a:lnTo>
                <a:cubicBezTo>
                  <a:pt x="38636" y="48458"/>
                  <a:pt x="34925" y="54516"/>
                  <a:pt x="34925" y="61119"/>
                </a:cubicBezTo>
                <a:lnTo>
                  <a:pt x="34925" y="253206"/>
                </a:lnTo>
                <a:cubicBezTo>
                  <a:pt x="34925" y="259264"/>
                  <a:pt x="38036" y="264884"/>
                  <a:pt x="43220" y="268049"/>
                </a:cubicBezTo>
                <a:cubicBezTo>
                  <a:pt x="48404" y="271214"/>
                  <a:pt x="54789" y="271542"/>
                  <a:pt x="60191" y="268813"/>
                </a:cubicBezTo>
                <a:lnTo>
                  <a:pt x="123547" y="237108"/>
                </a:lnTo>
                <a:lnTo>
                  <a:pt x="218118" y="268650"/>
                </a:lnTo>
                <a:cubicBezTo>
                  <a:pt x="215771" y="265157"/>
                  <a:pt x="213479" y="261501"/>
                  <a:pt x="211242" y="257790"/>
                </a:cubicBezTo>
                <a:cubicBezTo>
                  <a:pt x="205239" y="247804"/>
                  <a:pt x="199291" y="236344"/>
                  <a:pt x="194871" y="224066"/>
                </a:cubicBezTo>
                <a:lnTo>
                  <a:pt x="139645" y="205676"/>
                </a:lnTo>
                <a:lnTo>
                  <a:pt x="139645" y="50423"/>
                </a:lnTo>
                <a:lnTo>
                  <a:pt x="209495" y="73724"/>
                </a:lnTo>
                <a:lnTo>
                  <a:pt x="209495" y="127913"/>
                </a:lnTo>
                <a:cubicBezTo>
                  <a:pt x="226412" y="108377"/>
                  <a:pt x="251515" y="96044"/>
                  <a:pt x="279345" y="96044"/>
                </a:cubicBezTo>
                <a:cubicBezTo>
                  <a:pt x="291678" y="96044"/>
                  <a:pt x="303466" y="98445"/>
                  <a:pt x="314270" y="102865"/>
                </a:cubicBezTo>
                <a:lnTo>
                  <a:pt x="314325" y="26194"/>
                </a:lnTo>
                <a:close/>
                <a:moveTo>
                  <a:pt x="279400" y="122238"/>
                </a:moveTo>
                <a:cubicBezTo>
                  <a:pt x="243220" y="122238"/>
                  <a:pt x="213916" y="151051"/>
                  <a:pt x="213916" y="186576"/>
                </a:cubicBezTo>
                <a:cubicBezTo>
                  <a:pt x="213916" y="224175"/>
                  <a:pt x="248895" y="268650"/>
                  <a:pt x="267722" y="289878"/>
                </a:cubicBezTo>
                <a:cubicBezTo>
                  <a:pt x="274052" y="296972"/>
                  <a:pt x="284802" y="296972"/>
                  <a:pt x="291133" y="289878"/>
                </a:cubicBezTo>
                <a:cubicBezTo>
                  <a:pt x="309959" y="268650"/>
                  <a:pt x="344939" y="224175"/>
                  <a:pt x="344939" y="186576"/>
                </a:cubicBezTo>
                <a:cubicBezTo>
                  <a:pt x="344939" y="151051"/>
                  <a:pt x="315635" y="122238"/>
                  <a:pt x="279455" y="122238"/>
                </a:cubicBezTo>
                <a:close/>
                <a:moveTo>
                  <a:pt x="257572" y="187722"/>
                </a:moveTo>
                <a:cubicBezTo>
                  <a:pt x="257572" y="175675"/>
                  <a:pt x="267353" y="165894"/>
                  <a:pt x="279400" y="165894"/>
                </a:cubicBezTo>
                <a:cubicBezTo>
                  <a:pt x="291447" y="165894"/>
                  <a:pt x="301228" y="175675"/>
                  <a:pt x="301228" y="187722"/>
                </a:cubicBezTo>
                <a:cubicBezTo>
                  <a:pt x="301228" y="199769"/>
                  <a:pt x="291447" y="209550"/>
                  <a:pt x="279400" y="209550"/>
                </a:cubicBezTo>
                <a:cubicBezTo>
                  <a:pt x="267353" y="209550"/>
                  <a:pt x="257572" y="199769"/>
                  <a:pt x="257572" y="18772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3" name="Text 31"/>
          <p:cNvSpPr/>
          <p:nvPr/>
        </p:nvSpPr>
        <p:spPr>
          <a:xfrm>
            <a:off x="5613400" y="70612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Grid-World Navigation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13400" y="74041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 cells and movement directions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52000" y="1333500"/>
            <a:ext cx="5842000" cy="673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6" name="Text 34"/>
          <p:cNvSpPr/>
          <p:nvPr/>
        </p:nvSpPr>
        <p:spPr>
          <a:xfrm>
            <a:off x="10033000" y="158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Discrete State Space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49000" y="2286000"/>
            <a:ext cx="30480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11049000" y="2286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30000" y="2286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11000" y="2286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192000" y="2286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2" name="Shape 40"/>
          <p:cNvSpPr/>
          <p:nvPr/>
        </p:nvSpPr>
        <p:spPr>
          <a:xfrm>
            <a:off x="12573000" y="2286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12954000" y="2286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4" name="Shape 42"/>
          <p:cNvSpPr/>
          <p:nvPr/>
        </p:nvSpPr>
        <p:spPr>
          <a:xfrm>
            <a:off x="13335000" y="2286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3716000" y="2286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49000" y="2667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0" y="2667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1811000" y="2667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9" name="Shape 47"/>
          <p:cNvSpPr/>
          <p:nvPr/>
        </p:nvSpPr>
        <p:spPr>
          <a:xfrm>
            <a:off x="12192000" y="2667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2573000" y="2667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1" name="Shape 49"/>
          <p:cNvSpPr/>
          <p:nvPr/>
        </p:nvSpPr>
        <p:spPr>
          <a:xfrm>
            <a:off x="12954000" y="2667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3335000" y="2667000"/>
            <a:ext cx="381000" cy="38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53" name="Shape 51"/>
          <p:cNvSpPr/>
          <p:nvPr/>
        </p:nvSpPr>
        <p:spPr>
          <a:xfrm>
            <a:off x="13716000" y="2667000"/>
            <a:ext cx="381000" cy="38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1153775" y="3124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725" y="-14287"/>
                </a:moveTo>
                <a:cubicBezTo>
                  <a:pt x="115327" y="-14287"/>
                  <a:pt x="139303" y="9689"/>
                  <a:pt x="139303" y="39291"/>
                </a:cubicBezTo>
                <a:cubicBezTo>
                  <a:pt x="139303" y="51346"/>
                  <a:pt x="135329" y="62463"/>
                  <a:pt x="128588" y="71438"/>
                </a:cubicBezTo>
                <a:cubicBezTo>
                  <a:pt x="136490" y="71438"/>
                  <a:pt x="142875" y="77822"/>
                  <a:pt x="142875" y="85725"/>
                </a:cubicBezTo>
                <a:cubicBezTo>
                  <a:pt x="142875" y="93628"/>
                  <a:pt x="136490" y="100013"/>
                  <a:pt x="128588" y="100013"/>
                </a:cubicBezTo>
                <a:lnTo>
                  <a:pt x="123810" y="100013"/>
                </a:lnTo>
                <a:lnTo>
                  <a:pt x="135731" y="171450"/>
                </a:lnTo>
                <a:lnTo>
                  <a:pt x="160824" y="202838"/>
                </a:lnTo>
                <a:cubicBezTo>
                  <a:pt x="163056" y="205651"/>
                  <a:pt x="164306" y="209133"/>
                  <a:pt x="164306" y="212750"/>
                </a:cubicBezTo>
                <a:cubicBezTo>
                  <a:pt x="164306" y="221501"/>
                  <a:pt x="157207" y="228600"/>
                  <a:pt x="148456" y="228600"/>
                </a:cubicBezTo>
                <a:lnTo>
                  <a:pt x="22994" y="228600"/>
                </a:lnTo>
                <a:cubicBezTo>
                  <a:pt x="14243" y="228600"/>
                  <a:pt x="7144" y="221501"/>
                  <a:pt x="7144" y="212750"/>
                </a:cubicBezTo>
                <a:cubicBezTo>
                  <a:pt x="7144" y="209133"/>
                  <a:pt x="8349" y="205651"/>
                  <a:pt x="10626" y="202838"/>
                </a:cubicBezTo>
                <a:lnTo>
                  <a:pt x="35719" y="171450"/>
                </a:lnTo>
                <a:lnTo>
                  <a:pt x="47640" y="100013"/>
                </a:lnTo>
                <a:lnTo>
                  <a:pt x="42863" y="100013"/>
                </a:lnTo>
                <a:cubicBezTo>
                  <a:pt x="34960" y="100013"/>
                  <a:pt x="28575" y="93628"/>
                  <a:pt x="28575" y="85725"/>
                </a:cubicBezTo>
                <a:cubicBezTo>
                  <a:pt x="28575" y="77822"/>
                  <a:pt x="34960" y="71438"/>
                  <a:pt x="42863" y="71438"/>
                </a:cubicBezTo>
                <a:cubicBezTo>
                  <a:pt x="36121" y="62463"/>
                  <a:pt x="32147" y="51346"/>
                  <a:pt x="32147" y="39291"/>
                </a:cubicBezTo>
                <a:cubicBezTo>
                  <a:pt x="32147" y="9689"/>
                  <a:pt x="56123" y="-14287"/>
                  <a:pt x="85725" y="-1428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55" name="Shape 53"/>
          <p:cNvSpPr/>
          <p:nvPr/>
        </p:nvSpPr>
        <p:spPr>
          <a:xfrm>
            <a:off x="12282488" y="3124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-14287"/>
                </a:moveTo>
                <a:cubicBezTo>
                  <a:pt x="107915" y="-14287"/>
                  <a:pt x="114300" y="-7903"/>
                  <a:pt x="114300" y="0"/>
                </a:cubicBezTo>
                <a:lnTo>
                  <a:pt x="114300" y="14288"/>
                </a:ln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cubicBezTo>
                  <a:pt x="142875" y="36478"/>
                  <a:pt x="136490" y="42863"/>
                  <a:pt x="128588" y="42863"/>
                </a:cubicBezTo>
                <a:lnTo>
                  <a:pt x="114300" y="42863"/>
                </a:lnTo>
                <a:lnTo>
                  <a:pt x="114300" y="71438"/>
                </a:lnTo>
                <a:lnTo>
                  <a:pt x="182969" y="71438"/>
                </a:lnTo>
                <a:cubicBezTo>
                  <a:pt x="192390" y="71438"/>
                  <a:pt x="200025" y="79072"/>
                  <a:pt x="200025" y="88493"/>
                </a:cubicBezTo>
                <a:cubicBezTo>
                  <a:pt x="200025" y="91351"/>
                  <a:pt x="199311" y="94164"/>
                  <a:pt x="197927" y="96664"/>
                </a:cubicBezTo>
                <a:lnTo>
                  <a:pt x="157163" y="171450"/>
                </a:lnTo>
                <a:lnTo>
                  <a:pt x="182255" y="202838"/>
                </a:lnTo>
                <a:cubicBezTo>
                  <a:pt x="184487" y="205651"/>
                  <a:pt x="185738" y="209133"/>
                  <a:pt x="185738" y="212750"/>
                </a:cubicBezTo>
                <a:cubicBezTo>
                  <a:pt x="185738" y="221501"/>
                  <a:pt x="178638" y="228600"/>
                  <a:pt x="169887" y="228600"/>
                </a:cubicBezTo>
                <a:lnTo>
                  <a:pt x="30138" y="228600"/>
                </a:lnTo>
                <a:cubicBezTo>
                  <a:pt x="21387" y="228600"/>
                  <a:pt x="14288" y="221501"/>
                  <a:pt x="14288" y="212750"/>
                </a:cubicBezTo>
                <a:cubicBezTo>
                  <a:pt x="14288" y="209133"/>
                  <a:pt x="15493" y="205651"/>
                  <a:pt x="17770" y="202838"/>
                </a:cubicBezTo>
                <a:lnTo>
                  <a:pt x="42863" y="171450"/>
                </a:lnTo>
                <a:lnTo>
                  <a:pt x="2098" y="96709"/>
                </a:lnTo>
                <a:cubicBezTo>
                  <a:pt x="714" y="94164"/>
                  <a:pt x="0" y="91351"/>
                  <a:pt x="0" y="88493"/>
                </a:cubicBezTo>
                <a:cubicBezTo>
                  <a:pt x="0" y="79072"/>
                  <a:pt x="7635" y="71438"/>
                  <a:pt x="17056" y="71438"/>
                </a:cubicBezTo>
                <a:lnTo>
                  <a:pt x="85725" y="71438"/>
                </a:lnTo>
                <a:lnTo>
                  <a:pt x="85725" y="42863"/>
                </a:lnTo>
                <a:lnTo>
                  <a:pt x="71438" y="42863"/>
                </a:lnTo>
                <a:cubicBezTo>
                  <a:pt x="63535" y="42863"/>
                  <a:pt x="57150" y="36478"/>
                  <a:pt x="57150" y="28575"/>
                </a:cubicBezTo>
                <a:cubicBezTo>
                  <a:pt x="57150" y="20672"/>
                  <a:pt x="63535" y="14288"/>
                  <a:pt x="71438" y="14288"/>
                </a:cubicBezTo>
                <a:lnTo>
                  <a:pt x="85725" y="14288"/>
                </a:lnTo>
                <a:lnTo>
                  <a:pt x="85725" y="0"/>
                </a:lnTo>
                <a:cubicBezTo>
                  <a:pt x="85725" y="-7903"/>
                  <a:pt x="92110" y="-14287"/>
                  <a:pt x="100013" y="-1428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56" name="Text 54"/>
          <p:cNvSpPr/>
          <p:nvPr/>
        </p:nvSpPr>
        <p:spPr>
          <a:xfrm>
            <a:off x="10033000" y="558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chess, although possible games are astronomically large, each position has a finite number of legal moves — making it fundamentally discrete.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033000" y="6858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States: Finite Actions: Countable Transitions: Determinable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Environments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8382000" cy="1460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57150"/>
                </a:moveTo>
                <a:cubicBezTo>
                  <a:pt x="38100" y="46613"/>
                  <a:pt x="46613" y="38100"/>
                  <a:pt x="57150" y="38100"/>
                </a:cubicBezTo>
                <a:lnTo>
                  <a:pt x="152400" y="38100"/>
                </a:lnTo>
                <a:cubicBezTo>
                  <a:pt x="162937" y="38100"/>
                  <a:pt x="171450" y="46613"/>
                  <a:pt x="171450" y="57150"/>
                </a:cubicBezTo>
                <a:lnTo>
                  <a:pt x="171450" y="228600"/>
                </a:lnTo>
                <a:lnTo>
                  <a:pt x="228600" y="228600"/>
                </a:lnTo>
                <a:lnTo>
                  <a:pt x="228600" y="152400"/>
                </a:lnTo>
                <a:cubicBezTo>
                  <a:pt x="228600" y="141863"/>
                  <a:pt x="237113" y="133350"/>
                  <a:pt x="24765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266700" y="171450"/>
                </a:lnTo>
                <a:lnTo>
                  <a:pt x="266700" y="247650"/>
                </a:lnTo>
                <a:cubicBezTo>
                  <a:pt x="266700" y="258187"/>
                  <a:pt x="258187" y="266700"/>
                  <a:pt x="247650" y="266700"/>
                </a:cubicBezTo>
                <a:lnTo>
                  <a:pt x="152400" y="266700"/>
                </a:lnTo>
                <a:cubicBezTo>
                  <a:pt x="141863" y="266700"/>
                  <a:pt x="133350" y="258187"/>
                  <a:pt x="133350" y="247650"/>
                </a:cubicBezTo>
                <a:lnTo>
                  <a:pt x="133350" y="76200"/>
                </a:lnTo>
                <a:lnTo>
                  <a:pt x="76200" y="76200"/>
                </a:lnTo>
                <a:lnTo>
                  <a:pt x="76200" y="152400"/>
                </a:lnTo>
                <a:cubicBezTo>
                  <a:pt x="76200" y="162937"/>
                  <a:pt x="67687" y="171450"/>
                  <a:pt x="57150" y="171450"/>
                </a:cubicBezTo>
                <a:lnTo>
                  <a:pt x="19050" y="171450"/>
                </a:lnTo>
                <a:cubicBezTo>
                  <a:pt x="8513" y="171450"/>
                  <a:pt x="0" y="162937"/>
                  <a:pt x="0" y="152400"/>
                </a:cubicBezTo>
                <a:cubicBezTo>
                  <a:pt x="0" y="141863"/>
                  <a:pt x="8513" y="133350"/>
                  <a:pt x="19050" y="133350"/>
                </a:cubicBezTo>
                <a:lnTo>
                  <a:pt x="38100" y="133350"/>
                </a:lnTo>
                <a:lnTo>
                  <a:pt x="38100" y="571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304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environments have an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infinite or uncountable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range of possible states and actions.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655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33274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Infinite or uncountable set of states and actions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7846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" y="37465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States and actions vary smoothly along continuous dimensions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2037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41656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Requires control theory, calculus, and machine learning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6228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" y="4584700"/>
            <a:ext cx="812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Much harder to model — approximation and discretization used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20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Examples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5715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594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73779" y="64066"/>
                </a:moveTo>
                <a:lnTo>
                  <a:pt x="59536" y="104775"/>
                </a:lnTo>
                <a:lnTo>
                  <a:pt x="219864" y="104775"/>
                </a:lnTo>
                <a:lnTo>
                  <a:pt x="205621" y="64066"/>
                </a:lnTo>
                <a:cubicBezTo>
                  <a:pt x="203165" y="57081"/>
                  <a:pt x="196562" y="52388"/>
                  <a:pt x="189141" y="52388"/>
                </a:cubicBezTo>
                <a:lnTo>
                  <a:pt x="90259" y="52388"/>
                </a:lnTo>
                <a:cubicBezTo>
                  <a:pt x="82838" y="52388"/>
                  <a:pt x="76235" y="57081"/>
                  <a:pt x="73779" y="64066"/>
                </a:cubicBezTo>
                <a:close/>
                <a:moveTo>
                  <a:pt x="21610" y="107394"/>
                </a:moveTo>
                <a:lnTo>
                  <a:pt x="40819" y="52551"/>
                </a:lnTo>
                <a:cubicBezTo>
                  <a:pt x="48186" y="31542"/>
                  <a:pt x="67995" y="17463"/>
                  <a:pt x="90259" y="17463"/>
                </a:cubicBezTo>
                <a:lnTo>
                  <a:pt x="189141" y="17463"/>
                </a:lnTo>
                <a:cubicBezTo>
                  <a:pt x="211405" y="17463"/>
                  <a:pt x="231214" y="31542"/>
                  <a:pt x="238581" y="52551"/>
                </a:cubicBezTo>
                <a:lnTo>
                  <a:pt x="257790" y="107394"/>
                </a:lnTo>
                <a:cubicBezTo>
                  <a:pt x="270450" y="112633"/>
                  <a:pt x="279400" y="125130"/>
                  <a:pt x="279400" y="139700"/>
                </a:cubicBezTo>
                <a:lnTo>
                  <a:pt x="279400" y="244475"/>
                </a:lnTo>
                <a:cubicBezTo>
                  <a:pt x="279400" y="254134"/>
                  <a:pt x="271596" y="261938"/>
                  <a:pt x="261938" y="261938"/>
                </a:cubicBezTo>
                <a:lnTo>
                  <a:pt x="244475" y="261938"/>
                </a:lnTo>
                <a:cubicBezTo>
                  <a:pt x="234816" y="261938"/>
                  <a:pt x="227013" y="254134"/>
                  <a:pt x="227013" y="244475"/>
                </a:cubicBezTo>
                <a:lnTo>
                  <a:pt x="227013" y="227013"/>
                </a:lnTo>
                <a:lnTo>
                  <a:pt x="52388" y="227013"/>
                </a:lnTo>
                <a:lnTo>
                  <a:pt x="52388" y="244475"/>
                </a:lnTo>
                <a:cubicBezTo>
                  <a:pt x="52388" y="254134"/>
                  <a:pt x="44584" y="261938"/>
                  <a:pt x="34925" y="261938"/>
                </a:cubicBezTo>
                <a:lnTo>
                  <a:pt x="17463" y="261938"/>
                </a:lnTo>
                <a:cubicBezTo>
                  <a:pt x="7804" y="261938"/>
                  <a:pt x="0" y="254134"/>
                  <a:pt x="0" y="244475"/>
                </a:cubicBezTo>
                <a:lnTo>
                  <a:pt x="0" y="139700"/>
                </a:lnTo>
                <a:cubicBezTo>
                  <a:pt x="0" y="125130"/>
                  <a:pt x="8950" y="112633"/>
                  <a:pt x="21610" y="107394"/>
                </a:cubicBezTo>
                <a:close/>
                <a:moveTo>
                  <a:pt x="69850" y="165894"/>
                </a:moveTo>
                <a:cubicBezTo>
                  <a:pt x="69850" y="156256"/>
                  <a:pt x="62025" y="148431"/>
                  <a:pt x="52388" y="148431"/>
                </a:cubicBezTo>
                <a:cubicBezTo>
                  <a:pt x="42750" y="148431"/>
                  <a:pt x="34925" y="156256"/>
                  <a:pt x="34925" y="165894"/>
                </a:cubicBezTo>
                <a:cubicBezTo>
                  <a:pt x="34925" y="175532"/>
                  <a:pt x="42750" y="183356"/>
                  <a:pt x="52388" y="183356"/>
                </a:cubicBezTo>
                <a:cubicBezTo>
                  <a:pt x="62025" y="183356"/>
                  <a:pt x="69850" y="175532"/>
                  <a:pt x="69850" y="165894"/>
                </a:cubicBezTo>
                <a:close/>
                <a:moveTo>
                  <a:pt x="227013" y="183356"/>
                </a:moveTo>
                <a:cubicBezTo>
                  <a:pt x="236650" y="183356"/>
                  <a:pt x="244475" y="175532"/>
                  <a:pt x="244475" y="165894"/>
                </a:cubicBezTo>
                <a:cubicBezTo>
                  <a:pt x="244475" y="156256"/>
                  <a:pt x="236650" y="148431"/>
                  <a:pt x="227013" y="148431"/>
                </a:cubicBezTo>
                <a:cubicBezTo>
                  <a:pt x="217375" y="148431"/>
                  <a:pt x="209550" y="156256"/>
                  <a:pt x="209550" y="165894"/>
                </a:cubicBezTo>
                <a:cubicBezTo>
                  <a:pt x="209550" y="175532"/>
                  <a:pt x="217375" y="183356"/>
                  <a:pt x="227013" y="18335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22400" y="5816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22400" y="61595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Speed, steering angle, position are continuous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53000" y="57150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4" name="Shape 22"/>
          <p:cNvSpPr/>
          <p:nvPr/>
        </p:nvSpPr>
        <p:spPr>
          <a:xfrm>
            <a:off x="5207000" y="5943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57163" y="17463"/>
                </a:moveTo>
                <a:cubicBezTo>
                  <a:pt x="157163" y="7804"/>
                  <a:pt x="149359" y="0"/>
                  <a:pt x="139700" y="0"/>
                </a:cubicBezTo>
                <a:cubicBezTo>
                  <a:pt x="130041" y="0"/>
                  <a:pt x="122238" y="7804"/>
                  <a:pt x="122238" y="17463"/>
                </a:cubicBezTo>
                <a:lnTo>
                  <a:pt x="122238" y="130969"/>
                </a:lnTo>
                <a:cubicBezTo>
                  <a:pt x="122238" y="135771"/>
                  <a:pt x="118308" y="139700"/>
                  <a:pt x="113506" y="139700"/>
                </a:cubicBezTo>
                <a:cubicBezTo>
                  <a:pt x="108704" y="139700"/>
                  <a:pt x="104775" y="135771"/>
                  <a:pt x="104775" y="130969"/>
                </a:cubicBezTo>
                <a:lnTo>
                  <a:pt x="104775" y="34925"/>
                </a:lnTo>
                <a:cubicBezTo>
                  <a:pt x="104775" y="25266"/>
                  <a:pt x="96971" y="17463"/>
                  <a:pt x="87313" y="17463"/>
                </a:cubicBezTo>
                <a:cubicBezTo>
                  <a:pt x="77654" y="17463"/>
                  <a:pt x="69850" y="25266"/>
                  <a:pt x="69850" y="34925"/>
                </a:cubicBezTo>
                <a:lnTo>
                  <a:pt x="69850" y="183356"/>
                </a:lnTo>
                <a:cubicBezTo>
                  <a:pt x="69850" y="184175"/>
                  <a:pt x="69850" y="185048"/>
                  <a:pt x="69905" y="185866"/>
                </a:cubicBezTo>
                <a:lnTo>
                  <a:pt x="36890" y="154434"/>
                </a:lnTo>
                <a:cubicBezTo>
                  <a:pt x="28158" y="146139"/>
                  <a:pt x="14352" y="146467"/>
                  <a:pt x="6003" y="155198"/>
                </a:cubicBezTo>
                <a:cubicBezTo>
                  <a:pt x="-2347" y="163929"/>
                  <a:pt x="-1965" y="177736"/>
                  <a:pt x="6767" y="186085"/>
                </a:cubicBezTo>
                <a:lnTo>
                  <a:pt x="68104" y="244475"/>
                </a:lnTo>
                <a:cubicBezTo>
                  <a:pt x="91624" y="266903"/>
                  <a:pt x="122892" y="279400"/>
                  <a:pt x="155416" y="279400"/>
                </a:cubicBezTo>
                <a:lnTo>
                  <a:pt x="165894" y="279400"/>
                </a:lnTo>
                <a:cubicBezTo>
                  <a:pt x="218936" y="279400"/>
                  <a:pt x="261938" y="236399"/>
                  <a:pt x="261938" y="183356"/>
                </a:cubicBezTo>
                <a:lnTo>
                  <a:pt x="261938" y="69850"/>
                </a:lnTo>
                <a:cubicBezTo>
                  <a:pt x="261938" y="60191"/>
                  <a:pt x="254134" y="52388"/>
                  <a:pt x="244475" y="52388"/>
                </a:cubicBezTo>
                <a:cubicBezTo>
                  <a:pt x="234816" y="52388"/>
                  <a:pt x="227013" y="60191"/>
                  <a:pt x="227013" y="69850"/>
                </a:cubicBezTo>
                <a:lnTo>
                  <a:pt x="227013" y="130969"/>
                </a:lnTo>
                <a:cubicBezTo>
                  <a:pt x="227013" y="135771"/>
                  <a:pt x="223083" y="139700"/>
                  <a:pt x="218281" y="139700"/>
                </a:cubicBezTo>
                <a:cubicBezTo>
                  <a:pt x="213479" y="139700"/>
                  <a:pt x="209550" y="135771"/>
                  <a:pt x="209550" y="130969"/>
                </a:cubicBezTo>
                <a:lnTo>
                  <a:pt x="209550" y="34925"/>
                </a:lnTo>
                <a:cubicBezTo>
                  <a:pt x="209550" y="25266"/>
                  <a:pt x="201746" y="17463"/>
                  <a:pt x="192088" y="17463"/>
                </a:cubicBezTo>
                <a:cubicBezTo>
                  <a:pt x="182429" y="17463"/>
                  <a:pt x="174625" y="25266"/>
                  <a:pt x="174625" y="34925"/>
                </a:cubicBezTo>
                <a:lnTo>
                  <a:pt x="174625" y="130969"/>
                </a:lnTo>
                <a:cubicBezTo>
                  <a:pt x="174625" y="135771"/>
                  <a:pt x="170696" y="139700"/>
                  <a:pt x="165894" y="139700"/>
                </a:cubicBezTo>
                <a:cubicBezTo>
                  <a:pt x="161092" y="139700"/>
                  <a:pt x="157163" y="135771"/>
                  <a:pt x="157163" y="130969"/>
                </a:cubicBezTo>
                <a:lnTo>
                  <a:pt x="157163" y="17463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13400" y="58166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Robotic Arm Control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13400" y="61595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Joint angles, torque, velocity vary continuously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9596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8" name="Shape 26"/>
          <p:cNvSpPr/>
          <p:nvPr/>
        </p:nvSpPr>
        <p:spPr>
          <a:xfrm>
            <a:off x="998538" y="71882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96044" y="17463"/>
                </a:moveTo>
                <a:cubicBezTo>
                  <a:pt x="88786" y="17463"/>
                  <a:pt x="82947" y="23302"/>
                  <a:pt x="82947" y="30559"/>
                </a:cubicBezTo>
                <a:cubicBezTo>
                  <a:pt x="82947" y="37817"/>
                  <a:pt x="88786" y="43656"/>
                  <a:pt x="96044" y="43656"/>
                </a:cubicBezTo>
                <a:lnTo>
                  <a:pt x="178991" y="43656"/>
                </a:lnTo>
                <a:lnTo>
                  <a:pt x="178991" y="69850"/>
                </a:lnTo>
                <a:lnTo>
                  <a:pt x="58499" y="69850"/>
                </a:lnTo>
                <a:lnTo>
                  <a:pt x="40600" y="48349"/>
                </a:lnTo>
                <a:cubicBezTo>
                  <a:pt x="38145" y="45403"/>
                  <a:pt x="34434" y="43656"/>
                  <a:pt x="30559" y="43656"/>
                </a:cubicBezTo>
                <a:lnTo>
                  <a:pt x="13097" y="43656"/>
                </a:lnTo>
                <a:cubicBezTo>
                  <a:pt x="8568" y="43656"/>
                  <a:pt x="4366" y="46003"/>
                  <a:pt x="1965" y="49877"/>
                </a:cubicBezTo>
                <a:cubicBezTo>
                  <a:pt x="-437" y="53752"/>
                  <a:pt x="-655" y="58554"/>
                  <a:pt x="1364" y="62647"/>
                </a:cubicBezTo>
                <a:lnTo>
                  <a:pt x="27558" y="115034"/>
                </a:lnTo>
                <a:cubicBezTo>
                  <a:pt x="29795" y="119454"/>
                  <a:pt x="34325" y="122238"/>
                  <a:pt x="39291" y="122238"/>
                </a:cubicBezTo>
                <a:lnTo>
                  <a:pt x="98117" y="122238"/>
                </a:lnTo>
                <a:lnTo>
                  <a:pt x="154871" y="200328"/>
                </a:lnTo>
                <a:cubicBezTo>
                  <a:pt x="163111" y="211624"/>
                  <a:pt x="176208" y="218281"/>
                  <a:pt x="190178" y="218281"/>
                </a:cubicBezTo>
                <a:lnTo>
                  <a:pt x="231378" y="218281"/>
                </a:lnTo>
                <a:cubicBezTo>
                  <a:pt x="272360" y="218281"/>
                  <a:pt x="305594" y="185048"/>
                  <a:pt x="305594" y="144066"/>
                </a:cubicBezTo>
                <a:cubicBezTo>
                  <a:pt x="305594" y="103083"/>
                  <a:pt x="272360" y="69850"/>
                  <a:pt x="231378" y="69850"/>
                </a:cubicBezTo>
                <a:lnTo>
                  <a:pt x="205184" y="69850"/>
                </a:lnTo>
                <a:lnTo>
                  <a:pt x="205184" y="43656"/>
                </a:lnTo>
                <a:lnTo>
                  <a:pt x="288131" y="43656"/>
                </a:lnTo>
                <a:cubicBezTo>
                  <a:pt x="295389" y="43656"/>
                  <a:pt x="301228" y="37817"/>
                  <a:pt x="301228" y="30559"/>
                </a:cubicBezTo>
                <a:cubicBezTo>
                  <a:pt x="301228" y="23302"/>
                  <a:pt x="295389" y="17463"/>
                  <a:pt x="288131" y="17463"/>
                </a:cubicBezTo>
                <a:lnTo>
                  <a:pt x="96044" y="17463"/>
                </a:lnTo>
                <a:close/>
                <a:moveTo>
                  <a:pt x="205184" y="104775"/>
                </a:moveTo>
                <a:lnTo>
                  <a:pt x="231378" y="104775"/>
                </a:lnTo>
                <a:cubicBezTo>
                  <a:pt x="253097" y="104775"/>
                  <a:pt x="270669" y="122347"/>
                  <a:pt x="270669" y="144066"/>
                </a:cubicBezTo>
                <a:cubicBezTo>
                  <a:pt x="270669" y="165785"/>
                  <a:pt x="253097" y="183356"/>
                  <a:pt x="231378" y="183356"/>
                </a:cubicBezTo>
                <a:lnTo>
                  <a:pt x="205184" y="183356"/>
                </a:lnTo>
                <a:lnTo>
                  <a:pt x="205184" y="104775"/>
                </a:lnTo>
                <a:close/>
                <a:moveTo>
                  <a:pt x="301228" y="227013"/>
                </a:moveTo>
                <a:cubicBezTo>
                  <a:pt x="293970" y="227013"/>
                  <a:pt x="288131" y="232852"/>
                  <a:pt x="288131" y="240109"/>
                </a:cubicBezTo>
                <a:cubicBezTo>
                  <a:pt x="288131" y="242510"/>
                  <a:pt x="286167" y="244475"/>
                  <a:pt x="283766" y="244475"/>
                </a:cubicBezTo>
                <a:lnTo>
                  <a:pt x="135334" y="244475"/>
                </a:lnTo>
                <a:cubicBezTo>
                  <a:pt x="128077" y="244475"/>
                  <a:pt x="122238" y="250314"/>
                  <a:pt x="122238" y="257572"/>
                </a:cubicBezTo>
                <a:cubicBezTo>
                  <a:pt x="122238" y="264830"/>
                  <a:pt x="128077" y="270669"/>
                  <a:pt x="135334" y="270669"/>
                </a:cubicBezTo>
                <a:lnTo>
                  <a:pt x="283766" y="270669"/>
                </a:lnTo>
                <a:cubicBezTo>
                  <a:pt x="300628" y="270669"/>
                  <a:pt x="314325" y="256972"/>
                  <a:pt x="314325" y="240109"/>
                </a:cubicBezTo>
                <a:cubicBezTo>
                  <a:pt x="314325" y="232852"/>
                  <a:pt x="308486" y="227013"/>
                  <a:pt x="301228" y="22701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422400" y="70612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Drone Navigation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22400" y="74041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position, velocity, orientation in space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53000" y="6959600"/>
            <a:ext cx="3937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32" name="Shape 30"/>
          <p:cNvSpPr/>
          <p:nvPr/>
        </p:nvSpPr>
        <p:spPr>
          <a:xfrm>
            <a:off x="5207000" y="7188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34925"/>
                </a:moveTo>
                <a:cubicBezTo>
                  <a:pt x="34925" y="25266"/>
                  <a:pt x="27121" y="17463"/>
                  <a:pt x="17463" y="17463"/>
                </a:cubicBezTo>
                <a:cubicBezTo>
                  <a:pt x="7804" y="17463"/>
                  <a:pt x="0" y="25266"/>
                  <a:pt x="0" y="34925"/>
                </a:cubicBezTo>
                <a:lnTo>
                  <a:pt x="0" y="218281"/>
                </a:lnTo>
                <a:cubicBezTo>
                  <a:pt x="0" y="242401"/>
                  <a:pt x="19536" y="261938"/>
                  <a:pt x="43656" y="261938"/>
                </a:cubicBezTo>
                <a:lnTo>
                  <a:pt x="261938" y="261938"/>
                </a:lnTo>
                <a:cubicBezTo>
                  <a:pt x="271596" y="261938"/>
                  <a:pt x="279400" y="254134"/>
                  <a:pt x="279400" y="244475"/>
                </a:cubicBezTo>
                <a:cubicBezTo>
                  <a:pt x="279400" y="234816"/>
                  <a:pt x="271596" y="227013"/>
                  <a:pt x="261938" y="227013"/>
                </a:cubicBezTo>
                <a:lnTo>
                  <a:pt x="43656" y="227013"/>
                </a:lnTo>
                <a:cubicBezTo>
                  <a:pt x="38854" y="227013"/>
                  <a:pt x="34925" y="223083"/>
                  <a:pt x="34925" y="218281"/>
                </a:cubicBezTo>
                <a:lnTo>
                  <a:pt x="34925" y="34925"/>
                </a:lnTo>
                <a:close/>
                <a:moveTo>
                  <a:pt x="256808" y="82183"/>
                </a:moveTo>
                <a:cubicBezTo>
                  <a:pt x="263629" y="75362"/>
                  <a:pt x="263629" y="64284"/>
                  <a:pt x="256808" y="57463"/>
                </a:cubicBezTo>
                <a:cubicBezTo>
                  <a:pt x="249987" y="50641"/>
                  <a:pt x="238909" y="50641"/>
                  <a:pt x="232088" y="57463"/>
                </a:cubicBezTo>
                <a:lnTo>
                  <a:pt x="174625" y="114980"/>
                </a:lnTo>
                <a:lnTo>
                  <a:pt x="143302" y="83711"/>
                </a:lnTo>
                <a:cubicBezTo>
                  <a:pt x="136480" y="76890"/>
                  <a:pt x="125403" y="76890"/>
                  <a:pt x="118581" y="83711"/>
                </a:cubicBezTo>
                <a:lnTo>
                  <a:pt x="66194" y="136098"/>
                </a:lnTo>
                <a:cubicBezTo>
                  <a:pt x="59373" y="142920"/>
                  <a:pt x="59373" y="153997"/>
                  <a:pt x="66194" y="160819"/>
                </a:cubicBezTo>
                <a:cubicBezTo>
                  <a:pt x="73015" y="167640"/>
                  <a:pt x="84093" y="167640"/>
                  <a:pt x="90914" y="160819"/>
                </a:cubicBezTo>
                <a:lnTo>
                  <a:pt x="130969" y="120764"/>
                </a:lnTo>
                <a:lnTo>
                  <a:pt x="162292" y="152087"/>
                </a:lnTo>
                <a:cubicBezTo>
                  <a:pt x="169113" y="158909"/>
                  <a:pt x="180191" y="158909"/>
                  <a:pt x="187012" y="152087"/>
                </a:cubicBezTo>
                <a:lnTo>
                  <a:pt x="256862" y="8223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3" name="Text 31"/>
          <p:cNvSpPr/>
          <p:nvPr/>
        </p:nvSpPr>
        <p:spPr>
          <a:xfrm>
            <a:off x="5613400" y="70612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Trading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13400" y="74041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 movements are continuous variables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52000" y="1333500"/>
            <a:ext cx="5842000" cy="673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6" name="Text 34"/>
          <p:cNvSpPr/>
          <p:nvPr/>
        </p:nvSpPr>
        <p:spPr>
          <a:xfrm>
            <a:off x="10033000" y="158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State Space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287000" y="6096000"/>
            <a:ext cx="4572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10287000" y="6096000"/>
            <a:ext cx="0" cy="69850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arrow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0287000" y="4572000"/>
            <a:ext cx="4572000" cy="1524000"/>
          </a:xfrm>
          <a:prstGeom prst="straightConnector1">
            <a:avLst/>
          </a:prstGeom>
          <a:noFill/>
          <a:ln w="38100">
            <a:solidFill>
              <a:srgbClr val="D4943A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1049000" y="5080000"/>
            <a:ext cx="127000" cy="1270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41" name="Shape 39"/>
          <p:cNvSpPr/>
          <p:nvPr/>
        </p:nvSpPr>
        <p:spPr>
          <a:xfrm>
            <a:off x="12954000" y="4699000"/>
            <a:ext cx="127000" cy="1270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42" name="Shape 40"/>
          <p:cNvSpPr/>
          <p:nvPr/>
        </p:nvSpPr>
        <p:spPr>
          <a:xfrm>
            <a:off x="14224000" y="5334000"/>
            <a:ext cx="127000" cy="1270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43" name="Text 41"/>
          <p:cNvSpPr/>
          <p:nvPr/>
        </p:nvSpPr>
        <p:spPr>
          <a:xfrm>
            <a:off x="13462000" y="6223000"/>
            <a:ext cx="139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Variable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350500" y="4699000"/>
            <a:ext cx="6985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033000" y="685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environments require control strategies that handle a broad range of values rather than a small set of fixed moves.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Discrete vs Continuous: Key Differences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5461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65734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Discrete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96073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Finite, countable number of distinct states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Infinite or uncountable range of states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73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Finite, well-defined set of possible actions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Actions vary smoothly along dimensions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96073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Chess, Checkers, 8-Puzzle, Tic-Tac-Toe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Autonomous driving, Robotics, Drone control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73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Easier to model, search algorithms work well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Harder to model, requires control theory / ML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96073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Agent Design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Search algorithms, game trees, rule-based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 theory, neural networks, RL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2390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4"/>
          <p:cNvSpPr/>
          <p:nvPr/>
        </p:nvSpPr>
        <p:spPr>
          <a:xfrm>
            <a:off x="990600" y="7239000"/>
            <a:ext cx="1397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Many real-world problems combine both — a chess clock adds continuous time to discrete chess, and robots often discretize continuous spaces for planning.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Observable vs Partially Observable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6731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993775" y="152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49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Observable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Agent's sensors give access to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state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environment at each point in 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85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38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can see everything it needs to decide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619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need to maintain internal state or 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000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Simpler agent design and decision-making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57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 (all pieces visible)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15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3815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Checkers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Crossword Puzzle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15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8-Puzzle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1333500"/>
            <a:ext cx="7239000" cy="6731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86775" y="152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8476" y="-17294"/>
                </a:moveTo>
                <a:cubicBezTo>
                  <a:pt x="21947" y="-23822"/>
                  <a:pt x="11390" y="-23822"/>
                  <a:pt x="4931" y="-17294"/>
                </a:cubicBezTo>
                <a:cubicBezTo>
                  <a:pt x="-1528" y="-10765"/>
                  <a:pt x="-1597" y="-208"/>
                  <a:pt x="4862" y="6320"/>
                </a:cubicBezTo>
                <a:lnTo>
                  <a:pt x="371574" y="373033"/>
                </a:lnTo>
                <a:cubicBezTo>
                  <a:pt x="378103" y="379561"/>
                  <a:pt x="388660" y="379561"/>
                  <a:pt x="395119" y="373033"/>
                </a:cubicBezTo>
                <a:cubicBezTo>
                  <a:pt x="401578" y="366504"/>
                  <a:pt x="401647" y="355947"/>
                  <a:pt x="395119" y="349488"/>
                </a:cubicBezTo>
                <a:lnTo>
                  <a:pt x="328166" y="282535"/>
                </a:lnTo>
                <a:cubicBezTo>
                  <a:pt x="330041" y="280868"/>
                  <a:pt x="331916" y="279202"/>
                  <a:pt x="333722" y="277535"/>
                </a:cubicBezTo>
                <a:cubicBezTo>
                  <a:pt x="366226" y="247323"/>
                  <a:pt x="387965" y="211276"/>
                  <a:pt x="398314" y="186482"/>
                </a:cubicBezTo>
                <a:cubicBezTo>
                  <a:pt x="400606" y="180995"/>
                  <a:pt x="400606" y="174883"/>
                  <a:pt x="398314" y="169396"/>
                </a:cubicBezTo>
                <a:cubicBezTo>
                  <a:pt x="387965" y="144601"/>
                  <a:pt x="366226" y="108486"/>
                  <a:pt x="333722" y="78343"/>
                </a:cubicBezTo>
                <a:cubicBezTo>
                  <a:pt x="301010" y="47992"/>
                  <a:pt x="256074" y="22364"/>
                  <a:pt x="199956" y="22364"/>
                </a:cubicBezTo>
                <a:cubicBezTo>
                  <a:pt x="160506" y="22364"/>
                  <a:pt x="126613" y="35004"/>
                  <a:pt x="98554" y="53062"/>
                </a:cubicBezTo>
                <a:lnTo>
                  <a:pt x="28476" y="-17294"/>
                </a:lnTo>
                <a:close/>
                <a:moveTo>
                  <a:pt x="142032" y="96331"/>
                </a:moveTo>
                <a:cubicBezTo>
                  <a:pt x="158353" y="84663"/>
                  <a:pt x="178425" y="77787"/>
                  <a:pt x="200025" y="77787"/>
                </a:cubicBezTo>
                <a:cubicBezTo>
                  <a:pt x="255240" y="77787"/>
                  <a:pt x="300038" y="122585"/>
                  <a:pt x="300038" y="177800"/>
                </a:cubicBezTo>
                <a:cubicBezTo>
                  <a:pt x="300038" y="199400"/>
                  <a:pt x="293162" y="219402"/>
                  <a:pt x="281494" y="235793"/>
                </a:cubicBezTo>
                <a:lnTo>
                  <a:pt x="257393" y="211693"/>
                </a:lnTo>
                <a:cubicBezTo>
                  <a:pt x="266214" y="196830"/>
                  <a:pt x="269200" y="178564"/>
                  <a:pt x="264408" y="160506"/>
                </a:cubicBezTo>
                <a:cubicBezTo>
                  <a:pt x="254893" y="124946"/>
                  <a:pt x="218291" y="103832"/>
                  <a:pt x="182731" y="113348"/>
                </a:cubicBezTo>
                <a:cubicBezTo>
                  <a:pt x="176758" y="114945"/>
                  <a:pt x="171133" y="117306"/>
                  <a:pt x="166062" y="120293"/>
                </a:cubicBezTo>
                <a:lnTo>
                  <a:pt x="141962" y="96193"/>
                </a:lnTo>
                <a:close/>
                <a:moveTo>
                  <a:pt x="225931" y="274409"/>
                </a:moveTo>
                <a:cubicBezTo>
                  <a:pt x="217666" y="276632"/>
                  <a:pt x="208984" y="277813"/>
                  <a:pt x="200025" y="277813"/>
                </a:cubicBezTo>
                <a:cubicBezTo>
                  <a:pt x="144810" y="277813"/>
                  <a:pt x="100013" y="233015"/>
                  <a:pt x="100013" y="177800"/>
                </a:cubicBezTo>
                <a:cubicBezTo>
                  <a:pt x="100013" y="168841"/>
                  <a:pt x="101193" y="160159"/>
                  <a:pt x="103416" y="151894"/>
                </a:cubicBezTo>
                <a:lnTo>
                  <a:pt x="48200" y="96679"/>
                </a:lnTo>
                <a:cubicBezTo>
                  <a:pt x="25559" y="122238"/>
                  <a:pt x="10001" y="149324"/>
                  <a:pt x="1736" y="169257"/>
                </a:cubicBezTo>
                <a:cubicBezTo>
                  <a:pt x="-556" y="174744"/>
                  <a:pt x="-556" y="180856"/>
                  <a:pt x="1736" y="186343"/>
                </a:cubicBezTo>
                <a:cubicBezTo>
                  <a:pt x="12085" y="211138"/>
                  <a:pt x="33824" y="247253"/>
                  <a:pt x="66328" y="277396"/>
                </a:cubicBezTo>
                <a:cubicBezTo>
                  <a:pt x="99040" y="307747"/>
                  <a:pt x="143976" y="333375"/>
                  <a:pt x="200094" y="333375"/>
                </a:cubicBezTo>
                <a:cubicBezTo>
                  <a:pt x="226000" y="333375"/>
                  <a:pt x="249545" y="327888"/>
                  <a:pt x="270589" y="319068"/>
                </a:cubicBezTo>
                <a:lnTo>
                  <a:pt x="226000" y="274479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8991600" y="149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Partially Observable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20320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 has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limited or noisy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information about the environment state. Must infer hidden information.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9000" y="285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9000" y="3238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must use memory and internal state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3619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probabilistic reasoning or belief states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9000" y="4000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complex agent design needed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0" y="457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090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0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Poker (hidden cards)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8745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4" name="Text 32"/>
          <p:cNvSpPr/>
          <p:nvPr/>
        </p:nvSpPr>
        <p:spPr>
          <a:xfrm>
            <a:off x="118745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90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90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 Navigation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8745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8" name="Text 36"/>
          <p:cNvSpPr/>
          <p:nvPr/>
        </p:nvSpPr>
        <p:spPr>
          <a:xfrm>
            <a:off x="118745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Maze Solving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 vs Stochastic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6731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66675"/>
                </a:moveTo>
                <a:cubicBezTo>
                  <a:pt x="355600" y="101540"/>
                  <a:pt x="314553" y="153561"/>
                  <a:pt x="296843" y="174327"/>
                </a:cubicBezTo>
                <a:cubicBezTo>
                  <a:pt x="294203" y="177383"/>
                  <a:pt x="290314" y="178564"/>
                  <a:pt x="286772" y="177800"/>
                </a:cubicBezTo>
                <a:lnTo>
                  <a:pt x="222250" y="177800"/>
                </a:lnTo>
                <a:cubicBezTo>
                  <a:pt x="209957" y="177800"/>
                  <a:pt x="200025" y="187732"/>
                  <a:pt x="200025" y="200025"/>
                </a:cubicBezTo>
                <a:cubicBezTo>
                  <a:pt x="200025" y="212318"/>
                  <a:pt x="209957" y="222250"/>
                  <a:pt x="222250" y="222250"/>
                </a:cubicBezTo>
                <a:lnTo>
                  <a:pt x="288925" y="222250"/>
                </a:ln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96957" y="355600"/>
                </a:lnTo>
                <a:cubicBezTo>
                  <a:pt x="102999" y="348724"/>
                  <a:pt x="110361" y="339904"/>
                  <a:pt x="117793" y="330041"/>
                </a:cubicBezTo>
                <a:cubicBezTo>
                  <a:pt x="122168" y="324207"/>
                  <a:pt x="126683" y="317818"/>
                  <a:pt x="130989" y="311150"/>
                </a:cubicBezTo>
                <a:lnTo>
                  <a:pt x="288925" y="311150"/>
                </a:lnTo>
                <a:cubicBezTo>
                  <a:pt x="301218" y="311150"/>
                  <a:pt x="311150" y="301218"/>
                  <a:pt x="311150" y="288925"/>
                </a:cubicBezTo>
                <a:cubicBezTo>
                  <a:pt x="311150" y="276632"/>
                  <a:pt x="301218" y="266700"/>
                  <a:pt x="288925" y="266700"/>
                </a:cubicBezTo>
                <a:lnTo>
                  <a:pt x="222250" y="266700"/>
                </a:lnTo>
                <a:cubicBezTo>
                  <a:pt x="185440" y="266700"/>
                  <a:pt x="155575" y="236835"/>
                  <a:pt x="155575" y="200025"/>
                </a:cubicBezTo>
                <a:cubicBezTo>
                  <a:pt x="155575" y="163215"/>
                  <a:pt x="185440" y="133350"/>
                  <a:pt x="222250" y="133350"/>
                </a:cubicBezTo>
                <a:lnTo>
                  <a:pt x="249892" y="133350"/>
                </a:lnTo>
                <a:cubicBezTo>
                  <a:pt x="235307" y="111472"/>
                  <a:pt x="222250" y="86330"/>
                  <a:pt x="222250" y="66675"/>
                </a:cubicBezTo>
                <a:cubicBezTo>
                  <a:pt x="222250" y="29865"/>
                  <a:pt x="252115" y="0"/>
                  <a:pt x="288925" y="0"/>
                </a:cubicBezTo>
                <a:cubicBezTo>
                  <a:pt x="325735" y="0"/>
                  <a:pt x="355600" y="29865"/>
                  <a:pt x="355600" y="66675"/>
                </a:cubicBezTo>
                <a:close/>
                <a:moveTo>
                  <a:pt x="81330" y="339695"/>
                </a:moveTo>
                <a:cubicBezTo>
                  <a:pt x="78690" y="342682"/>
                  <a:pt x="76329" y="345321"/>
                  <a:pt x="74315" y="347543"/>
                </a:cubicBezTo>
                <a:lnTo>
                  <a:pt x="73065" y="348933"/>
                </a:lnTo>
                <a:lnTo>
                  <a:pt x="72926" y="348794"/>
                </a:lnTo>
                <a:cubicBezTo>
                  <a:pt x="68759" y="351988"/>
                  <a:pt x="62786" y="351572"/>
                  <a:pt x="59035" y="347543"/>
                </a:cubicBezTo>
                <a:cubicBezTo>
                  <a:pt x="41533" y="328513"/>
                  <a:pt x="0" y="279549"/>
                  <a:pt x="0" y="244475"/>
                </a:cubicBezTo>
                <a:cubicBezTo>
                  <a:pt x="0" y="207665"/>
                  <a:pt x="29865" y="177800"/>
                  <a:pt x="66675" y="177800"/>
                </a:cubicBezTo>
                <a:cubicBezTo>
                  <a:pt x="103485" y="177800"/>
                  <a:pt x="133350" y="207665"/>
                  <a:pt x="133350" y="244475"/>
                </a:cubicBezTo>
                <a:cubicBezTo>
                  <a:pt x="133350" y="265311"/>
                  <a:pt x="118695" y="291009"/>
                  <a:pt x="103138" y="312470"/>
                </a:cubicBezTo>
                <a:cubicBezTo>
                  <a:pt x="95706" y="322679"/>
                  <a:pt x="88067" y="331916"/>
                  <a:pt x="81746" y="339209"/>
                </a:cubicBezTo>
                <a:lnTo>
                  <a:pt x="81330" y="339695"/>
                </a:lnTo>
                <a:close/>
                <a:moveTo>
                  <a:pt x="88900" y="244475"/>
                </a:moveTo>
                <a:cubicBezTo>
                  <a:pt x="88900" y="232209"/>
                  <a:pt x="78941" y="222250"/>
                  <a:pt x="66675" y="222250"/>
                </a:cubicBezTo>
                <a:cubicBezTo>
                  <a:pt x="54409" y="222250"/>
                  <a:pt x="44450" y="232209"/>
                  <a:pt x="44450" y="244475"/>
                </a:cubicBezTo>
                <a:cubicBezTo>
                  <a:pt x="44450" y="256741"/>
                  <a:pt x="54409" y="266700"/>
                  <a:pt x="66675" y="266700"/>
                </a:cubicBezTo>
                <a:cubicBezTo>
                  <a:pt x="78941" y="266700"/>
                  <a:pt x="88900" y="256741"/>
                  <a:pt x="88900" y="244475"/>
                </a:cubicBezTo>
                <a:close/>
                <a:moveTo>
                  <a:pt x="288925" y="88900"/>
                </a:moveTo>
                <a:cubicBezTo>
                  <a:pt x="301191" y="88900"/>
                  <a:pt x="311150" y="78941"/>
                  <a:pt x="311150" y="66675"/>
                </a:cubicBezTo>
                <a:cubicBezTo>
                  <a:pt x="311150" y="54409"/>
                  <a:pt x="301191" y="44450"/>
                  <a:pt x="288925" y="44450"/>
                </a:cubicBezTo>
                <a:cubicBezTo>
                  <a:pt x="276659" y="44450"/>
                  <a:pt x="266700" y="54409"/>
                  <a:pt x="266700" y="66675"/>
                </a:cubicBezTo>
                <a:cubicBezTo>
                  <a:pt x="266700" y="78941"/>
                  <a:pt x="276659" y="88900"/>
                  <a:pt x="288925" y="889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49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next state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completely determined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the current state and the agent's action. No uncertainty.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85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38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action always produces the same outcome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619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can plan with perfect confidence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000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Easier to model and predict behavior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57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15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3815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Math Equations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Crossword Puzzle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15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Vacuum World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1333500"/>
            <a:ext cx="7239000" cy="6731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09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452" y="23892"/>
                </a:moveTo>
                <a:cubicBezTo>
                  <a:pt x="288786" y="20419"/>
                  <a:pt x="298301" y="22364"/>
                  <a:pt x="304691" y="28684"/>
                </a:cubicBezTo>
                <a:lnTo>
                  <a:pt x="349141" y="73134"/>
                </a:lnTo>
                <a:cubicBezTo>
                  <a:pt x="353308" y="77301"/>
                  <a:pt x="355669" y="82927"/>
                  <a:pt x="355669" y="88831"/>
                </a:cubicBezTo>
                <a:cubicBezTo>
                  <a:pt x="355669" y="94734"/>
                  <a:pt x="353308" y="100360"/>
                  <a:pt x="349141" y="104527"/>
                </a:cubicBezTo>
                <a:lnTo>
                  <a:pt x="304691" y="148977"/>
                </a:lnTo>
                <a:cubicBezTo>
                  <a:pt x="298301" y="155367"/>
                  <a:pt x="288786" y="157242"/>
                  <a:pt x="280452" y="153769"/>
                </a:cubicBezTo>
                <a:cubicBezTo>
                  <a:pt x="272117" y="150297"/>
                  <a:pt x="266700" y="142309"/>
                  <a:pt x="266700" y="133350"/>
                </a:cubicBezTo>
                <a:lnTo>
                  <a:pt x="266700" y="111125"/>
                </a:lnTo>
                <a:lnTo>
                  <a:pt x="244475" y="111125"/>
                </a:lnTo>
                <a:cubicBezTo>
                  <a:pt x="237460" y="111125"/>
                  <a:pt x="230862" y="114389"/>
                  <a:pt x="226695" y="120015"/>
                </a:cubicBezTo>
                <a:lnTo>
                  <a:pt x="204192" y="150019"/>
                </a:lnTo>
                <a:lnTo>
                  <a:pt x="176411" y="113000"/>
                </a:lnTo>
                <a:lnTo>
                  <a:pt x="191135" y="93345"/>
                </a:lnTo>
                <a:cubicBezTo>
                  <a:pt x="203706" y="76537"/>
                  <a:pt x="223500" y="66675"/>
                  <a:pt x="244475" y="66675"/>
                </a:cubicBezTo>
                <a:lnTo>
                  <a:pt x="266700" y="66675"/>
                </a:lnTo>
                <a:lnTo>
                  <a:pt x="266700" y="44450"/>
                </a:lnTo>
                <a:cubicBezTo>
                  <a:pt x="266700" y="35491"/>
                  <a:pt x="272117" y="27365"/>
                  <a:pt x="280452" y="23892"/>
                </a:cubicBezTo>
                <a:close/>
                <a:moveTo>
                  <a:pt x="106958" y="205581"/>
                </a:moveTo>
                <a:lnTo>
                  <a:pt x="134739" y="242600"/>
                </a:lnTo>
                <a:lnTo>
                  <a:pt x="120015" y="262255"/>
                </a:lnTo>
                <a:cubicBezTo>
                  <a:pt x="107444" y="279063"/>
                  <a:pt x="87650" y="288925"/>
                  <a:pt x="66675" y="288925"/>
                </a:cubicBezTo>
                <a:lnTo>
                  <a:pt x="22225" y="288925"/>
                </a:lnTo>
                <a:cubicBezTo>
                  <a:pt x="9932" y="288925"/>
                  <a:pt x="0" y="278993"/>
                  <a:pt x="0" y="266700"/>
                </a:cubicBezTo>
                <a:cubicBezTo>
                  <a:pt x="0" y="254407"/>
                  <a:pt x="9932" y="244475"/>
                  <a:pt x="22225" y="244475"/>
                </a:cubicBezTo>
                <a:lnTo>
                  <a:pt x="66675" y="244475"/>
                </a:lnTo>
                <a:cubicBezTo>
                  <a:pt x="73690" y="244475"/>
                  <a:pt x="80288" y="241211"/>
                  <a:pt x="84455" y="235585"/>
                </a:cubicBezTo>
                <a:lnTo>
                  <a:pt x="106958" y="205581"/>
                </a:lnTo>
                <a:close/>
                <a:moveTo>
                  <a:pt x="304621" y="326846"/>
                </a:moveTo>
                <a:cubicBezTo>
                  <a:pt x="298232" y="333236"/>
                  <a:pt x="288717" y="335111"/>
                  <a:pt x="280382" y="331639"/>
                </a:cubicBezTo>
                <a:cubicBezTo>
                  <a:pt x="272048" y="328166"/>
                  <a:pt x="266700" y="320109"/>
                  <a:pt x="266700" y="311150"/>
                </a:cubicBezTo>
                <a:lnTo>
                  <a:pt x="266700" y="288925"/>
                </a:lnTo>
                <a:lnTo>
                  <a:pt x="244475" y="288925"/>
                </a:lnTo>
                <a:cubicBezTo>
                  <a:pt x="223500" y="288925"/>
                  <a:pt x="203706" y="279063"/>
                  <a:pt x="191135" y="262255"/>
                </a:cubicBezTo>
                <a:lnTo>
                  <a:pt x="84455" y="120015"/>
                </a:lnTo>
                <a:cubicBezTo>
                  <a:pt x="80288" y="114389"/>
                  <a:pt x="73690" y="111125"/>
                  <a:pt x="66675" y="11112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cubicBezTo>
                  <a:pt x="87650" y="66675"/>
                  <a:pt x="107444" y="76537"/>
                  <a:pt x="120015" y="93345"/>
                </a:cubicBezTo>
                <a:lnTo>
                  <a:pt x="226695" y="235585"/>
                </a:lnTo>
                <a:cubicBezTo>
                  <a:pt x="230862" y="241211"/>
                  <a:pt x="237460" y="244475"/>
                  <a:pt x="244475" y="244475"/>
                </a:cubicBezTo>
                <a:lnTo>
                  <a:pt x="266700" y="244475"/>
                </a:lnTo>
                <a:lnTo>
                  <a:pt x="266700" y="222250"/>
                </a:lnTo>
                <a:cubicBezTo>
                  <a:pt x="266700" y="213291"/>
                  <a:pt x="272117" y="205165"/>
                  <a:pt x="280452" y="201692"/>
                </a:cubicBezTo>
                <a:cubicBezTo>
                  <a:pt x="288786" y="198219"/>
                  <a:pt x="298301" y="200164"/>
                  <a:pt x="304691" y="206484"/>
                </a:cubicBezTo>
                <a:lnTo>
                  <a:pt x="349141" y="250934"/>
                </a:lnTo>
                <a:cubicBezTo>
                  <a:pt x="353308" y="255101"/>
                  <a:pt x="355669" y="260727"/>
                  <a:pt x="355669" y="266631"/>
                </a:cubicBezTo>
                <a:cubicBezTo>
                  <a:pt x="355669" y="272534"/>
                  <a:pt x="353308" y="278160"/>
                  <a:pt x="349141" y="282327"/>
                </a:cubicBezTo>
                <a:lnTo>
                  <a:pt x="304691" y="32677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8991600" y="149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Stochastic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20320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next state involves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randomness or uncertainty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same action may produce different outcomes.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9000" y="285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9000" y="3238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Outcomes involve probability and uncertainty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3619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needs probabilistic reasoning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9000" y="4000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robust decision-making strategies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0" y="457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090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0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Markets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8745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4" name="Text 32"/>
          <p:cNvSpPr/>
          <p:nvPr/>
        </p:nvSpPr>
        <p:spPr>
          <a:xfrm>
            <a:off x="118745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Systems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90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90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Dice / Card Games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8745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8" name="Text 36"/>
          <p:cNvSpPr/>
          <p:nvPr/>
        </p:nvSpPr>
        <p:spPr>
          <a:xfrm>
            <a:off x="118745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Soccer / Sports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 vs Sequential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6731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00025" y="311150"/>
                </a:moveTo>
                <a:lnTo>
                  <a:pt x="44450" y="311150"/>
                </a:lnTo>
                <a:lnTo>
                  <a:pt x="44450" y="155575"/>
                </a:lnTo>
                <a:lnTo>
                  <a:pt x="77788" y="155575"/>
                </a:lnTo>
                <a:lnTo>
                  <a:pt x="77788" y="111125"/>
                </a:lnTo>
                <a:lnTo>
                  <a:pt x="44450" y="111125"/>
                </a:lnTo>
                <a:cubicBezTo>
                  <a:pt x="19933" y="111125"/>
                  <a:pt x="0" y="131058"/>
                  <a:pt x="0" y="155575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00025" y="355600"/>
                </a:lnTo>
                <a:cubicBezTo>
                  <a:pt x="224542" y="355600"/>
                  <a:pt x="244475" y="335667"/>
                  <a:pt x="244475" y="311150"/>
                </a:cubicBezTo>
                <a:lnTo>
                  <a:pt x="244475" y="277813"/>
                </a:lnTo>
                <a:lnTo>
                  <a:pt x="200025" y="277813"/>
                </a:lnTo>
                <a:lnTo>
                  <a:pt x="200025" y="311150"/>
                </a:lnTo>
                <a:close/>
                <a:moveTo>
                  <a:pt x="155575" y="244475"/>
                </a:moveTo>
                <a:lnTo>
                  <a:pt x="311150" y="244475"/>
                </a:lnTo>
                <a:cubicBezTo>
                  <a:pt x="335667" y="244475"/>
                  <a:pt x="355600" y="224542"/>
                  <a:pt x="355600" y="200025"/>
                </a:cubicBezTo>
                <a:lnTo>
                  <a:pt x="355600" y="44450"/>
                </a:lnTo>
                <a:cubicBezTo>
                  <a:pt x="355600" y="19933"/>
                  <a:pt x="335667" y="0"/>
                  <a:pt x="311150" y="0"/>
                </a:cubicBezTo>
                <a:lnTo>
                  <a:pt x="155575" y="0"/>
                </a:lnTo>
                <a:cubicBezTo>
                  <a:pt x="131058" y="0"/>
                  <a:pt x="111125" y="19933"/>
                  <a:pt x="111125" y="44450"/>
                </a:cubicBezTo>
                <a:lnTo>
                  <a:pt x="111125" y="200025"/>
                </a:lnTo>
                <a:cubicBezTo>
                  <a:pt x="111125" y="224542"/>
                  <a:pt x="131058" y="244475"/>
                  <a:pt x="155575" y="24447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49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666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agent action is divided into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independent atomic episodes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One episode does not affect others.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85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38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decision is independent of previous 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619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need to consider future consequences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000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Simpler agent — reacts to each percept alone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57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Classification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15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3815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Detection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Inspection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15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43815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Picking Robot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55000" y="1333500"/>
            <a:ext cx="7239000" cy="6731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509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66675"/>
                </a:moveTo>
                <a:cubicBezTo>
                  <a:pt x="0" y="54382"/>
                  <a:pt x="9932" y="44450"/>
                  <a:pt x="22225" y="44450"/>
                </a:cubicBezTo>
                <a:lnTo>
                  <a:pt x="288925" y="44450"/>
                </a:lnTo>
                <a:cubicBezTo>
                  <a:pt x="301218" y="44450"/>
                  <a:pt x="311150" y="54382"/>
                  <a:pt x="311150" y="66675"/>
                </a:cubicBezTo>
                <a:cubicBezTo>
                  <a:pt x="311150" y="78968"/>
                  <a:pt x="301218" y="88900"/>
                  <a:pt x="288925" y="88900"/>
                </a:cubicBezTo>
                <a:lnTo>
                  <a:pt x="22225" y="88900"/>
                </a:lnTo>
                <a:cubicBezTo>
                  <a:pt x="9932" y="88900"/>
                  <a:pt x="0" y="78968"/>
                  <a:pt x="0" y="66675"/>
                </a:cubicBezTo>
                <a:close/>
                <a:moveTo>
                  <a:pt x="44450" y="177800"/>
                </a:moveTo>
                <a:cubicBezTo>
                  <a:pt x="44450" y="165507"/>
                  <a:pt x="54382" y="155575"/>
                  <a:pt x="66675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66675" y="200025"/>
                </a:lnTo>
                <a:cubicBezTo>
                  <a:pt x="54382" y="200025"/>
                  <a:pt x="44450" y="190093"/>
                  <a:pt x="44450" y="177800"/>
                </a:cubicBezTo>
                <a:close/>
                <a:moveTo>
                  <a:pt x="311150" y="288925"/>
                </a:moveTo>
                <a:cubicBezTo>
                  <a:pt x="311150" y="301218"/>
                  <a:pt x="301218" y="311150"/>
                  <a:pt x="288925" y="311150"/>
                </a:cubicBezTo>
                <a:lnTo>
                  <a:pt x="22225" y="311150"/>
                </a:lnTo>
                <a:cubicBezTo>
                  <a:pt x="9932" y="311150"/>
                  <a:pt x="0" y="301218"/>
                  <a:pt x="0" y="288925"/>
                </a:cubicBezTo>
                <a:cubicBezTo>
                  <a:pt x="0" y="276632"/>
                  <a:pt x="9932" y="266700"/>
                  <a:pt x="22225" y="266700"/>
                </a:cubicBezTo>
                <a:lnTo>
                  <a:pt x="288925" y="266700"/>
                </a:lnTo>
                <a:cubicBezTo>
                  <a:pt x="301218" y="266700"/>
                  <a:pt x="311150" y="276632"/>
                  <a:pt x="311150" y="2889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8991600" y="149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Sequential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2032000"/>
            <a:ext cx="673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decisions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affect all future decisions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agent must consider long-term consequences.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9000" y="285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09000" y="3238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action influences future possibilities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3619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strategic planning and foresight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9000" y="4000500"/>
            <a:ext cx="673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must learn from past experiences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0" y="457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090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0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 / Checkers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874500" y="50165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4" name="Text 32"/>
          <p:cNvSpPr/>
          <p:nvPr/>
        </p:nvSpPr>
        <p:spPr>
          <a:xfrm>
            <a:off x="11874500" y="50165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Navigation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090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90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 Portfolio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874500" y="5842000"/>
            <a:ext cx="3175000" cy="635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8" name="Text 36"/>
          <p:cNvSpPr/>
          <p:nvPr/>
        </p:nvSpPr>
        <p:spPr>
          <a:xfrm>
            <a:off x="11874500" y="5842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 Path Planning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vs Dynamic &amp; Single vs Multi-agent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114300"/>
                </a:moveTo>
                <a:lnTo>
                  <a:pt x="133350" y="190500"/>
                </a:lnTo>
                <a:cubicBezTo>
                  <a:pt x="133350" y="201037"/>
                  <a:pt x="124837" y="209550"/>
                  <a:pt x="114300" y="209550"/>
                </a:cubicBezTo>
                <a:cubicBezTo>
                  <a:pt x="103763" y="209550"/>
                  <a:pt x="95250" y="201037"/>
                  <a:pt x="95250" y="190500"/>
                </a:cubicBezTo>
                <a:lnTo>
                  <a:pt x="95250" y="114300"/>
                </a:lnTo>
                <a:cubicBezTo>
                  <a:pt x="95250" y="103763"/>
                  <a:pt x="103763" y="95250"/>
                  <a:pt x="114300" y="95250"/>
                </a:cubicBezTo>
                <a:cubicBezTo>
                  <a:pt x="124837" y="95250"/>
                  <a:pt x="133350" y="103763"/>
                  <a:pt x="133350" y="114300"/>
                </a:cubicBezTo>
                <a:close/>
                <a:moveTo>
                  <a:pt x="209550" y="114300"/>
                </a:moveTo>
                <a:lnTo>
                  <a:pt x="209550" y="190500"/>
                </a:lnTo>
                <a:cubicBezTo>
                  <a:pt x="209550" y="201037"/>
                  <a:pt x="201037" y="209550"/>
                  <a:pt x="190500" y="209550"/>
                </a:cubicBezTo>
                <a:cubicBezTo>
                  <a:pt x="179963" y="209550"/>
                  <a:pt x="171450" y="201037"/>
                  <a:pt x="171450" y="190500"/>
                </a:cubicBezTo>
                <a:lnTo>
                  <a:pt x="171450" y="114300"/>
                </a:lnTo>
                <a:cubicBezTo>
                  <a:pt x="171450" y="103763"/>
                  <a:pt x="179963" y="95250"/>
                  <a:pt x="190500" y="95250"/>
                </a:cubicBezTo>
                <a:cubicBezTo>
                  <a:pt x="201037" y="95250"/>
                  <a:pt x="209550" y="103763"/>
                  <a:pt x="209550" y="1143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Environment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68500"/>
            <a:ext cx="6667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does not change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while the agent is deliberating. The world waits for the agent.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730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1115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1115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Crossword Puzzle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75000" y="31115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175000" y="31115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Photo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0" y="31115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334000" y="31115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Sudoku Solver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1333500"/>
            <a:ext cx="7239000" cy="30480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28050" y="152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89408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Environment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19685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change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during agent decision-making. The world keeps evolving.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9000" y="2730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09000" y="31115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9000" y="31115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Games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668000" y="31115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668000" y="31115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Trading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827000" y="31115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12827000" y="31115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Nav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4699000"/>
            <a:ext cx="7175500" cy="3365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5050" y="4889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9" name="Text 27"/>
          <p:cNvSpPr/>
          <p:nvPr/>
        </p:nvSpPr>
        <p:spPr>
          <a:xfrm>
            <a:off x="1447800" y="48641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Single-Agent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5334000"/>
            <a:ext cx="6667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agent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operates in the environment. No other agents to interact with.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16000" y="6096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6000" y="64770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64770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Maze Solving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75000" y="64770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5" name="Text 33"/>
          <p:cNvSpPr/>
          <p:nvPr/>
        </p:nvSpPr>
        <p:spPr>
          <a:xfrm>
            <a:off x="3175000" y="64770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Sudoku Solver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0" y="64770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7" name="Text 35"/>
          <p:cNvSpPr/>
          <p:nvPr/>
        </p:nvSpPr>
        <p:spPr>
          <a:xfrm>
            <a:off x="5334000" y="64770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Planning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55000" y="4699000"/>
            <a:ext cx="7239000" cy="3365500"/>
          </a:xfrm>
          <a:prstGeom prst="roundRect">
            <a:avLst>
              <a:gd name="adj" fmla="val 8000"/>
            </a:avLst>
          </a:prstGeom>
          <a:solidFill>
            <a:srgbClr val="0F4C5C">
              <a:alpha val="6275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470900" y="4889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40" name="Text 38"/>
          <p:cNvSpPr/>
          <p:nvPr/>
        </p:nvSpPr>
        <p:spPr>
          <a:xfrm>
            <a:off x="8940800" y="48641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09000" y="5334000"/>
            <a:ext cx="673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agents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interact, compete, or cooperate. Agent must account for others' behavior.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509000" y="6096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09000" y="64770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44" name="Text 42"/>
          <p:cNvSpPr/>
          <p:nvPr/>
        </p:nvSpPr>
        <p:spPr>
          <a:xfrm>
            <a:off x="8509000" y="64770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Football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668000" y="64770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46" name="Text 44"/>
          <p:cNvSpPr/>
          <p:nvPr/>
        </p:nvSpPr>
        <p:spPr>
          <a:xfrm>
            <a:off x="10668000" y="64770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 (2 players)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827000" y="6477000"/>
            <a:ext cx="1968500" cy="4826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48" name="Text 46"/>
          <p:cNvSpPr/>
          <p:nvPr/>
        </p:nvSpPr>
        <p:spPr>
          <a:xfrm>
            <a:off x="12827000" y="6477000"/>
            <a:ext cx="1968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Auction Systems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Activity: Identify the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39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each scenario, identify the environment type across all six dimensions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1930400"/>
            <a:ext cx="44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2400" y="1930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Self-Driving Car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3876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autonomous vehicle navigating a highway with other traffic, pedestrians, and changing weather conditions.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8415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5905500" y="1930400"/>
            <a:ext cx="44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5400" y="1930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Chess-Playing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23876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AI system playing chess against a human opponent on a standard chessboard with full visibility.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841500"/>
            <a:ext cx="4826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5" name="Text 13"/>
          <p:cNvSpPr/>
          <p:nvPr/>
        </p:nvSpPr>
        <p:spPr>
          <a:xfrm>
            <a:off x="10858500" y="1930400"/>
            <a:ext cx="44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28400" y="1930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Spam Email Filter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22000" y="23876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email system that classifies incoming emails as spam or not spam based on content analysis.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0640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152900"/>
            <a:ext cx="44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22400" y="41529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Warehouse Robot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6101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robot that picks items from conveyor belts and places them into bins for shipping orders.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4064000"/>
            <a:ext cx="4699000" cy="1968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3" name="Text 21"/>
          <p:cNvSpPr/>
          <p:nvPr/>
        </p:nvSpPr>
        <p:spPr>
          <a:xfrm>
            <a:off x="5905500" y="4152900"/>
            <a:ext cx="44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75400" y="41529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Diagnosis AI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69000" y="46101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system that analyzes patient symptoms and medical records to suggest possible diagnoses.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413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Classify Each Scenario Using: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62000" y="6921500"/>
            <a:ext cx="2349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6921500"/>
            <a:ext cx="2349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Discrete / Continuous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02000" y="6921500"/>
            <a:ext cx="2349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0" name="Text 28"/>
          <p:cNvSpPr/>
          <p:nvPr/>
        </p:nvSpPr>
        <p:spPr>
          <a:xfrm>
            <a:off x="3302000" y="6921500"/>
            <a:ext cx="2349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Observable / Partially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42000" y="6921500"/>
            <a:ext cx="2349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2" name="Text 30"/>
          <p:cNvSpPr/>
          <p:nvPr/>
        </p:nvSpPr>
        <p:spPr>
          <a:xfrm>
            <a:off x="5842000" y="6921500"/>
            <a:ext cx="2349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Deterministic / Stochastic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0" y="6921500"/>
            <a:ext cx="2349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6921500"/>
            <a:ext cx="2349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Episodic / Sequential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22000" y="6921500"/>
            <a:ext cx="23495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6" name="Text 34"/>
          <p:cNvSpPr/>
          <p:nvPr/>
        </p:nvSpPr>
        <p:spPr>
          <a:xfrm>
            <a:off x="10922000" y="6921500"/>
            <a:ext cx="23495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/ Dynamic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462000" y="6921500"/>
            <a:ext cx="2032000" cy="4826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8" name="Text 36"/>
          <p:cNvSpPr/>
          <p:nvPr/>
        </p:nvSpPr>
        <p:spPr>
          <a:xfrm>
            <a:off x="13462000" y="6921500"/>
            <a:ext cx="203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/ Multi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ttgy7avbgtls/mnt/agents/output/ai-course-week4/images/1_Glowing_Digital_Brain_Network_with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332">
                  <a:alpha val="95000"/>
                </a:srgbClr>
              </a:gs>
              <a:gs pos="60000">
                <a:srgbClr val="1A2332">
                  <a:alpha val="90000"/>
                </a:srgbClr>
              </a:gs>
              <a:gs pos="100000">
                <a:srgbClr val="1A2332">
                  <a:alpha val="7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270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800" dirty="0">
                <a:solidFill>
                  <a:srgbClr val="FFFFFF">
                    <a:alpha val="1490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762000" y="266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3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3175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Based Agents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3937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Operations &amp; Levels of Abstraction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4953000"/>
            <a:ext cx="1016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Knowledge Based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8890000" cy="1524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KBA?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68500"/>
            <a:ext cx="838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KBA makes decisions by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reasoning over a stored repository of facts, rules, and logic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not just pre-programmed instructions.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04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3517900"/>
            <a:ext cx="863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Logical Inference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Derive new information from existing knowledge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9751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" y="3937000"/>
            <a:ext cx="863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Knowledge Storage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Maintain long-term memory of facts and rules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3942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4356100"/>
            <a:ext cx="863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Learning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Update knowledge based on new experiences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8133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" y="4775200"/>
            <a:ext cx="863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Explainability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Provide reasoning behind decisions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3975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Design Principle: Separation of Concerns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62000" y="5905500"/>
            <a:ext cx="4318000" cy="1016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5050" y="6159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" y="6032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47800" y="63754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 agent knows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0" y="5905500"/>
            <a:ext cx="4318000" cy="1016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49900" y="6159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019800" y="6032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19800" y="63754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the agent thinks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7239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2000" y="7620000"/>
            <a:ext cx="889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Expert systems, medical diagnosis, legal reasoning, customer support chatbots, recommendation engines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160000" y="1333500"/>
            <a:ext cx="5334000" cy="70485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0" name="Text 28"/>
          <p:cNvSpPr/>
          <p:nvPr/>
        </p:nvSpPr>
        <p:spPr>
          <a:xfrm>
            <a:off x="10541000" y="15875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KBA vs Simple Reflex Agent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922000" y="2286000"/>
            <a:ext cx="3810000" cy="889000"/>
          </a:xfrm>
          <a:prstGeom prst="roundRect">
            <a:avLst>
              <a:gd name="adj" fmla="val 8000"/>
            </a:avLst>
          </a:prstGeom>
          <a:solidFill>
            <a:srgbClr val="FFFFFF">
              <a:alpha val="12549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22000" y="22860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Reflex Agent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827000" y="3302000"/>
            <a:ext cx="0" cy="635000"/>
          </a:xfrm>
          <a:prstGeom prst="straightConnector1">
            <a:avLst/>
          </a:prstGeom>
          <a:noFill/>
          <a:ln w="25400">
            <a:solidFill>
              <a:srgbClr val="FFFFFF">
                <a:alpha val="37647"/>
              </a:srgbClr>
            </a:solidFill>
            <a:prstDash val="solid"/>
            <a:headEnd type="none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10922000" y="4064000"/>
            <a:ext cx="381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Condition-Action Rules Only No memory or reasoning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22000" y="5080000"/>
            <a:ext cx="3810000" cy="889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36" name="Text 34"/>
          <p:cNvSpPr/>
          <p:nvPr/>
        </p:nvSpPr>
        <p:spPr>
          <a:xfrm>
            <a:off x="10922000" y="50800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Based Agent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22000" y="622300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KB + Inference Engine Reasoning &amp; Memory Learns and adapts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541000" y="7366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KBAs can solve complex problems that simple reflex agents cannot handle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Knowledge Base?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1079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152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30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KB is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 repository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holds facts, rules, and information in a formal representation language.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KB Contains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" y="3492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Facts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937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"Paris is the capital of France" "Water boils at 100°C at sea level"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0" y="3302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690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492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9000" y="3937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"If fever AND rash THEN consider measles" "If raining THEN ground is wet"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3302000"/>
            <a:ext cx="4826000" cy="1651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2000" y="353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353800" y="349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2000" y="3937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Connections between concepts, causal links, hierarchical structures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 of the KB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2000" y="59055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939800" y="58674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Continuously updated with new information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63246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939800" y="62865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Language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Expressed in logic, rules, or ontologies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67437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" y="67056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Long-term Memory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Persistent storage of agent's knowledge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82000" y="53340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30" name="Shape 28"/>
          <p:cNvSpPr/>
          <p:nvPr/>
        </p:nvSpPr>
        <p:spPr>
          <a:xfrm>
            <a:off x="8674100" y="5562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9067800" y="552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5994400"/>
            <a:ext cx="660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the Knowledge Base as the agent's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"library of knowledge"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 vast collection of information the agent can consult at any time to make informed decisions.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of Knowledge Based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KBA architecture consists of two primary components working together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32000" y="2032000"/>
            <a:ext cx="4826000" cy="1778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7" name="Shape 5"/>
          <p:cNvSpPr/>
          <p:nvPr/>
        </p:nvSpPr>
        <p:spPr>
          <a:xfrm>
            <a:off x="2373313" y="2286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2857500" y="2260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 (KB)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49500" y="276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sentences representing facts, rules, and relationships about the world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98000" y="2032000"/>
            <a:ext cx="4826000" cy="1778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875" y="2286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223500" y="22606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15500" y="2768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 logical rules to derive new knowledge and make decisions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1000"/>
            <a:ext cx="2540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arrow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7239000" y="29845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 / updates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8000" y="4826000"/>
            <a:ext cx="5080000" cy="1016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05500" y="508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6388100" y="50546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05500" y="54864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world the agent interacts with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0" y="3810000"/>
            <a:ext cx="0" cy="1016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ysDot"/>
            <a:headEnd type="arrow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985000" y="4000500"/>
            <a:ext cx="114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percepts (sensors)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98000" y="3810000"/>
            <a:ext cx="0" cy="1016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ysDot"/>
            <a:headEnd type="none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9525000" y="4000500"/>
            <a:ext cx="114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 (actuators)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Components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62000" y="69215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939800" y="68834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Perception Module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Gathers environmental data via sensors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73406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939800" y="73025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 Module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Executes decisions through actuators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2000" y="77597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939800" y="77216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Element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Updates KB from feedback and experience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KBA Components in Detail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1714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36638" y="15240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88925" y="132725"/>
                </a:moveTo>
                <a:cubicBezTo>
                  <a:pt x="279380" y="139045"/>
                  <a:pt x="268416" y="144140"/>
                  <a:pt x="257001" y="148203"/>
                </a:cubicBezTo>
                <a:cubicBezTo>
                  <a:pt x="226690" y="159038"/>
                  <a:pt x="186898" y="165100"/>
                  <a:pt x="144463" y="165100"/>
                </a:cubicBezTo>
                <a:cubicBezTo>
                  <a:pt x="102027" y="165100"/>
                  <a:pt x="62170" y="158973"/>
                  <a:pt x="31924" y="148203"/>
                </a:cubicBezTo>
                <a:cubicBezTo>
                  <a:pt x="20573" y="144140"/>
                  <a:pt x="9545" y="139045"/>
                  <a:pt x="0" y="132725"/>
                </a:cubicBezTo>
                <a:lnTo>
                  <a:pt x="0" y="185738"/>
                </a:lnTo>
                <a:cubicBezTo>
                  <a:pt x="0" y="214243"/>
                  <a:pt x="64686" y="237331"/>
                  <a:pt x="144463" y="237331"/>
                </a:cubicBezTo>
                <a:cubicBezTo>
                  <a:pt x="224239" y="237331"/>
                  <a:pt x="288925" y="214243"/>
                  <a:pt x="288925" y="185738"/>
                </a:cubicBezTo>
                <a:lnTo>
                  <a:pt x="288925" y="132725"/>
                </a:lnTo>
                <a:close/>
                <a:moveTo>
                  <a:pt x="288925" y="82550"/>
                </a:moveTo>
                <a:lnTo>
                  <a:pt x="288925" y="51594"/>
                </a:lnTo>
                <a:cubicBezTo>
                  <a:pt x="288925" y="23088"/>
                  <a:pt x="224239" y="0"/>
                  <a:pt x="144463" y="0"/>
                </a:cubicBezTo>
                <a:cubicBezTo>
                  <a:pt x="64686" y="0"/>
                  <a:pt x="0" y="23088"/>
                  <a:pt x="0" y="51594"/>
                </a:cubicBezTo>
                <a:lnTo>
                  <a:pt x="0" y="82550"/>
                </a:lnTo>
                <a:cubicBezTo>
                  <a:pt x="0" y="111056"/>
                  <a:pt x="64686" y="134144"/>
                  <a:pt x="144463" y="134144"/>
                </a:cubicBezTo>
                <a:cubicBezTo>
                  <a:pt x="224239" y="134144"/>
                  <a:pt x="288925" y="111056"/>
                  <a:pt x="288925" y="82550"/>
                </a:cubicBezTo>
                <a:close/>
                <a:moveTo>
                  <a:pt x="257001" y="251391"/>
                </a:moveTo>
                <a:cubicBezTo>
                  <a:pt x="226755" y="262161"/>
                  <a:pt x="186963" y="268288"/>
                  <a:pt x="144463" y="268288"/>
                </a:cubicBezTo>
                <a:cubicBezTo>
                  <a:pt x="101962" y="268288"/>
                  <a:pt x="62170" y="262161"/>
                  <a:pt x="31924" y="251391"/>
                </a:cubicBezTo>
                <a:cubicBezTo>
                  <a:pt x="20573" y="247328"/>
                  <a:pt x="9545" y="242233"/>
                  <a:pt x="0" y="235912"/>
                </a:cubicBezTo>
                <a:lnTo>
                  <a:pt x="0" y="278606"/>
                </a:lnTo>
                <a:cubicBezTo>
                  <a:pt x="0" y="307112"/>
                  <a:pt x="64686" y="330200"/>
                  <a:pt x="144463" y="330200"/>
                </a:cubicBezTo>
                <a:cubicBezTo>
                  <a:pt x="224239" y="330200"/>
                  <a:pt x="288925" y="307112"/>
                  <a:pt x="288925" y="278606"/>
                </a:cubicBezTo>
                <a:lnTo>
                  <a:pt x="288925" y="235912"/>
                </a:lnTo>
                <a:cubicBezTo>
                  <a:pt x="279380" y="242233"/>
                  <a:pt x="268416" y="247328"/>
                  <a:pt x="257001" y="251391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4732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685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Collection of sentences in a formal language representing facts, rules, and heuristics about the domain. The agent's long-term memory.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55000" y="1333500"/>
            <a:ext cx="7239000" cy="1714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8467725" y="1524000"/>
            <a:ext cx="412750" cy="330200"/>
          </a:xfrm>
          <a:custGeom>
            <a:avLst/>
            <a:gdLst/>
            <a:ahLst/>
            <a:cxnLst/>
            <a:rect l="l" t="t" r="r" b="b"/>
            <a:pathLst>
              <a:path w="412750" h="330200">
                <a:moveTo>
                  <a:pt x="268223" y="135756"/>
                </a:moveTo>
                <a:cubicBezTo>
                  <a:pt x="276091" y="133628"/>
                  <a:pt x="284346" y="137368"/>
                  <a:pt x="287893" y="144656"/>
                </a:cubicBezTo>
                <a:lnTo>
                  <a:pt x="299889" y="168905"/>
                </a:lnTo>
                <a:cubicBezTo>
                  <a:pt x="306531" y="169808"/>
                  <a:pt x="313045" y="171614"/>
                  <a:pt x="319172" y="174129"/>
                </a:cubicBezTo>
                <a:lnTo>
                  <a:pt x="341744" y="159102"/>
                </a:lnTo>
                <a:cubicBezTo>
                  <a:pt x="348516" y="154588"/>
                  <a:pt x="357480" y="155491"/>
                  <a:pt x="363220" y="161230"/>
                </a:cubicBezTo>
                <a:lnTo>
                  <a:pt x="375603" y="173613"/>
                </a:lnTo>
                <a:cubicBezTo>
                  <a:pt x="381342" y="179353"/>
                  <a:pt x="382245" y="188382"/>
                  <a:pt x="377731" y="195089"/>
                </a:cubicBezTo>
                <a:lnTo>
                  <a:pt x="362704" y="217597"/>
                </a:lnTo>
                <a:cubicBezTo>
                  <a:pt x="363929" y="220628"/>
                  <a:pt x="365026" y="223788"/>
                  <a:pt x="365929" y="227077"/>
                </a:cubicBezTo>
                <a:cubicBezTo>
                  <a:pt x="366832" y="230366"/>
                  <a:pt x="367412" y="233591"/>
                  <a:pt x="367863" y="236880"/>
                </a:cubicBezTo>
                <a:lnTo>
                  <a:pt x="392177" y="248875"/>
                </a:lnTo>
                <a:cubicBezTo>
                  <a:pt x="399465" y="252487"/>
                  <a:pt x="403205" y="260742"/>
                  <a:pt x="401077" y="268545"/>
                </a:cubicBezTo>
                <a:lnTo>
                  <a:pt x="396562" y="285442"/>
                </a:lnTo>
                <a:cubicBezTo>
                  <a:pt x="394434" y="293246"/>
                  <a:pt x="387147" y="298534"/>
                  <a:pt x="379021" y="298018"/>
                </a:cubicBezTo>
                <a:lnTo>
                  <a:pt x="351934" y="296277"/>
                </a:lnTo>
                <a:cubicBezTo>
                  <a:pt x="347871" y="301501"/>
                  <a:pt x="343163" y="306338"/>
                  <a:pt x="337810" y="310465"/>
                </a:cubicBezTo>
                <a:lnTo>
                  <a:pt x="339551" y="337488"/>
                </a:lnTo>
                <a:cubicBezTo>
                  <a:pt x="340067" y="345614"/>
                  <a:pt x="334779" y="352966"/>
                  <a:pt x="326975" y="355029"/>
                </a:cubicBezTo>
                <a:lnTo>
                  <a:pt x="310078" y="359544"/>
                </a:lnTo>
                <a:cubicBezTo>
                  <a:pt x="302210" y="361672"/>
                  <a:pt x="294020" y="357932"/>
                  <a:pt x="290408" y="350644"/>
                </a:cubicBezTo>
                <a:lnTo>
                  <a:pt x="278413" y="326395"/>
                </a:lnTo>
                <a:cubicBezTo>
                  <a:pt x="271770" y="325492"/>
                  <a:pt x="265256" y="323686"/>
                  <a:pt x="259130" y="321171"/>
                </a:cubicBezTo>
                <a:lnTo>
                  <a:pt x="236557" y="336198"/>
                </a:lnTo>
                <a:cubicBezTo>
                  <a:pt x="229786" y="340712"/>
                  <a:pt x="220821" y="339809"/>
                  <a:pt x="215081" y="334070"/>
                </a:cubicBezTo>
                <a:lnTo>
                  <a:pt x="202699" y="321687"/>
                </a:lnTo>
                <a:cubicBezTo>
                  <a:pt x="196959" y="315947"/>
                  <a:pt x="196056" y="306983"/>
                  <a:pt x="200571" y="300211"/>
                </a:cubicBezTo>
                <a:lnTo>
                  <a:pt x="215597" y="277639"/>
                </a:lnTo>
                <a:cubicBezTo>
                  <a:pt x="214372" y="274608"/>
                  <a:pt x="213276" y="271448"/>
                  <a:pt x="212373" y="268159"/>
                </a:cubicBezTo>
                <a:cubicBezTo>
                  <a:pt x="211470" y="264869"/>
                  <a:pt x="210889" y="261580"/>
                  <a:pt x="210438" y="258356"/>
                </a:cubicBezTo>
                <a:lnTo>
                  <a:pt x="186124" y="246360"/>
                </a:lnTo>
                <a:cubicBezTo>
                  <a:pt x="178837" y="242749"/>
                  <a:pt x="175161" y="234494"/>
                  <a:pt x="177225" y="226690"/>
                </a:cubicBezTo>
                <a:lnTo>
                  <a:pt x="181739" y="209793"/>
                </a:lnTo>
                <a:cubicBezTo>
                  <a:pt x="183867" y="201990"/>
                  <a:pt x="191155" y="196701"/>
                  <a:pt x="199281" y="197217"/>
                </a:cubicBezTo>
                <a:lnTo>
                  <a:pt x="226303" y="198958"/>
                </a:lnTo>
                <a:cubicBezTo>
                  <a:pt x="230366" y="193735"/>
                  <a:pt x="235074" y="188898"/>
                  <a:pt x="240427" y="184770"/>
                </a:cubicBezTo>
                <a:lnTo>
                  <a:pt x="238686" y="157812"/>
                </a:lnTo>
                <a:cubicBezTo>
                  <a:pt x="238170" y="149686"/>
                  <a:pt x="243458" y="142334"/>
                  <a:pt x="251262" y="140271"/>
                </a:cubicBezTo>
                <a:lnTo>
                  <a:pt x="268159" y="135756"/>
                </a:lnTo>
                <a:close/>
                <a:moveTo>
                  <a:pt x="289183" y="219273"/>
                </a:moveTo>
                <a:cubicBezTo>
                  <a:pt x="273522" y="219291"/>
                  <a:pt x="260821" y="232021"/>
                  <a:pt x="260839" y="247682"/>
                </a:cubicBezTo>
                <a:cubicBezTo>
                  <a:pt x="260856" y="263344"/>
                  <a:pt x="273586" y="276044"/>
                  <a:pt x="289247" y="276027"/>
                </a:cubicBezTo>
                <a:cubicBezTo>
                  <a:pt x="304909" y="276009"/>
                  <a:pt x="317610" y="263279"/>
                  <a:pt x="317592" y="247618"/>
                </a:cubicBezTo>
                <a:cubicBezTo>
                  <a:pt x="317574" y="231956"/>
                  <a:pt x="304844" y="219256"/>
                  <a:pt x="289183" y="219273"/>
                </a:cubicBezTo>
                <a:close/>
                <a:moveTo>
                  <a:pt x="145043" y="-29344"/>
                </a:moveTo>
                <a:lnTo>
                  <a:pt x="161940" y="-24829"/>
                </a:lnTo>
                <a:cubicBezTo>
                  <a:pt x="169743" y="-22701"/>
                  <a:pt x="175032" y="-15349"/>
                  <a:pt x="174516" y="-7288"/>
                </a:cubicBezTo>
                <a:lnTo>
                  <a:pt x="172775" y="19670"/>
                </a:lnTo>
                <a:cubicBezTo>
                  <a:pt x="178127" y="23798"/>
                  <a:pt x="182835" y="28570"/>
                  <a:pt x="186898" y="33858"/>
                </a:cubicBezTo>
                <a:lnTo>
                  <a:pt x="213985" y="32117"/>
                </a:lnTo>
                <a:cubicBezTo>
                  <a:pt x="222047" y="31601"/>
                  <a:pt x="229399" y="36890"/>
                  <a:pt x="231527" y="44693"/>
                </a:cubicBezTo>
                <a:lnTo>
                  <a:pt x="236041" y="61590"/>
                </a:lnTo>
                <a:cubicBezTo>
                  <a:pt x="238105" y="69394"/>
                  <a:pt x="234429" y="77649"/>
                  <a:pt x="227141" y="81260"/>
                </a:cubicBezTo>
                <a:lnTo>
                  <a:pt x="202828" y="93256"/>
                </a:lnTo>
                <a:cubicBezTo>
                  <a:pt x="202376" y="96545"/>
                  <a:pt x="201732" y="99834"/>
                  <a:pt x="200893" y="103059"/>
                </a:cubicBezTo>
                <a:cubicBezTo>
                  <a:pt x="200055" y="106283"/>
                  <a:pt x="198894" y="109508"/>
                  <a:pt x="197669" y="112539"/>
                </a:cubicBezTo>
                <a:lnTo>
                  <a:pt x="212695" y="135111"/>
                </a:lnTo>
                <a:cubicBezTo>
                  <a:pt x="217210" y="141883"/>
                  <a:pt x="216307" y="150847"/>
                  <a:pt x="210567" y="156587"/>
                </a:cubicBezTo>
                <a:lnTo>
                  <a:pt x="198184" y="168970"/>
                </a:lnTo>
                <a:cubicBezTo>
                  <a:pt x="192445" y="174709"/>
                  <a:pt x="183480" y="175612"/>
                  <a:pt x="176709" y="171098"/>
                </a:cubicBezTo>
                <a:lnTo>
                  <a:pt x="154136" y="156071"/>
                </a:lnTo>
                <a:cubicBezTo>
                  <a:pt x="148010" y="158586"/>
                  <a:pt x="141496" y="160392"/>
                  <a:pt x="134853" y="161295"/>
                </a:cubicBezTo>
                <a:lnTo>
                  <a:pt x="122858" y="185544"/>
                </a:lnTo>
                <a:cubicBezTo>
                  <a:pt x="119246" y="192832"/>
                  <a:pt x="110991" y="196508"/>
                  <a:pt x="103188" y="194444"/>
                </a:cubicBezTo>
                <a:lnTo>
                  <a:pt x="86291" y="189929"/>
                </a:lnTo>
                <a:cubicBezTo>
                  <a:pt x="78423" y="187801"/>
                  <a:pt x="73199" y="180449"/>
                  <a:pt x="73715" y="172388"/>
                </a:cubicBezTo>
                <a:lnTo>
                  <a:pt x="75456" y="145365"/>
                </a:lnTo>
                <a:cubicBezTo>
                  <a:pt x="70103" y="141238"/>
                  <a:pt x="65395" y="136465"/>
                  <a:pt x="61332" y="131177"/>
                </a:cubicBezTo>
                <a:lnTo>
                  <a:pt x="34245" y="132918"/>
                </a:lnTo>
                <a:cubicBezTo>
                  <a:pt x="26184" y="133434"/>
                  <a:pt x="18832" y="128146"/>
                  <a:pt x="16703" y="120342"/>
                </a:cubicBezTo>
                <a:lnTo>
                  <a:pt x="12189" y="103445"/>
                </a:lnTo>
                <a:cubicBezTo>
                  <a:pt x="10125" y="95642"/>
                  <a:pt x="13801" y="87387"/>
                  <a:pt x="21089" y="83775"/>
                </a:cubicBezTo>
                <a:lnTo>
                  <a:pt x="45403" y="71780"/>
                </a:lnTo>
                <a:cubicBezTo>
                  <a:pt x="45854" y="68491"/>
                  <a:pt x="46499" y="65266"/>
                  <a:pt x="47337" y="61977"/>
                </a:cubicBezTo>
                <a:cubicBezTo>
                  <a:pt x="48240" y="58688"/>
                  <a:pt x="49272" y="55528"/>
                  <a:pt x="50562" y="52497"/>
                </a:cubicBezTo>
                <a:lnTo>
                  <a:pt x="35535" y="29989"/>
                </a:lnTo>
                <a:cubicBezTo>
                  <a:pt x="31021" y="23217"/>
                  <a:pt x="31924" y="14253"/>
                  <a:pt x="37663" y="8513"/>
                </a:cubicBezTo>
                <a:lnTo>
                  <a:pt x="50046" y="-3870"/>
                </a:lnTo>
                <a:cubicBezTo>
                  <a:pt x="55786" y="-9609"/>
                  <a:pt x="64750" y="-10512"/>
                  <a:pt x="71522" y="-5998"/>
                </a:cubicBezTo>
                <a:lnTo>
                  <a:pt x="94094" y="9029"/>
                </a:lnTo>
                <a:cubicBezTo>
                  <a:pt x="100221" y="6514"/>
                  <a:pt x="106735" y="4708"/>
                  <a:pt x="113377" y="3805"/>
                </a:cubicBezTo>
                <a:lnTo>
                  <a:pt x="125373" y="-20444"/>
                </a:lnTo>
                <a:cubicBezTo>
                  <a:pt x="128984" y="-27732"/>
                  <a:pt x="137175" y="-31408"/>
                  <a:pt x="145043" y="-29344"/>
                </a:cubicBezTo>
                <a:close/>
                <a:moveTo>
                  <a:pt x="124083" y="54173"/>
                </a:moveTo>
                <a:cubicBezTo>
                  <a:pt x="108422" y="54173"/>
                  <a:pt x="95706" y="66889"/>
                  <a:pt x="95706" y="82550"/>
                </a:cubicBezTo>
                <a:cubicBezTo>
                  <a:pt x="95706" y="98211"/>
                  <a:pt x="108422" y="110927"/>
                  <a:pt x="124083" y="110927"/>
                </a:cubicBezTo>
                <a:cubicBezTo>
                  <a:pt x="139744" y="110927"/>
                  <a:pt x="152460" y="98211"/>
                  <a:pt x="152460" y="82550"/>
                </a:cubicBezTo>
                <a:cubicBezTo>
                  <a:pt x="152460" y="66889"/>
                  <a:pt x="139744" y="54173"/>
                  <a:pt x="124083" y="54173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8966200" y="1498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9000" y="19685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Reasoning mechanism that uses deduction, induction, and abduction to infer new knowledge from existing facts and rules.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3302000"/>
            <a:ext cx="7175500" cy="1714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3492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49622" y="0"/>
                </a:moveTo>
                <a:cubicBezTo>
                  <a:pt x="249327" y="0"/>
                  <a:pt x="330200" y="80873"/>
                  <a:pt x="330200" y="180578"/>
                </a:cubicBezTo>
                <a:cubicBezTo>
                  <a:pt x="330200" y="189156"/>
                  <a:pt x="323299" y="196056"/>
                  <a:pt x="314722" y="196056"/>
                </a:cubicBezTo>
                <a:cubicBezTo>
                  <a:pt x="306144" y="196056"/>
                  <a:pt x="299244" y="189156"/>
                  <a:pt x="299244" y="180578"/>
                </a:cubicBezTo>
                <a:cubicBezTo>
                  <a:pt x="299244" y="97964"/>
                  <a:pt x="232236" y="30956"/>
                  <a:pt x="149622" y="30956"/>
                </a:cubicBezTo>
                <a:cubicBezTo>
                  <a:pt x="141044" y="30956"/>
                  <a:pt x="134144" y="24056"/>
                  <a:pt x="134144" y="15478"/>
                </a:cubicBezTo>
                <a:cubicBezTo>
                  <a:pt x="134144" y="6901"/>
                  <a:pt x="141044" y="0"/>
                  <a:pt x="149622" y="0"/>
                </a:cubicBezTo>
                <a:close/>
                <a:moveTo>
                  <a:pt x="134144" y="77391"/>
                </a:moveTo>
                <a:cubicBezTo>
                  <a:pt x="134144" y="68813"/>
                  <a:pt x="141044" y="61912"/>
                  <a:pt x="149622" y="61912"/>
                </a:cubicBezTo>
                <a:cubicBezTo>
                  <a:pt x="215146" y="61912"/>
                  <a:pt x="268288" y="115054"/>
                  <a:pt x="268288" y="180578"/>
                </a:cubicBezTo>
                <a:cubicBezTo>
                  <a:pt x="268288" y="189156"/>
                  <a:pt x="261387" y="196056"/>
                  <a:pt x="252809" y="196056"/>
                </a:cubicBezTo>
                <a:cubicBezTo>
                  <a:pt x="244232" y="196056"/>
                  <a:pt x="237331" y="189156"/>
                  <a:pt x="237331" y="180578"/>
                </a:cubicBezTo>
                <a:cubicBezTo>
                  <a:pt x="237331" y="132144"/>
                  <a:pt x="198056" y="92869"/>
                  <a:pt x="149622" y="92869"/>
                </a:cubicBezTo>
                <a:cubicBezTo>
                  <a:pt x="141044" y="92869"/>
                  <a:pt x="134144" y="85968"/>
                  <a:pt x="134144" y="77391"/>
                </a:cubicBezTo>
                <a:close/>
                <a:moveTo>
                  <a:pt x="17026" y="92030"/>
                </a:moveTo>
                <a:cubicBezTo>
                  <a:pt x="22701" y="80486"/>
                  <a:pt x="37921" y="79196"/>
                  <a:pt x="47015" y="88290"/>
                </a:cubicBezTo>
                <a:lnTo>
                  <a:pt x="129887" y="171162"/>
                </a:lnTo>
                <a:lnTo>
                  <a:pt x="150525" y="150525"/>
                </a:lnTo>
                <a:cubicBezTo>
                  <a:pt x="158586" y="142463"/>
                  <a:pt x="171678" y="142463"/>
                  <a:pt x="179740" y="150525"/>
                </a:cubicBezTo>
                <a:cubicBezTo>
                  <a:pt x="187801" y="158586"/>
                  <a:pt x="187801" y="171678"/>
                  <a:pt x="179740" y="179740"/>
                </a:cubicBezTo>
                <a:lnTo>
                  <a:pt x="159102" y="200377"/>
                </a:lnTo>
                <a:lnTo>
                  <a:pt x="241975" y="283250"/>
                </a:lnTo>
                <a:cubicBezTo>
                  <a:pt x="251068" y="292343"/>
                  <a:pt x="249714" y="307499"/>
                  <a:pt x="238234" y="313239"/>
                </a:cubicBezTo>
                <a:cubicBezTo>
                  <a:pt x="216178" y="324138"/>
                  <a:pt x="191413" y="330264"/>
                  <a:pt x="165164" y="330264"/>
                </a:cubicBezTo>
                <a:cubicBezTo>
                  <a:pt x="73973" y="330264"/>
                  <a:pt x="64" y="256356"/>
                  <a:pt x="64" y="165164"/>
                </a:cubicBezTo>
                <a:cubicBezTo>
                  <a:pt x="64" y="138916"/>
                  <a:pt x="6191" y="114087"/>
                  <a:pt x="17090" y="9209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" y="3467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Perception Module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39370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Converts sensor data from the environment into formal sentences that can be stored in the KB. Bridges the external world and internal representation.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55000" y="3302000"/>
            <a:ext cx="7239000" cy="1714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8529638" y="34925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82550" y="25797"/>
                </a:moveTo>
                <a:cubicBezTo>
                  <a:pt x="82550" y="11544"/>
                  <a:pt x="94094" y="0"/>
                  <a:pt x="108347" y="0"/>
                </a:cubicBezTo>
                <a:cubicBezTo>
                  <a:pt x="122600" y="0"/>
                  <a:pt x="134144" y="11544"/>
                  <a:pt x="134144" y="25797"/>
                </a:cubicBezTo>
                <a:lnTo>
                  <a:pt x="134144" y="121374"/>
                </a:lnTo>
                <a:cubicBezTo>
                  <a:pt x="139626" y="116473"/>
                  <a:pt x="146849" y="113506"/>
                  <a:pt x="154781" y="113506"/>
                </a:cubicBezTo>
                <a:cubicBezTo>
                  <a:pt x="168067" y="113506"/>
                  <a:pt x="179417" y="121890"/>
                  <a:pt x="183803" y="133628"/>
                </a:cubicBezTo>
                <a:cubicBezTo>
                  <a:pt x="189478" y="127630"/>
                  <a:pt x="197475" y="123825"/>
                  <a:pt x="206375" y="123825"/>
                </a:cubicBezTo>
                <a:cubicBezTo>
                  <a:pt x="222692" y="123825"/>
                  <a:pt x="236041" y="136401"/>
                  <a:pt x="237267" y="152395"/>
                </a:cubicBezTo>
                <a:cubicBezTo>
                  <a:pt x="242749" y="147429"/>
                  <a:pt x="250036" y="144463"/>
                  <a:pt x="257969" y="144463"/>
                </a:cubicBezTo>
                <a:cubicBezTo>
                  <a:pt x="275059" y="144463"/>
                  <a:pt x="288925" y="158328"/>
                  <a:pt x="288925" y="175419"/>
                </a:cubicBezTo>
                <a:lnTo>
                  <a:pt x="288925" y="247650"/>
                </a:lnTo>
                <a:cubicBezTo>
                  <a:pt x="288925" y="293246"/>
                  <a:pt x="251971" y="330200"/>
                  <a:pt x="206375" y="330200"/>
                </a:cubicBezTo>
                <a:lnTo>
                  <a:pt x="151363" y="330200"/>
                </a:lnTo>
                <a:cubicBezTo>
                  <a:pt x="148139" y="330200"/>
                  <a:pt x="144978" y="330007"/>
                  <a:pt x="141883" y="329555"/>
                </a:cubicBezTo>
                <a:cubicBezTo>
                  <a:pt x="106219" y="325944"/>
                  <a:pt x="73392" y="307628"/>
                  <a:pt x="51594" y="278606"/>
                </a:cubicBezTo>
                <a:lnTo>
                  <a:pt x="5159" y="216694"/>
                </a:lnTo>
                <a:cubicBezTo>
                  <a:pt x="-3418" y="205279"/>
                  <a:pt x="-1096" y="189156"/>
                  <a:pt x="10319" y="180578"/>
                </a:cubicBezTo>
                <a:cubicBezTo>
                  <a:pt x="21734" y="172001"/>
                  <a:pt x="37857" y="174322"/>
                  <a:pt x="46434" y="185738"/>
                </a:cubicBezTo>
                <a:lnTo>
                  <a:pt x="82550" y="233913"/>
                </a:lnTo>
                <a:lnTo>
                  <a:pt x="82550" y="25797"/>
                </a:lnTo>
                <a:close/>
                <a:moveTo>
                  <a:pt x="154781" y="196056"/>
                </a:moveTo>
                <a:cubicBezTo>
                  <a:pt x="154781" y="190381"/>
                  <a:pt x="150138" y="185738"/>
                  <a:pt x="144463" y="185738"/>
                </a:cubicBezTo>
                <a:cubicBezTo>
                  <a:pt x="138787" y="185738"/>
                  <a:pt x="134144" y="190381"/>
                  <a:pt x="134144" y="196056"/>
                </a:cubicBezTo>
                <a:lnTo>
                  <a:pt x="134144" y="257969"/>
                </a:lnTo>
                <a:cubicBezTo>
                  <a:pt x="134144" y="263644"/>
                  <a:pt x="138787" y="268288"/>
                  <a:pt x="144463" y="268288"/>
                </a:cubicBezTo>
                <a:cubicBezTo>
                  <a:pt x="150138" y="268288"/>
                  <a:pt x="154781" y="263644"/>
                  <a:pt x="154781" y="257969"/>
                </a:cubicBezTo>
                <a:lnTo>
                  <a:pt x="154781" y="196056"/>
                </a:lnTo>
                <a:close/>
                <a:moveTo>
                  <a:pt x="185738" y="185738"/>
                </a:moveTo>
                <a:cubicBezTo>
                  <a:pt x="180062" y="185738"/>
                  <a:pt x="175419" y="190381"/>
                  <a:pt x="175419" y="196056"/>
                </a:cubicBezTo>
                <a:lnTo>
                  <a:pt x="175419" y="257969"/>
                </a:lnTo>
                <a:cubicBezTo>
                  <a:pt x="175419" y="263644"/>
                  <a:pt x="180062" y="268288"/>
                  <a:pt x="185738" y="268288"/>
                </a:cubicBezTo>
                <a:cubicBezTo>
                  <a:pt x="191413" y="268288"/>
                  <a:pt x="196056" y="263644"/>
                  <a:pt x="196056" y="257969"/>
                </a:cubicBezTo>
                <a:lnTo>
                  <a:pt x="196056" y="196056"/>
                </a:lnTo>
                <a:cubicBezTo>
                  <a:pt x="196056" y="190381"/>
                  <a:pt x="191413" y="185738"/>
                  <a:pt x="185738" y="185738"/>
                </a:cubicBezTo>
                <a:close/>
                <a:moveTo>
                  <a:pt x="237331" y="196056"/>
                </a:moveTo>
                <a:cubicBezTo>
                  <a:pt x="237331" y="190381"/>
                  <a:pt x="232688" y="185738"/>
                  <a:pt x="227013" y="185738"/>
                </a:cubicBezTo>
                <a:cubicBezTo>
                  <a:pt x="221337" y="185738"/>
                  <a:pt x="216694" y="190381"/>
                  <a:pt x="216694" y="196056"/>
                </a:cubicBezTo>
                <a:lnTo>
                  <a:pt x="216694" y="257969"/>
                </a:lnTo>
                <a:cubicBezTo>
                  <a:pt x="216694" y="263644"/>
                  <a:pt x="221337" y="268288"/>
                  <a:pt x="227013" y="268288"/>
                </a:cubicBezTo>
                <a:cubicBezTo>
                  <a:pt x="232688" y="268288"/>
                  <a:pt x="237331" y="263644"/>
                  <a:pt x="237331" y="257969"/>
                </a:cubicBezTo>
                <a:lnTo>
                  <a:pt x="237331" y="196056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8966200" y="3467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Module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3937000"/>
            <a:ext cx="673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Executes the decisions made by the inference engine through actuators. Translates logical conclusions into physical or digital actions.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270500"/>
            <a:ext cx="7175500" cy="1714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2" name="Shape 20"/>
          <p:cNvSpPr/>
          <p:nvPr/>
        </p:nvSpPr>
        <p:spPr>
          <a:xfrm>
            <a:off x="995363" y="54610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30956" y="126276"/>
                </a:moveTo>
                <a:lnTo>
                  <a:pt x="165874" y="181803"/>
                </a:lnTo>
                <a:cubicBezTo>
                  <a:pt x="172194" y="184383"/>
                  <a:pt x="178901" y="185738"/>
                  <a:pt x="185738" y="185738"/>
                </a:cubicBezTo>
                <a:cubicBezTo>
                  <a:pt x="192574" y="185738"/>
                  <a:pt x="199281" y="184383"/>
                  <a:pt x="205601" y="181803"/>
                </a:cubicBezTo>
                <a:lnTo>
                  <a:pt x="361930" y="117440"/>
                </a:lnTo>
                <a:cubicBezTo>
                  <a:pt x="367734" y="115054"/>
                  <a:pt x="371475" y="109443"/>
                  <a:pt x="371475" y="103187"/>
                </a:cubicBezTo>
                <a:cubicBezTo>
                  <a:pt x="371475" y="96932"/>
                  <a:pt x="367734" y="91321"/>
                  <a:pt x="361930" y="88935"/>
                </a:cubicBezTo>
                <a:lnTo>
                  <a:pt x="205601" y="24572"/>
                </a:lnTo>
                <a:cubicBezTo>
                  <a:pt x="199281" y="21992"/>
                  <a:pt x="192574" y="20638"/>
                  <a:pt x="185738" y="20638"/>
                </a:cubicBezTo>
                <a:cubicBezTo>
                  <a:pt x="178901" y="20638"/>
                  <a:pt x="172194" y="21992"/>
                  <a:pt x="165874" y="24572"/>
                </a:cubicBezTo>
                <a:lnTo>
                  <a:pt x="9545" y="88935"/>
                </a:lnTo>
                <a:cubicBezTo>
                  <a:pt x="3741" y="91321"/>
                  <a:pt x="0" y="96932"/>
                  <a:pt x="0" y="103188"/>
                </a:cubicBezTo>
                <a:lnTo>
                  <a:pt x="0" y="294084"/>
                </a:lnTo>
                <a:cubicBezTo>
                  <a:pt x="0" y="302662"/>
                  <a:pt x="6901" y="309563"/>
                  <a:pt x="15478" y="309563"/>
                </a:cubicBezTo>
                <a:cubicBezTo>
                  <a:pt x="24056" y="309563"/>
                  <a:pt x="30956" y="302662"/>
                  <a:pt x="30956" y="294084"/>
                </a:cubicBezTo>
                <a:lnTo>
                  <a:pt x="30956" y="126276"/>
                </a:lnTo>
                <a:close/>
                <a:moveTo>
                  <a:pt x="61912" y="172517"/>
                </a:moveTo>
                <a:lnTo>
                  <a:pt x="61912" y="247650"/>
                </a:lnTo>
                <a:cubicBezTo>
                  <a:pt x="61912" y="281831"/>
                  <a:pt x="117376" y="309563"/>
                  <a:pt x="185738" y="309563"/>
                </a:cubicBezTo>
                <a:cubicBezTo>
                  <a:pt x="254099" y="309563"/>
                  <a:pt x="309563" y="281831"/>
                  <a:pt x="309563" y="247650"/>
                </a:cubicBezTo>
                <a:lnTo>
                  <a:pt x="309563" y="172452"/>
                </a:lnTo>
                <a:lnTo>
                  <a:pt x="217403" y="210438"/>
                </a:lnTo>
                <a:cubicBezTo>
                  <a:pt x="207342" y="214566"/>
                  <a:pt x="196637" y="216694"/>
                  <a:pt x="185738" y="216694"/>
                </a:cubicBezTo>
                <a:cubicBezTo>
                  <a:pt x="174838" y="216694"/>
                  <a:pt x="164133" y="214566"/>
                  <a:pt x="154072" y="210438"/>
                </a:cubicBezTo>
                <a:lnTo>
                  <a:pt x="61912" y="172452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3" name="Text 21"/>
          <p:cNvSpPr/>
          <p:nvPr/>
        </p:nvSpPr>
        <p:spPr>
          <a:xfrm>
            <a:off x="1473200" y="5435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Element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5905500"/>
            <a:ext cx="6667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Improves the KB based on feedback from actions. Acquires new facts and rules from experience, making the agent more capable over time.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255000" y="5270500"/>
            <a:ext cx="7239000" cy="1714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9000" y="5461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41275" y="41275"/>
                </a:moveTo>
                <a:cubicBezTo>
                  <a:pt x="18509" y="41275"/>
                  <a:pt x="0" y="59784"/>
                  <a:pt x="0" y="82550"/>
                </a:cubicBezTo>
                <a:lnTo>
                  <a:pt x="0" y="87322"/>
                </a:lnTo>
                <a:cubicBezTo>
                  <a:pt x="0" y="91708"/>
                  <a:pt x="2838" y="95448"/>
                  <a:pt x="6514" y="97835"/>
                </a:cubicBezTo>
                <a:cubicBezTo>
                  <a:pt x="15027" y="103381"/>
                  <a:pt x="20638" y="112926"/>
                  <a:pt x="20638" y="123825"/>
                </a:cubicBezTo>
                <a:cubicBezTo>
                  <a:pt x="20638" y="134724"/>
                  <a:pt x="15027" y="144269"/>
                  <a:pt x="6514" y="149815"/>
                </a:cubicBezTo>
                <a:cubicBezTo>
                  <a:pt x="2838" y="152202"/>
                  <a:pt x="0" y="155942"/>
                  <a:pt x="0" y="160328"/>
                </a:cubicBezTo>
                <a:lnTo>
                  <a:pt x="0" y="196056"/>
                </a:lnTo>
                <a:lnTo>
                  <a:pt x="330200" y="196056"/>
                </a:lnTo>
                <a:lnTo>
                  <a:pt x="330200" y="160328"/>
                </a:lnTo>
                <a:cubicBezTo>
                  <a:pt x="330200" y="155942"/>
                  <a:pt x="327362" y="152202"/>
                  <a:pt x="323686" y="149815"/>
                </a:cubicBezTo>
                <a:cubicBezTo>
                  <a:pt x="315173" y="144269"/>
                  <a:pt x="309563" y="134724"/>
                  <a:pt x="309563" y="123825"/>
                </a:cubicBezTo>
                <a:cubicBezTo>
                  <a:pt x="309563" y="112926"/>
                  <a:pt x="315173" y="103381"/>
                  <a:pt x="323686" y="97835"/>
                </a:cubicBezTo>
                <a:cubicBezTo>
                  <a:pt x="327362" y="95448"/>
                  <a:pt x="330200" y="91708"/>
                  <a:pt x="330200" y="87322"/>
                </a:cubicBezTo>
                <a:lnTo>
                  <a:pt x="330200" y="82550"/>
                </a:lnTo>
                <a:cubicBezTo>
                  <a:pt x="330200" y="59784"/>
                  <a:pt x="311691" y="41275"/>
                  <a:pt x="288925" y="41275"/>
                </a:cubicBezTo>
                <a:lnTo>
                  <a:pt x="41275" y="41275"/>
                </a:lnTo>
                <a:close/>
                <a:moveTo>
                  <a:pt x="330200" y="268288"/>
                </a:moveTo>
                <a:lnTo>
                  <a:pt x="330200" y="227013"/>
                </a:lnTo>
                <a:lnTo>
                  <a:pt x="0" y="227013"/>
                </a:lnTo>
                <a:lnTo>
                  <a:pt x="0" y="268288"/>
                </a:lnTo>
                <a:cubicBezTo>
                  <a:pt x="0" y="279703"/>
                  <a:pt x="9222" y="288925"/>
                  <a:pt x="20638" y="288925"/>
                </a:cubicBezTo>
                <a:lnTo>
                  <a:pt x="61912" y="288925"/>
                </a:lnTo>
                <a:lnTo>
                  <a:pt x="61912" y="273447"/>
                </a:lnTo>
                <a:cubicBezTo>
                  <a:pt x="61912" y="264869"/>
                  <a:pt x="68813" y="257969"/>
                  <a:pt x="77391" y="257969"/>
                </a:cubicBezTo>
                <a:cubicBezTo>
                  <a:pt x="85968" y="257969"/>
                  <a:pt x="92869" y="264869"/>
                  <a:pt x="92869" y="273447"/>
                </a:cubicBezTo>
                <a:lnTo>
                  <a:pt x="92869" y="288925"/>
                </a:lnTo>
                <a:lnTo>
                  <a:pt x="149622" y="288925"/>
                </a:lnTo>
                <a:lnTo>
                  <a:pt x="149622" y="273447"/>
                </a:lnTo>
                <a:cubicBezTo>
                  <a:pt x="149622" y="264869"/>
                  <a:pt x="156523" y="257969"/>
                  <a:pt x="165100" y="257969"/>
                </a:cubicBezTo>
                <a:cubicBezTo>
                  <a:pt x="173677" y="257969"/>
                  <a:pt x="180578" y="264869"/>
                  <a:pt x="180578" y="273447"/>
                </a:cubicBezTo>
                <a:lnTo>
                  <a:pt x="180578" y="288925"/>
                </a:lnTo>
                <a:lnTo>
                  <a:pt x="237331" y="288925"/>
                </a:lnTo>
                <a:lnTo>
                  <a:pt x="237331" y="273447"/>
                </a:lnTo>
                <a:cubicBezTo>
                  <a:pt x="237331" y="264869"/>
                  <a:pt x="244232" y="257969"/>
                  <a:pt x="252809" y="257969"/>
                </a:cubicBezTo>
                <a:cubicBezTo>
                  <a:pt x="261387" y="257969"/>
                  <a:pt x="268288" y="264869"/>
                  <a:pt x="268288" y="273447"/>
                </a:cubicBezTo>
                <a:lnTo>
                  <a:pt x="268288" y="288925"/>
                </a:lnTo>
                <a:lnTo>
                  <a:pt x="309563" y="288925"/>
                </a:lnTo>
                <a:cubicBezTo>
                  <a:pt x="320978" y="288925"/>
                  <a:pt x="330200" y="279703"/>
                  <a:pt x="330200" y="268288"/>
                </a:cubicBezTo>
                <a:close/>
                <a:moveTo>
                  <a:pt x="103188" y="103188"/>
                </a:moveTo>
                <a:lnTo>
                  <a:pt x="103188" y="144463"/>
                </a:lnTo>
                <a:cubicBezTo>
                  <a:pt x="103188" y="155878"/>
                  <a:pt x="93965" y="165100"/>
                  <a:pt x="82550" y="165100"/>
                </a:cubicBezTo>
                <a:cubicBezTo>
                  <a:pt x="71135" y="165100"/>
                  <a:pt x="61912" y="155878"/>
                  <a:pt x="61912" y="144463"/>
                </a:cubicBezTo>
                <a:lnTo>
                  <a:pt x="61912" y="103188"/>
                </a:lnTo>
                <a:cubicBezTo>
                  <a:pt x="61912" y="91772"/>
                  <a:pt x="71135" y="82550"/>
                  <a:pt x="82550" y="82550"/>
                </a:cubicBezTo>
                <a:cubicBezTo>
                  <a:pt x="93965" y="82550"/>
                  <a:pt x="103188" y="91772"/>
                  <a:pt x="103188" y="103188"/>
                </a:cubicBezTo>
                <a:close/>
                <a:moveTo>
                  <a:pt x="185738" y="103188"/>
                </a:moveTo>
                <a:lnTo>
                  <a:pt x="185738" y="144463"/>
                </a:lnTo>
                <a:cubicBezTo>
                  <a:pt x="185738" y="155878"/>
                  <a:pt x="176515" y="165100"/>
                  <a:pt x="165100" y="165100"/>
                </a:cubicBezTo>
                <a:cubicBezTo>
                  <a:pt x="153685" y="165100"/>
                  <a:pt x="144463" y="155878"/>
                  <a:pt x="144463" y="144463"/>
                </a:cubicBezTo>
                <a:lnTo>
                  <a:pt x="144463" y="103188"/>
                </a:lnTo>
                <a:cubicBezTo>
                  <a:pt x="144463" y="91772"/>
                  <a:pt x="153685" y="82550"/>
                  <a:pt x="165100" y="82550"/>
                </a:cubicBezTo>
                <a:cubicBezTo>
                  <a:pt x="176515" y="82550"/>
                  <a:pt x="185738" y="91772"/>
                  <a:pt x="185738" y="103188"/>
                </a:cubicBezTo>
                <a:close/>
                <a:moveTo>
                  <a:pt x="268288" y="103188"/>
                </a:moveTo>
                <a:lnTo>
                  <a:pt x="268288" y="144463"/>
                </a:lnTo>
                <a:cubicBezTo>
                  <a:pt x="268288" y="155878"/>
                  <a:pt x="259065" y="165100"/>
                  <a:pt x="247650" y="165100"/>
                </a:cubicBezTo>
                <a:cubicBezTo>
                  <a:pt x="236235" y="165100"/>
                  <a:pt x="227013" y="155878"/>
                  <a:pt x="227013" y="144463"/>
                </a:cubicBezTo>
                <a:lnTo>
                  <a:pt x="227013" y="103188"/>
                </a:lnTo>
                <a:cubicBezTo>
                  <a:pt x="227013" y="91772"/>
                  <a:pt x="236235" y="82550"/>
                  <a:pt x="247650" y="82550"/>
                </a:cubicBezTo>
                <a:cubicBezTo>
                  <a:pt x="259065" y="82550"/>
                  <a:pt x="268288" y="91772"/>
                  <a:pt x="268288" y="103188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7" name="Text 25"/>
          <p:cNvSpPr/>
          <p:nvPr/>
        </p:nvSpPr>
        <p:spPr>
          <a:xfrm>
            <a:off x="8966200" y="5435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Memory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9000" y="5905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Temporary storage for information during the reasoning process. Holds intermediate conclusions and current percepts while the inference engine operates.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2000" y="73660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" y="7366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KB and Inference Engine are the two core components. The others support the agent's interaction with the environment.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 of KBA: TELL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8890000" cy="1270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3716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8500" y="1498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32000"/>
            <a:ext cx="838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new information to the Knowledge Base from environmental percepts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98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TELL Process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2921000" cy="889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889000" y="3619500"/>
            <a:ext cx="38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3619500"/>
            <a:ext cx="222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" y="3962400"/>
            <a:ext cx="260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sensor data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83000" y="40005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318000" y="3556000"/>
            <a:ext cx="2921000" cy="889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6" name="Text 14"/>
          <p:cNvSpPr/>
          <p:nvPr/>
        </p:nvSpPr>
        <p:spPr>
          <a:xfrm>
            <a:off x="4445000" y="3619500"/>
            <a:ext cx="38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26000" y="3619500"/>
            <a:ext cx="222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45000" y="3962400"/>
            <a:ext cx="260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to formal sentence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39000" y="4000500"/>
            <a:ext cx="508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7874000" y="3556000"/>
            <a:ext cx="2921000" cy="889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3619500"/>
            <a:ext cx="38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3619500"/>
            <a:ext cx="2222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TELL KB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0" y="3962400"/>
            <a:ext cx="260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sentence to KB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88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TELL Example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62000" y="5397500"/>
            <a:ext cx="10033000" cy="2159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5588000"/>
            <a:ext cx="952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PERCEIVE: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Agent's rain sensor detects water droplets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70000" y="5994400"/>
            <a:ext cx="0" cy="1905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1016000" y="6248400"/>
            <a:ext cx="952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CONVERT: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Sensor data becomes formal sentence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70000" y="6629400"/>
            <a:ext cx="914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"Raining(current_location)"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70000" y="7010400"/>
            <a:ext cx="0" cy="1524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1016000" y="7213600"/>
            <a:ext cx="9525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TELL: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KB now contains the fact </a:t>
            </a:r>
            <a:pPr>
              <a:lnSpc>
                <a:spcPct val="16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"It is raining"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1176000" y="2984500"/>
            <a:ext cx="4318000" cy="4572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0" y="323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TELL Matters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430000" y="3683000"/>
            <a:ext cx="508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0" y="3873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the KB current with the agent's experiences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30000" y="4762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accurate reasoning based on up-to-date information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0" y="5651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for all subsequent ASK operations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430000" y="65405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Supports learning by accumulating observations over time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 of KBA: ASK &amp; EXECUTE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3556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397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8500" y="14986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95500"/>
            <a:ext cx="6667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the Knowledge Base to determine the best action through logical reasoning.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57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 Process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00400"/>
            <a:ext cx="666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Formulate query from current goal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530600"/>
            <a:ext cx="666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Inference engine reasons over KB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3860800"/>
            <a:ext cx="666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Derive conclusion from facts and rules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191000"/>
            <a:ext cx="666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Select optimal action based on reasoning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4572000"/>
            <a:ext cx="66675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ASK(KB, "What action should I take?")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1333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8445500" y="1397000"/>
            <a:ext cx="101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dirty="0">
                <a:solidFill>
                  <a:srgbClr val="FFFFFF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61500" y="14986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9000" y="2095500"/>
            <a:ext cx="673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the selected action in the environment through actuators.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2857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Process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000" y="32004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Receive action from inference engine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35306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Translate logical action to physical command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9000" y="38608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Send command to appropriate actuator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9000" y="41910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Observe effect on environment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45720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 Open umbrella, Apply brakes, Send alert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33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Example: Rainy Day Decision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000" y="5842000"/>
            <a:ext cx="14732000" cy="21590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60325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Agent perceives rain and adds "Raining" to KB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88000" y="6350000"/>
            <a:ext cx="635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6350000" y="60325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KB reasons: "If raining, take umbrella" → Action: "Take umbrella"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22000" y="6350000"/>
            <a:ext cx="635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11684000" y="6032500"/>
            <a:ext cx="355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Robot arm grabs umbrella and opens 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6985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0F4C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agent successfully adapts to the rainy environment by combining perception (TELL), reasoning (ASK), and action (EXECUTE).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TELL-ASK-EXECUTE 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KBA operates through a continuous reasoning cycle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51000" y="2159000"/>
            <a:ext cx="2286000" cy="2286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2860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76500" y="2768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2641" y="0"/>
                </a:moveTo>
                <a:cubicBezTo>
                  <a:pt x="287685" y="0"/>
                  <a:pt x="381000" y="93315"/>
                  <a:pt x="381000" y="208359"/>
                </a:cubicBezTo>
                <a:cubicBezTo>
                  <a:pt x="381000" y="218256"/>
                  <a:pt x="373038" y="226219"/>
                  <a:pt x="363141" y="226219"/>
                </a:cubicBezTo>
                <a:cubicBezTo>
                  <a:pt x="353244" y="226219"/>
                  <a:pt x="345281" y="218256"/>
                  <a:pt x="345281" y="208359"/>
                </a:cubicBezTo>
                <a:cubicBezTo>
                  <a:pt x="345281" y="113035"/>
                  <a:pt x="267965" y="35719"/>
                  <a:pt x="172641" y="35719"/>
                </a:cubicBezTo>
                <a:cubicBezTo>
                  <a:pt x="162744" y="35719"/>
                  <a:pt x="154781" y="27756"/>
                  <a:pt x="154781" y="17859"/>
                </a:cubicBezTo>
                <a:cubicBezTo>
                  <a:pt x="154781" y="7962"/>
                  <a:pt x="162744" y="0"/>
                  <a:pt x="172641" y="0"/>
                </a:cubicBezTo>
                <a:close/>
                <a:moveTo>
                  <a:pt x="154781" y="89297"/>
                </a:moveTo>
                <a:cubicBezTo>
                  <a:pt x="154781" y="79400"/>
                  <a:pt x="162744" y="71438"/>
                  <a:pt x="172641" y="71438"/>
                </a:cubicBezTo>
                <a:cubicBezTo>
                  <a:pt x="248245" y="71438"/>
                  <a:pt x="309563" y="132755"/>
                  <a:pt x="309563" y="208359"/>
                </a:cubicBezTo>
                <a:cubicBezTo>
                  <a:pt x="309563" y="218256"/>
                  <a:pt x="301600" y="226219"/>
                  <a:pt x="291703" y="226219"/>
                </a:cubicBezTo>
                <a:cubicBezTo>
                  <a:pt x="281806" y="226219"/>
                  <a:pt x="273844" y="218256"/>
                  <a:pt x="273844" y="208359"/>
                </a:cubicBezTo>
                <a:cubicBezTo>
                  <a:pt x="273844" y="152474"/>
                  <a:pt x="228526" y="107156"/>
                  <a:pt x="172641" y="107156"/>
                </a:cubicBezTo>
                <a:cubicBezTo>
                  <a:pt x="162744" y="107156"/>
                  <a:pt x="154781" y="99194"/>
                  <a:pt x="154781" y="89297"/>
                </a:cubicBezTo>
                <a:close/>
                <a:moveTo>
                  <a:pt x="19645" y="106189"/>
                </a:moveTo>
                <a:cubicBezTo>
                  <a:pt x="26194" y="92869"/>
                  <a:pt x="43755" y="91380"/>
                  <a:pt x="54248" y="101873"/>
                </a:cubicBezTo>
                <a:lnTo>
                  <a:pt x="149870" y="197495"/>
                </a:lnTo>
                <a:lnTo>
                  <a:pt x="173682" y="173682"/>
                </a:lnTo>
                <a:cubicBezTo>
                  <a:pt x="182984" y="164381"/>
                  <a:pt x="198090" y="164381"/>
                  <a:pt x="207392" y="173682"/>
                </a:cubicBezTo>
                <a:cubicBezTo>
                  <a:pt x="216694" y="182984"/>
                  <a:pt x="216694" y="198090"/>
                  <a:pt x="207392" y="207392"/>
                </a:cubicBezTo>
                <a:lnTo>
                  <a:pt x="183579" y="231204"/>
                </a:lnTo>
                <a:lnTo>
                  <a:pt x="279202" y="326827"/>
                </a:lnTo>
                <a:cubicBezTo>
                  <a:pt x="289694" y="337319"/>
                  <a:pt x="288131" y="354806"/>
                  <a:pt x="274886" y="361429"/>
                </a:cubicBezTo>
                <a:cubicBezTo>
                  <a:pt x="249436" y="374005"/>
                  <a:pt x="220861" y="381074"/>
                  <a:pt x="190574" y="381074"/>
                </a:cubicBezTo>
                <a:cubicBezTo>
                  <a:pt x="85353" y="381074"/>
                  <a:pt x="74" y="295796"/>
                  <a:pt x="74" y="190574"/>
                </a:cubicBezTo>
                <a:cubicBezTo>
                  <a:pt x="74" y="160288"/>
                  <a:pt x="7144" y="131638"/>
                  <a:pt x="19720" y="1062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32385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PERCEIVE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41500" y="35814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data through sensors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64000" y="3238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207000" y="2159000"/>
            <a:ext cx="2286000" cy="22860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7000" y="22860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2500" y="2768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57188"/>
                </a:moveTo>
                <a:cubicBezTo>
                  <a:pt x="295721" y="357188"/>
                  <a:pt x="381000" y="277192"/>
                  <a:pt x="381000" y="178594"/>
                </a:cubicBezTo>
                <a:cubicBezTo>
                  <a:pt x="381000" y="79995"/>
                  <a:pt x="295721" y="0"/>
                  <a:pt x="190500" y="0"/>
                </a:cubicBezTo>
                <a:cubicBezTo>
                  <a:pt x="85279" y="0"/>
                  <a:pt x="0" y="79995"/>
                  <a:pt x="0" y="178594"/>
                </a:cubicBezTo>
                <a:cubicBezTo>
                  <a:pt x="0" y="219001"/>
                  <a:pt x="14288" y="256208"/>
                  <a:pt x="38398" y="286122"/>
                </a:cubicBezTo>
                <a:lnTo>
                  <a:pt x="2084" y="354806"/>
                </a:lnTo>
                <a:cubicBezTo>
                  <a:pt x="-1488" y="361504"/>
                  <a:pt x="-372" y="369689"/>
                  <a:pt x="4763" y="375270"/>
                </a:cubicBezTo>
                <a:cubicBezTo>
                  <a:pt x="9897" y="380851"/>
                  <a:pt x="18008" y="382563"/>
                  <a:pt x="24929" y="379586"/>
                </a:cubicBezTo>
                <a:lnTo>
                  <a:pt x="113035" y="341858"/>
                </a:lnTo>
                <a:cubicBezTo>
                  <a:pt x="136699" y="351681"/>
                  <a:pt x="162892" y="357188"/>
                  <a:pt x="190500" y="357188"/>
                </a:cubicBezTo>
                <a:close/>
                <a:moveTo>
                  <a:pt x="95250" y="154781"/>
                </a:moveTo>
                <a:cubicBezTo>
                  <a:pt x="108392" y="154781"/>
                  <a:pt x="119063" y="165451"/>
                  <a:pt x="119063" y="178594"/>
                </a:cubicBezTo>
                <a:cubicBezTo>
                  <a:pt x="119063" y="191736"/>
                  <a:pt x="108392" y="202406"/>
                  <a:pt x="95250" y="202406"/>
                </a:cubicBezTo>
                <a:cubicBezTo>
                  <a:pt x="82108" y="202406"/>
                  <a:pt x="71438" y="191736"/>
                  <a:pt x="71438" y="178594"/>
                </a:cubicBezTo>
                <a:cubicBezTo>
                  <a:pt x="71438" y="165451"/>
                  <a:pt x="82108" y="154781"/>
                  <a:pt x="95250" y="154781"/>
                </a:cubicBezTo>
                <a:close/>
                <a:moveTo>
                  <a:pt x="190500" y="154781"/>
                </a:moveTo>
                <a:cubicBezTo>
                  <a:pt x="203642" y="154781"/>
                  <a:pt x="214313" y="165451"/>
                  <a:pt x="214313" y="178594"/>
                </a:cubicBezTo>
                <a:cubicBezTo>
                  <a:pt x="214313" y="191736"/>
                  <a:pt x="203642" y="202406"/>
                  <a:pt x="190500" y="202406"/>
                </a:cubicBezTo>
                <a:cubicBezTo>
                  <a:pt x="177358" y="202406"/>
                  <a:pt x="166688" y="191736"/>
                  <a:pt x="166688" y="178594"/>
                </a:cubicBezTo>
                <a:cubicBezTo>
                  <a:pt x="166688" y="165451"/>
                  <a:pt x="177358" y="154781"/>
                  <a:pt x="190500" y="154781"/>
                </a:cubicBezTo>
                <a:close/>
                <a:moveTo>
                  <a:pt x="261938" y="178594"/>
                </a:moveTo>
                <a:cubicBezTo>
                  <a:pt x="261938" y="165451"/>
                  <a:pt x="272608" y="154781"/>
                  <a:pt x="285750" y="154781"/>
                </a:cubicBezTo>
                <a:cubicBezTo>
                  <a:pt x="298892" y="154781"/>
                  <a:pt x="309563" y="165451"/>
                  <a:pt x="309563" y="178594"/>
                </a:cubicBezTo>
                <a:cubicBezTo>
                  <a:pt x="309563" y="191736"/>
                  <a:pt x="298892" y="202406"/>
                  <a:pt x="285750" y="202406"/>
                </a:cubicBezTo>
                <a:cubicBezTo>
                  <a:pt x="272608" y="202406"/>
                  <a:pt x="261938" y="191736"/>
                  <a:pt x="261938" y="1785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34000" y="32385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7500" y="35814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percepts to KB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0" y="3238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763000" y="2159000"/>
            <a:ext cx="2286000" cy="2286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22860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8500" y="2768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190500" y="130969"/>
                </a:moveTo>
                <a:cubicBezTo>
                  <a:pt x="177329" y="130969"/>
                  <a:pt x="166688" y="141610"/>
                  <a:pt x="166688" y="154781"/>
                </a:cubicBezTo>
                <a:cubicBezTo>
                  <a:pt x="166688" y="164678"/>
                  <a:pt x="158725" y="172641"/>
                  <a:pt x="148828" y="172641"/>
                </a:cubicBezTo>
                <a:cubicBezTo>
                  <a:pt x="138931" y="172641"/>
                  <a:pt x="130969" y="164678"/>
                  <a:pt x="130969" y="154781"/>
                </a:cubicBezTo>
                <a:cubicBezTo>
                  <a:pt x="130969" y="121890"/>
                  <a:pt x="157609" y="95250"/>
                  <a:pt x="190500" y="95250"/>
                </a:cubicBezTo>
                <a:cubicBezTo>
                  <a:pt x="223391" y="95250"/>
                  <a:pt x="250031" y="121890"/>
                  <a:pt x="250031" y="154781"/>
                </a:cubicBezTo>
                <a:cubicBezTo>
                  <a:pt x="250031" y="189905"/>
                  <a:pt x="223242" y="204787"/>
                  <a:pt x="208359" y="210220"/>
                </a:cubicBezTo>
                <a:lnTo>
                  <a:pt x="208359" y="213047"/>
                </a:lnTo>
                <a:cubicBezTo>
                  <a:pt x="208359" y="222945"/>
                  <a:pt x="200397" y="230907"/>
                  <a:pt x="190500" y="230907"/>
                </a:cubicBezTo>
                <a:cubicBezTo>
                  <a:pt x="180603" y="230907"/>
                  <a:pt x="172641" y="222945"/>
                  <a:pt x="172641" y="213047"/>
                </a:cubicBezTo>
                <a:lnTo>
                  <a:pt x="172641" y="207020"/>
                </a:lnTo>
                <a:cubicBezTo>
                  <a:pt x="172641" y="191765"/>
                  <a:pt x="183654" y="180826"/>
                  <a:pt x="195039" y="177105"/>
                </a:cubicBezTo>
                <a:cubicBezTo>
                  <a:pt x="199802" y="175543"/>
                  <a:pt x="204862" y="173013"/>
                  <a:pt x="208583" y="169441"/>
                </a:cubicBezTo>
                <a:cubicBezTo>
                  <a:pt x="211782" y="166315"/>
                  <a:pt x="214313" y="161999"/>
                  <a:pt x="214313" y="154856"/>
                </a:cubicBezTo>
                <a:cubicBezTo>
                  <a:pt x="214313" y="141684"/>
                  <a:pt x="203671" y="131043"/>
                  <a:pt x="190500" y="131043"/>
                </a:cubicBezTo>
                <a:close/>
                <a:moveTo>
                  <a:pt x="166688" y="273844"/>
                </a:moveTo>
                <a:cubicBezTo>
                  <a:pt x="166688" y="260701"/>
                  <a:pt x="177358" y="250031"/>
                  <a:pt x="190500" y="250031"/>
                </a:cubicBezTo>
                <a:cubicBezTo>
                  <a:pt x="203642" y="250031"/>
                  <a:pt x="214313" y="260701"/>
                  <a:pt x="214313" y="273844"/>
                </a:cubicBezTo>
                <a:cubicBezTo>
                  <a:pt x="214313" y="286986"/>
                  <a:pt x="203642" y="297656"/>
                  <a:pt x="190500" y="297656"/>
                </a:cubicBezTo>
                <a:cubicBezTo>
                  <a:pt x="177358" y="297656"/>
                  <a:pt x="166688" y="286986"/>
                  <a:pt x="166688" y="2738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890000" y="32385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53500" y="35814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KB for action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76000" y="3238500"/>
            <a:ext cx="1016000" cy="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319000" y="2159000"/>
            <a:ext cx="2286000" cy="22860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12319000" y="22860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168313" y="27686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95250" y="29766"/>
                </a:moveTo>
                <a:cubicBezTo>
                  <a:pt x="95250" y="13320"/>
                  <a:pt x="108570" y="0"/>
                  <a:pt x="125016" y="0"/>
                </a:cubicBezTo>
                <a:cubicBezTo>
                  <a:pt x="141461" y="0"/>
                  <a:pt x="154781" y="13320"/>
                  <a:pt x="154781" y="29766"/>
                </a:cubicBezTo>
                <a:lnTo>
                  <a:pt x="154781" y="140047"/>
                </a:lnTo>
                <a:cubicBezTo>
                  <a:pt x="161106" y="134392"/>
                  <a:pt x="169441" y="130969"/>
                  <a:pt x="178594" y="130969"/>
                </a:cubicBezTo>
                <a:cubicBezTo>
                  <a:pt x="193923" y="130969"/>
                  <a:pt x="207020" y="140643"/>
                  <a:pt x="212080" y="154186"/>
                </a:cubicBezTo>
                <a:cubicBezTo>
                  <a:pt x="218629" y="147265"/>
                  <a:pt x="227856" y="142875"/>
                  <a:pt x="238125" y="142875"/>
                </a:cubicBezTo>
                <a:cubicBezTo>
                  <a:pt x="256952" y="142875"/>
                  <a:pt x="272355" y="157386"/>
                  <a:pt x="273769" y="175840"/>
                </a:cubicBezTo>
                <a:cubicBezTo>
                  <a:pt x="280095" y="170111"/>
                  <a:pt x="288503" y="166688"/>
                  <a:pt x="297656" y="166688"/>
                </a:cubicBezTo>
                <a:cubicBezTo>
                  <a:pt x="317376" y="166688"/>
                  <a:pt x="333375" y="182687"/>
                  <a:pt x="333375" y="202406"/>
                </a:cubicBezTo>
                <a:lnTo>
                  <a:pt x="333375" y="285750"/>
                </a:lnTo>
                <a:cubicBezTo>
                  <a:pt x="333375" y="338361"/>
                  <a:pt x="290736" y="381000"/>
                  <a:pt x="238125" y="381000"/>
                </a:cubicBezTo>
                <a:lnTo>
                  <a:pt x="174650" y="381000"/>
                </a:lnTo>
                <a:cubicBezTo>
                  <a:pt x="170929" y="381000"/>
                  <a:pt x="167283" y="380777"/>
                  <a:pt x="163711" y="380256"/>
                </a:cubicBezTo>
                <a:cubicBezTo>
                  <a:pt x="122560" y="376089"/>
                  <a:pt x="84683" y="354955"/>
                  <a:pt x="59531" y="321469"/>
                </a:cubicBezTo>
                <a:lnTo>
                  <a:pt x="5953" y="250031"/>
                </a:lnTo>
                <a:cubicBezTo>
                  <a:pt x="-3944" y="236860"/>
                  <a:pt x="-1265" y="218256"/>
                  <a:pt x="11906" y="208359"/>
                </a:cubicBezTo>
                <a:cubicBezTo>
                  <a:pt x="25078" y="198462"/>
                  <a:pt x="43681" y="201141"/>
                  <a:pt x="53578" y="214313"/>
                </a:cubicBezTo>
                <a:lnTo>
                  <a:pt x="95250" y="269900"/>
                </a:lnTo>
                <a:lnTo>
                  <a:pt x="95250" y="29766"/>
                </a:lnTo>
                <a:close/>
                <a:moveTo>
                  <a:pt x="178594" y="226219"/>
                </a:moveTo>
                <a:cubicBezTo>
                  <a:pt x="178594" y="219670"/>
                  <a:pt x="173236" y="214313"/>
                  <a:pt x="166688" y="214313"/>
                </a:cubicBezTo>
                <a:cubicBezTo>
                  <a:pt x="160139" y="214313"/>
                  <a:pt x="154781" y="219670"/>
                  <a:pt x="154781" y="226219"/>
                </a:cubicBezTo>
                <a:lnTo>
                  <a:pt x="154781" y="297656"/>
                </a:lnTo>
                <a:cubicBezTo>
                  <a:pt x="154781" y="304205"/>
                  <a:pt x="160139" y="309563"/>
                  <a:pt x="166688" y="309563"/>
                </a:cubicBezTo>
                <a:cubicBezTo>
                  <a:pt x="173236" y="309563"/>
                  <a:pt x="178594" y="304205"/>
                  <a:pt x="178594" y="297656"/>
                </a:cubicBezTo>
                <a:lnTo>
                  <a:pt x="178594" y="226219"/>
                </a:lnTo>
                <a:close/>
                <a:moveTo>
                  <a:pt x="214313" y="214313"/>
                </a:moveTo>
                <a:cubicBezTo>
                  <a:pt x="207764" y="214313"/>
                  <a:pt x="202406" y="219670"/>
                  <a:pt x="202406" y="226219"/>
                </a:cubicBezTo>
                <a:lnTo>
                  <a:pt x="202406" y="297656"/>
                </a:lnTo>
                <a:cubicBezTo>
                  <a:pt x="202406" y="304205"/>
                  <a:pt x="207764" y="309563"/>
                  <a:pt x="214313" y="309563"/>
                </a:cubicBezTo>
                <a:cubicBezTo>
                  <a:pt x="220861" y="309563"/>
                  <a:pt x="226219" y="304205"/>
                  <a:pt x="226219" y="297656"/>
                </a:cubicBezTo>
                <a:lnTo>
                  <a:pt x="226219" y="226219"/>
                </a:lnTo>
                <a:cubicBezTo>
                  <a:pt x="226219" y="219670"/>
                  <a:pt x="220861" y="214313"/>
                  <a:pt x="214313" y="214313"/>
                </a:cubicBezTo>
                <a:close/>
                <a:moveTo>
                  <a:pt x="273844" y="226219"/>
                </a:moveTo>
                <a:cubicBezTo>
                  <a:pt x="273844" y="219670"/>
                  <a:pt x="268486" y="214313"/>
                  <a:pt x="261938" y="214313"/>
                </a:cubicBezTo>
                <a:cubicBezTo>
                  <a:pt x="255389" y="214313"/>
                  <a:pt x="250031" y="219670"/>
                  <a:pt x="250031" y="226219"/>
                </a:cubicBezTo>
                <a:lnTo>
                  <a:pt x="250031" y="297656"/>
                </a:lnTo>
                <a:cubicBezTo>
                  <a:pt x="250031" y="304205"/>
                  <a:pt x="255389" y="309563"/>
                  <a:pt x="261938" y="309563"/>
                </a:cubicBezTo>
                <a:cubicBezTo>
                  <a:pt x="268486" y="309563"/>
                  <a:pt x="273844" y="304205"/>
                  <a:pt x="273844" y="297656"/>
                </a:cubicBezTo>
                <a:lnTo>
                  <a:pt x="273844" y="2262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2446000" y="32385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509500" y="35814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 action via actuators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462000" y="4445000"/>
            <a:ext cx="0" cy="7620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2319000" y="5334000"/>
            <a:ext cx="2286000" cy="2286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12319000" y="54610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3120688" y="59436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5719" y="145703"/>
                </a:moveTo>
                <a:lnTo>
                  <a:pt x="191393" y="209773"/>
                </a:lnTo>
                <a:cubicBezTo>
                  <a:pt x="198686" y="212750"/>
                  <a:pt x="206425" y="214313"/>
                  <a:pt x="214313" y="214313"/>
                </a:cubicBezTo>
                <a:cubicBezTo>
                  <a:pt x="222200" y="214313"/>
                  <a:pt x="229939" y="212750"/>
                  <a:pt x="237232" y="209773"/>
                </a:cubicBezTo>
                <a:lnTo>
                  <a:pt x="417612" y="135508"/>
                </a:lnTo>
                <a:cubicBezTo>
                  <a:pt x="424309" y="132755"/>
                  <a:pt x="428625" y="126281"/>
                  <a:pt x="428625" y="119062"/>
                </a:cubicBezTo>
                <a:cubicBezTo>
                  <a:pt x="428625" y="111844"/>
                  <a:pt x="424309" y="105370"/>
                  <a:pt x="417612" y="102617"/>
                </a:cubicBezTo>
                <a:lnTo>
                  <a:pt x="237232" y="28352"/>
                </a:lnTo>
                <a:cubicBezTo>
                  <a:pt x="229939" y="25375"/>
                  <a:pt x="222200" y="23812"/>
                  <a:pt x="214313" y="23812"/>
                </a:cubicBezTo>
                <a:cubicBezTo>
                  <a:pt x="206425" y="23812"/>
                  <a:pt x="198686" y="25375"/>
                  <a:pt x="191393" y="28352"/>
                </a:cubicBezTo>
                <a:lnTo>
                  <a:pt x="11013" y="102617"/>
                </a:lnTo>
                <a:cubicBezTo>
                  <a:pt x="4316" y="105370"/>
                  <a:pt x="0" y="111844"/>
                  <a:pt x="0" y="119063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cubicBezTo>
                  <a:pt x="27756" y="357188"/>
                  <a:pt x="35719" y="349225"/>
                  <a:pt x="35719" y="339328"/>
                </a:cubicBezTo>
                <a:lnTo>
                  <a:pt x="35719" y="145703"/>
                </a:lnTo>
                <a:close/>
                <a:moveTo>
                  <a:pt x="71438" y="199058"/>
                </a:moveTo>
                <a:lnTo>
                  <a:pt x="71438" y="285750"/>
                </a:lnTo>
                <a:cubicBezTo>
                  <a:pt x="71438" y="325189"/>
                  <a:pt x="135434" y="357188"/>
                  <a:pt x="214313" y="357188"/>
                </a:cubicBezTo>
                <a:cubicBezTo>
                  <a:pt x="293191" y="357188"/>
                  <a:pt x="357188" y="325189"/>
                  <a:pt x="357188" y="285750"/>
                </a:cubicBezTo>
                <a:lnTo>
                  <a:pt x="357188" y="198983"/>
                </a:lnTo>
                <a:lnTo>
                  <a:pt x="250850" y="242813"/>
                </a:lnTo>
                <a:cubicBezTo>
                  <a:pt x="239241" y="247576"/>
                  <a:pt x="226888" y="250031"/>
                  <a:pt x="214313" y="250031"/>
                </a:cubicBezTo>
                <a:cubicBezTo>
                  <a:pt x="201737" y="250031"/>
                  <a:pt x="189384" y="247576"/>
                  <a:pt x="177775" y="242813"/>
                </a:cubicBezTo>
                <a:lnTo>
                  <a:pt x="71438" y="19898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2446000" y="64135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509500" y="6756400"/>
            <a:ext cx="190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KB from outcomes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94000" y="6477000"/>
            <a:ext cx="9525000" cy="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ysDot"/>
            <a:headEnd type="arrow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5715000" y="660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loop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794000" y="4445000"/>
            <a:ext cx="0" cy="3175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ysDot"/>
            <a:headEnd type="arrow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762000" y="482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Cycle Matters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762000" y="56515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0" name="Text 38"/>
          <p:cNvSpPr/>
          <p:nvPr/>
        </p:nvSpPr>
        <p:spPr>
          <a:xfrm>
            <a:off x="939800" y="5232400"/>
            <a:ext cx="660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Adaptation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Agent responds to changing conditions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62000" y="60706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2" name="Text 40"/>
          <p:cNvSpPr/>
          <p:nvPr/>
        </p:nvSpPr>
        <p:spPr>
          <a:xfrm>
            <a:off x="939800" y="5588000"/>
            <a:ext cx="660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Knowledge improves over time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62000" y="64897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4" name="Text 42"/>
          <p:cNvSpPr/>
          <p:nvPr/>
        </p:nvSpPr>
        <p:spPr>
          <a:xfrm>
            <a:off x="939800" y="5943600"/>
            <a:ext cx="660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Reasoning replaces simple reactions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Levels of KBA: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065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Knowledge-Based Agents are designed and understood at three levels of abstraction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4699000" cy="3937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03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4500" y="20701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Level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6670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does the agent know?"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3073400"/>
            <a:ext cx="508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238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highest level of abstraction. Describes what the agent knows and how it uses knowledge to achieve goals.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445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Content of knowledge, completeness, accuracy, goals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Medical symptoms and treatments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905000"/>
            <a:ext cx="4699000" cy="3937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0" y="203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67500" y="207010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Level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69000" y="26670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is knowledge represented?"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69000" y="3073400"/>
            <a:ext cx="508000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69000" y="3238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intermediate level. Describes how knowledge is formally represented and manipulated.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9000" y="44450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Formal logic, representation language, inference rules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7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First-order logic sentences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1905000"/>
            <a:ext cx="4826000" cy="3937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858500" y="2032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20500" y="20701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Level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22000" y="26670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is the agent built?"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3073400"/>
            <a:ext cx="508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2000" y="3238500"/>
            <a:ext cx="431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lowest level. Describes the physical realization with data structures and algorithms.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22000" y="4445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Code, data structures, hardware, algorithms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+ SQL database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62865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62865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F4C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Principle: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Each level answers a different question about the agent. Higher levels are more abstract; lower levels are more concrete.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Knowledge Level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2286000" cy="4445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33500"/>
            <a:ext cx="228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ABSTRACTION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14732000" cy="10795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Knowledge Level describes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agent knows and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uses this knowledge to achieve goals. At this level, we care only about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representation or implementation.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49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Areas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386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40005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What facts, rules, and relationships are stored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4577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" y="44196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What the agent aims to achieve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8768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48387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Completeness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Is the knowledge sufficient for the task?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2959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" y="52578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Accuracy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Is the knowledge correct and up-to-date?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969000"/>
            <a:ext cx="7175500" cy="2095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950" y="615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76200" y="38100"/>
                </a:moveTo>
                <a:cubicBezTo>
                  <a:pt x="76200" y="17085"/>
                  <a:pt x="93285" y="0"/>
                  <a:pt x="114300" y="0"/>
                </a:cubicBezTo>
                <a:lnTo>
                  <a:pt x="228600" y="0"/>
                </a:lnTo>
                <a:cubicBezTo>
                  <a:pt x="249615" y="0"/>
                  <a:pt x="266700" y="17085"/>
                  <a:pt x="266700" y="38100"/>
                </a:cubicBezTo>
                <a:lnTo>
                  <a:pt x="266700" y="76200"/>
                </a:lnTo>
                <a:lnTo>
                  <a:pt x="304800" y="76200"/>
                </a:lnTo>
                <a:cubicBezTo>
                  <a:pt x="325815" y="76200"/>
                  <a:pt x="342900" y="93285"/>
                  <a:pt x="342900" y="114300"/>
                </a:cubicBezTo>
                <a:lnTo>
                  <a:pt x="342900" y="266700"/>
                </a:lnTo>
                <a:cubicBezTo>
                  <a:pt x="342900" y="287715"/>
                  <a:pt x="325815" y="304800"/>
                  <a:pt x="3048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14300"/>
                </a:lnTo>
                <a:cubicBezTo>
                  <a:pt x="0" y="93285"/>
                  <a:pt x="17085" y="76200"/>
                  <a:pt x="38100" y="76200"/>
                </a:cubicBezTo>
                <a:lnTo>
                  <a:pt x="76200" y="76200"/>
                </a:lnTo>
                <a:lnTo>
                  <a:pt x="76200" y="38100"/>
                </a:lnTo>
                <a:close/>
                <a:moveTo>
                  <a:pt x="161925" y="209550"/>
                </a:moveTo>
                <a:cubicBezTo>
                  <a:pt x="151388" y="209550"/>
                  <a:pt x="142875" y="218063"/>
                  <a:pt x="142875" y="228600"/>
                </a:cubicBezTo>
                <a:lnTo>
                  <a:pt x="142875" y="276225"/>
                </a:lnTo>
                <a:lnTo>
                  <a:pt x="200025" y="276225"/>
                </a:lnTo>
                <a:lnTo>
                  <a:pt x="200025" y="228600"/>
                </a:lnTo>
                <a:cubicBezTo>
                  <a:pt x="200025" y="218063"/>
                  <a:pt x="191512" y="209550"/>
                  <a:pt x="180975" y="209550"/>
                </a:cubicBezTo>
                <a:lnTo>
                  <a:pt x="161925" y="209550"/>
                </a:lnTo>
                <a:close/>
                <a:moveTo>
                  <a:pt x="76200" y="219075"/>
                </a:moveTo>
                <a:lnTo>
                  <a:pt x="76200" y="200025"/>
                </a:lnTo>
                <a:cubicBezTo>
                  <a:pt x="76200" y="194786"/>
                  <a:pt x="71914" y="190500"/>
                  <a:pt x="66675" y="190500"/>
                </a:cubicBezTo>
                <a:lnTo>
                  <a:pt x="47625" y="190500"/>
                </a:lnTo>
                <a:cubicBezTo>
                  <a:pt x="42386" y="190500"/>
                  <a:pt x="38100" y="194786"/>
                  <a:pt x="38100" y="200025"/>
                </a:cubicBezTo>
                <a:lnTo>
                  <a:pt x="38100" y="219075"/>
                </a:lnTo>
                <a:cubicBezTo>
                  <a:pt x="38100" y="224314"/>
                  <a:pt x="42386" y="228600"/>
                  <a:pt x="47625" y="228600"/>
                </a:cubicBezTo>
                <a:lnTo>
                  <a:pt x="66675" y="228600"/>
                </a:lnTo>
                <a:cubicBezTo>
                  <a:pt x="71914" y="228600"/>
                  <a:pt x="76200" y="224314"/>
                  <a:pt x="76200" y="219075"/>
                </a:cubicBezTo>
                <a:close/>
                <a:moveTo>
                  <a:pt x="66675" y="152400"/>
                </a:moveTo>
                <a:cubicBezTo>
                  <a:pt x="71914" y="152400"/>
                  <a:pt x="76200" y="148114"/>
                  <a:pt x="76200" y="142875"/>
                </a:cubicBezTo>
                <a:lnTo>
                  <a:pt x="76200" y="123825"/>
                </a:lnTo>
                <a:cubicBezTo>
                  <a:pt x="76200" y="118586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8586"/>
                  <a:pt x="38100" y="123825"/>
                </a:cubicBezTo>
                <a:lnTo>
                  <a:pt x="38100" y="142875"/>
                </a:lnTo>
                <a:cubicBezTo>
                  <a:pt x="38100" y="148114"/>
                  <a:pt x="42386" y="152400"/>
                  <a:pt x="47625" y="152400"/>
                </a:cubicBezTo>
                <a:lnTo>
                  <a:pt x="66675" y="152400"/>
                </a:lnTo>
                <a:close/>
                <a:moveTo>
                  <a:pt x="304800" y="219075"/>
                </a:moveTo>
                <a:lnTo>
                  <a:pt x="304800" y="200025"/>
                </a:lnTo>
                <a:cubicBezTo>
                  <a:pt x="304800" y="194786"/>
                  <a:pt x="300514" y="190500"/>
                  <a:pt x="295275" y="190500"/>
                </a:cubicBezTo>
                <a:lnTo>
                  <a:pt x="276225" y="190500"/>
                </a:lnTo>
                <a:cubicBezTo>
                  <a:pt x="270986" y="190500"/>
                  <a:pt x="266700" y="194786"/>
                  <a:pt x="266700" y="200025"/>
                </a:cubicBezTo>
                <a:lnTo>
                  <a:pt x="266700" y="219075"/>
                </a:lnTo>
                <a:cubicBezTo>
                  <a:pt x="266700" y="224314"/>
                  <a:pt x="270986" y="228600"/>
                  <a:pt x="276225" y="228600"/>
                </a:cubicBezTo>
                <a:lnTo>
                  <a:pt x="295275" y="228600"/>
                </a:lnTo>
                <a:cubicBezTo>
                  <a:pt x="300514" y="228600"/>
                  <a:pt x="304800" y="224314"/>
                  <a:pt x="304800" y="219075"/>
                </a:cubicBezTo>
                <a:close/>
                <a:moveTo>
                  <a:pt x="295275" y="152400"/>
                </a:moveTo>
                <a:cubicBezTo>
                  <a:pt x="300514" y="152400"/>
                  <a:pt x="304800" y="148114"/>
                  <a:pt x="304800" y="142875"/>
                </a:cubicBezTo>
                <a:lnTo>
                  <a:pt x="304800" y="123825"/>
                </a:lnTo>
                <a:cubicBezTo>
                  <a:pt x="304800" y="118586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8586"/>
                  <a:pt x="266700" y="123825"/>
                </a:cubicBezTo>
                <a:lnTo>
                  <a:pt x="266700" y="142875"/>
                </a:lnTo>
                <a:cubicBezTo>
                  <a:pt x="266700" y="148114"/>
                  <a:pt x="270986" y="152400"/>
                  <a:pt x="276225" y="152400"/>
                </a:cubicBezTo>
                <a:lnTo>
                  <a:pt x="295275" y="152400"/>
                </a:lnTo>
                <a:close/>
                <a:moveTo>
                  <a:pt x="157163" y="61912"/>
                </a:moveTo>
                <a:lnTo>
                  <a:pt x="157163" y="80962"/>
                </a:lnTo>
                <a:lnTo>
                  <a:pt x="138113" y="80962"/>
                </a:lnTo>
                <a:cubicBezTo>
                  <a:pt x="132874" y="80962"/>
                  <a:pt x="128588" y="85249"/>
                  <a:pt x="128588" y="90488"/>
                </a:cubicBezTo>
                <a:lnTo>
                  <a:pt x="128588" y="100013"/>
                </a:lnTo>
                <a:cubicBezTo>
                  <a:pt x="128588" y="105251"/>
                  <a:pt x="132874" y="109537"/>
                  <a:pt x="138113" y="109537"/>
                </a:cubicBezTo>
                <a:lnTo>
                  <a:pt x="157163" y="109537"/>
                </a:lnTo>
                <a:lnTo>
                  <a:pt x="157163" y="128588"/>
                </a:lnTo>
                <a:cubicBezTo>
                  <a:pt x="157163" y="133826"/>
                  <a:pt x="161449" y="138113"/>
                  <a:pt x="166688" y="138113"/>
                </a:cubicBezTo>
                <a:lnTo>
                  <a:pt x="176212" y="138113"/>
                </a:lnTo>
                <a:cubicBezTo>
                  <a:pt x="181451" y="138113"/>
                  <a:pt x="185738" y="133826"/>
                  <a:pt x="185738" y="128588"/>
                </a:cubicBezTo>
                <a:lnTo>
                  <a:pt x="185738" y="109537"/>
                </a:lnTo>
                <a:lnTo>
                  <a:pt x="204787" y="109537"/>
                </a:lnTo>
                <a:cubicBezTo>
                  <a:pt x="210026" y="109537"/>
                  <a:pt x="214313" y="105251"/>
                  <a:pt x="214313" y="100013"/>
                </a:cubicBezTo>
                <a:lnTo>
                  <a:pt x="214313" y="90488"/>
                </a:lnTo>
                <a:cubicBezTo>
                  <a:pt x="214313" y="85249"/>
                  <a:pt x="210026" y="80962"/>
                  <a:pt x="204787" y="80962"/>
                </a:cubicBezTo>
                <a:lnTo>
                  <a:pt x="185738" y="80962"/>
                </a:lnTo>
                <a:lnTo>
                  <a:pt x="185738" y="61912"/>
                </a:lnTo>
                <a:cubicBezTo>
                  <a:pt x="185738" y="56674"/>
                  <a:pt x="181451" y="52388"/>
                  <a:pt x="176212" y="52388"/>
                </a:cubicBezTo>
                <a:lnTo>
                  <a:pt x="166688" y="52388"/>
                </a:lnTo>
                <a:cubicBezTo>
                  <a:pt x="161449" y="52388"/>
                  <a:pt x="157163" y="56674"/>
                  <a:pt x="157163" y="61912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613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Medical Diagnosis System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6040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 the Knowledge Level, we specify that the system knows disease symptoms, treatments, and relationships between conditions. We don't care HOW this is encoded — only THAT this knowledge exists and is complete.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55000" y="5969000"/>
            <a:ext cx="7239000" cy="2095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7100" y="6159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8940800" y="613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 Recipe Ingredients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604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Knowledge Level is like listing the ingredients for a recipe. You specify WHAT is needed (flour, eggs, sugar) without describing HOW to mix them or WHAT tools to use.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Logical Level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2794000" cy="4445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33500"/>
            <a:ext cx="279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INTERMEDIATE ABSTRACTION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14732000" cy="1079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Logical Level describes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knowledge is formally represented and the rules that govern its manipulation. This is where we define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 and semantics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our representation language.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49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Areas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38600"/>
            <a:ext cx="50800" cy="279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40005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Representation Language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First-order logic, rules, frames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457700"/>
            <a:ext cx="50800" cy="279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" y="44196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Inference Rules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How to derive new facts from known ones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876800"/>
            <a:ext cx="50800" cy="279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48387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Formal Logic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Modus ponens, resolution, unification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295900"/>
            <a:ext cx="50800" cy="2794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" y="52578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Consistency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Ensuring no contradictions in the KB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969000"/>
            <a:ext cx="7175500" cy="2095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950" y="615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613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Logic Representation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6040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Using first-order logic: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HasSymptom(Patient, Fever) AND HasSymptom(Patient, Rash) IMPLIES ConsiderDiagnosis(Patient, Measles)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55000" y="5969000"/>
            <a:ext cx="7239000" cy="2095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7100" y="6159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8940800" y="613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 Recipe Instructions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604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Logical Level is like the recipe instructions. You specify HOW to combine ingredients (mix flour and eggs), the order of steps, and the rules for cooking.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Implementation Level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2540000" cy="444500"/>
          </a:xfrm>
          <a:prstGeom prst="roundRect">
            <a:avLst>
              <a:gd name="adj" fmla="val 10000"/>
            </a:avLst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33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LOWEST ABSTRACTION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32000"/>
            <a:ext cx="14732000" cy="10795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Implementation Level describes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realization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knowledge and inference mechanisms. This is where abstract logic becomes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executable code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49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Areas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62000" y="40386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40005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Structures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Arrays, trees, hash tables, graphs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4577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39800" y="44196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Algorithms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Forward chaining, backward chaining, search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8768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48387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Language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Python, Java, Prolog, Lisp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295900"/>
            <a:ext cx="50800" cy="279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939800" y="5257800"/>
            <a:ext cx="685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Hardware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CPU, memory, GPU, cloud servers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969000"/>
            <a:ext cx="7175500" cy="2095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77900" y="61595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8100" y="57150"/>
                </a:moveTo>
                <a:cubicBezTo>
                  <a:pt x="38100" y="36135"/>
                  <a:pt x="55185" y="19050"/>
                  <a:pt x="76200" y="19050"/>
                </a:cubicBezTo>
                <a:lnTo>
                  <a:pt x="304800" y="19050"/>
                </a:lnTo>
                <a:cubicBezTo>
                  <a:pt x="325815" y="19050"/>
                  <a:pt x="342900" y="36135"/>
                  <a:pt x="342900" y="57150"/>
                </a:cubicBezTo>
                <a:lnTo>
                  <a:pt x="342900" y="200025"/>
                </a:lnTo>
                <a:lnTo>
                  <a:pt x="304800" y="200025"/>
                </a:lnTo>
                <a:lnTo>
                  <a:pt x="304800" y="57150"/>
                </a:lnTo>
                <a:lnTo>
                  <a:pt x="76200" y="57150"/>
                </a:lnTo>
                <a:lnTo>
                  <a:pt x="76200" y="200025"/>
                </a:lnTo>
                <a:lnTo>
                  <a:pt x="38100" y="200025"/>
                </a:lnTo>
                <a:lnTo>
                  <a:pt x="38100" y="57150"/>
                </a:lnTo>
                <a:close/>
                <a:moveTo>
                  <a:pt x="0" y="240030"/>
                </a:moveTo>
                <a:cubicBezTo>
                  <a:pt x="0" y="233720"/>
                  <a:pt x="5120" y="228600"/>
                  <a:pt x="11430" y="228600"/>
                </a:cubicBezTo>
                <a:lnTo>
                  <a:pt x="369570" y="228600"/>
                </a:lnTo>
                <a:cubicBezTo>
                  <a:pt x="375880" y="228600"/>
                  <a:pt x="381000" y="233720"/>
                  <a:pt x="381000" y="240030"/>
                </a:cubicBezTo>
                <a:cubicBezTo>
                  <a:pt x="381000" y="265271"/>
                  <a:pt x="360521" y="285750"/>
                  <a:pt x="335280" y="285750"/>
                </a:cubicBezTo>
                <a:lnTo>
                  <a:pt x="45720" y="285750"/>
                </a:lnTo>
                <a:cubicBezTo>
                  <a:pt x="20479" y="285750"/>
                  <a:pt x="0" y="265271"/>
                  <a:pt x="0" y="240030"/>
                </a:cubicBezTo>
                <a:close/>
                <a:moveTo>
                  <a:pt x="167283" y="124420"/>
                </a:moveTo>
                <a:lnTo>
                  <a:pt x="148828" y="142875"/>
                </a:lnTo>
                <a:lnTo>
                  <a:pt x="167283" y="161330"/>
                </a:lnTo>
                <a:cubicBezTo>
                  <a:pt x="172879" y="166926"/>
                  <a:pt x="172879" y="175974"/>
                  <a:pt x="167283" y="181511"/>
                </a:cubicBezTo>
                <a:cubicBezTo>
                  <a:pt x="161687" y="187047"/>
                  <a:pt x="152638" y="187107"/>
                  <a:pt x="147102" y="181511"/>
                </a:cubicBezTo>
                <a:lnTo>
                  <a:pt x="118527" y="152936"/>
                </a:lnTo>
                <a:cubicBezTo>
                  <a:pt x="112931" y="147340"/>
                  <a:pt x="112931" y="138291"/>
                  <a:pt x="118527" y="132755"/>
                </a:cubicBezTo>
                <a:lnTo>
                  <a:pt x="147102" y="104180"/>
                </a:lnTo>
                <a:cubicBezTo>
                  <a:pt x="152698" y="98584"/>
                  <a:pt x="161746" y="98584"/>
                  <a:pt x="167283" y="104180"/>
                </a:cubicBezTo>
                <a:cubicBezTo>
                  <a:pt x="172819" y="109776"/>
                  <a:pt x="172879" y="118824"/>
                  <a:pt x="167283" y="124361"/>
                </a:cubicBezTo>
                <a:close/>
                <a:moveTo>
                  <a:pt x="233958" y="104180"/>
                </a:moveTo>
                <a:lnTo>
                  <a:pt x="262533" y="132755"/>
                </a:lnTo>
                <a:cubicBezTo>
                  <a:pt x="268129" y="138351"/>
                  <a:pt x="268129" y="147399"/>
                  <a:pt x="262533" y="152936"/>
                </a:cubicBezTo>
                <a:lnTo>
                  <a:pt x="233958" y="181511"/>
                </a:lnTo>
                <a:cubicBezTo>
                  <a:pt x="228362" y="187107"/>
                  <a:pt x="219313" y="187107"/>
                  <a:pt x="213777" y="181511"/>
                </a:cubicBezTo>
                <a:cubicBezTo>
                  <a:pt x="208240" y="175915"/>
                  <a:pt x="208181" y="166866"/>
                  <a:pt x="213777" y="161330"/>
                </a:cubicBezTo>
                <a:lnTo>
                  <a:pt x="232231" y="142875"/>
                </a:lnTo>
                <a:lnTo>
                  <a:pt x="213777" y="124420"/>
                </a:lnTo>
                <a:cubicBezTo>
                  <a:pt x="208181" y="118824"/>
                  <a:pt x="208181" y="109776"/>
                  <a:pt x="213777" y="104239"/>
                </a:cubicBezTo>
                <a:cubicBezTo>
                  <a:pt x="219373" y="98703"/>
                  <a:pt x="228421" y="98643"/>
                  <a:pt x="233958" y="104239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0" name="Text 18"/>
          <p:cNvSpPr/>
          <p:nvPr/>
        </p:nvSpPr>
        <p:spPr>
          <a:xfrm>
            <a:off x="1447800" y="613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Implementation Details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604000"/>
            <a:ext cx="6667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Python dictionaries store facts, SQL database for persistent storage, backward chaining algorithm for inference, REST API for sensor input, deployed on AWS cloud servers.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55000" y="5969000"/>
            <a:ext cx="7239000" cy="2095500"/>
          </a:xfrm>
          <a:prstGeom prst="roundRect">
            <a:avLst>
              <a:gd name="adj" fmla="val 8000"/>
            </a:avLst>
          </a:prstGeom>
          <a:solidFill>
            <a:srgbClr val="E8E4DE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7100" y="6159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8940800" y="6134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Analogy: Cooking Process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000" y="6604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Implementation Level is the actual cooking — using a specific oven at 180°C, a wooden spoon, a glass bowl, taking 30 minutes. The physical reality of executing the recipe.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of Three Levels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556000"/>
        </p:xfrm>
        <a:graphic>
          <a:graphicData uri="http://schemas.openxmlformats.org/drawingml/2006/table">
            <a:tbl>
              <a:tblPr/>
              <a:tblGrid>
                <a:gridCol w="2946400"/>
                <a:gridCol w="3977640"/>
                <a:gridCol w="3977640"/>
                <a:gridCol w="3830320"/>
              </a:tblGrid>
              <a:tr h="569466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Knowledge Level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Logical Level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Implementation Level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Question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does the agent know?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How is knowledge represented?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How is the agent built?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Content, goals, completeness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Formal logic, syntax, semantics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Code, data structures, hardware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Analogy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Recipe ingredients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Recipe instructions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Actual cooking process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Symptoms and diseases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If-Then logic rules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Python + SQL database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Abstraction Hierarchy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318000" y="5969000"/>
            <a:ext cx="7620000" cy="762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8" name="Text 5"/>
          <p:cNvSpPr/>
          <p:nvPr/>
        </p:nvSpPr>
        <p:spPr>
          <a:xfrm>
            <a:off x="4318000" y="59690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Level (Most Abstract)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128000" y="6731000"/>
            <a:ext cx="0" cy="3175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4318000" y="7048500"/>
            <a:ext cx="7620000" cy="7620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11" name="Text 8"/>
          <p:cNvSpPr/>
          <p:nvPr/>
        </p:nvSpPr>
        <p:spPr>
          <a:xfrm>
            <a:off x="4318000" y="7048500"/>
            <a:ext cx="762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Level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28000" y="7810500"/>
            <a:ext cx="0" cy="317500"/>
          </a:xfrm>
          <a:prstGeom prst="straightConnector1">
            <a:avLst/>
          </a:prstGeom>
          <a:noFill/>
          <a:ln w="254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3" name="Shape 10"/>
          <p:cNvSpPr/>
          <p:nvPr/>
        </p:nvSpPr>
        <p:spPr>
          <a:xfrm>
            <a:off x="4318000" y="8128000"/>
            <a:ext cx="7620000" cy="635000"/>
          </a:xfrm>
          <a:prstGeom prst="roundRect">
            <a:avLst>
              <a:gd name="adj" fmla="val 8000"/>
            </a:avLst>
          </a:prstGeom>
          <a:solidFill>
            <a:srgbClr val="0F4C5C"/>
          </a:solidFill>
          <a:ln/>
        </p:spPr>
      </p:sp>
      <p:sp>
        <p:nvSpPr>
          <p:cNvPr id="14" name="Text 11"/>
          <p:cNvSpPr/>
          <p:nvPr/>
        </p:nvSpPr>
        <p:spPr>
          <a:xfrm>
            <a:off x="4318000" y="812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Level (Most Concrete)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pttgy7avbgtls/mnt/agents/output/ai-course-week4/images/9_Artificial_intelligence_chip_concept.png">    </p:cNvPr>
          <p:cNvPicPr>
            <a:picLocks noChangeAspect="1"/>
          </p:cNvPicPr>
          <p:nvPr/>
        </p:nvPicPr>
        <p:blipFill>
          <a:blip r:embed="rId1"/>
          <a:srcRect l="0" r="0" t="18" b="1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332">
                  <a:alpha val="94000"/>
                </a:srgbClr>
              </a:gs>
              <a:gs pos="50000">
                <a:srgbClr val="1A2332">
                  <a:alpha val="90000"/>
                </a:srgbClr>
              </a:gs>
              <a:gs pos="100000">
                <a:srgbClr val="1A2332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101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3000" y="1524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2349500"/>
            <a:ext cx="2540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Shape 5"/>
          <p:cNvSpPr/>
          <p:nvPr/>
        </p:nvSpPr>
        <p:spPr>
          <a:xfrm>
            <a:off x="2032000" y="2794000"/>
            <a:ext cx="50800" cy="787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2260600" y="2794000"/>
            <a:ext cx="1168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Environments shape agent design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Understanding discrete/continuous and all characteristics is essential for building effective AI systems.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32000" y="36195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Text 8"/>
          <p:cNvSpPr/>
          <p:nvPr/>
        </p:nvSpPr>
        <p:spPr>
          <a:xfrm>
            <a:off x="2260600" y="3619500"/>
            <a:ext cx="1168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PEAS provides a systematic framework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Performance, Environment, Actuators, Sensors for defining task environments.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032000" y="4445000"/>
            <a:ext cx="50800" cy="787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0"/>
          <p:cNvSpPr/>
          <p:nvPr/>
        </p:nvSpPr>
        <p:spPr>
          <a:xfrm>
            <a:off x="2260600" y="4445000"/>
            <a:ext cx="1168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Knowledge-Based Agents use KB + Inference Engine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Separating what the agent knows from how it thinks enables powerful reasoning.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32000" y="5270500"/>
            <a:ext cx="50800" cy="635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Text 12"/>
          <p:cNvSpPr/>
          <p:nvPr/>
        </p:nvSpPr>
        <p:spPr>
          <a:xfrm>
            <a:off x="2260600" y="5270500"/>
            <a:ext cx="1168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TELL-ASK-EXECUTE cycle drives KBA operation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Perception, reasoning, and action in a continuous loop with learning.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032000" y="6096000"/>
            <a:ext cx="50800" cy="787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4"/>
          <p:cNvSpPr/>
          <p:nvPr/>
        </p:nvSpPr>
        <p:spPr>
          <a:xfrm>
            <a:off x="2260600" y="6096000"/>
            <a:ext cx="1168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levels of abstraction separate design concerns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9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Knowledge, Logical, and Implementation levels provide a structured approach.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588000" y="7239000"/>
            <a:ext cx="508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048000" y="7493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318000" y="8001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4 | Environments &amp; Knowledge Based Agents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4: Environments &amp; Knowledge Based Agents</dc:title>
  <dc:subject>Artificial Intelligence - Week 4: Environments &amp; Knowledge Based Agents</dc:subject>
  <dc:creator>Kimi</dc:creator>
  <cp:lastModifiedBy>Kimi</cp:lastModifiedBy>
  <cp:revision>1</cp:revision>
  <dcterms:created xsi:type="dcterms:W3CDTF">2026-05-25T21:05:08Z</dcterms:created>
  <dcterms:modified xsi:type="dcterms:W3CDTF">2026-05-25T21:05:08Z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4: Environments &amp; Knowledge Based Agents","ContentProducer":"001191110108MACG2KBH8F10000","ProduceID":"19e60d59-f2e2-89ac-8000-00003121fb6d","ReservedCode1":"","ContentPropagator":"001191110108MACG2KBH8F20000","PropagateID":"19e60d59-f2e2-89ac-8000-00003121fb6d","ReservedCode2":""}</vt:lpwstr>
  </property>
</Properties>
</file>