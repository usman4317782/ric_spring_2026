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pwc2mleycmpi/mnt/agents/output/ai-course-week3/images/7_Cuttingedge_robotic_technology_presented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60000"/>
                </a:srgbClr>
              </a:gs>
              <a:gs pos="50000">
                <a:srgbClr val="1B2A4A">
                  <a:alpha val="87000"/>
                </a:srgbClr>
              </a:gs>
              <a:gs pos="100000">
                <a:srgbClr val="1B2A4A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953000" y="279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WEEK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13000" y="3429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175500" y="4572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889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Agents &amp; Environments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 &amp; 6 | Types of Agents | Environment Properties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762000" cy="508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0" y="2286000"/>
            <a:ext cx="12700" cy="5842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AI Agents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127500"/>
            <a:ext cx="508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3815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is an Intelligent Agent?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PEAS Model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Agent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Model-Based Agent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Goal-Based Agent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Utility-Based Agent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Comparison of Agent Types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540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3556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in 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36000" y="4127500"/>
            <a:ext cx="508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43815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is an Environment?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Properties of Environment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Accessible vs Inaccessible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Deterministic vs Non-Deterministic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Episodic vs Non-Episodic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 vs Dynamic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pwc2mleycmpi/mnt/agents/output/ai-course-week3/images/6_Abstract_background_with_dark_blue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spc="2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AI Agents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Simple Reflex to Utility-Based Decision Making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Intelligent Agent?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838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agent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autonomous entity that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perceives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its environment through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upon that environment through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actuators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achieve specific goals.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838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66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0000" y="3302000"/>
            <a:ext cx="2540000" cy="1016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13333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70000" y="3302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3492500"/>
            <a:ext cx="1270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4191000" y="317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3175000"/>
            <a:ext cx="3048000" cy="1397000"/>
          </a:xfrm>
          <a:prstGeom prst="rect">
            <a:avLst/>
          </a:prstGeom>
          <a:solidFill>
            <a:srgbClr val="D4A373"/>
          </a:solidFill>
          <a:ln/>
          <a:effectLst>
            <a:outerShdw sx="100000" sy="100000" kx="0" ky="0" algn="bl" rotWithShape="0" blurRad="76200" dist="25400" dir="5400000">
              <a:srgbClr val="000000">
                <a:alpha val="13333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88000" y="3175000"/>
            <a:ext cx="3048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4000" y="4254500"/>
            <a:ext cx="1270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arrow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127500" y="43815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4826000"/>
            <a:ext cx="7366000" cy="7620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1B2A4A"/>
            </a:solidFill>
            <a:prstDash val="sysDot"/>
            <a:headEnd type="arrow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810000" y="5651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i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 → Decide → 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1755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Assistants: Siri, Alexa, Google Assistant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Autonomous Vehicles: Tesla, Waymo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Recommendation Systems: Netflix, Spotify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2000" y="1460500"/>
            <a:ext cx="5842000" cy="685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33000" y="171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COMPONENTS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22225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2476500"/>
            <a:ext cx="508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 the environment and gather information about the current state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33000" y="4000500"/>
            <a:ext cx="508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actions that change the state of the environment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33000" y="5524500"/>
            <a:ext cx="508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Function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perception sequences to actions — the "brain" of the 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33000" y="7048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external world in which the agent operates and interacts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Architecture — The PEAS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PEAS is a framework for designing intelligent agents. Each letter represents a key design dimension: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3429000" cy="177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941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540000"/>
            <a:ext cx="234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3048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Criteria to evaluate agent success and effectiveness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349500"/>
            <a:ext cx="3429000" cy="177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941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55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0" y="2540000"/>
            <a:ext cx="234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5500" y="3048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world the agent interacts with and operates within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2349500"/>
            <a:ext cx="3429000" cy="177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941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85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17000" y="2540000"/>
            <a:ext cx="234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8500" y="3048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Mechanisms through which the agent performs 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2349500"/>
            <a:ext cx="3429000" cy="177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941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0015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0" y="2540000"/>
            <a:ext cx="234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01500" y="3048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Mechanisms through which the agent perceives the world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508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PEAS Example: Autonomous Taxi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3048000"/>
        </p:xfrm>
        <a:graphic>
          <a:graphicData uri="http://schemas.openxmlformats.org/drawingml/2006/table">
            <a:tbl>
              <a:tblPr/>
              <a:tblGrid>
                <a:gridCol w="2946400"/>
                <a:gridCol w="117856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Safety, speed, legality, comfort, maximize profits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Environment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Roads, traffic, pedestrians, weather, customers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Actuators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Steering wheel, accelerator, brake, horn, display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Sensors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Camera, GPS, lidar, speedometer, accelerometer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 —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032000" cy="406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BASIC 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838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simple reflex agent acts solely based on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state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its environment without considering past experiences or future consequences.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uses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condition-action rules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("if-then" rules) to decide how to respond to specific sensory inputs.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34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851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851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internal memory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relies entirely on immediate perception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613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5613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and effective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predictable, fully observable environments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75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6375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in complex situations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context or history matters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52000" y="1460500"/>
            <a:ext cx="5842000" cy="5461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33000" y="171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1844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241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Perceive current state via sensors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3238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033000" y="3429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Match against condition-action rules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4254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033000" y="4445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 corresponding action via actuators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5270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033000" y="5461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Repeat for next percept — no memory kept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1B2A4A">
              <a:alpha val="6667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0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7175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Limitation: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agents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handle partially observable environments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have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learning capability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fail when the environment is dynamic or requires historical context.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 — Architecture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2286000" cy="889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05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0" y="2222500"/>
            <a:ext cx="1270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0" y="1778000"/>
            <a:ext cx="3556000" cy="114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780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Condition-Action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2222500"/>
            <a:ext cx="1270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9652000" y="1905000"/>
            <a:ext cx="2286000" cy="889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0" y="1905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270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i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Internal State / 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30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784600"/>
            <a:ext cx="4699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2675" y="39624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11125" y="0"/>
                </a:moveTo>
                <a:cubicBezTo>
                  <a:pt x="74315" y="0"/>
                  <a:pt x="44450" y="29865"/>
                  <a:pt x="44450" y="66675"/>
                </a:cubicBezTo>
                <a:lnTo>
                  <a:pt x="44450" y="181064"/>
                </a:lnTo>
                <a:cubicBezTo>
                  <a:pt x="23961" y="199330"/>
                  <a:pt x="11112" y="226000"/>
                  <a:pt x="11112" y="255587"/>
                </a:cubicBezTo>
                <a:cubicBezTo>
                  <a:pt x="11112" y="310803"/>
                  <a:pt x="55910" y="355600"/>
                  <a:pt x="111125" y="355600"/>
                </a:cubicBezTo>
                <a:cubicBezTo>
                  <a:pt x="166340" y="355600"/>
                  <a:pt x="211138" y="310803"/>
                  <a:pt x="211138" y="255587"/>
                </a:cubicBezTo>
                <a:cubicBezTo>
                  <a:pt x="211138" y="226000"/>
                  <a:pt x="198289" y="199330"/>
                  <a:pt x="177800" y="181064"/>
                </a:cubicBezTo>
                <a:lnTo>
                  <a:pt x="177800" y="66675"/>
                </a:lnTo>
                <a:cubicBezTo>
                  <a:pt x="177800" y="29865"/>
                  <a:pt x="147935" y="0"/>
                  <a:pt x="111125" y="0"/>
                </a:cubicBezTo>
                <a:close/>
                <a:moveTo>
                  <a:pt x="155575" y="255587"/>
                </a:moveTo>
                <a:cubicBezTo>
                  <a:pt x="155575" y="280104"/>
                  <a:pt x="135642" y="300038"/>
                  <a:pt x="111125" y="300038"/>
                </a:cubicBezTo>
                <a:cubicBezTo>
                  <a:pt x="86608" y="300038"/>
                  <a:pt x="66675" y="280104"/>
                  <a:pt x="66675" y="255587"/>
                </a:cubicBezTo>
                <a:cubicBezTo>
                  <a:pt x="66675" y="236905"/>
                  <a:pt x="78135" y="220930"/>
                  <a:pt x="94456" y="214402"/>
                </a:cubicBezTo>
                <a:lnTo>
                  <a:pt x="94456" y="150019"/>
                </a:lnTo>
                <a:cubicBezTo>
                  <a:pt x="94456" y="140781"/>
                  <a:pt x="101888" y="133350"/>
                  <a:pt x="111125" y="133350"/>
                </a:cubicBezTo>
                <a:cubicBezTo>
                  <a:pt x="120362" y="133350"/>
                  <a:pt x="127794" y="140781"/>
                  <a:pt x="127794" y="150019"/>
                </a:cubicBezTo>
                <a:lnTo>
                  <a:pt x="127794" y="214402"/>
                </a:lnTo>
                <a:cubicBezTo>
                  <a:pt x="144115" y="221000"/>
                  <a:pt x="155575" y="236974"/>
                  <a:pt x="155575" y="25558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3937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Thermostat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4196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temperature &lt; 20°C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turn heater 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temperature &gt; 25°C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turn heater OFF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3784600"/>
            <a:ext cx="4699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1225" y="3962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44450"/>
                </a:moveTo>
                <a:lnTo>
                  <a:pt x="244475" y="44450"/>
                </a:lnTo>
                <a:lnTo>
                  <a:pt x="244475" y="333375"/>
                </a:lnTo>
                <a:cubicBezTo>
                  <a:pt x="244475" y="345668"/>
                  <a:pt x="254407" y="355600"/>
                  <a:pt x="266700" y="355600"/>
                </a:cubicBezTo>
                <a:lnTo>
                  <a:pt x="288925" y="355600"/>
                </a:lnTo>
                <a:cubicBezTo>
                  <a:pt x="301218" y="355600"/>
                  <a:pt x="311150" y="345668"/>
                  <a:pt x="311150" y="333375"/>
                </a:cubicBezTo>
                <a:cubicBezTo>
                  <a:pt x="311150" y="321082"/>
                  <a:pt x="301218" y="311150"/>
                  <a:pt x="288925" y="311150"/>
                </a:cubicBezTo>
                <a:lnTo>
                  <a:pt x="288925" y="44450"/>
                </a:lnTo>
                <a:cubicBezTo>
                  <a:pt x="288925" y="19933"/>
                  <a:pt x="268992" y="0"/>
                  <a:pt x="244475" y="0"/>
                </a:cubicBezTo>
                <a:lnTo>
                  <a:pt x="177800" y="0"/>
                </a:lnTo>
                <a:lnTo>
                  <a:pt x="177800" y="0"/>
                </a:lnTo>
                <a:lnTo>
                  <a:pt x="66675" y="0"/>
                </a:ln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9932" y="311150"/>
                  <a:pt x="0" y="321082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177800" y="355600"/>
                </a:lnTo>
                <a:cubicBezTo>
                  <a:pt x="190093" y="355600"/>
                  <a:pt x="200025" y="345668"/>
                  <a:pt x="200025" y="333375"/>
                </a:cubicBezTo>
                <a:lnTo>
                  <a:pt x="200025" y="44450"/>
                </a:lnTo>
                <a:close/>
                <a:moveTo>
                  <a:pt x="111125" y="177800"/>
                </a:moveTo>
                <a:cubicBezTo>
                  <a:pt x="111125" y="165534"/>
                  <a:pt x="121084" y="155575"/>
                  <a:pt x="133350" y="155575"/>
                </a:cubicBezTo>
                <a:cubicBezTo>
                  <a:pt x="145616" y="155575"/>
                  <a:pt x="155575" y="165534"/>
                  <a:pt x="155575" y="177800"/>
                </a:cubicBezTo>
                <a:cubicBezTo>
                  <a:pt x="155575" y="190066"/>
                  <a:pt x="145616" y="200025"/>
                  <a:pt x="133350" y="200025"/>
                </a:cubicBezTo>
                <a:cubicBezTo>
                  <a:pt x="121084" y="200025"/>
                  <a:pt x="111125" y="190066"/>
                  <a:pt x="111125" y="1778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6451600" y="3937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Door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44196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motion detected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door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motion for 5s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close door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37846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7550" y="3962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11404600" y="393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Roomba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4419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bump detected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change direction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map, no memory —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purely reactive behavior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6000" y="650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921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reflex agents work well only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observable, deterministic, static environments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the correct action depends only on the current percept. They are the foundation upon which more complex agents are built.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 —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667000" cy="406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266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ADDS INTERNAL MEMORY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838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model-based agent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enhances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simple reflex agent by maintaining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model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world.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internal state allows the agent to handle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partially observable environments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tracking aspects of the world that are not currently visible.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34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851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851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internal state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tracks unobserved aspects of the 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613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5613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a world model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understands how the world evolves and how actions affect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75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6375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informed decisions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uses history to handle partially observable environments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52000" y="1460500"/>
            <a:ext cx="5842000" cy="5461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33000" y="171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STATE UPDATE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1844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2413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the world evolves independently of the agent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3492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033000" y="3683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the agent's own actions affect the world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4762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033000" y="4953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both to maintain accurate internal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1B2A4A">
              <a:alpha val="6667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175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 over Simple Reflex: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handle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observable environments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makes decisions based 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percept history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operates more efficiently in complex environments.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 — Architecture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1905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9600"/>
            <a:ext cx="190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94000" y="2095500"/>
            <a:ext cx="1016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937000" y="1752600"/>
            <a:ext cx="2540000" cy="9525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3937000" y="1752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Internal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04000" y="2095500"/>
            <a:ext cx="1016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747000" y="1752600"/>
            <a:ext cx="2540000" cy="95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47000" y="1752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Condition-Action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2095500"/>
            <a:ext cx="1016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1557000" y="1879600"/>
            <a:ext cx="1905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5" name="Text 13"/>
          <p:cNvSpPr/>
          <p:nvPr/>
        </p:nvSpPr>
        <p:spPr>
          <a:xfrm>
            <a:off x="11557000" y="1879600"/>
            <a:ext cx="190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7000" y="2857500"/>
            <a:ext cx="2540000" cy="5080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1B2A4A"/>
            </a:solidFill>
            <a:prstDash val="sysDot"/>
            <a:headEnd type="arrow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4318000" y="29845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i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1656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775" y="434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93521" y="37921"/>
                </a:moveTo>
                <a:cubicBezTo>
                  <a:pt x="402203" y="29240"/>
                  <a:pt x="402203" y="15141"/>
                  <a:pt x="393521" y="6459"/>
                </a:cubicBezTo>
                <a:cubicBezTo>
                  <a:pt x="384840" y="-2222"/>
                  <a:pt x="370741" y="-2222"/>
                  <a:pt x="362059" y="6459"/>
                </a:cubicBezTo>
                <a:lnTo>
                  <a:pt x="228709" y="139809"/>
                </a:lnTo>
                <a:lnTo>
                  <a:pt x="204609" y="115709"/>
                </a:lnTo>
                <a:cubicBezTo>
                  <a:pt x="201692" y="112792"/>
                  <a:pt x="197664" y="111125"/>
                  <a:pt x="193496" y="111125"/>
                </a:cubicBezTo>
                <a:cubicBezTo>
                  <a:pt x="184815" y="111125"/>
                  <a:pt x="177800" y="118140"/>
                  <a:pt x="177800" y="126821"/>
                </a:cubicBezTo>
                <a:lnTo>
                  <a:pt x="177800" y="147032"/>
                </a:lnTo>
                <a:lnTo>
                  <a:pt x="253018" y="222250"/>
                </a:lnTo>
                <a:lnTo>
                  <a:pt x="273229" y="222250"/>
                </a:lnTo>
                <a:cubicBezTo>
                  <a:pt x="281910" y="222250"/>
                  <a:pt x="288925" y="215235"/>
                  <a:pt x="288925" y="206554"/>
                </a:cubicBezTo>
                <a:cubicBezTo>
                  <a:pt x="288925" y="202386"/>
                  <a:pt x="287258" y="198358"/>
                  <a:pt x="284341" y="195441"/>
                </a:cubicBezTo>
                <a:lnTo>
                  <a:pt x="260241" y="171341"/>
                </a:lnTo>
                <a:lnTo>
                  <a:pt x="393591" y="37991"/>
                </a:lnTo>
                <a:close/>
                <a:moveTo>
                  <a:pt x="236905" y="245447"/>
                </a:moveTo>
                <a:lnTo>
                  <a:pt x="154603" y="163145"/>
                </a:lnTo>
                <a:cubicBezTo>
                  <a:pt x="124946" y="160576"/>
                  <a:pt x="95429" y="171271"/>
                  <a:pt x="74176" y="192524"/>
                </a:cubicBezTo>
                <a:lnTo>
                  <a:pt x="68620" y="198080"/>
                </a:lnTo>
                <a:cubicBezTo>
                  <a:pt x="53132" y="213568"/>
                  <a:pt x="44450" y="234543"/>
                  <a:pt x="44450" y="256421"/>
                </a:cubicBezTo>
                <a:cubicBezTo>
                  <a:pt x="44450" y="261144"/>
                  <a:pt x="49381" y="264200"/>
                  <a:pt x="53618" y="262116"/>
                </a:cubicBezTo>
                <a:lnTo>
                  <a:pt x="89108" y="244406"/>
                </a:lnTo>
                <a:cubicBezTo>
                  <a:pt x="92581" y="242669"/>
                  <a:pt x="95706" y="247253"/>
                  <a:pt x="92859" y="249892"/>
                </a:cubicBezTo>
                <a:lnTo>
                  <a:pt x="5070" y="328791"/>
                </a:lnTo>
                <a:cubicBezTo>
                  <a:pt x="1875" y="331708"/>
                  <a:pt x="0" y="335875"/>
                  <a:pt x="0" y="340251"/>
                </a:cubicBezTo>
                <a:cubicBezTo>
                  <a:pt x="0" y="348724"/>
                  <a:pt x="6876" y="355600"/>
                  <a:pt x="15349" y="355600"/>
                </a:cubicBezTo>
                <a:lnTo>
                  <a:pt x="135711" y="355600"/>
                </a:lnTo>
                <a:cubicBezTo>
                  <a:pt x="162659" y="355600"/>
                  <a:pt x="188426" y="344904"/>
                  <a:pt x="207526" y="325874"/>
                </a:cubicBezTo>
                <a:cubicBezTo>
                  <a:pt x="228779" y="304621"/>
                  <a:pt x="239405" y="275104"/>
                  <a:pt x="236905" y="24544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4318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Robot Vacuum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800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a map of the room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Remembers cleaned areas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Plans efficient routes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Avoids re-cleaning spots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0" y="41656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69000" y="434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6451600" y="4318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9000" y="4800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model of traffic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vehicle movements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Tracks road conditions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Updates beliefs over time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4165600"/>
            <a:ext cx="4826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88675" y="43434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11125" y="0"/>
                </a:moveTo>
                <a:cubicBezTo>
                  <a:pt x="74315" y="0"/>
                  <a:pt x="44450" y="29865"/>
                  <a:pt x="44450" y="66675"/>
                </a:cubicBezTo>
                <a:lnTo>
                  <a:pt x="44450" y="181064"/>
                </a:lnTo>
                <a:cubicBezTo>
                  <a:pt x="23961" y="199330"/>
                  <a:pt x="11112" y="226000"/>
                  <a:pt x="11112" y="255587"/>
                </a:cubicBezTo>
                <a:cubicBezTo>
                  <a:pt x="11112" y="310803"/>
                  <a:pt x="55910" y="355600"/>
                  <a:pt x="111125" y="355600"/>
                </a:cubicBezTo>
                <a:cubicBezTo>
                  <a:pt x="166340" y="355600"/>
                  <a:pt x="211138" y="310803"/>
                  <a:pt x="211138" y="255587"/>
                </a:cubicBezTo>
                <a:cubicBezTo>
                  <a:pt x="211138" y="226000"/>
                  <a:pt x="198289" y="199330"/>
                  <a:pt x="177800" y="181064"/>
                </a:cubicBezTo>
                <a:lnTo>
                  <a:pt x="177800" y="66675"/>
                </a:lnTo>
                <a:cubicBezTo>
                  <a:pt x="177800" y="29865"/>
                  <a:pt x="147935" y="0"/>
                  <a:pt x="111125" y="0"/>
                </a:cubicBezTo>
                <a:close/>
                <a:moveTo>
                  <a:pt x="155575" y="255587"/>
                </a:moveTo>
                <a:cubicBezTo>
                  <a:pt x="155575" y="280104"/>
                  <a:pt x="135642" y="300038"/>
                  <a:pt x="111125" y="300038"/>
                </a:cubicBezTo>
                <a:cubicBezTo>
                  <a:pt x="86608" y="300038"/>
                  <a:pt x="66675" y="280104"/>
                  <a:pt x="66675" y="255587"/>
                </a:cubicBezTo>
                <a:cubicBezTo>
                  <a:pt x="66675" y="236905"/>
                  <a:pt x="78135" y="220930"/>
                  <a:pt x="94456" y="214402"/>
                </a:cubicBezTo>
                <a:lnTo>
                  <a:pt x="94456" y="150019"/>
                </a:lnTo>
                <a:cubicBezTo>
                  <a:pt x="94456" y="140781"/>
                  <a:pt x="101888" y="133350"/>
                  <a:pt x="111125" y="133350"/>
                </a:cubicBezTo>
                <a:cubicBezTo>
                  <a:pt x="120362" y="133350"/>
                  <a:pt x="127794" y="140781"/>
                  <a:pt x="127794" y="150019"/>
                </a:cubicBezTo>
                <a:lnTo>
                  <a:pt x="127794" y="214402"/>
                </a:lnTo>
                <a:cubicBezTo>
                  <a:pt x="144115" y="221000"/>
                  <a:pt x="155575" y="236974"/>
                  <a:pt x="155575" y="25558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11404600" y="431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Thermostat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22000" y="48006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user preferences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Adapts to daily schedules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heating needs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energy usage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921500"/>
            <a:ext cx="14732000" cy="14605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6000" y="704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7429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maintaining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model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agent can reason about unobserved aspects of the environment and make more informed decisions than simple reflex agents.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 —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3302000" cy="406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FUTURE-ORIENTED REASONING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838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goal-based agent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considers future consequences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its actions. Unlike reflex agents, it thinks about different courses of action and chooses those that bring it closer to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desired goal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agents use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algorithms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planning techniques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determine the best path to achieve their objectives.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724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232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5232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internal state with goals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knows where it is and where it wants to go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994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5994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search and planning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finds action sequences to achieve goals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56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6756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and adaptable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 find alternative paths when obstacles arise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52000" y="1460500"/>
            <a:ext cx="5842000" cy="5461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33000" y="171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PROCESS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1844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241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Perceive current state and update internal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3238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033000" y="3429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Consider possible actions and their outcomes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4254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033000" y="4445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action that leads toward the goal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52705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26667"/>
              </a:srgbClr>
            </a:solidFill>
            <a:prstDash val="sysDot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033000" y="5461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 action and re-evaluate progress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493000"/>
            <a:ext cx="14732000" cy="952500"/>
          </a:xfrm>
          <a:prstGeom prst="rect">
            <a:avLst/>
          </a:prstGeom>
          <a:solidFill>
            <a:srgbClr val="1B2A4A">
              <a:alpha val="6667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450" y="762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75946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Goal-based agents can reason about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select actions that lead to goal achievement, even if those actions don't seem optimal in the immediate state.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 — Architecture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1651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96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0" y="2095500"/>
            <a:ext cx="762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29000" y="1752600"/>
            <a:ext cx="1905000" cy="9525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752600"/>
            <a:ext cx="190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61000" y="2095500"/>
            <a:ext cx="762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350000" y="1752600"/>
            <a:ext cx="1905000" cy="95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00" y="1752600"/>
            <a:ext cx="190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+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095500"/>
            <a:ext cx="762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271000" y="1752600"/>
            <a:ext cx="2286000" cy="95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0" y="17526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Selection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(Search)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684000" y="2095500"/>
            <a:ext cx="762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573000" y="1879600"/>
            <a:ext cx="1651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0" y="18796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0" y="1270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i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Future-oriented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3111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5941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450" y="37719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130989"/>
                </a:moveTo>
                <a:cubicBezTo>
                  <a:pt x="0" y="58618"/>
                  <a:pt x="59730" y="0"/>
                  <a:pt x="133350" y="0"/>
                </a:cubicBezTo>
                <a:cubicBezTo>
                  <a:pt x="206970" y="0"/>
                  <a:pt x="266700" y="58618"/>
                  <a:pt x="266700" y="130989"/>
                </a:cubicBezTo>
                <a:cubicBezTo>
                  <a:pt x="266700" y="213846"/>
                  <a:pt x="183217" y="313164"/>
                  <a:pt x="148352" y="351016"/>
                </a:cubicBezTo>
                <a:cubicBezTo>
                  <a:pt x="140156" y="359906"/>
                  <a:pt x="126474" y="359906"/>
                  <a:pt x="118279" y="351016"/>
                </a:cubicBezTo>
                <a:cubicBezTo>
                  <a:pt x="83413" y="313164"/>
                  <a:pt x="-69" y="213846"/>
                  <a:pt x="-69" y="130989"/>
                </a:cubicBezTo>
                <a:close/>
                <a:moveTo>
                  <a:pt x="133350" y="177800"/>
                </a:moveTo>
                <a:cubicBezTo>
                  <a:pt x="157883" y="177800"/>
                  <a:pt x="177800" y="157883"/>
                  <a:pt x="177800" y="133350"/>
                </a:cubicBezTo>
                <a:cubicBezTo>
                  <a:pt x="177800" y="108817"/>
                  <a:pt x="157883" y="88900"/>
                  <a:pt x="133350" y="88900"/>
                </a:cubicBezTo>
                <a:cubicBezTo>
                  <a:pt x="108817" y="88900"/>
                  <a:pt x="88900" y="108817"/>
                  <a:pt x="88900" y="133350"/>
                </a:cubicBezTo>
                <a:cubicBezTo>
                  <a:pt x="88900" y="157883"/>
                  <a:pt x="108817" y="177800"/>
                  <a:pt x="133350" y="1778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 Navigation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2291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= destination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Searches optimal routes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Recalculates on wrong turns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Adapts to traffic changes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35941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3450" y="37719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-22225"/>
                </a:moveTo>
                <a:cubicBezTo>
                  <a:pt x="206970" y="-22225"/>
                  <a:pt x="266700" y="37505"/>
                  <a:pt x="266700" y="111125"/>
                </a:cubicBezTo>
                <a:lnTo>
                  <a:pt x="266700" y="203845"/>
                </a:lnTo>
                <a:cubicBezTo>
                  <a:pt x="266700" y="215652"/>
                  <a:pt x="261977" y="226903"/>
                  <a:pt x="253712" y="235238"/>
                </a:cubicBezTo>
                <a:lnTo>
                  <a:pt x="222250" y="266700"/>
                </a:lnTo>
                <a:lnTo>
                  <a:pt x="257532" y="301913"/>
                </a:lnTo>
                <a:cubicBezTo>
                  <a:pt x="263436" y="307816"/>
                  <a:pt x="266700" y="315803"/>
                  <a:pt x="266700" y="324138"/>
                </a:cubicBezTo>
                <a:cubicBezTo>
                  <a:pt x="266700" y="341501"/>
                  <a:pt x="252601" y="355531"/>
                  <a:pt x="235307" y="355600"/>
                </a:cubicBezTo>
                <a:lnTo>
                  <a:pt x="31462" y="355600"/>
                </a:lnTo>
                <a:cubicBezTo>
                  <a:pt x="14099" y="355600"/>
                  <a:pt x="69" y="341501"/>
                  <a:pt x="69" y="324138"/>
                </a:cubicBezTo>
                <a:cubicBezTo>
                  <a:pt x="69" y="315803"/>
                  <a:pt x="3403" y="307816"/>
                  <a:pt x="9237" y="301913"/>
                </a:cubicBezTo>
                <a:lnTo>
                  <a:pt x="44450" y="266700"/>
                </a:lnTo>
                <a:lnTo>
                  <a:pt x="44450" y="242669"/>
                </a:lnTo>
                <a:cubicBezTo>
                  <a:pt x="44450" y="229681"/>
                  <a:pt x="50145" y="217388"/>
                  <a:pt x="59938" y="208915"/>
                </a:cubicBezTo>
                <a:lnTo>
                  <a:pt x="122238" y="155575"/>
                </a:lnTo>
                <a:lnTo>
                  <a:pt x="88900" y="155575"/>
                </a:lnTo>
                <a:lnTo>
                  <a:pt x="80496" y="163979"/>
                </a:lnTo>
                <a:cubicBezTo>
                  <a:pt x="71676" y="172799"/>
                  <a:pt x="59660" y="177800"/>
                  <a:pt x="47159" y="177800"/>
                </a:cubicBezTo>
                <a:cubicBezTo>
                  <a:pt x="21114" y="177800"/>
                  <a:pt x="0" y="156686"/>
                  <a:pt x="0" y="130641"/>
                </a:cubicBezTo>
                <a:lnTo>
                  <a:pt x="0" y="124599"/>
                </a:lnTo>
                <a:cubicBezTo>
                  <a:pt x="0" y="108764"/>
                  <a:pt x="5695" y="93414"/>
                  <a:pt x="16044" y="81330"/>
                </a:cubicBezTo>
                <a:lnTo>
                  <a:pt x="66675" y="2222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lnTo>
                  <a:pt x="133350" y="-22225"/>
                </a:lnTo>
                <a:close/>
                <a:moveTo>
                  <a:pt x="111125" y="50006"/>
                </a:moveTo>
                <a:cubicBezTo>
                  <a:pt x="101925" y="50006"/>
                  <a:pt x="94456" y="57475"/>
                  <a:pt x="94456" y="66675"/>
                </a:cubicBezTo>
                <a:cubicBezTo>
                  <a:pt x="94456" y="75875"/>
                  <a:pt x="101925" y="83344"/>
                  <a:pt x="111125" y="83344"/>
                </a:cubicBezTo>
                <a:cubicBezTo>
                  <a:pt x="120325" y="83344"/>
                  <a:pt x="127794" y="75875"/>
                  <a:pt x="127794" y="66675"/>
                </a:cubicBezTo>
                <a:cubicBezTo>
                  <a:pt x="127794" y="57475"/>
                  <a:pt x="120325" y="50006"/>
                  <a:pt x="111125" y="500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64516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 Playing AI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9000" y="42291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= checkmate opponent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Plans moves ahead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board states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minimax algorithm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000" y="3594100"/>
            <a:ext cx="4826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99775" y="3771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44475" y="22225"/>
                </a:lnTo>
                <a:cubicBezTo>
                  <a:pt x="268992" y="22225"/>
                  <a:pt x="288925" y="42158"/>
                  <a:pt x="288925" y="66675"/>
                </a:cubicBezTo>
                <a:lnTo>
                  <a:pt x="288925" y="88900"/>
                </a:lnTo>
                <a:lnTo>
                  <a:pt x="324138" y="88900"/>
                </a:lnTo>
                <a:cubicBezTo>
                  <a:pt x="335945" y="88900"/>
                  <a:pt x="347266" y="93553"/>
                  <a:pt x="355600" y="101888"/>
                </a:cubicBezTo>
                <a:lnTo>
                  <a:pt x="387062" y="133350"/>
                </a:lnTo>
                <a:cubicBezTo>
                  <a:pt x="395397" y="141684"/>
                  <a:pt x="400050" y="153005"/>
                  <a:pt x="400050" y="164812"/>
                </a:cubicBezTo>
                <a:lnTo>
                  <a:pt x="400050" y="266700"/>
                </a:lnTo>
                <a:cubicBezTo>
                  <a:pt x="400050" y="291217"/>
                  <a:pt x="380117" y="311150"/>
                  <a:pt x="355600" y="311150"/>
                </a:cubicBezTo>
                <a:lnTo>
                  <a:pt x="353308" y="311150"/>
                </a:lnTo>
                <a:cubicBezTo>
                  <a:pt x="346085" y="336778"/>
                  <a:pt x="322471" y="355600"/>
                  <a:pt x="294481" y="355600"/>
                </a:cubicBezTo>
                <a:cubicBezTo>
                  <a:pt x="266492" y="355600"/>
                  <a:pt x="242947" y="336778"/>
                  <a:pt x="235654" y="311150"/>
                </a:cubicBezTo>
                <a:lnTo>
                  <a:pt x="164396" y="311150"/>
                </a:lnTo>
                <a:cubicBezTo>
                  <a:pt x="157172" y="336778"/>
                  <a:pt x="133558" y="355600"/>
                  <a:pt x="105569" y="355600"/>
                </a:cubicBezTo>
                <a:cubicBezTo>
                  <a:pt x="77579" y="355600"/>
                  <a:pt x="54035" y="336778"/>
                  <a:pt x="46742" y="311150"/>
                </a:cubicBezTo>
                <a:lnTo>
                  <a:pt x="44450" y="311150"/>
                </a:lnTo>
                <a:cubicBezTo>
                  <a:pt x="19933" y="311150"/>
                  <a:pt x="0" y="291217"/>
                  <a:pt x="0" y="266700"/>
                </a:cubicBezTo>
                <a:lnTo>
                  <a:pt x="0" y="66675"/>
                </a:lnTo>
                <a:close/>
                <a:moveTo>
                  <a:pt x="355600" y="200025"/>
                </a:moveTo>
                <a:lnTo>
                  <a:pt x="355600" y="164812"/>
                </a:lnTo>
                <a:lnTo>
                  <a:pt x="324138" y="133350"/>
                </a:lnTo>
                <a:lnTo>
                  <a:pt x="288925" y="133350"/>
                </a:lnTo>
                <a:lnTo>
                  <a:pt x="288925" y="200025"/>
                </a:lnTo>
                <a:lnTo>
                  <a:pt x="355600" y="200025"/>
                </a:lnTo>
                <a:close/>
                <a:moveTo>
                  <a:pt x="133350" y="294481"/>
                </a:moveTo>
                <a:cubicBezTo>
                  <a:pt x="133350" y="279148"/>
                  <a:pt x="120902" y="266700"/>
                  <a:pt x="105569" y="266700"/>
                </a:cubicBezTo>
                <a:cubicBezTo>
                  <a:pt x="90236" y="266700"/>
                  <a:pt x="77788" y="279148"/>
                  <a:pt x="77788" y="294481"/>
                </a:cubicBezTo>
                <a:cubicBezTo>
                  <a:pt x="77788" y="309814"/>
                  <a:pt x="90236" y="322263"/>
                  <a:pt x="105569" y="322263"/>
                </a:cubicBezTo>
                <a:cubicBezTo>
                  <a:pt x="120902" y="322263"/>
                  <a:pt x="133350" y="309814"/>
                  <a:pt x="133350" y="294481"/>
                </a:cubicBezTo>
                <a:close/>
                <a:moveTo>
                  <a:pt x="294481" y="322263"/>
                </a:moveTo>
                <a:cubicBezTo>
                  <a:pt x="309814" y="322263"/>
                  <a:pt x="322263" y="309814"/>
                  <a:pt x="322263" y="294481"/>
                </a:cubicBezTo>
                <a:cubicBezTo>
                  <a:pt x="322263" y="279148"/>
                  <a:pt x="309814" y="266700"/>
                  <a:pt x="294481" y="266700"/>
                </a:cubicBezTo>
                <a:cubicBezTo>
                  <a:pt x="279148" y="266700"/>
                  <a:pt x="266700" y="279148"/>
                  <a:pt x="266700" y="294481"/>
                </a:cubicBezTo>
                <a:cubicBezTo>
                  <a:pt x="266700" y="309814"/>
                  <a:pt x="279148" y="322263"/>
                  <a:pt x="294481" y="3222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11404600" y="374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Logistics Planning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2000" y="42291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= deliver all packages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Plans routes and schedules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delivery order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constraints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6000" y="650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6000" y="6921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Goal-based agents represent a significant step forward in AI capability. By combining 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model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goal-directed reasoning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they can solve complex problems that require planning and foresight rather than simple reaction.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 —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3048000" cy="406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DECISION MAKING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838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utility-based agent extends the goal-based agent by incorporating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utility function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measures the desirability of different outcomes.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While a goal-based agent only knows if a state achieves the goal, a utility-based agent can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compare multiple outcomes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select the one with the highest utility score.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724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232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5232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trade-offs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balances speed, cost, safety, and efficiency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994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5994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multiple goals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selects the best among many possible solutions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56400"/>
            <a:ext cx="50800" cy="635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67564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Maximizes expected utility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makes rational decisions under uncertainty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52000" y="1460500"/>
            <a:ext cx="5842000" cy="5461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33000" y="171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FUNCTION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1844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2413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utility function assigns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value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each state, representing how desirable that state is to the agent.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3556000"/>
            <a:ext cx="5080000" cy="7620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33000" y="355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= argmax U(State)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33000" y="45085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chooses the action that leads to the state with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utility value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considering probabilities of uncertain outcomes.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33000" y="56515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Goal-Based: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Goal agents ask "Does this achieve the goal?" Utility agents ask "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good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this outcome?"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493000"/>
            <a:ext cx="14732000" cy="952500"/>
          </a:xfrm>
          <a:prstGeom prst="rect">
            <a:avLst/>
          </a:prstGeom>
          <a:solidFill>
            <a:srgbClr val="1B2A4A">
              <a:alpha val="6667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550" y="7620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5946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make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nuanced trade-offs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conflicting objectives, selecting the "best" rather than just "good enough" actions in complex, multi-criteria scenarios.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 — Architecture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1651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96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0" y="2095500"/>
            <a:ext cx="635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302000" y="1752600"/>
            <a:ext cx="1651000" cy="9525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3302000" y="1752600"/>
            <a:ext cx="165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0" y="2095500"/>
            <a:ext cx="635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842000" y="1752600"/>
            <a:ext cx="2032000" cy="95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1752600"/>
            <a:ext cx="20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2095500"/>
            <a:ext cx="635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763000" y="1752600"/>
            <a:ext cx="2540000" cy="95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1752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Utility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(Optimization)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095500"/>
            <a:ext cx="635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192000" y="1879600"/>
            <a:ext cx="1651000" cy="698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0" y="18796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127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i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possible outcome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3111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5941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" y="3771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Portfolio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2291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Balances risk vs. return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multiple options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asset allocation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Adapts to market changes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35941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9000" y="3771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64516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9000" y="42291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Weighs safety vs. speed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Considers comfort factors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fuel efficiency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each maneuver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000" y="3594100"/>
            <a:ext cx="4826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99775" y="3771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78646" y="27156"/>
                </a:moveTo>
                <a:lnTo>
                  <a:pt x="381575" y="131544"/>
                </a:lnTo>
                <a:cubicBezTo>
                  <a:pt x="400814" y="151061"/>
                  <a:pt x="400814" y="182314"/>
                  <a:pt x="381575" y="201831"/>
                </a:cubicBezTo>
                <a:lnTo>
                  <a:pt x="272951" y="311775"/>
                </a:lnTo>
                <a:cubicBezTo>
                  <a:pt x="266492" y="318304"/>
                  <a:pt x="255935" y="318373"/>
                  <a:pt x="249406" y="311914"/>
                </a:cubicBezTo>
                <a:cubicBezTo>
                  <a:pt x="242878" y="305455"/>
                  <a:pt x="242808" y="294898"/>
                  <a:pt x="249267" y="288369"/>
                </a:cubicBezTo>
                <a:lnTo>
                  <a:pt x="357892" y="178356"/>
                </a:lnTo>
                <a:cubicBezTo>
                  <a:pt x="364282" y="171896"/>
                  <a:pt x="364282" y="161409"/>
                  <a:pt x="357892" y="154950"/>
                </a:cubicBezTo>
                <a:lnTo>
                  <a:pt x="254893" y="50631"/>
                </a:lnTo>
                <a:cubicBezTo>
                  <a:pt x="248434" y="44103"/>
                  <a:pt x="248503" y="33546"/>
                  <a:pt x="255032" y="27087"/>
                </a:cubicBezTo>
                <a:cubicBezTo>
                  <a:pt x="261560" y="20628"/>
                  <a:pt x="272117" y="20697"/>
                  <a:pt x="278576" y="27226"/>
                </a:cubicBezTo>
                <a:close/>
                <a:moveTo>
                  <a:pt x="22294" y="159395"/>
                </a:moveTo>
                <a:lnTo>
                  <a:pt x="22294" y="66675"/>
                </a:lnTo>
                <a:cubicBezTo>
                  <a:pt x="22294" y="42158"/>
                  <a:pt x="42228" y="22225"/>
                  <a:pt x="66744" y="22225"/>
                </a:cubicBezTo>
                <a:lnTo>
                  <a:pt x="159464" y="22225"/>
                </a:lnTo>
                <a:cubicBezTo>
                  <a:pt x="171271" y="22225"/>
                  <a:pt x="182592" y="26878"/>
                  <a:pt x="190927" y="35213"/>
                </a:cubicBezTo>
                <a:lnTo>
                  <a:pt x="290939" y="135225"/>
                </a:lnTo>
                <a:cubicBezTo>
                  <a:pt x="308302" y="152589"/>
                  <a:pt x="308302" y="180717"/>
                  <a:pt x="290939" y="198080"/>
                </a:cubicBezTo>
                <a:lnTo>
                  <a:pt x="198219" y="290800"/>
                </a:lnTo>
                <a:cubicBezTo>
                  <a:pt x="180856" y="308164"/>
                  <a:pt x="152727" y="308164"/>
                  <a:pt x="135364" y="290800"/>
                </a:cubicBezTo>
                <a:lnTo>
                  <a:pt x="35352" y="190788"/>
                </a:lnTo>
                <a:cubicBezTo>
                  <a:pt x="27017" y="182453"/>
                  <a:pt x="22364" y="171133"/>
                  <a:pt x="22364" y="159325"/>
                </a:cubicBezTo>
                <a:close/>
                <a:moveTo>
                  <a:pt x="122307" y="100013"/>
                </a:moveTo>
                <a:cubicBezTo>
                  <a:pt x="122307" y="87746"/>
                  <a:pt x="112348" y="77788"/>
                  <a:pt x="100082" y="77788"/>
                </a:cubicBezTo>
                <a:cubicBezTo>
                  <a:pt x="87816" y="77788"/>
                  <a:pt x="77857" y="87746"/>
                  <a:pt x="77857" y="100013"/>
                </a:cubicBezTo>
                <a:cubicBezTo>
                  <a:pt x="77857" y="112279"/>
                  <a:pt x="87816" y="122238"/>
                  <a:pt x="100082" y="122238"/>
                </a:cubicBezTo>
                <a:cubicBezTo>
                  <a:pt x="112348" y="122238"/>
                  <a:pt x="122307" y="112279"/>
                  <a:pt x="122307" y="10001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11404600" y="374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Pricing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2000" y="42291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demand patterns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competitor prices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inventory levels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optimal prices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6000" y="650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6000" y="6921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Utility-based agents represent the most sophisticated agent architecture. By using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 function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evaluate and compare outcomes, they can make optimal decisions in complex environments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competing objectives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of Agent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6731000"/>
        </p:xfrm>
        <a:graphic>
          <a:graphicData uri="http://schemas.openxmlformats.org/drawingml/2006/table">
            <a:tbl>
              <a:tblPr/>
              <a:tblGrid>
                <a:gridCol w="2651760"/>
                <a:gridCol w="3020060"/>
                <a:gridCol w="3020060"/>
                <a:gridCol w="3020060"/>
                <a:gridCol w="3020060"/>
              </a:tblGrid>
              <a:tr h="66931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Reflex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Utility-Based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State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 + Goals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 + Utility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Environment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Fully Observable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Partially Observable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Multi-criteria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Search / Planning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automation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environments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Strategic 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Multi-criteria decisions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02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Thermostat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Robot Vacuum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GPS Navigation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Portfolio Mgmt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3185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progression represents increasing sophistication: from reactive response to rational decision-making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pwc2mleycmpi/mnt/agents/output/ai-course-week3/images/5_22_362_Blue_Abstract_Ai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spc="2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in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World Agents Operate 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Environment in AI?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838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AI,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everything external to the agent that the agent interacts with. It is the world in which the agent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operates, perceives, and acts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838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66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3175000"/>
            <a:ext cx="7874000" cy="2794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4A37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937000" y="3683000"/>
            <a:ext cx="2032000" cy="203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937000" y="3683000"/>
            <a:ext cx="2032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000" y="3200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2000" y="4064000"/>
            <a:ext cx="1651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2159000" y="37465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3000" y="4064000"/>
            <a:ext cx="1651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arrow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350000" y="43815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Acts upon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477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nature of the environment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influences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design and behavior of the agent. The same agent may perform very differently in different environments.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52000" y="1460500"/>
            <a:ext cx="5842000" cy="6858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27000" dist="50800" dir="5400000">
              <a:srgbClr val="000000">
                <a:alpha val="1333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33000" y="171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1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33000" y="22225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3000" y="24765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 properties determine which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architecture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appropriate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33000" y="3810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Understanding the environment is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step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designing any AI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33000" y="51435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Real-world environments are typically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combinations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multiple properties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33000" y="647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agent-environment interaction defines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 of Environment —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environments can be characterized by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key properties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determine how agents should be designed. These properties are not mutually exclusive.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0485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66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413000"/>
            <a:ext cx="63500" cy="2794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2667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667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vs Inaccessible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238500"/>
            <a:ext cx="647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the agent observe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state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environment?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Accessible: Complete information available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Inaccessible: Only partial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4500" y="2413000"/>
            <a:ext cx="70485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66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64500" y="2413000"/>
            <a:ext cx="63500" cy="2794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266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0" y="2667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Non-Deterministic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3238500"/>
            <a:ext cx="647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actions have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outcomes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Deterministic: Same action = same result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Non-Deterministic: Uncertainty in outcomes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70485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66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" y="5461000"/>
            <a:ext cx="63500" cy="2794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" y="571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7150"/>
                </a:moveTo>
                <a:cubicBezTo>
                  <a:pt x="0" y="46673"/>
                  <a:pt x="8493" y="38100"/>
                  <a:pt x="19050" y="38100"/>
                </a:cubicBezTo>
                <a:lnTo>
                  <a:pt x="57150" y="38100"/>
                </a:lnTo>
                <a:cubicBezTo>
                  <a:pt x="67707" y="38100"/>
                  <a:pt x="76200" y="46593"/>
                  <a:pt x="76200" y="57150"/>
                </a:cubicBezTo>
                <a:lnTo>
                  <a:pt x="76200" y="139700"/>
                </a:lnTo>
                <a:lnTo>
                  <a:pt x="95250" y="139700"/>
                </a:lnTo>
                <a:cubicBezTo>
                  <a:pt x="105807" y="139700"/>
                  <a:pt x="114300" y="148193"/>
                  <a:pt x="114300" y="158750"/>
                </a:cubicBezTo>
                <a:cubicBezTo>
                  <a:pt x="114300" y="169307"/>
                  <a:pt x="105807" y="177800"/>
                  <a:pt x="95250" y="177800"/>
                </a:cubicBezTo>
                <a:lnTo>
                  <a:pt x="19050" y="177800"/>
                </a:lnTo>
                <a:cubicBezTo>
                  <a:pt x="8493" y="177800"/>
                  <a:pt x="0" y="169307"/>
                  <a:pt x="0" y="158750"/>
                </a:cubicBezTo>
                <a:cubicBezTo>
                  <a:pt x="0" y="148193"/>
                  <a:pt x="8493" y="139700"/>
                  <a:pt x="19050" y="139700"/>
                </a:cubicBezTo>
                <a:lnTo>
                  <a:pt x="38100" y="139700"/>
                </a:lnTo>
                <a:lnTo>
                  <a:pt x="38100" y="76200"/>
                </a:lnTo>
                <a:lnTo>
                  <a:pt x="19050" y="76200"/>
                </a:lnTo>
                <a:cubicBezTo>
                  <a:pt x="8493" y="76200"/>
                  <a:pt x="0" y="67707"/>
                  <a:pt x="0" y="57150"/>
                </a:cubicBezTo>
                <a:close/>
                <a:moveTo>
                  <a:pt x="24130" y="239078"/>
                </a:moveTo>
                <a:cubicBezTo>
                  <a:pt x="33179" y="232251"/>
                  <a:pt x="44212" y="228600"/>
                  <a:pt x="55563" y="228600"/>
                </a:cubicBezTo>
                <a:lnTo>
                  <a:pt x="59452" y="228600"/>
                </a:lnTo>
                <a:cubicBezTo>
                  <a:pt x="86201" y="228600"/>
                  <a:pt x="107950" y="250349"/>
                  <a:pt x="107950" y="277098"/>
                </a:cubicBezTo>
                <a:cubicBezTo>
                  <a:pt x="107950" y="292656"/>
                  <a:pt x="100489" y="307181"/>
                  <a:pt x="87947" y="316309"/>
                </a:cubicBezTo>
                <a:lnTo>
                  <a:pt x="68898" y="330200"/>
                </a:lnTo>
                <a:lnTo>
                  <a:pt x="95250" y="330200"/>
                </a:lnTo>
                <a:cubicBezTo>
                  <a:pt x="105807" y="330200"/>
                  <a:pt x="114300" y="338693"/>
                  <a:pt x="114300" y="349250"/>
                </a:cubicBezTo>
                <a:cubicBezTo>
                  <a:pt x="114300" y="359807"/>
                  <a:pt x="105807" y="368300"/>
                  <a:pt x="95250" y="368300"/>
                </a:cubicBezTo>
                <a:lnTo>
                  <a:pt x="23257" y="368300"/>
                </a:lnTo>
                <a:cubicBezTo>
                  <a:pt x="10398" y="368300"/>
                  <a:pt x="0" y="357902"/>
                  <a:pt x="0" y="345043"/>
                </a:cubicBezTo>
                <a:cubicBezTo>
                  <a:pt x="0" y="337582"/>
                  <a:pt x="3572" y="330597"/>
                  <a:pt x="9604" y="326231"/>
                </a:cubicBezTo>
                <a:lnTo>
                  <a:pt x="65564" y="285512"/>
                </a:lnTo>
                <a:cubicBezTo>
                  <a:pt x="68263" y="283528"/>
                  <a:pt x="69850" y="280432"/>
                  <a:pt x="69850" y="277098"/>
                </a:cubicBezTo>
                <a:cubicBezTo>
                  <a:pt x="69850" y="271383"/>
                  <a:pt x="65167" y="266700"/>
                  <a:pt x="59452" y="266700"/>
                </a:cubicBezTo>
                <a:lnTo>
                  <a:pt x="55563" y="266700"/>
                </a:lnTo>
                <a:cubicBezTo>
                  <a:pt x="52467" y="266700"/>
                  <a:pt x="49451" y="267732"/>
                  <a:pt x="46990" y="269558"/>
                </a:cubicBezTo>
                <a:lnTo>
                  <a:pt x="30480" y="281940"/>
                </a:lnTo>
                <a:cubicBezTo>
                  <a:pt x="22066" y="288290"/>
                  <a:pt x="10160" y="286544"/>
                  <a:pt x="3810" y="278130"/>
                </a:cubicBezTo>
                <a:cubicBezTo>
                  <a:pt x="-2540" y="269716"/>
                  <a:pt x="-794" y="257810"/>
                  <a:pt x="7620" y="251460"/>
                </a:cubicBezTo>
                <a:lnTo>
                  <a:pt x="24130" y="239078"/>
                </a:lnTo>
                <a:close/>
                <a:moveTo>
                  <a:pt x="177800" y="50800"/>
                </a:move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177800" y="101600"/>
                </a:lnTo>
                <a:cubicBezTo>
                  <a:pt x="163751" y="101600"/>
                  <a:pt x="152400" y="90249"/>
                  <a:pt x="152400" y="76200"/>
                </a:cubicBezTo>
                <a:cubicBezTo>
                  <a:pt x="152400" y="62151"/>
                  <a:pt x="163751" y="50800"/>
                  <a:pt x="177800" y="50800"/>
                </a:cubicBezTo>
                <a:close/>
                <a:moveTo>
                  <a:pt x="177800" y="177800"/>
                </a:move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177800" y="228600"/>
                </a:lnTo>
                <a:cubicBezTo>
                  <a:pt x="163751" y="228600"/>
                  <a:pt x="152400" y="217249"/>
                  <a:pt x="152400" y="203200"/>
                </a:cubicBezTo>
                <a:cubicBezTo>
                  <a:pt x="152400" y="189151"/>
                  <a:pt x="163751" y="177800"/>
                  <a:pt x="177800" y="177800"/>
                </a:cubicBez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5715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Non-Episodic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6286500"/>
            <a:ext cx="647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experience divided into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episodes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Episodic: Each decision is independent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Non-Episodic: Current action affects future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64500" y="5461000"/>
            <a:ext cx="70485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66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4500" y="5461000"/>
            <a:ext cx="63500" cy="2794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571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8953500" y="5715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6286500"/>
            <a:ext cx="647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environment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while the agent deliberates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Static: World waits for the agent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Dynamic: World changes continuously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vs Inaccessible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635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541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(Fully Observable)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agent's sensors give it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access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state of the environment at all times. The agent can see everything it needs to make optimal decisions.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state information available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internal state needed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agents can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Optimal decisions are possible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or Model-Based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45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4500" y="1460500"/>
            <a:ext cx="7048500" cy="63500"/>
          </a:xfrm>
          <a:prstGeom prst="rect">
            <a:avLst/>
          </a:prstGeom>
          <a:solidFill>
            <a:srgbClr val="C751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6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375047" y="322898"/>
                </a:lnTo>
                <a:cubicBezTo>
                  <a:pt x="377190" y="320993"/>
                  <a:pt x="379333" y="319088"/>
                  <a:pt x="381397" y="317183"/>
                </a:cubicBezTo>
                <a:cubicBezTo>
                  <a:pt x="418544" y="282654"/>
                  <a:pt x="443389" y="241459"/>
                  <a:pt x="455216" y="213122"/>
                </a:cubicBezTo>
                <a:cubicBezTo>
                  <a:pt x="457835" y="206851"/>
                  <a:pt x="457835" y="199866"/>
                  <a:pt x="455216" y="193596"/>
                </a:cubicBezTo>
                <a:cubicBezTo>
                  <a:pt x="443389" y="165259"/>
                  <a:pt x="418544" y="123984"/>
                  <a:pt x="381397" y="89535"/>
                </a:cubicBezTo>
                <a:cubicBezTo>
                  <a:pt x="344011" y="54848"/>
                  <a:pt x="292656" y="25559"/>
                  <a:pt x="228521" y="25559"/>
                </a:cubicBezTo>
                <a:cubicBezTo>
                  <a:pt x="183436" y="25559"/>
                  <a:pt x="144701" y="40005"/>
                  <a:pt x="112633" y="60643"/>
                </a:cubicBezTo>
                <a:lnTo>
                  <a:pt x="32544" y="-19764"/>
                </a:lnTo>
                <a:close/>
                <a:moveTo>
                  <a:pt x="162322" y="110093"/>
                </a:moveTo>
                <a:cubicBezTo>
                  <a:pt x="180975" y="96758"/>
                  <a:pt x="203914" y="88900"/>
                  <a:pt x="228600" y="88900"/>
                </a:cubicBezTo>
                <a:cubicBezTo>
                  <a:pt x="291703" y="88900"/>
                  <a:pt x="342900" y="140097"/>
                  <a:pt x="342900" y="203200"/>
                </a:cubicBezTo>
                <a:cubicBezTo>
                  <a:pt x="342900" y="227886"/>
                  <a:pt x="335042" y="250746"/>
                  <a:pt x="321707" y="269478"/>
                </a:cubicBezTo>
                <a:lnTo>
                  <a:pt x="294164" y="241935"/>
                </a:lnTo>
                <a:cubicBezTo>
                  <a:pt x="304244" y="224949"/>
                  <a:pt x="307658" y="204073"/>
                  <a:pt x="302181" y="183436"/>
                </a:cubicBezTo>
                <a:cubicBezTo>
                  <a:pt x="291306" y="142796"/>
                  <a:pt x="249476" y="118666"/>
                  <a:pt x="208836" y="129540"/>
                </a:cubicBezTo>
                <a:cubicBezTo>
                  <a:pt x="202009" y="131366"/>
                  <a:pt x="195580" y="134064"/>
                  <a:pt x="189786" y="137478"/>
                </a:cubicBezTo>
                <a:lnTo>
                  <a:pt x="162243" y="109934"/>
                </a:lnTo>
                <a:close/>
                <a:moveTo>
                  <a:pt x="258207" y="313611"/>
                </a:moveTo>
                <a:cubicBezTo>
                  <a:pt x="248761" y="316151"/>
                  <a:pt x="238839" y="317500"/>
                  <a:pt x="228600" y="317500"/>
                </a:cubicBezTo>
                <a:cubicBezTo>
                  <a:pt x="165497" y="317500"/>
                  <a:pt x="114300" y="266303"/>
                  <a:pt x="114300" y="203200"/>
                </a:cubicBezTo>
                <a:cubicBezTo>
                  <a:pt x="114300" y="192961"/>
                  <a:pt x="115649" y="183039"/>
                  <a:pt x="118189" y="173593"/>
                </a:cubicBezTo>
                <a:lnTo>
                  <a:pt x="55086" y="110490"/>
                </a:lnTo>
                <a:cubicBezTo>
                  <a:pt x="29210" y="139700"/>
                  <a:pt x="11430" y="170656"/>
                  <a:pt x="1984" y="193437"/>
                </a:cubicBezTo>
                <a:cubicBezTo>
                  <a:pt x="-635" y="199708"/>
                  <a:pt x="-635" y="206692"/>
                  <a:pt x="1984" y="212963"/>
                </a:cubicBezTo>
                <a:cubicBezTo>
                  <a:pt x="13811" y="241300"/>
                  <a:pt x="38656" y="282575"/>
                  <a:pt x="75803" y="317024"/>
                </a:cubicBezTo>
                <a:cubicBezTo>
                  <a:pt x="113189" y="351711"/>
                  <a:pt x="164544" y="381000"/>
                  <a:pt x="228679" y="381000"/>
                </a:cubicBezTo>
                <a:cubicBezTo>
                  <a:pt x="258286" y="381000"/>
                  <a:pt x="285194" y="374729"/>
                  <a:pt x="309245" y="364649"/>
                </a:cubicBezTo>
                <a:lnTo>
                  <a:pt x="258286" y="313690"/>
                </a:lnTo>
                <a:close/>
              </a:path>
            </a:pathLst>
          </a:custGeom>
          <a:solidFill>
            <a:srgbClr val="C75146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Inaccessible (Partially Observable)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agent's sensors provide only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information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about the environment state. The agent must maintain an internal model.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Incomplete state information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Internal state model required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Model-Based agents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real-world environments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Model-Based or higher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vs Inaccessible —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9B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2324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66675"/>
                </a:moveTo>
                <a:lnTo>
                  <a:pt x="88900" y="111125"/>
                </a:lnTo>
                <a:lnTo>
                  <a:pt x="133350" y="111125"/>
                </a:ln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lnTo>
                  <a:pt x="266700" y="111125"/>
                </a:lnTo>
                <a:lnTo>
                  <a:pt x="222250" y="111125"/>
                </a:lnTo>
                <a:lnTo>
                  <a:pt x="222250" y="155575"/>
                </a:lnTo>
                <a:lnTo>
                  <a:pt x="266700" y="155575"/>
                </a:lnTo>
                <a:lnTo>
                  <a:pt x="266700" y="200025"/>
                </a:lnTo>
                <a:lnTo>
                  <a:pt x="222250" y="200025"/>
                </a:lnTo>
                <a:lnTo>
                  <a:pt x="222250" y="244475"/>
                </a:lnTo>
                <a:lnTo>
                  <a:pt x="266700" y="244475"/>
                </a:ln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lnTo>
                  <a:pt x="88900" y="244475"/>
                </a:lnTo>
                <a:lnTo>
                  <a:pt x="88900" y="200025"/>
                </a:ln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111125"/>
                </a:lnTo>
                <a:lnTo>
                  <a:pt x="44450" y="111125"/>
                </a:lnTo>
                <a:lnTo>
                  <a:pt x="44450" y="66675"/>
                </a:lnTo>
                <a:lnTo>
                  <a:pt x="88900" y="66675"/>
                </a:lnTo>
                <a:close/>
                <a:moveTo>
                  <a:pt x="133350" y="155575"/>
                </a:moveTo>
                <a:lnTo>
                  <a:pt x="177800" y="155575"/>
                </a:lnTo>
                <a:lnTo>
                  <a:pt x="177800" y="111125"/>
                </a:lnTo>
                <a:lnTo>
                  <a:pt x="133350" y="111125"/>
                </a:lnTo>
                <a:lnTo>
                  <a:pt x="133350" y="155575"/>
                </a:lnTo>
                <a:close/>
                <a:moveTo>
                  <a:pt x="133350" y="200025"/>
                </a:moveTo>
                <a:lnTo>
                  <a:pt x="133350" y="155575"/>
                </a:lnTo>
                <a:lnTo>
                  <a:pt x="88900" y="155575"/>
                </a:lnTo>
                <a:lnTo>
                  <a:pt x="88900" y="200025"/>
                </a:lnTo>
                <a:lnTo>
                  <a:pt x="133350" y="20002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244475"/>
                </a:lnTo>
                <a:lnTo>
                  <a:pt x="177800" y="244475"/>
                </a:lnTo>
                <a:lnTo>
                  <a:pt x="177800" y="200025"/>
                </a:lnTo>
                <a:close/>
                <a:moveTo>
                  <a:pt x="177800" y="200025"/>
                </a:moveTo>
                <a:lnTo>
                  <a:pt x="222250" y="200025"/>
                </a:lnTo>
                <a:lnTo>
                  <a:pt x="2222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 Game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board state visible to both players at all times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3911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2667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close/>
                <a:moveTo>
                  <a:pt x="266700" y="155575"/>
                </a:moveTo>
                <a:lnTo>
                  <a:pt x="266700" y="200025"/>
                </a:lnTo>
                <a:lnTo>
                  <a:pt x="222250" y="200025"/>
                </a:lnTo>
                <a:lnTo>
                  <a:pt x="222250" y="155575"/>
                </a:lnTo>
                <a:lnTo>
                  <a:pt x="266700" y="155575"/>
                </a:lnTo>
                <a:close/>
                <a:moveTo>
                  <a:pt x="266700" y="244475"/>
                </a:move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266700" y="24447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  <a:moveTo>
                  <a:pt x="133350" y="244475"/>
                </a:move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close/>
                <a:moveTo>
                  <a:pt x="88900" y="200025"/>
                </a:move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200025"/>
                </a:lnTo>
                <a:close/>
                <a:moveTo>
                  <a:pt x="44450" y="244475"/>
                </a:move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44450" y="111125"/>
                </a:moveTo>
                <a:lnTo>
                  <a:pt x="44450" y="66675"/>
                </a:lnTo>
                <a:lnTo>
                  <a:pt x="88900" y="66675"/>
                </a:lnTo>
                <a:lnTo>
                  <a:pt x="88900" y="111125"/>
                </a:lnTo>
                <a:lnTo>
                  <a:pt x="44450" y="111125"/>
                </a:lnTo>
                <a:close/>
                <a:moveTo>
                  <a:pt x="133350" y="111125"/>
                </a:move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133350" y="11112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746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Sudoku Puzzle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numbers on the grid are visible — complete information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33337"/>
                </a:moveTo>
                <a:cubicBezTo>
                  <a:pt x="355600" y="25628"/>
                  <a:pt x="351641" y="18475"/>
                  <a:pt x="345043" y="14446"/>
                </a:cubicBezTo>
                <a:cubicBezTo>
                  <a:pt x="338445" y="10418"/>
                  <a:pt x="330319" y="10001"/>
                  <a:pt x="323443" y="13474"/>
                </a:cubicBezTo>
                <a:lnTo>
                  <a:pt x="242739" y="53826"/>
                </a:lnTo>
                <a:lnTo>
                  <a:pt x="118140" y="12224"/>
                </a:lnTo>
                <a:cubicBezTo>
                  <a:pt x="112514" y="10349"/>
                  <a:pt x="106472" y="10765"/>
                  <a:pt x="101193" y="13404"/>
                </a:cubicBezTo>
                <a:lnTo>
                  <a:pt x="12293" y="57854"/>
                </a:lnTo>
                <a:cubicBezTo>
                  <a:pt x="4723" y="61674"/>
                  <a:pt x="0" y="69384"/>
                  <a:pt x="0" y="77788"/>
                </a:cubicBezTo>
                <a:lnTo>
                  <a:pt x="0" y="322263"/>
                </a:lnTo>
                <a:cubicBezTo>
                  <a:pt x="0" y="329972"/>
                  <a:pt x="3959" y="337125"/>
                  <a:pt x="10557" y="341154"/>
                </a:cubicBezTo>
                <a:cubicBezTo>
                  <a:pt x="17155" y="345182"/>
                  <a:pt x="25281" y="345599"/>
                  <a:pt x="32157" y="342126"/>
                </a:cubicBezTo>
                <a:lnTo>
                  <a:pt x="112792" y="301774"/>
                </a:lnTo>
                <a:lnTo>
                  <a:pt x="237391" y="343307"/>
                </a:lnTo>
                <a:cubicBezTo>
                  <a:pt x="243016" y="345182"/>
                  <a:pt x="249059" y="344765"/>
                  <a:pt x="254337" y="342126"/>
                </a:cubicBezTo>
                <a:lnTo>
                  <a:pt x="343237" y="297676"/>
                </a:lnTo>
                <a:cubicBezTo>
                  <a:pt x="350738" y="293926"/>
                  <a:pt x="355531" y="286216"/>
                  <a:pt x="355531" y="277812"/>
                </a:cubicBezTo>
                <a:lnTo>
                  <a:pt x="355531" y="33337"/>
                </a:lnTo>
                <a:close/>
                <a:moveTo>
                  <a:pt x="133350" y="261769"/>
                </a:moveTo>
                <a:lnTo>
                  <a:pt x="133350" y="64175"/>
                </a:lnTo>
                <a:lnTo>
                  <a:pt x="222250" y="93831"/>
                </a:lnTo>
                <a:lnTo>
                  <a:pt x="222250" y="291425"/>
                </a:lnTo>
                <a:lnTo>
                  <a:pt x="133350" y="26176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334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 Navigation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map data with all roads and conditions known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45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1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Inaccessible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85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215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Poker Game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65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Opponents' cards are hidden — incomplete information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18500" y="391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8265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265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see around corners or inside other vehicles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275" y="54991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93521" y="37921"/>
                </a:moveTo>
                <a:cubicBezTo>
                  <a:pt x="402203" y="29240"/>
                  <a:pt x="402203" y="15141"/>
                  <a:pt x="393521" y="6459"/>
                </a:cubicBezTo>
                <a:cubicBezTo>
                  <a:pt x="384840" y="-2222"/>
                  <a:pt x="370741" y="-2222"/>
                  <a:pt x="362059" y="6459"/>
                </a:cubicBezTo>
                <a:lnTo>
                  <a:pt x="228709" y="139809"/>
                </a:lnTo>
                <a:lnTo>
                  <a:pt x="204609" y="115709"/>
                </a:lnTo>
                <a:cubicBezTo>
                  <a:pt x="201692" y="112792"/>
                  <a:pt x="197664" y="111125"/>
                  <a:pt x="193496" y="111125"/>
                </a:cubicBezTo>
                <a:cubicBezTo>
                  <a:pt x="184815" y="111125"/>
                  <a:pt x="177800" y="118140"/>
                  <a:pt x="177800" y="126821"/>
                </a:cubicBezTo>
                <a:lnTo>
                  <a:pt x="177800" y="147032"/>
                </a:lnTo>
                <a:lnTo>
                  <a:pt x="253018" y="222250"/>
                </a:lnTo>
                <a:lnTo>
                  <a:pt x="273229" y="222250"/>
                </a:lnTo>
                <a:cubicBezTo>
                  <a:pt x="281910" y="222250"/>
                  <a:pt x="288925" y="215235"/>
                  <a:pt x="288925" y="206554"/>
                </a:cubicBezTo>
                <a:cubicBezTo>
                  <a:pt x="288925" y="202386"/>
                  <a:pt x="287258" y="198358"/>
                  <a:pt x="284341" y="195441"/>
                </a:cubicBezTo>
                <a:lnTo>
                  <a:pt x="260241" y="171341"/>
                </a:lnTo>
                <a:lnTo>
                  <a:pt x="393591" y="37991"/>
                </a:lnTo>
                <a:close/>
                <a:moveTo>
                  <a:pt x="236905" y="245447"/>
                </a:moveTo>
                <a:lnTo>
                  <a:pt x="154603" y="163145"/>
                </a:lnTo>
                <a:cubicBezTo>
                  <a:pt x="124946" y="160576"/>
                  <a:pt x="95429" y="171271"/>
                  <a:pt x="74176" y="192524"/>
                </a:cubicBezTo>
                <a:lnTo>
                  <a:pt x="68620" y="198080"/>
                </a:lnTo>
                <a:cubicBezTo>
                  <a:pt x="53132" y="213568"/>
                  <a:pt x="44450" y="234543"/>
                  <a:pt x="44450" y="256421"/>
                </a:cubicBezTo>
                <a:cubicBezTo>
                  <a:pt x="44450" y="261144"/>
                  <a:pt x="49381" y="264200"/>
                  <a:pt x="53618" y="262116"/>
                </a:cubicBezTo>
                <a:lnTo>
                  <a:pt x="89108" y="244406"/>
                </a:lnTo>
                <a:cubicBezTo>
                  <a:pt x="92581" y="242669"/>
                  <a:pt x="95706" y="247253"/>
                  <a:pt x="92859" y="249892"/>
                </a:cubicBezTo>
                <a:lnTo>
                  <a:pt x="5070" y="328791"/>
                </a:lnTo>
                <a:cubicBezTo>
                  <a:pt x="1875" y="331708"/>
                  <a:pt x="0" y="335875"/>
                  <a:pt x="0" y="340251"/>
                </a:cubicBezTo>
                <a:cubicBezTo>
                  <a:pt x="0" y="348724"/>
                  <a:pt x="6876" y="355600"/>
                  <a:pt x="15349" y="355600"/>
                </a:cubicBezTo>
                <a:lnTo>
                  <a:pt x="135711" y="355600"/>
                </a:lnTo>
                <a:cubicBezTo>
                  <a:pt x="162659" y="355600"/>
                  <a:pt x="188426" y="344904"/>
                  <a:pt x="207526" y="325874"/>
                </a:cubicBezTo>
                <a:cubicBezTo>
                  <a:pt x="228779" y="304621"/>
                  <a:pt x="239405" y="275104"/>
                  <a:pt x="236905" y="24544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26500" y="5334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 Vacuum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65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see dust under furniture or behind obstacles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environments become less observable, agents need more sophisticated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models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track hidden state variables. Most real-world environments are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observable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Non-Deterministic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635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next state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completely determined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the current state and the action. The same action in the same state always produces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result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Predictable outcomes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uncertainty in action results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Simpler agent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Ideal for rule-based systems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or Goal-Based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45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4500" y="1460500"/>
            <a:ext cx="7048500" cy="63500"/>
          </a:xfrm>
          <a:prstGeom prst="rect">
            <a:avLst/>
          </a:prstGeom>
          <a:solidFill>
            <a:srgbClr val="C751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C75146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Non-Deterministic (Stochastic)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next state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completely determined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same action in the same state may produce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results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There is uncertainty.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Uncertain outcomes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probability models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Utility-Based agents preferred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real-world scenarios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Utility-Based or Learning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Non-Deterministic —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9B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a piece produces a definite, predictable result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450" y="3911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66675" y="44450"/>
                </a:moveTo>
                <a:lnTo>
                  <a:pt x="200025" y="44450"/>
                </a:lnTo>
                <a:cubicBezTo>
                  <a:pt x="212318" y="44450"/>
                  <a:pt x="222250" y="54382"/>
                  <a:pt x="222250" y="66675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66675" y="111125"/>
                </a:lnTo>
                <a:cubicBezTo>
                  <a:pt x="54382" y="111125"/>
                  <a:pt x="44450" y="101193"/>
                  <a:pt x="44450" y="88900"/>
                </a:cubicBezTo>
                <a:lnTo>
                  <a:pt x="44450" y="66675"/>
                </a:lnTo>
                <a:cubicBezTo>
                  <a:pt x="44450" y="54382"/>
                  <a:pt x="54382" y="44450"/>
                  <a:pt x="66675" y="44450"/>
                </a:cubicBezTo>
                <a:close/>
                <a:moveTo>
                  <a:pt x="77788" y="161131"/>
                </a:moveTo>
                <a:cubicBezTo>
                  <a:pt x="77788" y="170331"/>
                  <a:pt x="70318" y="177800"/>
                  <a:pt x="61119" y="177800"/>
                </a:cubicBezTo>
                <a:cubicBezTo>
                  <a:pt x="51919" y="177800"/>
                  <a:pt x="44450" y="170331"/>
                  <a:pt x="44450" y="161131"/>
                </a:cubicBezTo>
                <a:cubicBezTo>
                  <a:pt x="44450" y="151932"/>
                  <a:pt x="51919" y="144463"/>
                  <a:pt x="61119" y="144463"/>
                </a:cubicBezTo>
                <a:cubicBezTo>
                  <a:pt x="70318" y="144463"/>
                  <a:pt x="77788" y="151932"/>
                  <a:pt x="77788" y="161131"/>
                </a:cubicBezTo>
                <a:close/>
                <a:moveTo>
                  <a:pt x="133350" y="177800"/>
                </a:moveTo>
                <a:cubicBezTo>
                  <a:pt x="124150" y="177800"/>
                  <a:pt x="116681" y="170331"/>
                  <a:pt x="116681" y="161131"/>
                </a:cubicBezTo>
                <a:cubicBezTo>
                  <a:pt x="116681" y="151932"/>
                  <a:pt x="124150" y="144463"/>
                  <a:pt x="133350" y="144463"/>
                </a:cubicBezTo>
                <a:cubicBezTo>
                  <a:pt x="142550" y="144463"/>
                  <a:pt x="150019" y="151932"/>
                  <a:pt x="150019" y="161131"/>
                </a:cubicBezTo>
                <a:cubicBezTo>
                  <a:pt x="150019" y="170331"/>
                  <a:pt x="142550" y="177800"/>
                  <a:pt x="133350" y="177800"/>
                </a:cubicBezTo>
                <a:close/>
                <a:moveTo>
                  <a:pt x="222250" y="161131"/>
                </a:moveTo>
                <a:cubicBezTo>
                  <a:pt x="222250" y="170331"/>
                  <a:pt x="214781" y="177800"/>
                  <a:pt x="205581" y="177800"/>
                </a:cubicBezTo>
                <a:cubicBezTo>
                  <a:pt x="196382" y="177800"/>
                  <a:pt x="188913" y="170331"/>
                  <a:pt x="188913" y="161131"/>
                </a:cubicBezTo>
                <a:cubicBezTo>
                  <a:pt x="188913" y="151932"/>
                  <a:pt x="196382" y="144463"/>
                  <a:pt x="205581" y="144463"/>
                </a:cubicBezTo>
                <a:cubicBezTo>
                  <a:pt x="214781" y="144463"/>
                  <a:pt x="222250" y="151932"/>
                  <a:pt x="222250" y="161131"/>
                </a:cubicBezTo>
                <a:close/>
                <a:moveTo>
                  <a:pt x="61119" y="244475"/>
                </a:moveTo>
                <a:cubicBezTo>
                  <a:pt x="51919" y="244475"/>
                  <a:pt x="44450" y="237006"/>
                  <a:pt x="44450" y="227806"/>
                </a:cubicBezTo>
                <a:cubicBezTo>
                  <a:pt x="44450" y="218607"/>
                  <a:pt x="51919" y="211138"/>
                  <a:pt x="61119" y="211138"/>
                </a:cubicBezTo>
                <a:cubicBezTo>
                  <a:pt x="70318" y="211138"/>
                  <a:pt x="77788" y="218607"/>
                  <a:pt x="77788" y="227806"/>
                </a:cubicBezTo>
                <a:cubicBezTo>
                  <a:pt x="77788" y="237006"/>
                  <a:pt x="70318" y="244475"/>
                  <a:pt x="61119" y="244475"/>
                </a:cubicBezTo>
                <a:close/>
                <a:moveTo>
                  <a:pt x="150019" y="227806"/>
                </a:moveTo>
                <a:cubicBezTo>
                  <a:pt x="150019" y="237006"/>
                  <a:pt x="142550" y="244475"/>
                  <a:pt x="133350" y="244475"/>
                </a:cubicBezTo>
                <a:cubicBezTo>
                  <a:pt x="124150" y="244475"/>
                  <a:pt x="116681" y="237006"/>
                  <a:pt x="116681" y="227806"/>
                </a:cubicBezTo>
                <a:cubicBezTo>
                  <a:pt x="116681" y="218607"/>
                  <a:pt x="124150" y="211138"/>
                  <a:pt x="133350" y="211138"/>
                </a:cubicBezTo>
                <a:cubicBezTo>
                  <a:pt x="142550" y="211138"/>
                  <a:pt x="150019" y="218607"/>
                  <a:pt x="150019" y="227806"/>
                </a:cubicBezTo>
                <a:close/>
                <a:moveTo>
                  <a:pt x="205581" y="244475"/>
                </a:moveTo>
                <a:cubicBezTo>
                  <a:pt x="196382" y="244475"/>
                  <a:pt x="188913" y="237006"/>
                  <a:pt x="188913" y="227806"/>
                </a:cubicBezTo>
                <a:cubicBezTo>
                  <a:pt x="188913" y="218607"/>
                  <a:pt x="196382" y="211138"/>
                  <a:pt x="205581" y="211138"/>
                </a:cubicBezTo>
                <a:cubicBezTo>
                  <a:pt x="214781" y="211138"/>
                  <a:pt x="222250" y="218607"/>
                  <a:pt x="222250" y="227806"/>
                </a:cubicBezTo>
                <a:cubicBezTo>
                  <a:pt x="222250" y="237006"/>
                  <a:pt x="214781" y="244475"/>
                  <a:pt x="205581" y="244475"/>
                </a:cubicBezTo>
                <a:close/>
                <a:moveTo>
                  <a:pt x="44450" y="294481"/>
                </a:moveTo>
                <a:cubicBezTo>
                  <a:pt x="44450" y="285244"/>
                  <a:pt x="51881" y="277813"/>
                  <a:pt x="61119" y="277813"/>
                </a:cubicBezTo>
                <a:lnTo>
                  <a:pt x="138906" y="277813"/>
                </a:lnTo>
                <a:cubicBezTo>
                  <a:pt x="148144" y="277813"/>
                  <a:pt x="155575" y="285244"/>
                  <a:pt x="155575" y="294481"/>
                </a:cubicBezTo>
                <a:cubicBezTo>
                  <a:pt x="155575" y="303719"/>
                  <a:pt x="148144" y="311150"/>
                  <a:pt x="138906" y="311150"/>
                </a:cubicBezTo>
                <a:lnTo>
                  <a:pt x="61119" y="311150"/>
                </a:lnTo>
                <a:cubicBezTo>
                  <a:pt x="51881" y="311150"/>
                  <a:pt x="44450" y="303719"/>
                  <a:pt x="44450" y="294481"/>
                </a:cubicBezTo>
                <a:close/>
                <a:moveTo>
                  <a:pt x="205581" y="277813"/>
                </a:moveTo>
                <a:cubicBezTo>
                  <a:pt x="214819" y="277813"/>
                  <a:pt x="222250" y="285244"/>
                  <a:pt x="222250" y="294481"/>
                </a:cubicBezTo>
                <a:cubicBezTo>
                  <a:pt x="222250" y="303719"/>
                  <a:pt x="214819" y="311150"/>
                  <a:pt x="205581" y="311150"/>
                </a:cubicBezTo>
                <a:cubicBezTo>
                  <a:pt x="196344" y="311150"/>
                  <a:pt x="188913" y="303719"/>
                  <a:pt x="188913" y="294481"/>
                </a:cubicBezTo>
                <a:cubicBezTo>
                  <a:pt x="188913" y="285244"/>
                  <a:pt x="196344" y="277813"/>
                  <a:pt x="205581" y="27781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Equation Solving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Applying a mathematical rule always yields the same outcome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334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Rubik's Cube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Turning a face always produces the same configuration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45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1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Non-Deterministic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85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8207" y="1597"/>
                </a:moveTo>
                <a:cubicBezTo>
                  <a:pt x="71537" y="-5556"/>
                  <a:pt x="44103" y="10279"/>
                  <a:pt x="37019" y="36949"/>
                </a:cubicBezTo>
                <a:lnTo>
                  <a:pt x="1736" y="168563"/>
                </a:lnTo>
                <a:cubicBezTo>
                  <a:pt x="-5417" y="195233"/>
                  <a:pt x="10418" y="222667"/>
                  <a:pt x="37088" y="229820"/>
                </a:cubicBezTo>
                <a:lnTo>
                  <a:pt x="168702" y="265103"/>
                </a:lnTo>
                <a:cubicBezTo>
                  <a:pt x="195372" y="272256"/>
                  <a:pt x="222806" y="256421"/>
                  <a:pt x="229959" y="229751"/>
                </a:cubicBezTo>
                <a:lnTo>
                  <a:pt x="265241" y="98137"/>
                </a:lnTo>
                <a:cubicBezTo>
                  <a:pt x="272395" y="71467"/>
                  <a:pt x="256560" y="44033"/>
                  <a:pt x="229890" y="36880"/>
                </a:cubicBezTo>
                <a:lnTo>
                  <a:pt x="98207" y="1597"/>
                </a:lnTo>
                <a:close/>
                <a:moveTo>
                  <a:pt x="114181" y="144463"/>
                </a:moveTo>
                <a:cubicBezTo>
                  <a:pt x="109957" y="137575"/>
                  <a:pt x="109803" y="128937"/>
                  <a:pt x="113780" y="121904"/>
                </a:cubicBezTo>
                <a:cubicBezTo>
                  <a:pt x="117757" y="114871"/>
                  <a:pt x="125238" y="110550"/>
                  <a:pt x="133317" y="110619"/>
                </a:cubicBezTo>
                <a:cubicBezTo>
                  <a:pt x="141397" y="110688"/>
                  <a:pt x="148802" y="115137"/>
                  <a:pt x="152658" y="122238"/>
                </a:cubicBezTo>
                <a:cubicBezTo>
                  <a:pt x="156882" y="129125"/>
                  <a:pt x="157035" y="137763"/>
                  <a:pt x="153059" y="144796"/>
                </a:cubicBezTo>
                <a:cubicBezTo>
                  <a:pt x="149082" y="151829"/>
                  <a:pt x="141601" y="156150"/>
                  <a:pt x="133522" y="156081"/>
                </a:cubicBezTo>
                <a:cubicBezTo>
                  <a:pt x="125442" y="156012"/>
                  <a:pt x="118037" y="151563"/>
                  <a:pt x="114181" y="144463"/>
                </a:cubicBezTo>
                <a:close/>
                <a:moveTo>
                  <a:pt x="55007" y="153005"/>
                </a:moveTo>
                <a:cubicBezTo>
                  <a:pt x="61895" y="148781"/>
                  <a:pt x="70532" y="148628"/>
                  <a:pt x="77565" y="152605"/>
                </a:cubicBezTo>
                <a:cubicBezTo>
                  <a:pt x="84599" y="156582"/>
                  <a:pt x="88920" y="164062"/>
                  <a:pt x="88850" y="172142"/>
                </a:cubicBezTo>
                <a:cubicBezTo>
                  <a:pt x="88781" y="180221"/>
                  <a:pt x="84332" y="187627"/>
                  <a:pt x="77232" y="191482"/>
                </a:cubicBezTo>
                <a:cubicBezTo>
                  <a:pt x="70344" y="195706"/>
                  <a:pt x="61707" y="195860"/>
                  <a:pt x="54673" y="191883"/>
                </a:cubicBezTo>
                <a:cubicBezTo>
                  <a:pt x="47640" y="187906"/>
                  <a:pt x="43319" y="180425"/>
                  <a:pt x="43388" y="172346"/>
                </a:cubicBezTo>
                <a:cubicBezTo>
                  <a:pt x="43458" y="164266"/>
                  <a:pt x="47906" y="156861"/>
                  <a:pt x="55007" y="153005"/>
                </a:cubicBezTo>
                <a:close/>
                <a:moveTo>
                  <a:pt x="183495" y="219958"/>
                </a:moveTo>
                <a:cubicBezTo>
                  <a:pt x="176607" y="224182"/>
                  <a:pt x="167970" y="224336"/>
                  <a:pt x="160937" y="220359"/>
                </a:cubicBezTo>
                <a:cubicBezTo>
                  <a:pt x="153903" y="216382"/>
                  <a:pt x="149582" y="208901"/>
                  <a:pt x="149652" y="200822"/>
                </a:cubicBezTo>
                <a:cubicBezTo>
                  <a:pt x="149721" y="192742"/>
                  <a:pt x="154170" y="185337"/>
                  <a:pt x="161270" y="181481"/>
                </a:cubicBezTo>
                <a:cubicBezTo>
                  <a:pt x="168158" y="177257"/>
                  <a:pt x="176795" y="177103"/>
                  <a:pt x="183829" y="181080"/>
                </a:cubicBezTo>
                <a:cubicBezTo>
                  <a:pt x="190862" y="185057"/>
                  <a:pt x="195183" y="192538"/>
                  <a:pt x="195114" y="200617"/>
                </a:cubicBezTo>
                <a:cubicBezTo>
                  <a:pt x="195044" y="208697"/>
                  <a:pt x="190596" y="216102"/>
                  <a:pt x="183495" y="219958"/>
                </a:cubicBezTo>
                <a:close/>
                <a:moveTo>
                  <a:pt x="189746" y="75218"/>
                </a:moveTo>
                <a:cubicBezTo>
                  <a:pt x="196634" y="70994"/>
                  <a:pt x="205271" y="70840"/>
                  <a:pt x="212304" y="74817"/>
                </a:cubicBezTo>
                <a:cubicBezTo>
                  <a:pt x="219338" y="78794"/>
                  <a:pt x="223659" y="86275"/>
                  <a:pt x="223589" y="94354"/>
                </a:cubicBezTo>
                <a:cubicBezTo>
                  <a:pt x="223520" y="102434"/>
                  <a:pt x="219071" y="109839"/>
                  <a:pt x="211971" y="113695"/>
                </a:cubicBezTo>
                <a:cubicBezTo>
                  <a:pt x="205083" y="117919"/>
                  <a:pt x="196446" y="118072"/>
                  <a:pt x="189412" y="114095"/>
                </a:cubicBezTo>
                <a:cubicBezTo>
                  <a:pt x="182379" y="110118"/>
                  <a:pt x="178058" y="102638"/>
                  <a:pt x="178127" y="94558"/>
                </a:cubicBezTo>
                <a:cubicBezTo>
                  <a:pt x="178197" y="86479"/>
                  <a:pt x="182645" y="79073"/>
                  <a:pt x="189746" y="75218"/>
                </a:cubicBezTo>
                <a:close/>
                <a:moveTo>
                  <a:pt x="105708" y="85219"/>
                </a:moveTo>
                <a:cubicBezTo>
                  <a:pt x="98820" y="89443"/>
                  <a:pt x="90182" y="89597"/>
                  <a:pt x="83149" y="85620"/>
                </a:cubicBezTo>
                <a:cubicBezTo>
                  <a:pt x="76116" y="81643"/>
                  <a:pt x="71795" y="74162"/>
                  <a:pt x="71864" y="66083"/>
                </a:cubicBezTo>
                <a:cubicBezTo>
                  <a:pt x="71934" y="58003"/>
                  <a:pt x="76382" y="50598"/>
                  <a:pt x="83483" y="46742"/>
                </a:cubicBezTo>
                <a:cubicBezTo>
                  <a:pt x="90370" y="42518"/>
                  <a:pt x="99008" y="42364"/>
                  <a:pt x="106041" y="46341"/>
                </a:cubicBezTo>
                <a:cubicBezTo>
                  <a:pt x="113074" y="50318"/>
                  <a:pt x="117395" y="57799"/>
                  <a:pt x="117326" y="65878"/>
                </a:cubicBezTo>
                <a:cubicBezTo>
                  <a:pt x="117257" y="73958"/>
                  <a:pt x="112808" y="81363"/>
                  <a:pt x="105708" y="85219"/>
                </a:cubicBezTo>
                <a:close/>
                <a:moveTo>
                  <a:pt x="290314" y="133350"/>
                </a:moveTo>
                <a:lnTo>
                  <a:pt x="262116" y="238363"/>
                </a:lnTo>
                <a:cubicBezTo>
                  <a:pt x="250170" y="282813"/>
                  <a:pt x="204470" y="309205"/>
                  <a:pt x="160020" y="297329"/>
                </a:cubicBezTo>
                <a:lnTo>
                  <a:pt x="133419" y="290175"/>
                </a:lnTo>
                <a:lnTo>
                  <a:pt x="133419" y="311150"/>
                </a:lnTo>
                <a:cubicBezTo>
                  <a:pt x="133419" y="335667"/>
                  <a:pt x="153352" y="355600"/>
                  <a:pt x="177869" y="355600"/>
                </a:cubicBezTo>
                <a:lnTo>
                  <a:pt x="311219" y="355600"/>
                </a:lnTo>
                <a:cubicBezTo>
                  <a:pt x="335736" y="355600"/>
                  <a:pt x="355669" y="335667"/>
                  <a:pt x="355669" y="311150"/>
                </a:cubicBezTo>
                <a:lnTo>
                  <a:pt x="355669" y="177800"/>
                </a:lnTo>
                <a:cubicBezTo>
                  <a:pt x="355669" y="153283"/>
                  <a:pt x="335736" y="133350"/>
                  <a:pt x="311219" y="133350"/>
                </a:cubicBezTo>
                <a:lnTo>
                  <a:pt x="290314" y="1333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215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Dice Games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65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 die produces random, unpredictable outcomes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18500" y="391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8265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Market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265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Buying a stock doesn't guarantee a specific return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85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26500" y="5334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Driving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65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drivers' behavior is unpredictable and uncertain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Non-deterministic environments require agents to handle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often using probability models, utility functions, or learning algorithms to make robust decisions.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Non-Episodic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635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agent's experience is divided into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episodes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episode consists of perceiving and then performing a single action.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dependency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episodes.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Independent episodes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Current action doesn't affect future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Simpler agent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need for long-term planning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Reflex or Model-Based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45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4500" y="1460500"/>
            <a:ext cx="7048500" cy="63500"/>
          </a:xfrm>
          <a:prstGeom prst="rect">
            <a:avLst/>
          </a:prstGeom>
          <a:solidFill>
            <a:srgbClr val="C751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76200"/>
                </a:moveTo>
                <a:cubicBezTo>
                  <a:pt x="406400" y="116046"/>
                  <a:pt x="359489" y="175498"/>
                  <a:pt x="339249" y="199231"/>
                </a:cubicBezTo>
                <a:cubicBezTo>
                  <a:pt x="336233" y="202724"/>
                  <a:pt x="331788" y="204073"/>
                  <a:pt x="327739" y="203200"/>
                </a:cubicBezTo>
                <a:lnTo>
                  <a:pt x="254000" y="203200"/>
                </a:lnTo>
                <a:cubicBezTo>
                  <a:pt x="239951" y="203200"/>
                  <a:pt x="228600" y="214551"/>
                  <a:pt x="228600" y="228600"/>
                </a:cubicBezTo>
                <a:cubicBezTo>
                  <a:pt x="228600" y="242649"/>
                  <a:pt x="239951" y="254000"/>
                  <a:pt x="254000" y="254000"/>
                </a:cubicBezTo>
                <a:lnTo>
                  <a:pt x="330200" y="254000"/>
                </a:lnTo>
                <a:cubicBezTo>
                  <a:pt x="372269" y="254000"/>
                  <a:pt x="406400" y="288131"/>
                  <a:pt x="406400" y="330200"/>
                </a:cubicBezTo>
                <a:cubicBezTo>
                  <a:pt x="406400" y="372269"/>
                  <a:pt x="372269" y="406400"/>
                  <a:pt x="330200" y="406400"/>
                </a:cubicBezTo>
                <a:lnTo>
                  <a:pt x="110808" y="406400"/>
                </a:lnTo>
                <a:cubicBezTo>
                  <a:pt x="117713" y="398542"/>
                  <a:pt x="126127" y="388461"/>
                  <a:pt x="134620" y="377190"/>
                </a:cubicBezTo>
                <a:cubicBezTo>
                  <a:pt x="139621" y="370523"/>
                  <a:pt x="144780" y="363220"/>
                  <a:pt x="149701" y="355600"/>
                </a:cubicBezTo>
                <a:lnTo>
                  <a:pt x="330200" y="355600"/>
                </a:lnTo>
                <a:cubicBezTo>
                  <a:pt x="344249" y="355600"/>
                  <a:pt x="355600" y="344249"/>
                  <a:pt x="355600" y="330200"/>
                </a:cubicBezTo>
                <a:cubicBezTo>
                  <a:pt x="355600" y="316151"/>
                  <a:pt x="344249" y="304800"/>
                  <a:pt x="330200" y="304800"/>
                </a:cubicBezTo>
                <a:lnTo>
                  <a:pt x="254000" y="304800"/>
                </a:lnTo>
                <a:cubicBezTo>
                  <a:pt x="211931" y="304800"/>
                  <a:pt x="177800" y="270669"/>
                  <a:pt x="177800" y="228600"/>
                </a:cubicBezTo>
                <a:cubicBezTo>
                  <a:pt x="177800" y="186531"/>
                  <a:pt x="211931" y="152400"/>
                  <a:pt x="254000" y="152400"/>
                </a:cubicBezTo>
                <a:lnTo>
                  <a:pt x="285591" y="152400"/>
                </a:lnTo>
                <a:cubicBezTo>
                  <a:pt x="268923" y="127397"/>
                  <a:pt x="254000" y="98663"/>
                  <a:pt x="254000" y="76200"/>
                </a:cubicBezTo>
                <a:cubicBezTo>
                  <a:pt x="254000" y="34131"/>
                  <a:pt x="288131" y="0"/>
                  <a:pt x="330200" y="0"/>
                </a:cubicBezTo>
                <a:cubicBezTo>
                  <a:pt x="372269" y="0"/>
                  <a:pt x="406400" y="34131"/>
                  <a:pt x="406400" y="76200"/>
                </a:cubicBezTo>
                <a:close/>
                <a:moveTo>
                  <a:pt x="92948" y="388223"/>
                </a:moveTo>
                <a:cubicBezTo>
                  <a:pt x="89932" y="391636"/>
                  <a:pt x="87233" y="394653"/>
                  <a:pt x="84931" y="397193"/>
                </a:cubicBezTo>
                <a:lnTo>
                  <a:pt x="83503" y="398780"/>
                </a:lnTo>
                <a:lnTo>
                  <a:pt x="83344" y="398621"/>
                </a:lnTo>
                <a:cubicBezTo>
                  <a:pt x="78581" y="402273"/>
                  <a:pt x="71755" y="401796"/>
                  <a:pt x="67469" y="397193"/>
                </a:cubicBezTo>
                <a:cubicBezTo>
                  <a:pt x="47466" y="375444"/>
                  <a:pt x="0" y="319484"/>
                  <a:pt x="0" y="279400"/>
                </a:cubicBezTo>
                <a:cubicBezTo>
                  <a:pt x="0" y="237331"/>
                  <a:pt x="34131" y="203200"/>
                  <a:pt x="76200" y="203200"/>
                </a:cubicBezTo>
                <a:cubicBezTo>
                  <a:pt x="118269" y="203200"/>
                  <a:pt x="152400" y="237331"/>
                  <a:pt x="152400" y="279400"/>
                </a:cubicBezTo>
                <a:cubicBezTo>
                  <a:pt x="152400" y="303213"/>
                  <a:pt x="135652" y="332581"/>
                  <a:pt x="117872" y="357108"/>
                </a:cubicBezTo>
                <a:cubicBezTo>
                  <a:pt x="109379" y="368776"/>
                  <a:pt x="100648" y="379333"/>
                  <a:pt x="93424" y="387668"/>
                </a:cubicBezTo>
                <a:lnTo>
                  <a:pt x="92948" y="388223"/>
                </a:lnTo>
                <a:close/>
                <a:moveTo>
                  <a:pt x="101600" y="279400"/>
                </a:moveTo>
                <a:cubicBezTo>
                  <a:pt x="101600" y="265381"/>
                  <a:pt x="90219" y="254000"/>
                  <a:pt x="76200" y="254000"/>
                </a:cubicBezTo>
                <a:cubicBezTo>
                  <a:pt x="62181" y="254000"/>
                  <a:pt x="50800" y="265381"/>
                  <a:pt x="50800" y="279400"/>
                </a:cubicBezTo>
                <a:cubicBezTo>
                  <a:pt x="50800" y="293419"/>
                  <a:pt x="62181" y="304800"/>
                  <a:pt x="76200" y="304800"/>
                </a:cubicBezTo>
                <a:cubicBezTo>
                  <a:pt x="90219" y="304800"/>
                  <a:pt x="101600" y="293419"/>
                  <a:pt x="101600" y="279400"/>
                </a:cubicBezTo>
                <a:close/>
                <a:moveTo>
                  <a:pt x="330200" y="101600"/>
                </a:moveTo>
                <a:cubicBezTo>
                  <a:pt x="344219" y="101600"/>
                  <a:pt x="355600" y="90219"/>
                  <a:pt x="355600" y="76200"/>
                </a:cubicBezTo>
                <a:cubicBezTo>
                  <a:pt x="355600" y="62181"/>
                  <a:pt x="344219" y="50800"/>
                  <a:pt x="330200" y="50800"/>
                </a:cubicBezTo>
                <a:cubicBezTo>
                  <a:pt x="316181" y="50800"/>
                  <a:pt x="304800" y="62181"/>
                  <a:pt x="304800" y="76200"/>
                </a:cubicBezTo>
                <a:cubicBezTo>
                  <a:pt x="304800" y="90219"/>
                  <a:pt x="316181" y="101600"/>
                  <a:pt x="330200" y="101600"/>
                </a:cubicBezTo>
                <a:close/>
              </a:path>
            </a:pathLst>
          </a:custGeom>
          <a:solidFill>
            <a:srgbClr val="C75146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Non-Episodic (Sequential)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current decision could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 all future decisions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Actions have lasting effects. The agent must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sequences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actions.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Actions have lasting consequences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Long-term planning required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Goal-Based or Utility-Based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strategic tasks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Goal-Based or higher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Non-Episodic —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9B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2324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image is processed and classified independently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391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Filter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email is evaluated independently for spam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Inspection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item on the assembly line is checked independently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45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1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Non-Episodic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85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215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 Game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65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move affects all future possibilities and outcomes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4050" y="3911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8265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 Navigation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265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step changes position and available future options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85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3350"/>
                </a:lnTo>
                <a:cubicBezTo>
                  <a:pt x="355600" y="108833"/>
                  <a:pt x="335667" y="88900"/>
                  <a:pt x="311150" y="88900"/>
                </a:cubicBezTo>
                <a:lnTo>
                  <a:pt x="50006" y="88900"/>
                </a:lnTo>
                <a:cubicBezTo>
                  <a:pt x="40769" y="88900"/>
                  <a:pt x="33337" y="81469"/>
                  <a:pt x="33337" y="72231"/>
                </a:cubicBezTo>
                <a:cubicBezTo>
                  <a:pt x="33337" y="62994"/>
                  <a:pt x="40769" y="55563"/>
                  <a:pt x="50006" y="55563"/>
                </a:cubicBezTo>
                <a:lnTo>
                  <a:pt x="316706" y="55563"/>
                </a:lnTo>
                <a:cubicBezTo>
                  <a:pt x="325944" y="55563"/>
                  <a:pt x="333375" y="48131"/>
                  <a:pt x="333375" y="38894"/>
                </a:cubicBezTo>
                <a:cubicBezTo>
                  <a:pt x="333375" y="29656"/>
                  <a:pt x="325944" y="22225"/>
                  <a:pt x="316706" y="22225"/>
                </a:cubicBezTo>
                <a:lnTo>
                  <a:pt x="44450" y="22225"/>
                </a:lnTo>
                <a:close/>
                <a:moveTo>
                  <a:pt x="288925" y="177800"/>
                </a:moveTo>
                <a:cubicBezTo>
                  <a:pt x="301191" y="177800"/>
                  <a:pt x="311150" y="187759"/>
                  <a:pt x="311150" y="200025"/>
                </a:cubicBezTo>
                <a:cubicBezTo>
                  <a:pt x="311150" y="212291"/>
                  <a:pt x="301191" y="222250"/>
                  <a:pt x="288925" y="222250"/>
                </a:cubicBezTo>
                <a:cubicBezTo>
                  <a:pt x="276659" y="222250"/>
                  <a:pt x="266700" y="212291"/>
                  <a:pt x="266700" y="200025"/>
                </a:cubicBezTo>
                <a:cubicBezTo>
                  <a:pt x="266700" y="187759"/>
                  <a:pt x="276659" y="177800"/>
                  <a:pt x="288925" y="1778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265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Management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65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trade affects the overall portfolio performance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7175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sequential environments, agents must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ahead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consider how current actions influence future states and available options.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635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6" name="Shape 4"/>
          <p:cNvSpPr/>
          <p:nvPr/>
        </p:nvSpPr>
        <p:spPr>
          <a:xfrm>
            <a:off x="1130300" y="1778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38100" y="25400"/>
                </a:moveTo>
                <a:cubicBezTo>
                  <a:pt x="17066" y="25400"/>
                  <a:pt x="0" y="42466"/>
                  <a:pt x="0" y="635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88900" y="381000"/>
                </a:lnTo>
                <a:cubicBezTo>
                  <a:pt x="109934" y="381000"/>
                  <a:pt x="127000" y="363934"/>
                  <a:pt x="127000" y="342900"/>
                </a:cubicBezTo>
                <a:lnTo>
                  <a:pt x="127000" y="63500"/>
                </a:lnTo>
                <a:cubicBezTo>
                  <a:pt x="127000" y="42466"/>
                  <a:pt x="109934" y="25400"/>
                  <a:pt x="88900" y="25400"/>
                </a:cubicBezTo>
                <a:lnTo>
                  <a:pt x="38100" y="25400"/>
                </a:lnTo>
                <a:close/>
                <a:moveTo>
                  <a:pt x="215900" y="25400"/>
                </a:moveTo>
                <a:cubicBezTo>
                  <a:pt x="194866" y="25400"/>
                  <a:pt x="177800" y="42466"/>
                  <a:pt x="177800" y="63500"/>
                </a:cubicBezTo>
                <a:lnTo>
                  <a:pt x="177800" y="342900"/>
                </a:lnTo>
                <a:cubicBezTo>
                  <a:pt x="177800" y="363934"/>
                  <a:pt x="194866" y="381000"/>
                  <a:pt x="215900" y="381000"/>
                </a:cubicBezTo>
                <a:lnTo>
                  <a:pt x="266700" y="381000"/>
                </a:lnTo>
                <a:cubicBezTo>
                  <a:pt x="287734" y="381000"/>
                  <a:pt x="304800" y="363934"/>
                  <a:pt x="304800" y="342900"/>
                </a:cubicBezTo>
                <a:lnTo>
                  <a:pt x="304800" y="63500"/>
                </a:lnTo>
                <a:cubicBezTo>
                  <a:pt x="304800" y="42466"/>
                  <a:pt x="287734" y="25400"/>
                  <a:pt x="266700" y="25400"/>
                </a:cubicBezTo>
                <a:lnTo>
                  <a:pt x="215900" y="25400"/>
                </a:ln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environment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change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the agent is deliberating. The world remains the same between perception and action.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 waits for the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Agent can take time to decide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Simpler reasoning required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 in puzzles and games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 type can 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4500" y="1460500"/>
            <a:ext cx="7048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4500" y="1460500"/>
            <a:ext cx="7048500" cy="63500"/>
          </a:xfrm>
          <a:prstGeom prst="rect">
            <a:avLst/>
          </a:prstGeom>
          <a:solidFill>
            <a:srgbClr val="C751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07400" y="177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72390" y="29289"/>
                </a:moveTo>
                <a:cubicBezTo>
                  <a:pt x="62547" y="23892"/>
                  <a:pt x="50641" y="24130"/>
                  <a:pt x="40958" y="29845"/>
                </a:cubicBezTo>
                <a:cubicBezTo>
                  <a:pt x="31274" y="35560"/>
                  <a:pt x="25400" y="45958"/>
                  <a:pt x="25400" y="57150"/>
                </a:cubicBezTo>
                <a:lnTo>
                  <a:pt x="25400" y="349250"/>
                </a:lnTo>
                <a:cubicBezTo>
                  <a:pt x="25400" y="360442"/>
                  <a:pt x="31353" y="370840"/>
                  <a:pt x="40958" y="376555"/>
                </a:cubicBezTo>
                <a:cubicBezTo>
                  <a:pt x="50562" y="382270"/>
                  <a:pt x="62547" y="382508"/>
                  <a:pt x="72390" y="377111"/>
                </a:cubicBezTo>
                <a:lnTo>
                  <a:pt x="339090" y="231061"/>
                </a:lnTo>
                <a:cubicBezTo>
                  <a:pt x="349250" y="225504"/>
                  <a:pt x="355600" y="214789"/>
                  <a:pt x="355600" y="203200"/>
                </a:cubicBezTo>
                <a:cubicBezTo>
                  <a:pt x="355600" y="191611"/>
                  <a:pt x="349250" y="180896"/>
                  <a:pt x="339090" y="175339"/>
                </a:cubicBezTo>
                <a:lnTo>
                  <a:pt x="72390" y="29289"/>
                </a:lnTo>
                <a:close/>
              </a:path>
            </a:pathLst>
          </a:custGeom>
          <a:solidFill>
            <a:srgbClr val="C75146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1778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413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environment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change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the agent is deliberating. The world may change between when the agent perceives and when it acts.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089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 changes continuously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533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Timely decisions required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9784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monitoring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54229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1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real-world systems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6096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Model-Based or higher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 —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9B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Crossword Puzzle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puzzle doesn't change while you think about answers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3911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2667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close/>
                <a:moveTo>
                  <a:pt x="266700" y="155575"/>
                </a:moveTo>
                <a:lnTo>
                  <a:pt x="266700" y="200025"/>
                </a:lnTo>
                <a:lnTo>
                  <a:pt x="222250" y="200025"/>
                </a:lnTo>
                <a:lnTo>
                  <a:pt x="222250" y="155575"/>
                </a:lnTo>
                <a:lnTo>
                  <a:pt x="266700" y="155575"/>
                </a:lnTo>
                <a:close/>
                <a:moveTo>
                  <a:pt x="266700" y="244475"/>
                </a:move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266700" y="24447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  <a:moveTo>
                  <a:pt x="133350" y="244475"/>
                </a:move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close/>
                <a:moveTo>
                  <a:pt x="88900" y="200025"/>
                </a:move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200025"/>
                </a:lnTo>
                <a:close/>
                <a:moveTo>
                  <a:pt x="44450" y="244475"/>
                </a:move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44450" y="111125"/>
                </a:moveTo>
                <a:lnTo>
                  <a:pt x="44450" y="66675"/>
                </a:lnTo>
                <a:lnTo>
                  <a:pt x="88900" y="66675"/>
                </a:lnTo>
                <a:lnTo>
                  <a:pt x="88900" y="111125"/>
                </a:lnTo>
                <a:lnTo>
                  <a:pt x="44450" y="111125"/>
                </a:lnTo>
                <a:close/>
                <a:moveTo>
                  <a:pt x="133350" y="111125"/>
                </a:move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133350" y="11112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Sudoku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remains fixed during reasoning and solving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499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doesn't change during the analysis 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45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1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0" y="2006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8500" y="232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2159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6500" y="2540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Traffic, pedestrians, and vehicles constantly change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35941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18500" y="391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5" y="5556"/>
                </a:moveTo>
                <a:cubicBezTo>
                  <a:pt x="333375" y="-3681"/>
                  <a:pt x="325944" y="-11112"/>
                  <a:pt x="316706" y="-11112"/>
                </a:cubicBezTo>
                <a:lnTo>
                  <a:pt x="246003" y="-11112"/>
                </a:lnTo>
                <a:cubicBezTo>
                  <a:pt x="236766" y="-11112"/>
                  <a:pt x="229334" y="-3681"/>
                  <a:pt x="229334" y="5556"/>
                </a:cubicBezTo>
                <a:cubicBezTo>
                  <a:pt x="229334" y="14794"/>
                  <a:pt x="236766" y="22225"/>
                  <a:pt x="246003" y="22225"/>
                </a:cubicBezTo>
                <a:lnTo>
                  <a:pt x="276493" y="22225"/>
                </a:lnTo>
                <a:lnTo>
                  <a:pt x="199192" y="99526"/>
                </a:lnTo>
                <a:lnTo>
                  <a:pt x="133142" y="42922"/>
                </a:lnTo>
                <a:cubicBezTo>
                  <a:pt x="126891" y="37574"/>
                  <a:pt x="117723" y="37574"/>
                  <a:pt x="111472" y="42922"/>
                </a:cubicBezTo>
                <a:lnTo>
                  <a:pt x="33685" y="109597"/>
                </a:lnTo>
                <a:cubicBezTo>
                  <a:pt x="26670" y="115570"/>
                  <a:pt x="25906" y="126127"/>
                  <a:pt x="31879" y="133072"/>
                </a:cubicBezTo>
                <a:cubicBezTo>
                  <a:pt x="37852" y="140018"/>
                  <a:pt x="48409" y="140851"/>
                  <a:pt x="55354" y="134878"/>
                </a:cubicBezTo>
                <a:lnTo>
                  <a:pt x="122307" y="77510"/>
                </a:lnTo>
                <a:lnTo>
                  <a:pt x="189260" y="134878"/>
                </a:lnTo>
                <a:cubicBezTo>
                  <a:pt x="195858" y="140573"/>
                  <a:pt x="205720" y="140156"/>
                  <a:pt x="211901" y="133975"/>
                </a:cubicBezTo>
                <a:lnTo>
                  <a:pt x="300107" y="45770"/>
                </a:lnTo>
                <a:lnTo>
                  <a:pt x="300107" y="76260"/>
                </a:lnTo>
                <a:cubicBezTo>
                  <a:pt x="300107" y="85497"/>
                  <a:pt x="307538" y="92928"/>
                  <a:pt x="316776" y="92928"/>
                </a:cubicBezTo>
                <a:cubicBezTo>
                  <a:pt x="326013" y="92928"/>
                  <a:pt x="333444" y="85497"/>
                  <a:pt x="333444" y="76260"/>
                </a:cubicBezTo>
                <a:lnTo>
                  <a:pt x="333375" y="5556"/>
                </a:lnTo>
                <a:close/>
                <a:moveTo>
                  <a:pt x="33337" y="177800"/>
                </a:moveTo>
                <a:cubicBezTo>
                  <a:pt x="14932" y="177800"/>
                  <a:pt x="0" y="192732"/>
                  <a:pt x="0" y="211138"/>
                </a:cubicBezTo>
                <a:lnTo>
                  <a:pt x="0" y="322263"/>
                </a:lnTo>
                <a:cubicBezTo>
                  <a:pt x="0" y="340668"/>
                  <a:pt x="14932" y="355600"/>
                  <a:pt x="33337" y="355600"/>
                </a:cubicBezTo>
                <a:lnTo>
                  <a:pt x="322263" y="355600"/>
                </a:lnTo>
                <a:cubicBezTo>
                  <a:pt x="340668" y="355600"/>
                  <a:pt x="355600" y="340668"/>
                  <a:pt x="355600" y="322263"/>
                </a:cubicBezTo>
                <a:lnTo>
                  <a:pt x="355600" y="211138"/>
                </a:lnTo>
                <a:cubicBezTo>
                  <a:pt x="355600" y="192732"/>
                  <a:pt x="340668" y="177800"/>
                  <a:pt x="322263" y="177800"/>
                </a:cubicBezTo>
                <a:lnTo>
                  <a:pt x="33337" y="177800"/>
                </a:lnTo>
                <a:close/>
                <a:moveTo>
                  <a:pt x="66189" y="216694"/>
                </a:moveTo>
                <a:cubicBezTo>
                  <a:pt x="63827" y="230654"/>
                  <a:pt x="52854" y="241697"/>
                  <a:pt x="38824" y="244058"/>
                </a:cubicBezTo>
                <a:cubicBezTo>
                  <a:pt x="35768" y="244544"/>
                  <a:pt x="33268" y="242044"/>
                  <a:pt x="33268" y="238988"/>
                </a:cubicBezTo>
                <a:lnTo>
                  <a:pt x="33268" y="216763"/>
                </a:lnTo>
                <a:cubicBezTo>
                  <a:pt x="33268" y="213707"/>
                  <a:pt x="35768" y="211207"/>
                  <a:pt x="38824" y="211207"/>
                </a:cubicBezTo>
                <a:lnTo>
                  <a:pt x="61049" y="211207"/>
                </a:lnTo>
                <a:cubicBezTo>
                  <a:pt x="64105" y="211207"/>
                  <a:pt x="66675" y="213707"/>
                  <a:pt x="66119" y="216763"/>
                </a:cubicBezTo>
                <a:close/>
                <a:moveTo>
                  <a:pt x="66189" y="316776"/>
                </a:moveTo>
                <a:cubicBezTo>
                  <a:pt x="66675" y="319832"/>
                  <a:pt x="64175" y="322332"/>
                  <a:pt x="61119" y="322332"/>
                </a:cubicBezTo>
                <a:lnTo>
                  <a:pt x="38894" y="322332"/>
                </a:lnTo>
                <a:cubicBezTo>
                  <a:pt x="35838" y="322332"/>
                  <a:pt x="33337" y="319832"/>
                  <a:pt x="33337" y="316776"/>
                </a:cubicBezTo>
                <a:lnTo>
                  <a:pt x="33337" y="294551"/>
                </a:lnTo>
                <a:cubicBezTo>
                  <a:pt x="33337" y="291495"/>
                  <a:pt x="35838" y="288925"/>
                  <a:pt x="38894" y="289481"/>
                </a:cubicBezTo>
                <a:cubicBezTo>
                  <a:pt x="52854" y="291842"/>
                  <a:pt x="63897" y="302816"/>
                  <a:pt x="66258" y="316845"/>
                </a:cubicBezTo>
                <a:close/>
                <a:moveTo>
                  <a:pt x="316706" y="289411"/>
                </a:moveTo>
                <a:cubicBezTo>
                  <a:pt x="319762" y="288925"/>
                  <a:pt x="322263" y="291425"/>
                  <a:pt x="322263" y="294481"/>
                </a:cubicBezTo>
                <a:lnTo>
                  <a:pt x="322263" y="316706"/>
                </a:lnTo>
                <a:cubicBezTo>
                  <a:pt x="322263" y="319762"/>
                  <a:pt x="319762" y="322263"/>
                  <a:pt x="316706" y="322263"/>
                </a:cubicBezTo>
                <a:lnTo>
                  <a:pt x="294481" y="322263"/>
                </a:lnTo>
                <a:cubicBezTo>
                  <a:pt x="291425" y="322263"/>
                  <a:pt x="288856" y="319762"/>
                  <a:pt x="289411" y="316706"/>
                </a:cubicBezTo>
                <a:cubicBezTo>
                  <a:pt x="291773" y="302746"/>
                  <a:pt x="302746" y="291703"/>
                  <a:pt x="316776" y="289342"/>
                </a:cubicBezTo>
                <a:close/>
                <a:moveTo>
                  <a:pt x="289411" y="216694"/>
                </a:moveTo>
                <a:cubicBezTo>
                  <a:pt x="288925" y="213638"/>
                  <a:pt x="291425" y="211138"/>
                  <a:pt x="294481" y="211138"/>
                </a:cubicBezTo>
                <a:lnTo>
                  <a:pt x="316706" y="211138"/>
                </a:lnTo>
                <a:cubicBezTo>
                  <a:pt x="319762" y="211138"/>
                  <a:pt x="322263" y="213638"/>
                  <a:pt x="322263" y="216694"/>
                </a:cubicBezTo>
                <a:lnTo>
                  <a:pt x="322263" y="238919"/>
                </a:lnTo>
                <a:cubicBezTo>
                  <a:pt x="322263" y="241975"/>
                  <a:pt x="319762" y="244544"/>
                  <a:pt x="316706" y="243989"/>
                </a:cubicBezTo>
                <a:cubicBezTo>
                  <a:pt x="302746" y="241627"/>
                  <a:pt x="291703" y="230654"/>
                  <a:pt x="289342" y="216624"/>
                </a:cubicBezTo>
                <a:close/>
                <a:moveTo>
                  <a:pt x="133350" y="266700"/>
                </a:moveTo>
                <a:cubicBezTo>
                  <a:pt x="133350" y="242167"/>
                  <a:pt x="153267" y="222250"/>
                  <a:pt x="177800" y="222250"/>
                </a:cubicBezTo>
                <a:cubicBezTo>
                  <a:pt x="202333" y="222250"/>
                  <a:pt x="222250" y="242167"/>
                  <a:pt x="222250" y="266700"/>
                </a:cubicBezTo>
                <a:cubicBezTo>
                  <a:pt x="222250" y="291233"/>
                  <a:pt x="202333" y="311150"/>
                  <a:pt x="177800" y="311150"/>
                </a:cubicBezTo>
                <a:cubicBezTo>
                  <a:pt x="153267" y="311150"/>
                  <a:pt x="133350" y="291233"/>
                  <a:pt x="133350" y="266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826500" y="3746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Trading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26500" y="412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prices fluctuate in real-time continuously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51816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4050" y="5499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265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Multiplayer Games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6500" y="5715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players move and act independently in real-time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>
              <a:alpha val="5098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environments require agents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decision-making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capabilities, often needing continuous monitoring and rapid response to changing conditions.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Properties —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3388360"/>
                <a:gridCol w="338836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Agent Requirement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Real-World Bias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Observable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Fully Observable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Partially Observable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state model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Mostly Partially Obs.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Deterministic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Deterministic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Stochastic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Uncertainty handling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Mostly Stochastic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Episodic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Episodic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Sequential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Long-term planning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Mostly Sequential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Real-time response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Mostly Dynamic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3333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717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651000" y="704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Environments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51000" y="7429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AI environments are typically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observable, stochastic, sequential, and dynamic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requiring the most sophisticated agent designs that combine internal models, planning, and utility optimization.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pwc2mleycmpi/mnt/agents/output/ai-course-week3/images/8_Artificial_Intelligence_Brain_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87000"/>
                </a:srgbClr>
              </a:gs>
              <a:gs pos="50000">
                <a:srgbClr val="1B2A4A">
                  <a:alpha val="91000"/>
                </a:srgbClr>
              </a:gs>
              <a:gs pos="100000">
                <a:srgbClr val="1B2A4A">
                  <a:alpha val="87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953000" y="101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75500" y="1524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1841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260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— Intelligent Agents &amp; Environments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0" y="3302000"/>
            <a:ext cx="11176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3683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86000" y="3619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agent types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 a progression from simple reaction to rational decision-making: Simple Reflex → Model-Based → Goal-Based → Utility-Based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" y="469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86000" y="4635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properties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 agent design requirements: Observable? Deterministic? Episodic? Static?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24000" y="5715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86000" y="5651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AI systems must handle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observable, stochastic, sequential, and dynamic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88000" y="6985000"/>
            <a:ext cx="5080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18000" y="7302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18000" y="800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| Week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3: Intelligent Agents &amp; Environments</dc:title>
  <dc:subject>Artificial Intelligence - Week 3: Intelligent Agents &amp; Environments</dc:subject>
  <dc:creator>Kimi</dc:creator>
  <cp:lastModifiedBy>Kimi</cp:lastModifiedBy>
  <cp:revision>1</cp:revision>
  <dcterms:created xsi:type="dcterms:W3CDTF">2026-05-25T21:05:49Z</dcterms:created>
  <dcterms:modified xsi:type="dcterms:W3CDTF">2026-05-25T21:05:49Z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3: Intelligent Agents &amp; Environments","ContentProducer":"001191110108MACG2KBH8F10000","ProduceID":"19e60cef-3452-8b17-8000-00000e62dd6b","ReservedCode1":"","ContentPropagator":"001191110108MACG2KBH8F20000","PropagateID":"19e60cef-3452-8b17-8000-00000e62dd6b","ReservedCode2":""}</vt:lpwstr>
  </property>
</Properties>
</file>