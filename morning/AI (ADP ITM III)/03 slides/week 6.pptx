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6256000" cy="9144000"/>
  <p:notesSz cx="9144000" cy="16256000"/>
  <p:embeddedFontLst>
    <p:embeddedFont>
      <p:font typeface="Quattrocento Sans" charset="-122" pitchFamily="34"/>
      <p:regular r:id="rId36"/>
    </p:embeddedFont>
    <p:embeddedFont>
      <p:font typeface="Liter" charset="-122" pitchFamily="34"/>
      <p:regular r:id="rId3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openxmlformats.org/officeDocument/2006/relationships/font" Target="fonts/font1.fntdata"/><Relationship Id="rId37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iluvy7yj7dso6/mnt/agents/output/ai-week6/images/5_Digital_Brain_Abstract_Circuit_Patterns.png">    </p:cNvPr>
          <p:cNvPicPr>
            <a:picLocks noChangeAspect="1"/>
          </p:cNvPicPr>
          <p:nvPr/>
        </p:nvPicPr>
        <p:blipFill>
          <a:blip r:embed="rId1"/>
          <a:srcRect l="111" r="111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A2E38">
                  <a:alpha val="90000"/>
                </a:srgbClr>
              </a:gs>
              <a:gs pos="50000">
                <a:srgbClr val="0A2E38">
                  <a:alpha val="80000"/>
                </a:srgbClr>
              </a:gs>
              <a:gs pos="100000">
                <a:srgbClr val="0A2E38">
                  <a:alpha val="90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223000" y="3238500"/>
            <a:ext cx="3810000" cy="254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2"/>
          <p:cNvSpPr/>
          <p:nvPr/>
        </p:nvSpPr>
        <p:spPr>
          <a:xfrm>
            <a:off x="1778000" y="3492500"/>
            <a:ext cx="1270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b="1" spc="4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ARTIFICIAL INTELLIGENCE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6223000" y="4381500"/>
            <a:ext cx="3810000" cy="254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7" name="Text 4"/>
          <p:cNvSpPr/>
          <p:nvPr/>
        </p:nvSpPr>
        <p:spPr>
          <a:xfrm>
            <a:off x="3048000" y="46355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E8E4D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 6 — Inference Rules &amp; First Order Logic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318000" y="7874000"/>
            <a:ext cx="762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Course Material — Lectures 11 &amp; 12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762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300" kern="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— WEEK 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12065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6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2032000"/>
            <a:ext cx="14732000" cy="127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2540000"/>
            <a:ext cx="1270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56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032000" y="2540000"/>
            <a:ext cx="635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11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032000" y="2984500"/>
            <a:ext cx="762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Inference Rules in Propositional Logic — Contrapositive, Modus Ponens, Modus Tollens, Hypothetical and Disjunctive Syllogism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032000" y="3810000"/>
            <a:ext cx="762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Rule of Contrapositive and Inverse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Introduction to Types of Inference Rules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Modus Ponens and Modus Tollens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Hypothetical and Disjunctive Syllogism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5715000"/>
            <a:ext cx="14732000" cy="127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6223000"/>
            <a:ext cx="1270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56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032000" y="6223000"/>
            <a:ext cx="635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12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032000" y="6667500"/>
            <a:ext cx="762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Additional Inference Rules &amp; First Order Logic — Addition, Simplification, Resolution, and FOL Syntax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032000" y="7493000"/>
            <a:ext cx="762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Addition, Simplification, and Resolution Rules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Introduction to First Order Logic in AI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Syntax of First Order Logic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15" name="Text 13"/>
          <p:cNvSpPr/>
          <p:nvPr/>
        </p:nvSpPr>
        <p:spPr>
          <a:xfrm>
            <a:off x="14732000" y="8826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iluvy7yj7dso6/mnt/agents/output/ai-week6/images/1_Abstract_Teal_Neural_Network_Connection.png">    </p:cNvPr>
          <p:cNvPicPr>
            <a:picLocks noChangeAspect="1"/>
          </p:cNvPicPr>
          <p:nvPr/>
        </p:nvPicPr>
        <p:blipFill>
          <a:blip r:embed="rId1"/>
          <a:srcRect l="111" r="111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A2E38">
                  <a:alpha val="94000"/>
                </a:srgbClr>
              </a:gs>
              <a:gs pos="60000">
                <a:srgbClr val="0A2E38">
                  <a:alpha val="82000"/>
                </a:srgbClr>
              </a:gs>
              <a:gs pos="100000">
                <a:srgbClr val="0A2E38">
                  <a:alpha val="5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1524000"/>
            <a:ext cx="5080000" cy="254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8000" b="1" dirty="0">
                <a:solidFill>
                  <a:srgbClr val="FFFFFF">
                    <a:alpha val="8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016000" y="3556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300" kern="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LECTURE 11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016000" y="4000500"/>
            <a:ext cx="1016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7" name="Text 4"/>
          <p:cNvSpPr/>
          <p:nvPr/>
        </p:nvSpPr>
        <p:spPr>
          <a:xfrm>
            <a:off x="1016000" y="42545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600" b="1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INFERENCE RULES IN PROPOSITIONAL LOGIC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1016000" y="5080000"/>
            <a:ext cx="762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4D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how to derive valid conclusions from premises using formal rules of inference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190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Contrapositive and Inverse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240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Given a conditional statement "If P, then Q" (P → Q), we can derive three related forms: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2095500"/>
            <a:ext cx="3429000" cy="304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2000" y="2095500"/>
            <a:ext cx="3429000" cy="635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2349500"/>
            <a:ext cx="2921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100" kern="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ORIGINAL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794000"/>
            <a:ext cx="2921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 → Q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3365500"/>
            <a:ext cx="292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"If it rains, then the ground is wet"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Logically equivalent to itself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08500" y="2095500"/>
            <a:ext cx="3429000" cy="304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08500" y="2095500"/>
            <a:ext cx="3429000" cy="635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3" name="Text 11"/>
          <p:cNvSpPr/>
          <p:nvPr/>
        </p:nvSpPr>
        <p:spPr>
          <a:xfrm>
            <a:off x="4762500" y="2349500"/>
            <a:ext cx="2921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100" kern="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CONTRAPOSITIVE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62500" y="2794000"/>
            <a:ext cx="2921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¬Q → ¬P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62500" y="3365500"/>
            <a:ext cx="292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"If ground is not wet, then it did not rain"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2D8A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400" b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Equivalent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original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55000" y="2095500"/>
            <a:ext cx="3429000" cy="304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55000" y="2095500"/>
            <a:ext cx="3429000" cy="63500"/>
          </a:xfrm>
          <a:prstGeom prst="rect">
            <a:avLst/>
          </a:prstGeom>
          <a:solidFill>
            <a:srgbClr val="C44536"/>
          </a:solidFill>
          <a:ln/>
        </p:spPr>
      </p:sp>
      <p:sp>
        <p:nvSpPr>
          <p:cNvPr id="18" name="Text 16"/>
          <p:cNvSpPr/>
          <p:nvPr/>
        </p:nvSpPr>
        <p:spPr>
          <a:xfrm>
            <a:off x="8509000" y="2349500"/>
            <a:ext cx="2921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100" kern="0" dirty="0">
                <a:solidFill>
                  <a:srgbClr val="C445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CONVERSE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09000" y="2794000"/>
            <a:ext cx="2921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 → P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09000" y="3365500"/>
            <a:ext cx="292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"If ground is wet, then it rained"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C445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400" b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equivalent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2001500" y="2095500"/>
            <a:ext cx="3429000" cy="304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2001500" y="2095500"/>
            <a:ext cx="3429000" cy="63500"/>
          </a:xfrm>
          <a:prstGeom prst="rect">
            <a:avLst/>
          </a:prstGeom>
          <a:solidFill>
            <a:srgbClr val="C44536"/>
          </a:solidFill>
          <a:ln/>
        </p:spPr>
      </p:sp>
      <p:sp>
        <p:nvSpPr>
          <p:cNvPr id="23" name="Text 21"/>
          <p:cNvSpPr/>
          <p:nvPr/>
        </p:nvSpPr>
        <p:spPr>
          <a:xfrm>
            <a:off x="12255500" y="2349500"/>
            <a:ext cx="2921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100" kern="0" dirty="0">
                <a:solidFill>
                  <a:srgbClr val="C445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INVERSE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255500" y="2794000"/>
            <a:ext cx="2921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¬P → ¬Q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255500" y="3365500"/>
            <a:ext cx="292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"If it does not rain, then ground is not wet"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C445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400" b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equivalent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2000" y="5461000"/>
            <a:ext cx="14732000" cy="1270000"/>
          </a:xfrm>
          <a:prstGeom prst="rect">
            <a:avLst/>
          </a:prstGeom>
          <a:solidFill>
            <a:srgbClr val="0F4C5C">
              <a:alpha val="6275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762000" y="5461000"/>
            <a:ext cx="63500" cy="1270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28" name="Shape 26"/>
          <p:cNvSpPr/>
          <p:nvPr/>
        </p:nvSpPr>
        <p:spPr>
          <a:xfrm>
            <a:off x="1123950" y="57150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9" name="Text 27"/>
          <p:cNvSpPr/>
          <p:nvPr/>
        </p:nvSpPr>
        <p:spPr>
          <a:xfrm>
            <a:off x="1587500" y="56896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587500" y="6096000"/>
            <a:ext cx="13589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contrapositive (¬Q → ¬P) is the only form that preserves logical equivalence with the original statement. Converse and inverse are logical fallacies.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7048500"/>
          <a:ext cx="14732000" cy="1397000"/>
        </p:xfrm>
        <a:graphic>
          <a:graphicData uri="http://schemas.openxmlformats.org/drawingml/2006/table">
            <a:tbl>
              <a:tblPr/>
              <a:tblGrid>
                <a:gridCol w="3683000"/>
                <a:gridCol w="3683000"/>
                <a:gridCol w="3683000"/>
                <a:gridCol w="3683000"/>
              </a:tblGrid>
              <a:tr h="490838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Form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Symbolic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Equivalent to Original?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Validity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453081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Contrapositive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¬Q → ¬P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8A4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Yes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Valid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3081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Converse / Inverse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Q → P / ¬P → ¬Q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C445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Fallacy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  <p:sp>
        <p:nvSpPr>
          <p:cNvPr id="32" name="Shape 29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33" name="Text 30"/>
          <p:cNvSpPr/>
          <p:nvPr/>
        </p:nvSpPr>
        <p:spPr>
          <a:xfrm>
            <a:off x="14732000" y="8826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190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 Types of Inference Rules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87500"/>
            <a:ext cx="6858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What are Inference Rules?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Inference rules are templates for constructing valid arguments. They provide the logical foundation for automated reasoning in AI systems.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Valid Argument Form: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If premises are true, the conclusion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must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be true.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128000" y="1587500"/>
            <a:ext cx="7366000" cy="1397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128000" y="1587500"/>
            <a:ext cx="63500" cy="1397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8" name="Text 6"/>
          <p:cNvSpPr/>
          <p:nvPr/>
        </p:nvSpPr>
        <p:spPr>
          <a:xfrm>
            <a:off x="8382000" y="17145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Rules of Inference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382000" y="2095500"/>
            <a:ext cx="685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Allow deduction of new propositions from existing ones. Constructive rules that extend our knowledge base.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28000" y="3238500"/>
            <a:ext cx="7366000" cy="1397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128000" y="3238500"/>
            <a:ext cx="63500" cy="1397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2" name="Text 10"/>
          <p:cNvSpPr/>
          <p:nvPr/>
        </p:nvSpPr>
        <p:spPr>
          <a:xfrm>
            <a:off x="8382000" y="33655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Rules of Replacement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82000" y="3746500"/>
            <a:ext cx="685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Allow substitution of logically equivalent expressions. Based on logical equivalences like De Morgan's laws.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4953000"/>
            <a:ext cx="14732000" cy="1079500"/>
          </a:xfrm>
          <a:prstGeom prst="rect">
            <a:avLst/>
          </a:prstGeom>
          <a:solidFill>
            <a:srgbClr val="0F4C5C">
              <a:alpha val="6275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62000" y="4953000"/>
            <a:ext cx="63500" cy="10795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16" name="Shape 14"/>
          <p:cNvSpPr/>
          <p:nvPr/>
        </p:nvSpPr>
        <p:spPr>
          <a:xfrm>
            <a:off x="1041400" y="51435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209550" y="0"/>
                </a:moveTo>
                <a:cubicBezTo>
                  <a:pt x="209550" y="-10537"/>
                  <a:pt x="201037" y="-19050"/>
                  <a:pt x="190500" y="-19050"/>
                </a:cubicBezTo>
                <a:cubicBezTo>
                  <a:pt x="179963" y="-19050"/>
                  <a:pt x="171450" y="-10537"/>
                  <a:pt x="171450" y="0"/>
                </a:cubicBezTo>
                <a:lnTo>
                  <a:pt x="171450" y="38100"/>
                </a:lnTo>
                <a:lnTo>
                  <a:pt x="114300" y="38100"/>
                </a:lnTo>
                <a:cubicBezTo>
                  <a:pt x="82748" y="38100"/>
                  <a:pt x="57150" y="63698"/>
                  <a:pt x="57150" y="95250"/>
                </a:cubicBezTo>
                <a:lnTo>
                  <a:pt x="57150" y="228600"/>
                </a:lnTo>
                <a:cubicBezTo>
                  <a:pt x="57150" y="260152"/>
                  <a:pt x="82748" y="285750"/>
                  <a:pt x="114300" y="285750"/>
                </a:cubicBezTo>
                <a:lnTo>
                  <a:pt x="266700" y="285750"/>
                </a:lnTo>
                <a:cubicBezTo>
                  <a:pt x="298252" y="285750"/>
                  <a:pt x="323850" y="260152"/>
                  <a:pt x="323850" y="228600"/>
                </a:cubicBezTo>
                <a:lnTo>
                  <a:pt x="323850" y="95250"/>
                </a:lnTo>
                <a:cubicBezTo>
                  <a:pt x="323850" y="63698"/>
                  <a:pt x="298252" y="38100"/>
                  <a:pt x="266700" y="38100"/>
                </a:cubicBezTo>
                <a:lnTo>
                  <a:pt x="209550" y="38100"/>
                </a:lnTo>
                <a:lnTo>
                  <a:pt x="209550" y="0"/>
                </a:lnTo>
                <a:close/>
                <a:moveTo>
                  <a:pt x="95250" y="219075"/>
                </a:moveTo>
                <a:cubicBezTo>
                  <a:pt x="95250" y="211157"/>
                  <a:pt x="101620" y="204787"/>
                  <a:pt x="109537" y="204787"/>
                </a:cubicBezTo>
                <a:lnTo>
                  <a:pt x="128588" y="204787"/>
                </a:lnTo>
                <a:cubicBezTo>
                  <a:pt x="136505" y="204787"/>
                  <a:pt x="142875" y="211157"/>
                  <a:pt x="142875" y="219075"/>
                </a:cubicBezTo>
                <a:cubicBezTo>
                  <a:pt x="142875" y="226993"/>
                  <a:pt x="136505" y="233363"/>
                  <a:pt x="128588" y="233363"/>
                </a:cubicBezTo>
                <a:lnTo>
                  <a:pt x="109537" y="233363"/>
                </a:lnTo>
                <a:cubicBezTo>
                  <a:pt x="101620" y="233363"/>
                  <a:pt x="95250" y="226993"/>
                  <a:pt x="95250" y="219075"/>
                </a:cubicBezTo>
                <a:close/>
                <a:moveTo>
                  <a:pt x="166688" y="219075"/>
                </a:moveTo>
                <a:cubicBezTo>
                  <a:pt x="166688" y="211157"/>
                  <a:pt x="173057" y="204787"/>
                  <a:pt x="180975" y="204787"/>
                </a:cubicBezTo>
                <a:lnTo>
                  <a:pt x="200025" y="204787"/>
                </a:lnTo>
                <a:cubicBezTo>
                  <a:pt x="207943" y="204787"/>
                  <a:pt x="214313" y="211157"/>
                  <a:pt x="214313" y="219075"/>
                </a:cubicBezTo>
                <a:cubicBezTo>
                  <a:pt x="214313" y="226993"/>
                  <a:pt x="207943" y="233363"/>
                  <a:pt x="200025" y="233363"/>
                </a:cubicBezTo>
                <a:lnTo>
                  <a:pt x="180975" y="233363"/>
                </a:lnTo>
                <a:cubicBezTo>
                  <a:pt x="173057" y="233363"/>
                  <a:pt x="166688" y="226993"/>
                  <a:pt x="166688" y="219075"/>
                </a:cubicBezTo>
                <a:close/>
                <a:moveTo>
                  <a:pt x="238125" y="219075"/>
                </a:moveTo>
                <a:cubicBezTo>
                  <a:pt x="238125" y="211157"/>
                  <a:pt x="244495" y="204787"/>
                  <a:pt x="252413" y="204787"/>
                </a:cubicBezTo>
                <a:lnTo>
                  <a:pt x="271463" y="204787"/>
                </a:lnTo>
                <a:cubicBezTo>
                  <a:pt x="279380" y="204787"/>
                  <a:pt x="285750" y="211157"/>
                  <a:pt x="285750" y="219075"/>
                </a:cubicBezTo>
                <a:cubicBezTo>
                  <a:pt x="285750" y="226993"/>
                  <a:pt x="279380" y="233363"/>
                  <a:pt x="271463" y="233363"/>
                </a:cubicBezTo>
                <a:lnTo>
                  <a:pt x="252413" y="233363"/>
                </a:lnTo>
                <a:cubicBezTo>
                  <a:pt x="244495" y="233363"/>
                  <a:pt x="238125" y="226993"/>
                  <a:pt x="238125" y="219075"/>
                </a:cubicBezTo>
                <a:close/>
                <a:moveTo>
                  <a:pt x="133350" y="104775"/>
                </a:moveTo>
                <a:cubicBezTo>
                  <a:pt x="149121" y="104775"/>
                  <a:pt x="161925" y="117579"/>
                  <a:pt x="161925" y="133350"/>
                </a:cubicBezTo>
                <a:cubicBezTo>
                  <a:pt x="161925" y="149121"/>
                  <a:pt x="149121" y="161925"/>
                  <a:pt x="133350" y="161925"/>
                </a:cubicBezTo>
                <a:cubicBezTo>
                  <a:pt x="117579" y="161925"/>
                  <a:pt x="104775" y="149121"/>
                  <a:pt x="104775" y="133350"/>
                </a:cubicBezTo>
                <a:cubicBezTo>
                  <a:pt x="104775" y="117579"/>
                  <a:pt x="117579" y="104775"/>
                  <a:pt x="133350" y="104775"/>
                </a:cubicBezTo>
                <a:close/>
                <a:moveTo>
                  <a:pt x="219075" y="133350"/>
                </a:moveTo>
                <a:cubicBezTo>
                  <a:pt x="219075" y="117579"/>
                  <a:pt x="231879" y="104775"/>
                  <a:pt x="247650" y="104775"/>
                </a:cubicBezTo>
                <a:cubicBezTo>
                  <a:pt x="263421" y="104775"/>
                  <a:pt x="276225" y="117579"/>
                  <a:pt x="276225" y="133350"/>
                </a:cubicBezTo>
                <a:cubicBezTo>
                  <a:pt x="276225" y="149121"/>
                  <a:pt x="263421" y="161925"/>
                  <a:pt x="247650" y="161925"/>
                </a:cubicBezTo>
                <a:cubicBezTo>
                  <a:pt x="231879" y="161925"/>
                  <a:pt x="219075" y="149121"/>
                  <a:pt x="219075" y="133350"/>
                </a:cubicBezTo>
                <a:close/>
                <a:moveTo>
                  <a:pt x="38100" y="133350"/>
                </a:moveTo>
                <a:cubicBezTo>
                  <a:pt x="38100" y="122813"/>
                  <a:pt x="29587" y="114300"/>
                  <a:pt x="19050" y="114300"/>
                </a:cubicBezTo>
                <a:cubicBezTo>
                  <a:pt x="8513" y="114300"/>
                  <a:pt x="0" y="122813"/>
                  <a:pt x="0" y="133350"/>
                </a:cubicBezTo>
                <a:lnTo>
                  <a:pt x="0" y="190500"/>
                </a:lnTo>
                <a:cubicBezTo>
                  <a:pt x="0" y="201037"/>
                  <a:pt x="8513" y="209550"/>
                  <a:pt x="19050" y="209550"/>
                </a:cubicBezTo>
                <a:cubicBezTo>
                  <a:pt x="29587" y="209550"/>
                  <a:pt x="38100" y="201037"/>
                  <a:pt x="38100" y="190500"/>
                </a:cubicBezTo>
                <a:lnTo>
                  <a:pt x="38100" y="133350"/>
                </a:lnTo>
                <a:close/>
                <a:moveTo>
                  <a:pt x="361950" y="114300"/>
                </a:moveTo>
                <a:cubicBezTo>
                  <a:pt x="351413" y="114300"/>
                  <a:pt x="342900" y="122813"/>
                  <a:pt x="342900" y="133350"/>
                </a:cubicBezTo>
                <a:lnTo>
                  <a:pt x="342900" y="190500"/>
                </a:lnTo>
                <a:cubicBezTo>
                  <a:pt x="342900" y="201037"/>
                  <a:pt x="351413" y="209550"/>
                  <a:pt x="361950" y="209550"/>
                </a:cubicBezTo>
                <a:cubicBezTo>
                  <a:pt x="372487" y="209550"/>
                  <a:pt x="381000" y="201037"/>
                  <a:pt x="381000" y="190500"/>
                </a:cubicBezTo>
                <a:lnTo>
                  <a:pt x="381000" y="133350"/>
                </a:lnTo>
                <a:cubicBezTo>
                  <a:pt x="381000" y="122813"/>
                  <a:pt x="372487" y="114300"/>
                  <a:pt x="361950" y="114300"/>
                </a:cubicBez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17" name="Text 15"/>
          <p:cNvSpPr/>
          <p:nvPr/>
        </p:nvSpPr>
        <p:spPr>
          <a:xfrm>
            <a:off x="1524000" y="51181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Importance in AI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24000" y="5486400"/>
            <a:ext cx="13716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Knowledge bases use inference rules to derive new facts from known facts — the core mechanism of automated reasoning.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2000" y="6350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Rules of Inference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6858000"/>
          <a:ext cx="14732000" cy="1651000"/>
        </p:xfrm>
        <a:graphic>
          <a:graphicData uri="http://schemas.openxmlformats.org/drawingml/2006/table">
            <a:tbl>
              <a:tblPr/>
              <a:tblGrid>
                <a:gridCol w="3241040"/>
                <a:gridCol w="5598160"/>
                <a:gridCol w="5892800"/>
              </a:tblGrid>
              <a:tr h="460744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Rule Name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Structure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Description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396752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Modus Ponens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(P → Q) ∧ P ⊢ Q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Affirming the antecedent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752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Modus Tollens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(P → Q) ∧ ¬Q ⊢ ¬P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Denying the consequent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396752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Resolution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(P ∨ Q) ∧ (¬P ∨ R) ⊢ (Q ∨ R)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Cancellation of complements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22" name="Text 19"/>
          <p:cNvSpPr/>
          <p:nvPr/>
        </p:nvSpPr>
        <p:spPr>
          <a:xfrm>
            <a:off x="14732000" y="8826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190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Modus Ponens — Introduction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87500"/>
            <a:ext cx="63500" cy="3937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1587500"/>
            <a:ext cx="6858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8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Modus Ponens</a:t>
            </a:r>
            <a:pPr>
              <a:lnSpc>
                <a:spcPct val="155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55000"/>
              </a:lnSpc>
            </a:pPr>
            <a:r>
              <a:rPr lang="en-US" sz="16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(Latin: "mode that affirms")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One of the most fundamental inference rules in logic. If the implication P → Q holds and P is true, then Q must necessarily be true.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Formal Notation: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(P → Q) ∧ P ⊢ Q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Also Known As:</a:t>
            </a:r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Affirming the antecedent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Application:</a:t>
            </a:r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Foundation of forward chaining in expert systems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36000" y="1587500"/>
            <a:ext cx="6858000" cy="3937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890000" y="1714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spc="100" kern="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LOGICAL FLOW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0" y="2286000"/>
            <a:ext cx="2794000" cy="6350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0" y="2286000"/>
            <a:ext cx="279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Premise 1: P → Q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541000" y="2921000"/>
            <a:ext cx="0" cy="508000"/>
          </a:xfrm>
          <a:prstGeom prst="straightConnector1">
            <a:avLst/>
          </a:prstGeom>
          <a:noFill/>
          <a:ln w="25400">
            <a:solidFill>
              <a:srgbClr val="6B7B8D"/>
            </a:solidFill>
            <a:prstDash val="solid"/>
            <a:headEnd type="none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9144000" y="3492500"/>
            <a:ext cx="2794000" cy="6350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0" y="3492500"/>
            <a:ext cx="279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Premise 2: P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1938000" y="2921000"/>
            <a:ext cx="0" cy="1714500"/>
          </a:xfrm>
          <a:prstGeom prst="straightConnector1">
            <a:avLst/>
          </a:prstGeom>
          <a:noFill/>
          <a:ln w="25400">
            <a:solidFill>
              <a:srgbClr val="6B7B8D"/>
            </a:solidFill>
            <a:prstDash val="solid"/>
            <a:headEnd type="none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11849100" y="4635500"/>
            <a:ext cx="177800" cy="177800"/>
          </a:xfrm>
          <a:prstGeom prst="ellipse">
            <a:avLst/>
          </a:prstGeom>
          <a:solidFill>
            <a:srgbClr val="D4943A"/>
          </a:solidFill>
          <a:ln/>
        </p:spPr>
      </p:sp>
      <p:sp>
        <p:nvSpPr>
          <p:cNvPr id="16" name="Shape 14"/>
          <p:cNvSpPr/>
          <p:nvPr/>
        </p:nvSpPr>
        <p:spPr>
          <a:xfrm>
            <a:off x="11938000" y="4318000"/>
            <a:ext cx="0" cy="508000"/>
          </a:xfrm>
          <a:prstGeom prst="straightConnector1">
            <a:avLst/>
          </a:prstGeom>
          <a:noFill/>
          <a:ln w="25400">
            <a:solidFill>
              <a:srgbClr val="D4943A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9144000" y="4826000"/>
            <a:ext cx="2794000" cy="635000"/>
          </a:xfrm>
          <a:prstGeom prst="roundRect">
            <a:avLst>
              <a:gd name="adj" fmla="val 8000"/>
            </a:avLst>
          </a:prstGeom>
          <a:solidFill>
            <a:srgbClr val="D4943A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0" y="4826000"/>
            <a:ext cx="279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Conclusion: Q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5842000"/>
            <a:ext cx="14732000" cy="1270000"/>
          </a:xfrm>
          <a:prstGeom prst="rect">
            <a:avLst/>
          </a:prstGeom>
          <a:solidFill>
            <a:srgbClr val="0F4C5C">
              <a:alpha val="6275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62000" y="5842000"/>
            <a:ext cx="63500" cy="1270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21" name="Shape 19"/>
          <p:cNvSpPr/>
          <p:nvPr/>
        </p:nvSpPr>
        <p:spPr>
          <a:xfrm>
            <a:off x="1079500" y="6032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/>
            </a:pathLst>
          </a:custGeom>
          <a:solidFill>
            <a:srgbClr val="D4943A"/>
          </a:solidFill>
          <a:ln/>
        </p:spPr>
      </p:sp>
      <p:sp>
        <p:nvSpPr>
          <p:cNvPr id="22" name="Text 20"/>
          <p:cNvSpPr/>
          <p:nvPr/>
        </p:nvSpPr>
        <p:spPr>
          <a:xfrm>
            <a:off x="1524000" y="60071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24000" y="6388100"/>
            <a:ext cx="1371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Premise 1: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If it is raining, then the streets are wet.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Premise 2: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It is raining.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Therefore, the streets are wet.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25" name="Text 23"/>
          <p:cNvSpPr/>
          <p:nvPr/>
        </p:nvSpPr>
        <p:spPr>
          <a:xfrm>
            <a:off x="14732000" y="8826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190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Modus Ponens — Truth Table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98600"/>
            <a:ext cx="147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truth table verifies that Modus Ponens is a valid inference rule — the conclusion Q is always true when both premises are true.</a:t>
            </a:r>
            <a:endParaRPr lang="en-US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40000" y="2095500"/>
          <a:ext cx="11176000" cy="2374900"/>
        </p:xfrm>
        <a:graphic>
          <a:graphicData uri="http://schemas.openxmlformats.org/drawingml/2006/table">
            <a:tbl>
              <a:tblPr/>
              <a:tblGrid>
                <a:gridCol w="1564640"/>
                <a:gridCol w="1564640"/>
                <a:gridCol w="2011680"/>
                <a:gridCol w="2458720"/>
                <a:gridCol w="1788160"/>
                <a:gridCol w="1788160"/>
              </a:tblGrid>
              <a:tr h="505298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Q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 → Q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(P → Q) ∧ P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Q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Valid?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467401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8A4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✓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7401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467401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7401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540000" y="5715000"/>
            <a:ext cx="11176000" cy="889000"/>
          </a:xfrm>
          <a:prstGeom prst="rect">
            <a:avLst/>
          </a:prstGeom>
          <a:solidFill>
            <a:srgbClr val="0F4C5C">
              <a:alpha val="6275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2540000" y="5715000"/>
            <a:ext cx="63500" cy="889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9" name="Text 6"/>
          <p:cNvSpPr/>
          <p:nvPr/>
        </p:nvSpPr>
        <p:spPr>
          <a:xfrm>
            <a:off x="2857500" y="5842000"/>
            <a:ext cx="1054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Tautology: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((P → Q) ∧ P) → Q is always true, confirming Modus Ponens is valid.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62000" y="6921500"/>
            <a:ext cx="14732000" cy="1524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079500" y="7048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Observations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79500" y="7467600"/>
            <a:ext cx="1409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Only Row 1 has both premises true, and the conclusion Q is also true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all other rows, at least one premise is false — no conclusion is required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14" name="Text 11"/>
          <p:cNvSpPr/>
          <p:nvPr/>
        </p:nvSpPr>
        <p:spPr>
          <a:xfrm>
            <a:off x="14732000" y="8826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190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Modus Tollens — Introduction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87500"/>
            <a:ext cx="63500" cy="3937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1587500"/>
            <a:ext cx="6858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8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Modus Tollens</a:t>
            </a:r>
            <a:pPr>
              <a:lnSpc>
                <a:spcPct val="155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55000"/>
              </a:lnSpc>
            </a:pPr>
            <a:r>
              <a:rPr lang="en-US" sz="16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(Latin: "mode that denies")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If the implication P → Q holds and Q is false, then P must also be false. This is the contrapositive form of reasoning.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Formal Notation: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(P → Q) ∧ ¬Q ⊢ ¬P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Also Known As:</a:t>
            </a:r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Denying the consequent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Related Concept:</a:t>
            </a:r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Closely related to proof by contradiction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36000" y="1587500"/>
            <a:ext cx="6858000" cy="3937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890000" y="1714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spc="100" kern="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LOGICAL FLOW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0" y="2286000"/>
            <a:ext cx="2794000" cy="6350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0" y="2286000"/>
            <a:ext cx="279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Premise 1: P → Q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541000" y="2921000"/>
            <a:ext cx="0" cy="508000"/>
          </a:xfrm>
          <a:prstGeom prst="straightConnector1">
            <a:avLst/>
          </a:prstGeom>
          <a:noFill/>
          <a:ln w="25400">
            <a:solidFill>
              <a:srgbClr val="6B7B8D"/>
            </a:solidFill>
            <a:prstDash val="solid"/>
            <a:headEnd type="none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9144000" y="3492500"/>
            <a:ext cx="2794000" cy="6350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0" y="3492500"/>
            <a:ext cx="279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Premise 2: ¬Q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1938000" y="2921000"/>
            <a:ext cx="0" cy="1714500"/>
          </a:xfrm>
          <a:prstGeom prst="straightConnector1">
            <a:avLst/>
          </a:prstGeom>
          <a:noFill/>
          <a:ln w="25400">
            <a:solidFill>
              <a:srgbClr val="6B7B8D"/>
            </a:solidFill>
            <a:prstDash val="solid"/>
            <a:headEnd type="none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11849100" y="4635500"/>
            <a:ext cx="177800" cy="177800"/>
          </a:xfrm>
          <a:prstGeom prst="ellipse">
            <a:avLst/>
          </a:prstGeom>
          <a:solidFill>
            <a:srgbClr val="D4943A"/>
          </a:solidFill>
          <a:ln/>
        </p:spPr>
      </p:sp>
      <p:sp>
        <p:nvSpPr>
          <p:cNvPr id="16" name="Shape 14"/>
          <p:cNvSpPr/>
          <p:nvPr/>
        </p:nvSpPr>
        <p:spPr>
          <a:xfrm>
            <a:off x="11938000" y="4318000"/>
            <a:ext cx="0" cy="508000"/>
          </a:xfrm>
          <a:prstGeom prst="straightConnector1">
            <a:avLst/>
          </a:prstGeom>
          <a:noFill/>
          <a:ln w="25400">
            <a:solidFill>
              <a:srgbClr val="D4943A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9144000" y="4826000"/>
            <a:ext cx="2794000" cy="635000"/>
          </a:xfrm>
          <a:prstGeom prst="roundRect">
            <a:avLst>
              <a:gd name="adj" fmla="val 8000"/>
            </a:avLst>
          </a:prstGeom>
          <a:solidFill>
            <a:srgbClr val="D4943A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0" y="4826000"/>
            <a:ext cx="279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Conclusion: ¬P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5842000"/>
            <a:ext cx="14732000" cy="1270000"/>
          </a:xfrm>
          <a:prstGeom prst="rect">
            <a:avLst/>
          </a:prstGeom>
          <a:solidFill>
            <a:srgbClr val="0F4C5C">
              <a:alpha val="6275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62000" y="5842000"/>
            <a:ext cx="63500" cy="1270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21" name="Text 19"/>
          <p:cNvSpPr/>
          <p:nvPr/>
        </p:nvSpPr>
        <p:spPr>
          <a:xfrm>
            <a:off x="1079500" y="59690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79500" y="6350000"/>
            <a:ext cx="140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Premise 1: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If it is raining, then the streets are wet.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Premise 2: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streets are not wet.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Therefore, it is not raining.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24" name="Text 22"/>
          <p:cNvSpPr/>
          <p:nvPr/>
        </p:nvSpPr>
        <p:spPr>
          <a:xfrm>
            <a:off x="14732000" y="8826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190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Modus Tollens — Truth Table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98600"/>
            <a:ext cx="147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truth table verifies Modus Tollens — when both premises (P → Q and ¬Q) are true, the conclusion ¬P must be true.</a:t>
            </a:r>
            <a:endParaRPr lang="en-US" sz="1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778000" y="2095500"/>
          <a:ext cx="12700000" cy="2374900"/>
        </p:xfrm>
        <a:graphic>
          <a:graphicData uri="http://schemas.openxmlformats.org/drawingml/2006/table">
            <a:tbl>
              <a:tblPr/>
              <a:tblGrid>
                <a:gridCol w="1270000"/>
                <a:gridCol w="1270000"/>
                <a:gridCol w="1778000"/>
                <a:gridCol w="1524000"/>
                <a:gridCol w="2540000"/>
                <a:gridCol w="1778000"/>
                <a:gridCol w="2540000"/>
              </a:tblGrid>
              <a:tr h="505298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Q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 → Q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¬Q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(P → Q) ∧ ¬Q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¬P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Valid?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467401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7401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467401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7401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8A4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✓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1778000" y="5715000"/>
            <a:ext cx="12700000" cy="889000"/>
          </a:xfrm>
          <a:prstGeom prst="rect">
            <a:avLst/>
          </a:prstGeom>
          <a:solidFill>
            <a:srgbClr val="0F4C5C">
              <a:alpha val="6275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1778000" y="5715000"/>
            <a:ext cx="63500" cy="889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9" name="Text 6"/>
          <p:cNvSpPr/>
          <p:nvPr/>
        </p:nvSpPr>
        <p:spPr>
          <a:xfrm>
            <a:off x="2095500" y="5842000"/>
            <a:ext cx="1206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Tautology: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((P → Q) ∧ ¬Q) → ¬P is always true, confirming Modus Tollens is valid.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62000" y="6921500"/>
            <a:ext cx="14732000" cy="1524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079500" y="7048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Modus Ponens vs. Modus Tollens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79500" y="7467600"/>
            <a:ext cx="1409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Modus Ponens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affirms the antecedent: (P → Q) ∧ P ⊢ Q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Modus Tollens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denies the consequent: (P → Q) ∧ ¬Q ⊢ ¬P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14" name="Text 11"/>
          <p:cNvSpPr/>
          <p:nvPr/>
        </p:nvSpPr>
        <p:spPr>
          <a:xfrm>
            <a:off x="14732000" y="8826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09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190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Hypothetical Syllogism — Introduction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87500"/>
            <a:ext cx="63500" cy="3937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1587500"/>
            <a:ext cx="6858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8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Hypothetical Syllogism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Chain reasoning with conditionals. If P implies Q, and Q implies R, then P implies R. Analogous to the transitive property in mathematics.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Formal Notation: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(P → Q) ∧ (Q → R) ⊢ (P → R)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Property:</a:t>
            </a:r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Transitive reasoning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Application:</a:t>
            </a:r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Multi-step reasoning chains in expert systems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36000" y="1587500"/>
            <a:ext cx="6858000" cy="3937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890000" y="1714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spc="100" kern="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CHAIN REASONING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271000" y="2349500"/>
            <a:ext cx="1016000" cy="571500"/>
          </a:xfrm>
          <a:prstGeom prst="roundRect">
            <a:avLst>
              <a:gd name="adj" fmla="val 10000"/>
            </a:avLst>
          </a:prstGeom>
          <a:solidFill>
            <a:srgbClr val="0F4C5C"/>
          </a:solidFill>
          <a:ln/>
        </p:spPr>
      </p:sp>
      <p:sp>
        <p:nvSpPr>
          <p:cNvPr id="10" name="Text 8"/>
          <p:cNvSpPr/>
          <p:nvPr/>
        </p:nvSpPr>
        <p:spPr>
          <a:xfrm>
            <a:off x="9271000" y="2349500"/>
            <a:ext cx="1016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287000" y="2628900"/>
            <a:ext cx="1016000" cy="0"/>
          </a:xfrm>
          <a:prstGeom prst="straightConnector1">
            <a:avLst/>
          </a:prstGeom>
          <a:noFill/>
          <a:ln w="25400">
            <a:solidFill>
              <a:srgbClr val="6B7B8D"/>
            </a:solidFill>
            <a:prstDash val="solid"/>
            <a:headEnd type="none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11303000" y="2349500"/>
            <a:ext cx="1016000" cy="571500"/>
          </a:xfrm>
          <a:prstGeom prst="roundRect">
            <a:avLst>
              <a:gd name="adj" fmla="val 10000"/>
            </a:avLst>
          </a:prstGeom>
          <a:solidFill>
            <a:srgbClr val="0F4C5C"/>
          </a:solidFill>
          <a:ln/>
        </p:spPr>
      </p:sp>
      <p:sp>
        <p:nvSpPr>
          <p:cNvPr id="13" name="Text 11"/>
          <p:cNvSpPr/>
          <p:nvPr/>
        </p:nvSpPr>
        <p:spPr>
          <a:xfrm>
            <a:off x="11303000" y="2349500"/>
            <a:ext cx="1016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2319000" y="2628900"/>
            <a:ext cx="1016000" cy="0"/>
          </a:xfrm>
          <a:prstGeom prst="straightConnector1">
            <a:avLst/>
          </a:prstGeom>
          <a:noFill/>
          <a:ln w="25400">
            <a:solidFill>
              <a:srgbClr val="6B7B8D"/>
            </a:solidFill>
            <a:prstDash val="solid"/>
            <a:headEnd type="none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13335000" y="2349500"/>
            <a:ext cx="1016000" cy="571500"/>
          </a:xfrm>
          <a:prstGeom prst="roundRect">
            <a:avLst>
              <a:gd name="adj" fmla="val 10000"/>
            </a:avLst>
          </a:prstGeom>
          <a:solidFill>
            <a:srgbClr val="0F4C5C"/>
          </a:solidFill>
          <a:ln/>
        </p:spPr>
      </p:sp>
      <p:sp>
        <p:nvSpPr>
          <p:cNvPr id="16" name="Text 14"/>
          <p:cNvSpPr/>
          <p:nvPr/>
        </p:nvSpPr>
        <p:spPr>
          <a:xfrm>
            <a:off x="13335000" y="2349500"/>
            <a:ext cx="1016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287000" y="27305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 → Q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19000" y="27305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 → 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779000" y="3302000"/>
            <a:ext cx="4064000" cy="762000"/>
          </a:xfrm>
          <a:prstGeom prst="straightConnector1">
            <a:avLst/>
          </a:prstGeom>
          <a:noFill/>
          <a:ln w="25400">
            <a:solidFill>
              <a:srgbClr val="D4943A"/>
            </a:solidFill>
            <a:prstDash val="solid"/>
            <a:headEnd type="none"/>
            <a:tailEnd type="arrow"/>
          </a:ln>
        </p:spPr>
      </p:sp>
      <p:sp>
        <p:nvSpPr>
          <p:cNvPr id="20" name="Text 18"/>
          <p:cNvSpPr/>
          <p:nvPr/>
        </p:nvSpPr>
        <p:spPr>
          <a:xfrm>
            <a:off x="10668000" y="3429000"/>
            <a:ext cx="228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Therefore: P → R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5842000"/>
            <a:ext cx="14732000" cy="1270000"/>
          </a:xfrm>
          <a:prstGeom prst="rect">
            <a:avLst/>
          </a:prstGeom>
          <a:solidFill>
            <a:srgbClr val="0F4C5C">
              <a:alpha val="6275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62000" y="5842000"/>
            <a:ext cx="63500" cy="1270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23" name="Text 21"/>
          <p:cNvSpPr/>
          <p:nvPr/>
        </p:nvSpPr>
        <p:spPr>
          <a:xfrm>
            <a:off x="1079500" y="59690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79500" y="6350000"/>
            <a:ext cx="140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Premise 1: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If it rains, the ground gets wet.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Premise 2: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If the ground gets wet, plants grow faster.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If it rains, plants grow faster.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26" name="Text 24"/>
          <p:cNvSpPr/>
          <p:nvPr/>
        </p:nvSpPr>
        <p:spPr>
          <a:xfrm>
            <a:off x="14732000" y="8826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190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Hypothetical Syllogism — Truth Table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60500"/>
            <a:ext cx="147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With three variables (P, Q, R), there are 8 rows. The rule is valid when premises are true, conclusion P → R is also true.</a:t>
            </a:r>
            <a:endParaRPr lang="en-US" sz="1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6000" y="2032000"/>
          <a:ext cx="14224000" cy="4064000"/>
        </p:xfrm>
        <a:graphic>
          <a:graphicData uri="http://schemas.openxmlformats.org/drawingml/2006/table">
            <a:tbl>
              <a:tblPr/>
              <a:tblGrid>
                <a:gridCol w="1778000"/>
                <a:gridCol w="1778000"/>
                <a:gridCol w="1778000"/>
                <a:gridCol w="1778000"/>
                <a:gridCol w="1778000"/>
                <a:gridCol w="1778000"/>
                <a:gridCol w="1778000"/>
                <a:gridCol w="1778000"/>
              </a:tblGrid>
              <a:tr h="440372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Q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 → Q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Q → R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(P→Q)∧(Q→R)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 → R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Valid?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452954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8A4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✓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2954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452954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2954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452954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8A4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✓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2954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452954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8A4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✓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2954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8A4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✓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1016000" y="6350000"/>
            <a:ext cx="14224000" cy="889000"/>
          </a:xfrm>
          <a:prstGeom prst="rect">
            <a:avLst/>
          </a:prstGeom>
          <a:solidFill>
            <a:srgbClr val="0F4C5C">
              <a:alpha val="6275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1016000" y="6350000"/>
            <a:ext cx="63500" cy="889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9" name="Text 6"/>
          <p:cNvSpPr/>
          <p:nvPr/>
        </p:nvSpPr>
        <p:spPr>
          <a:xfrm>
            <a:off x="1333500" y="6477000"/>
            <a:ext cx="1358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Tautology: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((P → Q) ∧ (Q → R)) → (P → R) is always true — conditional chains preserve truth.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16000" y="7493000"/>
            <a:ext cx="142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Hypothetical Syllogism is the foundation for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rule chaining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expert systems and knowledge bases, where multiple if-then rules are linked to derive conclusions.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12" name="Text 9"/>
          <p:cNvSpPr/>
          <p:nvPr/>
        </p:nvSpPr>
        <p:spPr>
          <a:xfrm>
            <a:off x="14732000" y="8826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190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Disjunctive Syllogism — Introduction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87500"/>
            <a:ext cx="63500" cy="3937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1587500"/>
            <a:ext cx="6858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8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Disjunctive Syllogism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Reasoning with disjunctions. If P or Q is true, and P is false, then Q must be true. This is the process of elimination.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Formal Notation: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(P ∨ Q) ∧ ¬P ⊢ Q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Also Known As:</a:t>
            </a:r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Process of elimination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Application:</a:t>
            </a:r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Case-based reasoning and decision making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36000" y="1587500"/>
            <a:ext cx="6858000" cy="3937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890000" y="1714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spc="100" kern="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ELIMINATION PROCESS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398000" y="2349500"/>
            <a:ext cx="3302000" cy="6350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/>
        </p:spPr>
      </p:sp>
      <p:sp>
        <p:nvSpPr>
          <p:cNvPr id="10" name="Text 8"/>
          <p:cNvSpPr/>
          <p:nvPr/>
        </p:nvSpPr>
        <p:spPr>
          <a:xfrm>
            <a:off x="9398000" y="2349500"/>
            <a:ext cx="330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Premise 1: P ∨ Q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049000" y="2984500"/>
            <a:ext cx="0" cy="508000"/>
          </a:xfrm>
          <a:prstGeom prst="straightConnector1">
            <a:avLst/>
          </a:prstGeom>
          <a:noFill/>
          <a:ln w="25400">
            <a:solidFill>
              <a:srgbClr val="6B7B8D"/>
            </a:solidFill>
            <a:prstDash val="solid"/>
            <a:headEnd type="none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9398000" y="3556000"/>
            <a:ext cx="3302000" cy="635000"/>
          </a:xfrm>
          <a:prstGeom prst="roundRect">
            <a:avLst>
              <a:gd name="adj" fmla="val 8000"/>
            </a:avLst>
          </a:prstGeom>
          <a:solidFill>
            <a:srgbClr val="C44536"/>
          </a:solidFill>
          <a:ln/>
        </p:spPr>
      </p:sp>
      <p:sp>
        <p:nvSpPr>
          <p:cNvPr id="13" name="Text 11"/>
          <p:cNvSpPr/>
          <p:nvPr/>
        </p:nvSpPr>
        <p:spPr>
          <a:xfrm>
            <a:off x="9398000" y="3556000"/>
            <a:ext cx="330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Premise 2: ¬P (eliminate P)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1049000" y="4191000"/>
            <a:ext cx="0" cy="635000"/>
          </a:xfrm>
          <a:prstGeom prst="straightConnector1">
            <a:avLst/>
          </a:prstGeom>
          <a:noFill/>
          <a:ln w="25400">
            <a:solidFill>
              <a:srgbClr val="D4943A"/>
            </a:solidFill>
            <a:prstDash val="solid"/>
            <a:headEnd type="none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9398000" y="4889500"/>
            <a:ext cx="3302000" cy="635000"/>
          </a:xfrm>
          <a:prstGeom prst="roundRect">
            <a:avLst>
              <a:gd name="adj" fmla="val 8000"/>
            </a:avLst>
          </a:prstGeom>
          <a:solidFill>
            <a:srgbClr val="D4943A"/>
          </a:solidFill>
          <a:ln/>
        </p:spPr>
      </p:sp>
      <p:sp>
        <p:nvSpPr>
          <p:cNvPr id="16" name="Text 14"/>
          <p:cNvSpPr/>
          <p:nvPr/>
        </p:nvSpPr>
        <p:spPr>
          <a:xfrm>
            <a:off x="9398000" y="4889500"/>
            <a:ext cx="330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Conclusion: Q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27000" y="36830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C445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27000" y="50165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2D8A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5842000"/>
            <a:ext cx="14732000" cy="1270000"/>
          </a:xfrm>
          <a:prstGeom prst="rect">
            <a:avLst/>
          </a:prstGeom>
          <a:solidFill>
            <a:srgbClr val="0F4C5C">
              <a:alpha val="6275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62000" y="5842000"/>
            <a:ext cx="63500" cy="1270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21" name="Text 19"/>
          <p:cNvSpPr/>
          <p:nvPr/>
        </p:nvSpPr>
        <p:spPr>
          <a:xfrm>
            <a:off x="1079500" y="59690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79500" y="6350000"/>
            <a:ext cx="140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Premise 1: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meeting is on Monday or Tuesday.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Premise 2: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meeting is not on Monday.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meeting is on Tuesday.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24" name="Text 22"/>
          <p:cNvSpPr/>
          <p:nvPr/>
        </p:nvSpPr>
        <p:spPr>
          <a:xfrm>
            <a:off x="14732000" y="8826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190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Disjunctive Syllogism — Truth Table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98600"/>
            <a:ext cx="147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truth table confirms Disjunctive Syllogism — when both premises (P ∨ Q and ¬P) are true, Q must be true.</a:t>
            </a:r>
            <a:endParaRPr lang="en-US" sz="1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40000" y="2095500"/>
          <a:ext cx="11176000" cy="2374900"/>
        </p:xfrm>
        <a:graphic>
          <a:graphicData uri="http://schemas.openxmlformats.org/drawingml/2006/table">
            <a:tbl>
              <a:tblPr/>
              <a:tblGrid>
                <a:gridCol w="1341120"/>
                <a:gridCol w="1341120"/>
                <a:gridCol w="1788160"/>
                <a:gridCol w="1564640"/>
                <a:gridCol w="2235200"/>
                <a:gridCol w="1341120"/>
                <a:gridCol w="1564640"/>
              </a:tblGrid>
              <a:tr h="505298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Q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 ∨ Q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¬P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(P ∨ Q) ∧ ¬P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Q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Valid?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467401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7401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467401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8A4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✓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7401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540000" y="5715000"/>
            <a:ext cx="11176000" cy="889000"/>
          </a:xfrm>
          <a:prstGeom prst="rect">
            <a:avLst/>
          </a:prstGeom>
          <a:solidFill>
            <a:srgbClr val="0F4C5C">
              <a:alpha val="6275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2540000" y="5715000"/>
            <a:ext cx="63500" cy="889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9" name="Text 6"/>
          <p:cNvSpPr/>
          <p:nvPr/>
        </p:nvSpPr>
        <p:spPr>
          <a:xfrm>
            <a:off x="2857500" y="5842000"/>
            <a:ext cx="1054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Tautology: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((P ∨ Q) ∧ ¬P) → Q is always true, confirming the rule's validity.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62000" y="6921500"/>
            <a:ext cx="14732000" cy="1524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079500" y="7048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Application — Diagnostic Reasoning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79500" y="7467600"/>
            <a:ext cx="1409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Disjunctive Syllogism is the core mechanism in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diagnostic reasoning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troubleshooting systems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Medical diagnosis: "The patient has disease A or B. Test for A is negative. Therefore, disease B."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14" name="Text 11"/>
          <p:cNvSpPr/>
          <p:nvPr/>
        </p:nvSpPr>
        <p:spPr>
          <a:xfrm>
            <a:off x="14732000" y="8826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190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11 —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D4943A"/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587500"/>
          <a:ext cx="14732000" cy="3149600"/>
        </p:xfrm>
        <a:graphic>
          <a:graphicData uri="http://schemas.openxmlformats.org/drawingml/2006/table">
            <a:tbl>
              <a:tblPr/>
              <a:tblGrid>
                <a:gridCol w="3241040"/>
                <a:gridCol w="4419600"/>
                <a:gridCol w="4124960"/>
                <a:gridCol w="2946400"/>
              </a:tblGrid>
              <a:tr h="524933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Rule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Structure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Description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Type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524933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Contrapositive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¬Q → ¬P ≡ P → Q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Equivalent form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8A4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Equivalence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4933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Modus Ponens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(P → Q) ∧ P ⊢ Q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Affirming antecedent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4C5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Inference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524933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Modus Tollens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(P → Q) ∧ ¬Q ⊢ ¬P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Denying consequent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4C5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Inference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4933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Hypothetical Syllogism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(P→Q) ∧ (Q→R) ⊢ (P→R)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Chain reasoning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4C5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Inference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524933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Disjunctive Syllogism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(P ∨ Q) ∧ ¬P ⊢ Q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Process of elimination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4C5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Inference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62000" y="5588000"/>
            <a:ext cx="14732000" cy="1016000"/>
          </a:xfrm>
          <a:prstGeom prst="rect">
            <a:avLst/>
          </a:prstGeom>
          <a:solidFill>
            <a:srgbClr val="0F4C5C">
              <a:alpha val="6275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762000" y="5588000"/>
            <a:ext cx="63500" cy="1016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8" name="Shape 5"/>
          <p:cNvSpPr/>
          <p:nvPr/>
        </p:nvSpPr>
        <p:spPr>
          <a:xfrm>
            <a:off x="1060450" y="58166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84249" y="-11251"/>
                </a:moveTo>
                <a:cubicBezTo>
                  <a:pt x="181808" y="-16014"/>
                  <a:pt x="176867" y="-19050"/>
                  <a:pt x="171510" y="-19050"/>
                </a:cubicBezTo>
                <a:cubicBezTo>
                  <a:pt x="166152" y="-19050"/>
                  <a:pt x="161211" y="-16014"/>
                  <a:pt x="158770" y="-11251"/>
                </a:cubicBezTo>
                <a:lnTo>
                  <a:pt x="114955" y="74593"/>
                </a:lnTo>
                <a:lnTo>
                  <a:pt x="19764" y="89714"/>
                </a:lnTo>
                <a:cubicBezTo>
                  <a:pt x="14466" y="90547"/>
                  <a:pt x="10061" y="94298"/>
                  <a:pt x="8394" y="99417"/>
                </a:cubicBezTo>
                <a:cubicBezTo>
                  <a:pt x="6727" y="104537"/>
                  <a:pt x="8096" y="110133"/>
                  <a:pt x="11847" y="113943"/>
                </a:cubicBezTo>
                <a:lnTo>
                  <a:pt x="79950" y="182106"/>
                </a:lnTo>
                <a:lnTo>
                  <a:pt x="64949" y="277297"/>
                </a:lnTo>
                <a:cubicBezTo>
                  <a:pt x="64115" y="282595"/>
                  <a:pt x="66318" y="287953"/>
                  <a:pt x="70664" y="291108"/>
                </a:cubicBezTo>
                <a:cubicBezTo>
                  <a:pt x="75009" y="294263"/>
                  <a:pt x="80724" y="294739"/>
                  <a:pt x="85546" y="292298"/>
                </a:cubicBezTo>
                <a:lnTo>
                  <a:pt x="171510" y="248603"/>
                </a:lnTo>
                <a:lnTo>
                  <a:pt x="257413" y="292298"/>
                </a:lnTo>
                <a:cubicBezTo>
                  <a:pt x="262176" y="294739"/>
                  <a:pt x="267950" y="294263"/>
                  <a:pt x="272296" y="291108"/>
                </a:cubicBezTo>
                <a:cubicBezTo>
                  <a:pt x="276642" y="287953"/>
                  <a:pt x="278844" y="282654"/>
                  <a:pt x="278011" y="277297"/>
                </a:cubicBezTo>
                <a:lnTo>
                  <a:pt x="262950" y="182106"/>
                </a:lnTo>
                <a:lnTo>
                  <a:pt x="331053" y="113943"/>
                </a:lnTo>
                <a:cubicBezTo>
                  <a:pt x="334863" y="110133"/>
                  <a:pt x="336173" y="104537"/>
                  <a:pt x="334506" y="99417"/>
                </a:cubicBezTo>
                <a:cubicBezTo>
                  <a:pt x="332839" y="94298"/>
                  <a:pt x="328493" y="90547"/>
                  <a:pt x="323136" y="89714"/>
                </a:cubicBezTo>
                <a:lnTo>
                  <a:pt x="228005" y="74593"/>
                </a:lnTo>
                <a:lnTo>
                  <a:pt x="184249" y="-11251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9" name="Text 6"/>
          <p:cNvSpPr/>
          <p:nvPr/>
        </p:nvSpPr>
        <p:spPr>
          <a:xfrm>
            <a:off x="1524000" y="5778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Shared Property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524000" y="6159500"/>
            <a:ext cx="1371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inference rules share one property: </a:t>
            </a:r>
            <a:pPr>
              <a:lnSpc>
                <a:spcPct val="10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premises are true, the conclusion must be true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62000" y="6921500"/>
            <a:ext cx="14732000" cy="1676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079500" y="7048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Applications in AI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79500" y="7429500"/>
            <a:ext cx="140970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Theorem Proving: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Automated systems use these rules to prove mathematical theorems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Knowledge Representation: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Rules form the basis of reasoning in expert systems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Reasoning: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AI agents apply inference chains to derive new knowledge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15" name="Text 12"/>
          <p:cNvSpPr/>
          <p:nvPr/>
        </p:nvSpPr>
        <p:spPr>
          <a:xfrm>
            <a:off x="14732000" y="8826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14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iluvy7yj7dso6/mnt/agents/output/ai-week6/images/2_Abstract_Data_Stream_Visualization.png">    </p:cNvPr>
          <p:cNvPicPr>
            <a:picLocks noChangeAspect="1"/>
          </p:cNvPicPr>
          <p:nvPr/>
        </p:nvPicPr>
        <p:blipFill>
          <a:blip r:embed="rId1"/>
          <a:srcRect l="111" r="111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A2E38">
                  <a:alpha val="94000"/>
                </a:srgbClr>
              </a:gs>
              <a:gs pos="60000">
                <a:srgbClr val="0A2E38">
                  <a:alpha val="82000"/>
                </a:srgbClr>
              </a:gs>
              <a:gs pos="100000">
                <a:srgbClr val="0A2E38">
                  <a:alpha val="5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1524000"/>
            <a:ext cx="5080000" cy="254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8000" b="1" dirty="0">
                <a:solidFill>
                  <a:srgbClr val="FFFFFF">
                    <a:alpha val="8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016000" y="3556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300" kern="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LECTURE 12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016000" y="4000500"/>
            <a:ext cx="1016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7" name="Text 4"/>
          <p:cNvSpPr/>
          <p:nvPr/>
        </p:nvSpPr>
        <p:spPr>
          <a:xfrm>
            <a:off x="1016000" y="42545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600" b="1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ADDITIONAL RULES &amp; FIRST ORDER LOGIC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1016000" y="5080000"/>
            <a:ext cx="762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4D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Extending our reasoning toolkit and moving beyond propositional logic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190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Addition Rule — Introduction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87500"/>
            <a:ext cx="63500" cy="3937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1587500"/>
            <a:ext cx="6858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8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Addition Rule</a:t>
            </a:r>
            <a:pPr>
              <a:lnSpc>
                <a:spcPct val="155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55000"/>
              </a:lnSpc>
            </a:pPr>
            <a:r>
              <a:rPr lang="en-US" sz="16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(OR Introduction)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From a single proposition P, we can infer P ∨ Q for any proposition Q. The added Q may be true or false.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Formal Notation: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 ⊢ (P ∨ Q)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Also Known As:</a:t>
            </a:r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OR Introduction, Disjunction Introduction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Use:</a:t>
            </a:r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Introducing alternatives in proof construction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36000" y="1587500"/>
            <a:ext cx="6858000" cy="3937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890000" y="1714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spc="100" kern="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 INTRODUCTION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033000" y="2476500"/>
            <a:ext cx="1778000" cy="6985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/>
        </p:spPr>
      </p:sp>
      <p:sp>
        <p:nvSpPr>
          <p:cNvPr id="10" name="Text 8"/>
          <p:cNvSpPr/>
          <p:nvPr/>
        </p:nvSpPr>
        <p:spPr>
          <a:xfrm>
            <a:off x="10033000" y="2476500"/>
            <a:ext cx="1778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922000" y="3175000"/>
            <a:ext cx="0" cy="635000"/>
          </a:xfrm>
          <a:prstGeom prst="straightConnector1">
            <a:avLst/>
          </a:prstGeom>
          <a:noFill/>
          <a:ln w="25400">
            <a:solidFill>
              <a:srgbClr val="D4943A"/>
            </a:solidFill>
            <a:prstDash val="solid"/>
            <a:headEnd type="none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9398000" y="3937000"/>
            <a:ext cx="3302000" cy="698500"/>
          </a:xfrm>
          <a:prstGeom prst="roundRect">
            <a:avLst>
              <a:gd name="adj" fmla="val 8000"/>
            </a:avLst>
          </a:prstGeom>
          <a:solidFill>
            <a:srgbClr val="D4943A"/>
          </a:solidFill>
          <a:ln/>
        </p:spPr>
      </p:sp>
      <p:sp>
        <p:nvSpPr>
          <p:cNvPr id="13" name="Text 11"/>
          <p:cNvSpPr/>
          <p:nvPr/>
        </p:nvSpPr>
        <p:spPr>
          <a:xfrm>
            <a:off x="9398000" y="3937000"/>
            <a:ext cx="3302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 ∨ Q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0" y="4889500"/>
            <a:ext cx="381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 can be </a:t>
            </a:r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any</a:t>
            </a:r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proposition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5842000"/>
            <a:ext cx="14732000" cy="1270000"/>
          </a:xfrm>
          <a:prstGeom prst="rect">
            <a:avLst/>
          </a:prstGeom>
          <a:solidFill>
            <a:srgbClr val="0F4C5C">
              <a:alpha val="6275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62000" y="5842000"/>
            <a:ext cx="63500" cy="1270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7" name="Text 15"/>
          <p:cNvSpPr/>
          <p:nvPr/>
        </p:nvSpPr>
        <p:spPr>
          <a:xfrm>
            <a:off x="1079500" y="59690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79500" y="6350000"/>
            <a:ext cx="140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Premise: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It is raining.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Therefore, it is raining OR the sun is shining. (The conclusion is valid regardless of whether the sun is shining.)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20" name="Text 18"/>
          <p:cNvSpPr/>
          <p:nvPr/>
        </p:nvSpPr>
        <p:spPr>
          <a:xfrm>
            <a:off x="14732000" y="8826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16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190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Addition Rule — Truth Table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98600"/>
            <a:ext cx="147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truth table shows that if P is true, P ∨ Q is always true regardless of the truth value of Q.</a:t>
            </a:r>
            <a:endParaRPr lang="en-US" sz="1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302000" y="2159000"/>
          <a:ext cx="9652000" cy="2794000"/>
        </p:xfrm>
        <a:graphic>
          <a:graphicData uri="http://schemas.openxmlformats.org/drawingml/2006/table">
            <a:tbl>
              <a:tblPr/>
              <a:tblGrid>
                <a:gridCol w="1737360"/>
                <a:gridCol w="1737360"/>
                <a:gridCol w="2123440"/>
                <a:gridCol w="2123440"/>
                <a:gridCol w="1930400"/>
              </a:tblGrid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Q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 ∨ Q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 → (P ∨ Q)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Valid?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8A4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✓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8A4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✓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302000" y="5270500"/>
            <a:ext cx="9652000" cy="889000"/>
          </a:xfrm>
          <a:prstGeom prst="rect">
            <a:avLst/>
          </a:prstGeom>
          <a:solidFill>
            <a:srgbClr val="0F4C5C">
              <a:alpha val="6275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3302000" y="5270500"/>
            <a:ext cx="63500" cy="889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9" name="Text 6"/>
          <p:cNvSpPr/>
          <p:nvPr/>
        </p:nvSpPr>
        <p:spPr>
          <a:xfrm>
            <a:off x="3619500" y="5397500"/>
            <a:ext cx="901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Tautology: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 → (P ∨ Q) is always true — the simplest valid inference.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62000" y="6477000"/>
            <a:ext cx="14732000" cy="1968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079500" y="6604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Observations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79500" y="6985000"/>
            <a:ext cx="14097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When P is true (rows 1-2), P ∨ Q is always true regardless of Q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When P is false (rows 3-4), the premise is false — no conclusion required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Addition Rule is often combined with other rules in complex proofs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14" name="Text 11"/>
          <p:cNvSpPr/>
          <p:nvPr/>
        </p:nvSpPr>
        <p:spPr>
          <a:xfrm>
            <a:off x="14732000" y="8826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17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190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Simplification Rule — Introduction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87500"/>
            <a:ext cx="63500" cy="3937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1587500"/>
            <a:ext cx="6858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8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Simplification Rule</a:t>
            </a:r>
            <a:pPr>
              <a:lnSpc>
                <a:spcPct val="155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55000"/>
              </a:lnSpc>
            </a:pPr>
            <a:r>
              <a:rPr lang="en-US" sz="16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(AND Elimination)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From a conjunction P ∧ Q, we can infer either P or Q individually. If both are true, each must be true.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Formal Notation: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(P ∧ Q) ⊢ P</a:t>
            </a:r>
            <a:pPr>
              <a:lnSpc>
                <a:spcPct val="155000"/>
              </a:lnSpc>
              <a:spcBef>
                <a:spcPts val="400"/>
              </a:spcBef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</a:t>
            </a:r>
            <a:pPr>
              <a:lnSpc>
                <a:spcPct val="155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(P ∧ Q) ⊢ Q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Also Known As:</a:t>
            </a:r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Elimination, Conjunction Elimination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Use:</a:t>
            </a:r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Decomposing compound facts into simpler components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36000" y="1587500"/>
            <a:ext cx="6858000" cy="3937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890000" y="1714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spc="100" kern="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AND ELIMINATION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398000" y="2349500"/>
            <a:ext cx="3302000" cy="6985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/>
        </p:spPr>
      </p:sp>
      <p:sp>
        <p:nvSpPr>
          <p:cNvPr id="10" name="Text 8"/>
          <p:cNvSpPr/>
          <p:nvPr/>
        </p:nvSpPr>
        <p:spPr>
          <a:xfrm>
            <a:off x="9398000" y="2349500"/>
            <a:ext cx="3302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 ∧ Q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033000" y="3048000"/>
            <a:ext cx="0" cy="635000"/>
          </a:xfrm>
          <a:prstGeom prst="straightConnector1">
            <a:avLst/>
          </a:prstGeom>
          <a:noFill/>
          <a:ln w="25400">
            <a:solidFill>
              <a:srgbClr val="D4943A"/>
            </a:solidFill>
            <a:prstDash val="solid"/>
            <a:headEnd type="none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12065000" y="3048000"/>
            <a:ext cx="0" cy="635000"/>
          </a:xfrm>
          <a:prstGeom prst="straightConnector1">
            <a:avLst/>
          </a:prstGeom>
          <a:noFill/>
          <a:ln w="25400">
            <a:solidFill>
              <a:srgbClr val="D4943A"/>
            </a:solidFill>
            <a:prstDash val="solid"/>
            <a:headEnd type="none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9271000" y="3810000"/>
            <a:ext cx="1524000" cy="635000"/>
          </a:xfrm>
          <a:prstGeom prst="roundRect">
            <a:avLst>
              <a:gd name="adj" fmla="val 8000"/>
            </a:avLst>
          </a:prstGeom>
          <a:solidFill>
            <a:srgbClr val="D4943A"/>
          </a:solidFill>
          <a:ln/>
        </p:spPr>
      </p:sp>
      <p:sp>
        <p:nvSpPr>
          <p:cNvPr id="14" name="Text 12"/>
          <p:cNvSpPr/>
          <p:nvPr/>
        </p:nvSpPr>
        <p:spPr>
          <a:xfrm>
            <a:off x="9271000" y="3810000"/>
            <a:ext cx="15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1303000" y="3810000"/>
            <a:ext cx="1524000" cy="635000"/>
          </a:xfrm>
          <a:prstGeom prst="roundRect">
            <a:avLst>
              <a:gd name="adj" fmla="val 8000"/>
            </a:avLst>
          </a:prstGeom>
          <a:solidFill>
            <a:srgbClr val="D4943A"/>
          </a:solidFill>
          <a:ln/>
        </p:spPr>
      </p:sp>
      <p:sp>
        <p:nvSpPr>
          <p:cNvPr id="16" name="Text 14"/>
          <p:cNvSpPr/>
          <p:nvPr/>
        </p:nvSpPr>
        <p:spPr>
          <a:xfrm>
            <a:off x="11303000" y="3810000"/>
            <a:ext cx="15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0" y="4699000"/>
            <a:ext cx="381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Either component can be extracted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5842000"/>
            <a:ext cx="14732000" cy="1270000"/>
          </a:xfrm>
          <a:prstGeom prst="rect">
            <a:avLst/>
          </a:prstGeom>
          <a:solidFill>
            <a:srgbClr val="0F4C5C">
              <a:alpha val="6275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62000" y="5842000"/>
            <a:ext cx="63500" cy="1270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20" name="Text 18"/>
          <p:cNvSpPr/>
          <p:nvPr/>
        </p:nvSpPr>
        <p:spPr>
          <a:xfrm>
            <a:off x="1079500" y="59690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79500" y="6350000"/>
            <a:ext cx="140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Premise: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It is raining and it is cold.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 1: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It is raining.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 2: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It is cold. (Both are valid.)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23" name="Text 21"/>
          <p:cNvSpPr/>
          <p:nvPr/>
        </p:nvSpPr>
        <p:spPr>
          <a:xfrm>
            <a:off x="14732000" y="8826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18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190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Simplification Rule — Truth Table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98600"/>
            <a:ext cx="147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truth table verifies that whenever P ∧ Q is true, both P and Q are individually true.</a:t>
            </a:r>
            <a:endParaRPr lang="en-US" sz="1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302000" y="2159000"/>
          <a:ext cx="9652000" cy="2794000"/>
        </p:xfrm>
        <a:graphic>
          <a:graphicData uri="http://schemas.openxmlformats.org/drawingml/2006/table">
            <a:tbl>
              <a:tblPr/>
              <a:tblGrid>
                <a:gridCol w="1544320"/>
                <a:gridCol w="1544320"/>
                <a:gridCol w="1737360"/>
                <a:gridCol w="1737360"/>
                <a:gridCol w="1544320"/>
                <a:gridCol w="1544320"/>
              </a:tblGrid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Q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 ∧ Q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(P ∧ Q) → P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Valid?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8A4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✓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302000" y="5270500"/>
            <a:ext cx="9652000" cy="889000"/>
          </a:xfrm>
          <a:prstGeom prst="rect">
            <a:avLst/>
          </a:prstGeom>
          <a:solidFill>
            <a:srgbClr val="0F4C5C">
              <a:alpha val="6275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3302000" y="5270500"/>
            <a:ext cx="63500" cy="889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9" name="Text 6"/>
          <p:cNvSpPr/>
          <p:nvPr/>
        </p:nvSpPr>
        <p:spPr>
          <a:xfrm>
            <a:off x="3619500" y="5397500"/>
            <a:ext cx="901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Tautology: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(P ∧ Q) → P is always true — conjunctions imply their parts.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62000" y="6477000"/>
            <a:ext cx="14732000" cy="1968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079500" y="6604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Observations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79500" y="6985000"/>
            <a:ext cx="14097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Only Row 1 has the premise P ∧ Q true, and P is also true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Both directions valid: can extract either P or Q from P ∧ Q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Used extensively in automated theorem proving to break down complex premises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14" name="Text 11"/>
          <p:cNvSpPr/>
          <p:nvPr/>
        </p:nvSpPr>
        <p:spPr>
          <a:xfrm>
            <a:off x="14732000" y="8826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19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190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Resolution Rule — Introduction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87500"/>
            <a:ext cx="63500" cy="3937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1587500"/>
            <a:ext cx="6858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8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Resolution Rule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most powerful inference rule. From (P ∨ Q) and (¬P ∨ R), infer (Q ∨ R). Complementary literals cancel out.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Formal Notation: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(P ∨ Q) ∧ (¬P ∨ R) ⊢ (Q ∨ R)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Feature:</a:t>
            </a:r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Cancellation of complements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Application:</a:t>
            </a:r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Basis of resolution refutation in automated theorem proving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36000" y="1587500"/>
            <a:ext cx="6858000" cy="3937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890000" y="1714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spc="100" kern="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CANCELLATION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0" y="2286000"/>
            <a:ext cx="3048000" cy="6350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0" y="2286000"/>
            <a:ext cx="304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 ∨ Q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668000" y="2921000"/>
            <a:ext cx="0" cy="444500"/>
          </a:xfrm>
          <a:prstGeom prst="straightConnector1">
            <a:avLst/>
          </a:prstGeom>
          <a:noFill/>
          <a:ln w="25400">
            <a:solidFill>
              <a:srgbClr val="6B7B8D"/>
            </a:solidFill>
            <a:prstDash val="solid"/>
            <a:headEnd type="none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9144000" y="3429000"/>
            <a:ext cx="3048000" cy="6350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0" y="3429000"/>
            <a:ext cx="304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¬P ∨ 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19000" y="2794000"/>
            <a:ext cx="127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C445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 and ¬P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C445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cancel out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668000" y="4064000"/>
            <a:ext cx="0" cy="571500"/>
          </a:xfrm>
          <a:prstGeom prst="straightConnector1">
            <a:avLst/>
          </a:prstGeom>
          <a:noFill/>
          <a:ln w="25400">
            <a:solidFill>
              <a:srgbClr val="D4943A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9144000" y="4699000"/>
            <a:ext cx="3048000" cy="635000"/>
          </a:xfrm>
          <a:prstGeom prst="roundRect">
            <a:avLst>
              <a:gd name="adj" fmla="val 8000"/>
            </a:avLst>
          </a:prstGeom>
          <a:solidFill>
            <a:srgbClr val="D4943A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0" y="4699000"/>
            <a:ext cx="304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 ∨ R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5842000"/>
            <a:ext cx="14732000" cy="1270000"/>
          </a:xfrm>
          <a:prstGeom prst="rect">
            <a:avLst/>
          </a:prstGeom>
          <a:solidFill>
            <a:srgbClr val="0F4C5C">
              <a:alpha val="6275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62000" y="5842000"/>
            <a:ext cx="63500" cy="1270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20" name="Text 18"/>
          <p:cNvSpPr/>
          <p:nvPr/>
        </p:nvSpPr>
        <p:spPr>
          <a:xfrm>
            <a:off x="1079500" y="59690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79500" y="6350000"/>
            <a:ext cx="140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Premise 1: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(It rains ∨ streets are wet).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Premise 2: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(¬It rains ∨ plants grow).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Streets are wet ∨ plants grow.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23" name="Text 21"/>
          <p:cNvSpPr/>
          <p:nvPr/>
        </p:nvSpPr>
        <p:spPr>
          <a:xfrm>
            <a:off x="14732000" y="8826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190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Resolution Rule — Truth Table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60500"/>
            <a:ext cx="147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With three variables (P, Q, R), resolution is valid when both premises are true — the conclusion (Q ∨ R) follows.</a:t>
            </a:r>
            <a:endParaRPr lang="en-US" sz="1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032000"/>
          <a:ext cx="14732000" cy="4064000"/>
        </p:xfrm>
        <a:graphic>
          <a:graphicData uri="http://schemas.openxmlformats.org/drawingml/2006/table">
            <a:tbl>
              <a:tblPr/>
              <a:tblGrid>
                <a:gridCol w="1841500"/>
                <a:gridCol w="1841500"/>
                <a:gridCol w="1841500"/>
                <a:gridCol w="1841500"/>
                <a:gridCol w="1841500"/>
                <a:gridCol w="1841500"/>
                <a:gridCol w="1841500"/>
                <a:gridCol w="1841500"/>
              </a:tblGrid>
              <a:tr h="440372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Q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 ∨ Q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¬P ∨ R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(P∨Q)∧(¬P∨R)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Q ∨ R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Valid?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452954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8A4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✓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2954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452954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8A4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✓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2954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452954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8A4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✓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2954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8A4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✓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452954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2954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62000" y="6350000"/>
            <a:ext cx="14732000" cy="889000"/>
          </a:xfrm>
          <a:prstGeom prst="rect">
            <a:avLst/>
          </a:prstGeom>
          <a:solidFill>
            <a:srgbClr val="0F4C5C">
              <a:alpha val="6275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762000" y="6350000"/>
            <a:ext cx="63500" cy="889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9" name="Text 6"/>
          <p:cNvSpPr/>
          <p:nvPr/>
        </p:nvSpPr>
        <p:spPr>
          <a:xfrm>
            <a:off x="1079500" y="6413500"/>
            <a:ext cx="1409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Foundation of PROLOG: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Resolution is the single inference rule used in PROLOG and many automated reasoning systems — proving its completeness and power.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11" name="Text 8"/>
          <p:cNvSpPr/>
          <p:nvPr/>
        </p:nvSpPr>
        <p:spPr>
          <a:xfrm>
            <a:off x="14732000" y="8826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21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190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First Order Logic in AI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24000"/>
            <a:ext cx="685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Limitations of Propositional Logic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62000" y="2006600"/>
            <a:ext cx="6858000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Cannot express relationships between objects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Cannot make generalizations ("all", "some")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Every statement must be atomic — no variables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Cannot represent: "All humans are mortal"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064000" y="3708400"/>
            <a:ext cx="0" cy="304800"/>
          </a:xfrm>
          <a:prstGeom prst="straightConnector1">
            <a:avLst/>
          </a:prstGeom>
          <a:noFill/>
          <a:ln w="25400">
            <a:solidFill>
              <a:srgbClr val="D4943A"/>
            </a:solidFill>
            <a:prstDash val="solid"/>
            <a:headEnd type="none"/>
            <a:tailEnd type="arrow"/>
          </a:ln>
        </p:spPr>
      </p:sp>
      <p:sp>
        <p:nvSpPr>
          <p:cNvPr id="8" name="Text 6"/>
          <p:cNvSpPr/>
          <p:nvPr/>
        </p:nvSpPr>
        <p:spPr>
          <a:xfrm>
            <a:off x="762000" y="4038600"/>
            <a:ext cx="685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First Order Logic (FOL)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62000" y="4521200"/>
            <a:ext cx="6858000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8A4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✓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Extends propositional logic with quantifiers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8A4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✓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Uses predicates, variables, and functions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8A4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✓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Can express universal and existential claims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8A4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✓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Enables complex real-world knowledge representation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128000" y="1524000"/>
            <a:ext cx="7366000" cy="4572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82000" y="1651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spc="100" kern="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PROPOSITIONAL vs. FIRST ORDER</a:t>
            </a:r>
            <a:endParaRPr lang="en-US" sz="1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82000" y="2159000"/>
          <a:ext cx="6858000" cy="3683000"/>
        </p:xfrm>
        <a:graphic>
          <a:graphicData uri="http://schemas.openxmlformats.org/drawingml/2006/table">
            <a:tbl>
              <a:tblPr/>
              <a:tblGrid>
                <a:gridCol w="2400300"/>
                <a:gridCol w="2228850"/>
                <a:gridCol w="2228850"/>
              </a:tblGrid>
              <a:tr h="582192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Feature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Propositional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First Order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620162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Variables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C445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8A4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Yes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0162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Quantifiers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C445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8A4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Yes (∀, ∃)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620162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Predicates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C445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8A4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Yes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0162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Functions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C445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8A4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Yes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620162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Expressiveness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Limited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High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762000" y="6350000"/>
            <a:ext cx="14732000" cy="2095500"/>
          </a:xfrm>
          <a:prstGeom prst="rect">
            <a:avLst/>
          </a:prstGeom>
          <a:solidFill>
            <a:srgbClr val="0F4C5C">
              <a:alpha val="6275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762000" y="6350000"/>
            <a:ext cx="63500" cy="20955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15" name="Text 12"/>
          <p:cNvSpPr/>
          <p:nvPr/>
        </p:nvSpPr>
        <p:spPr>
          <a:xfrm>
            <a:off x="1079500" y="6477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Also Known As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79500" y="6858000"/>
            <a:ext cx="14097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Predicate Logic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emphasizes the use of predicates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First-Order Predicate Calculus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formal mathematical name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Applications: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Knowledge representation, Semantic Web, Natural Language Processing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18" name="Text 15"/>
          <p:cNvSpPr/>
          <p:nvPr/>
        </p:nvSpPr>
        <p:spPr>
          <a:xfrm>
            <a:off x="14732000" y="8826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22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190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First Order Logic (FOL)?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986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FOL is a formal system for representing knowledge about the world using these key components: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2095500"/>
            <a:ext cx="4699000" cy="1651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2000" y="2095500"/>
            <a:ext cx="4699000" cy="635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8" name="Shape 6"/>
          <p:cNvSpPr/>
          <p:nvPr/>
        </p:nvSpPr>
        <p:spPr>
          <a:xfrm>
            <a:off x="1016000" y="2349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3529" y="-1488"/>
                </a:moveTo>
                <a:cubicBezTo>
                  <a:pt x="145316" y="-8275"/>
                  <a:pt x="159841" y="-8275"/>
                  <a:pt x="171629" y="-1488"/>
                </a:cubicBezTo>
                <a:lnTo>
                  <a:pt x="276344" y="58936"/>
                </a:lnTo>
                <a:cubicBezTo>
                  <a:pt x="288131" y="65723"/>
                  <a:pt x="295394" y="78343"/>
                  <a:pt x="295394" y="91916"/>
                </a:cubicBezTo>
                <a:lnTo>
                  <a:pt x="295394" y="212765"/>
                </a:lnTo>
                <a:cubicBezTo>
                  <a:pt x="295394" y="226397"/>
                  <a:pt x="288131" y="238958"/>
                  <a:pt x="276344" y="245745"/>
                </a:cubicBezTo>
                <a:lnTo>
                  <a:pt x="171629" y="306288"/>
                </a:lnTo>
                <a:cubicBezTo>
                  <a:pt x="159841" y="313075"/>
                  <a:pt x="145316" y="313075"/>
                  <a:pt x="133529" y="306288"/>
                </a:cubicBezTo>
                <a:lnTo>
                  <a:pt x="28873" y="245864"/>
                </a:lnTo>
                <a:cubicBezTo>
                  <a:pt x="17085" y="239078"/>
                  <a:pt x="9823" y="226457"/>
                  <a:pt x="9823" y="212884"/>
                </a:cubicBezTo>
                <a:lnTo>
                  <a:pt x="9823" y="92035"/>
                </a:lnTo>
                <a:cubicBezTo>
                  <a:pt x="9823" y="78403"/>
                  <a:pt x="17085" y="65842"/>
                  <a:pt x="28873" y="59055"/>
                </a:cubicBezTo>
                <a:lnTo>
                  <a:pt x="133529" y="-1488"/>
                </a:lnTo>
                <a:close/>
                <a:moveTo>
                  <a:pt x="257235" y="212824"/>
                </a:moveTo>
                <a:lnTo>
                  <a:pt x="257235" y="113943"/>
                </a:lnTo>
                <a:lnTo>
                  <a:pt x="171629" y="163354"/>
                </a:lnTo>
                <a:lnTo>
                  <a:pt x="171629" y="262235"/>
                </a:lnTo>
                <a:lnTo>
                  <a:pt x="257235" y="212824"/>
                </a:ln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9" name="Text 7"/>
          <p:cNvSpPr/>
          <p:nvPr/>
        </p:nvSpPr>
        <p:spPr>
          <a:xfrm>
            <a:off x="1460500" y="23241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2768600"/>
            <a:ext cx="419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Entities in the domain: John, Book, Number_7, Earth. The things we reason about.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78500" y="2095500"/>
            <a:ext cx="4699000" cy="1651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778500" y="2095500"/>
            <a:ext cx="4699000" cy="635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3450" y="23495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238839" y="23277"/>
                </a:moveTo>
                <a:lnTo>
                  <a:pt x="327065" y="112752"/>
                </a:lnTo>
                <a:cubicBezTo>
                  <a:pt x="343555" y="129480"/>
                  <a:pt x="343555" y="156270"/>
                  <a:pt x="327065" y="172998"/>
                </a:cubicBezTo>
                <a:lnTo>
                  <a:pt x="233958" y="267236"/>
                </a:lnTo>
                <a:cubicBezTo>
                  <a:pt x="228421" y="272832"/>
                  <a:pt x="219373" y="272891"/>
                  <a:pt x="213777" y="267355"/>
                </a:cubicBezTo>
                <a:cubicBezTo>
                  <a:pt x="208181" y="261818"/>
                  <a:pt x="208121" y="252770"/>
                  <a:pt x="213658" y="247174"/>
                </a:cubicBezTo>
                <a:lnTo>
                  <a:pt x="306765" y="152876"/>
                </a:lnTo>
                <a:cubicBezTo>
                  <a:pt x="312241" y="147340"/>
                  <a:pt x="312241" y="138351"/>
                  <a:pt x="306765" y="132814"/>
                </a:cubicBezTo>
                <a:lnTo>
                  <a:pt x="218480" y="43398"/>
                </a:lnTo>
                <a:cubicBezTo>
                  <a:pt x="212943" y="37802"/>
                  <a:pt x="213003" y="28754"/>
                  <a:pt x="218599" y="23217"/>
                </a:cubicBezTo>
                <a:cubicBezTo>
                  <a:pt x="224195" y="17681"/>
                  <a:pt x="233243" y="17740"/>
                  <a:pt x="238780" y="23336"/>
                </a:cubicBezTo>
                <a:close/>
                <a:moveTo>
                  <a:pt x="19110" y="136624"/>
                </a:moveTo>
                <a:lnTo>
                  <a:pt x="19110" y="57150"/>
                </a:lnTo>
                <a:cubicBezTo>
                  <a:pt x="19110" y="36135"/>
                  <a:pt x="36195" y="19050"/>
                  <a:pt x="57210" y="19050"/>
                </a:cubicBezTo>
                <a:lnTo>
                  <a:pt x="136684" y="19050"/>
                </a:lnTo>
                <a:cubicBezTo>
                  <a:pt x="146804" y="19050"/>
                  <a:pt x="156508" y="23039"/>
                  <a:pt x="163651" y="30182"/>
                </a:cubicBezTo>
                <a:lnTo>
                  <a:pt x="249376" y="115907"/>
                </a:lnTo>
                <a:cubicBezTo>
                  <a:pt x="264259" y="130790"/>
                  <a:pt x="264259" y="154900"/>
                  <a:pt x="249376" y="169783"/>
                </a:cubicBezTo>
                <a:lnTo>
                  <a:pt x="169902" y="249257"/>
                </a:lnTo>
                <a:cubicBezTo>
                  <a:pt x="155019" y="264140"/>
                  <a:pt x="130909" y="264140"/>
                  <a:pt x="116026" y="249257"/>
                </a:cubicBezTo>
                <a:lnTo>
                  <a:pt x="30301" y="163532"/>
                </a:lnTo>
                <a:cubicBezTo>
                  <a:pt x="23158" y="156389"/>
                  <a:pt x="19169" y="146685"/>
                  <a:pt x="19169" y="136565"/>
                </a:cubicBezTo>
                <a:close/>
                <a:moveTo>
                  <a:pt x="104835" y="85725"/>
                </a:moveTo>
                <a:cubicBezTo>
                  <a:pt x="104835" y="75211"/>
                  <a:pt x="96299" y="66675"/>
                  <a:pt x="85785" y="66675"/>
                </a:cubicBezTo>
                <a:cubicBezTo>
                  <a:pt x="75271" y="66675"/>
                  <a:pt x="66735" y="75211"/>
                  <a:pt x="66735" y="85725"/>
                </a:cubicBezTo>
                <a:cubicBezTo>
                  <a:pt x="66735" y="96239"/>
                  <a:pt x="75271" y="104775"/>
                  <a:pt x="85785" y="104775"/>
                </a:cubicBezTo>
                <a:cubicBezTo>
                  <a:pt x="96299" y="104775"/>
                  <a:pt x="104835" y="96239"/>
                  <a:pt x="104835" y="85725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4" name="Text 12"/>
          <p:cNvSpPr/>
          <p:nvPr/>
        </p:nvSpPr>
        <p:spPr>
          <a:xfrm>
            <a:off x="6477000" y="23241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Predicates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32500" y="2768600"/>
            <a:ext cx="419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Properties or relations: Human(x), Loves(x,y), Prime(x). Describe objects.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795000" y="2095500"/>
            <a:ext cx="4699000" cy="1651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795000" y="2095500"/>
            <a:ext cx="4699000" cy="63500"/>
          </a:xfrm>
          <a:prstGeom prst="rect">
            <a:avLst/>
          </a:prstGeom>
          <a:solidFill>
            <a:srgbClr val="2D8A4E"/>
          </a:solidFill>
          <a:ln/>
        </p:spPr>
      </p:sp>
      <p:sp>
        <p:nvSpPr>
          <p:cNvPr id="18" name="Shape 16"/>
          <p:cNvSpPr/>
          <p:nvPr/>
        </p:nvSpPr>
        <p:spPr>
          <a:xfrm>
            <a:off x="11029950" y="23495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214789" y="714"/>
                </a:moveTo>
                <a:cubicBezTo>
                  <a:pt x="204668" y="-2203"/>
                  <a:pt x="194131" y="3691"/>
                  <a:pt x="191214" y="13811"/>
                </a:cubicBezTo>
                <a:lnTo>
                  <a:pt x="115014" y="280511"/>
                </a:lnTo>
                <a:cubicBezTo>
                  <a:pt x="112097" y="290632"/>
                  <a:pt x="117991" y="301169"/>
                  <a:pt x="128111" y="304086"/>
                </a:cubicBezTo>
                <a:cubicBezTo>
                  <a:pt x="138232" y="307003"/>
                  <a:pt x="148769" y="301109"/>
                  <a:pt x="151686" y="290989"/>
                </a:cubicBezTo>
                <a:lnTo>
                  <a:pt x="227886" y="24289"/>
                </a:lnTo>
                <a:cubicBezTo>
                  <a:pt x="230803" y="14168"/>
                  <a:pt x="224909" y="3631"/>
                  <a:pt x="214789" y="714"/>
                </a:cubicBezTo>
                <a:close/>
                <a:moveTo>
                  <a:pt x="253246" y="81736"/>
                </a:moveTo>
                <a:cubicBezTo>
                  <a:pt x="245805" y="89178"/>
                  <a:pt x="245805" y="101263"/>
                  <a:pt x="253246" y="108704"/>
                </a:cubicBezTo>
                <a:lnTo>
                  <a:pt x="296942" y="152400"/>
                </a:lnTo>
                <a:lnTo>
                  <a:pt x="253246" y="196096"/>
                </a:lnTo>
                <a:cubicBezTo>
                  <a:pt x="245805" y="203537"/>
                  <a:pt x="245805" y="215622"/>
                  <a:pt x="253246" y="223064"/>
                </a:cubicBezTo>
                <a:cubicBezTo>
                  <a:pt x="260687" y="230505"/>
                  <a:pt x="272772" y="230505"/>
                  <a:pt x="280214" y="223064"/>
                </a:cubicBezTo>
                <a:lnTo>
                  <a:pt x="337364" y="165914"/>
                </a:lnTo>
                <a:cubicBezTo>
                  <a:pt x="344805" y="158472"/>
                  <a:pt x="344805" y="146387"/>
                  <a:pt x="337364" y="138946"/>
                </a:cubicBezTo>
                <a:lnTo>
                  <a:pt x="280214" y="81796"/>
                </a:lnTo>
                <a:cubicBezTo>
                  <a:pt x="272772" y="74355"/>
                  <a:pt x="260687" y="74355"/>
                  <a:pt x="253246" y="81796"/>
                </a:cubicBezTo>
                <a:close/>
                <a:moveTo>
                  <a:pt x="89714" y="81736"/>
                </a:moveTo>
                <a:cubicBezTo>
                  <a:pt x="82272" y="74295"/>
                  <a:pt x="70187" y="74295"/>
                  <a:pt x="62746" y="81736"/>
                </a:cubicBezTo>
                <a:lnTo>
                  <a:pt x="5596" y="138886"/>
                </a:lnTo>
                <a:cubicBezTo>
                  <a:pt x="-1845" y="146328"/>
                  <a:pt x="-1845" y="158413"/>
                  <a:pt x="5596" y="165854"/>
                </a:cubicBezTo>
                <a:lnTo>
                  <a:pt x="62746" y="223004"/>
                </a:lnTo>
                <a:cubicBezTo>
                  <a:pt x="70187" y="230445"/>
                  <a:pt x="82272" y="230445"/>
                  <a:pt x="89714" y="223004"/>
                </a:cubicBezTo>
                <a:cubicBezTo>
                  <a:pt x="97155" y="215563"/>
                  <a:pt x="97155" y="203478"/>
                  <a:pt x="89714" y="196036"/>
                </a:cubicBezTo>
                <a:lnTo>
                  <a:pt x="46018" y="152400"/>
                </a:lnTo>
                <a:lnTo>
                  <a:pt x="89654" y="108704"/>
                </a:lnTo>
                <a:cubicBezTo>
                  <a:pt x="97095" y="101263"/>
                  <a:pt x="97095" y="89178"/>
                  <a:pt x="89654" y="81736"/>
                </a:cubicBezTo>
                <a:close/>
              </a:path>
            </a:pathLst>
          </a:custGeom>
          <a:solidFill>
            <a:srgbClr val="2D8A4E"/>
          </a:solidFill>
          <a:ln/>
        </p:spPr>
      </p:sp>
      <p:sp>
        <p:nvSpPr>
          <p:cNvPr id="19" name="Text 17"/>
          <p:cNvSpPr/>
          <p:nvPr/>
        </p:nvSpPr>
        <p:spPr>
          <a:xfrm>
            <a:off x="11493500" y="23241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8A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Functions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049000" y="2768600"/>
            <a:ext cx="419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Map objects to objects: FatherOf(John), Successor(x), Plus(2,3).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4064000"/>
            <a:ext cx="7175500" cy="1651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62000" y="4064000"/>
            <a:ext cx="7175500" cy="63500"/>
          </a:xfrm>
          <a:prstGeom prst="rect">
            <a:avLst/>
          </a:prstGeom>
          <a:solidFill>
            <a:srgbClr val="6B4C9A"/>
          </a:solidFill>
          <a:ln/>
        </p:spPr>
      </p:sp>
      <p:sp>
        <p:nvSpPr>
          <p:cNvPr id="23" name="Shape 21"/>
          <p:cNvSpPr/>
          <p:nvPr/>
        </p:nvSpPr>
        <p:spPr>
          <a:xfrm>
            <a:off x="1035050" y="43180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19050" y="19050"/>
                </a:moveTo>
                <a:cubicBezTo>
                  <a:pt x="8513" y="19050"/>
                  <a:pt x="0" y="27563"/>
                  <a:pt x="0" y="38100"/>
                </a:cubicBezTo>
                <a:lnTo>
                  <a:pt x="0" y="95250"/>
                </a:lnTo>
                <a:cubicBezTo>
                  <a:pt x="0" y="105787"/>
                  <a:pt x="8513" y="114300"/>
                  <a:pt x="19050" y="114300"/>
                </a:cubicBezTo>
                <a:cubicBezTo>
                  <a:pt x="29587" y="114300"/>
                  <a:pt x="38100" y="105787"/>
                  <a:pt x="38100" y="95250"/>
                </a:cubicBezTo>
                <a:lnTo>
                  <a:pt x="38100" y="57150"/>
                </a:lnTo>
                <a:lnTo>
                  <a:pt x="76200" y="57150"/>
                </a:lnTo>
                <a:cubicBezTo>
                  <a:pt x="86737" y="57150"/>
                  <a:pt x="95250" y="48637"/>
                  <a:pt x="95250" y="38100"/>
                </a:cubicBezTo>
                <a:cubicBezTo>
                  <a:pt x="95250" y="27563"/>
                  <a:pt x="86737" y="19050"/>
                  <a:pt x="76200" y="19050"/>
                </a:cubicBezTo>
                <a:lnTo>
                  <a:pt x="19050" y="19050"/>
                </a:lnTo>
                <a:close/>
                <a:moveTo>
                  <a:pt x="38100" y="209550"/>
                </a:moveTo>
                <a:cubicBezTo>
                  <a:pt x="38100" y="199013"/>
                  <a:pt x="29587" y="190500"/>
                  <a:pt x="19050" y="190500"/>
                </a:cubicBezTo>
                <a:cubicBezTo>
                  <a:pt x="8513" y="190500"/>
                  <a:pt x="0" y="199013"/>
                  <a:pt x="0" y="209550"/>
                </a:cubicBezTo>
                <a:lnTo>
                  <a:pt x="0" y="266700"/>
                </a:lnTo>
                <a:cubicBezTo>
                  <a:pt x="0" y="277237"/>
                  <a:pt x="8513" y="285750"/>
                  <a:pt x="19050" y="285750"/>
                </a:cubicBezTo>
                <a:lnTo>
                  <a:pt x="76200" y="285750"/>
                </a:lnTo>
                <a:cubicBezTo>
                  <a:pt x="86737" y="285750"/>
                  <a:pt x="95250" y="277237"/>
                  <a:pt x="95250" y="266700"/>
                </a:cubicBezTo>
                <a:cubicBezTo>
                  <a:pt x="95250" y="256163"/>
                  <a:pt x="86737" y="247650"/>
                  <a:pt x="76200" y="247650"/>
                </a:cubicBezTo>
                <a:lnTo>
                  <a:pt x="38100" y="247650"/>
                </a:lnTo>
                <a:lnTo>
                  <a:pt x="38100" y="209550"/>
                </a:lnTo>
                <a:close/>
                <a:moveTo>
                  <a:pt x="190500" y="19050"/>
                </a:moveTo>
                <a:cubicBezTo>
                  <a:pt x="179963" y="19050"/>
                  <a:pt x="171450" y="27563"/>
                  <a:pt x="171450" y="38100"/>
                </a:cubicBezTo>
                <a:cubicBezTo>
                  <a:pt x="171450" y="48637"/>
                  <a:pt x="179963" y="57150"/>
                  <a:pt x="190500" y="57150"/>
                </a:cubicBezTo>
                <a:lnTo>
                  <a:pt x="228600" y="57150"/>
                </a:lnTo>
                <a:lnTo>
                  <a:pt x="228600" y="95250"/>
                </a:lnTo>
                <a:cubicBezTo>
                  <a:pt x="228600" y="105787"/>
                  <a:pt x="237113" y="114300"/>
                  <a:pt x="247650" y="114300"/>
                </a:cubicBezTo>
                <a:cubicBezTo>
                  <a:pt x="258187" y="114300"/>
                  <a:pt x="266700" y="105787"/>
                  <a:pt x="266700" y="95250"/>
                </a:cubicBezTo>
                <a:lnTo>
                  <a:pt x="266700" y="38100"/>
                </a:lnTo>
                <a:cubicBezTo>
                  <a:pt x="266700" y="27563"/>
                  <a:pt x="258187" y="19050"/>
                  <a:pt x="247650" y="19050"/>
                </a:cubicBezTo>
                <a:lnTo>
                  <a:pt x="190500" y="19050"/>
                </a:lnTo>
                <a:close/>
                <a:moveTo>
                  <a:pt x="266700" y="209550"/>
                </a:moveTo>
                <a:cubicBezTo>
                  <a:pt x="266700" y="199013"/>
                  <a:pt x="258187" y="190500"/>
                  <a:pt x="247650" y="190500"/>
                </a:cubicBezTo>
                <a:cubicBezTo>
                  <a:pt x="237113" y="190500"/>
                  <a:pt x="228600" y="199013"/>
                  <a:pt x="228600" y="209550"/>
                </a:cubicBezTo>
                <a:lnTo>
                  <a:pt x="228600" y="247650"/>
                </a:lnTo>
                <a:lnTo>
                  <a:pt x="190500" y="247650"/>
                </a:lnTo>
                <a:cubicBezTo>
                  <a:pt x="179963" y="247650"/>
                  <a:pt x="171450" y="256163"/>
                  <a:pt x="171450" y="266700"/>
                </a:cubicBezTo>
                <a:cubicBezTo>
                  <a:pt x="171450" y="277237"/>
                  <a:pt x="179963" y="285750"/>
                  <a:pt x="190500" y="285750"/>
                </a:cubicBezTo>
                <a:lnTo>
                  <a:pt x="247650" y="285750"/>
                </a:lnTo>
                <a:cubicBezTo>
                  <a:pt x="258187" y="285750"/>
                  <a:pt x="266700" y="277237"/>
                  <a:pt x="266700" y="266700"/>
                </a:cubicBezTo>
                <a:lnTo>
                  <a:pt x="266700" y="209550"/>
                </a:lnTo>
                <a:close/>
              </a:path>
            </a:pathLst>
          </a:custGeom>
          <a:solidFill>
            <a:srgbClr val="6B4C9A"/>
          </a:solidFill>
          <a:ln/>
        </p:spPr>
      </p:sp>
      <p:sp>
        <p:nvSpPr>
          <p:cNvPr id="24" name="Text 22"/>
          <p:cNvSpPr/>
          <p:nvPr/>
        </p:nvSpPr>
        <p:spPr>
          <a:xfrm>
            <a:off x="1460500" y="42926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6B4C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Quantifiers (∀, ∃)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16000" y="4737100"/>
            <a:ext cx="6667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Universal (∀):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"For all x, P(x)" — ∀x Human(x) → Mortal(x)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Existential (∃):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"There exists x, P(x)" — ∃x Prime(x)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318500" y="4064000"/>
            <a:ext cx="7175500" cy="1651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318500" y="4064000"/>
            <a:ext cx="7175500" cy="63500"/>
          </a:xfrm>
          <a:prstGeom prst="rect">
            <a:avLst/>
          </a:prstGeom>
          <a:solidFill>
            <a:srgbClr val="6B7B8D"/>
          </a:solidFill>
          <a:ln/>
        </p:spPr>
      </p:sp>
      <p:sp>
        <p:nvSpPr>
          <p:cNvPr id="28" name="Shape 26"/>
          <p:cNvSpPr/>
          <p:nvPr/>
        </p:nvSpPr>
        <p:spPr>
          <a:xfrm>
            <a:off x="8553450" y="43180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249734" y="57150"/>
                </a:moveTo>
                <a:cubicBezTo>
                  <a:pt x="239851" y="57150"/>
                  <a:pt x="230267" y="59829"/>
                  <a:pt x="221873" y="64710"/>
                </a:cubicBezTo>
                <a:cubicBezTo>
                  <a:pt x="212467" y="55185"/>
                  <a:pt x="201513" y="47208"/>
                  <a:pt x="189428" y="41196"/>
                </a:cubicBezTo>
                <a:cubicBezTo>
                  <a:pt x="206216" y="26908"/>
                  <a:pt x="227588" y="19050"/>
                  <a:pt x="249734" y="19050"/>
                </a:cubicBezTo>
                <a:cubicBezTo>
                  <a:pt x="301169" y="19050"/>
                  <a:pt x="342900" y="60722"/>
                  <a:pt x="342900" y="112216"/>
                </a:cubicBezTo>
                <a:cubicBezTo>
                  <a:pt x="342900" y="136922"/>
                  <a:pt x="333077" y="160615"/>
                  <a:pt x="315635" y="178058"/>
                </a:cubicBezTo>
                <a:lnTo>
                  <a:pt x="273308" y="220385"/>
                </a:lnTo>
                <a:cubicBezTo>
                  <a:pt x="255865" y="237827"/>
                  <a:pt x="232172" y="247650"/>
                  <a:pt x="207466" y="247650"/>
                </a:cubicBezTo>
                <a:cubicBezTo>
                  <a:pt x="156031" y="247650"/>
                  <a:pt x="114300" y="205978"/>
                  <a:pt x="114300" y="154484"/>
                </a:cubicBezTo>
                <a:cubicBezTo>
                  <a:pt x="114300" y="153591"/>
                  <a:pt x="114300" y="152698"/>
                  <a:pt x="114360" y="151805"/>
                </a:cubicBezTo>
                <a:cubicBezTo>
                  <a:pt x="114657" y="141268"/>
                  <a:pt x="123408" y="132993"/>
                  <a:pt x="133945" y="133290"/>
                </a:cubicBezTo>
                <a:cubicBezTo>
                  <a:pt x="144482" y="133588"/>
                  <a:pt x="152757" y="142339"/>
                  <a:pt x="152460" y="152876"/>
                </a:cubicBezTo>
                <a:cubicBezTo>
                  <a:pt x="152460" y="153412"/>
                  <a:pt x="152460" y="153948"/>
                  <a:pt x="152460" y="154424"/>
                </a:cubicBezTo>
                <a:cubicBezTo>
                  <a:pt x="152460" y="184845"/>
                  <a:pt x="177105" y="209490"/>
                  <a:pt x="207526" y="209490"/>
                </a:cubicBezTo>
                <a:cubicBezTo>
                  <a:pt x="222111" y="209490"/>
                  <a:pt x="236101" y="203716"/>
                  <a:pt x="246459" y="193358"/>
                </a:cubicBezTo>
                <a:lnTo>
                  <a:pt x="288786" y="151031"/>
                </a:lnTo>
                <a:cubicBezTo>
                  <a:pt x="299085" y="140732"/>
                  <a:pt x="304919" y="126683"/>
                  <a:pt x="304919" y="112097"/>
                </a:cubicBezTo>
                <a:cubicBezTo>
                  <a:pt x="304919" y="81677"/>
                  <a:pt x="280273" y="57031"/>
                  <a:pt x="249853" y="57031"/>
                </a:cubicBezTo>
                <a:close/>
                <a:moveTo>
                  <a:pt x="163830" y="103168"/>
                </a:moveTo>
                <a:cubicBezTo>
                  <a:pt x="162699" y="102691"/>
                  <a:pt x="161568" y="102037"/>
                  <a:pt x="160556" y="101322"/>
                </a:cubicBezTo>
                <a:cubicBezTo>
                  <a:pt x="153055" y="97453"/>
                  <a:pt x="144482" y="95250"/>
                  <a:pt x="135493" y="95250"/>
                </a:cubicBezTo>
                <a:cubicBezTo>
                  <a:pt x="120908" y="95250"/>
                  <a:pt x="106918" y="101025"/>
                  <a:pt x="96560" y="111383"/>
                </a:cubicBezTo>
                <a:lnTo>
                  <a:pt x="54233" y="153710"/>
                </a:lnTo>
                <a:cubicBezTo>
                  <a:pt x="43934" y="164009"/>
                  <a:pt x="38100" y="178058"/>
                  <a:pt x="38100" y="192643"/>
                </a:cubicBezTo>
                <a:cubicBezTo>
                  <a:pt x="38100" y="223064"/>
                  <a:pt x="62746" y="247710"/>
                  <a:pt x="93166" y="247710"/>
                </a:cubicBezTo>
                <a:cubicBezTo>
                  <a:pt x="102989" y="247710"/>
                  <a:pt x="112574" y="245090"/>
                  <a:pt x="120967" y="240209"/>
                </a:cubicBezTo>
                <a:cubicBezTo>
                  <a:pt x="130373" y="249734"/>
                  <a:pt x="141327" y="257711"/>
                  <a:pt x="153472" y="263723"/>
                </a:cubicBezTo>
                <a:cubicBezTo>
                  <a:pt x="136684" y="277951"/>
                  <a:pt x="115372" y="285869"/>
                  <a:pt x="93166" y="285869"/>
                </a:cubicBezTo>
                <a:cubicBezTo>
                  <a:pt x="41731" y="285869"/>
                  <a:pt x="0" y="244197"/>
                  <a:pt x="0" y="192703"/>
                </a:cubicBezTo>
                <a:cubicBezTo>
                  <a:pt x="0" y="167997"/>
                  <a:pt x="9823" y="144304"/>
                  <a:pt x="27265" y="126861"/>
                </a:cubicBezTo>
                <a:lnTo>
                  <a:pt x="69592" y="84534"/>
                </a:lnTo>
                <a:cubicBezTo>
                  <a:pt x="87035" y="67092"/>
                  <a:pt x="110728" y="57269"/>
                  <a:pt x="135434" y="57269"/>
                </a:cubicBezTo>
                <a:cubicBezTo>
                  <a:pt x="186988" y="57269"/>
                  <a:pt x="228600" y="99298"/>
                  <a:pt x="228600" y="150674"/>
                </a:cubicBezTo>
                <a:cubicBezTo>
                  <a:pt x="228600" y="151448"/>
                  <a:pt x="228600" y="152221"/>
                  <a:pt x="228600" y="152995"/>
                </a:cubicBezTo>
                <a:cubicBezTo>
                  <a:pt x="228362" y="163532"/>
                  <a:pt x="219611" y="171807"/>
                  <a:pt x="209074" y="171569"/>
                </a:cubicBezTo>
                <a:cubicBezTo>
                  <a:pt x="198537" y="171331"/>
                  <a:pt x="190262" y="162580"/>
                  <a:pt x="190500" y="152043"/>
                </a:cubicBezTo>
                <a:cubicBezTo>
                  <a:pt x="190500" y="151567"/>
                  <a:pt x="190500" y="151150"/>
                  <a:pt x="190500" y="150674"/>
                </a:cubicBezTo>
                <a:cubicBezTo>
                  <a:pt x="190500" y="130612"/>
                  <a:pt x="179784" y="112990"/>
                  <a:pt x="163830" y="103287"/>
                </a:cubicBezTo>
                <a:close/>
              </a:path>
            </a:pathLst>
          </a:custGeom>
          <a:solidFill>
            <a:srgbClr val="6B7B8D"/>
          </a:solidFill>
          <a:ln/>
        </p:spPr>
      </p:sp>
      <p:sp>
        <p:nvSpPr>
          <p:cNvPr id="29" name="Text 27"/>
          <p:cNvSpPr/>
          <p:nvPr/>
        </p:nvSpPr>
        <p:spPr>
          <a:xfrm>
            <a:off x="9017000" y="42926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Connectives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572500" y="4737100"/>
            <a:ext cx="6667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Same as propositional logic: ¬ (not), ∧ (and), ∨ (or), → (implies), ↔ (iff)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62000" y="6032500"/>
            <a:ext cx="14732000" cy="2413000"/>
          </a:xfrm>
          <a:prstGeom prst="rect">
            <a:avLst/>
          </a:prstGeom>
          <a:solidFill>
            <a:srgbClr val="0F4C5C">
              <a:alpha val="6275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762000" y="6032500"/>
            <a:ext cx="63500" cy="2413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3" name="Text 31"/>
          <p:cNvSpPr/>
          <p:nvPr/>
        </p:nvSpPr>
        <p:spPr>
          <a:xfrm>
            <a:off x="1079500" y="6159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FOL Examples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79500" y="6540500"/>
            <a:ext cx="14097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"All humans are mortal"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∀x (Human(x) → Mortal(x))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"There exists a prime number greater than 100"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∃x (Prime(x) ∧ Greater(x, 100))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"John loves Mary"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Loves(John, Mary)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"Everyone has a father"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∀x ∃y FatherOf(y, x)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36" name="Text 34"/>
          <p:cNvSpPr/>
          <p:nvPr/>
        </p:nvSpPr>
        <p:spPr>
          <a:xfrm>
            <a:off x="14732000" y="8826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23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190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FOL Syntax —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98600"/>
            <a:ext cx="147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FOL syntax defines well-formed formulas (wffs) — legal expressions with precise, unambiguous meanings.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2095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Structure of FOL Expressions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318000" y="2667000"/>
            <a:ext cx="7620000" cy="6350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/>
        </p:spPr>
      </p:sp>
      <p:sp>
        <p:nvSpPr>
          <p:cNvPr id="8" name="Text 6"/>
          <p:cNvSpPr/>
          <p:nvPr/>
        </p:nvSpPr>
        <p:spPr>
          <a:xfrm>
            <a:off x="4318000" y="2667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Well-Formed Formula (WFF / Sentence)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28000" y="3302000"/>
            <a:ext cx="0" cy="381000"/>
          </a:xfrm>
          <a:prstGeom prst="straightConnector1">
            <a:avLst/>
          </a:prstGeom>
          <a:noFill/>
          <a:ln w="25400">
            <a:solidFill>
              <a:srgbClr val="6B7B8D"/>
            </a:solidFill>
            <a:prstDash val="solid"/>
            <a:headEnd type="none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1524000" y="3746500"/>
            <a:ext cx="3302000" cy="571500"/>
          </a:xfrm>
          <a:prstGeom prst="roundRect">
            <a:avLst>
              <a:gd name="adj" fmla="val 8000"/>
            </a:avLst>
          </a:prstGeom>
          <a:solidFill>
            <a:srgbClr val="D4943A"/>
          </a:solidFill>
          <a:ln/>
        </p:spPr>
      </p:sp>
      <p:sp>
        <p:nvSpPr>
          <p:cNvPr id="11" name="Text 9"/>
          <p:cNvSpPr/>
          <p:nvPr/>
        </p:nvSpPr>
        <p:spPr>
          <a:xfrm>
            <a:off x="1524000" y="3746500"/>
            <a:ext cx="3302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Quantified Formula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77000" y="3746500"/>
            <a:ext cx="3302000" cy="571500"/>
          </a:xfrm>
          <a:prstGeom prst="roundRect">
            <a:avLst>
              <a:gd name="adj" fmla="val 8000"/>
            </a:avLst>
          </a:prstGeom>
          <a:solidFill>
            <a:srgbClr val="D4943A"/>
          </a:solidFill>
          <a:ln/>
        </p:spPr>
      </p:sp>
      <p:sp>
        <p:nvSpPr>
          <p:cNvPr id="13" name="Text 11"/>
          <p:cNvSpPr/>
          <p:nvPr/>
        </p:nvSpPr>
        <p:spPr>
          <a:xfrm>
            <a:off x="6477000" y="3746500"/>
            <a:ext cx="3302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Connected Formula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1430000" y="3746500"/>
            <a:ext cx="3302000" cy="571500"/>
          </a:xfrm>
          <a:prstGeom prst="roundRect">
            <a:avLst>
              <a:gd name="adj" fmla="val 8000"/>
            </a:avLst>
          </a:prstGeom>
          <a:solidFill>
            <a:srgbClr val="D4943A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0" y="3746500"/>
            <a:ext cx="3302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Atomic Formula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175000" y="4318000"/>
            <a:ext cx="0" cy="317500"/>
          </a:xfrm>
          <a:prstGeom prst="straightConnector1">
            <a:avLst/>
          </a:prstGeom>
          <a:noFill/>
          <a:ln w="12700">
            <a:solidFill>
              <a:srgbClr val="6B7B8D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8128000" y="4318000"/>
            <a:ext cx="0" cy="317500"/>
          </a:xfrm>
          <a:prstGeom prst="straightConnector1">
            <a:avLst/>
          </a:prstGeom>
          <a:noFill/>
          <a:ln w="12700">
            <a:solidFill>
              <a:srgbClr val="6B7B8D"/>
            </a:solidFill>
            <a:prstDash val="solid"/>
            <a:headEnd type="none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13081000" y="4318000"/>
            <a:ext cx="0" cy="317500"/>
          </a:xfrm>
          <a:prstGeom prst="straightConnector1">
            <a:avLst/>
          </a:prstGeom>
          <a:noFill/>
          <a:ln w="12700">
            <a:solidFill>
              <a:srgbClr val="6B7B8D"/>
            </a:solidFill>
            <a:prstDash val="solid"/>
            <a:headEnd type="none"/>
            <a:tailEnd type="arrow"/>
          </a:ln>
        </p:spPr>
      </p:sp>
      <p:sp>
        <p:nvSpPr>
          <p:cNvPr id="19" name="Text 17"/>
          <p:cNvSpPr/>
          <p:nvPr/>
        </p:nvSpPr>
        <p:spPr>
          <a:xfrm>
            <a:off x="762000" y="4699000"/>
            <a:ext cx="147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Quantified: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∀x P(x), ∃y Q(y) — formulas with universal or existential quantifiers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Connected: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 ∧ Q, P → Q, ¬P — formulas combined with logical connectives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Atomic: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Human(John), Loves(x,y) — predicates applied to terms (simplest formulas)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2000" y="5905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Four Syntactic Categories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762000" y="6413500"/>
            <a:ext cx="3429000" cy="952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2353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52500" y="650240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Terms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Represent objects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08500" y="6413500"/>
            <a:ext cx="3429000" cy="952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2353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699000" y="650240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Predicates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Represent relations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255000" y="6413500"/>
            <a:ext cx="3429000" cy="952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2353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445500" y="650240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6B4C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Quantifiers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Specify scope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2001500" y="6413500"/>
            <a:ext cx="3429000" cy="952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2353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2192000" y="650240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Connectives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Combine formulas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62000" y="76200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Constants vs. Variables: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Constants name specific objects (John, 5). Variables (x, y, z) range over all objects in the domain.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31" name="Text 29"/>
          <p:cNvSpPr/>
          <p:nvPr/>
        </p:nvSpPr>
        <p:spPr>
          <a:xfrm>
            <a:off x="14732000" y="8826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24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190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FOL Syntax — Terms &amp; Predicates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240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Terms</a:t>
            </a:r>
            <a:pPr>
              <a:lnSpc>
                <a:spcPct val="130000"/>
              </a:lnSpc>
            </a:pPr>
            <a:r>
              <a:rPr lang="en-US" sz="20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(represent objects)</a:t>
            </a:r>
            <a:endParaRPr lang="en-US" sz="2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032000"/>
          <a:ext cx="7112000" cy="1981200"/>
        </p:xfrm>
        <a:graphic>
          <a:graphicData uri="http://schemas.openxmlformats.org/drawingml/2006/table">
            <a:tbl>
              <a:tblPr/>
              <a:tblGrid>
                <a:gridCol w="1564640"/>
                <a:gridCol w="2702560"/>
                <a:gridCol w="2844800"/>
              </a:tblGrid>
              <a:tr h="495300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Type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Form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Examples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Constants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a, b, c, John, 5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Specific named objects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Variables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x, y, z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Placeholders for objects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Functions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f(t₁, t₂, ...)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FatherOf(x), Plus(2,3)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62000" y="47625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Predicates</a:t>
            </a:r>
            <a:pPr>
              <a:lnSpc>
                <a:spcPct val="130000"/>
              </a:lnSpc>
            </a:pPr>
            <a:r>
              <a:rPr lang="en-US" sz="20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(represent properties/relations)</a:t>
            </a:r>
            <a:endParaRPr lang="en-US" sz="2200" dirty="0"/>
          </a:p>
        </p:txBody>
      </p:sp>
      <p:graphicFrame>
        <p:nvGraphicFramePr>
          <p:cNvPr id="5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270500"/>
          <a:ext cx="7112000" cy="1981200"/>
        </p:xfrm>
        <a:graphic>
          <a:graphicData uri="http://schemas.openxmlformats.org/drawingml/2006/table">
            <a:tbl>
              <a:tblPr/>
              <a:tblGrid>
                <a:gridCol w="1564640"/>
                <a:gridCol w="2702560"/>
                <a:gridCol w="2844800"/>
              </a:tblGrid>
              <a:tr h="495300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Arity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Form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Examples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Unary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P(x)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Human(John), Red(Ball)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Binary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P(x, y)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Loves(John, Mary)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n-ary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P(x₁, ..., xₙ)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Between(Cairo, A, B)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8382000" y="1524000"/>
            <a:ext cx="7112000" cy="622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8636000" y="1651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spc="100" kern="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ATOMIC FORMULAS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8636000" y="2133600"/>
            <a:ext cx="6604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atomic formula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 predicate applied to terms — the simplest well-formed formula in FOL.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8636000" y="2921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8636000" y="3327400"/>
            <a:ext cx="6604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8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Human(John)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unary predicate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8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Loves(John, Mary)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binary predicate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8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Greater(5, 3)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binary relation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8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FatherOf(John)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function in term position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8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Prime(Successor(2))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nested function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8636000" y="55245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Ground Terms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8636000" y="5905500"/>
            <a:ext cx="660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ground term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contains no variables — it refers to a specific object: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John, 5, FatherOf(John)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17" name="Text 13"/>
          <p:cNvSpPr/>
          <p:nvPr/>
        </p:nvSpPr>
        <p:spPr>
          <a:xfrm>
            <a:off x="14732000" y="8826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190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FOL Syntax — Quantifiers &amp; Connectives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87500"/>
            <a:ext cx="7175500" cy="304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2000" y="1587500"/>
            <a:ext cx="7175500" cy="635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18415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∀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41500" y="18796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Universal Quantifier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413000"/>
            <a:ext cx="66675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Meaning: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"For all x, P(x) holds"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∀x (Human(x) → Mortal(x))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"All humans are mortal"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True when: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P(x) is true for 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x in the domain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18500" y="1587500"/>
            <a:ext cx="7175500" cy="304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318500" y="1587500"/>
            <a:ext cx="7175500" cy="635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2" name="Text 10"/>
          <p:cNvSpPr/>
          <p:nvPr/>
        </p:nvSpPr>
        <p:spPr>
          <a:xfrm>
            <a:off x="8572500" y="18415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∃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398000" y="18796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Existential Quantifier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572500" y="2413000"/>
            <a:ext cx="66675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Meaning: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"There exists an x such that P(x)"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∃x (Student(x) ∧ Smart(x))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"There exists a smart student"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True when: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P(x) is true for 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 least one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x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2000" y="49530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Connectives in FOL</a:t>
            </a:r>
            <a:endParaRPr lang="en-US" sz="22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461000"/>
          <a:ext cx="7112000" cy="1968500"/>
        </p:xfrm>
        <a:graphic>
          <a:graphicData uri="http://schemas.openxmlformats.org/drawingml/2006/table">
            <a:tbl>
              <a:tblPr/>
              <a:tblGrid>
                <a:gridCol w="1280160"/>
                <a:gridCol w="1564640"/>
                <a:gridCol w="2133600"/>
                <a:gridCol w="2133600"/>
              </a:tblGrid>
              <a:tr h="393700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Symbol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Name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Usage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Example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¬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Negation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¬Human(x)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∧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AND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Conjunction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P(x) ∧ Q(x)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∨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OR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Disjunction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P(x) ∨ Q(x)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→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IMPLIES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Implication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P(x) → Q(x)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8382000" y="4953000"/>
            <a:ext cx="7112000" cy="2603500"/>
          </a:xfrm>
          <a:prstGeom prst="rect">
            <a:avLst/>
          </a:prstGeom>
          <a:solidFill>
            <a:srgbClr val="0F4C5C">
              <a:alpha val="6275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8382000" y="4953000"/>
            <a:ext cx="63500" cy="26035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19" name="Text 16"/>
          <p:cNvSpPr/>
          <p:nvPr/>
        </p:nvSpPr>
        <p:spPr>
          <a:xfrm>
            <a:off x="8699500" y="5080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Quantifier Nesting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699500" y="5486400"/>
            <a:ext cx="6477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∀x ∃y Loves(x,y)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"Everyone loves someone"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∃y ∀x Loves(x,y)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"Someone is loved by everyone"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400"/>
              </a:spcBef>
            </a:pPr>
            <a:r>
              <a:rPr lang="en-US" sz="1500" i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Order of quantifiers matters!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22" name="Text 19"/>
          <p:cNvSpPr/>
          <p:nvPr/>
        </p:nvSpPr>
        <p:spPr>
          <a:xfrm>
            <a:off x="14732000" y="8826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26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190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FOL Syntax — Sentences &amp; Well-Formed Formulas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24000"/>
            <a:ext cx="7175500" cy="1752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2000" y="1524000"/>
            <a:ext cx="63500" cy="17526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16256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Sentence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1981200"/>
            <a:ext cx="6667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closed formula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no free variables — all variables are bound by quantifiers.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540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Well-Formed Formula (WFF)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2895600"/>
            <a:ext cx="6667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Any expression that follows the strict </a:t>
            </a:r>
            <a:pPr>
              <a:lnSpc>
                <a:spcPct val="140000"/>
              </a:lnSpc>
            </a:pPr>
            <a:r>
              <a:rPr lang="en-US" sz="14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formation rules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FOL.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34290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Formation Rules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62000" y="4000500"/>
            <a:ext cx="381000" cy="381000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3" name="Text 11"/>
          <p:cNvSpPr/>
          <p:nvPr/>
        </p:nvSpPr>
        <p:spPr>
          <a:xfrm>
            <a:off x="762000" y="4000500"/>
            <a:ext cx="38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70000" y="4000500"/>
            <a:ext cx="660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</a:t>
            </a:r>
            <a:pPr>
              <a:lnSpc>
                <a:spcPct val="10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atomic formula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 wff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4508500"/>
            <a:ext cx="381000" cy="381000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6" name="Text 14"/>
          <p:cNvSpPr/>
          <p:nvPr/>
        </p:nvSpPr>
        <p:spPr>
          <a:xfrm>
            <a:off x="762000" y="4508500"/>
            <a:ext cx="38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70000" y="4508500"/>
            <a:ext cx="660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α is a wff, then </a:t>
            </a:r>
            <a:pPr>
              <a:lnSpc>
                <a:spcPct val="10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¬α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 wff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5016500"/>
            <a:ext cx="381000" cy="381000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9" name="Text 17"/>
          <p:cNvSpPr/>
          <p:nvPr/>
        </p:nvSpPr>
        <p:spPr>
          <a:xfrm>
            <a:off x="762000" y="5016500"/>
            <a:ext cx="38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70000" y="5016500"/>
            <a:ext cx="660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α and β are wffs, then </a:t>
            </a:r>
            <a:pPr>
              <a:lnSpc>
                <a:spcPct val="10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(α ∧ β), (α ∨ β), (α → β)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are wffs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5524500"/>
            <a:ext cx="381000" cy="381000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22" name="Text 20"/>
          <p:cNvSpPr/>
          <p:nvPr/>
        </p:nvSpPr>
        <p:spPr>
          <a:xfrm>
            <a:off x="762000" y="5524500"/>
            <a:ext cx="38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70000" y="5524500"/>
            <a:ext cx="660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α is a wff and x is a variable, then </a:t>
            </a:r>
            <a:pPr>
              <a:lnSpc>
                <a:spcPct val="10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∀x α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pPr>
              <a:lnSpc>
                <a:spcPct val="10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∃x α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are wffs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2000" y="6096000"/>
            <a:ext cx="7112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i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Nothing else is a wff.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382000" y="1524000"/>
            <a:ext cx="7112000" cy="5080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636000" y="1651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spc="100" kern="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VALID vs. INVALID EXPRESSIONS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636000" y="2159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2D8A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Valid (WFFs)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636000" y="2514600"/>
            <a:ext cx="660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2D8A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Human(John)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2D8A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∀x (Human(x) → Mortal(x))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2D8A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∃x Loves(John, x) ∧ Human(x)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2D8A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¬∀x Human(x)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636000" y="41656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C445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Invalid (Not WFFs)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636000" y="4521200"/>
            <a:ext cx="660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C445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Human() — missing argument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C445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∀Human(x) — quantifier without variable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C445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x → y — variables not in predicate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62000" y="6858000"/>
            <a:ext cx="14732000" cy="1651000"/>
          </a:xfrm>
          <a:prstGeom prst="rect">
            <a:avLst/>
          </a:prstGeom>
          <a:solidFill>
            <a:srgbClr val="0F4C5C">
              <a:alpha val="6275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762000" y="6858000"/>
            <a:ext cx="63500" cy="1651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33" name="Shape 31"/>
          <p:cNvSpPr/>
          <p:nvPr/>
        </p:nvSpPr>
        <p:spPr>
          <a:xfrm>
            <a:off x="1079500" y="7048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152400" y="80962"/>
                </a:moveTo>
                <a:cubicBezTo>
                  <a:pt x="160318" y="80962"/>
                  <a:pt x="166688" y="87332"/>
                  <a:pt x="166688" y="95250"/>
                </a:cubicBezTo>
                <a:lnTo>
                  <a:pt x="166688" y="161925"/>
                </a:lnTo>
                <a:cubicBezTo>
                  <a:pt x="166688" y="169843"/>
                  <a:pt x="160318" y="176212"/>
                  <a:pt x="152400" y="176212"/>
                </a:cubicBezTo>
                <a:cubicBezTo>
                  <a:pt x="144482" y="176212"/>
                  <a:pt x="138113" y="169843"/>
                  <a:pt x="138113" y="161925"/>
                </a:cubicBezTo>
                <a:lnTo>
                  <a:pt x="138113" y="95250"/>
                </a:lnTo>
                <a:cubicBezTo>
                  <a:pt x="138113" y="87332"/>
                  <a:pt x="144482" y="80962"/>
                  <a:pt x="152400" y="80962"/>
                </a:cubicBezTo>
                <a:close/>
                <a:moveTo>
                  <a:pt x="136505" y="209550"/>
                </a:moveTo>
                <a:cubicBezTo>
                  <a:pt x="136144" y="203650"/>
                  <a:pt x="139086" y="198037"/>
                  <a:pt x="144144" y="194977"/>
                </a:cubicBezTo>
                <a:cubicBezTo>
                  <a:pt x="149201" y="191918"/>
                  <a:pt x="155539" y="191918"/>
                  <a:pt x="160597" y="194977"/>
                </a:cubicBezTo>
                <a:cubicBezTo>
                  <a:pt x="165655" y="198037"/>
                  <a:pt x="168597" y="203650"/>
                  <a:pt x="168235" y="209550"/>
                </a:cubicBezTo>
                <a:cubicBezTo>
                  <a:pt x="168597" y="215450"/>
                  <a:pt x="165655" y="221063"/>
                  <a:pt x="160597" y="224123"/>
                </a:cubicBezTo>
                <a:cubicBezTo>
                  <a:pt x="155539" y="227182"/>
                  <a:pt x="149201" y="227182"/>
                  <a:pt x="144144" y="224123"/>
                </a:cubicBezTo>
                <a:cubicBezTo>
                  <a:pt x="139086" y="221063"/>
                  <a:pt x="136144" y="215450"/>
                  <a:pt x="136505" y="209550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34" name="Text 32"/>
          <p:cNvSpPr/>
          <p:nvPr/>
        </p:nvSpPr>
        <p:spPr>
          <a:xfrm>
            <a:off x="1524000" y="70231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Well-Formed Formulas Matter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524000" y="7404100"/>
            <a:ext cx="1371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Only well-formed formulas can be assigned truth values and used in logical reasoning. The syntax ensures every FOL expression has a precise, unambiguous meaning — essential for automated theorem proving and knowledge representation in AI.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37" name="Text 35"/>
          <p:cNvSpPr/>
          <p:nvPr/>
        </p:nvSpPr>
        <p:spPr>
          <a:xfrm>
            <a:off x="14732000" y="8826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27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190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12 —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986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Additional Inference Rules</a:t>
            </a:r>
            <a:endParaRPr lang="en-US" sz="22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968500"/>
          <a:ext cx="14732000" cy="1968500"/>
        </p:xfrm>
        <a:graphic>
          <a:graphicData uri="http://schemas.openxmlformats.org/drawingml/2006/table">
            <a:tbl>
              <a:tblPr/>
              <a:tblGrid>
                <a:gridCol w="2946400"/>
                <a:gridCol w="4419600"/>
                <a:gridCol w="4124960"/>
                <a:gridCol w="3241040"/>
              </a:tblGrid>
              <a:tr h="434604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Rule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Structure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Description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Key Property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511299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Addition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 ⊢ (P ∨ Q)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OR Introduction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Introduces alternatives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299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Simplification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(P ∧ Q) ⊢ P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AND Elimination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Extracts components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511299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Resolution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(P∨Q) ∧ (¬P∨R) ⊢ (Q∨R)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Most powerful rule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Cancels complements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62000" y="4191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First Order Logic — Key Concepts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762000" y="4699000"/>
            <a:ext cx="4699000" cy="1206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2353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52500" y="4800600"/>
            <a:ext cx="431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Terms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Constants, Variables, Functions — represent objects in the domain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778500" y="4699000"/>
            <a:ext cx="4699000" cy="1206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2353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969000" y="4800600"/>
            <a:ext cx="431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Predicates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Unary, Binary, n-ary — represent properties and relations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0795000" y="4699000"/>
            <a:ext cx="4699000" cy="1206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2353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985500" y="4800600"/>
            <a:ext cx="431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6B4C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Quantifiers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Universal (∀) and Existential (∃) — specify scope of claims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62000" y="6096000"/>
            <a:ext cx="7175500" cy="1206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2353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952500" y="6197600"/>
            <a:ext cx="6794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Connectives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¬, ∧, ∨, →, ↔ — combine atomic formulas into complex expressions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318500" y="6096000"/>
            <a:ext cx="7175500" cy="1206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2353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509000" y="6197600"/>
            <a:ext cx="6794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Well-Formed Formulas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Strict formation rules ensure every expression has precise meaning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62000" y="7556500"/>
            <a:ext cx="14732000" cy="952500"/>
          </a:xfrm>
          <a:prstGeom prst="rect">
            <a:avLst/>
          </a:prstGeom>
          <a:solidFill>
            <a:srgbClr val="0F4C5C">
              <a:alpha val="6275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762000" y="7556500"/>
            <a:ext cx="63500" cy="9525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20" name="Text 17"/>
          <p:cNvSpPr/>
          <p:nvPr/>
        </p:nvSpPr>
        <p:spPr>
          <a:xfrm>
            <a:off x="1079500" y="7620000"/>
            <a:ext cx="14097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Takeaway: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propositional inference rules to First Order Logic — these are the building blocks of AI reasoning systems that can represent and reason about complex real-world knowledge.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22" name="Text 19"/>
          <p:cNvSpPr/>
          <p:nvPr/>
        </p:nvSpPr>
        <p:spPr>
          <a:xfrm>
            <a:off x="14732000" y="8826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28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iluvy7yj7dso6/mnt/agents/output/ai-week6/images/6_Abstract_Data_Stream_Visualization.png">    </p:cNvPr>
          <p:cNvPicPr>
            <a:picLocks noChangeAspect="1"/>
          </p:cNvPicPr>
          <p:nvPr/>
        </p:nvPicPr>
        <p:blipFill>
          <a:blip r:embed="rId1"/>
          <a:srcRect l="111" r="111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A2E38">
                  <a:alpha val="90000"/>
                </a:srgbClr>
              </a:gs>
              <a:gs pos="50000">
                <a:srgbClr val="0A2E38">
                  <a:alpha val="80000"/>
                </a:srgbClr>
              </a:gs>
              <a:gs pos="100000">
                <a:srgbClr val="0A2E38">
                  <a:alpha val="90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223000" y="2794000"/>
            <a:ext cx="3810000" cy="254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2"/>
          <p:cNvSpPr/>
          <p:nvPr/>
        </p:nvSpPr>
        <p:spPr>
          <a:xfrm>
            <a:off x="2413000" y="3111500"/>
            <a:ext cx="1143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200" i="1" dirty="0">
                <a:solidFill>
                  <a:srgbClr val="E8E4D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"Logic is the anatomy of thought."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588000" y="4127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John Locke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223000" y="4699000"/>
            <a:ext cx="3810000" cy="254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8" name="Text 5"/>
          <p:cNvSpPr/>
          <p:nvPr/>
        </p:nvSpPr>
        <p:spPr>
          <a:xfrm>
            <a:off x="3048000" y="50165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Mastering inference rules and First Order Logic provides the foundation for building intelligent systems that can reason, deduce, and solve complex problems.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318000" y="7366000"/>
            <a:ext cx="762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Artificial Intelligence — Week 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 - Week 6: Inference Rules &amp; First Order Logic</dc:title>
  <dc:subject>Artificial Intelligence - Week 6: Inference Rules &amp; First Order Logic</dc:subject>
  <dc:creator>Kimi</dc:creator>
  <cp:lastModifiedBy>Kimi</cp:lastModifiedBy>
  <cp:revision>1</cp:revision>
  <dcterms:created xsi:type="dcterms:W3CDTF">2026-05-25T21:04:52Z</dcterms:created>
  <dcterms:modified xsi:type="dcterms:W3CDTF">2026-05-25T21:04:52Z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{"Label":"Artificial Intelligence - Week 6: Inference Rules &amp; First Order Logic","ContentProducer":"001191110108MACG2KBH8F10000","ProduceID":"19e60cbf-b592-8a2c-8000-000005b059fb","ReservedCode1":"","ContentPropagator":"001191110108MACG2KBH8F20000","PropagateID":"19e60cbf-b592-8a2c-8000-000005b059fb","ReservedCode2":""}</vt:lpwstr>
  </property>
</Properties>
</file>