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Quattrocento Sans" charset="-122" pitchFamily="34"/>
      <p:regular r:id="rId34"/>
    </p:embeddedFon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cmvalsnv4aye/mnt/agents/output/ai-search-strategies/images/4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50000">
                <a:srgbClr val="0A2E38">
                  <a:alpha val="8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48000" y="457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8 — Search Strategies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2832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588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 · Informed Search · Adversarial Search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 · DFS · UCS · IDS · Greedy BFS · A* · Min-Max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762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1EB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15 &amp; 16 | W8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27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20066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540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15: Search Strategies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9464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Choosing states and actions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search: BFS, UCS, DFS, IDS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Informed vs. Uninformed search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318000"/>
            <a:ext cx="6858000" cy="12700"/>
          </a:xfrm>
          <a:prstGeom prst="rect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69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4699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16: Informed &amp; Adversarial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51054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Best-First Search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Search algorithm and heuristics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Search &amp; Min-Max Algorithm</a:t>
            </a:r>
            <a:endParaRPr lang="en-US" sz="1600" dirty="0"/>
          </a:p>
        </p:txBody>
      </p:sp>
      <p:pic>
        <p:nvPicPr>
          <p:cNvPr id="12" name="Image 0" descr="https://kimi-img.moonshot.cn/pub/slides/okc/gcmvalsnv4aye/mnt/agents/output/ai-search-strategies/images/7_Solving_Mazes_with_A_Search_Algorithm.png">    </p:cNvPr>
          <p:cNvPicPr>
            <a:picLocks noChangeAspect="1"/>
          </p:cNvPicPr>
          <p:nvPr/>
        </p:nvPicPr>
        <p:blipFill>
          <a:blip r:embed="rId1"/>
          <a:srcRect l="6452" r="6452" t="0" b="0"/>
          <a:stretch/>
        </p:blipFill>
        <p:spPr>
          <a:xfrm>
            <a:off x="8636000" y="635000"/>
            <a:ext cx="6858000" cy="7874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636000" y="635000"/>
            <a:ext cx="6858000" cy="7874000"/>
          </a:xfrm>
          <a:prstGeom prst="rect">
            <a:avLst/>
          </a:prstGeom>
          <a:gradFill rotWithShape="1" flip="none">
            <a:gsLst>
              <a:gs pos="0">
                <a:srgbClr val="F5F1EB"/>
              </a:gs>
              <a:gs pos="30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4" name="Shape 1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cmvalsnv4aye/mnt/agents/output/ai-search-strategies/images/2_23_737_Neural_Netwo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50000">
                <a:srgbClr val="0A2E38">
                  <a:alpha val="8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1524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0F4C5C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493000" y="3810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4318000" y="406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13000" y="457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STRATEGIES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48000" y="5461000"/>
            <a:ext cx="1016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problem formulation to systematic exploration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state spaces using uninformed search methods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States and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well-defined AI problem has five key components: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6858000" cy="101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4575" y="2667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57150" y="12769"/>
                  <a:pt x="44381" y="0"/>
                  <a:pt x="28575" y="0"/>
                </a:cubicBezTo>
                <a:cubicBezTo>
                  <a:pt x="12769" y="0"/>
                  <a:pt x="0" y="12769"/>
                  <a:pt x="0" y="28575"/>
                </a:cubicBezTo>
                <a:lnTo>
                  <a:pt x="0" y="428625"/>
                </a:lnTo>
                <a:cubicBezTo>
                  <a:pt x="0" y="444431"/>
                  <a:pt x="12769" y="457200"/>
                  <a:pt x="28575" y="457200"/>
                </a:cubicBezTo>
                <a:cubicBezTo>
                  <a:pt x="44381" y="457200"/>
                  <a:pt x="57150" y="444431"/>
                  <a:pt x="57150" y="428625"/>
                </a:cubicBezTo>
                <a:lnTo>
                  <a:pt x="57150" y="320040"/>
                </a:lnTo>
                <a:lnTo>
                  <a:pt x="113139" y="303252"/>
                </a:lnTo>
                <a:cubicBezTo>
                  <a:pt x="150555" y="292001"/>
                  <a:pt x="190917" y="295483"/>
                  <a:pt x="225832" y="312986"/>
                </a:cubicBezTo>
                <a:cubicBezTo>
                  <a:pt x="263962" y="332095"/>
                  <a:pt x="308431" y="334417"/>
                  <a:pt x="348347" y="319415"/>
                </a:cubicBezTo>
                <a:lnTo>
                  <a:pt x="381476" y="307003"/>
                </a:lnTo>
                <a:cubicBezTo>
                  <a:pt x="392638" y="302806"/>
                  <a:pt x="400050" y="292179"/>
                  <a:pt x="400050" y="280214"/>
                </a:cubicBezTo>
                <a:lnTo>
                  <a:pt x="400050" y="59025"/>
                </a:lnTo>
                <a:cubicBezTo>
                  <a:pt x="400050" y="38487"/>
                  <a:pt x="378440" y="25092"/>
                  <a:pt x="360045" y="34290"/>
                </a:cubicBezTo>
                <a:lnTo>
                  <a:pt x="349508" y="39559"/>
                </a:lnTo>
                <a:cubicBezTo>
                  <a:pt x="309414" y="59650"/>
                  <a:pt x="262176" y="59650"/>
                  <a:pt x="221992" y="39559"/>
                </a:cubicBezTo>
                <a:cubicBezTo>
                  <a:pt x="189488" y="23306"/>
                  <a:pt x="152073" y="20092"/>
                  <a:pt x="117336" y="30540"/>
                </a:cubicBezTo>
                <a:lnTo>
                  <a:pt x="57150" y="48578"/>
                </a:lnTo>
                <a:lnTo>
                  <a:pt x="57150" y="2857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54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2870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starting configuration of the agent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19500"/>
            <a:ext cx="6858000" cy="101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87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8781" y="8394"/>
                </a:moveTo>
                <a:cubicBezTo>
                  <a:pt x="237619" y="-2768"/>
                  <a:pt x="219492" y="-2768"/>
                  <a:pt x="208330" y="8394"/>
                </a:cubicBezTo>
                <a:lnTo>
                  <a:pt x="151180" y="65544"/>
                </a:lnTo>
                <a:cubicBezTo>
                  <a:pt x="140018" y="76706"/>
                  <a:pt x="140018" y="94833"/>
                  <a:pt x="151180" y="105995"/>
                </a:cubicBezTo>
                <a:cubicBezTo>
                  <a:pt x="162342" y="117157"/>
                  <a:pt x="180469" y="117157"/>
                  <a:pt x="191631" y="105995"/>
                </a:cubicBezTo>
                <a:lnTo>
                  <a:pt x="200025" y="97601"/>
                </a:lnTo>
                <a:lnTo>
                  <a:pt x="200025" y="200025"/>
                </a:lnTo>
                <a:lnTo>
                  <a:pt x="97601" y="200025"/>
                </a:lnTo>
                <a:lnTo>
                  <a:pt x="105995" y="191631"/>
                </a:lnTo>
                <a:cubicBezTo>
                  <a:pt x="117158" y="180469"/>
                  <a:pt x="117158" y="162342"/>
                  <a:pt x="105995" y="151180"/>
                </a:cubicBezTo>
                <a:cubicBezTo>
                  <a:pt x="94833" y="140018"/>
                  <a:pt x="76706" y="140018"/>
                  <a:pt x="65544" y="151180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65544" y="305931"/>
                </a:lnTo>
                <a:cubicBezTo>
                  <a:pt x="76706" y="317093"/>
                  <a:pt x="94833" y="317093"/>
                  <a:pt x="105995" y="305931"/>
                </a:cubicBezTo>
                <a:cubicBezTo>
                  <a:pt x="117158" y="294769"/>
                  <a:pt x="117158" y="276642"/>
                  <a:pt x="105995" y="265480"/>
                </a:cubicBezTo>
                <a:lnTo>
                  <a:pt x="97601" y="257086"/>
                </a:lnTo>
                <a:lnTo>
                  <a:pt x="200025" y="257086"/>
                </a:lnTo>
                <a:lnTo>
                  <a:pt x="200025" y="359509"/>
                </a:lnTo>
                <a:lnTo>
                  <a:pt x="191631" y="351115"/>
                </a:lnTo>
                <a:cubicBezTo>
                  <a:pt x="180469" y="339953"/>
                  <a:pt x="162342" y="339953"/>
                  <a:pt x="151180" y="351115"/>
                </a:cubicBezTo>
                <a:cubicBezTo>
                  <a:pt x="140018" y="362277"/>
                  <a:pt x="140018" y="380405"/>
                  <a:pt x="151180" y="391567"/>
                </a:cubicBezTo>
                <a:lnTo>
                  <a:pt x="208330" y="448717"/>
                </a:lnTo>
                <a:cubicBezTo>
                  <a:pt x="219492" y="459879"/>
                  <a:pt x="237619" y="459879"/>
                  <a:pt x="248781" y="448717"/>
                </a:cubicBezTo>
                <a:lnTo>
                  <a:pt x="305931" y="391567"/>
                </a:lnTo>
                <a:cubicBezTo>
                  <a:pt x="317093" y="380405"/>
                  <a:pt x="317093" y="362277"/>
                  <a:pt x="305931" y="351115"/>
                </a:cubicBezTo>
                <a:cubicBezTo>
                  <a:pt x="294769" y="339953"/>
                  <a:pt x="276642" y="339953"/>
                  <a:pt x="265480" y="351115"/>
                </a:cubicBezTo>
                <a:lnTo>
                  <a:pt x="257086" y="359509"/>
                </a:lnTo>
                <a:lnTo>
                  <a:pt x="257086" y="257086"/>
                </a:lnTo>
                <a:lnTo>
                  <a:pt x="359509" y="257086"/>
                </a:lnTo>
                <a:lnTo>
                  <a:pt x="351115" y="265480"/>
                </a:lnTo>
                <a:cubicBezTo>
                  <a:pt x="339953" y="276642"/>
                  <a:pt x="339953" y="294769"/>
                  <a:pt x="351115" y="305931"/>
                </a:cubicBezTo>
                <a:cubicBezTo>
                  <a:pt x="362277" y="317093"/>
                  <a:pt x="380405" y="317093"/>
                  <a:pt x="391567" y="305931"/>
                </a:cubicBezTo>
                <a:lnTo>
                  <a:pt x="448717" y="248781"/>
                </a:lnTo>
                <a:cubicBezTo>
                  <a:pt x="459879" y="237619"/>
                  <a:pt x="459879" y="219492"/>
                  <a:pt x="448717" y="208330"/>
                </a:cubicBezTo>
                <a:lnTo>
                  <a:pt x="391567" y="151180"/>
                </a:lnTo>
                <a:cubicBezTo>
                  <a:pt x="380405" y="140018"/>
                  <a:pt x="362277" y="140018"/>
                  <a:pt x="351115" y="151180"/>
                </a:cubicBezTo>
                <a:cubicBezTo>
                  <a:pt x="339953" y="162342"/>
                  <a:pt x="339953" y="180469"/>
                  <a:pt x="351115" y="191631"/>
                </a:cubicBezTo>
                <a:lnTo>
                  <a:pt x="359509" y="200025"/>
                </a:lnTo>
                <a:lnTo>
                  <a:pt x="257086" y="200025"/>
                </a:lnTo>
                <a:lnTo>
                  <a:pt x="257086" y="97601"/>
                </a:lnTo>
                <a:lnTo>
                  <a:pt x="265480" y="105995"/>
                </a:lnTo>
                <a:cubicBezTo>
                  <a:pt x="276642" y="117158"/>
                  <a:pt x="294769" y="117158"/>
                  <a:pt x="305931" y="105995"/>
                </a:cubicBezTo>
                <a:cubicBezTo>
                  <a:pt x="317093" y="94833"/>
                  <a:pt x="317093" y="76706"/>
                  <a:pt x="305931" y="65544"/>
                </a:cubicBezTo>
                <a:lnTo>
                  <a:pt x="248781" y="8394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3746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40767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operations at each state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6858000" cy="101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134481"/>
                </a:moveTo>
                <a:lnTo>
                  <a:pt x="363081" y="220206"/>
                </a:lnTo>
                <a:cubicBezTo>
                  <a:pt x="354866" y="228421"/>
                  <a:pt x="342632" y="230832"/>
                  <a:pt x="331916" y="226368"/>
                </a:cubicBezTo>
                <a:cubicBezTo>
                  <a:pt x="321201" y="221903"/>
                  <a:pt x="314325" y="211544"/>
                  <a:pt x="314325" y="200025"/>
                </a:cubicBezTo>
                <a:lnTo>
                  <a:pt x="314325" y="142875"/>
                </a:ln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314325" y="85725"/>
                </a:lnTo>
                <a:lnTo>
                  <a:pt x="314325" y="28575"/>
                </a:lnTo>
                <a:cubicBezTo>
                  <a:pt x="314325" y="17056"/>
                  <a:pt x="321290" y="6608"/>
                  <a:pt x="332006" y="2143"/>
                </a:cubicBezTo>
                <a:cubicBezTo>
                  <a:pt x="342721" y="-2322"/>
                  <a:pt x="354955" y="179"/>
                  <a:pt x="363170" y="8305"/>
                </a:cubicBezTo>
                <a:lnTo>
                  <a:pt x="448895" y="94030"/>
                </a:lnTo>
                <a:cubicBezTo>
                  <a:pt x="460058" y="105192"/>
                  <a:pt x="460058" y="123319"/>
                  <a:pt x="448895" y="134481"/>
                </a:cubicBezTo>
                <a:close/>
                <a:moveTo>
                  <a:pt x="94030" y="448806"/>
                </a:moveTo>
                <a:lnTo>
                  <a:pt x="8305" y="363081"/>
                </a:lnTo>
                <a:cubicBezTo>
                  <a:pt x="-2857" y="351919"/>
                  <a:pt x="-2857" y="333792"/>
                  <a:pt x="8305" y="322630"/>
                </a:cubicBezTo>
                <a:lnTo>
                  <a:pt x="94030" y="236905"/>
                </a:lnTo>
                <a:cubicBezTo>
                  <a:pt x="102245" y="228689"/>
                  <a:pt x="114479" y="226278"/>
                  <a:pt x="125194" y="230743"/>
                </a:cubicBezTo>
                <a:cubicBezTo>
                  <a:pt x="135910" y="235208"/>
                  <a:pt x="142875" y="245656"/>
                  <a:pt x="142875" y="257175"/>
                </a:cubicBezTo>
                <a:lnTo>
                  <a:pt x="142875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cubicBezTo>
                  <a:pt x="457200" y="358706"/>
                  <a:pt x="444431" y="371475"/>
                  <a:pt x="428625" y="371475"/>
                </a:cubicBezTo>
                <a:lnTo>
                  <a:pt x="142875" y="371475"/>
                </a:lnTo>
                <a:lnTo>
                  <a:pt x="142875" y="428625"/>
                </a:lnTo>
                <a:cubicBezTo>
                  <a:pt x="142875" y="440144"/>
                  <a:pt x="135910" y="450592"/>
                  <a:pt x="125194" y="455057"/>
                </a:cubicBezTo>
                <a:cubicBezTo>
                  <a:pt x="114479" y="459522"/>
                  <a:pt x="102245" y="457021"/>
                  <a:pt x="94030" y="44889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" y="4953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1000" y="5283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of applying an action to a state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032500"/>
            <a:ext cx="6858000" cy="101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615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Test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64897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if a goal state is reached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239000"/>
            <a:ext cx="6858000" cy="101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749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7366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Cost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7696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 cost of each step along the path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1524000"/>
            <a:ext cx="7366000" cy="673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2159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Finding Problem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9000" y="2667000"/>
            <a:ext cx="6604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509000" y="2921000"/>
            <a:ext cx="660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States: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Cities on the map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Driving between connected cities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Moving from one city to another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Test: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Reaching the destination city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Cost: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Total distance traveled (km)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2400"/>
              </a:spcBef>
            </a:pPr>
            <a:r>
              <a:rPr lang="en-US" sz="16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agent's task is to find a sequence of actions (a path) that transforms the initial state into a goal state while minimizing the path cost.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Search Strategies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strategies define how an agent systematically explores the state space. Every strategy is evaluated along four key dimensions: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3429000" cy="2032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73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746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Guarantees finding a solution if one exists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2476500"/>
            <a:ext cx="3429000" cy="2032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99000" y="273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3746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the lowest-cost solution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476500"/>
            <a:ext cx="3429000" cy="2032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273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746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long to find a solution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2476500"/>
            <a:ext cx="3683000" cy="2032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065000" y="273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134342"/>
                </a:lnTo>
                <a:cubicBezTo>
                  <a:pt x="0" y="141089"/>
                  <a:pt x="4366" y="146844"/>
                  <a:pt x="10021" y="150515"/>
                </a:cubicBezTo>
                <a:cubicBezTo>
                  <a:pt x="23118" y="159048"/>
                  <a:pt x="31750" y="173732"/>
                  <a:pt x="31750" y="190500"/>
                </a:cubicBezTo>
                <a:cubicBezTo>
                  <a:pt x="31750" y="207268"/>
                  <a:pt x="23118" y="221952"/>
                  <a:pt x="10021" y="230485"/>
                </a:cubicBezTo>
                <a:cubicBezTo>
                  <a:pt x="4366" y="234156"/>
                  <a:pt x="0" y="239911"/>
                  <a:pt x="0" y="246658"/>
                </a:cubicBezTo>
                <a:lnTo>
                  <a:pt x="0" y="301625"/>
                </a:lnTo>
                <a:lnTo>
                  <a:pt x="508000" y="301625"/>
                </a:lnTo>
                <a:lnTo>
                  <a:pt x="508000" y="246658"/>
                </a:lnTo>
                <a:cubicBezTo>
                  <a:pt x="508000" y="239911"/>
                  <a:pt x="503634" y="234156"/>
                  <a:pt x="497979" y="230485"/>
                </a:cubicBezTo>
                <a:cubicBezTo>
                  <a:pt x="484882" y="221952"/>
                  <a:pt x="476250" y="207268"/>
                  <a:pt x="476250" y="190500"/>
                </a:cubicBezTo>
                <a:cubicBezTo>
                  <a:pt x="476250" y="173732"/>
                  <a:pt x="484882" y="159048"/>
                  <a:pt x="497979" y="150515"/>
                </a:cubicBezTo>
                <a:cubicBezTo>
                  <a:pt x="503634" y="146844"/>
                  <a:pt x="508000" y="141089"/>
                  <a:pt x="508000" y="134342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508000" y="412750"/>
                </a:moveTo>
                <a:lnTo>
                  <a:pt x="508000" y="349250"/>
                </a:lnTo>
                <a:lnTo>
                  <a:pt x="0" y="349250"/>
                </a:lnTo>
                <a:lnTo>
                  <a:pt x="0" y="412750"/>
                </a:lnTo>
                <a:cubicBezTo>
                  <a:pt x="0" y="430312"/>
                  <a:pt x="14188" y="444500"/>
                  <a:pt x="31750" y="444500"/>
                </a:cubicBezTo>
                <a:lnTo>
                  <a:pt x="95250" y="444500"/>
                </a:lnTo>
                <a:lnTo>
                  <a:pt x="95250" y="420688"/>
                </a:lnTo>
                <a:cubicBezTo>
                  <a:pt x="95250" y="407491"/>
                  <a:pt x="105866" y="396875"/>
                  <a:pt x="119063" y="396875"/>
                </a:cubicBezTo>
                <a:cubicBezTo>
                  <a:pt x="132259" y="396875"/>
                  <a:pt x="142875" y="407491"/>
                  <a:pt x="142875" y="420688"/>
                </a:cubicBezTo>
                <a:lnTo>
                  <a:pt x="142875" y="444500"/>
                </a:lnTo>
                <a:lnTo>
                  <a:pt x="230188" y="444500"/>
                </a:lnTo>
                <a:lnTo>
                  <a:pt x="230188" y="420688"/>
                </a:lnTo>
                <a:cubicBezTo>
                  <a:pt x="230188" y="407491"/>
                  <a:pt x="240804" y="396875"/>
                  <a:pt x="254000" y="396875"/>
                </a:cubicBezTo>
                <a:cubicBezTo>
                  <a:pt x="267196" y="396875"/>
                  <a:pt x="277813" y="407491"/>
                  <a:pt x="277813" y="420688"/>
                </a:cubicBezTo>
                <a:lnTo>
                  <a:pt x="277813" y="444500"/>
                </a:lnTo>
                <a:lnTo>
                  <a:pt x="365125" y="444500"/>
                </a:lnTo>
                <a:lnTo>
                  <a:pt x="365125" y="420688"/>
                </a:lnTo>
                <a:cubicBezTo>
                  <a:pt x="365125" y="407491"/>
                  <a:pt x="375741" y="396875"/>
                  <a:pt x="388938" y="396875"/>
                </a:cubicBezTo>
                <a:cubicBezTo>
                  <a:pt x="402134" y="396875"/>
                  <a:pt x="412750" y="407491"/>
                  <a:pt x="412750" y="420688"/>
                </a:cubicBezTo>
                <a:lnTo>
                  <a:pt x="412750" y="444500"/>
                </a:ln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lose/>
                <a:moveTo>
                  <a:pt x="158750" y="158750"/>
                </a:moveTo>
                <a:lnTo>
                  <a:pt x="158750" y="222250"/>
                </a:lnTo>
                <a:cubicBezTo>
                  <a:pt x="158750" y="239812"/>
                  <a:pt x="144562" y="254000"/>
                  <a:pt x="127000" y="254000"/>
                </a:cubicBezTo>
                <a:cubicBezTo>
                  <a:pt x="109438" y="254000"/>
                  <a:pt x="95250" y="239812"/>
                  <a:pt x="95250" y="222250"/>
                </a:cubicBezTo>
                <a:lnTo>
                  <a:pt x="95250" y="158750"/>
                </a:lnTo>
                <a:cubicBezTo>
                  <a:pt x="95250" y="141188"/>
                  <a:pt x="109438" y="127000"/>
                  <a:pt x="127000" y="127000"/>
                </a:cubicBezTo>
                <a:cubicBezTo>
                  <a:pt x="144562" y="127000"/>
                  <a:pt x="158750" y="141188"/>
                  <a:pt x="158750" y="158750"/>
                </a:cubicBezTo>
                <a:close/>
                <a:moveTo>
                  <a:pt x="285750" y="158750"/>
                </a:moveTo>
                <a:lnTo>
                  <a:pt x="285750" y="222250"/>
                </a:lnTo>
                <a:cubicBezTo>
                  <a:pt x="285750" y="239812"/>
                  <a:pt x="271562" y="254000"/>
                  <a:pt x="254000" y="254000"/>
                </a:cubicBezTo>
                <a:cubicBezTo>
                  <a:pt x="236438" y="254000"/>
                  <a:pt x="222250" y="239812"/>
                  <a:pt x="222250" y="22225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412750" y="158750"/>
                </a:moveTo>
                <a:lnTo>
                  <a:pt x="412750" y="222250"/>
                </a:lnTo>
                <a:cubicBezTo>
                  <a:pt x="412750" y="239812"/>
                  <a:pt x="398562" y="254000"/>
                  <a:pt x="381000" y="254000"/>
                </a:cubicBezTo>
                <a:cubicBezTo>
                  <a:pt x="363438" y="254000"/>
                  <a:pt x="349250" y="239812"/>
                  <a:pt x="349250" y="222250"/>
                </a:cubicBezTo>
                <a:lnTo>
                  <a:pt x="349250" y="158750"/>
                </a:lnTo>
                <a:cubicBezTo>
                  <a:pt x="349250" y="141188"/>
                  <a:pt x="363438" y="127000"/>
                  <a:pt x="381000" y="127000"/>
                </a:cubicBezTo>
                <a:cubicBezTo>
                  <a:pt x="398562" y="127000"/>
                  <a:pt x="412750" y="141188"/>
                  <a:pt x="412750" y="1587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65000" y="3365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65000" y="37465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required during search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95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461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5715000"/>
            <a:ext cx="7048500" cy="266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590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Search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9500" y="6324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Blind Search — No domain knowledge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9500" y="6731000"/>
            <a:ext cx="641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Systematically explores without problem-specific knowledge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Treats all states equally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Examples: BFS, DFS, UCS, IDS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4500" y="5715000"/>
            <a:ext cx="7429500" cy="2667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8382000" y="590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000" y="6324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 Search — Uses domain knowledge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0" y="6731000"/>
            <a:ext cx="679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Uses heuristic functions to guide exploration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Prioritizes promising paths toward the goal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Examples: Greedy BFS, A*, IDA*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vs. Informed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175500" cy="63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6667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(Blind)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7175500" cy="603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Explores systematically without problem-specific knowledge.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additional information about states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Treats all states equally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Relies only on the problem definition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BFS, DFS, UCS, IDS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completeness but potentially inefficient.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651000"/>
            <a:ext cx="7175500" cy="635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1651000"/>
            <a:ext cx="6667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(Heuristic)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18500" y="2476500"/>
            <a:ext cx="7175500" cy="603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domain-specific knowledge to guide exploration toward the goal.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Uses heuristic function h(n) to estimate goal proximity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Prioritizes promising paths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More efficient than uninformed methods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Greedy Best-First Search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A* Search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Iterative Deepening A* (IDA*)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but requires a good heuristic; optimality depends on heuristic quality.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89900" y="1651000"/>
            <a:ext cx="76200" cy="6731000"/>
          </a:xfrm>
          <a:prstGeom prst="rect">
            <a:avLst/>
          </a:prstGeom>
          <a:solidFill>
            <a:srgbClr val="64748B">
              <a:alpha val="12549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Breadth-First Search (BFS)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BFS expands the shallowest node first using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FIFO queue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13000"/>
            <a:ext cx="8890000" cy="228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1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838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Initialize frontier with the start node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Remove the front node, check if goal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If not goal, add all children to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frontier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Repeat until goal found or frontier empty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93800" y="5524500"/>
            <a:ext cx="381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finds solution if exists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35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93800" y="62865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unweighted graphs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086600"/>
            <a:ext cx="8890000" cy="139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7188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75311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00000"/>
              </a:lnSpc>
            </a:pPr>
            <a:r>
              <a:rPr lang="en-US" sz="1800" b="1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0" y="75311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00000"/>
              </a:lnSpc>
            </a:pPr>
            <a:r>
              <a:rPr lang="en-US" sz="1800" b="1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975600"/>
            <a:ext cx="838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b = branching factor, d = depth of shallowest solution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14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 Tree Expansion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446000" y="2159000"/>
            <a:ext cx="635000" cy="635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2446000" y="2159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28500" y="2794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2763500" y="2794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557000" y="3556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11557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335000" y="3556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239500" y="4191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874500" y="4191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3017500" y="4191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3652500" y="4191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0922000" y="4953000"/>
            <a:ext cx="635000" cy="635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10922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65000" y="4953000"/>
            <a:ext cx="635000" cy="635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12065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827000" y="4953000"/>
            <a:ext cx="635000" cy="635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12827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4224000" y="4953000"/>
            <a:ext cx="635000" cy="635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14224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414000" y="5969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Node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Level 1 (Expanded First)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Level 2 (Expanded Next)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Expansion order: S → A → B → C → D → E → F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 — Example: Route Finding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14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a path from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Bucharest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Romania. BFS explores all cities at each distance level before going deeper.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2766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Arad (start)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35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Zerind, Sibiu, Timisoara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749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1054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Oradea, Fagaras, Rimnicu, Lugoj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664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3+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0198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Continues until Bucharest reached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667500"/>
            <a:ext cx="4572000" cy="18415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6794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Finds path with minimum number of steps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May not find least-cost path when edges have different weights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0000" y="292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 Expansion Order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0" y="3429000"/>
            <a:ext cx="1270000" cy="50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3429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3619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795000" y="3429000"/>
            <a:ext cx="1270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0" y="3429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Zerind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065000" y="3619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446000" y="3429000"/>
            <a:ext cx="1270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6000" y="3429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Sibiu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16000" y="3619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4097000" y="3429000"/>
            <a:ext cx="13970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14097000" y="34290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Timisoara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0000" y="4445000"/>
            <a:ext cx="9144000" cy="3937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04000" y="4635500"/>
            <a:ext cx="863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BFS Works: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Uses a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 queue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first node in, first node out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Explores all nodes at distance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any node at distance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d+1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Guarantees the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shortest path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terms of number of edges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Challenge: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depth 10 with branching factor 10, BFS needs to store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billion nodes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extremely memory-intensive for deep solutions.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Cost Search (UCS)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UCS expands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lowest-cost node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first. Minimizes total path cost — equivalent to Dijkstra's algorithm.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13000"/>
            <a:ext cx="7112000" cy="228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1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Use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queue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ordered by path cost g(n)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Always expand the least-cost node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If a cheaper path to a node is found, update 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Repeat until goal found with minimum cost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413000"/>
            <a:ext cx="7112000" cy="228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251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8194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(if all costs &gt; ε)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— finds lowest-cost path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O(b^(1+C*/ε))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O(b^(1+C*/ε))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 vs. UCS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14732000" cy="2667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8143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951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Priority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 (shallowest first)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 cost g(n) (cheapest first)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951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 for unweighted graphs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 for all positive costs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1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step costs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Varying step costs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UCS — Example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 finding with varying distances from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Arad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UCS explores by cumulative cost, always expanding the cheapest path found so far.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76500"/>
          <a:ext cx="6858000" cy="3937000"/>
        </p:xfrm>
        <a:graphic>
          <a:graphicData uri="http://schemas.openxmlformats.org/drawingml/2006/table">
            <a:tbl>
              <a:tblPr/>
              <a:tblGrid>
                <a:gridCol w="3086100"/>
                <a:gridCol w="2057400"/>
                <a:gridCol w="1714500"/>
              </a:tblGrid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Cost (km)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Arad → Zerind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Arad → Sibiu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3rd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Arad → Timisoara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Arad → Lugoj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Arad → Oradea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 → Bucharest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0" y="2476500"/>
            <a:ext cx="73660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84455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45500" y="3048000"/>
            <a:ext cx="6731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UCS differs from BFS: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BFS would explore by number of hops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UCS explores by total distance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UCS may explore a longer path (more hops) if its total cost is lower than a shorter path with expensive edges.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Slower step-by-step but guarantees the optimal-cost solution.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794500"/>
            <a:ext cx="14732000" cy="15240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6959600"/>
            <a:ext cx="14224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Function: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g(n) = cost of path from start to node 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UCS is a special case of A* where the heuristic h(n) = 0 for all nodes. It relies purely on the accumulated path cost without any goal-directed guidance.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 First Search (DFS)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DFS explores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 deeply as possible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backtracking using a LIFO stack.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13000"/>
            <a:ext cx="8890000" cy="2222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1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838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Push start node onto the stack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Pop the top node; if goal, return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Push all unvisited children onto the stack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Repeat until goal found or stack empty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762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193800" y="52705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Incomplete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infinite spaces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09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193800" y="60325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Optimal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finds deep suboptimal paths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858000"/>
            <a:ext cx="88900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959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730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00000"/>
              </a:lnSpc>
            </a:pPr>
            <a:r>
              <a:rPr lang="en-US" sz="1800" b="1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0" y="7302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O(bm)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747000"/>
            <a:ext cx="838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b = branching factor, m = maximum depth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 Very memory-efficient compared to BFS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14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 Tree Expansion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446000" y="2159000"/>
            <a:ext cx="635000" cy="635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2446000" y="2159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28500" y="2794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2763500" y="2794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557000" y="3556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11557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335000" y="3556000"/>
            <a:ext cx="635000" cy="635000"/>
          </a:xfrm>
          <a:prstGeom prst="ellipse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239500" y="4191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874500" y="4191000"/>
            <a:ext cx="63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0922000" y="4953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33" name="Text 31"/>
          <p:cNvSpPr/>
          <p:nvPr/>
        </p:nvSpPr>
        <p:spPr>
          <a:xfrm>
            <a:off x="10922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192000" y="4953000"/>
            <a:ext cx="635000" cy="635000"/>
          </a:xfrm>
          <a:prstGeom prst="ellipse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192000" y="495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414000" y="5969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Path Taken (Deep First)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Deferred (Backtrack Later)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Expansion order: S → A → C (deep)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 backtracks to explore B, 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 — Example &amp; Memory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maze-solving, DFS picks a path and follows it to the deepest level. When it hits a dead end, it backtracks to the most recent unexplored branch.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Comparison: BFS vs. DFS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48000"/>
          <a:ext cx="7620000" cy="3556000"/>
        </p:xfrm>
        <a:graphic>
          <a:graphicData uri="http://schemas.openxmlformats.org/drawingml/2006/table">
            <a:tbl>
              <a:tblPr/>
              <a:tblGrid>
                <a:gridCol w="1143000"/>
                <a:gridCol w="1905000"/>
                <a:gridCol w="2286000"/>
                <a:gridCol w="2286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Nodes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BFS Memory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DFS Memory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107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11,110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10.6 MB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TB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PB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Exabytes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~156 KB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890000" y="3048000"/>
            <a:ext cx="6604000" cy="355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9207500" y="323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07500" y="3619500"/>
            <a:ext cx="596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depth 16, BFS requires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exabytes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memory while DFS needs only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~156 KB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difference of 10 trillion times!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However, DFS might find a long, winding path while a shorter path exists on another branch.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suited for: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Memory-constrained problems with deep solutions.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985000"/>
            <a:ext cx="14732000" cy="13335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" y="71120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DFS is memory-efficient: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DFS only stores the current path from root to leaf plus unexplored siblings at each level. Space = O(bm) where m is maximum depth. BFS stores all nodes at the current frontier level. Space = O(b</a:t>
            </a:r>
            <a:pPr>
              <a:lnSpc>
                <a:spcPct val="160000"/>
              </a:lnSpc>
            </a:pPr>
            <a:r>
              <a:rPr lang="en-US" sz="1700" baseline="300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Deepening Search (IDS)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IDS combines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of BFS and DFS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performing repeated depth-limited searches with increasing depth limits.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13000"/>
            <a:ext cx="7112000" cy="228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1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limit = 0, 1, 2, ...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DFS with current depth limit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solution found, return 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 until solution found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413000"/>
            <a:ext cx="7112000" cy="228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251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8194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(like BFS)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for unweighted (like BFS)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O(b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O(bd) (like DFS!)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08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 Overhead is Small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651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nodes in a search tree are at the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 level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Re-generating upper levels adds only a constant fraction to the total time. For a tree with branching factor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solution depth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overhead is approximately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b/(b-1)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is very small for large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239000"/>
            <a:ext cx="14732000" cy="10795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7366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IDS is the preferred uninformed search method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the search space is large and the solution depth is unknown. It offers the completeness of BFS with the memory efficiency of DFS.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IDS — Example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IDS iteratively increases the depth limit, performing a complete DFS at each level until the goal is found.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3429000" cy="254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6035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 =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984500"/>
            <a:ext cx="304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 root node S is explored.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S is the goal, return it. Otherwise, increase limit.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2476500"/>
            <a:ext cx="3429000" cy="254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635500" y="26035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 =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5500" y="2984500"/>
            <a:ext cx="304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S and all nodes at depth 1 (A, B).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goal found, return. Otherwise, increase limit.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476500"/>
            <a:ext cx="3429000" cy="254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18500" y="26035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 =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18500" y="2984500"/>
            <a:ext cx="304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S, depth 1, and depth 2 nodes (C, D, E, F).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 until goal found.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11000" y="2476500"/>
            <a:ext cx="3683000" cy="254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0" y="26035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 = d (found!)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01500" y="2984500"/>
            <a:ext cx="330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node found at depth d. Algorithm terminates with the optimal solution.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Overhead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905500"/>
            <a:ext cx="1473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N(IDS)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total nodes generated by IDS,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N(BFS)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total nodes generated by BFS. For branching factor </a:t>
            </a:r>
            <a:pPr>
              <a:lnSpc>
                <a:spcPct val="165000"/>
              </a:lnSpc>
            </a:pPr>
            <a:r>
              <a:rPr lang="en-US" sz="1700" i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ratio is: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N(IDS) / N(BFS) = b / (b - 1)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b = 10, the overhead is only 10/9 ≈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11%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small price for massive memory savings.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493000"/>
            <a:ext cx="14732000" cy="8255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620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IDS = BFS's completeness + optimality + DFS's memory efficiency. Preferred when space is limited.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cmvalsnv4aye/mnt/agents/output/ai-search-strategies/images/3_Chess_game_with_strategic_business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50000">
                <a:srgbClr val="0A2E38">
                  <a:alpha val="8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1524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0F4C5C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493000" y="3810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4318000" y="406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8000" y="457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&amp; ADVERSARIAL SEARCH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48000" y="5461000"/>
            <a:ext cx="1016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heuristics and game theory to make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decisions in competitive environments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Best-First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Greedy BFS expands the node that appears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closest to the goal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according to a heuristic function h(n). It prioritizes speed over optimality.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147320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40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Function: </a:t>
            </a:r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f(n) = h(n)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83000"/>
            <a:ext cx="7112000" cy="2032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78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894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Evaluate h(n) for each node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Expand the node with lowest h(n)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Repeat until goal reached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3683000"/>
            <a:ext cx="7112000" cy="2032000"/>
          </a:xfrm>
          <a:prstGeom prst="rect">
            <a:avLst/>
          </a:prstGeom>
          <a:solidFill>
            <a:srgbClr val="0F4C5C">
              <a:alpha val="6275"/>
            </a:srgbClr>
          </a:solidFill>
          <a:ln w="25400">
            <a:solidFill>
              <a:srgbClr val="DC2626">
                <a:alpha val="18824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6000" y="378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40894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Complete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can get stuck in loops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Optimal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follows locally promising paths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Time/Space: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O(b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in worst case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Heuristic Function h(n)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604000"/>
            <a:ext cx="147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heuristic h(n) estimates the cost from node n to the goal. Common heuristics include: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Straight-line distance (SLD)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Euclidean distance on maps (always admissible)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Manhattan distance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Sum of horizontal/vertical distances (for grid worlds)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Misplaced tiles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Count of tiles in wrong position (for 8-puzzle)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BFS —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14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path from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Bucharest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Straight-Line Distance (SLD) heuristic.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Heuristic Values (SLD to Bucharest)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403600"/>
          <a:ext cx="6858000" cy="2540000"/>
        </p:xfrm>
        <a:graphic>
          <a:graphicData uri="http://schemas.openxmlformats.org/drawingml/2006/table">
            <a:tbl>
              <a:tblPr/>
              <a:tblGrid>
                <a:gridCol w="3429000"/>
                <a:gridCol w="1714500"/>
                <a:gridCol w="17145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h(n) = SLD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Chosen?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366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Zerind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374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Sibiu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Timisoara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Taken by Greedy BFS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28000" y="3403600"/>
            <a:ext cx="7366000" cy="254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445500" y="3556000"/>
            <a:ext cx="673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(h=366) → neighbors: Zerind(374),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Sibiu(253)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Timisoara(329)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Sibiu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(h=253) → chooses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Fagaras(176)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Fagaras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(h=176) → reaches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Bucharest(0)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cost: 140 + 99 + 211 =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450 km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Not Optimal!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858000"/>
            <a:ext cx="14732000" cy="1651000"/>
          </a:xfrm>
          <a:prstGeom prst="rect">
            <a:avLst/>
          </a:prstGeom>
          <a:solidFill>
            <a:srgbClr val="DC2626">
              <a:alpha val="6275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6985000"/>
            <a:ext cx="1422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optimal path via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Rimnicu Vilcea → Pitesti → Bucharest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costs only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418 km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Greedy BFS never explores it because Rimnicu Vilcea (h=193) looks worse than Fagaras (h=176) from Sibiu.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BFS sacrifices optimality by only considering the estimated remaining cost, ignoring the cost already spent.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Search Algorithm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0" y="86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A* combines actual path cost g(n) with heuristic estimate h(n). It is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widely used search algorithm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147320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540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f(n) = </a:t>
            </a:r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g(n)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h(n)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g(n) = path cost, h(n) = heuristic estimate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83000"/>
            <a:ext cx="7112000" cy="2921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78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894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Initialize OPEN with start node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Remove node with lowest f(n) from OPEN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If goal, return solution path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Generate successors, compute f(n)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Add to OPEN; track best path to each node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Repeat until OPEN empty or goal found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3683000"/>
            <a:ext cx="7112000" cy="266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3784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40894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(guaranteed solution)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if h(n) is admissible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 heuristic quality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O(b</a:t>
            </a:r>
            <a:pPr>
              <a:lnSpc>
                <a:spcPct val="160000"/>
              </a:lnSpc>
            </a:pPr>
            <a:r>
              <a:rPr lang="en-US" sz="16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— keeps all nodes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gold standard of search algorithms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66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Balance: Greedy vs. UCS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7175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When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= 0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A* becomes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UCS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(explores by cost only, guaranteed optimal but slow)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When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g(n) = 0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A* becomes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BFS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(explores by heuristic only, fast but not optimal)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A* with a good heuristic achieves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efficiency and optimality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— Example: The 8-Puzzle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8-puzzle demonstrates how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heuristic quality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dramatically affects A* performance. Two common heuristics: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7048500" cy="1905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0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h₁(n) = Misplaced Tiles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 tiles not in their goal position.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but weak heuristic — ignores how far tiles must move.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64500" y="2476500"/>
            <a:ext cx="7429500" cy="1905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318500" y="2603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h₂(n) = Manhattan Distance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18500" y="2984500"/>
            <a:ext cx="685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of horizontal + vertical distances of each tile from its goal.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 heuristic — more informed, reduces search space significantly.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76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Comparison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34000"/>
          <a:ext cx="7620000" cy="2794000"/>
        </p:xfrm>
        <a:graphic>
          <a:graphicData uri="http://schemas.openxmlformats.org/drawingml/2006/table">
            <a:tbl>
              <a:tblPr/>
              <a:tblGrid>
                <a:gridCol w="1143000"/>
                <a:gridCol w="2133600"/>
                <a:gridCol w="2133600"/>
                <a:gridCol w="2209800"/>
              </a:tblGrid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IDS (nodes)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A* (h₁)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A* (h₂)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6,384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3,473,941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539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7,276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676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13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39,135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1,641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890000" y="5334000"/>
            <a:ext cx="6604000" cy="2984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5" name="Text 12"/>
          <p:cNvSpPr/>
          <p:nvPr/>
        </p:nvSpPr>
        <p:spPr>
          <a:xfrm>
            <a:off x="9207500" y="5524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07500" y="5905500"/>
            <a:ext cx="596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depth 14, A* with h₂ expands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113 nodes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539 nodes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h₁ — 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5x improvement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heuristics dramatically reduce the search space. A* expands nodes in order of increasing f-value, gradually adding "f-contours."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Heuristics: Admissibility &amp; Consistency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quality of A* depends entirely on the heuristic. Two critical properties ensure optimality: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7048500" cy="381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9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Admissibility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3149600"/>
            <a:ext cx="6477000" cy="63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49600"/>
            <a:ext cx="647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≤ h(n) ≤ h*(n)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9624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heuristic never overestimates the true cost to the goal. It is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optimistic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Straight-line distance on a map is always admissible — the shortest path between two points is a straight line.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h(n) is admissible, A* is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(tree search).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4500" y="2540000"/>
            <a:ext cx="7429500" cy="381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18500" y="269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 (Monotonicity)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3149600"/>
            <a:ext cx="6858000" cy="63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8318500" y="3149600"/>
            <a:ext cx="685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≤ c(n,n') + h(n')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8500" y="39624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heuristic satisfies the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triangle inequality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estimates don't jump around.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consistent heuristic is also admissible. When h is consistent, A* never re-opens closed nodes.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h(n) is consistent, A* is optimal (graph search).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47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Generating Heuristics: Relaxed Problems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985000"/>
            <a:ext cx="1473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powerful technique: solve a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relaxed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(simpler) version of the problem. The optimal cost of the relaxed problem is an admissible heuristic for the original.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8-puzzle relaxed: tiles can move anywhere → h₁ (misplaced tiles)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8-puzzle relaxed: tiles can slide to any adjacent square → h₂ (Manhattan distance)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Adversarial Search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Adversarial search deals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competitive multi-agent environments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agents have conflicting goals. The most common application is game playing.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46990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965200" y="3302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330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Players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784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and MIN alternate turns, each trying to maximize their own outcome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3111500"/>
            <a:ext cx="46990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330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540500" y="330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Perfect Information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3784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players know the complete game state at all times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3111500"/>
            <a:ext cx="48260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71200" y="3302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93500" y="3302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Zero-Sum Game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2000" y="37846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player's gain is the other's loss; total utility is constant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20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778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search powers AI game players in: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(Deep Blue, Stockfish),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Checkers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(Chinook),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(AlphaGo),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Tic-Tac-Toe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Othello/Reversi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goal is to find the optimal strategy assuming the opponent also plays optimally — this is the foundation of </a:t>
            </a:r>
            <a:pPr>
              <a:lnSpc>
                <a:spcPct val="165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theory</a:t>
            </a:r>
            <a:pPr>
              <a:lnSpc>
                <a:spcPct val="165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366000"/>
            <a:ext cx="14732000" cy="9525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7493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Question: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move should MAX make, assuming MIN will respond with the best possible counter-move?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Min-Max Algorithm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Minimax is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recursive backtracking algorithm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optimal decision-making in two-player games. MAX aims to maximize utility; MIN aims to minimize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14732000" cy="254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5781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82900"/>
            <a:ext cx="1422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Generate the complete game tree to a specified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 limit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Assign utility values to leaf nodes using 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function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Backtrack: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MAX nodes, take the maximum of children's 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At MIN nodes, take the minimum of children's 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The backed-up value at the root determines MAX's optimal move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08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651500"/>
            <a:ext cx="70485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1" name="Shape 9"/>
          <p:cNvSpPr/>
          <p:nvPr/>
        </p:nvSpPr>
        <p:spPr>
          <a:xfrm>
            <a:off x="1073150" y="5905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91631" y="15538"/>
                </a:moveTo>
                <a:cubicBezTo>
                  <a:pt x="180469" y="4376"/>
                  <a:pt x="162342" y="4376"/>
                  <a:pt x="151180" y="15538"/>
                </a:cubicBezTo>
                <a:lnTo>
                  <a:pt x="8305" y="158413"/>
                </a:lnTo>
                <a:cubicBezTo>
                  <a:pt x="-2857" y="169575"/>
                  <a:pt x="-2857" y="187702"/>
                  <a:pt x="8305" y="198864"/>
                </a:cubicBezTo>
                <a:cubicBezTo>
                  <a:pt x="19467" y="210026"/>
                  <a:pt x="37594" y="210026"/>
                  <a:pt x="48756" y="198864"/>
                </a:cubicBezTo>
                <a:lnTo>
                  <a:pt x="142875" y="104745"/>
                </a:lnTo>
                <a:lnTo>
                  <a:pt x="142875" y="435769"/>
                </a:lnTo>
                <a:cubicBezTo>
                  <a:pt x="142875" y="451574"/>
                  <a:pt x="155644" y="464344"/>
                  <a:pt x="171450" y="464344"/>
                </a:cubicBezTo>
                <a:cubicBezTo>
                  <a:pt x="187256" y="464344"/>
                  <a:pt x="200025" y="451574"/>
                  <a:pt x="200025" y="435769"/>
                </a:cubicBezTo>
                <a:lnTo>
                  <a:pt x="200025" y="104745"/>
                </a:lnTo>
                <a:lnTo>
                  <a:pt x="294144" y="198864"/>
                </a:lnTo>
                <a:cubicBezTo>
                  <a:pt x="305306" y="210026"/>
                  <a:pt x="323433" y="210026"/>
                  <a:pt x="334595" y="198864"/>
                </a:cubicBezTo>
                <a:cubicBezTo>
                  <a:pt x="345758" y="187702"/>
                  <a:pt x="345758" y="169575"/>
                  <a:pt x="334595" y="158413"/>
                </a:cubicBezTo>
                <a:lnTo>
                  <a:pt x="191720" y="1553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584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Player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6223000"/>
            <a:ext cx="590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Selects the move with the MAXIMUM utility value. Tries to maximize the score.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64500" y="5651500"/>
            <a:ext cx="74295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650" y="5905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953500" y="584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 Player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53500" y="6223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Selects the move with the MINIMUM utility value. Tries to minimize MAX's score.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302500"/>
            <a:ext cx="14732000" cy="1143000"/>
          </a:xfrm>
          <a:prstGeom prst="rect">
            <a:avLst/>
          </a:prstGeom>
          <a:solidFill>
            <a:srgbClr val="D97706">
              <a:alpha val="6275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7429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Assumption: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players play optimally. Minimax finds the best guaranteed outcome for MAX, assuming MIN never makes a mistake. Uses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depth-first search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explore the game tree.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Min-Max — Example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Consider a game tree where leaf nodes have the following utility values: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Tree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02000" y="2857500"/>
            <a:ext cx="1016000" cy="635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3302000" y="2857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(MAX)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67000" y="3492500"/>
            <a:ext cx="1016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937000" y="3492500"/>
            <a:ext cx="1016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778000" y="4254500"/>
            <a:ext cx="1016000" cy="63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000" y="425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 (MIN)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26000" y="4254500"/>
            <a:ext cx="1016000" cy="63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826000" y="425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(MIN)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" y="4889500"/>
            <a:ext cx="762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032000" y="4889500"/>
            <a:ext cx="762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778000" y="4889500"/>
            <a:ext cx="1270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572000" y="4889500"/>
            <a:ext cx="762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080000" y="4889500"/>
            <a:ext cx="762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334000" y="4889500"/>
            <a:ext cx="762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35000" y="5651500"/>
            <a:ext cx="762000" cy="50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635000" y="565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51000" y="5651500"/>
            <a:ext cx="762000" cy="50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565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67000" y="5651500"/>
            <a:ext cx="762000" cy="50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2667000" y="565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91000" y="5651500"/>
            <a:ext cx="762000" cy="50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0" y="565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07000" y="5651500"/>
            <a:ext cx="762000" cy="50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5207000" y="565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3000" y="5651500"/>
            <a:ext cx="762000" cy="50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6223000" y="565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0" y="241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Calculation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0" y="2857500"/>
            <a:ext cx="7366000" cy="342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45500" y="3048000"/>
            <a:ext cx="673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 leaf nodes (given)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D=3, E=5, F=6, G=9, H=1, I=2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B (MIN): min(3, 5, 6) =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C (MIN): min(9, 1, 2) =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A (MAX): max(3, 1) =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Optimal value = 3, choose move 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6604000"/>
            <a:ext cx="14732000" cy="1714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7" name="Text 35"/>
          <p:cNvSpPr/>
          <p:nvPr/>
        </p:nvSpPr>
        <p:spPr>
          <a:xfrm>
            <a:off x="1016000" y="673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6000" y="70866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Minimax performs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depth-first exploration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game tree. The time complexity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60000"/>
              </a:lnSpc>
            </a:pPr>
            <a:r>
              <a:rPr lang="en-US" sz="1700" b="1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space complexity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O(bm)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where b is the branching factor and m is the maximum depth. For chess (b≈35, m≈100), this is computationally infeasible without optimization.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Alpha-Beta Pruning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Alpha-Beta pruning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optimizes Minimax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eliminating branches that cannot affect the final decision. The result remains optimal.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Key Parameters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7048500" cy="152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7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 (α)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581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best value MAX can guarantee so far. Initialized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-∞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1EB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Updated at MAX nodes.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4500" y="3048000"/>
            <a:ext cx="74295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318500" y="317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Beta (β)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18500" y="35814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best value MIN can guarantee so far. Initialized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+∞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Updated at MIN nodes.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953000"/>
            <a:ext cx="14732000" cy="1016000"/>
          </a:xfrm>
          <a:prstGeom prst="rect">
            <a:avLst/>
          </a:prstGeom>
          <a:solidFill>
            <a:srgbClr val="16A34A">
              <a:alpha val="8235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080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6A3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Pruning Condition: If </a:t>
            </a:r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6A3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 ≥ β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6A3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stop exploring that branch!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&amp; Properties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83260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unchanged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still optimal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With perfect ordering: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65000"/>
              </a:lnSpc>
            </a:pPr>
            <a:r>
              <a:rPr lang="en-US" sz="1600" b="1" baseline="300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m/2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Effectively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doubles searchable depth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Killer move heuristic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try best moves first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64500" y="6794500"/>
            <a:ext cx="7429500" cy="18034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318500" y="6921500"/>
            <a:ext cx="692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 Example: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pruning: branching ≈ 35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perfect pruning: branching ≈ 6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search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~2x deeper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same 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Algorithms Comparison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6731000"/>
        </p:xfrm>
        <a:graphic>
          <a:graphicData uri="http://schemas.openxmlformats.org/drawingml/2006/table">
            <a:tbl>
              <a:tblPr/>
              <a:tblGrid>
                <a:gridCol w="2357120"/>
                <a:gridCol w="2062480"/>
                <a:gridCol w="2062480"/>
                <a:gridCol w="4124960"/>
                <a:gridCol w="4124960"/>
              </a:tblGrid>
              <a:tr h="67183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 Complexity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 Complexity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746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Unweighted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8746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O(b^(1+C*/ε))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O(b^(1+C*/ε))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46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8746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Unweighted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46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Greedy BFS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8746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Yes**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 on 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12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Minimax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With limit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382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*Complete for finite spaces **Optimal if h(n) is admissible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W8 |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863600"/>
            <a:ext cx="50800" cy="406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825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14732000" cy="1206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7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7780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formulation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(states, actions, goal test, path cost) is the foundation of all search methods. Well-defined problems lead to efficient solutions.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14732000" cy="1206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17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31750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(BFS, DFS, UCS, IDS) guarantees solutions without domain knowledge. IDS offers the best balance of completeness and memory efficiency.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445000"/>
            <a:ext cx="14732000" cy="1206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57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45720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Informed search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(Greedy BFS, A*) uses heuristics to dramatically improve efficiency. A* is optimal with admissible heuristics — the gold standard.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842000"/>
            <a:ext cx="14732000" cy="1206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969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59690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Adversarial search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(Minimax, Alpha-Beta) handles competitive multi-agent scenarios. Alpha-Beta pruning doubles the searchable depth without changing the result.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239000"/>
            <a:ext cx="14732000" cy="1079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736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7366000"/>
            <a:ext cx="1333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 selection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 problem characteristics: completeness requirements, optimality needs, and resource constraints.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4748B">
              <a:alpha val="18824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cmvalsnv4aye/mnt/agents/output/ai-search-strategies/images/9_23_737_Neural_Netwo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50000">
                <a:srgbClr val="0A2E38">
                  <a:alpha val="8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7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1402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3683000" y="4445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13000" y="558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i="1" dirty="0">
                <a:solidFill>
                  <a:srgbClr val="F5F1EB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question of whether a computer can think is no more interesting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i="1" dirty="0">
                <a:solidFill>
                  <a:srgbClr val="F5F1EB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 the question of whether a submarine can swim."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673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Edsger Dijkstra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3000" y="762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B">
                    <a:alpha val="3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15 &amp; 16 | Search Strategies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8: Search Strategies</dc:title>
  <dc:subject>Artificial Intelligence - Week 8: Search Strategies</dc:subject>
  <dc:creator>Kimi</dc:creator>
  <cp:lastModifiedBy>Kimi</cp:lastModifiedBy>
  <cp:revision>1</cp:revision>
  <dcterms:created xsi:type="dcterms:W3CDTF">2026-05-25T21:05:24Z</dcterms:created>
  <dcterms:modified xsi:type="dcterms:W3CDTF">2026-05-25T21:05:24Z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8: Search Strategies","ContentProducer":"001191110108MACG2KBH8F10000","ProduceID":"19e60d17-a182-8d5b-8000-00000cdc0768","ReservedCode1":"","ContentPropagator":"001191110108MACG2KBH8F20000","PropagateID":"19e60d17-a182-8d5b-8000-00000cdc0768","ReservedCode2":""}</vt:lpwstr>
  </property>
</Properties>
</file>