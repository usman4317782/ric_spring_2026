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embeddedFontLst>
    <p:embeddedFont>
      <p:font typeface="MiSans" panose="020B0604020202020204" charset="-122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微软雅黑" panose="020B0503020204020204" pitchFamily="34" charset="-122"/>
      <p:regular r:id="rId38"/>
      <p:bold r:id="rId39"/>
    </p:embeddedFont>
    <p:embeddedFont>
      <p:font typeface="Liter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331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.vecteezy.com/system/resources/previews/022/749/739/large_2x/artificial-intelligence-hand-on-dark-background-digital-hologram-futuristic-concept-generative-ai-photo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3049" r="1304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472565"/>
            <a:ext cx="2217420" cy="426720"/>
          </a:xfrm>
          <a:custGeom>
            <a:avLst/>
            <a:gdLst/>
            <a:ahLst/>
            <a:cxnLst/>
            <a:rect l="l" t="t" r="r" b="b"/>
            <a:pathLst>
              <a:path w="2217420" h="426720">
                <a:moveTo>
                  <a:pt x="213360" y="0"/>
                </a:moveTo>
                <a:lnTo>
                  <a:pt x="2004060" y="0"/>
                </a:lnTo>
                <a:cubicBezTo>
                  <a:pt x="2121895" y="0"/>
                  <a:pt x="2217420" y="95525"/>
                  <a:pt x="2217420" y="213360"/>
                </a:cubicBezTo>
                <a:lnTo>
                  <a:pt x="2217420" y="213360"/>
                </a:lnTo>
                <a:cubicBezTo>
                  <a:pt x="2217420" y="331195"/>
                  <a:pt x="2121895" y="426720"/>
                  <a:pt x="200406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552575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BEGINNER'S COURSE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31695"/>
            <a:ext cx="65246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07479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comprehensive guide to understanding AI concepts, applications, and intelligent agents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73705" y="517017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3251121" y="5122545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Lectures • 2 Weeks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www.shutterstock.com/image-vector/futuristic-ai-learning-concept-glowing-260nw-2610652775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0826" b="1082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/>
              </a:gs>
              <a:gs pos="50000">
                <a:srgbClr val="191919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72590"/>
            <a:ext cx="1836420" cy="388620"/>
          </a:xfrm>
          <a:custGeom>
            <a:avLst/>
            <a:gdLst/>
            <a:ahLst/>
            <a:cxnLst/>
            <a:rect l="l" t="t" r="r" b="b"/>
            <a:pathLst>
              <a:path w="1836420" h="388620">
                <a:moveTo>
                  <a:pt x="194310" y="0"/>
                </a:moveTo>
                <a:lnTo>
                  <a:pt x="1642110" y="0"/>
                </a:lnTo>
                <a:cubicBezTo>
                  <a:pt x="1749424" y="0"/>
                  <a:pt x="1836420" y="86996"/>
                  <a:pt x="1836420" y="194310"/>
                </a:cubicBezTo>
                <a:lnTo>
                  <a:pt x="1836420" y="194310"/>
                </a:lnTo>
                <a:cubicBezTo>
                  <a:pt x="1836420" y="301624"/>
                  <a:pt x="1749424" y="388620"/>
                  <a:pt x="164211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7526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 • LECTURE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93620"/>
            <a:ext cx="760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7477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what AI is, its goals, and why it matters in today's world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3682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1447800" y="492252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Topics • 30 Minutes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7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 • TOPIC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464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Artificial Intelligence?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337310"/>
            <a:ext cx="6713220" cy="2569845"/>
          </a:xfrm>
          <a:custGeom>
            <a:avLst/>
            <a:gdLst/>
            <a:ahLst/>
            <a:cxnLst/>
            <a:rect l="l" t="t" r="r" b="b"/>
            <a:pathLst>
              <a:path w="6713220" h="2569845">
                <a:moveTo>
                  <a:pt x="114307" y="0"/>
                </a:moveTo>
                <a:lnTo>
                  <a:pt x="6598913" y="0"/>
                </a:lnTo>
                <a:cubicBezTo>
                  <a:pt x="6662043" y="0"/>
                  <a:pt x="6713220" y="51177"/>
                  <a:pt x="6713220" y="114307"/>
                </a:cubicBezTo>
                <a:lnTo>
                  <a:pt x="6713220" y="2455538"/>
                </a:lnTo>
                <a:cubicBezTo>
                  <a:pt x="6713220" y="2518668"/>
                  <a:pt x="6662043" y="2569845"/>
                  <a:pt x="6598913" y="2569845"/>
                </a:cubicBezTo>
                <a:lnTo>
                  <a:pt x="114307" y="2569845"/>
                </a:lnTo>
                <a:cubicBezTo>
                  <a:pt x="51177" y="2569845"/>
                  <a:pt x="0" y="2518668"/>
                  <a:pt x="0" y="245553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" y="1569720"/>
            <a:ext cx="636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" y="2026801"/>
            <a:ext cx="63436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is when machines can do tasks that normally require </a:t>
            </a:r>
            <a:r>
              <a:rPr lang="en-US" sz="1500" dirty="0">
                <a:solidFill>
                  <a:srgbClr val="EFEFEF"/>
                </a:solidFill>
                <a:highlight>
                  <a:srgbClr val="6366F1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human intelligence </a:t>
            </a: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like understanding speech, recognizing images, or making decisions.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6270" y="3107888"/>
            <a:ext cx="6229350" cy="571500"/>
          </a:xfrm>
          <a:custGeom>
            <a:avLst/>
            <a:gdLst/>
            <a:ahLst/>
            <a:cxnLst/>
            <a:rect l="l" t="t" r="r" b="b"/>
            <a:pathLst>
              <a:path w="6229350" h="571500">
                <a:moveTo>
                  <a:pt x="38100" y="0"/>
                </a:moveTo>
                <a:lnTo>
                  <a:pt x="6153152" y="0"/>
                </a:lnTo>
                <a:cubicBezTo>
                  <a:pt x="6195235" y="0"/>
                  <a:pt x="6229350" y="34115"/>
                  <a:pt x="6229350" y="76198"/>
                </a:cubicBezTo>
                <a:lnTo>
                  <a:pt x="6229350" y="495302"/>
                </a:lnTo>
                <a:cubicBezTo>
                  <a:pt x="6229350" y="537385"/>
                  <a:pt x="6195235" y="571500"/>
                  <a:pt x="61531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636270" y="3107888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807720" y="3260288"/>
            <a:ext cx="599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"AI is like teaching a computer to think and learn, just like humans do!"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810" y="4071819"/>
            <a:ext cx="6713220" cy="2598420"/>
          </a:xfrm>
          <a:custGeom>
            <a:avLst/>
            <a:gdLst/>
            <a:ahLst/>
            <a:cxnLst/>
            <a:rect l="l" t="t" r="r" b="b"/>
            <a:pathLst>
              <a:path w="6713220" h="2598420">
                <a:moveTo>
                  <a:pt x="114304" y="0"/>
                </a:moveTo>
                <a:lnTo>
                  <a:pt x="6598916" y="0"/>
                </a:lnTo>
                <a:cubicBezTo>
                  <a:pt x="6662044" y="0"/>
                  <a:pt x="6713220" y="51176"/>
                  <a:pt x="6713220" y="114304"/>
                </a:cubicBezTo>
                <a:lnTo>
                  <a:pt x="6713220" y="2484116"/>
                </a:lnTo>
                <a:cubicBezTo>
                  <a:pt x="6713220" y="2547244"/>
                  <a:pt x="6662044" y="2598420"/>
                  <a:pt x="6598916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" y="4304229"/>
            <a:ext cx="636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" y="47994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2470" y="487560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36320" y="4761309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6320" y="5066109"/>
            <a:ext cx="2705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systems improve from experience and data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7620" y="47994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84295" y="487560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236720" y="4761309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36720" y="5066109"/>
            <a:ext cx="2705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can solve problems and make decisions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" y="57138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83895" y="579000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36320" y="5675709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36320" y="5980509"/>
            <a:ext cx="2705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can see, hear, and understand the world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17620" y="57138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884295" y="579000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47625" y="0"/>
                </a:moveTo>
                <a:cubicBezTo>
                  <a:pt x="52894" y="0"/>
                  <a:pt x="57150" y="4256"/>
                  <a:pt x="57150" y="9525"/>
                </a:cubicBezTo>
                <a:lnTo>
                  <a:pt x="57150" y="19050"/>
                </a:lnTo>
                <a:lnTo>
                  <a:pt x="95250" y="19050"/>
                </a:lnTo>
                <a:cubicBezTo>
                  <a:pt x="100519" y="19050"/>
                  <a:pt x="104775" y="23306"/>
                  <a:pt x="104775" y="28575"/>
                </a:cubicBezTo>
                <a:cubicBezTo>
                  <a:pt x="104775" y="33844"/>
                  <a:pt x="100519" y="38100"/>
                  <a:pt x="95250" y="38100"/>
                </a:cubicBezTo>
                <a:lnTo>
                  <a:pt x="92393" y="38100"/>
                </a:lnTo>
                <a:lnTo>
                  <a:pt x="89892" y="44976"/>
                </a:lnTo>
                <a:cubicBezTo>
                  <a:pt x="85011" y="58430"/>
                  <a:pt x="77659" y="70723"/>
                  <a:pt x="68401" y="81290"/>
                </a:cubicBezTo>
                <a:cubicBezTo>
                  <a:pt x="72628" y="83909"/>
                  <a:pt x="77033" y="86231"/>
                  <a:pt x="81617" y="88285"/>
                </a:cubicBezTo>
                <a:lnTo>
                  <a:pt x="96619" y="94952"/>
                </a:lnTo>
                <a:lnTo>
                  <a:pt x="115133" y="53280"/>
                </a:lnTo>
                <a:cubicBezTo>
                  <a:pt x="116651" y="49828"/>
                  <a:pt x="120075" y="47625"/>
                  <a:pt x="123825" y="47625"/>
                </a:cubicBezTo>
                <a:cubicBezTo>
                  <a:pt x="127575" y="47625"/>
                  <a:pt x="130999" y="49828"/>
                  <a:pt x="132517" y="53280"/>
                </a:cubicBezTo>
                <a:lnTo>
                  <a:pt x="170617" y="139005"/>
                </a:lnTo>
                <a:cubicBezTo>
                  <a:pt x="172760" y="143828"/>
                  <a:pt x="170587" y="149453"/>
                  <a:pt x="165795" y="151567"/>
                </a:cubicBezTo>
                <a:cubicBezTo>
                  <a:pt x="161002" y="153680"/>
                  <a:pt x="155347" y="151537"/>
                  <a:pt x="153233" y="146745"/>
                </a:cubicBezTo>
                <a:lnTo>
                  <a:pt x="147280" y="133350"/>
                </a:lnTo>
                <a:lnTo>
                  <a:pt x="100399" y="133350"/>
                </a:lnTo>
                <a:lnTo>
                  <a:pt x="94446" y="146745"/>
                </a:lnTo>
                <a:cubicBezTo>
                  <a:pt x="92303" y="151567"/>
                  <a:pt x="86677" y="153710"/>
                  <a:pt x="81885" y="151567"/>
                </a:cubicBezTo>
                <a:cubicBezTo>
                  <a:pt x="77093" y="149423"/>
                  <a:pt x="74920" y="143798"/>
                  <a:pt x="77063" y="139005"/>
                </a:cubicBezTo>
                <a:lnTo>
                  <a:pt x="88910" y="112365"/>
                </a:lnTo>
                <a:lnTo>
                  <a:pt x="73908" y="105698"/>
                </a:lnTo>
                <a:cubicBezTo>
                  <a:pt x="67062" y="102662"/>
                  <a:pt x="60514" y="99030"/>
                  <a:pt x="54322" y="94863"/>
                </a:cubicBezTo>
                <a:cubicBezTo>
                  <a:pt x="47982" y="99983"/>
                  <a:pt x="41047" y="104448"/>
                  <a:pt x="33635" y="108168"/>
                </a:cubicBezTo>
                <a:lnTo>
                  <a:pt x="23306" y="113288"/>
                </a:lnTo>
                <a:cubicBezTo>
                  <a:pt x="18604" y="115639"/>
                  <a:pt x="12889" y="113734"/>
                  <a:pt x="10537" y="109031"/>
                </a:cubicBezTo>
                <a:cubicBezTo>
                  <a:pt x="8186" y="104329"/>
                  <a:pt x="10091" y="98614"/>
                  <a:pt x="14794" y="96262"/>
                </a:cubicBezTo>
                <a:lnTo>
                  <a:pt x="25063" y="91113"/>
                </a:lnTo>
                <a:cubicBezTo>
                  <a:pt x="29914" y="88672"/>
                  <a:pt x="34528" y="85844"/>
                  <a:pt x="38874" y="82689"/>
                </a:cubicBezTo>
                <a:cubicBezTo>
                  <a:pt x="34766" y="78909"/>
                  <a:pt x="30897" y="74831"/>
                  <a:pt x="27295" y="70515"/>
                </a:cubicBezTo>
                <a:lnTo>
                  <a:pt x="24289" y="66883"/>
                </a:lnTo>
                <a:cubicBezTo>
                  <a:pt x="20925" y="62835"/>
                  <a:pt x="21461" y="56823"/>
                  <a:pt x="25509" y="53459"/>
                </a:cubicBezTo>
                <a:cubicBezTo>
                  <a:pt x="29557" y="50096"/>
                  <a:pt x="35570" y="50631"/>
                  <a:pt x="38933" y="54679"/>
                </a:cubicBezTo>
                <a:lnTo>
                  <a:pt x="41970" y="58311"/>
                </a:lnTo>
                <a:cubicBezTo>
                  <a:pt x="45393" y="62448"/>
                  <a:pt x="49143" y="66288"/>
                  <a:pt x="53102" y="69830"/>
                </a:cubicBezTo>
                <a:cubicBezTo>
                  <a:pt x="61287" y="60781"/>
                  <a:pt x="67747" y="50155"/>
                  <a:pt x="72003" y="38457"/>
                </a:cubicBezTo>
                <a:lnTo>
                  <a:pt x="72152" y="38100"/>
                </a:lnTo>
                <a:lnTo>
                  <a:pt x="9555" y="38100"/>
                </a:lnTo>
                <a:cubicBezTo>
                  <a:pt x="4256" y="38100"/>
                  <a:pt x="0" y="33844"/>
                  <a:pt x="0" y="28575"/>
                </a:cubicBezTo>
                <a:cubicBezTo>
                  <a:pt x="0" y="23306"/>
                  <a:pt x="4256" y="19050"/>
                  <a:pt x="9525" y="19050"/>
                </a:cubicBezTo>
                <a:lnTo>
                  <a:pt x="38100" y="19050"/>
                </a:lnTo>
                <a:lnTo>
                  <a:pt x="38100" y="9525"/>
                </a:lnTo>
                <a:cubicBezTo>
                  <a:pt x="38100" y="4256"/>
                  <a:pt x="42356" y="0"/>
                  <a:pt x="47625" y="0"/>
                </a:cubicBezTo>
                <a:close/>
                <a:moveTo>
                  <a:pt x="123825" y="80605"/>
                </a:moveTo>
                <a:lnTo>
                  <a:pt x="108853" y="114300"/>
                </a:lnTo>
                <a:lnTo>
                  <a:pt x="138797" y="114300"/>
                </a:lnTo>
                <a:lnTo>
                  <a:pt x="123825" y="8060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236720" y="5675709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36720" y="5980509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can process natural language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34250" y="1337310"/>
            <a:ext cx="4474845" cy="5332095"/>
          </a:xfrm>
          <a:custGeom>
            <a:avLst/>
            <a:gdLst/>
            <a:ahLst/>
            <a:cxnLst/>
            <a:rect l="l" t="t" r="r" b="b"/>
            <a:pathLst>
              <a:path w="4474845" h="5332095">
                <a:moveTo>
                  <a:pt x="114288" y="0"/>
                </a:moveTo>
                <a:lnTo>
                  <a:pt x="4360557" y="0"/>
                </a:lnTo>
                <a:cubicBezTo>
                  <a:pt x="4423677" y="0"/>
                  <a:pt x="4474845" y="51168"/>
                  <a:pt x="4474845" y="114288"/>
                </a:cubicBezTo>
                <a:lnTo>
                  <a:pt x="4474845" y="5217807"/>
                </a:lnTo>
                <a:cubicBezTo>
                  <a:pt x="4474845" y="5280927"/>
                  <a:pt x="4423677" y="5332095"/>
                  <a:pt x="4360557" y="5332095"/>
                </a:cubicBezTo>
                <a:lnTo>
                  <a:pt x="114288" y="5332095"/>
                </a:lnTo>
                <a:cubicBezTo>
                  <a:pt x="51168" y="5332095"/>
                  <a:pt x="0" y="5280927"/>
                  <a:pt x="0" y="5217807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66660" y="1569720"/>
            <a:ext cx="4124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66660" y="2026801"/>
            <a:ext cx="4010025" cy="3143250"/>
          </a:xfrm>
          <a:custGeom>
            <a:avLst/>
            <a:gdLst/>
            <a:ahLst/>
            <a:cxnLst/>
            <a:rect l="l" t="t" r="r" b="b"/>
            <a:pathLst>
              <a:path w="4010025" h="3143250">
                <a:moveTo>
                  <a:pt x="76192" y="0"/>
                </a:moveTo>
                <a:lnTo>
                  <a:pt x="3933833" y="0"/>
                </a:lnTo>
                <a:cubicBezTo>
                  <a:pt x="3975913" y="0"/>
                  <a:pt x="4010025" y="34112"/>
                  <a:pt x="4010025" y="76192"/>
                </a:cubicBezTo>
                <a:lnTo>
                  <a:pt x="4010025" y="3067058"/>
                </a:lnTo>
                <a:cubicBezTo>
                  <a:pt x="4010025" y="3109138"/>
                  <a:pt x="3975913" y="3143250"/>
                  <a:pt x="3933833" y="3143250"/>
                </a:cubicBezTo>
                <a:lnTo>
                  <a:pt x="76192" y="3143250"/>
                </a:lnTo>
                <a:cubicBezTo>
                  <a:pt x="34112" y="3143250"/>
                  <a:pt x="0" y="3109138"/>
                  <a:pt x="0" y="30670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33" name="Image 0" descr="https://miro.medium.com/1*FTLigPUssoVw2tnQj6-Kaw.jpeg"/>
          <p:cNvPicPr>
            <a:picLocks noChangeAspect="1"/>
          </p:cNvPicPr>
          <p:nvPr/>
        </p:nvPicPr>
        <p:blipFill>
          <a:blip r:embed="rId3"/>
          <a:srcRect t="8005" b="8005"/>
          <a:stretch/>
        </p:blipFill>
        <p:spPr>
          <a:xfrm>
            <a:off x="7757160" y="2217301"/>
            <a:ext cx="3629025" cy="1524000"/>
          </a:xfrm>
          <a:prstGeom prst="roundRect">
            <a:avLst>
              <a:gd name="adj" fmla="val 5000"/>
            </a:avLst>
          </a:prstGeom>
        </p:spPr>
      </p:pic>
      <p:sp>
        <p:nvSpPr>
          <p:cNvPr id="34" name="Text 31"/>
          <p:cNvSpPr/>
          <p:nvPr/>
        </p:nvSpPr>
        <p:spPr>
          <a:xfrm>
            <a:off x="7757160" y="3893701"/>
            <a:ext cx="3724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Assistants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757160" y="4236601"/>
            <a:ext cx="37052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Siri, Alexa, and Google Assistant use AI to understand your voice commands, answer questions, and control smart home devices.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70470" y="5326262"/>
            <a:ext cx="3998595" cy="998220"/>
          </a:xfrm>
          <a:custGeom>
            <a:avLst/>
            <a:gdLst/>
            <a:ahLst/>
            <a:cxnLst/>
            <a:rect l="l" t="t" r="r" b="b"/>
            <a:pathLst>
              <a:path w="3998595" h="998220">
                <a:moveTo>
                  <a:pt x="76204" y="0"/>
                </a:moveTo>
                <a:lnTo>
                  <a:pt x="3922391" y="0"/>
                </a:lnTo>
                <a:cubicBezTo>
                  <a:pt x="3964477" y="0"/>
                  <a:pt x="3998595" y="34118"/>
                  <a:pt x="3998595" y="76204"/>
                </a:cubicBezTo>
                <a:lnTo>
                  <a:pt x="3998595" y="922016"/>
                </a:lnTo>
                <a:cubicBezTo>
                  <a:pt x="3998595" y="964102"/>
                  <a:pt x="3964477" y="998220"/>
                  <a:pt x="392239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26680" y="5482472"/>
            <a:ext cx="3762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Everyday Analogy: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is like having a super-smart helper that learns your preferences and gets better at helping you over time!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7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446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 • TOPIC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4562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 of Artificial Intelligence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AI researchers aim to achieve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1565910"/>
            <a:ext cx="5627370" cy="1750695"/>
          </a:xfrm>
          <a:custGeom>
            <a:avLst/>
            <a:gdLst/>
            <a:ahLst/>
            <a:cxnLst/>
            <a:rect l="l" t="t" r="r" b="b"/>
            <a:pathLst>
              <a:path w="5627370" h="1750695">
                <a:moveTo>
                  <a:pt x="114303" y="0"/>
                </a:moveTo>
                <a:lnTo>
                  <a:pt x="5513067" y="0"/>
                </a:lnTo>
                <a:cubicBezTo>
                  <a:pt x="5576153" y="0"/>
                  <a:pt x="5627370" y="51217"/>
                  <a:pt x="5627370" y="114303"/>
                </a:cubicBezTo>
                <a:lnTo>
                  <a:pt x="5627370" y="1636392"/>
                </a:lnTo>
                <a:cubicBezTo>
                  <a:pt x="5627370" y="1699520"/>
                  <a:pt x="5576195" y="1750695"/>
                  <a:pt x="5513067" y="1750695"/>
                </a:cubicBezTo>
                <a:lnTo>
                  <a:pt x="114303" y="1750695"/>
                </a:lnTo>
                <a:cubicBezTo>
                  <a:pt x="51217" y="1750695"/>
                  <a:pt x="0" y="1699478"/>
                  <a:pt x="0" y="163639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9120" y="1760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1737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4420" y="1817370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Thinking Machines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9120" y="2255520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systems that can think, learn, and solve problems like humans do.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8170" y="2617470"/>
            <a:ext cx="5219700" cy="419100"/>
          </a:xfrm>
          <a:custGeom>
            <a:avLst/>
            <a:gdLst/>
            <a:ahLst/>
            <a:cxnLst/>
            <a:rect l="l" t="t" r="r" b="b"/>
            <a:pathLst>
              <a:path w="5219700" h="419100">
                <a:moveTo>
                  <a:pt x="38100" y="0"/>
                </a:moveTo>
                <a:lnTo>
                  <a:pt x="5143499" y="0"/>
                </a:lnTo>
                <a:cubicBezTo>
                  <a:pt x="5185584" y="0"/>
                  <a:pt x="5219700" y="34116"/>
                  <a:pt x="5219700" y="76201"/>
                </a:cubicBezTo>
                <a:lnTo>
                  <a:pt x="5219700" y="342899"/>
                </a:lnTo>
                <a:cubicBezTo>
                  <a:pt x="5219700" y="384984"/>
                  <a:pt x="5185584" y="419100"/>
                  <a:pt x="5143499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3" name="Shape 11"/>
          <p:cNvSpPr/>
          <p:nvPr/>
        </p:nvSpPr>
        <p:spPr>
          <a:xfrm>
            <a:off x="598170" y="261747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177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Chess computers that learn strategies and beat grandmasters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6010" y="1565910"/>
            <a:ext cx="5627370" cy="1750695"/>
          </a:xfrm>
          <a:custGeom>
            <a:avLst/>
            <a:gdLst/>
            <a:ahLst/>
            <a:cxnLst/>
            <a:rect l="l" t="t" r="r" b="b"/>
            <a:pathLst>
              <a:path w="5627370" h="1750695">
                <a:moveTo>
                  <a:pt x="114303" y="0"/>
                </a:moveTo>
                <a:lnTo>
                  <a:pt x="5513067" y="0"/>
                </a:lnTo>
                <a:cubicBezTo>
                  <a:pt x="5576153" y="0"/>
                  <a:pt x="5627370" y="51217"/>
                  <a:pt x="5627370" y="114303"/>
                </a:cubicBezTo>
                <a:lnTo>
                  <a:pt x="5627370" y="1636392"/>
                </a:lnTo>
                <a:cubicBezTo>
                  <a:pt x="5627370" y="1699520"/>
                  <a:pt x="5576195" y="1750695"/>
                  <a:pt x="5513067" y="1750695"/>
                </a:cubicBezTo>
                <a:lnTo>
                  <a:pt x="114303" y="1750695"/>
                </a:lnTo>
                <a:cubicBezTo>
                  <a:pt x="51217" y="1750695"/>
                  <a:pt x="0" y="1699478"/>
                  <a:pt x="0" y="163639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0320" y="1760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05456" y="181737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65620" y="1817370"/>
            <a:ext cx="274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Human Intelligence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0320" y="2255520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how humans think and learn to build better AI systems.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9370" y="2617470"/>
            <a:ext cx="5219700" cy="419100"/>
          </a:xfrm>
          <a:custGeom>
            <a:avLst/>
            <a:gdLst/>
            <a:ahLst/>
            <a:cxnLst/>
            <a:rect l="l" t="t" r="r" b="b"/>
            <a:pathLst>
              <a:path w="5219700" h="419100">
                <a:moveTo>
                  <a:pt x="38100" y="0"/>
                </a:moveTo>
                <a:lnTo>
                  <a:pt x="5143499" y="0"/>
                </a:lnTo>
                <a:cubicBezTo>
                  <a:pt x="5185584" y="0"/>
                  <a:pt x="5219700" y="34116"/>
                  <a:pt x="5219700" y="76201"/>
                </a:cubicBezTo>
                <a:lnTo>
                  <a:pt x="5219700" y="342899"/>
                </a:lnTo>
                <a:cubicBezTo>
                  <a:pt x="5219700" y="384984"/>
                  <a:pt x="5185584" y="419100"/>
                  <a:pt x="5143499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9370" y="261747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6522720" y="273177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Neural networks inspired by how the human brain works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3472815"/>
            <a:ext cx="5627370" cy="1998345"/>
          </a:xfrm>
          <a:custGeom>
            <a:avLst/>
            <a:gdLst/>
            <a:ahLst/>
            <a:cxnLst/>
            <a:rect l="l" t="t" r="r" b="b"/>
            <a:pathLst>
              <a:path w="5627370" h="1998345">
                <a:moveTo>
                  <a:pt x="114305" y="0"/>
                </a:moveTo>
                <a:lnTo>
                  <a:pt x="5513065" y="0"/>
                </a:lnTo>
                <a:cubicBezTo>
                  <a:pt x="5576194" y="0"/>
                  <a:pt x="5627370" y="51176"/>
                  <a:pt x="5627370" y="114305"/>
                </a:cubicBezTo>
                <a:lnTo>
                  <a:pt x="5627370" y="1884040"/>
                </a:lnTo>
                <a:cubicBezTo>
                  <a:pt x="5627370" y="1947169"/>
                  <a:pt x="5576194" y="1998345"/>
                  <a:pt x="5513065" y="1998345"/>
                </a:cubicBezTo>
                <a:lnTo>
                  <a:pt x="114305" y="1998345"/>
                </a:lnTo>
                <a:cubicBezTo>
                  <a:pt x="51176" y="1998345"/>
                  <a:pt x="0" y="1947169"/>
                  <a:pt x="0" y="188404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9120" y="3667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13423" y="37242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4420" y="3724275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Solve Complex Problems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9120" y="4162425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AI to tackle problems too difficult or time-consuming for humans.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170" y="4524375"/>
            <a:ext cx="5219700" cy="419100"/>
          </a:xfrm>
          <a:custGeom>
            <a:avLst/>
            <a:gdLst/>
            <a:ahLst/>
            <a:cxnLst/>
            <a:rect l="l" t="t" r="r" b="b"/>
            <a:pathLst>
              <a:path w="5219700" h="419100">
                <a:moveTo>
                  <a:pt x="38100" y="0"/>
                </a:moveTo>
                <a:lnTo>
                  <a:pt x="5143499" y="0"/>
                </a:lnTo>
                <a:cubicBezTo>
                  <a:pt x="5185584" y="0"/>
                  <a:pt x="5219700" y="34116"/>
                  <a:pt x="5219700" y="76201"/>
                </a:cubicBezTo>
                <a:lnTo>
                  <a:pt x="5219700" y="342899"/>
                </a:lnTo>
                <a:cubicBezTo>
                  <a:pt x="5219700" y="384984"/>
                  <a:pt x="5185584" y="419100"/>
                  <a:pt x="5143499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9" name="Shape 27"/>
          <p:cNvSpPr/>
          <p:nvPr/>
        </p:nvSpPr>
        <p:spPr>
          <a:xfrm>
            <a:off x="598170" y="452437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638675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Medical AI diagnosing diseases from X-rays faster than doctors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6010" y="3472815"/>
            <a:ext cx="5627370" cy="1998345"/>
          </a:xfrm>
          <a:custGeom>
            <a:avLst/>
            <a:gdLst/>
            <a:ahLst/>
            <a:cxnLst/>
            <a:rect l="l" t="t" r="r" b="b"/>
            <a:pathLst>
              <a:path w="5627370" h="1998345">
                <a:moveTo>
                  <a:pt x="114305" y="0"/>
                </a:moveTo>
                <a:lnTo>
                  <a:pt x="5513065" y="0"/>
                </a:lnTo>
                <a:cubicBezTo>
                  <a:pt x="5576194" y="0"/>
                  <a:pt x="5627370" y="51176"/>
                  <a:pt x="5627370" y="114305"/>
                </a:cubicBezTo>
                <a:lnTo>
                  <a:pt x="5627370" y="1884040"/>
                </a:lnTo>
                <a:cubicBezTo>
                  <a:pt x="5627370" y="1947169"/>
                  <a:pt x="5576194" y="1998345"/>
                  <a:pt x="5513065" y="1998345"/>
                </a:cubicBezTo>
                <a:lnTo>
                  <a:pt x="114305" y="1998345"/>
                </a:lnTo>
                <a:cubicBezTo>
                  <a:pt x="51176" y="1998345"/>
                  <a:pt x="0" y="1947169"/>
                  <a:pt x="0" y="188404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0320" y="3667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04623" y="37242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65620" y="372427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Rational Decisions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70320" y="416242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systems that make the best possible choices based on available information.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9370" y="4772025"/>
            <a:ext cx="5219700" cy="419100"/>
          </a:xfrm>
          <a:custGeom>
            <a:avLst/>
            <a:gdLst/>
            <a:ahLst/>
            <a:cxnLst/>
            <a:rect l="l" t="t" r="r" b="b"/>
            <a:pathLst>
              <a:path w="5219700" h="419100">
                <a:moveTo>
                  <a:pt x="38100" y="0"/>
                </a:moveTo>
                <a:lnTo>
                  <a:pt x="5143499" y="0"/>
                </a:lnTo>
                <a:cubicBezTo>
                  <a:pt x="5185584" y="0"/>
                  <a:pt x="5219700" y="34116"/>
                  <a:pt x="5219700" y="76201"/>
                </a:cubicBezTo>
                <a:lnTo>
                  <a:pt x="5219700" y="342899"/>
                </a:lnTo>
                <a:cubicBezTo>
                  <a:pt x="5219700" y="384984"/>
                  <a:pt x="5185584" y="419100"/>
                  <a:pt x="5143499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9370" y="477202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6522720" y="4886325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Self-driving cars choosing the safest route in traffic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4810" y="5627371"/>
            <a:ext cx="11418570" cy="845820"/>
          </a:xfrm>
          <a:custGeom>
            <a:avLst/>
            <a:gdLst/>
            <a:ahLst/>
            <a:cxnLst/>
            <a:rect l="l" t="t" r="r" b="b"/>
            <a:pathLst>
              <a:path w="11418570" h="845820">
                <a:moveTo>
                  <a:pt x="114304" y="0"/>
                </a:moveTo>
                <a:lnTo>
                  <a:pt x="11304266" y="0"/>
                </a:lnTo>
                <a:cubicBezTo>
                  <a:pt x="11367394" y="0"/>
                  <a:pt x="11418570" y="51176"/>
                  <a:pt x="11418570" y="114304"/>
                </a:cubicBezTo>
                <a:lnTo>
                  <a:pt x="11418570" y="731516"/>
                </a:lnTo>
                <a:cubicBezTo>
                  <a:pt x="11418570" y="794644"/>
                  <a:pt x="11367394" y="845820"/>
                  <a:pt x="11304266" y="845820"/>
                </a:cubicBezTo>
                <a:lnTo>
                  <a:pt x="114304" y="845820"/>
                </a:lnTo>
                <a:cubicBezTo>
                  <a:pt x="51176" y="845820"/>
                  <a:pt x="0" y="794644"/>
                  <a:pt x="0" y="7315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4839" y="590740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1050608" y="5783580"/>
            <a:ext cx="1015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Big Picture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50608" y="6088380"/>
            <a:ext cx="1014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AI's ultimate goal is to create machines that can help humans solve real-world problems, make better decisions, and improve our lives in countless ways.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7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 • TOPIC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411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Should We Study AI?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3131820" cy="1512570"/>
          </a:xfrm>
          <a:custGeom>
            <a:avLst/>
            <a:gdLst/>
            <a:ahLst/>
            <a:cxnLst/>
            <a:rect l="l" t="t" r="r" b="b"/>
            <a:pathLst>
              <a:path w="3131820" h="1512570">
                <a:moveTo>
                  <a:pt x="114305" y="0"/>
                </a:moveTo>
                <a:lnTo>
                  <a:pt x="3017515" y="0"/>
                </a:lnTo>
                <a:cubicBezTo>
                  <a:pt x="3080644" y="0"/>
                  <a:pt x="3131820" y="51176"/>
                  <a:pt x="3131820" y="114305"/>
                </a:cubicBezTo>
                <a:lnTo>
                  <a:pt x="3131820" y="1398265"/>
                </a:lnTo>
                <a:cubicBezTo>
                  <a:pt x="3131820" y="1461394"/>
                  <a:pt x="3080644" y="1512570"/>
                  <a:pt x="3017515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7695" y="15125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" y="149352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is Everywhere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1874520"/>
            <a:ext cx="2819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Netflix recommendations to Google searches, AI powers the tools you use daily.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79627" y="1299210"/>
            <a:ext cx="3131820" cy="1512570"/>
          </a:xfrm>
          <a:custGeom>
            <a:avLst/>
            <a:gdLst/>
            <a:ahLst/>
            <a:cxnLst/>
            <a:rect l="l" t="t" r="r" b="b"/>
            <a:pathLst>
              <a:path w="3131820" h="1512570">
                <a:moveTo>
                  <a:pt x="114305" y="0"/>
                </a:moveTo>
                <a:lnTo>
                  <a:pt x="3017515" y="0"/>
                </a:lnTo>
                <a:cubicBezTo>
                  <a:pt x="3080644" y="0"/>
                  <a:pt x="3131820" y="51176"/>
                  <a:pt x="3131820" y="114305"/>
                </a:cubicBezTo>
                <a:lnTo>
                  <a:pt x="3131820" y="1398265"/>
                </a:lnTo>
                <a:cubicBezTo>
                  <a:pt x="3131820" y="1461394"/>
                  <a:pt x="3080644" y="1512570"/>
                  <a:pt x="3017515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02512" y="15125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297" y="21431"/>
                </a:moveTo>
                <a:lnTo>
                  <a:pt x="139303" y="21431"/>
                </a:lnTo>
                <a:cubicBezTo>
                  <a:pt x="141268" y="21431"/>
                  <a:pt x="142875" y="23039"/>
                  <a:pt x="142875" y="25003"/>
                </a:cubicBezTo>
                <a:lnTo>
                  <a:pt x="142875" y="42863"/>
                </a:lnTo>
                <a:lnTo>
                  <a:pt x="85725" y="42863"/>
                </a:lnTo>
                <a:lnTo>
                  <a:pt x="85725" y="25003"/>
                </a:lnTo>
                <a:cubicBezTo>
                  <a:pt x="85725" y="23039"/>
                  <a:pt x="87332" y="21431"/>
                  <a:pt x="89297" y="21431"/>
                </a:cubicBezTo>
                <a:close/>
                <a:moveTo>
                  <a:pt x="64294" y="25003"/>
                </a:moveTo>
                <a:lnTo>
                  <a:pt x="64294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14300"/>
                </a:lnTo>
                <a:lnTo>
                  <a:pt x="228600" y="114300"/>
                </a:ln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4306" y="42863"/>
                </a:lnTo>
                <a:lnTo>
                  <a:pt x="164306" y="25003"/>
                </a:lnTo>
                <a:cubicBezTo>
                  <a:pt x="164306" y="11207"/>
                  <a:pt x="153099" y="0"/>
                  <a:pt x="139303" y="0"/>
                </a:cubicBezTo>
                <a:lnTo>
                  <a:pt x="89297" y="0"/>
                </a:lnTo>
                <a:cubicBezTo>
                  <a:pt x="75501" y="0"/>
                  <a:pt x="64294" y="11207"/>
                  <a:pt x="64294" y="25003"/>
                </a:cubicBezTo>
                <a:close/>
                <a:moveTo>
                  <a:pt x="228600" y="135731"/>
                </a:moveTo>
                <a:lnTo>
                  <a:pt x="142875" y="135731"/>
                </a:lnTo>
                <a:lnTo>
                  <a:pt x="142875" y="142875"/>
                </a:lnTo>
                <a:cubicBezTo>
                  <a:pt x="142875" y="150778"/>
                  <a:pt x="136490" y="157163"/>
                  <a:pt x="128588" y="157163"/>
                </a:cubicBezTo>
                <a:lnTo>
                  <a:pt x="100013" y="157163"/>
                </a:lnTo>
                <a:cubicBezTo>
                  <a:pt x="92110" y="157163"/>
                  <a:pt x="85725" y="150778"/>
                  <a:pt x="85725" y="142875"/>
                </a:cubicBezTo>
                <a:lnTo>
                  <a:pt x="85725" y="135731"/>
                </a:lnTo>
                <a:lnTo>
                  <a:pt x="0" y="135731"/>
                </a:ln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3573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273987" y="149352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Career Opportunities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73937" y="1874520"/>
            <a:ext cx="2819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jobs are growing rapidly with high salaries and strong demand across all industries.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2971801"/>
            <a:ext cx="3131820" cy="1512570"/>
          </a:xfrm>
          <a:custGeom>
            <a:avLst/>
            <a:gdLst/>
            <a:ahLst/>
            <a:cxnLst/>
            <a:rect l="l" t="t" r="r" b="b"/>
            <a:pathLst>
              <a:path w="3131820" h="1512570">
                <a:moveTo>
                  <a:pt x="114305" y="0"/>
                </a:moveTo>
                <a:lnTo>
                  <a:pt x="3017515" y="0"/>
                </a:lnTo>
                <a:cubicBezTo>
                  <a:pt x="3080644" y="0"/>
                  <a:pt x="3131820" y="51176"/>
                  <a:pt x="3131820" y="114305"/>
                </a:cubicBezTo>
                <a:lnTo>
                  <a:pt x="3131820" y="1398265"/>
                </a:lnTo>
                <a:cubicBezTo>
                  <a:pt x="3131820" y="1461394"/>
                  <a:pt x="3080644" y="1512570"/>
                  <a:pt x="3017515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695" y="31851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979170" y="3166111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Solving Real Problems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9120" y="3547111"/>
            <a:ext cx="2819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helps doctors diagnose diseases, scientists discover new drugs, and farmers grow more food.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79627" y="2971801"/>
            <a:ext cx="3131820" cy="1512570"/>
          </a:xfrm>
          <a:custGeom>
            <a:avLst/>
            <a:gdLst/>
            <a:ahLst/>
            <a:cxnLst/>
            <a:rect l="l" t="t" r="r" b="b"/>
            <a:pathLst>
              <a:path w="3131820" h="1512570">
                <a:moveTo>
                  <a:pt x="114305" y="0"/>
                </a:moveTo>
                <a:lnTo>
                  <a:pt x="3017515" y="0"/>
                </a:lnTo>
                <a:cubicBezTo>
                  <a:pt x="3080644" y="0"/>
                  <a:pt x="3131820" y="51176"/>
                  <a:pt x="3131820" y="114305"/>
                </a:cubicBezTo>
                <a:lnTo>
                  <a:pt x="3131820" y="1398265"/>
                </a:lnTo>
                <a:cubicBezTo>
                  <a:pt x="3131820" y="1461394"/>
                  <a:pt x="3080644" y="1512570"/>
                  <a:pt x="3017515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02512" y="31851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273987" y="3166111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Technology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73937" y="3547111"/>
            <a:ext cx="2819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AI prepares you for the future of work and emerging technologies.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810" y="4644390"/>
            <a:ext cx="6427470" cy="1531620"/>
          </a:xfrm>
          <a:custGeom>
            <a:avLst/>
            <a:gdLst/>
            <a:ahLst/>
            <a:cxnLst/>
            <a:rect l="l" t="t" r="r" b="b"/>
            <a:pathLst>
              <a:path w="6427470" h="1531620">
                <a:moveTo>
                  <a:pt x="114305" y="0"/>
                </a:moveTo>
                <a:lnTo>
                  <a:pt x="6313165" y="0"/>
                </a:lnTo>
                <a:cubicBezTo>
                  <a:pt x="6376294" y="0"/>
                  <a:pt x="6427470" y="51176"/>
                  <a:pt x="6427470" y="114305"/>
                </a:cubicBezTo>
                <a:lnTo>
                  <a:pt x="6427470" y="1417315"/>
                </a:lnTo>
                <a:cubicBezTo>
                  <a:pt x="6427470" y="1480444"/>
                  <a:pt x="6376294" y="1531620"/>
                  <a:pt x="6313165" y="1531620"/>
                </a:cubicBezTo>
                <a:lnTo>
                  <a:pt x="114305" y="1531620"/>
                </a:lnTo>
                <a:cubicBezTo>
                  <a:pt x="51218" y="1531620"/>
                  <a:pt x="0" y="1480402"/>
                  <a:pt x="0" y="14173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120" y="4838700"/>
            <a:ext cx="6134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by the Numbers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682" y="5219700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5782" y="560070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AI jobs expected by 2025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72107" y="5219700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$15.7T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10207" y="5600700"/>
            <a:ext cx="198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AI economic impact by 2030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36651" y="5219700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77%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74751" y="560070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devices use AI in some form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50762" y="1299210"/>
            <a:ext cx="4760595" cy="5474970"/>
          </a:xfrm>
          <a:custGeom>
            <a:avLst/>
            <a:gdLst/>
            <a:ahLst/>
            <a:cxnLst/>
            <a:rect l="l" t="t" r="r" b="b"/>
            <a:pathLst>
              <a:path w="4760595" h="5474970">
                <a:moveTo>
                  <a:pt x="114302" y="0"/>
                </a:moveTo>
                <a:lnTo>
                  <a:pt x="4646293" y="0"/>
                </a:lnTo>
                <a:cubicBezTo>
                  <a:pt x="4709420" y="0"/>
                  <a:pt x="4760595" y="51175"/>
                  <a:pt x="4760595" y="114302"/>
                </a:cubicBezTo>
                <a:lnTo>
                  <a:pt x="4760595" y="5360668"/>
                </a:lnTo>
                <a:cubicBezTo>
                  <a:pt x="4760595" y="5423795"/>
                  <a:pt x="4709420" y="5474970"/>
                  <a:pt x="4646293" y="5474970"/>
                </a:cubicBezTo>
                <a:lnTo>
                  <a:pt x="114302" y="5474970"/>
                </a:lnTo>
                <a:cubicBezTo>
                  <a:pt x="51175" y="5474970"/>
                  <a:pt x="0" y="5423795"/>
                  <a:pt x="0" y="536066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3172" y="1531620"/>
            <a:ext cx="4410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83172" y="1988702"/>
            <a:ext cx="4295775" cy="1104900"/>
          </a:xfrm>
          <a:custGeom>
            <a:avLst/>
            <a:gdLst/>
            <a:ahLst/>
            <a:cxnLst/>
            <a:rect l="l" t="t" r="r" b="b"/>
            <a:pathLst>
              <a:path w="4295775" h="1104900">
                <a:moveTo>
                  <a:pt x="76205" y="0"/>
                </a:moveTo>
                <a:lnTo>
                  <a:pt x="4219570" y="0"/>
                </a:lnTo>
                <a:cubicBezTo>
                  <a:pt x="4261657" y="0"/>
                  <a:pt x="4295775" y="34118"/>
                  <a:pt x="4295775" y="76205"/>
                </a:cubicBezTo>
                <a:lnTo>
                  <a:pt x="4295775" y="1028695"/>
                </a:lnTo>
                <a:cubicBezTo>
                  <a:pt x="4295775" y="1070782"/>
                  <a:pt x="4261657" y="1104900"/>
                  <a:pt x="42195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3" name="Text 31"/>
          <p:cNvSpPr/>
          <p:nvPr/>
        </p:nvSpPr>
        <p:spPr>
          <a:xfrm>
            <a:off x="7435572" y="2141102"/>
            <a:ext cx="407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35572" y="2484002"/>
            <a:ext cx="4067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detects cancer in medical images with 95% accuracy, helping doctors save lives.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83172" y="3246002"/>
            <a:ext cx="4295775" cy="1104900"/>
          </a:xfrm>
          <a:custGeom>
            <a:avLst/>
            <a:gdLst/>
            <a:ahLst/>
            <a:cxnLst/>
            <a:rect l="l" t="t" r="r" b="b"/>
            <a:pathLst>
              <a:path w="4295775" h="1104900">
                <a:moveTo>
                  <a:pt x="76205" y="0"/>
                </a:moveTo>
                <a:lnTo>
                  <a:pt x="4219570" y="0"/>
                </a:lnTo>
                <a:cubicBezTo>
                  <a:pt x="4261657" y="0"/>
                  <a:pt x="4295775" y="34118"/>
                  <a:pt x="4295775" y="76205"/>
                </a:cubicBezTo>
                <a:lnTo>
                  <a:pt x="4295775" y="1028695"/>
                </a:lnTo>
                <a:cubicBezTo>
                  <a:pt x="4295775" y="1070782"/>
                  <a:pt x="4261657" y="1104900"/>
                  <a:pt x="42195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Text 34"/>
          <p:cNvSpPr/>
          <p:nvPr/>
        </p:nvSpPr>
        <p:spPr>
          <a:xfrm>
            <a:off x="7435572" y="3398402"/>
            <a:ext cx="407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35572" y="3741302"/>
            <a:ext cx="4067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Self-driving cars could reduce traffic accidents by 90%, making roads safer.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283172" y="4503302"/>
            <a:ext cx="4295775" cy="1104900"/>
          </a:xfrm>
          <a:custGeom>
            <a:avLst/>
            <a:gdLst/>
            <a:ahLst/>
            <a:cxnLst/>
            <a:rect l="l" t="t" r="r" b="b"/>
            <a:pathLst>
              <a:path w="4295775" h="1104900">
                <a:moveTo>
                  <a:pt x="76205" y="0"/>
                </a:moveTo>
                <a:lnTo>
                  <a:pt x="4219570" y="0"/>
                </a:lnTo>
                <a:cubicBezTo>
                  <a:pt x="4261657" y="0"/>
                  <a:pt x="4295775" y="34118"/>
                  <a:pt x="4295775" y="76205"/>
                </a:cubicBezTo>
                <a:lnTo>
                  <a:pt x="4295775" y="1028695"/>
                </a:lnTo>
                <a:cubicBezTo>
                  <a:pt x="4295775" y="1070782"/>
                  <a:pt x="4261657" y="1104900"/>
                  <a:pt x="42195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9" name="Text 37"/>
          <p:cNvSpPr/>
          <p:nvPr/>
        </p:nvSpPr>
        <p:spPr>
          <a:xfrm>
            <a:off x="7435572" y="4655702"/>
            <a:ext cx="407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35572" y="4998602"/>
            <a:ext cx="4067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tutors personalize learning for each student, improving grades by 30%.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286982" y="5764412"/>
            <a:ext cx="4284345" cy="769620"/>
          </a:xfrm>
          <a:custGeom>
            <a:avLst/>
            <a:gdLst/>
            <a:ahLst/>
            <a:cxnLst/>
            <a:rect l="l" t="t" r="r" b="b"/>
            <a:pathLst>
              <a:path w="4284345" h="769620">
                <a:moveTo>
                  <a:pt x="76200" y="0"/>
                </a:moveTo>
                <a:lnTo>
                  <a:pt x="4208145" y="0"/>
                </a:lnTo>
                <a:cubicBezTo>
                  <a:pt x="4250229" y="0"/>
                  <a:pt x="4284345" y="34116"/>
                  <a:pt x="4284345" y="76200"/>
                </a:cubicBezTo>
                <a:lnTo>
                  <a:pt x="4284345" y="693420"/>
                </a:lnTo>
                <a:cubicBezTo>
                  <a:pt x="4284345" y="735504"/>
                  <a:pt x="4250229" y="769620"/>
                  <a:pt x="420814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3192" y="5920622"/>
            <a:ext cx="4048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isn't just for tech experts - it's becoming essential knowledge for everyone!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wisscognitive.ch/wp-content/uploads/2021/03/Exploration_of_Neural_Networks_SwissCognitive_The_Global_AI_Hub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/>
              </a:gs>
              <a:gs pos="50000">
                <a:srgbClr val="191919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029777"/>
            <a:ext cx="1864995" cy="388620"/>
          </a:xfrm>
          <a:custGeom>
            <a:avLst/>
            <a:gdLst/>
            <a:ahLst/>
            <a:cxnLst/>
            <a:rect l="l" t="t" r="r" b="b"/>
            <a:pathLst>
              <a:path w="1864995" h="388620">
                <a:moveTo>
                  <a:pt x="194310" y="0"/>
                </a:moveTo>
                <a:lnTo>
                  <a:pt x="1670685" y="0"/>
                </a:lnTo>
                <a:cubicBezTo>
                  <a:pt x="1777999" y="0"/>
                  <a:pt x="1864995" y="86996"/>
                  <a:pt x="1864995" y="194310"/>
                </a:cubicBezTo>
                <a:lnTo>
                  <a:pt x="1864995" y="194310"/>
                </a:lnTo>
                <a:cubicBezTo>
                  <a:pt x="1864995" y="301624"/>
                  <a:pt x="1777999" y="388620"/>
                  <a:pt x="167068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2109788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 • LECTURE 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50810"/>
            <a:ext cx="76009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Basics of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51758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approaches scientists use to create intelligent machines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7963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1447800" y="4565335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Topics • 45 Minutes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7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42863"/>
                </a:moveTo>
                <a:cubicBezTo>
                  <a:pt x="228600" y="65276"/>
                  <a:pt x="202213" y="98718"/>
                  <a:pt x="190827" y="112068"/>
                </a:cubicBezTo>
                <a:cubicBezTo>
                  <a:pt x="189131" y="114032"/>
                  <a:pt x="186630" y="114791"/>
                  <a:pt x="184353" y="114300"/>
                </a:cubicBezTo>
                <a:lnTo>
                  <a:pt x="142875" y="114300"/>
                </a:lnTo>
                <a:cubicBezTo>
                  <a:pt x="134972" y="114300"/>
                  <a:pt x="128588" y="120685"/>
                  <a:pt x="128588" y="128588"/>
                </a:cubicBezTo>
                <a:cubicBezTo>
                  <a:pt x="128588" y="136490"/>
                  <a:pt x="134972" y="142875"/>
                  <a:pt x="142875" y="142875"/>
                </a:cubicBezTo>
                <a:lnTo>
                  <a:pt x="185738" y="142875"/>
                </a:ln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62329" y="228600"/>
                </a:lnTo>
                <a:cubicBezTo>
                  <a:pt x="66214" y="224180"/>
                  <a:pt x="70946" y="218509"/>
                  <a:pt x="75724" y="212169"/>
                </a:cubicBezTo>
                <a:cubicBezTo>
                  <a:pt x="78537" y="208419"/>
                  <a:pt x="81439" y="204311"/>
                  <a:pt x="84207" y="200025"/>
                </a:cubicBezTo>
                <a:lnTo>
                  <a:pt x="185738" y="200025"/>
                </a:lnTo>
                <a:cubicBezTo>
                  <a:pt x="193640" y="200025"/>
                  <a:pt x="200025" y="193640"/>
                  <a:pt x="200025" y="185738"/>
                </a:cubicBezTo>
                <a:cubicBezTo>
                  <a:pt x="200025" y="177835"/>
                  <a:pt x="193640" y="171450"/>
                  <a:pt x="185738" y="171450"/>
                </a:cubicBezTo>
                <a:lnTo>
                  <a:pt x="142875" y="171450"/>
                </a:lnTo>
                <a:cubicBezTo>
                  <a:pt x="119211" y="171450"/>
                  <a:pt x="100013" y="152251"/>
                  <a:pt x="100013" y="128588"/>
                </a:cubicBezTo>
                <a:cubicBezTo>
                  <a:pt x="100013" y="104924"/>
                  <a:pt x="119211" y="85725"/>
                  <a:pt x="142875" y="85725"/>
                </a:cubicBezTo>
                <a:lnTo>
                  <a:pt x="160645" y="85725"/>
                </a:lnTo>
                <a:cubicBezTo>
                  <a:pt x="151269" y="71661"/>
                  <a:pt x="142875" y="55498"/>
                  <a:pt x="142875" y="42863"/>
                </a:cubicBezTo>
                <a:cubicBezTo>
                  <a:pt x="142875" y="19199"/>
                  <a:pt x="162074" y="0"/>
                  <a:pt x="185738" y="0"/>
                </a:cubicBezTo>
                <a:cubicBezTo>
                  <a:pt x="209401" y="0"/>
                  <a:pt x="228600" y="19199"/>
                  <a:pt x="228600" y="42863"/>
                </a:cubicBezTo>
                <a:close/>
                <a:moveTo>
                  <a:pt x="52283" y="218376"/>
                </a:moveTo>
                <a:cubicBezTo>
                  <a:pt x="50587" y="220295"/>
                  <a:pt x="49069" y="221992"/>
                  <a:pt x="47774" y="223421"/>
                </a:cubicBezTo>
                <a:lnTo>
                  <a:pt x="46970" y="224314"/>
                </a:lnTo>
                <a:lnTo>
                  <a:pt x="46881" y="224224"/>
                </a:lnTo>
                <a:cubicBezTo>
                  <a:pt x="44202" y="226278"/>
                  <a:pt x="40362" y="226010"/>
                  <a:pt x="37951" y="223421"/>
                </a:cubicBezTo>
                <a:cubicBezTo>
                  <a:pt x="26700" y="211187"/>
                  <a:pt x="0" y="179710"/>
                  <a:pt x="0" y="157163"/>
                </a:cubicBezTo>
                <a:cubicBezTo>
                  <a:pt x="0" y="133499"/>
                  <a:pt x="19199" y="114300"/>
                  <a:pt x="42863" y="114300"/>
                </a:cubicBezTo>
                <a:cubicBezTo>
                  <a:pt x="66526" y="114300"/>
                  <a:pt x="85725" y="133499"/>
                  <a:pt x="85725" y="157163"/>
                </a:cubicBezTo>
                <a:cubicBezTo>
                  <a:pt x="85725" y="170557"/>
                  <a:pt x="76304" y="187077"/>
                  <a:pt x="66303" y="200873"/>
                </a:cubicBezTo>
                <a:cubicBezTo>
                  <a:pt x="61526" y="207437"/>
                  <a:pt x="56614" y="213375"/>
                  <a:pt x="52551" y="218063"/>
                </a:cubicBezTo>
                <a:lnTo>
                  <a:pt x="52283" y="218376"/>
                </a:lnTo>
                <a:close/>
                <a:moveTo>
                  <a:pt x="57150" y="157163"/>
                </a:moveTo>
                <a:cubicBezTo>
                  <a:pt x="57150" y="149277"/>
                  <a:pt x="50748" y="142875"/>
                  <a:pt x="42863" y="142875"/>
                </a:cubicBezTo>
                <a:cubicBezTo>
                  <a:pt x="34977" y="142875"/>
                  <a:pt x="28575" y="149277"/>
                  <a:pt x="28575" y="157163"/>
                </a:cubicBezTo>
                <a:cubicBezTo>
                  <a:pt x="28575" y="165048"/>
                  <a:pt x="34977" y="171450"/>
                  <a:pt x="42863" y="171450"/>
                </a:cubicBezTo>
                <a:cubicBezTo>
                  <a:pt x="50748" y="171450"/>
                  <a:pt x="57150" y="165048"/>
                  <a:pt x="57150" y="157163"/>
                </a:cubicBezTo>
                <a:close/>
                <a:moveTo>
                  <a:pt x="185738" y="57150"/>
                </a:moveTo>
                <a:cubicBezTo>
                  <a:pt x="193623" y="57150"/>
                  <a:pt x="200025" y="50748"/>
                  <a:pt x="200025" y="42863"/>
                </a:cubicBezTo>
                <a:cubicBezTo>
                  <a:pt x="200025" y="34977"/>
                  <a:pt x="193623" y="28575"/>
                  <a:pt x="185738" y="28575"/>
                </a:cubicBezTo>
                <a:cubicBezTo>
                  <a:pt x="177852" y="28575"/>
                  <a:pt x="171450" y="34977"/>
                  <a:pt x="171450" y="42863"/>
                </a:cubicBezTo>
                <a:cubicBezTo>
                  <a:pt x="171450" y="50748"/>
                  <a:pt x="177852" y="57150"/>
                  <a:pt x="185738" y="57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407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 • TOPIC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417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 Approaches to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paths to creating intelligent machines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8620" y="1569720"/>
            <a:ext cx="5625465" cy="2034540"/>
          </a:xfrm>
          <a:custGeom>
            <a:avLst/>
            <a:gdLst/>
            <a:ahLst/>
            <a:cxnLst/>
            <a:rect l="l" t="t" r="r" b="b"/>
            <a:pathLst>
              <a:path w="5625465" h="2034540">
                <a:moveTo>
                  <a:pt x="114300" y="0"/>
                </a:moveTo>
                <a:lnTo>
                  <a:pt x="5511165" y="0"/>
                </a:lnTo>
                <a:cubicBezTo>
                  <a:pt x="5574291" y="0"/>
                  <a:pt x="5625465" y="51174"/>
                  <a:pt x="5625465" y="114300"/>
                </a:cubicBezTo>
                <a:lnTo>
                  <a:pt x="5625465" y="1920240"/>
                </a:lnTo>
                <a:cubicBezTo>
                  <a:pt x="5625465" y="1983366"/>
                  <a:pt x="5574291" y="2034540"/>
                  <a:pt x="5511165" y="2034540"/>
                </a:cubicBezTo>
                <a:lnTo>
                  <a:pt x="114300" y="2034540"/>
                </a:lnTo>
                <a:cubicBezTo>
                  <a:pt x="51174" y="2034540"/>
                  <a:pt x="0" y="1983366"/>
                  <a:pt x="0" y="192024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6740" y="17867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6752" y="190107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-2232" y="52685"/>
                </a:moveTo>
                <a:lnTo>
                  <a:pt x="10492" y="124882"/>
                </a:lnTo>
                <a:cubicBezTo>
                  <a:pt x="16743" y="160377"/>
                  <a:pt x="44559" y="188193"/>
                  <a:pt x="80055" y="194444"/>
                </a:cubicBezTo>
                <a:lnTo>
                  <a:pt x="85725" y="195426"/>
                </a:lnTo>
                <a:cubicBezTo>
                  <a:pt x="78358" y="182657"/>
                  <a:pt x="73625" y="168325"/>
                  <a:pt x="72063" y="153233"/>
                </a:cubicBezTo>
                <a:lnTo>
                  <a:pt x="61302" y="155153"/>
                </a:lnTo>
                <a:cubicBezTo>
                  <a:pt x="56971" y="155912"/>
                  <a:pt x="52908" y="152564"/>
                  <a:pt x="53757" y="148233"/>
                </a:cubicBezTo>
                <a:cubicBezTo>
                  <a:pt x="55900" y="137205"/>
                  <a:pt x="62285" y="127427"/>
                  <a:pt x="71482" y="121042"/>
                </a:cubicBezTo>
                <a:lnTo>
                  <a:pt x="71482" y="87734"/>
                </a:lnTo>
                <a:cubicBezTo>
                  <a:pt x="70857" y="88091"/>
                  <a:pt x="70143" y="88315"/>
                  <a:pt x="69384" y="88449"/>
                </a:cubicBezTo>
                <a:lnTo>
                  <a:pt x="41255" y="93405"/>
                </a:lnTo>
                <a:cubicBezTo>
                  <a:pt x="37371" y="94074"/>
                  <a:pt x="33531" y="91440"/>
                  <a:pt x="34156" y="87556"/>
                </a:cubicBezTo>
                <a:cubicBezTo>
                  <a:pt x="35540" y="78804"/>
                  <a:pt x="42371" y="71482"/>
                  <a:pt x="51614" y="69830"/>
                </a:cubicBezTo>
                <a:cubicBezTo>
                  <a:pt x="59293" y="68491"/>
                  <a:pt x="66749" y="71393"/>
                  <a:pt x="71527" y="76885"/>
                </a:cubicBezTo>
                <a:lnTo>
                  <a:pt x="71527" y="66749"/>
                </a:lnTo>
                <a:cubicBezTo>
                  <a:pt x="71527" y="56704"/>
                  <a:pt x="74608" y="43354"/>
                  <a:pt x="85948" y="33977"/>
                </a:cubicBezTo>
                <a:cubicBezTo>
                  <a:pt x="97557" y="24378"/>
                  <a:pt x="116175" y="14377"/>
                  <a:pt x="141714" y="9778"/>
                </a:cubicBezTo>
                <a:cubicBezTo>
                  <a:pt x="128096" y="2500"/>
                  <a:pt x="103183" y="-4509"/>
                  <a:pt x="68580" y="1563"/>
                </a:cubicBezTo>
                <a:cubicBezTo>
                  <a:pt x="32727" y="7903"/>
                  <a:pt x="11430" y="23932"/>
                  <a:pt x="1563" y="35540"/>
                </a:cubicBezTo>
                <a:cubicBezTo>
                  <a:pt x="-2456" y="40228"/>
                  <a:pt x="-3259" y="46658"/>
                  <a:pt x="-2188" y="52730"/>
                </a:cubicBezTo>
                <a:close/>
                <a:moveTo>
                  <a:pt x="92869" y="61927"/>
                </a:moveTo>
                <a:lnTo>
                  <a:pt x="92869" y="139973"/>
                </a:lnTo>
                <a:cubicBezTo>
                  <a:pt x="92869" y="176004"/>
                  <a:pt x="115416" y="208240"/>
                  <a:pt x="149304" y="220519"/>
                </a:cubicBezTo>
                <a:lnTo>
                  <a:pt x="161672" y="225028"/>
                </a:lnTo>
                <a:cubicBezTo>
                  <a:pt x="167967" y="227305"/>
                  <a:pt x="174888" y="227305"/>
                  <a:pt x="181183" y="225028"/>
                </a:cubicBezTo>
                <a:lnTo>
                  <a:pt x="193596" y="220563"/>
                </a:lnTo>
                <a:cubicBezTo>
                  <a:pt x="227484" y="208240"/>
                  <a:pt x="250031" y="176049"/>
                  <a:pt x="250031" y="139973"/>
                </a:cubicBezTo>
                <a:lnTo>
                  <a:pt x="250031" y="61927"/>
                </a:lnTo>
                <a:cubicBezTo>
                  <a:pt x="250031" y="58847"/>
                  <a:pt x="249094" y="55766"/>
                  <a:pt x="246906" y="53623"/>
                </a:cubicBezTo>
                <a:cubicBezTo>
                  <a:pt x="236815" y="43577"/>
                  <a:pt x="211991" y="28620"/>
                  <a:pt x="171450" y="28620"/>
                </a:cubicBezTo>
                <a:cubicBezTo>
                  <a:pt x="130909" y="28620"/>
                  <a:pt x="106085" y="43622"/>
                  <a:pt x="95994" y="53623"/>
                </a:cubicBezTo>
                <a:cubicBezTo>
                  <a:pt x="93806" y="55811"/>
                  <a:pt x="92869" y="58847"/>
                  <a:pt x="92869" y="61927"/>
                </a:cubicBezTo>
                <a:close/>
                <a:moveTo>
                  <a:pt x="122381" y="145465"/>
                </a:moveTo>
                <a:cubicBezTo>
                  <a:pt x="121756" y="142339"/>
                  <a:pt x="125507" y="140553"/>
                  <a:pt x="128052" y="142518"/>
                </a:cubicBezTo>
                <a:cubicBezTo>
                  <a:pt x="140062" y="151715"/>
                  <a:pt x="155109" y="157207"/>
                  <a:pt x="171450" y="157207"/>
                </a:cubicBezTo>
                <a:cubicBezTo>
                  <a:pt x="187791" y="157207"/>
                  <a:pt x="202793" y="151715"/>
                  <a:pt x="214848" y="142518"/>
                </a:cubicBezTo>
                <a:cubicBezTo>
                  <a:pt x="217393" y="140553"/>
                  <a:pt x="221144" y="142339"/>
                  <a:pt x="220519" y="145465"/>
                </a:cubicBezTo>
                <a:cubicBezTo>
                  <a:pt x="216009" y="168414"/>
                  <a:pt x="195739" y="185782"/>
                  <a:pt x="171450" y="185782"/>
                </a:cubicBezTo>
                <a:cubicBezTo>
                  <a:pt x="147161" y="185782"/>
                  <a:pt x="126891" y="168459"/>
                  <a:pt x="122381" y="145465"/>
                </a:cubicBezTo>
                <a:close/>
                <a:moveTo>
                  <a:pt x="122605" y="100146"/>
                </a:moveTo>
                <a:cubicBezTo>
                  <a:pt x="125551" y="91753"/>
                  <a:pt x="133499" y="85725"/>
                  <a:pt x="142875" y="85725"/>
                </a:cubicBezTo>
                <a:cubicBezTo>
                  <a:pt x="152251" y="85725"/>
                  <a:pt x="160243" y="91753"/>
                  <a:pt x="163145" y="100146"/>
                </a:cubicBezTo>
                <a:cubicBezTo>
                  <a:pt x="164440" y="103897"/>
                  <a:pt x="161136" y="107156"/>
                  <a:pt x="157163" y="107156"/>
                </a:cubicBezTo>
                <a:lnTo>
                  <a:pt x="128588" y="107156"/>
                </a:lnTo>
                <a:cubicBezTo>
                  <a:pt x="124658" y="107156"/>
                  <a:pt x="121310" y="103852"/>
                  <a:pt x="122605" y="100146"/>
                </a:cubicBezTo>
                <a:close/>
                <a:moveTo>
                  <a:pt x="214313" y="107156"/>
                </a:moveTo>
                <a:lnTo>
                  <a:pt x="185738" y="107156"/>
                </a:lnTo>
                <a:cubicBezTo>
                  <a:pt x="181808" y="107156"/>
                  <a:pt x="178460" y="103852"/>
                  <a:pt x="179755" y="100146"/>
                </a:cubicBezTo>
                <a:cubicBezTo>
                  <a:pt x="182657" y="91753"/>
                  <a:pt x="190649" y="85725"/>
                  <a:pt x="200025" y="85725"/>
                </a:cubicBezTo>
                <a:cubicBezTo>
                  <a:pt x="209401" y="85725"/>
                  <a:pt x="217393" y="91753"/>
                  <a:pt x="220295" y="100146"/>
                </a:cubicBezTo>
                <a:cubicBezTo>
                  <a:pt x="221590" y="103897"/>
                  <a:pt x="218286" y="107156"/>
                  <a:pt x="214313" y="1071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158240" y="1767841"/>
            <a:ext cx="1724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Acting Humanly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8240" y="207252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Turing Test Approach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6740" y="2377320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a machine behaves so human-like that people can't tell it's a machine, it demonstrates intelligence.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6740" y="2986920"/>
            <a:ext cx="5229225" cy="419100"/>
          </a:xfrm>
          <a:custGeom>
            <a:avLst/>
            <a:gdLst/>
            <a:ahLst/>
            <a:cxnLst/>
            <a:rect l="l" t="t" r="r" b="b"/>
            <a:pathLst>
              <a:path w="5229225" h="419100">
                <a:moveTo>
                  <a:pt x="76201" y="0"/>
                </a:moveTo>
                <a:lnTo>
                  <a:pt x="5153024" y="0"/>
                </a:lnTo>
                <a:cubicBezTo>
                  <a:pt x="5195109" y="0"/>
                  <a:pt x="5229225" y="34116"/>
                  <a:pt x="5229225" y="76201"/>
                </a:cubicBezTo>
                <a:lnTo>
                  <a:pt x="5229225" y="342899"/>
                </a:lnTo>
                <a:cubicBezTo>
                  <a:pt x="5229225" y="384984"/>
                  <a:pt x="5195109" y="419100"/>
                  <a:pt x="51530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4" name="Text 12"/>
          <p:cNvSpPr/>
          <p:nvPr/>
        </p:nvSpPr>
        <p:spPr>
          <a:xfrm>
            <a:off x="701040" y="3101220"/>
            <a:ext cx="506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External behavior and imitation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9820" y="1569720"/>
            <a:ext cx="5625465" cy="2034540"/>
          </a:xfrm>
          <a:custGeom>
            <a:avLst/>
            <a:gdLst/>
            <a:ahLst/>
            <a:cxnLst/>
            <a:rect l="l" t="t" r="r" b="b"/>
            <a:pathLst>
              <a:path w="5625465" h="2034540">
                <a:moveTo>
                  <a:pt x="114300" y="0"/>
                </a:moveTo>
                <a:lnTo>
                  <a:pt x="5511165" y="0"/>
                </a:lnTo>
                <a:cubicBezTo>
                  <a:pt x="5574291" y="0"/>
                  <a:pt x="5625465" y="51174"/>
                  <a:pt x="5625465" y="114300"/>
                </a:cubicBezTo>
                <a:lnTo>
                  <a:pt x="5625465" y="1920240"/>
                </a:lnTo>
                <a:cubicBezTo>
                  <a:pt x="5625465" y="1983366"/>
                  <a:pt x="5574291" y="2034540"/>
                  <a:pt x="5511165" y="2034540"/>
                </a:cubicBezTo>
                <a:lnTo>
                  <a:pt x="114300" y="2034540"/>
                </a:lnTo>
                <a:cubicBezTo>
                  <a:pt x="51174" y="2034540"/>
                  <a:pt x="0" y="1983366"/>
                  <a:pt x="0" y="192024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7940" y="17867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19010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767841"/>
            <a:ext cx="1933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Thinking Humanly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207252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Modeling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7940" y="2377320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and replicate how the human brain actually thinks and processes information.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77940" y="2986920"/>
            <a:ext cx="5229225" cy="419100"/>
          </a:xfrm>
          <a:custGeom>
            <a:avLst/>
            <a:gdLst/>
            <a:ahLst/>
            <a:cxnLst/>
            <a:rect l="l" t="t" r="r" b="b"/>
            <a:pathLst>
              <a:path w="5229225" h="419100">
                <a:moveTo>
                  <a:pt x="76201" y="0"/>
                </a:moveTo>
                <a:lnTo>
                  <a:pt x="5153024" y="0"/>
                </a:lnTo>
                <a:cubicBezTo>
                  <a:pt x="5195109" y="0"/>
                  <a:pt x="5229225" y="34116"/>
                  <a:pt x="5229225" y="76201"/>
                </a:cubicBezTo>
                <a:lnTo>
                  <a:pt x="5229225" y="342899"/>
                </a:lnTo>
                <a:cubicBezTo>
                  <a:pt x="5229225" y="384984"/>
                  <a:pt x="5195109" y="419100"/>
                  <a:pt x="51530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101220"/>
            <a:ext cx="506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Internal thought processes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8620" y="3771781"/>
            <a:ext cx="5625465" cy="2034540"/>
          </a:xfrm>
          <a:custGeom>
            <a:avLst/>
            <a:gdLst/>
            <a:ahLst/>
            <a:cxnLst/>
            <a:rect l="l" t="t" r="r" b="b"/>
            <a:pathLst>
              <a:path w="5625465" h="2034540">
                <a:moveTo>
                  <a:pt x="114300" y="0"/>
                </a:moveTo>
                <a:lnTo>
                  <a:pt x="5511165" y="0"/>
                </a:lnTo>
                <a:cubicBezTo>
                  <a:pt x="5574291" y="0"/>
                  <a:pt x="5625465" y="51174"/>
                  <a:pt x="5625465" y="114300"/>
                </a:cubicBezTo>
                <a:lnTo>
                  <a:pt x="5625465" y="1920240"/>
                </a:lnTo>
                <a:cubicBezTo>
                  <a:pt x="5625465" y="1983366"/>
                  <a:pt x="5574291" y="2034540"/>
                  <a:pt x="5511165" y="2034540"/>
                </a:cubicBezTo>
                <a:lnTo>
                  <a:pt x="114300" y="2034540"/>
                </a:lnTo>
                <a:cubicBezTo>
                  <a:pt x="51174" y="2034540"/>
                  <a:pt x="0" y="1983366"/>
                  <a:pt x="0" y="192024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6740" y="39888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72465" y="410313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158240" y="3969902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Thinking Rationally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8240" y="4274581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Logic-Based Approach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6740" y="4579381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formal rules of logic and reasoning to make decisions and solve problems.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6740" y="5188981"/>
            <a:ext cx="5229225" cy="419100"/>
          </a:xfrm>
          <a:custGeom>
            <a:avLst/>
            <a:gdLst/>
            <a:ahLst/>
            <a:cxnLst/>
            <a:rect l="l" t="t" r="r" b="b"/>
            <a:pathLst>
              <a:path w="5229225" h="419100">
                <a:moveTo>
                  <a:pt x="76201" y="0"/>
                </a:moveTo>
                <a:lnTo>
                  <a:pt x="5153024" y="0"/>
                </a:lnTo>
                <a:cubicBezTo>
                  <a:pt x="5195109" y="0"/>
                  <a:pt x="5229225" y="34116"/>
                  <a:pt x="5229225" y="76201"/>
                </a:cubicBezTo>
                <a:lnTo>
                  <a:pt x="5229225" y="342899"/>
                </a:lnTo>
                <a:cubicBezTo>
                  <a:pt x="5229225" y="384984"/>
                  <a:pt x="5195109" y="419100"/>
                  <a:pt x="51530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0" name="Text 28"/>
          <p:cNvSpPr/>
          <p:nvPr/>
        </p:nvSpPr>
        <p:spPr>
          <a:xfrm>
            <a:off x="701040" y="5303281"/>
            <a:ext cx="506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Logical reasoning and rules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9820" y="3771781"/>
            <a:ext cx="5625465" cy="2034540"/>
          </a:xfrm>
          <a:custGeom>
            <a:avLst/>
            <a:gdLst/>
            <a:ahLst/>
            <a:cxnLst/>
            <a:rect l="l" t="t" r="r" b="b"/>
            <a:pathLst>
              <a:path w="5625465" h="2034540">
                <a:moveTo>
                  <a:pt x="114300" y="0"/>
                </a:moveTo>
                <a:lnTo>
                  <a:pt x="5511165" y="0"/>
                </a:lnTo>
                <a:cubicBezTo>
                  <a:pt x="5574291" y="0"/>
                  <a:pt x="5625465" y="51174"/>
                  <a:pt x="5625465" y="114300"/>
                </a:cubicBezTo>
                <a:lnTo>
                  <a:pt x="5625465" y="1920240"/>
                </a:lnTo>
                <a:cubicBezTo>
                  <a:pt x="5625465" y="1983366"/>
                  <a:pt x="5574291" y="2034540"/>
                  <a:pt x="5511165" y="2034540"/>
                </a:cubicBezTo>
                <a:lnTo>
                  <a:pt x="114300" y="2034540"/>
                </a:lnTo>
                <a:cubicBezTo>
                  <a:pt x="51174" y="2034540"/>
                  <a:pt x="0" y="1983366"/>
                  <a:pt x="0" y="192024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7940" y="39888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20815" y="410313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-14287"/>
                </a:moveTo>
                <a:cubicBezTo>
                  <a:pt x="133052" y="-14287"/>
                  <a:pt x="171450" y="24110"/>
                  <a:pt x="171450" y="71438"/>
                </a:cubicBezTo>
                <a:lnTo>
                  <a:pt x="171450" y="131043"/>
                </a:lnTo>
                <a:cubicBezTo>
                  <a:pt x="171450" y="138633"/>
                  <a:pt x="168414" y="145866"/>
                  <a:pt x="163101" y="151224"/>
                </a:cubicBezTo>
                <a:lnTo>
                  <a:pt x="142875" y="171450"/>
                </a:lnTo>
                <a:lnTo>
                  <a:pt x="165556" y="194087"/>
                </a:lnTo>
                <a:cubicBezTo>
                  <a:pt x="169352" y="197882"/>
                  <a:pt x="171450" y="203016"/>
                  <a:pt x="171450" y="208374"/>
                </a:cubicBezTo>
                <a:cubicBezTo>
                  <a:pt x="171450" y="219536"/>
                  <a:pt x="162386" y="228555"/>
                  <a:pt x="151269" y="228600"/>
                </a:cubicBezTo>
                <a:lnTo>
                  <a:pt x="20226" y="228600"/>
                </a:lnTo>
                <a:cubicBezTo>
                  <a:pt x="9064" y="228600"/>
                  <a:pt x="45" y="219536"/>
                  <a:pt x="45" y="208374"/>
                </a:cubicBezTo>
                <a:cubicBezTo>
                  <a:pt x="45" y="203016"/>
                  <a:pt x="2188" y="197882"/>
                  <a:pt x="5938" y="194087"/>
                </a:cubicBezTo>
                <a:lnTo>
                  <a:pt x="28575" y="171450"/>
                </a:lnTo>
                <a:lnTo>
                  <a:pt x="28575" y="156002"/>
                </a:lnTo>
                <a:cubicBezTo>
                  <a:pt x="28575" y="147652"/>
                  <a:pt x="32236" y="139750"/>
                  <a:pt x="38532" y="134302"/>
                </a:cubicBezTo>
                <a:lnTo>
                  <a:pt x="78581" y="100012"/>
                </a:lnTo>
                <a:lnTo>
                  <a:pt x="57150" y="100012"/>
                </a:lnTo>
                <a:lnTo>
                  <a:pt x="51748" y="105415"/>
                </a:lnTo>
                <a:cubicBezTo>
                  <a:pt x="46077" y="111085"/>
                  <a:pt x="38353" y="114300"/>
                  <a:pt x="30316" y="114300"/>
                </a:cubicBezTo>
                <a:cubicBezTo>
                  <a:pt x="13573" y="114300"/>
                  <a:pt x="0" y="100727"/>
                  <a:pt x="0" y="83984"/>
                </a:cubicBezTo>
                <a:lnTo>
                  <a:pt x="0" y="80099"/>
                </a:lnTo>
                <a:cubicBezTo>
                  <a:pt x="0" y="69919"/>
                  <a:pt x="3661" y="60052"/>
                  <a:pt x="10314" y="52283"/>
                </a:cubicBezTo>
                <a:lnTo>
                  <a:pt x="42863" y="14288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lnTo>
                  <a:pt x="85725" y="-14287"/>
                </a:lnTo>
                <a:close/>
                <a:moveTo>
                  <a:pt x="71438" y="32147"/>
                </a:moveTo>
                <a:cubicBezTo>
                  <a:pt x="65523" y="32147"/>
                  <a:pt x="60722" y="36948"/>
                  <a:pt x="60722" y="42863"/>
                </a:cubicBezTo>
                <a:cubicBezTo>
                  <a:pt x="60722" y="48777"/>
                  <a:pt x="65523" y="53578"/>
                  <a:pt x="71438" y="53578"/>
                </a:cubicBezTo>
                <a:cubicBezTo>
                  <a:pt x="77352" y="53578"/>
                  <a:pt x="82153" y="48777"/>
                  <a:pt x="82153" y="42863"/>
                </a:cubicBezTo>
                <a:cubicBezTo>
                  <a:pt x="82153" y="36948"/>
                  <a:pt x="77352" y="32147"/>
                  <a:pt x="71438" y="32147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3969902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Acting Rationally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9440" y="4274581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Rational Agent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77940" y="4579381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agents that make the best possible decisions to achieve their goals efficiently.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77940" y="5188981"/>
            <a:ext cx="5229225" cy="419100"/>
          </a:xfrm>
          <a:custGeom>
            <a:avLst/>
            <a:gdLst/>
            <a:ahLst/>
            <a:cxnLst/>
            <a:rect l="l" t="t" r="r" b="b"/>
            <a:pathLst>
              <a:path w="5229225" h="419100">
                <a:moveTo>
                  <a:pt x="76201" y="0"/>
                </a:moveTo>
                <a:lnTo>
                  <a:pt x="5153024" y="0"/>
                </a:lnTo>
                <a:cubicBezTo>
                  <a:pt x="5195109" y="0"/>
                  <a:pt x="5229225" y="34116"/>
                  <a:pt x="5229225" y="76201"/>
                </a:cubicBezTo>
                <a:lnTo>
                  <a:pt x="5229225" y="342899"/>
                </a:lnTo>
                <a:cubicBezTo>
                  <a:pt x="5229225" y="384984"/>
                  <a:pt x="5195109" y="419100"/>
                  <a:pt x="51530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303281"/>
            <a:ext cx="506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Optimal decision-making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4810" y="5970032"/>
            <a:ext cx="11418570" cy="845820"/>
          </a:xfrm>
          <a:custGeom>
            <a:avLst/>
            <a:gdLst/>
            <a:ahLst/>
            <a:cxnLst/>
            <a:rect l="l" t="t" r="r" b="b"/>
            <a:pathLst>
              <a:path w="11418570" h="845820">
                <a:moveTo>
                  <a:pt x="114304" y="0"/>
                </a:moveTo>
                <a:lnTo>
                  <a:pt x="11304266" y="0"/>
                </a:lnTo>
                <a:cubicBezTo>
                  <a:pt x="11367394" y="0"/>
                  <a:pt x="11418570" y="51176"/>
                  <a:pt x="11418570" y="114304"/>
                </a:cubicBezTo>
                <a:lnTo>
                  <a:pt x="11418570" y="731516"/>
                </a:lnTo>
                <a:cubicBezTo>
                  <a:pt x="11418570" y="794644"/>
                  <a:pt x="11367394" y="845820"/>
                  <a:pt x="11304266" y="845820"/>
                </a:cubicBezTo>
                <a:lnTo>
                  <a:pt x="114304" y="845820"/>
                </a:lnTo>
                <a:cubicBezTo>
                  <a:pt x="51176" y="845820"/>
                  <a:pt x="0" y="794644"/>
                  <a:pt x="0" y="7315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9120" y="625007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3154" y="0"/>
                </a:moveTo>
                <a:cubicBezTo>
                  <a:pt x="151358" y="0"/>
                  <a:pt x="158893" y="4521"/>
                  <a:pt x="162799" y="11720"/>
                </a:cubicBezTo>
                <a:lnTo>
                  <a:pt x="283350" y="234962"/>
                </a:lnTo>
                <a:cubicBezTo>
                  <a:pt x="287089" y="241883"/>
                  <a:pt x="286922" y="250254"/>
                  <a:pt x="282904" y="257008"/>
                </a:cubicBezTo>
                <a:cubicBezTo>
                  <a:pt x="278885" y="263761"/>
                  <a:pt x="271574" y="267891"/>
                  <a:pt x="263761" y="267891"/>
                </a:cubicBezTo>
                <a:lnTo>
                  <a:pt x="22659" y="267891"/>
                </a:lnTo>
                <a:cubicBezTo>
                  <a:pt x="14790" y="267891"/>
                  <a:pt x="7534" y="263761"/>
                  <a:pt x="3516" y="257008"/>
                </a:cubicBezTo>
                <a:cubicBezTo>
                  <a:pt x="-502" y="250254"/>
                  <a:pt x="-670" y="241883"/>
                  <a:pt x="3070" y="234962"/>
                </a:cubicBezTo>
                <a:lnTo>
                  <a:pt x="123620" y="11720"/>
                </a:lnTo>
                <a:lnTo>
                  <a:pt x="125239" y="9153"/>
                </a:lnTo>
                <a:cubicBezTo>
                  <a:pt x="129313" y="3460"/>
                  <a:pt x="135954" y="0"/>
                  <a:pt x="143154" y="0"/>
                </a:cubicBezTo>
                <a:close/>
                <a:moveTo>
                  <a:pt x="95101" y="139471"/>
                </a:moveTo>
                <a:lnTo>
                  <a:pt x="110058" y="154428"/>
                </a:lnTo>
                <a:cubicBezTo>
                  <a:pt x="113519" y="157888"/>
                  <a:pt x="119211" y="157888"/>
                  <a:pt x="122672" y="154428"/>
                </a:cubicBezTo>
                <a:lnTo>
                  <a:pt x="146838" y="130262"/>
                </a:lnTo>
                <a:cubicBezTo>
                  <a:pt x="150186" y="126913"/>
                  <a:pt x="154707" y="125016"/>
                  <a:pt x="159451" y="125016"/>
                </a:cubicBezTo>
                <a:lnTo>
                  <a:pt x="183338" y="125016"/>
                </a:lnTo>
                <a:lnTo>
                  <a:pt x="143098" y="50509"/>
                </a:lnTo>
                <a:lnTo>
                  <a:pt x="95045" y="13947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1050608" y="6126245"/>
            <a:ext cx="781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 Different Paths Up the Same Mountain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50608" y="6431045"/>
            <a:ext cx="780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four approaches aim to reach the same goal - creating intelligent machines - but take different routes to get there.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1012" y="571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-2232" y="52685"/>
                </a:moveTo>
                <a:lnTo>
                  <a:pt x="10492" y="124882"/>
                </a:lnTo>
                <a:cubicBezTo>
                  <a:pt x="16743" y="160377"/>
                  <a:pt x="44559" y="188193"/>
                  <a:pt x="80055" y="194444"/>
                </a:cubicBezTo>
                <a:lnTo>
                  <a:pt x="85725" y="195426"/>
                </a:lnTo>
                <a:cubicBezTo>
                  <a:pt x="78358" y="182657"/>
                  <a:pt x="73625" y="168325"/>
                  <a:pt x="72063" y="153233"/>
                </a:cubicBezTo>
                <a:lnTo>
                  <a:pt x="61302" y="155153"/>
                </a:lnTo>
                <a:cubicBezTo>
                  <a:pt x="56971" y="155912"/>
                  <a:pt x="52908" y="152564"/>
                  <a:pt x="53757" y="148233"/>
                </a:cubicBezTo>
                <a:cubicBezTo>
                  <a:pt x="55900" y="137205"/>
                  <a:pt x="62285" y="127427"/>
                  <a:pt x="71482" y="121042"/>
                </a:cubicBezTo>
                <a:lnTo>
                  <a:pt x="71482" y="87734"/>
                </a:lnTo>
                <a:cubicBezTo>
                  <a:pt x="70857" y="88091"/>
                  <a:pt x="70143" y="88315"/>
                  <a:pt x="69384" y="88449"/>
                </a:cubicBezTo>
                <a:lnTo>
                  <a:pt x="41255" y="93405"/>
                </a:lnTo>
                <a:cubicBezTo>
                  <a:pt x="37371" y="94074"/>
                  <a:pt x="33531" y="91440"/>
                  <a:pt x="34156" y="87556"/>
                </a:cubicBezTo>
                <a:cubicBezTo>
                  <a:pt x="35540" y="78804"/>
                  <a:pt x="42371" y="71482"/>
                  <a:pt x="51614" y="69830"/>
                </a:cubicBezTo>
                <a:cubicBezTo>
                  <a:pt x="59293" y="68491"/>
                  <a:pt x="66749" y="71393"/>
                  <a:pt x="71527" y="76885"/>
                </a:cubicBezTo>
                <a:lnTo>
                  <a:pt x="71527" y="66749"/>
                </a:lnTo>
                <a:cubicBezTo>
                  <a:pt x="71527" y="56704"/>
                  <a:pt x="74608" y="43354"/>
                  <a:pt x="85948" y="33977"/>
                </a:cubicBezTo>
                <a:cubicBezTo>
                  <a:pt x="97557" y="24378"/>
                  <a:pt x="116175" y="14377"/>
                  <a:pt x="141714" y="9778"/>
                </a:cubicBezTo>
                <a:cubicBezTo>
                  <a:pt x="128096" y="2500"/>
                  <a:pt x="103183" y="-4509"/>
                  <a:pt x="68580" y="1563"/>
                </a:cubicBezTo>
                <a:cubicBezTo>
                  <a:pt x="32727" y="7903"/>
                  <a:pt x="11430" y="23932"/>
                  <a:pt x="1563" y="35540"/>
                </a:cubicBezTo>
                <a:cubicBezTo>
                  <a:pt x="-2456" y="40228"/>
                  <a:pt x="-3259" y="46658"/>
                  <a:pt x="-2188" y="52730"/>
                </a:cubicBezTo>
                <a:close/>
                <a:moveTo>
                  <a:pt x="92869" y="61927"/>
                </a:moveTo>
                <a:lnTo>
                  <a:pt x="92869" y="139973"/>
                </a:lnTo>
                <a:cubicBezTo>
                  <a:pt x="92869" y="176004"/>
                  <a:pt x="115416" y="208240"/>
                  <a:pt x="149304" y="220519"/>
                </a:cubicBezTo>
                <a:lnTo>
                  <a:pt x="161672" y="225028"/>
                </a:lnTo>
                <a:cubicBezTo>
                  <a:pt x="167967" y="227305"/>
                  <a:pt x="174888" y="227305"/>
                  <a:pt x="181183" y="225028"/>
                </a:cubicBezTo>
                <a:lnTo>
                  <a:pt x="193596" y="220563"/>
                </a:lnTo>
                <a:cubicBezTo>
                  <a:pt x="227484" y="208240"/>
                  <a:pt x="250031" y="176049"/>
                  <a:pt x="250031" y="139973"/>
                </a:cubicBezTo>
                <a:lnTo>
                  <a:pt x="250031" y="61927"/>
                </a:lnTo>
                <a:cubicBezTo>
                  <a:pt x="250031" y="58847"/>
                  <a:pt x="249094" y="55766"/>
                  <a:pt x="246906" y="53623"/>
                </a:cubicBezTo>
                <a:cubicBezTo>
                  <a:pt x="236815" y="43577"/>
                  <a:pt x="211991" y="28620"/>
                  <a:pt x="171450" y="28620"/>
                </a:cubicBezTo>
                <a:cubicBezTo>
                  <a:pt x="130909" y="28620"/>
                  <a:pt x="106085" y="43622"/>
                  <a:pt x="95994" y="53623"/>
                </a:cubicBezTo>
                <a:cubicBezTo>
                  <a:pt x="93806" y="55811"/>
                  <a:pt x="92869" y="58847"/>
                  <a:pt x="92869" y="61927"/>
                </a:cubicBezTo>
                <a:close/>
                <a:moveTo>
                  <a:pt x="122381" y="145465"/>
                </a:moveTo>
                <a:cubicBezTo>
                  <a:pt x="121756" y="142339"/>
                  <a:pt x="125507" y="140553"/>
                  <a:pt x="128052" y="142518"/>
                </a:cubicBezTo>
                <a:cubicBezTo>
                  <a:pt x="140062" y="151715"/>
                  <a:pt x="155109" y="157207"/>
                  <a:pt x="171450" y="157207"/>
                </a:cubicBezTo>
                <a:cubicBezTo>
                  <a:pt x="187791" y="157207"/>
                  <a:pt x="202793" y="151715"/>
                  <a:pt x="214848" y="142518"/>
                </a:cubicBezTo>
                <a:cubicBezTo>
                  <a:pt x="217393" y="140553"/>
                  <a:pt x="221144" y="142339"/>
                  <a:pt x="220519" y="145465"/>
                </a:cubicBezTo>
                <a:cubicBezTo>
                  <a:pt x="216009" y="168414"/>
                  <a:pt x="195739" y="185782"/>
                  <a:pt x="171450" y="185782"/>
                </a:cubicBezTo>
                <a:cubicBezTo>
                  <a:pt x="147161" y="185782"/>
                  <a:pt x="126891" y="168459"/>
                  <a:pt x="122381" y="145465"/>
                </a:cubicBezTo>
                <a:close/>
                <a:moveTo>
                  <a:pt x="122605" y="100146"/>
                </a:moveTo>
                <a:cubicBezTo>
                  <a:pt x="125551" y="91753"/>
                  <a:pt x="133499" y="85725"/>
                  <a:pt x="142875" y="85725"/>
                </a:cubicBezTo>
                <a:cubicBezTo>
                  <a:pt x="152251" y="85725"/>
                  <a:pt x="160243" y="91753"/>
                  <a:pt x="163145" y="100146"/>
                </a:cubicBezTo>
                <a:cubicBezTo>
                  <a:pt x="164440" y="103897"/>
                  <a:pt x="161136" y="107156"/>
                  <a:pt x="157163" y="107156"/>
                </a:cubicBezTo>
                <a:lnTo>
                  <a:pt x="128588" y="107156"/>
                </a:lnTo>
                <a:cubicBezTo>
                  <a:pt x="124658" y="107156"/>
                  <a:pt x="121310" y="103852"/>
                  <a:pt x="122605" y="100146"/>
                </a:cubicBezTo>
                <a:close/>
                <a:moveTo>
                  <a:pt x="214313" y="107156"/>
                </a:moveTo>
                <a:lnTo>
                  <a:pt x="185738" y="107156"/>
                </a:lnTo>
                <a:cubicBezTo>
                  <a:pt x="181808" y="107156"/>
                  <a:pt x="178460" y="103852"/>
                  <a:pt x="179755" y="100146"/>
                </a:cubicBezTo>
                <a:cubicBezTo>
                  <a:pt x="182657" y="91753"/>
                  <a:pt x="190649" y="85725"/>
                  <a:pt x="200025" y="85725"/>
                </a:cubicBezTo>
                <a:cubicBezTo>
                  <a:pt x="209401" y="85725"/>
                  <a:pt x="217393" y="91753"/>
                  <a:pt x="220295" y="100146"/>
                </a:cubicBezTo>
                <a:cubicBezTo>
                  <a:pt x="221590" y="103897"/>
                  <a:pt x="218286" y="107156"/>
                  <a:pt x="214313" y="1071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696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 • TOPIC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7058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 1: Acting Humanly - The Turing Test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6713220" cy="3188970"/>
          </a:xfrm>
          <a:custGeom>
            <a:avLst/>
            <a:gdLst/>
            <a:ahLst/>
            <a:cxnLst/>
            <a:rect l="l" t="t" r="r" b="b"/>
            <a:pathLst>
              <a:path w="6713220" h="3188970">
                <a:moveTo>
                  <a:pt x="114293" y="0"/>
                </a:moveTo>
                <a:lnTo>
                  <a:pt x="6598927" y="0"/>
                </a:lnTo>
                <a:cubicBezTo>
                  <a:pt x="6662049" y="0"/>
                  <a:pt x="6713220" y="51171"/>
                  <a:pt x="6713220" y="114293"/>
                </a:cubicBezTo>
                <a:lnTo>
                  <a:pt x="6713220" y="3074677"/>
                </a:lnTo>
                <a:cubicBezTo>
                  <a:pt x="6713220" y="3137799"/>
                  <a:pt x="6662049" y="3188970"/>
                  <a:pt x="6598927" y="3188970"/>
                </a:cubicBezTo>
                <a:lnTo>
                  <a:pt x="114293" y="3188970"/>
                </a:lnTo>
                <a:cubicBezTo>
                  <a:pt x="51171" y="3188970"/>
                  <a:pt x="0" y="3137799"/>
                  <a:pt x="0" y="307467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" y="1531623"/>
            <a:ext cx="636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Turing Test?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" y="1988702"/>
            <a:ext cx="6334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by </a:t>
            </a: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Alan Turing</a:t>
            </a: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1950, this test checks if a machine can behave so human-like that people cannot tell it's a machine.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6270" y="2698314"/>
            <a:ext cx="6229350" cy="1562100"/>
          </a:xfrm>
          <a:custGeom>
            <a:avLst/>
            <a:gdLst/>
            <a:ahLst/>
            <a:cxnLst/>
            <a:rect l="l" t="t" r="r" b="b"/>
            <a:pathLst>
              <a:path w="6229350" h="1562100">
                <a:moveTo>
                  <a:pt x="38100" y="0"/>
                </a:moveTo>
                <a:lnTo>
                  <a:pt x="6153151" y="0"/>
                </a:lnTo>
                <a:cubicBezTo>
                  <a:pt x="6195234" y="0"/>
                  <a:pt x="6229350" y="34116"/>
                  <a:pt x="6229350" y="76199"/>
                </a:cubicBezTo>
                <a:lnTo>
                  <a:pt x="6229350" y="1485901"/>
                </a:lnTo>
                <a:cubicBezTo>
                  <a:pt x="6229350" y="1527984"/>
                  <a:pt x="6195234" y="1562100"/>
                  <a:pt x="615315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636270" y="2698314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" y="2888814"/>
            <a:ext cx="97774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20" y="3231714"/>
            <a:ext cx="5905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human judge chats with two participants (one human, one machine)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judge doesn't know which is which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the judge can't reliably tell them apart, the machine passes!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810" y="4652843"/>
            <a:ext cx="6713220" cy="1817370"/>
          </a:xfrm>
          <a:custGeom>
            <a:avLst/>
            <a:gdLst/>
            <a:ahLst/>
            <a:cxnLst/>
            <a:rect l="l" t="t" r="r" b="b"/>
            <a:pathLst>
              <a:path w="6713220" h="1817370">
                <a:moveTo>
                  <a:pt x="114294" y="0"/>
                </a:moveTo>
                <a:lnTo>
                  <a:pt x="6598926" y="0"/>
                </a:lnTo>
                <a:cubicBezTo>
                  <a:pt x="6662049" y="0"/>
                  <a:pt x="6713220" y="51171"/>
                  <a:pt x="6713220" y="114294"/>
                </a:cubicBezTo>
                <a:lnTo>
                  <a:pt x="6713220" y="1703076"/>
                </a:lnTo>
                <a:cubicBezTo>
                  <a:pt x="6713220" y="1766199"/>
                  <a:pt x="6662049" y="1817370"/>
                  <a:pt x="6598926" y="1817370"/>
                </a:cubicBezTo>
                <a:lnTo>
                  <a:pt x="114294" y="1817370"/>
                </a:lnTo>
                <a:cubicBezTo>
                  <a:pt x="51171" y="1817370"/>
                  <a:pt x="0" y="1766199"/>
                  <a:pt x="0" y="170307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" y="4885255"/>
            <a:ext cx="636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the Test Measures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6270" y="53804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83920" y="5342334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understanding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7620" y="53804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4065270" y="5342334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and reasoning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6270" y="57233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83920" y="5685234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and adaptation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7620" y="57233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065270" y="5685234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Emotional intelligence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4250" y="1299210"/>
            <a:ext cx="4474845" cy="5170170"/>
          </a:xfrm>
          <a:custGeom>
            <a:avLst/>
            <a:gdLst/>
            <a:ahLst/>
            <a:cxnLst/>
            <a:rect l="l" t="t" r="r" b="b"/>
            <a:pathLst>
              <a:path w="4474845" h="5170170">
                <a:moveTo>
                  <a:pt x="114288" y="0"/>
                </a:moveTo>
                <a:lnTo>
                  <a:pt x="4360557" y="0"/>
                </a:lnTo>
                <a:cubicBezTo>
                  <a:pt x="4423677" y="0"/>
                  <a:pt x="4474845" y="51168"/>
                  <a:pt x="4474845" y="114288"/>
                </a:cubicBezTo>
                <a:lnTo>
                  <a:pt x="4474845" y="5055882"/>
                </a:lnTo>
                <a:cubicBezTo>
                  <a:pt x="4474845" y="5119002"/>
                  <a:pt x="4423677" y="5170170"/>
                  <a:pt x="4360557" y="5170170"/>
                </a:cubicBezTo>
                <a:lnTo>
                  <a:pt x="114288" y="5170170"/>
                </a:lnTo>
                <a:cubicBezTo>
                  <a:pt x="51168" y="5170170"/>
                  <a:pt x="0" y="5119002"/>
                  <a:pt x="0" y="5055882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8560" y="1493523"/>
            <a:ext cx="420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28560" y="1950602"/>
            <a:ext cx="4086225" cy="2876550"/>
          </a:xfrm>
          <a:custGeom>
            <a:avLst/>
            <a:gdLst/>
            <a:ahLst/>
            <a:cxnLst/>
            <a:rect l="l" t="t" r="r" b="b"/>
            <a:pathLst>
              <a:path w="4086225" h="2876550">
                <a:moveTo>
                  <a:pt x="76200" y="0"/>
                </a:moveTo>
                <a:lnTo>
                  <a:pt x="4010025" y="0"/>
                </a:lnTo>
                <a:cubicBezTo>
                  <a:pt x="4052109" y="0"/>
                  <a:pt x="4086225" y="34116"/>
                  <a:pt x="4086225" y="76200"/>
                </a:cubicBezTo>
                <a:lnTo>
                  <a:pt x="4086225" y="2800350"/>
                </a:lnTo>
                <a:cubicBezTo>
                  <a:pt x="4086225" y="2842434"/>
                  <a:pt x="4052109" y="2876550"/>
                  <a:pt x="4010025" y="2876550"/>
                </a:cubicBezTo>
                <a:lnTo>
                  <a:pt x="76200" y="2876550"/>
                </a:lnTo>
                <a:cubicBezTo>
                  <a:pt x="34116" y="2876550"/>
                  <a:pt x="0" y="2842434"/>
                  <a:pt x="0" y="2800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26" name="Image 0" descr="https://www.techtarget.com/rms/onlineImages/crm-turing_test_mob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103002"/>
            <a:ext cx="3781425" cy="1371600"/>
          </a:xfrm>
          <a:prstGeom prst="roundRect">
            <a:avLst>
              <a:gd name="adj" fmla="val 5556"/>
            </a:avLst>
          </a:prstGeom>
        </p:spPr>
      </p:pic>
      <p:sp>
        <p:nvSpPr>
          <p:cNvPr id="27" name="Text 24"/>
          <p:cNvSpPr/>
          <p:nvPr/>
        </p:nvSpPr>
        <p:spPr>
          <a:xfrm>
            <a:off x="7680960" y="3588902"/>
            <a:ext cx="386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Chatbots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80960" y="3931802"/>
            <a:ext cx="3857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 and similar AI can hold conversations so natural that users sometimes forget they're talking to a machine!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532370" y="4983362"/>
            <a:ext cx="4074795" cy="1188720"/>
          </a:xfrm>
          <a:custGeom>
            <a:avLst/>
            <a:gdLst/>
            <a:ahLst/>
            <a:cxnLst/>
            <a:rect l="l" t="t" r="r" b="b"/>
            <a:pathLst>
              <a:path w="4074795" h="1188720">
                <a:moveTo>
                  <a:pt x="76197" y="0"/>
                </a:moveTo>
                <a:lnTo>
                  <a:pt x="3998598" y="0"/>
                </a:lnTo>
                <a:cubicBezTo>
                  <a:pt x="4040680" y="0"/>
                  <a:pt x="4074795" y="34115"/>
                  <a:pt x="4074795" y="76197"/>
                </a:cubicBezTo>
                <a:lnTo>
                  <a:pt x="4074795" y="1112523"/>
                </a:lnTo>
                <a:cubicBezTo>
                  <a:pt x="4074795" y="1154605"/>
                  <a:pt x="4040680" y="1188720"/>
                  <a:pt x="3998598" y="1188720"/>
                </a:cubicBezTo>
                <a:lnTo>
                  <a:pt x="76197" y="1188720"/>
                </a:lnTo>
                <a:cubicBezTo>
                  <a:pt x="34115" y="1188720"/>
                  <a:pt x="0" y="1154605"/>
                  <a:pt x="0" y="111252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88580" y="5139570"/>
            <a:ext cx="136278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Example: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688580" y="5444370"/>
            <a:ext cx="3829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2014, a chatbot named Eugene Goostman convinced 33% of judges it was a 13-year-old boy, passing a version of the Turing Test.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419" y="425302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106326" y="0"/>
                </a:moveTo>
                <a:lnTo>
                  <a:pt x="318977" y="0"/>
                </a:lnTo>
                <a:cubicBezTo>
                  <a:pt x="377659" y="0"/>
                  <a:pt x="425302" y="47643"/>
                  <a:pt x="425302" y="106326"/>
                </a:cubicBezTo>
                <a:lnTo>
                  <a:pt x="425302" y="318977"/>
                </a:lnTo>
                <a:cubicBezTo>
                  <a:pt x="425302" y="377659"/>
                  <a:pt x="377659" y="425302"/>
                  <a:pt x="318977" y="425302"/>
                </a:cubicBezTo>
                <a:lnTo>
                  <a:pt x="106326" y="425302"/>
                </a:lnTo>
                <a:cubicBezTo>
                  <a:pt x="47643" y="425302"/>
                  <a:pt x="0" y="377659"/>
                  <a:pt x="0" y="318977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0744" y="531628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49840" y="23259"/>
                </a:moveTo>
                <a:cubicBezTo>
                  <a:pt x="49840" y="10425"/>
                  <a:pt x="60265" y="0"/>
                  <a:pt x="73099" y="0"/>
                </a:cubicBezTo>
                <a:lnTo>
                  <a:pt x="83067" y="0"/>
                </a:lnTo>
                <a:cubicBezTo>
                  <a:pt x="90418" y="0"/>
                  <a:pt x="96358" y="5939"/>
                  <a:pt x="96358" y="13291"/>
                </a:cubicBezTo>
                <a:lnTo>
                  <a:pt x="96358" y="199360"/>
                </a:lnTo>
                <a:cubicBezTo>
                  <a:pt x="96358" y="206712"/>
                  <a:pt x="90418" y="212651"/>
                  <a:pt x="83067" y="212651"/>
                </a:cubicBezTo>
                <a:lnTo>
                  <a:pt x="69776" y="212651"/>
                </a:lnTo>
                <a:cubicBezTo>
                  <a:pt x="57399" y="212651"/>
                  <a:pt x="46974" y="204178"/>
                  <a:pt x="44025" y="192715"/>
                </a:cubicBezTo>
                <a:cubicBezTo>
                  <a:pt x="43735" y="192715"/>
                  <a:pt x="43486" y="192715"/>
                  <a:pt x="43195" y="192715"/>
                </a:cubicBezTo>
                <a:cubicBezTo>
                  <a:pt x="24837" y="192715"/>
                  <a:pt x="9968" y="177846"/>
                  <a:pt x="9968" y="159488"/>
                </a:cubicBezTo>
                <a:cubicBezTo>
                  <a:pt x="9968" y="152012"/>
                  <a:pt x="12460" y="145118"/>
                  <a:pt x="16613" y="139552"/>
                </a:cubicBezTo>
                <a:cubicBezTo>
                  <a:pt x="8556" y="133488"/>
                  <a:pt x="3323" y="123853"/>
                  <a:pt x="3323" y="112971"/>
                </a:cubicBezTo>
                <a:cubicBezTo>
                  <a:pt x="3323" y="100137"/>
                  <a:pt x="10633" y="88965"/>
                  <a:pt x="21265" y="83441"/>
                </a:cubicBezTo>
                <a:cubicBezTo>
                  <a:pt x="18316" y="78457"/>
                  <a:pt x="16613" y="72642"/>
                  <a:pt x="16613" y="66453"/>
                </a:cubicBezTo>
                <a:cubicBezTo>
                  <a:pt x="16613" y="48096"/>
                  <a:pt x="31482" y="33227"/>
                  <a:pt x="49840" y="33227"/>
                </a:cubicBezTo>
                <a:lnTo>
                  <a:pt x="49840" y="23259"/>
                </a:lnTo>
                <a:close/>
                <a:moveTo>
                  <a:pt x="162811" y="23259"/>
                </a:moveTo>
                <a:lnTo>
                  <a:pt x="162811" y="33227"/>
                </a:lnTo>
                <a:cubicBezTo>
                  <a:pt x="181169" y="33227"/>
                  <a:pt x="196038" y="48096"/>
                  <a:pt x="196038" y="66453"/>
                </a:cubicBezTo>
                <a:cubicBezTo>
                  <a:pt x="196038" y="72684"/>
                  <a:pt x="194335" y="78498"/>
                  <a:pt x="191386" y="83441"/>
                </a:cubicBezTo>
                <a:cubicBezTo>
                  <a:pt x="202060" y="88965"/>
                  <a:pt x="209328" y="100096"/>
                  <a:pt x="209328" y="112971"/>
                </a:cubicBezTo>
                <a:cubicBezTo>
                  <a:pt x="209328" y="123853"/>
                  <a:pt x="204095" y="133488"/>
                  <a:pt x="196038" y="139552"/>
                </a:cubicBezTo>
                <a:cubicBezTo>
                  <a:pt x="200191" y="145118"/>
                  <a:pt x="202683" y="152012"/>
                  <a:pt x="202683" y="159488"/>
                </a:cubicBezTo>
                <a:cubicBezTo>
                  <a:pt x="202683" y="177846"/>
                  <a:pt x="187814" y="192715"/>
                  <a:pt x="169456" y="192715"/>
                </a:cubicBezTo>
                <a:cubicBezTo>
                  <a:pt x="169166" y="192715"/>
                  <a:pt x="168916" y="192715"/>
                  <a:pt x="168626" y="192715"/>
                </a:cubicBezTo>
                <a:cubicBezTo>
                  <a:pt x="165677" y="204178"/>
                  <a:pt x="155252" y="212651"/>
                  <a:pt x="142875" y="212651"/>
                </a:cubicBezTo>
                <a:lnTo>
                  <a:pt x="129584" y="212651"/>
                </a:lnTo>
                <a:cubicBezTo>
                  <a:pt x="122233" y="212651"/>
                  <a:pt x="116294" y="206712"/>
                  <a:pt x="116294" y="199360"/>
                </a:cubicBezTo>
                <a:lnTo>
                  <a:pt x="116294" y="13291"/>
                </a:lnTo>
                <a:cubicBezTo>
                  <a:pt x="116294" y="5939"/>
                  <a:pt x="122233" y="0"/>
                  <a:pt x="129584" y="0"/>
                </a:cubicBezTo>
                <a:lnTo>
                  <a:pt x="139552" y="0"/>
                </a:lnTo>
                <a:cubicBezTo>
                  <a:pt x="152386" y="0"/>
                  <a:pt x="162811" y="10425"/>
                  <a:pt x="162811" y="23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86047" y="354419"/>
            <a:ext cx="7363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 • TOPIC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6047" y="567070"/>
            <a:ext cx="745165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 2: Thinking Humanly - Cognitive Modeling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963" y="1208567"/>
            <a:ext cx="6758763" cy="3250019"/>
          </a:xfrm>
          <a:custGeom>
            <a:avLst/>
            <a:gdLst/>
            <a:ahLst/>
            <a:cxnLst/>
            <a:rect l="l" t="t" r="r" b="b"/>
            <a:pathLst>
              <a:path w="6758763" h="3250019">
                <a:moveTo>
                  <a:pt x="106341" y="0"/>
                </a:moveTo>
                <a:lnTo>
                  <a:pt x="6652422" y="0"/>
                </a:lnTo>
                <a:cubicBezTo>
                  <a:pt x="6711152" y="0"/>
                  <a:pt x="6758763" y="47610"/>
                  <a:pt x="6758763" y="106341"/>
                </a:cubicBezTo>
                <a:lnTo>
                  <a:pt x="6758763" y="3143678"/>
                </a:lnTo>
                <a:cubicBezTo>
                  <a:pt x="6758763" y="3202408"/>
                  <a:pt x="6711152" y="3250019"/>
                  <a:pt x="6652422" y="3250019"/>
                </a:cubicBezTo>
                <a:lnTo>
                  <a:pt x="106341" y="3250019"/>
                </a:lnTo>
                <a:cubicBezTo>
                  <a:pt x="47610" y="3250019"/>
                  <a:pt x="0" y="3202408"/>
                  <a:pt x="0" y="3143678"/>
                </a:cubicBezTo>
                <a:lnTo>
                  <a:pt x="0" y="106341"/>
                </a:lnTo>
                <a:cubicBezTo>
                  <a:pt x="0" y="47650"/>
                  <a:pt x="47650" y="0"/>
                  <a:pt x="10634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4158" y="1424765"/>
            <a:ext cx="643269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Human Thought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4158" y="1849955"/>
            <a:ext cx="6406116" cy="52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approach tries to understand and replicate </a:t>
            </a:r>
            <a:r>
              <a:rPr lang="en-US" sz="1256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human brain actually thinks</a:t>
            </a:r>
            <a:r>
              <a:rPr lang="en-US" sz="125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not just imitate behavior, but model the internal processes.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1879" y="2510060"/>
            <a:ext cx="6308651" cy="1736651"/>
          </a:xfrm>
          <a:custGeom>
            <a:avLst/>
            <a:gdLst/>
            <a:ahLst/>
            <a:cxnLst/>
            <a:rect l="l" t="t" r="r" b="b"/>
            <a:pathLst>
              <a:path w="6308651" h="1736651">
                <a:moveTo>
                  <a:pt x="35442" y="0"/>
                </a:moveTo>
                <a:lnTo>
                  <a:pt x="6237761" y="0"/>
                </a:lnTo>
                <a:cubicBezTo>
                  <a:pt x="6276913" y="0"/>
                  <a:pt x="6308651" y="31739"/>
                  <a:pt x="6308651" y="70890"/>
                </a:cubicBezTo>
                <a:lnTo>
                  <a:pt x="6308651" y="1665761"/>
                </a:lnTo>
                <a:cubicBezTo>
                  <a:pt x="6308651" y="1704913"/>
                  <a:pt x="6276913" y="1736651"/>
                  <a:pt x="6237761" y="1736651"/>
                </a:cubicBezTo>
                <a:lnTo>
                  <a:pt x="35442" y="1736651"/>
                </a:lnTo>
                <a:cubicBezTo>
                  <a:pt x="15868" y="1736651"/>
                  <a:pt x="0" y="1720783"/>
                  <a:pt x="0" y="170120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91879" y="2510060"/>
            <a:ext cx="35442" cy="1736651"/>
          </a:xfrm>
          <a:custGeom>
            <a:avLst/>
            <a:gdLst/>
            <a:ahLst/>
            <a:cxnLst/>
            <a:rect l="l" t="t" r="r" b="b"/>
            <a:pathLst>
              <a:path w="35442" h="1736651">
                <a:moveTo>
                  <a:pt x="35442" y="0"/>
                </a:moveTo>
                <a:lnTo>
                  <a:pt x="35442" y="0"/>
                </a:lnTo>
                <a:lnTo>
                  <a:pt x="35442" y="1736651"/>
                </a:lnTo>
                <a:lnTo>
                  <a:pt x="35442" y="1736651"/>
                </a:lnTo>
                <a:cubicBezTo>
                  <a:pt x="15868" y="1736651"/>
                  <a:pt x="0" y="1720783"/>
                  <a:pt x="0" y="170120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86809" y="2687269"/>
            <a:ext cx="1001897" cy="205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Questions: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809" y="3006246"/>
            <a:ext cx="6007395" cy="1063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do humans learn from experience?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do we remember and recall information?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do we solve problems step by step?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do we recognize patterns and make decisions?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7963" y="4611760"/>
            <a:ext cx="6758763" cy="2239926"/>
          </a:xfrm>
          <a:custGeom>
            <a:avLst/>
            <a:gdLst/>
            <a:ahLst/>
            <a:cxnLst/>
            <a:rect l="l" t="t" r="r" b="b"/>
            <a:pathLst>
              <a:path w="6758763" h="2239926">
                <a:moveTo>
                  <a:pt x="106329" y="0"/>
                </a:moveTo>
                <a:lnTo>
                  <a:pt x="6652434" y="0"/>
                </a:lnTo>
                <a:cubicBezTo>
                  <a:pt x="6711158" y="0"/>
                  <a:pt x="6758763" y="47605"/>
                  <a:pt x="6758763" y="106329"/>
                </a:cubicBezTo>
                <a:lnTo>
                  <a:pt x="6758763" y="2133596"/>
                </a:lnTo>
                <a:cubicBezTo>
                  <a:pt x="6758763" y="2192320"/>
                  <a:pt x="6711158" y="2239926"/>
                  <a:pt x="6652434" y="2239926"/>
                </a:cubicBezTo>
                <a:lnTo>
                  <a:pt x="106329" y="2239926"/>
                </a:lnTo>
                <a:cubicBezTo>
                  <a:pt x="47605" y="2239926"/>
                  <a:pt x="0" y="2192320"/>
                  <a:pt x="0" y="2133596"/>
                </a:cubicBezTo>
                <a:lnTo>
                  <a:pt x="0" y="106329"/>
                </a:lnTo>
                <a:cubicBezTo>
                  <a:pt x="0" y="47645"/>
                  <a:pt x="47645" y="0"/>
                  <a:pt x="10632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158" y="4827958"/>
            <a:ext cx="643269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4158" y="5253148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70884" y="0"/>
                </a:moveTo>
                <a:lnTo>
                  <a:pt x="212651" y="0"/>
                </a:lnTo>
                <a:cubicBezTo>
                  <a:pt x="251773" y="0"/>
                  <a:pt x="283535" y="31762"/>
                  <a:pt x="283535" y="70884"/>
                </a:cubicBezTo>
                <a:lnTo>
                  <a:pt x="283535" y="212651"/>
                </a:lnTo>
                <a:cubicBezTo>
                  <a:pt x="283535" y="251773"/>
                  <a:pt x="251773" y="283535"/>
                  <a:pt x="21265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1116" y="5306311"/>
            <a:ext cx="11518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4019" y="5253148"/>
            <a:ext cx="3553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Human Brain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4019" y="5465799"/>
            <a:ext cx="354418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Psychologists study how people think, learn, and solve problems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4158" y="5749334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70884" y="0"/>
                </a:moveTo>
                <a:lnTo>
                  <a:pt x="212651" y="0"/>
                </a:lnTo>
                <a:cubicBezTo>
                  <a:pt x="251773" y="0"/>
                  <a:pt x="283535" y="31762"/>
                  <a:pt x="283535" y="70884"/>
                </a:cubicBezTo>
                <a:lnTo>
                  <a:pt x="283535" y="212651"/>
                </a:lnTo>
                <a:cubicBezTo>
                  <a:pt x="283535" y="251773"/>
                  <a:pt x="251773" y="283535"/>
                  <a:pt x="21265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79819" y="5802497"/>
            <a:ext cx="13290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4019" y="5749334"/>
            <a:ext cx="329609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Models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4019" y="5961985"/>
            <a:ext cx="328723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computer models that mimic these thought processes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4158" y="6245520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70884" y="0"/>
                </a:moveTo>
                <a:lnTo>
                  <a:pt x="212651" y="0"/>
                </a:lnTo>
                <a:cubicBezTo>
                  <a:pt x="251773" y="0"/>
                  <a:pt x="283535" y="31762"/>
                  <a:pt x="283535" y="70884"/>
                </a:cubicBezTo>
                <a:lnTo>
                  <a:pt x="283535" y="212651"/>
                </a:lnTo>
                <a:cubicBezTo>
                  <a:pt x="283535" y="251773"/>
                  <a:pt x="251773" y="283535"/>
                  <a:pt x="21265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79265" y="6298683"/>
            <a:ext cx="13290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4019" y="6245520"/>
            <a:ext cx="345558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and Compare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4019" y="6458172"/>
            <a:ext cx="344672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AI behavior with human behavior to see if they match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32921" y="1208567"/>
            <a:ext cx="4499344" cy="5642344"/>
          </a:xfrm>
          <a:custGeom>
            <a:avLst/>
            <a:gdLst/>
            <a:ahLst/>
            <a:cxnLst/>
            <a:rect l="l" t="t" r="r" b="b"/>
            <a:pathLst>
              <a:path w="4499344" h="5642344">
                <a:moveTo>
                  <a:pt x="106320" y="0"/>
                </a:moveTo>
                <a:lnTo>
                  <a:pt x="4393025" y="0"/>
                </a:lnTo>
                <a:cubicBezTo>
                  <a:pt x="4451743" y="0"/>
                  <a:pt x="4499344" y="47601"/>
                  <a:pt x="4499344" y="106320"/>
                </a:cubicBezTo>
                <a:lnTo>
                  <a:pt x="4499344" y="5536025"/>
                </a:lnTo>
                <a:cubicBezTo>
                  <a:pt x="4499344" y="5594704"/>
                  <a:pt x="4451704" y="5642344"/>
                  <a:pt x="4393025" y="5642344"/>
                </a:cubicBezTo>
                <a:lnTo>
                  <a:pt x="106320" y="5642344"/>
                </a:lnTo>
                <a:cubicBezTo>
                  <a:pt x="47601" y="5642344"/>
                  <a:pt x="0" y="5594743"/>
                  <a:pt x="0" y="5536025"/>
                </a:cubicBezTo>
                <a:lnTo>
                  <a:pt x="0" y="106320"/>
                </a:lnTo>
                <a:cubicBezTo>
                  <a:pt x="0" y="47601"/>
                  <a:pt x="47601" y="0"/>
                  <a:pt x="10632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3674" y="1389324"/>
            <a:ext cx="4244163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13674" y="1814513"/>
            <a:ext cx="4137837" cy="2445488"/>
          </a:xfrm>
          <a:custGeom>
            <a:avLst/>
            <a:gdLst/>
            <a:ahLst/>
            <a:cxnLst/>
            <a:rect l="l" t="t" r="r" b="b"/>
            <a:pathLst>
              <a:path w="4137837" h="2445488">
                <a:moveTo>
                  <a:pt x="70895" y="0"/>
                </a:moveTo>
                <a:lnTo>
                  <a:pt x="4066943" y="0"/>
                </a:lnTo>
                <a:cubicBezTo>
                  <a:pt x="4106097" y="0"/>
                  <a:pt x="4137837" y="31741"/>
                  <a:pt x="4137837" y="70895"/>
                </a:cubicBezTo>
                <a:lnTo>
                  <a:pt x="4137837" y="2374594"/>
                </a:lnTo>
                <a:cubicBezTo>
                  <a:pt x="4137837" y="2413748"/>
                  <a:pt x="4106097" y="2445488"/>
                  <a:pt x="4066943" y="2445488"/>
                </a:cubicBezTo>
                <a:lnTo>
                  <a:pt x="70895" y="2445488"/>
                </a:lnTo>
                <a:cubicBezTo>
                  <a:pt x="31741" y="2445488"/>
                  <a:pt x="0" y="2413748"/>
                  <a:pt x="0" y="2374594"/>
                </a:cubicBezTo>
                <a:lnTo>
                  <a:pt x="0" y="70895"/>
                </a:lnTo>
                <a:cubicBezTo>
                  <a:pt x="0" y="31767"/>
                  <a:pt x="31767" y="0"/>
                  <a:pt x="7089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30" name="Image 0" descr="https://static.vecteezy.com/system/resources/previews/078/738/245/non_2x/futuristic-artificial-intelligence-concept-digital-brain-network-with-chip-data-nodes-illustration-dark-background-vector.jpg"/>
          <p:cNvPicPr>
            <a:picLocks noChangeAspect="1"/>
          </p:cNvPicPr>
          <p:nvPr/>
        </p:nvPicPr>
        <p:blipFill>
          <a:blip r:embed="rId3"/>
          <a:srcRect t="35019" b="35019"/>
          <a:stretch/>
        </p:blipFill>
        <p:spPr>
          <a:xfrm>
            <a:off x="7655442" y="1956281"/>
            <a:ext cx="3854302" cy="1275907"/>
          </a:xfrm>
          <a:prstGeom prst="roundRect">
            <a:avLst>
              <a:gd name="adj" fmla="val 5556"/>
            </a:avLst>
          </a:prstGeom>
        </p:spPr>
      </p:pic>
      <p:sp>
        <p:nvSpPr>
          <p:cNvPr id="31" name="Text 28"/>
          <p:cNvSpPr/>
          <p:nvPr/>
        </p:nvSpPr>
        <p:spPr>
          <a:xfrm>
            <a:off x="7655442" y="3338513"/>
            <a:ext cx="393404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655442" y="3657490"/>
            <a:ext cx="3925186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neural networks are inspired by how neurons in the human brain connect and process information.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517219" y="4405313"/>
            <a:ext cx="4136065" cy="928577"/>
          </a:xfrm>
          <a:custGeom>
            <a:avLst/>
            <a:gdLst/>
            <a:ahLst/>
            <a:cxnLst/>
            <a:rect l="l" t="t" r="r" b="b"/>
            <a:pathLst>
              <a:path w="4136065" h="928577">
                <a:moveTo>
                  <a:pt x="70888" y="0"/>
                </a:moveTo>
                <a:lnTo>
                  <a:pt x="4065178" y="0"/>
                </a:lnTo>
                <a:cubicBezTo>
                  <a:pt x="4104301" y="0"/>
                  <a:pt x="4136065" y="31764"/>
                  <a:pt x="4136065" y="70888"/>
                </a:cubicBezTo>
                <a:lnTo>
                  <a:pt x="4136065" y="857689"/>
                </a:lnTo>
                <a:cubicBezTo>
                  <a:pt x="4136065" y="896813"/>
                  <a:pt x="4104301" y="928577"/>
                  <a:pt x="4065178" y="928577"/>
                </a:cubicBezTo>
                <a:lnTo>
                  <a:pt x="70888" y="928577"/>
                </a:lnTo>
                <a:cubicBezTo>
                  <a:pt x="31764" y="928577"/>
                  <a:pt x="0" y="896813"/>
                  <a:pt x="0" y="857689"/>
                </a:cubicBezTo>
                <a:lnTo>
                  <a:pt x="0" y="70888"/>
                </a:lnTo>
                <a:cubicBezTo>
                  <a:pt x="0" y="31764"/>
                  <a:pt x="31764" y="0"/>
                  <a:pt x="70888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62530" y="4550623"/>
            <a:ext cx="616356" cy="205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662530" y="4834158"/>
            <a:ext cx="3907465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 like a child learns to recognize cats by seeing many examples, neural networks learn by processing thousands of images!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11" y="431894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107973" y="0"/>
                </a:moveTo>
                <a:lnTo>
                  <a:pt x="323920" y="0"/>
                </a:lnTo>
                <a:cubicBezTo>
                  <a:pt x="383552" y="0"/>
                  <a:pt x="431894" y="48341"/>
                  <a:pt x="431894" y="107973"/>
                </a:cubicBezTo>
                <a:lnTo>
                  <a:pt x="431894" y="323920"/>
                </a:lnTo>
                <a:cubicBezTo>
                  <a:pt x="431894" y="383552"/>
                  <a:pt x="383552" y="431894"/>
                  <a:pt x="323920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40892" y="539867"/>
            <a:ext cx="269934" cy="215947"/>
          </a:xfrm>
          <a:custGeom>
            <a:avLst/>
            <a:gdLst/>
            <a:ahLst/>
            <a:cxnLst/>
            <a:rect l="l" t="t" r="r" b="b"/>
            <a:pathLst>
              <a:path w="269934" h="215947">
                <a:moveTo>
                  <a:pt x="161960" y="13497"/>
                </a:moveTo>
                <a:lnTo>
                  <a:pt x="215947" y="13497"/>
                </a:lnTo>
                <a:cubicBezTo>
                  <a:pt x="223412" y="13497"/>
                  <a:pt x="229444" y="19528"/>
                  <a:pt x="229444" y="26993"/>
                </a:cubicBezTo>
                <a:cubicBezTo>
                  <a:pt x="229444" y="34459"/>
                  <a:pt x="223412" y="40490"/>
                  <a:pt x="215947" y="40490"/>
                </a:cubicBezTo>
                <a:lnTo>
                  <a:pt x="168034" y="40490"/>
                </a:lnTo>
                <a:cubicBezTo>
                  <a:pt x="165840" y="51372"/>
                  <a:pt x="158375" y="60355"/>
                  <a:pt x="148463" y="64658"/>
                </a:cubicBezTo>
                <a:lnTo>
                  <a:pt x="148463" y="188954"/>
                </a:lnTo>
                <a:lnTo>
                  <a:pt x="215947" y="188954"/>
                </a:lnTo>
                <a:cubicBezTo>
                  <a:pt x="223412" y="188954"/>
                  <a:pt x="229444" y="194985"/>
                  <a:pt x="229444" y="202450"/>
                </a:cubicBezTo>
                <a:cubicBezTo>
                  <a:pt x="229444" y="209916"/>
                  <a:pt x="223412" y="215947"/>
                  <a:pt x="215947" y="215947"/>
                </a:cubicBezTo>
                <a:lnTo>
                  <a:pt x="53987" y="215947"/>
                </a:lnTo>
                <a:cubicBezTo>
                  <a:pt x="46521" y="215947"/>
                  <a:pt x="40490" y="209916"/>
                  <a:pt x="40490" y="202450"/>
                </a:cubicBezTo>
                <a:cubicBezTo>
                  <a:pt x="40490" y="194985"/>
                  <a:pt x="46521" y="188954"/>
                  <a:pt x="53987" y="188954"/>
                </a:cubicBezTo>
                <a:lnTo>
                  <a:pt x="121470" y="188954"/>
                </a:lnTo>
                <a:lnTo>
                  <a:pt x="121470" y="64658"/>
                </a:lnTo>
                <a:cubicBezTo>
                  <a:pt x="111558" y="60313"/>
                  <a:pt x="104093" y="51330"/>
                  <a:pt x="101900" y="40490"/>
                </a:cubicBezTo>
                <a:lnTo>
                  <a:pt x="53987" y="40490"/>
                </a:lnTo>
                <a:cubicBezTo>
                  <a:pt x="46521" y="40490"/>
                  <a:pt x="40490" y="34459"/>
                  <a:pt x="40490" y="26993"/>
                </a:cubicBezTo>
                <a:cubicBezTo>
                  <a:pt x="40490" y="19528"/>
                  <a:pt x="46521" y="13497"/>
                  <a:pt x="53987" y="13497"/>
                </a:cubicBezTo>
                <a:lnTo>
                  <a:pt x="107973" y="13497"/>
                </a:lnTo>
                <a:cubicBezTo>
                  <a:pt x="114131" y="5314"/>
                  <a:pt x="123916" y="0"/>
                  <a:pt x="134967" y="0"/>
                </a:cubicBezTo>
                <a:cubicBezTo>
                  <a:pt x="146017" y="0"/>
                  <a:pt x="155802" y="5314"/>
                  <a:pt x="161960" y="13497"/>
                </a:cubicBezTo>
                <a:close/>
                <a:moveTo>
                  <a:pt x="185411" y="134967"/>
                </a:moveTo>
                <a:lnTo>
                  <a:pt x="246483" y="134967"/>
                </a:lnTo>
                <a:lnTo>
                  <a:pt x="215947" y="82583"/>
                </a:lnTo>
                <a:lnTo>
                  <a:pt x="185411" y="134967"/>
                </a:lnTo>
                <a:close/>
                <a:moveTo>
                  <a:pt x="215947" y="175457"/>
                </a:moveTo>
                <a:cubicBezTo>
                  <a:pt x="189417" y="175457"/>
                  <a:pt x="167359" y="161117"/>
                  <a:pt x="162804" y="142179"/>
                </a:cubicBezTo>
                <a:cubicBezTo>
                  <a:pt x="161707" y="137540"/>
                  <a:pt x="163225" y="132774"/>
                  <a:pt x="165630" y="128640"/>
                </a:cubicBezTo>
                <a:lnTo>
                  <a:pt x="205782" y="59807"/>
                </a:lnTo>
                <a:cubicBezTo>
                  <a:pt x="207891" y="56180"/>
                  <a:pt x="211771" y="53987"/>
                  <a:pt x="215947" y="53987"/>
                </a:cubicBezTo>
                <a:cubicBezTo>
                  <a:pt x="220122" y="53987"/>
                  <a:pt x="224003" y="56222"/>
                  <a:pt x="226112" y="59807"/>
                </a:cubicBezTo>
                <a:lnTo>
                  <a:pt x="266264" y="128640"/>
                </a:lnTo>
                <a:cubicBezTo>
                  <a:pt x="268668" y="132774"/>
                  <a:pt x="270187" y="137540"/>
                  <a:pt x="269090" y="142179"/>
                </a:cubicBezTo>
                <a:cubicBezTo>
                  <a:pt x="264535" y="161074"/>
                  <a:pt x="242476" y="175457"/>
                  <a:pt x="215947" y="175457"/>
                </a:cubicBezTo>
                <a:close/>
                <a:moveTo>
                  <a:pt x="53481" y="82583"/>
                </a:moveTo>
                <a:lnTo>
                  <a:pt x="22944" y="134967"/>
                </a:lnTo>
                <a:lnTo>
                  <a:pt x="84059" y="134967"/>
                </a:lnTo>
                <a:lnTo>
                  <a:pt x="53481" y="82583"/>
                </a:lnTo>
                <a:close/>
                <a:moveTo>
                  <a:pt x="380" y="142179"/>
                </a:moveTo>
                <a:cubicBezTo>
                  <a:pt x="-717" y="137540"/>
                  <a:pt x="801" y="132774"/>
                  <a:pt x="3205" y="128640"/>
                </a:cubicBezTo>
                <a:lnTo>
                  <a:pt x="43358" y="59807"/>
                </a:lnTo>
                <a:cubicBezTo>
                  <a:pt x="45467" y="56180"/>
                  <a:pt x="49347" y="53987"/>
                  <a:pt x="53523" y="53987"/>
                </a:cubicBezTo>
                <a:cubicBezTo>
                  <a:pt x="57698" y="53987"/>
                  <a:pt x="61579" y="56222"/>
                  <a:pt x="63687" y="59807"/>
                </a:cubicBezTo>
                <a:lnTo>
                  <a:pt x="103840" y="128640"/>
                </a:lnTo>
                <a:cubicBezTo>
                  <a:pt x="106244" y="132774"/>
                  <a:pt x="107763" y="137540"/>
                  <a:pt x="106666" y="142179"/>
                </a:cubicBezTo>
                <a:cubicBezTo>
                  <a:pt x="102111" y="161074"/>
                  <a:pt x="80052" y="175457"/>
                  <a:pt x="53523" y="175457"/>
                </a:cubicBezTo>
                <a:cubicBezTo>
                  <a:pt x="26993" y="175457"/>
                  <a:pt x="4935" y="161117"/>
                  <a:pt x="380" y="14217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99779" y="359911"/>
            <a:ext cx="699128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 • TOPIC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99779" y="575858"/>
            <a:ext cx="7081258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 3: Thinking Rationally - Logic-Based 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511" y="1227298"/>
            <a:ext cx="6746540" cy="2688538"/>
          </a:xfrm>
          <a:custGeom>
            <a:avLst/>
            <a:gdLst/>
            <a:ahLst/>
            <a:cxnLst/>
            <a:rect l="l" t="t" r="r" b="b"/>
            <a:pathLst>
              <a:path w="6746540" h="2688538">
                <a:moveTo>
                  <a:pt x="107972" y="0"/>
                </a:moveTo>
                <a:lnTo>
                  <a:pt x="6638568" y="0"/>
                </a:lnTo>
                <a:cubicBezTo>
                  <a:pt x="6698199" y="0"/>
                  <a:pt x="6746540" y="48341"/>
                  <a:pt x="6746540" y="107972"/>
                </a:cubicBezTo>
                <a:lnTo>
                  <a:pt x="6746540" y="2580567"/>
                </a:lnTo>
                <a:cubicBezTo>
                  <a:pt x="6746540" y="2640198"/>
                  <a:pt x="6698199" y="2688538"/>
                  <a:pt x="6638568" y="2688538"/>
                </a:cubicBezTo>
                <a:lnTo>
                  <a:pt x="107972" y="2688538"/>
                </a:lnTo>
                <a:cubicBezTo>
                  <a:pt x="48341" y="2688538"/>
                  <a:pt x="0" y="2640198"/>
                  <a:pt x="0" y="2580567"/>
                </a:cubicBezTo>
                <a:lnTo>
                  <a:pt x="0" y="107972"/>
                </a:lnTo>
                <a:cubicBezTo>
                  <a:pt x="0" y="48380"/>
                  <a:pt x="48380" y="0"/>
                  <a:pt x="10797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3057" y="1446847"/>
            <a:ext cx="6415421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 and Reasoning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3057" y="1878626"/>
            <a:ext cx="6388428" cy="530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approach uses </a:t>
            </a:r>
            <a:r>
              <a:rPr lang="en-US" sz="1275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formal rules of logic</a:t>
            </a:r>
            <a:r>
              <a:rPr lang="en-US" sz="127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make decisions. It creates systems that think logically and follow rules, like solving math problems step by step.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1052" y="2548961"/>
            <a:ext cx="6289452" cy="1151717"/>
          </a:xfrm>
          <a:custGeom>
            <a:avLst/>
            <a:gdLst/>
            <a:ahLst/>
            <a:cxnLst/>
            <a:rect l="l" t="t" r="r" b="b"/>
            <a:pathLst>
              <a:path w="6289452" h="1151717">
                <a:moveTo>
                  <a:pt x="35991" y="0"/>
                </a:moveTo>
                <a:lnTo>
                  <a:pt x="6217470" y="0"/>
                </a:lnTo>
                <a:cubicBezTo>
                  <a:pt x="6257225" y="0"/>
                  <a:pt x="6289452" y="32228"/>
                  <a:pt x="6289452" y="71982"/>
                </a:cubicBezTo>
                <a:lnTo>
                  <a:pt x="6289452" y="1079734"/>
                </a:lnTo>
                <a:cubicBezTo>
                  <a:pt x="6289452" y="1119489"/>
                  <a:pt x="6257225" y="1151717"/>
                  <a:pt x="6217470" y="1151717"/>
                </a:cubicBezTo>
                <a:lnTo>
                  <a:pt x="35991" y="1151717"/>
                </a:lnTo>
                <a:cubicBezTo>
                  <a:pt x="16114" y="1151717"/>
                  <a:pt x="0" y="1135603"/>
                  <a:pt x="0" y="1115725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601052" y="2548961"/>
            <a:ext cx="35991" cy="1151717"/>
          </a:xfrm>
          <a:custGeom>
            <a:avLst/>
            <a:gdLst/>
            <a:ahLst/>
            <a:cxnLst/>
            <a:rect l="l" t="t" r="r" b="b"/>
            <a:pathLst>
              <a:path w="35991" h="1151717">
                <a:moveTo>
                  <a:pt x="35991" y="0"/>
                </a:moveTo>
                <a:lnTo>
                  <a:pt x="35991" y="0"/>
                </a:lnTo>
                <a:lnTo>
                  <a:pt x="35991" y="1151717"/>
                </a:lnTo>
                <a:lnTo>
                  <a:pt x="35991" y="1151717"/>
                </a:lnTo>
                <a:cubicBezTo>
                  <a:pt x="16114" y="1151717"/>
                  <a:pt x="0" y="1135603"/>
                  <a:pt x="0" y="1115725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99003" y="2728917"/>
            <a:ext cx="749291" cy="20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Idea: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9003" y="3052837"/>
            <a:ext cx="5983528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we know certain facts are true, and we have logical rules, we can use those rules to discover new facts that must also be true.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3511" y="4071385"/>
            <a:ext cx="6746540" cy="2787514"/>
          </a:xfrm>
          <a:custGeom>
            <a:avLst/>
            <a:gdLst/>
            <a:ahLst/>
            <a:cxnLst/>
            <a:rect l="l" t="t" r="r" b="b"/>
            <a:pathLst>
              <a:path w="6746540" h="2787514">
                <a:moveTo>
                  <a:pt x="107960" y="0"/>
                </a:moveTo>
                <a:lnTo>
                  <a:pt x="6638580" y="0"/>
                </a:lnTo>
                <a:cubicBezTo>
                  <a:pt x="6698204" y="0"/>
                  <a:pt x="6746540" y="48336"/>
                  <a:pt x="6746540" y="107960"/>
                </a:cubicBezTo>
                <a:lnTo>
                  <a:pt x="6746540" y="2679554"/>
                </a:lnTo>
                <a:cubicBezTo>
                  <a:pt x="6746540" y="2739179"/>
                  <a:pt x="6698204" y="2787514"/>
                  <a:pt x="6638580" y="2787514"/>
                </a:cubicBezTo>
                <a:lnTo>
                  <a:pt x="107960" y="2787514"/>
                </a:lnTo>
                <a:cubicBezTo>
                  <a:pt x="48336" y="2787514"/>
                  <a:pt x="0" y="2739179"/>
                  <a:pt x="0" y="2679554"/>
                </a:cubicBezTo>
                <a:lnTo>
                  <a:pt x="0" y="107960"/>
                </a:lnTo>
                <a:cubicBezTo>
                  <a:pt x="0" y="48375"/>
                  <a:pt x="48375" y="0"/>
                  <a:pt x="10796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057" y="4290933"/>
            <a:ext cx="6415421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Logical Reasoning Works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3057" y="4722713"/>
            <a:ext cx="6307448" cy="1376661"/>
          </a:xfrm>
          <a:custGeom>
            <a:avLst/>
            <a:gdLst/>
            <a:ahLst/>
            <a:cxnLst/>
            <a:rect l="l" t="t" r="r" b="b"/>
            <a:pathLst>
              <a:path w="6307448" h="1376661">
                <a:moveTo>
                  <a:pt x="71986" y="0"/>
                </a:moveTo>
                <a:lnTo>
                  <a:pt x="6235462" y="0"/>
                </a:lnTo>
                <a:cubicBezTo>
                  <a:pt x="6275219" y="0"/>
                  <a:pt x="6307448" y="32229"/>
                  <a:pt x="6307448" y="71986"/>
                </a:cubicBezTo>
                <a:lnTo>
                  <a:pt x="6307448" y="1304676"/>
                </a:lnTo>
                <a:cubicBezTo>
                  <a:pt x="6307448" y="1344432"/>
                  <a:pt x="6275219" y="1376661"/>
                  <a:pt x="6235462" y="1376661"/>
                </a:cubicBezTo>
                <a:lnTo>
                  <a:pt x="71986" y="1376661"/>
                </a:lnTo>
                <a:cubicBezTo>
                  <a:pt x="32229" y="1376661"/>
                  <a:pt x="0" y="1344432"/>
                  <a:pt x="0" y="1304676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6" name="Text 14"/>
          <p:cNvSpPr/>
          <p:nvPr/>
        </p:nvSpPr>
        <p:spPr>
          <a:xfrm>
            <a:off x="727021" y="4866677"/>
            <a:ext cx="1841509" cy="20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Medical Diagnosis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7021" y="5190598"/>
            <a:ext cx="608250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1:</a:t>
            </a:r>
            <a:r>
              <a:rPr lang="en-US" sz="99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humans are mortal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7021" y="5442536"/>
            <a:ext cx="608250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2:</a:t>
            </a:r>
            <a:r>
              <a:rPr lang="en-US" sz="99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Socrates is a human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7021" y="5698073"/>
            <a:ext cx="6019519" cy="7198"/>
          </a:xfrm>
          <a:custGeom>
            <a:avLst/>
            <a:gdLst/>
            <a:ahLst/>
            <a:cxnLst/>
            <a:rect l="l" t="t" r="r" b="b"/>
            <a:pathLst>
              <a:path w="6019519" h="7198">
                <a:moveTo>
                  <a:pt x="0" y="0"/>
                </a:moveTo>
                <a:lnTo>
                  <a:pt x="6019519" y="0"/>
                </a:lnTo>
                <a:lnTo>
                  <a:pt x="6019519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727021" y="5694474"/>
            <a:ext cx="6082503" cy="251938"/>
          </a:xfrm>
          <a:prstGeom prst="rect">
            <a:avLst/>
          </a:prstGeom>
          <a:noFill/>
          <a:ln/>
        </p:spPr>
        <p:txBody>
          <a:bodyPr wrap="square" lIns="0" tIns="71982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Conclusion:</a:t>
            </a:r>
            <a:r>
              <a:rPr lang="en-US" sz="99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Socrates is mortal 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0050" y="6277533"/>
            <a:ext cx="125969" cy="143965"/>
          </a:xfrm>
          <a:custGeom>
            <a:avLst/>
            <a:gdLst/>
            <a:ahLst/>
            <a:cxnLst/>
            <a:rect l="l" t="t" r="r" b="b"/>
            <a:pathLst>
              <a:path w="125969" h="143965">
                <a:moveTo>
                  <a:pt x="71982" y="17996"/>
                </a:moveTo>
                <a:cubicBezTo>
                  <a:pt x="71982" y="13019"/>
                  <a:pt x="67961" y="8998"/>
                  <a:pt x="62985" y="8998"/>
                </a:cubicBezTo>
                <a:cubicBezTo>
                  <a:pt x="58008" y="8998"/>
                  <a:pt x="53987" y="13019"/>
                  <a:pt x="53987" y="17996"/>
                </a:cubicBezTo>
                <a:lnTo>
                  <a:pt x="53987" y="62985"/>
                </a:lnTo>
                <a:lnTo>
                  <a:pt x="8998" y="62985"/>
                </a:lnTo>
                <a:cubicBezTo>
                  <a:pt x="4021" y="62985"/>
                  <a:pt x="0" y="67005"/>
                  <a:pt x="0" y="71982"/>
                </a:cubicBezTo>
                <a:cubicBezTo>
                  <a:pt x="0" y="76959"/>
                  <a:pt x="4021" y="80980"/>
                  <a:pt x="8998" y="80980"/>
                </a:cubicBezTo>
                <a:lnTo>
                  <a:pt x="53987" y="80980"/>
                </a:lnTo>
                <a:lnTo>
                  <a:pt x="53987" y="125969"/>
                </a:lnTo>
                <a:cubicBezTo>
                  <a:pt x="53987" y="130946"/>
                  <a:pt x="58008" y="134967"/>
                  <a:pt x="62985" y="134967"/>
                </a:cubicBezTo>
                <a:cubicBezTo>
                  <a:pt x="67961" y="134967"/>
                  <a:pt x="71982" y="130946"/>
                  <a:pt x="71982" y="125969"/>
                </a:cubicBezTo>
                <a:lnTo>
                  <a:pt x="71982" y="80980"/>
                </a:lnTo>
                <a:lnTo>
                  <a:pt x="116971" y="80980"/>
                </a:lnTo>
                <a:cubicBezTo>
                  <a:pt x="121948" y="80980"/>
                  <a:pt x="125969" y="76959"/>
                  <a:pt x="125969" y="71982"/>
                </a:cubicBezTo>
                <a:cubicBezTo>
                  <a:pt x="125969" y="67005"/>
                  <a:pt x="121948" y="62985"/>
                  <a:pt x="116971" y="62985"/>
                </a:cubicBezTo>
                <a:lnTo>
                  <a:pt x="71982" y="62985"/>
                </a:lnTo>
                <a:lnTo>
                  <a:pt x="71982" y="1799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34995" y="6241542"/>
            <a:ext cx="160160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4995" y="6457489"/>
            <a:ext cx="159260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Clear, explainable decisions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6861" y="6277533"/>
            <a:ext cx="125969" cy="143965"/>
          </a:xfrm>
          <a:custGeom>
            <a:avLst/>
            <a:gdLst/>
            <a:ahLst/>
            <a:cxnLst/>
            <a:rect l="l" t="t" r="r" b="b"/>
            <a:pathLst>
              <a:path w="125969" h="143965">
                <a:moveTo>
                  <a:pt x="0" y="71982"/>
                </a:moveTo>
                <a:cubicBezTo>
                  <a:pt x="0" y="67005"/>
                  <a:pt x="4021" y="62985"/>
                  <a:pt x="8998" y="62985"/>
                </a:cubicBezTo>
                <a:lnTo>
                  <a:pt x="116971" y="62985"/>
                </a:lnTo>
                <a:cubicBezTo>
                  <a:pt x="121948" y="62985"/>
                  <a:pt x="125969" y="67005"/>
                  <a:pt x="125969" y="71982"/>
                </a:cubicBezTo>
                <a:cubicBezTo>
                  <a:pt x="125969" y="76959"/>
                  <a:pt x="121948" y="80980"/>
                  <a:pt x="116971" y="80980"/>
                </a:cubicBezTo>
                <a:lnTo>
                  <a:pt x="8998" y="80980"/>
                </a:lnTo>
                <a:cubicBezTo>
                  <a:pt x="4021" y="80980"/>
                  <a:pt x="0" y="76959"/>
                  <a:pt x="0" y="71982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041806" y="6241542"/>
            <a:ext cx="153862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41806" y="6457489"/>
            <a:ext cx="152962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 to handle uncertainty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31396" y="1227298"/>
            <a:ext cx="4497093" cy="5630814"/>
          </a:xfrm>
          <a:custGeom>
            <a:avLst/>
            <a:gdLst/>
            <a:ahLst/>
            <a:cxnLst/>
            <a:rect l="l" t="t" r="r" b="b"/>
            <a:pathLst>
              <a:path w="4497093" h="5630814">
                <a:moveTo>
                  <a:pt x="107975" y="0"/>
                </a:moveTo>
                <a:lnTo>
                  <a:pt x="4389118" y="0"/>
                </a:lnTo>
                <a:cubicBezTo>
                  <a:pt x="4448751" y="0"/>
                  <a:pt x="4497093" y="48342"/>
                  <a:pt x="4497093" y="107975"/>
                </a:cubicBezTo>
                <a:lnTo>
                  <a:pt x="4497093" y="5522839"/>
                </a:lnTo>
                <a:cubicBezTo>
                  <a:pt x="4497093" y="5582472"/>
                  <a:pt x="4448751" y="5630814"/>
                  <a:pt x="4389118" y="5630814"/>
                </a:cubicBezTo>
                <a:lnTo>
                  <a:pt x="107975" y="5630814"/>
                </a:lnTo>
                <a:cubicBezTo>
                  <a:pt x="48342" y="5630814"/>
                  <a:pt x="0" y="5582472"/>
                  <a:pt x="0" y="5522839"/>
                </a:cubicBezTo>
                <a:lnTo>
                  <a:pt x="0" y="107975"/>
                </a:lnTo>
                <a:cubicBezTo>
                  <a:pt x="0" y="48342"/>
                  <a:pt x="48342" y="0"/>
                  <a:pt x="10797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4951" y="1410855"/>
            <a:ext cx="423795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14951" y="1842635"/>
            <a:ext cx="4129984" cy="2483389"/>
          </a:xfrm>
          <a:custGeom>
            <a:avLst/>
            <a:gdLst/>
            <a:ahLst/>
            <a:cxnLst/>
            <a:rect l="l" t="t" r="r" b="b"/>
            <a:pathLst>
              <a:path w="4129984" h="2483389">
                <a:moveTo>
                  <a:pt x="71993" y="0"/>
                </a:moveTo>
                <a:lnTo>
                  <a:pt x="4057990" y="0"/>
                </a:lnTo>
                <a:cubicBezTo>
                  <a:pt x="4097751" y="0"/>
                  <a:pt x="4129984" y="32233"/>
                  <a:pt x="4129984" y="71993"/>
                </a:cubicBezTo>
                <a:lnTo>
                  <a:pt x="4129984" y="2411395"/>
                </a:lnTo>
                <a:cubicBezTo>
                  <a:pt x="4129984" y="2451156"/>
                  <a:pt x="4097751" y="2483389"/>
                  <a:pt x="4057990" y="2483389"/>
                </a:cubicBezTo>
                <a:lnTo>
                  <a:pt x="71993" y="2483389"/>
                </a:lnTo>
                <a:cubicBezTo>
                  <a:pt x="32233" y="2483389"/>
                  <a:pt x="0" y="2451156"/>
                  <a:pt x="0" y="2411395"/>
                </a:cubicBezTo>
                <a:lnTo>
                  <a:pt x="0" y="71993"/>
                </a:lnTo>
                <a:cubicBezTo>
                  <a:pt x="0" y="32233"/>
                  <a:pt x="32233" y="0"/>
                  <a:pt x="7199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30" name="Image 0" descr="https://technostacks.com/wp-content/uploads/2024/12/AI-in-Medical-Diagnostics.png"/>
          <p:cNvPicPr>
            <a:picLocks noChangeAspect="1"/>
          </p:cNvPicPr>
          <p:nvPr/>
        </p:nvPicPr>
        <p:blipFill>
          <a:blip r:embed="rId3"/>
          <a:srcRect t="16411" b="16411"/>
          <a:stretch/>
        </p:blipFill>
        <p:spPr>
          <a:xfrm>
            <a:off x="7658916" y="1986600"/>
            <a:ext cx="3842055" cy="1295681"/>
          </a:xfrm>
          <a:prstGeom prst="roundRect">
            <a:avLst>
              <a:gd name="adj" fmla="val 5556"/>
            </a:avLst>
          </a:prstGeom>
        </p:spPr>
      </p:pic>
      <p:sp>
        <p:nvSpPr>
          <p:cNvPr id="31" name="Text 28"/>
          <p:cNvSpPr/>
          <p:nvPr/>
        </p:nvSpPr>
        <p:spPr>
          <a:xfrm>
            <a:off x="7658916" y="3390254"/>
            <a:ext cx="392303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Systems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658916" y="3714174"/>
            <a:ext cx="3914037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expert systems use logical rules to diagnose diseases based on symptoms, like having a digital doctor!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518550" y="4473588"/>
            <a:ext cx="4119186" cy="1833749"/>
          </a:xfrm>
          <a:custGeom>
            <a:avLst/>
            <a:gdLst/>
            <a:ahLst/>
            <a:cxnLst/>
            <a:rect l="l" t="t" r="r" b="b"/>
            <a:pathLst>
              <a:path w="4119186" h="1833749">
                <a:moveTo>
                  <a:pt x="71975" y="0"/>
                </a:moveTo>
                <a:lnTo>
                  <a:pt x="4047212" y="0"/>
                </a:lnTo>
                <a:cubicBezTo>
                  <a:pt x="4086962" y="0"/>
                  <a:pt x="4119186" y="32224"/>
                  <a:pt x="4119186" y="71975"/>
                </a:cubicBezTo>
                <a:lnTo>
                  <a:pt x="4119186" y="1761774"/>
                </a:lnTo>
                <a:cubicBezTo>
                  <a:pt x="4119186" y="1801525"/>
                  <a:pt x="4086962" y="1833749"/>
                  <a:pt x="4047212" y="1833749"/>
                </a:cubicBezTo>
                <a:lnTo>
                  <a:pt x="71975" y="1833749"/>
                </a:lnTo>
                <a:cubicBezTo>
                  <a:pt x="32224" y="1833749"/>
                  <a:pt x="0" y="1801525"/>
                  <a:pt x="0" y="1761774"/>
                </a:cubicBezTo>
                <a:lnTo>
                  <a:pt x="0" y="71975"/>
                </a:lnTo>
                <a:cubicBezTo>
                  <a:pt x="0" y="32251"/>
                  <a:pt x="32251" y="0"/>
                  <a:pt x="71975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66114" y="4621150"/>
            <a:ext cx="1488121" cy="20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Code Example: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669713" y="4912678"/>
            <a:ext cx="3813262" cy="1239895"/>
          </a:xfrm>
          <a:custGeom>
            <a:avLst/>
            <a:gdLst/>
            <a:ahLst/>
            <a:cxnLst/>
            <a:rect l="l" t="t" r="r" b="b"/>
            <a:pathLst>
              <a:path w="3813262" h="1239895">
                <a:moveTo>
                  <a:pt x="71988" y="0"/>
                </a:moveTo>
                <a:lnTo>
                  <a:pt x="3741273" y="0"/>
                </a:lnTo>
                <a:cubicBezTo>
                  <a:pt x="3781031" y="0"/>
                  <a:pt x="3813262" y="32230"/>
                  <a:pt x="3813262" y="71988"/>
                </a:cubicBezTo>
                <a:lnTo>
                  <a:pt x="3813262" y="1167907"/>
                </a:lnTo>
                <a:cubicBezTo>
                  <a:pt x="3813262" y="1207665"/>
                  <a:pt x="3781031" y="1239895"/>
                  <a:pt x="3741273" y="1239895"/>
                </a:cubicBezTo>
                <a:lnTo>
                  <a:pt x="71988" y="1239895"/>
                </a:lnTo>
                <a:cubicBezTo>
                  <a:pt x="32230" y="1239895"/>
                  <a:pt x="0" y="1207665"/>
                  <a:pt x="0" y="1167907"/>
                </a:cubicBezTo>
                <a:lnTo>
                  <a:pt x="0" y="71988"/>
                </a:lnTo>
                <a:cubicBezTo>
                  <a:pt x="0" y="32230"/>
                  <a:pt x="32230" y="0"/>
                  <a:pt x="71988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17276" y="5060244"/>
            <a:ext cx="3581119" cy="18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Rule-based system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817276" y="5249198"/>
            <a:ext cx="3581119" cy="18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fever AND cough: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817276" y="5438151"/>
            <a:ext cx="3581119" cy="18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diagnosis = "Possible flu"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817276" y="5627105"/>
            <a:ext cx="3581119" cy="18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fever AND rash: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817276" y="5816058"/>
            <a:ext cx="3581119" cy="18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diagnosis = "Possible measles"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856" y="416228"/>
            <a:ext cx="416228" cy="416228"/>
          </a:xfrm>
          <a:custGeom>
            <a:avLst/>
            <a:gdLst/>
            <a:ahLst/>
            <a:cxnLst/>
            <a:rect l="l" t="t" r="r" b="b"/>
            <a:pathLst>
              <a:path w="416228" h="416228">
                <a:moveTo>
                  <a:pt x="104057" y="0"/>
                </a:moveTo>
                <a:lnTo>
                  <a:pt x="312171" y="0"/>
                </a:lnTo>
                <a:cubicBezTo>
                  <a:pt x="369640" y="0"/>
                  <a:pt x="416228" y="46588"/>
                  <a:pt x="416228" y="104057"/>
                </a:cubicBezTo>
                <a:lnTo>
                  <a:pt x="416228" y="312171"/>
                </a:lnTo>
                <a:cubicBezTo>
                  <a:pt x="416228" y="369640"/>
                  <a:pt x="369640" y="416228"/>
                  <a:pt x="312171" y="416228"/>
                </a:cubicBezTo>
                <a:lnTo>
                  <a:pt x="104057" y="416228"/>
                </a:lnTo>
                <a:cubicBezTo>
                  <a:pt x="46588" y="416228"/>
                  <a:pt x="0" y="369640"/>
                  <a:pt x="0" y="312171"/>
                </a:cubicBezTo>
                <a:lnTo>
                  <a:pt x="0" y="104057"/>
                </a:lnTo>
                <a:cubicBezTo>
                  <a:pt x="0" y="46626"/>
                  <a:pt x="46626" y="0"/>
                  <a:pt x="104057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6927" y="520284"/>
            <a:ext cx="156085" cy="208114"/>
          </a:xfrm>
          <a:custGeom>
            <a:avLst/>
            <a:gdLst/>
            <a:ahLst/>
            <a:cxnLst/>
            <a:rect l="l" t="t" r="r" b="b"/>
            <a:pathLst>
              <a:path w="156085" h="208114">
                <a:moveTo>
                  <a:pt x="78043" y="-13007"/>
                </a:moveTo>
                <a:cubicBezTo>
                  <a:pt x="121129" y="-13007"/>
                  <a:pt x="156085" y="21950"/>
                  <a:pt x="156085" y="65036"/>
                </a:cubicBezTo>
                <a:lnTo>
                  <a:pt x="156085" y="119300"/>
                </a:lnTo>
                <a:cubicBezTo>
                  <a:pt x="156085" y="126210"/>
                  <a:pt x="153321" y="132794"/>
                  <a:pt x="148484" y="137672"/>
                </a:cubicBezTo>
                <a:lnTo>
                  <a:pt x="130071" y="156085"/>
                </a:lnTo>
                <a:lnTo>
                  <a:pt x="150720" y="176693"/>
                </a:lnTo>
                <a:cubicBezTo>
                  <a:pt x="154175" y="180149"/>
                  <a:pt x="156085" y="184823"/>
                  <a:pt x="156085" y="189701"/>
                </a:cubicBezTo>
                <a:cubicBezTo>
                  <a:pt x="156085" y="199862"/>
                  <a:pt x="147834" y="208073"/>
                  <a:pt x="137713" y="208114"/>
                </a:cubicBezTo>
                <a:lnTo>
                  <a:pt x="18413" y="208114"/>
                </a:lnTo>
                <a:cubicBezTo>
                  <a:pt x="8251" y="208114"/>
                  <a:pt x="41" y="199862"/>
                  <a:pt x="41" y="189701"/>
                </a:cubicBezTo>
                <a:cubicBezTo>
                  <a:pt x="41" y="184823"/>
                  <a:pt x="1992" y="180149"/>
                  <a:pt x="5406" y="176693"/>
                </a:cubicBezTo>
                <a:lnTo>
                  <a:pt x="26014" y="156085"/>
                </a:lnTo>
                <a:lnTo>
                  <a:pt x="26014" y="142021"/>
                </a:lnTo>
                <a:cubicBezTo>
                  <a:pt x="26014" y="134420"/>
                  <a:pt x="29347" y="127226"/>
                  <a:pt x="35079" y="122267"/>
                </a:cubicBezTo>
                <a:lnTo>
                  <a:pt x="71539" y="91050"/>
                </a:lnTo>
                <a:lnTo>
                  <a:pt x="52028" y="91050"/>
                </a:lnTo>
                <a:lnTo>
                  <a:pt x="47110" y="95968"/>
                </a:lnTo>
                <a:cubicBezTo>
                  <a:pt x="41948" y="101130"/>
                  <a:pt x="34916" y="104057"/>
                  <a:pt x="27599" y="104057"/>
                </a:cubicBezTo>
                <a:cubicBezTo>
                  <a:pt x="12357" y="104057"/>
                  <a:pt x="0" y="91700"/>
                  <a:pt x="0" y="76457"/>
                </a:cubicBezTo>
                <a:lnTo>
                  <a:pt x="0" y="72921"/>
                </a:lnTo>
                <a:cubicBezTo>
                  <a:pt x="0" y="63654"/>
                  <a:pt x="3333" y="54671"/>
                  <a:pt x="9390" y="47598"/>
                </a:cubicBezTo>
                <a:lnTo>
                  <a:pt x="39021" y="13007"/>
                </a:lnTo>
                <a:lnTo>
                  <a:pt x="39021" y="0"/>
                </a:lnTo>
                <a:cubicBezTo>
                  <a:pt x="39021" y="-7195"/>
                  <a:pt x="44834" y="-13007"/>
                  <a:pt x="52028" y="-13007"/>
                </a:cubicBezTo>
                <a:lnTo>
                  <a:pt x="78043" y="-13007"/>
                </a:lnTo>
                <a:close/>
                <a:moveTo>
                  <a:pt x="65036" y="29266"/>
                </a:moveTo>
                <a:cubicBezTo>
                  <a:pt x="59651" y="29266"/>
                  <a:pt x="55280" y="33637"/>
                  <a:pt x="55280" y="39021"/>
                </a:cubicBezTo>
                <a:cubicBezTo>
                  <a:pt x="55280" y="44405"/>
                  <a:pt x="59651" y="48777"/>
                  <a:pt x="65036" y="48777"/>
                </a:cubicBezTo>
                <a:cubicBezTo>
                  <a:pt x="70420" y="48777"/>
                  <a:pt x="74791" y="44405"/>
                  <a:pt x="74791" y="39021"/>
                </a:cubicBezTo>
                <a:cubicBezTo>
                  <a:pt x="74791" y="33637"/>
                  <a:pt x="70420" y="29266"/>
                  <a:pt x="65036" y="2926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867141" y="346856"/>
            <a:ext cx="695446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 • TOPIC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7141" y="554970"/>
            <a:ext cx="7041183" cy="34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 4: Acting Rationally - The Rational Agent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325" y="1182780"/>
            <a:ext cx="6770636" cy="2591017"/>
          </a:xfrm>
          <a:custGeom>
            <a:avLst/>
            <a:gdLst/>
            <a:ahLst/>
            <a:cxnLst/>
            <a:rect l="l" t="t" r="r" b="b"/>
            <a:pathLst>
              <a:path w="6770636" h="2591017">
                <a:moveTo>
                  <a:pt x="104055" y="0"/>
                </a:moveTo>
                <a:lnTo>
                  <a:pt x="6666580" y="0"/>
                </a:lnTo>
                <a:cubicBezTo>
                  <a:pt x="6724048" y="0"/>
                  <a:pt x="6770636" y="46587"/>
                  <a:pt x="6770636" y="104055"/>
                </a:cubicBezTo>
                <a:lnTo>
                  <a:pt x="6770636" y="2486962"/>
                </a:lnTo>
                <a:cubicBezTo>
                  <a:pt x="6770636" y="2544391"/>
                  <a:pt x="6724010" y="2591017"/>
                  <a:pt x="6666580" y="2591017"/>
                </a:cubicBezTo>
                <a:lnTo>
                  <a:pt x="104055" y="2591017"/>
                </a:lnTo>
                <a:cubicBezTo>
                  <a:pt x="46587" y="2591017"/>
                  <a:pt x="0" y="2544430"/>
                  <a:pt x="0" y="2486962"/>
                </a:cubicBezTo>
                <a:lnTo>
                  <a:pt x="0" y="104055"/>
                </a:lnTo>
                <a:cubicBezTo>
                  <a:pt x="0" y="46587"/>
                  <a:pt x="46587" y="0"/>
                  <a:pt x="10405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1907" y="1394365"/>
            <a:ext cx="6451528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9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Making the Best Decisions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1907" y="1810482"/>
            <a:ext cx="6425514" cy="511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r>
              <a:rPr lang="en-US" sz="1229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rational agent</a:t>
            </a:r>
            <a:r>
              <a:rPr lang="en-US" sz="122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chooses actions that maximize its chances of success. It makes the best possible decision based on what it knows, like a chess player choosing the best move.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250" y="2456502"/>
            <a:ext cx="6330128" cy="1109940"/>
          </a:xfrm>
          <a:custGeom>
            <a:avLst/>
            <a:gdLst/>
            <a:ahLst/>
            <a:cxnLst/>
            <a:rect l="l" t="t" r="r" b="b"/>
            <a:pathLst>
              <a:path w="6330128" h="1109940">
                <a:moveTo>
                  <a:pt x="34686" y="0"/>
                </a:moveTo>
                <a:lnTo>
                  <a:pt x="6260757" y="0"/>
                </a:lnTo>
                <a:cubicBezTo>
                  <a:pt x="6299069" y="0"/>
                  <a:pt x="6330128" y="31059"/>
                  <a:pt x="6330128" y="69371"/>
                </a:cubicBezTo>
                <a:lnTo>
                  <a:pt x="6330128" y="1040569"/>
                </a:lnTo>
                <a:cubicBezTo>
                  <a:pt x="6330128" y="1078882"/>
                  <a:pt x="6299069" y="1109940"/>
                  <a:pt x="6260757" y="1109940"/>
                </a:cubicBezTo>
                <a:lnTo>
                  <a:pt x="34686" y="1109940"/>
                </a:lnTo>
                <a:cubicBezTo>
                  <a:pt x="15529" y="1109940"/>
                  <a:pt x="0" y="1094411"/>
                  <a:pt x="0" y="1075255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79250" y="2456502"/>
            <a:ext cx="34686" cy="1109940"/>
          </a:xfrm>
          <a:custGeom>
            <a:avLst/>
            <a:gdLst/>
            <a:ahLst/>
            <a:cxnLst/>
            <a:rect l="l" t="t" r="r" b="b"/>
            <a:pathLst>
              <a:path w="34686" h="1109940">
                <a:moveTo>
                  <a:pt x="34686" y="0"/>
                </a:moveTo>
                <a:lnTo>
                  <a:pt x="34686" y="0"/>
                </a:lnTo>
                <a:lnTo>
                  <a:pt x="34686" y="1109940"/>
                </a:lnTo>
                <a:lnTo>
                  <a:pt x="34686" y="1109940"/>
                </a:lnTo>
                <a:cubicBezTo>
                  <a:pt x="15529" y="1109940"/>
                  <a:pt x="0" y="1094411"/>
                  <a:pt x="0" y="1075255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770021" y="2629931"/>
            <a:ext cx="894564" cy="201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0021" y="2942101"/>
            <a:ext cx="6035300" cy="45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"Do the right thing" - given what you know, what you can do, and what you want to achieve, make the best choice possible.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0325" y="3923703"/>
            <a:ext cx="6770636" cy="2677731"/>
          </a:xfrm>
          <a:custGeom>
            <a:avLst/>
            <a:gdLst/>
            <a:ahLst/>
            <a:cxnLst/>
            <a:rect l="l" t="t" r="r" b="b"/>
            <a:pathLst>
              <a:path w="6770636" h="2677731">
                <a:moveTo>
                  <a:pt x="104057" y="0"/>
                </a:moveTo>
                <a:lnTo>
                  <a:pt x="6666579" y="0"/>
                </a:lnTo>
                <a:cubicBezTo>
                  <a:pt x="6724048" y="0"/>
                  <a:pt x="6770636" y="46588"/>
                  <a:pt x="6770636" y="104057"/>
                </a:cubicBezTo>
                <a:lnTo>
                  <a:pt x="6770636" y="2573674"/>
                </a:lnTo>
                <a:cubicBezTo>
                  <a:pt x="6770636" y="2631143"/>
                  <a:pt x="6724048" y="2677731"/>
                  <a:pt x="6666579" y="2677731"/>
                </a:cubicBezTo>
                <a:lnTo>
                  <a:pt x="104057" y="2677731"/>
                </a:lnTo>
                <a:cubicBezTo>
                  <a:pt x="46588" y="2677731"/>
                  <a:pt x="0" y="2631143"/>
                  <a:pt x="0" y="2573674"/>
                </a:cubicBezTo>
                <a:lnTo>
                  <a:pt x="0" y="104057"/>
                </a:lnTo>
                <a:cubicBezTo>
                  <a:pt x="0" y="46626"/>
                  <a:pt x="46626" y="0"/>
                  <a:pt x="10405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907" y="4135288"/>
            <a:ext cx="6451528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9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Makes an Agent Rational?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1907" y="4551405"/>
            <a:ext cx="277485" cy="277485"/>
          </a:xfrm>
          <a:custGeom>
            <a:avLst/>
            <a:gdLst/>
            <a:ahLst/>
            <a:cxnLst/>
            <a:rect l="l" t="t" r="r" b="b"/>
            <a:pathLst>
              <a:path w="277485" h="277485">
                <a:moveTo>
                  <a:pt x="69371" y="0"/>
                </a:moveTo>
                <a:lnTo>
                  <a:pt x="208114" y="0"/>
                </a:lnTo>
                <a:cubicBezTo>
                  <a:pt x="246426" y="0"/>
                  <a:pt x="277485" y="31059"/>
                  <a:pt x="277485" y="69371"/>
                </a:cubicBezTo>
                <a:lnTo>
                  <a:pt x="277485" y="208114"/>
                </a:lnTo>
                <a:cubicBezTo>
                  <a:pt x="277485" y="246426"/>
                  <a:pt x="246426" y="277485"/>
                  <a:pt x="208114" y="277485"/>
                </a:cubicBezTo>
                <a:lnTo>
                  <a:pt x="69371" y="277485"/>
                </a:lnTo>
                <a:cubicBezTo>
                  <a:pt x="31059" y="277485"/>
                  <a:pt x="0" y="246426"/>
                  <a:pt x="0" y="208114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1279" y="4620777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121400" y="69371"/>
                </a:moveTo>
                <a:cubicBezTo>
                  <a:pt x="121400" y="40656"/>
                  <a:pt x="98087" y="17343"/>
                  <a:pt x="69371" y="17343"/>
                </a:cubicBezTo>
                <a:cubicBezTo>
                  <a:pt x="40656" y="17343"/>
                  <a:pt x="17343" y="40656"/>
                  <a:pt x="17343" y="69371"/>
                </a:cubicBezTo>
                <a:cubicBezTo>
                  <a:pt x="17343" y="98087"/>
                  <a:pt x="40656" y="121400"/>
                  <a:pt x="69371" y="121400"/>
                </a:cubicBezTo>
                <a:cubicBezTo>
                  <a:pt x="98087" y="121400"/>
                  <a:pt x="121400" y="98087"/>
                  <a:pt x="121400" y="69371"/>
                </a:cubicBezTo>
                <a:close/>
                <a:moveTo>
                  <a:pt x="0" y="69371"/>
                </a:moveTo>
                <a:cubicBezTo>
                  <a:pt x="0" y="31084"/>
                  <a:pt x="31084" y="0"/>
                  <a:pt x="69371" y="0"/>
                </a:cubicBezTo>
                <a:cubicBezTo>
                  <a:pt x="107658" y="0"/>
                  <a:pt x="138743" y="31084"/>
                  <a:pt x="138743" y="69371"/>
                </a:cubicBezTo>
                <a:cubicBezTo>
                  <a:pt x="138743" y="107658"/>
                  <a:pt x="107658" y="138743"/>
                  <a:pt x="69371" y="138743"/>
                </a:cubicBezTo>
                <a:cubicBezTo>
                  <a:pt x="31084" y="138743"/>
                  <a:pt x="0" y="107658"/>
                  <a:pt x="0" y="69371"/>
                </a:cubicBezTo>
                <a:close/>
                <a:moveTo>
                  <a:pt x="69371" y="91050"/>
                </a:moveTo>
                <a:cubicBezTo>
                  <a:pt x="81336" y="91050"/>
                  <a:pt x="91050" y="81336"/>
                  <a:pt x="91050" y="69371"/>
                </a:cubicBezTo>
                <a:cubicBezTo>
                  <a:pt x="91050" y="57407"/>
                  <a:pt x="81336" y="47693"/>
                  <a:pt x="69371" y="47693"/>
                </a:cubicBezTo>
                <a:cubicBezTo>
                  <a:pt x="57407" y="47693"/>
                  <a:pt x="47693" y="57407"/>
                  <a:pt x="47693" y="69371"/>
                </a:cubicBezTo>
                <a:cubicBezTo>
                  <a:pt x="47693" y="81336"/>
                  <a:pt x="57407" y="91050"/>
                  <a:pt x="69371" y="91050"/>
                </a:cubicBezTo>
                <a:close/>
                <a:moveTo>
                  <a:pt x="69371" y="30350"/>
                </a:moveTo>
                <a:cubicBezTo>
                  <a:pt x="90908" y="30350"/>
                  <a:pt x="108393" y="47835"/>
                  <a:pt x="108393" y="69371"/>
                </a:cubicBezTo>
                <a:cubicBezTo>
                  <a:pt x="108393" y="90908"/>
                  <a:pt x="90908" y="108393"/>
                  <a:pt x="69371" y="108393"/>
                </a:cubicBezTo>
                <a:cubicBezTo>
                  <a:pt x="47835" y="108393"/>
                  <a:pt x="30350" y="90908"/>
                  <a:pt x="30350" y="69371"/>
                </a:cubicBezTo>
                <a:cubicBezTo>
                  <a:pt x="30350" y="47835"/>
                  <a:pt x="47835" y="30350"/>
                  <a:pt x="69371" y="30350"/>
                </a:cubicBezTo>
                <a:close/>
                <a:moveTo>
                  <a:pt x="60700" y="69371"/>
                </a:moveTo>
                <a:cubicBezTo>
                  <a:pt x="60700" y="64585"/>
                  <a:pt x="64585" y="60700"/>
                  <a:pt x="69371" y="60700"/>
                </a:cubicBezTo>
                <a:cubicBezTo>
                  <a:pt x="74157" y="60700"/>
                  <a:pt x="78043" y="64585"/>
                  <a:pt x="78043" y="69371"/>
                </a:cubicBezTo>
                <a:cubicBezTo>
                  <a:pt x="78043" y="74157"/>
                  <a:pt x="74157" y="78043"/>
                  <a:pt x="69371" y="78043"/>
                </a:cubicBezTo>
                <a:cubicBezTo>
                  <a:pt x="64585" y="78043"/>
                  <a:pt x="60700" y="74157"/>
                  <a:pt x="60700" y="69371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943449" y="4551405"/>
            <a:ext cx="1422111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Measure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3449" y="4759519"/>
            <a:ext cx="1413440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goals to achieve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1907" y="5037004"/>
            <a:ext cx="277485" cy="277485"/>
          </a:xfrm>
          <a:custGeom>
            <a:avLst/>
            <a:gdLst/>
            <a:ahLst/>
            <a:cxnLst/>
            <a:rect l="l" t="t" r="r" b="b"/>
            <a:pathLst>
              <a:path w="277485" h="277485">
                <a:moveTo>
                  <a:pt x="69371" y="0"/>
                </a:moveTo>
                <a:lnTo>
                  <a:pt x="208114" y="0"/>
                </a:lnTo>
                <a:cubicBezTo>
                  <a:pt x="246426" y="0"/>
                  <a:pt x="277485" y="31059"/>
                  <a:pt x="277485" y="69371"/>
                </a:cubicBezTo>
                <a:lnTo>
                  <a:pt x="277485" y="208114"/>
                </a:lnTo>
                <a:cubicBezTo>
                  <a:pt x="277485" y="246426"/>
                  <a:pt x="246426" y="277485"/>
                  <a:pt x="208114" y="277485"/>
                </a:cubicBezTo>
                <a:lnTo>
                  <a:pt x="69371" y="277485"/>
                </a:lnTo>
                <a:cubicBezTo>
                  <a:pt x="31059" y="277485"/>
                  <a:pt x="0" y="246426"/>
                  <a:pt x="0" y="208114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22607" y="5106376"/>
            <a:ext cx="156085" cy="138743"/>
          </a:xfrm>
          <a:custGeom>
            <a:avLst/>
            <a:gdLst/>
            <a:ahLst/>
            <a:cxnLst/>
            <a:rect l="l" t="t" r="r" b="b"/>
            <a:pathLst>
              <a:path w="156085" h="138743">
                <a:moveTo>
                  <a:pt x="78043" y="8671"/>
                </a:moveTo>
                <a:cubicBezTo>
                  <a:pt x="56147" y="8671"/>
                  <a:pt x="38615" y="18644"/>
                  <a:pt x="25852" y="30513"/>
                </a:cubicBezTo>
                <a:cubicBezTo>
                  <a:pt x="13170" y="42300"/>
                  <a:pt x="4688" y="56364"/>
                  <a:pt x="650" y="66038"/>
                </a:cubicBezTo>
                <a:cubicBezTo>
                  <a:pt x="-244" y="68179"/>
                  <a:pt x="-244" y="70564"/>
                  <a:pt x="650" y="72704"/>
                </a:cubicBezTo>
                <a:cubicBezTo>
                  <a:pt x="4688" y="82378"/>
                  <a:pt x="13170" y="96469"/>
                  <a:pt x="25852" y="108230"/>
                </a:cubicBezTo>
                <a:cubicBezTo>
                  <a:pt x="38615" y="120072"/>
                  <a:pt x="56147" y="130071"/>
                  <a:pt x="78043" y="130071"/>
                </a:cubicBezTo>
                <a:cubicBezTo>
                  <a:pt x="99938" y="130071"/>
                  <a:pt x="117470" y="120099"/>
                  <a:pt x="130234" y="108230"/>
                </a:cubicBezTo>
                <a:cubicBezTo>
                  <a:pt x="142916" y="96442"/>
                  <a:pt x="151397" y="82378"/>
                  <a:pt x="155435" y="72704"/>
                </a:cubicBezTo>
                <a:cubicBezTo>
                  <a:pt x="156329" y="70564"/>
                  <a:pt x="156329" y="68179"/>
                  <a:pt x="155435" y="66038"/>
                </a:cubicBezTo>
                <a:cubicBezTo>
                  <a:pt x="151397" y="56364"/>
                  <a:pt x="142916" y="42273"/>
                  <a:pt x="130234" y="30513"/>
                </a:cubicBezTo>
                <a:cubicBezTo>
                  <a:pt x="117470" y="18671"/>
                  <a:pt x="99938" y="8671"/>
                  <a:pt x="78043" y="8671"/>
                </a:cubicBezTo>
                <a:close/>
                <a:moveTo>
                  <a:pt x="39021" y="69371"/>
                </a:moveTo>
                <a:cubicBezTo>
                  <a:pt x="39021" y="47835"/>
                  <a:pt x="56506" y="30350"/>
                  <a:pt x="78043" y="30350"/>
                </a:cubicBezTo>
                <a:cubicBezTo>
                  <a:pt x="99579" y="30350"/>
                  <a:pt x="117064" y="47835"/>
                  <a:pt x="117064" y="69371"/>
                </a:cubicBezTo>
                <a:cubicBezTo>
                  <a:pt x="117064" y="90908"/>
                  <a:pt x="99579" y="108393"/>
                  <a:pt x="78043" y="108393"/>
                </a:cubicBezTo>
                <a:cubicBezTo>
                  <a:pt x="56506" y="108393"/>
                  <a:pt x="39021" y="90908"/>
                  <a:pt x="39021" y="69371"/>
                </a:cubicBezTo>
                <a:close/>
                <a:moveTo>
                  <a:pt x="78043" y="52028"/>
                </a:moveTo>
                <a:cubicBezTo>
                  <a:pt x="78043" y="61594"/>
                  <a:pt x="70266" y="69371"/>
                  <a:pt x="60700" y="69371"/>
                </a:cubicBezTo>
                <a:cubicBezTo>
                  <a:pt x="57584" y="69371"/>
                  <a:pt x="54657" y="68558"/>
                  <a:pt x="52110" y="67095"/>
                </a:cubicBezTo>
                <a:cubicBezTo>
                  <a:pt x="51839" y="70049"/>
                  <a:pt x="52083" y="73084"/>
                  <a:pt x="52896" y="76092"/>
                </a:cubicBezTo>
                <a:cubicBezTo>
                  <a:pt x="56608" y="89966"/>
                  <a:pt x="70889" y="98204"/>
                  <a:pt x="84763" y="94491"/>
                </a:cubicBezTo>
                <a:cubicBezTo>
                  <a:pt x="98637" y="90779"/>
                  <a:pt x="106875" y="76498"/>
                  <a:pt x="103163" y="62624"/>
                </a:cubicBezTo>
                <a:cubicBezTo>
                  <a:pt x="99857" y="50240"/>
                  <a:pt x="88123" y="42354"/>
                  <a:pt x="75766" y="43438"/>
                </a:cubicBezTo>
                <a:cubicBezTo>
                  <a:pt x="77203" y="45958"/>
                  <a:pt x="78043" y="48885"/>
                  <a:pt x="78043" y="52028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943449" y="5037004"/>
            <a:ext cx="1621553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 History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3449" y="5245118"/>
            <a:ext cx="1612882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the agent has observed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1907" y="5522603"/>
            <a:ext cx="277485" cy="277485"/>
          </a:xfrm>
          <a:custGeom>
            <a:avLst/>
            <a:gdLst/>
            <a:ahLst/>
            <a:cxnLst/>
            <a:rect l="l" t="t" r="r" b="b"/>
            <a:pathLst>
              <a:path w="277485" h="277485">
                <a:moveTo>
                  <a:pt x="69371" y="0"/>
                </a:moveTo>
                <a:lnTo>
                  <a:pt x="208114" y="0"/>
                </a:lnTo>
                <a:cubicBezTo>
                  <a:pt x="246426" y="0"/>
                  <a:pt x="277485" y="31059"/>
                  <a:pt x="277485" y="69371"/>
                </a:cubicBezTo>
                <a:lnTo>
                  <a:pt x="277485" y="208114"/>
                </a:lnTo>
                <a:cubicBezTo>
                  <a:pt x="277485" y="246426"/>
                  <a:pt x="246426" y="277485"/>
                  <a:pt x="208114" y="277485"/>
                </a:cubicBezTo>
                <a:lnTo>
                  <a:pt x="69371" y="277485"/>
                </a:lnTo>
                <a:cubicBezTo>
                  <a:pt x="31059" y="277485"/>
                  <a:pt x="0" y="246426"/>
                  <a:pt x="0" y="208114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9950" y="5591974"/>
            <a:ext cx="121400" cy="138743"/>
          </a:xfrm>
          <a:custGeom>
            <a:avLst/>
            <a:gdLst/>
            <a:ahLst/>
            <a:cxnLst/>
            <a:rect l="l" t="t" r="r" b="b"/>
            <a:pathLst>
              <a:path w="121400" h="138743">
                <a:moveTo>
                  <a:pt x="121400" y="55768"/>
                </a:moveTo>
                <a:cubicBezTo>
                  <a:pt x="117389" y="58424"/>
                  <a:pt x="112783" y="60564"/>
                  <a:pt x="107986" y="62272"/>
                </a:cubicBezTo>
                <a:cubicBezTo>
                  <a:pt x="95250" y="66824"/>
                  <a:pt x="78530" y="69371"/>
                  <a:pt x="60700" y="69371"/>
                </a:cubicBezTo>
                <a:cubicBezTo>
                  <a:pt x="42869" y="69371"/>
                  <a:pt x="26123" y="66797"/>
                  <a:pt x="13414" y="62272"/>
                </a:cubicBezTo>
                <a:cubicBezTo>
                  <a:pt x="8644" y="60564"/>
                  <a:pt x="4011" y="58424"/>
                  <a:pt x="0" y="55768"/>
                </a:cubicBezTo>
                <a:lnTo>
                  <a:pt x="0" y="78043"/>
                </a:lnTo>
                <a:cubicBezTo>
                  <a:pt x="0" y="90020"/>
                  <a:pt x="27179" y="99721"/>
                  <a:pt x="60700" y="99721"/>
                </a:cubicBezTo>
                <a:cubicBezTo>
                  <a:pt x="94220" y="99721"/>
                  <a:pt x="121400" y="90020"/>
                  <a:pt x="121400" y="78043"/>
                </a:cubicBezTo>
                <a:lnTo>
                  <a:pt x="121400" y="55768"/>
                </a:lnTo>
                <a:close/>
                <a:moveTo>
                  <a:pt x="121400" y="34686"/>
                </a:moveTo>
                <a:lnTo>
                  <a:pt x="121400" y="21679"/>
                </a:lnTo>
                <a:cubicBezTo>
                  <a:pt x="121400" y="9701"/>
                  <a:pt x="94220" y="0"/>
                  <a:pt x="60700" y="0"/>
                </a:cubicBezTo>
                <a:cubicBezTo>
                  <a:pt x="27179" y="0"/>
                  <a:pt x="0" y="9701"/>
                  <a:pt x="0" y="21679"/>
                </a:cubicBezTo>
                <a:lnTo>
                  <a:pt x="0" y="34686"/>
                </a:lnTo>
                <a:cubicBezTo>
                  <a:pt x="0" y="46663"/>
                  <a:pt x="27179" y="56364"/>
                  <a:pt x="60700" y="56364"/>
                </a:cubicBezTo>
                <a:cubicBezTo>
                  <a:pt x="94220" y="56364"/>
                  <a:pt x="121400" y="46663"/>
                  <a:pt x="121400" y="34686"/>
                </a:cubicBezTo>
                <a:close/>
                <a:moveTo>
                  <a:pt x="107986" y="105629"/>
                </a:moveTo>
                <a:cubicBezTo>
                  <a:pt x="95277" y="110154"/>
                  <a:pt x="78558" y="112728"/>
                  <a:pt x="60700" y="112728"/>
                </a:cubicBezTo>
                <a:cubicBezTo>
                  <a:pt x="42842" y="112728"/>
                  <a:pt x="26123" y="110154"/>
                  <a:pt x="13414" y="105629"/>
                </a:cubicBezTo>
                <a:cubicBezTo>
                  <a:pt x="8644" y="103921"/>
                  <a:pt x="4011" y="101781"/>
                  <a:pt x="0" y="99125"/>
                </a:cubicBezTo>
                <a:lnTo>
                  <a:pt x="0" y="117064"/>
                </a:lnTo>
                <a:cubicBezTo>
                  <a:pt x="0" y="129041"/>
                  <a:pt x="27179" y="138743"/>
                  <a:pt x="60700" y="138743"/>
                </a:cubicBezTo>
                <a:cubicBezTo>
                  <a:pt x="94220" y="138743"/>
                  <a:pt x="121400" y="129041"/>
                  <a:pt x="121400" y="117064"/>
                </a:cubicBezTo>
                <a:lnTo>
                  <a:pt x="121400" y="99125"/>
                </a:lnTo>
                <a:cubicBezTo>
                  <a:pt x="117389" y="101781"/>
                  <a:pt x="112783" y="103921"/>
                  <a:pt x="107986" y="105629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943449" y="5522603"/>
            <a:ext cx="1673582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Knowledge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3449" y="5730717"/>
            <a:ext cx="1664910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the agent already knows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1907" y="6008202"/>
            <a:ext cx="277485" cy="277485"/>
          </a:xfrm>
          <a:custGeom>
            <a:avLst/>
            <a:gdLst/>
            <a:ahLst/>
            <a:cxnLst/>
            <a:rect l="l" t="t" r="r" b="b"/>
            <a:pathLst>
              <a:path w="277485" h="277485">
                <a:moveTo>
                  <a:pt x="69371" y="0"/>
                </a:moveTo>
                <a:lnTo>
                  <a:pt x="208114" y="0"/>
                </a:lnTo>
                <a:cubicBezTo>
                  <a:pt x="246426" y="0"/>
                  <a:pt x="277485" y="31059"/>
                  <a:pt x="277485" y="69371"/>
                </a:cubicBezTo>
                <a:lnTo>
                  <a:pt x="277485" y="208114"/>
                </a:lnTo>
                <a:cubicBezTo>
                  <a:pt x="277485" y="246426"/>
                  <a:pt x="246426" y="277485"/>
                  <a:pt x="208114" y="277485"/>
                </a:cubicBezTo>
                <a:lnTo>
                  <a:pt x="69371" y="277485"/>
                </a:lnTo>
                <a:cubicBezTo>
                  <a:pt x="31059" y="277485"/>
                  <a:pt x="0" y="246426"/>
                  <a:pt x="0" y="208114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9950" y="6077573"/>
            <a:ext cx="121400" cy="138743"/>
          </a:xfrm>
          <a:custGeom>
            <a:avLst/>
            <a:gdLst/>
            <a:ahLst/>
            <a:cxnLst/>
            <a:rect l="l" t="t" r="r" b="b"/>
            <a:pathLst>
              <a:path w="121400" h="138743">
                <a:moveTo>
                  <a:pt x="34686" y="10839"/>
                </a:moveTo>
                <a:cubicBezTo>
                  <a:pt x="34686" y="4851"/>
                  <a:pt x="39536" y="0"/>
                  <a:pt x="45525" y="0"/>
                </a:cubicBezTo>
                <a:cubicBezTo>
                  <a:pt x="51514" y="0"/>
                  <a:pt x="56364" y="4851"/>
                  <a:pt x="56364" y="10839"/>
                </a:cubicBezTo>
                <a:lnTo>
                  <a:pt x="56364" y="50999"/>
                </a:lnTo>
                <a:cubicBezTo>
                  <a:pt x="58667" y="48939"/>
                  <a:pt x="61702" y="47693"/>
                  <a:pt x="65036" y="47693"/>
                </a:cubicBezTo>
                <a:cubicBezTo>
                  <a:pt x="70618" y="47693"/>
                  <a:pt x="75387" y="51216"/>
                  <a:pt x="77230" y="56147"/>
                </a:cubicBezTo>
                <a:cubicBezTo>
                  <a:pt x="79614" y="53627"/>
                  <a:pt x="82975" y="52028"/>
                  <a:pt x="86714" y="52028"/>
                </a:cubicBezTo>
                <a:cubicBezTo>
                  <a:pt x="93570" y="52028"/>
                  <a:pt x="99179" y="57313"/>
                  <a:pt x="99694" y="64033"/>
                </a:cubicBezTo>
                <a:cubicBezTo>
                  <a:pt x="101997" y="61946"/>
                  <a:pt x="105060" y="60700"/>
                  <a:pt x="108393" y="60700"/>
                </a:cubicBezTo>
                <a:cubicBezTo>
                  <a:pt x="115574" y="60700"/>
                  <a:pt x="121400" y="66526"/>
                  <a:pt x="121400" y="73707"/>
                </a:cubicBezTo>
                <a:lnTo>
                  <a:pt x="121400" y="104057"/>
                </a:lnTo>
                <a:cubicBezTo>
                  <a:pt x="121400" y="123215"/>
                  <a:pt x="105872" y="138743"/>
                  <a:pt x="86714" y="138743"/>
                </a:cubicBezTo>
                <a:lnTo>
                  <a:pt x="63599" y="138743"/>
                </a:lnTo>
                <a:cubicBezTo>
                  <a:pt x="62244" y="138743"/>
                  <a:pt x="60917" y="138661"/>
                  <a:pt x="59616" y="138472"/>
                </a:cubicBezTo>
                <a:cubicBezTo>
                  <a:pt x="44631" y="136954"/>
                  <a:pt x="30838" y="129258"/>
                  <a:pt x="21679" y="117064"/>
                </a:cubicBezTo>
                <a:lnTo>
                  <a:pt x="2168" y="91050"/>
                </a:lnTo>
                <a:cubicBezTo>
                  <a:pt x="-1436" y="86253"/>
                  <a:pt x="-461" y="79479"/>
                  <a:pt x="4336" y="75875"/>
                </a:cubicBezTo>
                <a:cubicBezTo>
                  <a:pt x="9132" y="72271"/>
                  <a:pt x="15907" y="73246"/>
                  <a:pt x="19511" y="78043"/>
                </a:cubicBezTo>
                <a:lnTo>
                  <a:pt x="34686" y="98285"/>
                </a:lnTo>
                <a:lnTo>
                  <a:pt x="34686" y="10839"/>
                </a:lnTo>
                <a:close/>
                <a:moveTo>
                  <a:pt x="65036" y="82378"/>
                </a:moveTo>
                <a:cubicBezTo>
                  <a:pt x="65036" y="79994"/>
                  <a:pt x="63084" y="78043"/>
                  <a:pt x="60700" y="78043"/>
                </a:cubicBezTo>
                <a:cubicBezTo>
                  <a:pt x="58315" y="78043"/>
                  <a:pt x="56364" y="79994"/>
                  <a:pt x="56364" y="82378"/>
                </a:cubicBezTo>
                <a:lnTo>
                  <a:pt x="56364" y="108393"/>
                </a:lnTo>
                <a:cubicBezTo>
                  <a:pt x="56364" y="110777"/>
                  <a:pt x="58315" y="112728"/>
                  <a:pt x="60700" y="112728"/>
                </a:cubicBezTo>
                <a:cubicBezTo>
                  <a:pt x="63084" y="112728"/>
                  <a:pt x="65036" y="110777"/>
                  <a:pt x="65036" y="108393"/>
                </a:cubicBezTo>
                <a:lnTo>
                  <a:pt x="65036" y="82378"/>
                </a:lnTo>
                <a:close/>
                <a:moveTo>
                  <a:pt x="78043" y="78043"/>
                </a:moveTo>
                <a:cubicBezTo>
                  <a:pt x="75658" y="78043"/>
                  <a:pt x="73707" y="79994"/>
                  <a:pt x="73707" y="82378"/>
                </a:cubicBezTo>
                <a:lnTo>
                  <a:pt x="73707" y="108393"/>
                </a:lnTo>
                <a:cubicBezTo>
                  <a:pt x="73707" y="110777"/>
                  <a:pt x="75658" y="112728"/>
                  <a:pt x="78043" y="112728"/>
                </a:cubicBezTo>
                <a:cubicBezTo>
                  <a:pt x="80427" y="112728"/>
                  <a:pt x="82378" y="110777"/>
                  <a:pt x="82378" y="108393"/>
                </a:cubicBezTo>
                <a:lnTo>
                  <a:pt x="82378" y="82378"/>
                </a:lnTo>
                <a:cubicBezTo>
                  <a:pt x="82378" y="79994"/>
                  <a:pt x="80427" y="78043"/>
                  <a:pt x="78043" y="78043"/>
                </a:cubicBezTo>
                <a:close/>
                <a:moveTo>
                  <a:pt x="99721" y="82378"/>
                </a:moveTo>
                <a:cubicBezTo>
                  <a:pt x="99721" y="79994"/>
                  <a:pt x="97770" y="78043"/>
                  <a:pt x="95385" y="78043"/>
                </a:cubicBezTo>
                <a:cubicBezTo>
                  <a:pt x="93001" y="78043"/>
                  <a:pt x="91050" y="79994"/>
                  <a:pt x="91050" y="82378"/>
                </a:cubicBezTo>
                <a:lnTo>
                  <a:pt x="91050" y="108393"/>
                </a:lnTo>
                <a:cubicBezTo>
                  <a:pt x="91050" y="110777"/>
                  <a:pt x="93001" y="112728"/>
                  <a:pt x="95385" y="112728"/>
                </a:cubicBezTo>
                <a:cubicBezTo>
                  <a:pt x="97770" y="112728"/>
                  <a:pt x="99721" y="110777"/>
                  <a:pt x="99721" y="108393"/>
                </a:cubicBezTo>
                <a:lnTo>
                  <a:pt x="99721" y="82378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943449" y="6008202"/>
            <a:ext cx="1266026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Actions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3449" y="6216316"/>
            <a:ext cx="1257354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the agent can do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33627" y="1182780"/>
            <a:ext cx="4507398" cy="5417896"/>
          </a:xfrm>
          <a:custGeom>
            <a:avLst/>
            <a:gdLst/>
            <a:ahLst/>
            <a:cxnLst/>
            <a:rect l="l" t="t" r="r" b="b"/>
            <a:pathLst>
              <a:path w="4507398" h="5417896">
                <a:moveTo>
                  <a:pt x="104076" y="0"/>
                </a:moveTo>
                <a:lnTo>
                  <a:pt x="4403322" y="0"/>
                </a:lnTo>
                <a:cubicBezTo>
                  <a:pt x="4460802" y="0"/>
                  <a:pt x="4507398" y="46596"/>
                  <a:pt x="4507398" y="104076"/>
                </a:cubicBezTo>
                <a:lnTo>
                  <a:pt x="4507398" y="5313820"/>
                </a:lnTo>
                <a:cubicBezTo>
                  <a:pt x="4507398" y="5371300"/>
                  <a:pt x="4460802" y="5417896"/>
                  <a:pt x="4403322" y="5417896"/>
                </a:cubicBezTo>
                <a:lnTo>
                  <a:pt x="104076" y="5417896"/>
                </a:lnTo>
                <a:cubicBezTo>
                  <a:pt x="46596" y="5417896"/>
                  <a:pt x="0" y="5371300"/>
                  <a:pt x="0" y="5313820"/>
                </a:cubicBezTo>
                <a:lnTo>
                  <a:pt x="0" y="104076"/>
                </a:lnTo>
                <a:cubicBezTo>
                  <a:pt x="0" y="46635"/>
                  <a:pt x="46635" y="0"/>
                  <a:pt x="10407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0523" y="1359679"/>
            <a:ext cx="4257661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9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10523" y="1775797"/>
            <a:ext cx="4153605" cy="2393309"/>
          </a:xfrm>
          <a:custGeom>
            <a:avLst/>
            <a:gdLst/>
            <a:ahLst/>
            <a:cxnLst/>
            <a:rect l="l" t="t" r="r" b="b"/>
            <a:pathLst>
              <a:path w="4153605" h="2393309">
                <a:moveTo>
                  <a:pt x="69382" y="0"/>
                </a:moveTo>
                <a:lnTo>
                  <a:pt x="4084223" y="0"/>
                </a:lnTo>
                <a:cubicBezTo>
                  <a:pt x="4122541" y="0"/>
                  <a:pt x="4153605" y="31063"/>
                  <a:pt x="4153605" y="69382"/>
                </a:cubicBezTo>
                <a:lnTo>
                  <a:pt x="4153605" y="2323927"/>
                </a:lnTo>
                <a:cubicBezTo>
                  <a:pt x="4153605" y="2362245"/>
                  <a:pt x="4122541" y="2393309"/>
                  <a:pt x="4084223" y="2393309"/>
                </a:cubicBezTo>
                <a:lnTo>
                  <a:pt x="69382" y="2393309"/>
                </a:lnTo>
                <a:cubicBezTo>
                  <a:pt x="31063" y="2393309"/>
                  <a:pt x="0" y="2362245"/>
                  <a:pt x="0" y="2323927"/>
                </a:cubicBezTo>
                <a:lnTo>
                  <a:pt x="0" y="69382"/>
                </a:lnTo>
                <a:cubicBezTo>
                  <a:pt x="0" y="31089"/>
                  <a:pt x="31089" y="0"/>
                  <a:pt x="6938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34" name="Image 0" descr="https://bernardmarr.com/img/5%20Ways%20Self-Driving%20Cars%20Could%20Make%20Our%20World%20And%20Our%20Lives%20Bet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266" y="1914539"/>
            <a:ext cx="3876119" cy="1248683"/>
          </a:xfrm>
          <a:prstGeom prst="roundRect">
            <a:avLst>
              <a:gd name="adj" fmla="val 5556"/>
            </a:avLst>
          </a:prstGeom>
        </p:spPr>
      </p:pic>
      <p:sp>
        <p:nvSpPr>
          <p:cNvPr id="35" name="Text 32"/>
          <p:cNvSpPr/>
          <p:nvPr/>
        </p:nvSpPr>
        <p:spPr>
          <a:xfrm>
            <a:off x="7649266" y="3267279"/>
            <a:ext cx="3954162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Self-Driving Cars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649266" y="3579450"/>
            <a:ext cx="3945491" cy="45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self-driving car uses sensors to perceive the road, then makes rational decisions to reach its destination safely and efficiently.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513992" y="4311321"/>
            <a:ext cx="4151870" cy="908764"/>
          </a:xfrm>
          <a:custGeom>
            <a:avLst/>
            <a:gdLst/>
            <a:ahLst/>
            <a:cxnLst/>
            <a:rect l="l" t="t" r="r" b="b"/>
            <a:pathLst>
              <a:path w="4151870" h="908764">
                <a:moveTo>
                  <a:pt x="69375" y="0"/>
                </a:moveTo>
                <a:lnTo>
                  <a:pt x="4082495" y="0"/>
                </a:lnTo>
                <a:cubicBezTo>
                  <a:pt x="4120810" y="0"/>
                  <a:pt x="4151870" y="31060"/>
                  <a:pt x="4151870" y="69375"/>
                </a:cubicBezTo>
                <a:lnTo>
                  <a:pt x="4151870" y="839389"/>
                </a:lnTo>
                <a:cubicBezTo>
                  <a:pt x="4151870" y="877703"/>
                  <a:pt x="4120810" y="908764"/>
                  <a:pt x="4082495" y="908764"/>
                </a:cubicBezTo>
                <a:lnTo>
                  <a:pt x="69375" y="908764"/>
                </a:lnTo>
                <a:cubicBezTo>
                  <a:pt x="31086" y="908764"/>
                  <a:pt x="0" y="877678"/>
                  <a:pt x="0" y="839389"/>
                </a:cubicBezTo>
                <a:lnTo>
                  <a:pt x="0" y="69375"/>
                </a:lnTo>
                <a:cubicBezTo>
                  <a:pt x="0" y="31086"/>
                  <a:pt x="31086" y="0"/>
                  <a:pt x="69375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656203" y="4453530"/>
            <a:ext cx="1641389" cy="201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Approach Wins: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656203" y="4731015"/>
            <a:ext cx="3928148" cy="34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It's more general and scientific than the others. Modern AI mostly uses this approach because it's practical and measurable.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6725" y="5715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2774" y="27861"/>
                </a:moveTo>
                <a:cubicBezTo>
                  <a:pt x="45318" y="25360"/>
                  <a:pt x="41255" y="17234"/>
                  <a:pt x="43755" y="9778"/>
                </a:cubicBezTo>
                <a:cubicBezTo>
                  <a:pt x="46256" y="2322"/>
                  <a:pt x="54337" y="-1741"/>
                  <a:pt x="61838" y="714"/>
                </a:cubicBezTo>
                <a:lnTo>
                  <a:pt x="112291" y="17547"/>
                </a:lnTo>
                <a:cubicBezTo>
                  <a:pt x="118497" y="7054"/>
                  <a:pt x="129972" y="0"/>
                  <a:pt x="143054" y="0"/>
                </a:cubicBezTo>
                <a:cubicBezTo>
                  <a:pt x="162788" y="0"/>
                  <a:pt x="178772" y="15984"/>
                  <a:pt x="178772" y="35719"/>
                </a:cubicBezTo>
                <a:cubicBezTo>
                  <a:pt x="178772" y="37058"/>
                  <a:pt x="178683" y="38353"/>
                  <a:pt x="178549" y="39648"/>
                </a:cubicBezTo>
                <a:lnTo>
                  <a:pt x="233288" y="57909"/>
                </a:lnTo>
                <a:cubicBezTo>
                  <a:pt x="240789" y="60409"/>
                  <a:pt x="244807" y="68491"/>
                  <a:pt x="242307" y="75992"/>
                </a:cubicBezTo>
                <a:cubicBezTo>
                  <a:pt x="239807" y="83493"/>
                  <a:pt x="231725" y="87511"/>
                  <a:pt x="224224" y="85011"/>
                </a:cubicBezTo>
                <a:lnTo>
                  <a:pt x="163726" y="64830"/>
                </a:lnTo>
                <a:cubicBezTo>
                  <a:pt x="161717" y="66258"/>
                  <a:pt x="159574" y="67464"/>
                  <a:pt x="157296" y="68491"/>
                </a:cubicBezTo>
                <a:lnTo>
                  <a:pt x="157296" y="214357"/>
                </a:lnTo>
                <a:cubicBezTo>
                  <a:pt x="157296" y="222260"/>
                  <a:pt x="150912" y="228645"/>
                  <a:pt x="143009" y="228645"/>
                </a:cubicBezTo>
                <a:lnTo>
                  <a:pt x="57284" y="228645"/>
                </a:lnTo>
                <a:cubicBezTo>
                  <a:pt x="49381" y="228645"/>
                  <a:pt x="42996" y="222260"/>
                  <a:pt x="42996" y="214357"/>
                </a:cubicBezTo>
                <a:cubicBezTo>
                  <a:pt x="42996" y="206454"/>
                  <a:pt x="49381" y="200070"/>
                  <a:pt x="57284" y="200070"/>
                </a:cubicBezTo>
                <a:lnTo>
                  <a:pt x="128721" y="200070"/>
                </a:lnTo>
                <a:lnTo>
                  <a:pt x="128721" y="68491"/>
                </a:lnTo>
                <a:cubicBezTo>
                  <a:pt x="119345" y="64383"/>
                  <a:pt x="112112" y="56436"/>
                  <a:pt x="108987" y="46613"/>
                </a:cubicBezTo>
                <a:lnTo>
                  <a:pt x="52774" y="27861"/>
                </a:lnTo>
                <a:close/>
                <a:moveTo>
                  <a:pt x="89654" y="128588"/>
                </a:moveTo>
                <a:lnTo>
                  <a:pt x="57284" y="73134"/>
                </a:lnTo>
                <a:lnTo>
                  <a:pt x="24958" y="128588"/>
                </a:lnTo>
                <a:lnTo>
                  <a:pt x="89654" y="128588"/>
                </a:lnTo>
                <a:close/>
                <a:moveTo>
                  <a:pt x="57329" y="171450"/>
                </a:moveTo>
                <a:cubicBezTo>
                  <a:pt x="29245" y="171450"/>
                  <a:pt x="5894" y="156270"/>
                  <a:pt x="1072" y="136222"/>
                </a:cubicBezTo>
                <a:cubicBezTo>
                  <a:pt x="-89" y="131311"/>
                  <a:pt x="1518" y="126266"/>
                  <a:pt x="4063" y="121890"/>
                </a:cubicBezTo>
                <a:lnTo>
                  <a:pt x="46568" y="49024"/>
                </a:lnTo>
                <a:cubicBezTo>
                  <a:pt x="48801" y="45184"/>
                  <a:pt x="52908" y="42863"/>
                  <a:pt x="57329" y="42863"/>
                </a:cubicBezTo>
                <a:cubicBezTo>
                  <a:pt x="61749" y="42863"/>
                  <a:pt x="65856" y="45229"/>
                  <a:pt x="68089" y="49024"/>
                </a:cubicBezTo>
                <a:lnTo>
                  <a:pt x="110594" y="121890"/>
                </a:lnTo>
                <a:cubicBezTo>
                  <a:pt x="113139" y="126266"/>
                  <a:pt x="114746" y="131311"/>
                  <a:pt x="113586" y="136222"/>
                </a:cubicBezTo>
                <a:cubicBezTo>
                  <a:pt x="108764" y="156225"/>
                  <a:pt x="85412" y="171450"/>
                  <a:pt x="57329" y="171450"/>
                </a:cubicBezTo>
                <a:close/>
                <a:moveTo>
                  <a:pt x="228243" y="130284"/>
                </a:moveTo>
                <a:lnTo>
                  <a:pt x="195917" y="185738"/>
                </a:lnTo>
                <a:lnTo>
                  <a:pt x="260613" y="185738"/>
                </a:lnTo>
                <a:lnTo>
                  <a:pt x="228287" y="130284"/>
                </a:lnTo>
                <a:close/>
                <a:moveTo>
                  <a:pt x="284500" y="193372"/>
                </a:moveTo>
                <a:cubicBezTo>
                  <a:pt x="279678" y="213420"/>
                  <a:pt x="256327" y="228600"/>
                  <a:pt x="228243" y="228600"/>
                </a:cubicBezTo>
                <a:cubicBezTo>
                  <a:pt x="200159" y="228600"/>
                  <a:pt x="176808" y="213420"/>
                  <a:pt x="171986" y="193372"/>
                </a:cubicBezTo>
                <a:cubicBezTo>
                  <a:pt x="170825" y="188461"/>
                  <a:pt x="172432" y="183416"/>
                  <a:pt x="174977" y="179040"/>
                </a:cubicBezTo>
                <a:lnTo>
                  <a:pt x="217483" y="106174"/>
                </a:lnTo>
                <a:cubicBezTo>
                  <a:pt x="219715" y="102334"/>
                  <a:pt x="223823" y="100013"/>
                  <a:pt x="228243" y="100013"/>
                </a:cubicBezTo>
                <a:cubicBezTo>
                  <a:pt x="232663" y="100013"/>
                  <a:pt x="236771" y="102379"/>
                  <a:pt x="239003" y="106174"/>
                </a:cubicBezTo>
                <a:lnTo>
                  <a:pt x="281508" y="179040"/>
                </a:lnTo>
                <a:cubicBezTo>
                  <a:pt x="284053" y="183416"/>
                  <a:pt x="285661" y="188461"/>
                  <a:pt x="284500" y="19337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 • TOPIC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5067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the Four Approaches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strengths and weaknesses of each approach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1565910"/>
            <a:ext cx="11418570" cy="3179445"/>
          </a:xfrm>
          <a:custGeom>
            <a:avLst/>
            <a:gdLst/>
            <a:ahLst/>
            <a:cxnLst/>
            <a:rect l="l" t="t" r="r" b="b"/>
            <a:pathLst>
              <a:path w="11418570" h="3179445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3065144"/>
                </a:lnTo>
                <a:cubicBezTo>
                  <a:pt x="11418570" y="3128271"/>
                  <a:pt x="11367396" y="3179445"/>
                  <a:pt x="11304269" y="3179445"/>
                </a:cubicBezTo>
                <a:lnTo>
                  <a:pt x="114301" y="3179445"/>
                </a:lnTo>
                <a:cubicBezTo>
                  <a:pt x="51174" y="3179445"/>
                  <a:pt x="0" y="3128271"/>
                  <a:pt x="0" y="306514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9120" y="1760218"/>
          <a:ext cx="11029950" cy="2324100"/>
        </p:xfrm>
        <a:graphic>
          <a:graphicData uri="http://schemas.openxmlformats.org/drawingml/2006/table">
            <a:tbl>
              <a:tblPr/>
              <a:tblGrid>
                <a:gridCol w="236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4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3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6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636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Approach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636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Focus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636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Example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636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Strength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636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Weakness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FEFE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Acting Humanly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External behavior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Chatbots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Easy to test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May not understand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636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FEFE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Thinking Humanly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Internal processes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Neural networks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Scientific insights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Hard to verify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FEFE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Thinking Rationally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Logical reasoning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Expert systems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Clear and precise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Limited flexibility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FEFE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Acting Rationally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Optimal decisions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Self-driving cars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General and practical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Complex to implement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84810" y="4903474"/>
            <a:ext cx="5627370" cy="1569720"/>
          </a:xfrm>
          <a:custGeom>
            <a:avLst/>
            <a:gdLst/>
            <a:ahLst/>
            <a:cxnLst/>
            <a:rect l="l" t="t" r="r" b="b"/>
            <a:pathLst>
              <a:path w="5627370" h="1569720">
                <a:moveTo>
                  <a:pt x="114307" y="0"/>
                </a:moveTo>
                <a:lnTo>
                  <a:pt x="5513063" y="0"/>
                </a:lnTo>
                <a:cubicBezTo>
                  <a:pt x="5576193" y="0"/>
                  <a:pt x="5627370" y="51177"/>
                  <a:pt x="5627370" y="114307"/>
                </a:cubicBezTo>
                <a:lnTo>
                  <a:pt x="5627370" y="1455413"/>
                </a:lnTo>
                <a:cubicBezTo>
                  <a:pt x="5627370" y="1518543"/>
                  <a:pt x="5576193" y="1569720"/>
                  <a:pt x="5513063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8170" y="507873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941070" y="5059682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Modern Approach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1020" y="5402582"/>
            <a:ext cx="53911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AI systems often </a:t>
            </a: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 multiple approaches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using just one. For example, ChatGPT uses neural networks (thinking humanly) to generate human-like responses (acting humanly) while making logical decisions (acting rationally).</a:t>
            </a:r>
            <a:endParaRPr lang="en-US" sz="1600" dirty="0"/>
          </a:p>
        </p:txBody>
      </p:sp>
      <p:sp>
        <p:nvSpPr>
          <p:cNvPr id="8" name="Shape 10"/>
          <p:cNvSpPr/>
          <p:nvPr/>
        </p:nvSpPr>
        <p:spPr>
          <a:xfrm>
            <a:off x="6176010" y="4903474"/>
            <a:ext cx="5627370" cy="1569720"/>
          </a:xfrm>
          <a:custGeom>
            <a:avLst/>
            <a:gdLst/>
            <a:ahLst/>
            <a:cxnLst/>
            <a:rect l="l" t="t" r="r" b="b"/>
            <a:pathLst>
              <a:path w="5627370" h="1569720">
                <a:moveTo>
                  <a:pt x="114307" y="0"/>
                </a:moveTo>
                <a:lnTo>
                  <a:pt x="5513063" y="0"/>
                </a:lnTo>
                <a:cubicBezTo>
                  <a:pt x="5576193" y="0"/>
                  <a:pt x="5627370" y="51177"/>
                  <a:pt x="5627370" y="114307"/>
                </a:cubicBezTo>
                <a:lnTo>
                  <a:pt x="5627370" y="1455413"/>
                </a:lnTo>
                <a:cubicBezTo>
                  <a:pt x="5627370" y="1518543"/>
                  <a:pt x="5576193" y="1569720"/>
                  <a:pt x="5513063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60795" y="50787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732270" y="5059682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Popular Today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32220" y="5402582"/>
            <a:ext cx="539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Acting Rationally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most widely used approach in modern AI because it's practical, measurable, and can be applied to real-world problems effectively.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humbs.dreamstime.com/b/ai-technology-black-background-futuristic-blue-glowing-hologram-empty-space-dark-artificial-intelligence-concept-text-390300703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/>
              </a:gs>
              <a:gs pos="50000">
                <a:srgbClr val="191919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029779"/>
            <a:ext cx="1893570" cy="388620"/>
          </a:xfrm>
          <a:custGeom>
            <a:avLst/>
            <a:gdLst/>
            <a:ahLst/>
            <a:cxnLst/>
            <a:rect l="l" t="t" r="r" b="b"/>
            <a:pathLst>
              <a:path w="1893570" h="388620">
                <a:moveTo>
                  <a:pt x="194310" y="0"/>
                </a:moveTo>
                <a:lnTo>
                  <a:pt x="1699260" y="0"/>
                </a:lnTo>
                <a:cubicBezTo>
                  <a:pt x="1806574" y="0"/>
                  <a:pt x="1893570" y="86996"/>
                  <a:pt x="1893570" y="194310"/>
                </a:cubicBezTo>
                <a:lnTo>
                  <a:pt x="1893570" y="194310"/>
                </a:lnTo>
                <a:cubicBezTo>
                  <a:pt x="1893570" y="301624"/>
                  <a:pt x="1806574" y="388620"/>
                  <a:pt x="169926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2109788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2 • LECTURE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50806"/>
            <a:ext cx="76009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Foundations of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517581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building blocks from philosophy, mathematics, psychology, and engineering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7963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1447800" y="4565331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Topics • 60 Minutes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3875" y="5715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749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• TOPIC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7591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Foundations of AI: Many Fields Working Together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11418570" cy="2493645"/>
          </a:xfrm>
          <a:custGeom>
            <a:avLst/>
            <a:gdLst/>
            <a:ahLst/>
            <a:cxnLst/>
            <a:rect l="l" t="t" r="r" b="b"/>
            <a:pathLst>
              <a:path w="11418570" h="2493645">
                <a:moveTo>
                  <a:pt x="114309" y="0"/>
                </a:moveTo>
                <a:lnTo>
                  <a:pt x="11304261" y="0"/>
                </a:lnTo>
                <a:cubicBezTo>
                  <a:pt x="11367392" y="0"/>
                  <a:pt x="11418570" y="51178"/>
                  <a:pt x="11418570" y="114309"/>
                </a:cubicBezTo>
                <a:lnTo>
                  <a:pt x="11418570" y="2379336"/>
                </a:lnTo>
                <a:cubicBezTo>
                  <a:pt x="11418570" y="2442467"/>
                  <a:pt x="11367392" y="2493645"/>
                  <a:pt x="11304261" y="2493645"/>
                </a:cubicBezTo>
                <a:lnTo>
                  <a:pt x="114309" y="2493645"/>
                </a:lnTo>
                <a:cubicBezTo>
                  <a:pt x="51178" y="2493645"/>
                  <a:pt x="0" y="2442467"/>
                  <a:pt x="0" y="23793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" y="1531618"/>
            <a:ext cx="11049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didn't appear out of nowhere! Just like a tall building needs a </a:t>
            </a: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foundation</a:t>
            </a: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AI was built using knowledge from many different fields.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6270" y="2303143"/>
            <a:ext cx="10934700" cy="1257300"/>
          </a:xfrm>
          <a:custGeom>
            <a:avLst/>
            <a:gdLst/>
            <a:ahLst/>
            <a:cxnLst/>
            <a:rect l="l" t="t" r="r" b="b"/>
            <a:pathLst>
              <a:path w="10934700" h="1257300">
                <a:moveTo>
                  <a:pt x="38100" y="0"/>
                </a:moveTo>
                <a:lnTo>
                  <a:pt x="10858495" y="0"/>
                </a:lnTo>
                <a:cubicBezTo>
                  <a:pt x="10900582" y="0"/>
                  <a:pt x="10934700" y="34118"/>
                  <a:pt x="10934700" y="76205"/>
                </a:cubicBezTo>
                <a:lnTo>
                  <a:pt x="10934700" y="1181095"/>
                </a:lnTo>
                <a:cubicBezTo>
                  <a:pt x="10934700" y="1223182"/>
                  <a:pt x="10900582" y="1257300"/>
                  <a:pt x="1085849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9" name="Shape 7"/>
          <p:cNvSpPr/>
          <p:nvPr/>
        </p:nvSpPr>
        <p:spPr>
          <a:xfrm>
            <a:off x="636270" y="2303143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" y="2501271"/>
            <a:ext cx="204085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 Building a House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820" y="2874643"/>
            <a:ext cx="10610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need architects (philosophers), engineers (mathematicians), interior designers (psychologists), and construction workers (computer engineers) all working together to build a great house!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20" y="3956691"/>
            <a:ext cx="2729865" cy="2872740"/>
          </a:xfrm>
          <a:custGeom>
            <a:avLst/>
            <a:gdLst/>
            <a:ahLst/>
            <a:cxnLst/>
            <a:rect l="l" t="t" r="r" b="b"/>
            <a:pathLst>
              <a:path w="2729865" h="2872740">
                <a:moveTo>
                  <a:pt x="114299" y="0"/>
                </a:moveTo>
                <a:lnTo>
                  <a:pt x="2615566" y="0"/>
                </a:lnTo>
                <a:cubicBezTo>
                  <a:pt x="2678691" y="0"/>
                  <a:pt x="2729865" y="51174"/>
                  <a:pt x="2729865" y="114299"/>
                </a:cubicBezTo>
                <a:lnTo>
                  <a:pt x="2729865" y="2758441"/>
                </a:lnTo>
                <a:cubicBezTo>
                  <a:pt x="2729865" y="2821566"/>
                  <a:pt x="2678691" y="2872740"/>
                  <a:pt x="2615566" y="2872740"/>
                </a:cubicBezTo>
                <a:lnTo>
                  <a:pt x="114299" y="2872740"/>
                </a:lnTo>
                <a:cubicBezTo>
                  <a:pt x="51174" y="2872740"/>
                  <a:pt x="0" y="2821566"/>
                  <a:pt x="0" y="275844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7800" y="415480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12106" y="431673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240274" y="4916807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Philosophy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259707"/>
            <a:ext cx="2409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Asking fundamental questions about thinking, knowledge, and intelligence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6740" y="6059807"/>
            <a:ext cx="2333625" cy="571500"/>
          </a:xfrm>
          <a:custGeom>
            <a:avLst/>
            <a:gdLst/>
            <a:ahLst/>
            <a:cxnLst/>
            <a:rect l="l" t="t" r="r" b="b"/>
            <a:pathLst>
              <a:path w="2333625" h="571500">
                <a:moveTo>
                  <a:pt x="76198" y="0"/>
                </a:moveTo>
                <a:lnTo>
                  <a:pt x="2257427" y="0"/>
                </a:lnTo>
                <a:cubicBezTo>
                  <a:pt x="2299510" y="0"/>
                  <a:pt x="2333625" y="34115"/>
                  <a:pt x="2333625" y="76198"/>
                </a:cubicBezTo>
                <a:lnTo>
                  <a:pt x="2333625" y="495302"/>
                </a:lnTo>
                <a:cubicBezTo>
                  <a:pt x="2333625" y="537385"/>
                  <a:pt x="2299510" y="571500"/>
                  <a:pt x="22574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67702" y="6174107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like: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465" y="6364607"/>
            <a:ext cx="2162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"Can machines think?"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84220" y="3956691"/>
            <a:ext cx="2729865" cy="2872740"/>
          </a:xfrm>
          <a:custGeom>
            <a:avLst/>
            <a:gdLst/>
            <a:ahLst/>
            <a:cxnLst/>
            <a:rect l="l" t="t" r="r" b="b"/>
            <a:pathLst>
              <a:path w="2729865" h="2872740">
                <a:moveTo>
                  <a:pt x="114299" y="0"/>
                </a:moveTo>
                <a:lnTo>
                  <a:pt x="2615566" y="0"/>
                </a:lnTo>
                <a:cubicBezTo>
                  <a:pt x="2678691" y="0"/>
                  <a:pt x="2729865" y="51174"/>
                  <a:pt x="2729865" y="114299"/>
                </a:cubicBezTo>
                <a:lnTo>
                  <a:pt x="2729865" y="2758441"/>
                </a:lnTo>
                <a:cubicBezTo>
                  <a:pt x="2729865" y="2821566"/>
                  <a:pt x="2678691" y="2872740"/>
                  <a:pt x="2615566" y="2872740"/>
                </a:cubicBezTo>
                <a:lnTo>
                  <a:pt x="114299" y="2872740"/>
                </a:lnTo>
                <a:cubicBezTo>
                  <a:pt x="51174" y="2872740"/>
                  <a:pt x="0" y="2821566"/>
                  <a:pt x="0" y="275844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415480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489847" y="4316732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7721" y="43588"/>
                </a:moveTo>
                <a:cubicBezTo>
                  <a:pt x="162185" y="28352"/>
                  <a:pt x="176138" y="17859"/>
                  <a:pt x="191988" y="17859"/>
                </a:cubicBezTo>
                <a:lnTo>
                  <a:pt x="303609" y="17859"/>
                </a:lnTo>
                <a:cubicBezTo>
                  <a:pt x="313488" y="17859"/>
                  <a:pt x="321469" y="25840"/>
                  <a:pt x="321469" y="35719"/>
                </a:cubicBezTo>
                <a:cubicBezTo>
                  <a:pt x="321469" y="45597"/>
                  <a:pt x="313488" y="53578"/>
                  <a:pt x="303609" y="53578"/>
                </a:cubicBezTo>
                <a:lnTo>
                  <a:pt x="191988" y="53578"/>
                </a:lnTo>
                <a:lnTo>
                  <a:pt x="133220" y="255054"/>
                </a:lnTo>
                <a:cubicBezTo>
                  <a:pt x="131211" y="261919"/>
                  <a:pt x="125350" y="266886"/>
                  <a:pt x="118263" y="267779"/>
                </a:cubicBezTo>
                <a:cubicBezTo>
                  <a:pt x="111175" y="268672"/>
                  <a:pt x="104254" y="265212"/>
                  <a:pt x="100682" y="259073"/>
                </a:cubicBezTo>
                <a:lnTo>
                  <a:pt x="43309" y="160734"/>
                </a:lnTo>
                <a:lnTo>
                  <a:pt x="17859" y="160734"/>
                </a:lnTo>
                <a:cubicBezTo>
                  <a:pt x="7981" y="160734"/>
                  <a:pt x="0" y="152753"/>
                  <a:pt x="0" y="142875"/>
                </a:cubicBezTo>
                <a:cubicBezTo>
                  <a:pt x="0" y="132997"/>
                  <a:pt x="7981" y="125016"/>
                  <a:pt x="17859" y="125016"/>
                </a:cubicBezTo>
                <a:lnTo>
                  <a:pt x="43309" y="125016"/>
                </a:lnTo>
                <a:cubicBezTo>
                  <a:pt x="56034" y="125016"/>
                  <a:pt x="67754" y="131769"/>
                  <a:pt x="74172" y="142763"/>
                </a:cubicBezTo>
                <a:lnTo>
                  <a:pt x="110561" y="205160"/>
                </a:lnTo>
                <a:lnTo>
                  <a:pt x="157665" y="43588"/>
                </a:lnTo>
                <a:close/>
                <a:moveTo>
                  <a:pt x="219559" y="130262"/>
                </a:moveTo>
                <a:cubicBezTo>
                  <a:pt x="226535" y="123285"/>
                  <a:pt x="237865" y="123285"/>
                  <a:pt x="244841" y="130262"/>
                </a:cubicBezTo>
                <a:lnTo>
                  <a:pt x="267946" y="153367"/>
                </a:lnTo>
                <a:lnTo>
                  <a:pt x="291052" y="130262"/>
                </a:lnTo>
                <a:cubicBezTo>
                  <a:pt x="298028" y="123285"/>
                  <a:pt x="309358" y="123285"/>
                  <a:pt x="316334" y="130262"/>
                </a:cubicBezTo>
                <a:cubicBezTo>
                  <a:pt x="323310" y="137238"/>
                  <a:pt x="323310" y="148568"/>
                  <a:pt x="316334" y="155544"/>
                </a:cubicBezTo>
                <a:lnTo>
                  <a:pt x="293229" y="178650"/>
                </a:lnTo>
                <a:lnTo>
                  <a:pt x="316334" y="201755"/>
                </a:lnTo>
                <a:cubicBezTo>
                  <a:pt x="323310" y="208731"/>
                  <a:pt x="323310" y="220061"/>
                  <a:pt x="316334" y="227037"/>
                </a:cubicBezTo>
                <a:cubicBezTo>
                  <a:pt x="309358" y="234014"/>
                  <a:pt x="298028" y="234014"/>
                  <a:pt x="291052" y="227037"/>
                </a:cubicBezTo>
                <a:lnTo>
                  <a:pt x="267946" y="203932"/>
                </a:lnTo>
                <a:lnTo>
                  <a:pt x="244841" y="227037"/>
                </a:lnTo>
                <a:cubicBezTo>
                  <a:pt x="237865" y="234014"/>
                  <a:pt x="226535" y="234014"/>
                  <a:pt x="219559" y="227037"/>
                </a:cubicBezTo>
                <a:cubicBezTo>
                  <a:pt x="212582" y="220061"/>
                  <a:pt x="212582" y="208731"/>
                  <a:pt x="219559" y="201755"/>
                </a:cubicBezTo>
                <a:lnTo>
                  <a:pt x="242664" y="178650"/>
                </a:lnTo>
                <a:lnTo>
                  <a:pt x="219559" y="155544"/>
                </a:lnTo>
                <a:cubicBezTo>
                  <a:pt x="212582" y="148568"/>
                  <a:pt x="212582" y="137238"/>
                  <a:pt x="219559" y="13026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049435" y="4916807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44240" y="5259707"/>
            <a:ext cx="2409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Providing tools for logic, probability, and computation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82340" y="6059807"/>
            <a:ext cx="2333625" cy="571500"/>
          </a:xfrm>
          <a:custGeom>
            <a:avLst/>
            <a:gdLst/>
            <a:ahLst/>
            <a:cxnLst/>
            <a:rect l="l" t="t" r="r" b="b"/>
            <a:pathLst>
              <a:path w="2333625" h="571500">
                <a:moveTo>
                  <a:pt x="76198" y="0"/>
                </a:moveTo>
                <a:lnTo>
                  <a:pt x="2257427" y="0"/>
                </a:lnTo>
                <a:cubicBezTo>
                  <a:pt x="2299510" y="0"/>
                  <a:pt x="2333625" y="34115"/>
                  <a:pt x="2333625" y="76198"/>
                </a:cubicBezTo>
                <a:lnTo>
                  <a:pt x="2333625" y="495302"/>
                </a:lnTo>
                <a:cubicBezTo>
                  <a:pt x="2333625" y="537385"/>
                  <a:pt x="2299510" y="571500"/>
                  <a:pt x="22574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563303" y="6174107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like: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8065" y="6364607"/>
            <a:ext cx="2162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Logic, probability, algorithms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9820" y="3956691"/>
            <a:ext cx="2729865" cy="2872740"/>
          </a:xfrm>
          <a:custGeom>
            <a:avLst/>
            <a:gdLst/>
            <a:ahLst/>
            <a:cxnLst/>
            <a:rect l="l" t="t" r="r" b="b"/>
            <a:pathLst>
              <a:path w="2729865" h="2872740">
                <a:moveTo>
                  <a:pt x="114299" y="0"/>
                </a:moveTo>
                <a:lnTo>
                  <a:pt x="2615566" y="0"/>
                </a:lnTo>
                <a:cubicBezTo>
                  <a:pt x="2678691" y="0"/>
                  <a:pt x="2729865" y="51174"/>
                  <a:pt x="2729865" y="114299"/>
                </a:cubicBezTo>
                <a:lnTo>
                  <a:pt x="2729865" y="2758441"/>
                </a:lnTo>
                <a:cubicBezTo>
                  <a:pt x="2729865" y="2821566"/>
                  <a:pt x="2678691" y="2872740"/>
                  <a:pt x="2615566" y="2872740"/>
                </a:cubicBezTo>
                <a:lnTo>
                  <a:pt x="114299" y="2872740"/>
                </a:lnTo>
                <a:cubicBezTo>
                  <a:pt x="51174" y="2872740"/>
                  <a:pt x="0" y="2821566"/>
                  <a:pt x="0" y="275844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39000" y="415480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403306" y="431673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006352" y="4916807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Psychology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39840" y="5259707"/>
            <a:ext cx="2409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Studying how humans learn, remember, and solve problems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77940" y="6059807"/>
            <a:ext cx="2333625" cy="571500"/>
          </a:xfrm>
          <a:custGeom>
            <a:avLst/>
            <a:gdLst/>
            <a:ahLst/>
            <a:cxnLst/>
            <a:rect l="l" t="t" r="r" b="b"/>
            <a:pathLst>
              <a:path w="2333625" h="571500">
                <a:moveTo>
                  <a:pt x="76198" y="0"/>
                </a:moveTo>
                <a:lnTo>
                  <a:pt x="2257427" y="0"/>
                </a:lnTo>
                <a:cubicBezTo>
                  <a:pt x="2299510" y="0"/>
                  <a:pt x="2333625" y="34115"/>
                  <a:pt x="2333625" y="76198"/>
                </a:cubicBezTo>
                <a:lnTo>
                  <a:pt x="2333625" y="495302"/>
                </a:lnTo>
                <a:cubicBezTo>
                  <a:pt x="2333625" y="537385"/>
                  <a:pt x="2299510" y="571500"/>
                  <a:pt x="22574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58903" y="6174107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Studies like: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63665" y="6364607"/>
            <a:ext cx="2162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Learning, memory, perception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75420" y="3956691"/>
            <a:ext cx="2729865" cy="2872740"/>
          </a:xfrm>
          <a:custGeom>
            <a:avLst/>
            <a:gdLst/>
            <a:ahLst/>
            <a:cxnLst/>
            <a:rect l="l" t="t" r="r" b="b"/>
            <a:pathLst>
              <a:path w="2729865" h="2872740">
                <a:moveTo>
                  <a:pt x="114299" y="0"/>
                </a:moveTo>
                <a:lnTo>
                  <a:pt x="2615566" y="0"/>
                </a:lnTo>
                <a:cubicBezTo>
                  <a:pt x="2678691" y="0"/>
                  <a:pt x="2729865" y="51174"/>
                  <a:pt x="2729865" y="114299"/>
                </a:cubicBezTo>
                <a:lnTo>
                  <a:pt x="2729865" y="2758441"/>
                </a:lnTo>
                <a:cubicBezTo>
                  <a:pt x="2729865" y="2821566"/>
                  <a:pt x="2678691" y="2872740"/>
                  <a:pt x="2615566" y="2872740"/>
                </a:cubicBezTo>
                <a:lnTo>
                  <a:pt x="114299" y="2872740"/>
                </a:lnTo>
                <a:cubicBezTo>
                  <a:pt x="51174" y="2872740"/>
                  <a:pt x="0" y="2821566"/>
                  <a:pt x="0" y="275844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EC48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34600" y="415480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298906" y="431673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9" name="Text 37"/>
          <p:cNvSpPr/>
          <p:nvPr/>
        </p:nvSpPr>
        <p:spPr>
          <a:xfrm>
            <a:off x="9446776" y="4916807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Engineering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35440" y="5259707"/>
            <a:ext cx="2409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the hardware and software to run AI systems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273540" y="6059807"/>
            <a:ext cx="2333625" cy="571500"/>
          </a:xfrm>
          <a:custGeom>
            <a:avLst/>
            <a:gdLst/>
            <a:ahLst/>
            <a:cxnLst/>
            <a:rect l="l" t="t" r="r" b="b"/>
            <a:pathLst>
              <a:path w="2333625" h="571500">
                <a:moveTo>
                  <a:pt x="76198" y="0"/>
                </a:moveTo>
                <a:lnTo>
                  <a:pt x="2257427" y="0"/>
                </a:lnTo>
                <a:cubicBezTo>
                  <a:pt x="2299510" y="0"/>
                  <a:pt x="2333625" y="34115"/>
                  <a:pt x="2333625" y="76198"/>
                </a:cubicBezTo>
                <a:lnTo>
                  <a:pt x="2333625" y="495302"/>
                </a:lnTo>
                <a:cubicBezTo>
                  <a:pt x="2333625" y="537385"/>
                  <a:pt x="2299510" y="571500"/>
                  <a:pt x="22574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354503" y="6174107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Builds: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359265" y="6364607"/>
            <a:ext cx="2162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Computers, chips, algorithms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21" y="408385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102096" y="0"/>
                </a:moveTo>
                <a:lnTo>
                  <a:pt x="306289" y="0"/>
                </a:lnTo>
                <a:cubicBezTo>
                  <a:pt x="362675" y="0"/>
                  <a:pt x="408385" y="45710"/>
                  <a:pt x="408385" y="102096"/>
                </a:cubicBezTo>
                <a:lnTo>
                  <a:pt x="408385" y="306289"/>
                </a:lnTo>
                <a:cubicBezTo>
                  <a:pt x="408385" y="362675"/>
                  <a:pt x="362675" y="408385"/>
                  <a:pt x="306289" y="408385"/>
                </a:cubicBezTo>
                <a:lnTo>
                  <a:pt x="102096" y="408385"/>
                </a:lnTo>
                <a:cubicBezTo>
                  <a:pt x="45710" y="408385"/>
                  <a:pt x="0" y="362675"/>
                  <a:pt x="0" y="306289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42417" y="510482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26282" y="91129"/>
                </a:moveTo>
                <a:cubicBezTo>
                  <a:pt x="31586" y="54039"/>
                  <a:pt x="63531" y="25524"/>
                  <a:pt x="102096" y="25524"/>
                </a:cubicBezTo>
                <a:cubicBezTo>
                  <a:pt x="123233" y="25524"/>
                  <a:pt x="142376" y="34099"/>
                  <a:pt x="156255" y="47937"/>
                </a:cubicBezTo>
                <a:cubicBezTo>
                  <a:pt x="156335" y="48017"/>
                  <a:pt x="156415" y="48097"/>
                  <a:pt x="156494" y="48177"/>
                </a:cubicBezTo>
                <a:lnTo>
                  <a:pt x="159525" y="51048"/>
                </a:lnTo>
                <a:lnTo>
                  <a:pt x="140422" y="51048"/>
                </a:lnTo>
                <a:cubicBezTo>
                  <a:pt x="133363" y="51048"/>
                  <a:pt x="127660" y="56751"/>
                  <a:pt x="127660" y="63810"/>
                </a:cubicBezTo>
                <a:cubicBezTo>
                  <a:pt x="127660" y="70869"/>
                  <a:pt x="133363" y="76572"/>
                  <a:pt x="140422" y="76572"/>
                </a:cubicBezTo>
                <a:lnTo>
                  <a:pt x="191470" y="76572"/>
                </a:lnTo>
                <a:cubicBezTo>
                  <a:pt x="198529" y="76572"/>
                  <a:pt x="204232" y="70869"/>
                  <a:pt x="204232" y="63810"/>
                </a:cubicBezTo>
                <a:lnTo>
                  <a:pt x="204232" y="12762"/>
                </a:lnTo>
                <a:cubicBezTo>
                  <a:pt x="204232" y="5703"/>
                  <a:pt x="198529" y="0"/>
                  <a:pt x="191470" y="0"/>
                </a:cubicBezTo>
                <a:cubicBezTo>
                  <a:pt x="184411" y="0"/>
                  <a:pt x="178708" y="5703"/>
                  <a:pt x="178708" y="12762"/>
                </a:cubicBezTo>
                <a:lnTo>
                  <a:pt x="178708" y="34059"/>
                </a:lnTo>
                <a:lnTo>
                  <a:pt x="174202" y="29791"/>
                </a:lnTo>
                <a:cubicBezTo>
                  <a:pt x="155737" y="11406"/>
                  <a:pt x="130213" y="0"/>
                  <a:pt x="102096" y="0"/>
                </a:cubicBezTo>
                <a:cubicBezTo>
                  <a:pt x="50649" y="0"/>
                  <a:pt x="8096" y="38047"/>
                  <a:pt x="1037" y="87540"/>
                </a:cubicBezTo>
                <a:cubicBezTo>
                  <a:pt x="40" y="94519"/>
                  <a:pt x="4866" y="100980"/>
                  <a:pt x="11845" y="101977"/>
                </a:cubicBezTo>
                <a:cubicBezTo>
                  <a:pt x="18824" y="102974"/>
                  <a:pt x="25285" y="98108"/>
                  <a:pt x="26282" y="91169"/>
                </a:cubicBezTo>
                <a:close/>
                <a:moveTo>
                  <a:pt x="203156" y="116653"/>
                </a:moveTo>
                <a:cubicBezTo>
                  <a:pt x="204153" y="109674"/>
                  <a:pt x="199287" y="103213"/>
                  <a:pt x="192348" y="102216"/>
                </a:cubicBezTo>
                <a:cubicBezTo>
                  <a:pt x="185408" y="101219"/>
                  <a:pt x="178908" y="106084"/>
                  <a:pt x="177911" y="113024"/>
                </a:cubicBezTo>
                <a:cubicBezTo>
                  <a:pt x="172607" y="150113"/>
                  <a:pt x="140662" y="178629"/>
                  <a:pt x="102096" y="178629"/>
                </a:cubicBezTo>
                <a:cubicBezTo>
                  <a:pt x="80959" y="178629"/>
                  <a:pt x="61816" y="170054"/>
                  <a:pt x="47937" y="156215"/>
                </a:cubicBezTo>
                <a:cubicBezTo>
                  <a:pt x="47858" y="156136"/>
                  <a:pt x="47778" y="156056"/>
                  <a:pt x="47698" y="155976"/>
                </a:cubicBezTo>
                <a:lnTo>
                  <a:pt x="44667" y="153105"/>
                </a:lnTo>
                <a:lnTo>
                  <a:pt x="63770" y="153105"/>
                </a:lnTo>
                <a:cubicBezTo>
                  <a:pt x="70829" y="153105"/>
                  <a:pt x="76532" y="147402"/>
                  <a:pt x="76532" y="140343"/>
                </a:cubicBezTo>
                <a:cubicBezTo>
                  <a:pt x="76532" y="133284"/>
                  <a:pt x="70829" y="127580"/>
                  <a:pt x="63770" y="127580"/>
                </a:cubicBezTo>
                <a:lnTo>
                  <a:pt x="12762" y="127620"/>
                </a:lnTo>
                <a:cubicBezTo>
                  <a:pt x="9372" y="127620"/>
                  <a:pt x="6102" y="128976"/>
                  <a:pt x="3709" y="131409"/>
                </a:cubicBezTo>
                <a:cubicBezTo>
                  <a:pt x="1316" y="133842"/>
                  <a:pt x="-40" y="137072"/>
                  <a:pt x="0" y="140502"/>
                </a:cubicBezTo>
                <a:lnTo>
                  <a:pt x="399" y="191151"/>
                </a:lnTo>
                <a:cubicBezTo>
                  <a:pt x="439" y="198210"/>
                  <a:pt x="6221" y="203874"/>
                  <a:pt x="13280" y="203794"/>
                </a:cubicBezTo>
                <a:cubicBezTo>
                  <a:pt x="20339" y="203714"/>
                  <a:pt x="26003" y="197971"/>
                  <a:pt x="25923" y="190912"/>
                </a:cubicBezTo>
                <a:lnTo>
                  <a:pt x="25763" y="170373"/>
                </a:lnTo>
                <a:lnTo>
                  <a:pt x="30031" y="174401"/>
                </a:lnTo>
                <a:cubicBezTo>
                  <a:pt x="48496" y="192787"/>
                  <a:pt x="73980" y="204193"/>
                  <a:pt x="102096" y="204193"/>
                </a:cubicBezTo>
                <a:cubicBezTo>
                  <a:pt x="153543" y="204193"/>
                  <a:pt x="196097" y="166146"/>
                  <a:pt x="203156" y="11665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850803" y="340321"/>
            <a:ext cx="346276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• TOPIC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0803" y="544514"/>
            <a:ext cx="3547846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of Philosophers in 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3724" y="1160495"/>
            <a:ext cx="6779194" cy="3393000"/>
          </a:xfrm>
          <a:custGeom>
            <a:avLst/>
            <a:gdLst/>
            <a:ahLst/>
            <a:cxnLst/>
            <a:rect l="l" t="t" r="r" b="b"/>
            <a:pathLst>
              <a:path w="6779194" h="3393000">
                <a:moveTo>
                  <a:pt x="102095" y="0"/>
                </a:moveTo>
                <a:lnTo>
                  <a:pt x="6677099" y="0"/>
                </a:lnTo>
                <a:cubicBezTo>
                  <a:pt x="6733485" y="0"/>
                  <a:pt x="6779194" y="45710"/>
                  <a:pt x="6779194" y="102095"/>
                </a:cubicBezTo>
                <a:lnTo>
                  <a:pt x="6779194" y="3290905"/>
                </a:lnTo>
                <a:cubicBezTo>
                  <a:pt x="6779194" y="3347291"/>
                  <a:pt x="6733485" y="3393000"/>
                  <a:pt x="6677099" y="3393000"/>
                </a:cubicBezTo>
                <a:lnTo>
                  <a:pt x="102095" y="3393000"/>
                </a:lnTo>
                <a:cubicBezTo>
                  <a:pt x="45710" y="3393000"/>
                  <a:pt x="0" y="3347291"/>
                  <a:pt x="0" y="3290905"/>
                </a:cubicBezTo>
                <a:lnTo>
                  <a:pt x="0" y="102095"/>
                </a:lnTo>
                <a:cubicBezTo>
                  <a:pt x="0" y="45747"/>
                  <a:pt x="45747" y="0"/>
                  <a:pt x="10209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320" y="1368089"/>
            <a:ext cx="6466099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Asking the Big Questions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1320" y="1776374"/>
            <a:ext cx="6440575" cy="50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Philosophers have been asking questions about </a:t>
            </a:r>
            <a:r>
              <a:rPr lang="en-US" sz="120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thinking, knowledge, and intelligence</a:t>
            </a:r>
            <a:r>
              <a:rPr lang="en-US" sz="120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thousands of years. These questions inspired AI research!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8336" y="2410222"/>
            <a:ext cx="6346987" cy="1939830"/>
          </a:xfrm>
          <a:custGeom>
            <a:avLst/>
            <a:gdLst/>
            <a:ahLst/>
            <a:cxnLst/>
            <a:rect l="l" t="t" r="r" b="b"/>
            <a:pathLst>
              <a:path w="6346987" h="1939830">
                <a:moveTo>
                  <a:pt x="34032" y="0"/>
                </a:moveTo>
                <a:lnTo>
                  <a:pt x="6278918" y="0"/>
                </a:lnTo>
                <a:cubicBezTo>
                  <a:pt x="6316511" y="0"/>
                  <a:pt x="6346987" y="30475"/>
                  <a:pt x="6346987" y="68069"/>
                </a:cubicBezTo>
                <a:lnTo>
                  <a:pt x="6346987" y="1871761"/>
                </a:lnTo>
                <a:cubicBezTo>
                  <a:pt x="6346987" y="1909354"/>
                  <a:pt x="6316511" y="1939830"/>
                  <a:pt x="6278918" y="1939830"/>
                </a:cubicBezTo>
                <a:lnTo>
                  <a:pt x="34032" y="1939830"/>
                </a:lnTo>
                <a:cubicBezTo>
                  <a:pt x="15237" y="1939830"/>
                  <a:pt x="0" y="1924593"/>
                  <a:pt x="0" y="1905798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68336" y="2410222"/>
            <a:ext cx="34032" cy="1939830"/>
          </a:xfrm>
          <a:custGeom>
            <a:avLst/>
            <a:gdLst/>
            <a:ahLst/>
            <a:cxnLst/>
            <a:rect l="l" t="t" r="r" b="b"/>
            <a:pathLst>
              <a:path w="34032" h="1939830">
                <a:moveTo>
                  <a:pt x="34032" y="0"/>
                </a:moveTo>
                <a:lnTo>
                  <a:pt x="34032" y="0"/>
                </a:lnTo>
                <a:lnTo>
                  <a:pt x="34032" y="1939830"/>
                </a:lnTo>
                <a:lnTo>
                  <a:pt x="34032" y="1939830"/>
                </a:lnTo>
                <a:cubicBezTo>
                  <a:pt x="15237" y="1939830"/>
                  <a:pt x="0" y="1924593"/>
                  <a:pt x="0" y="1905798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755513" y="2580383"/>
            <a:ext cx="1789025" cy="19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Philosophical Questions: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5513" y="2886672"/>
            <a:ext cx="6057714" cy="129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7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intelligence?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7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machines think like humans?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7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knowledge and how do we acquire it?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7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machines have consciousness?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7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the ethical implications of AI?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3724" y="4700581"/>
            <a:ext cx="6779194" cy="2150829"/>
          </a:xfrm>
          <a:custGeom>
            <a:avLst/>
            <a:gdLst/>
            <a:ahLst/>
            <a:cxnLst/>
            <a:rect l="l" t="t" r="r" b="b"/>
            <a:pathLst>
              <a:path w="6779194" h="2150829">
                <a:moveTo>
                  <a:pt x="102100" y="0"/>
                </a:moveTo>
                <a:lnTo>
                  <a:pt x="6677095" y="0"/>
                </a:lnTo>
                <a:cubicBezTo>
                  <a:pt x="6733483" y="0"/>
                  <a:pt x="6779194" y="45712"/>
                  <a:pt x="6779194" y="102100"/>
                </a:cubicBezTo>
                <a:lnTo>
                  <a:pt x="6779194" y="2048729"/>
                </a:lnTo>
                <a:cubicBezTo>
                  <a:pt x="6779194" y="2105117"/>
                  <a:pt x="6733483" y="2150829"/>
                  <a:pt x="6677095" y="2150829"/>
                </a:cubicBezTo>
                <a:lnTo>
                  <a:pt x="102100" y="2150829"/>
                </a:lnTo>
                <a:cubicBezTo>
                  <a:pt x="45712" y="2150829"/>
                  <a:pt x="0" y="2105117"/>
                  <a:pt x="0" y="2048729"/>
                </a:cubicBezTo>
                <a:lnTo>
                  <a:pt x="0" y="102100"/>
                </a:lnTo>
                <a:cubicBezTo>
                  <a:pt x="0" y="45749"/>
                  <a:pt x="45749" y="0"/>
                  <a:pt x="1021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20" y="4908175"/>
            <a:ext cx="6466099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Famous Philosophers Who Inspired AI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1320" y="5316452"/>
            <a:ext cx="340321" cy="340321"/>
          </a:xfrm>
          <a:custGeom>
            <a:avLst/>
            <a:gdLst/>
            <a:ahLst/>
            <a:cxnLst/>
            <a:rect l="l" t="t" r="r" b="b"/>
            <a:pathLst>
              <a:path w="340321" h="340321">
                <a:moveTo>
                  <a:pt x="68064" y="0"/>
                </a:moveTo>
                <a:lnTo>
                  <a:pt x="272257" y="0"/>
                </a:lnTo>
                <a:cubicBezTo>
                  <a:pt x="309848" y="0"/>
                  <a:pt x="340321" y="30473"/>
                  <a:pt x="340321" y="68064"/>
                </a:cubicBezTo>
                <a:lnTo>
                  <a:pt x="340321" y="272257"/>
                </a:lnTo>
                <a:cubicBezTo>
                  <a:pt x="340321" y="309848"/>
                  <a:pt x="309848" y="340321"/>
                  <a:pt x="272257" y="340321"/>
                </a:cubicBezTo>
                <a:lnTo>
                  <a:pt x="68064" y="340321"/>
                </a:lnTo>
                <a:cubicBezTo>
                  <a:pt x="30473" y="340321"/>
                  <a:pt x="0" y="309848"/>
                  <a:pt x="0" y="272257"/>
                </a:cubicBezTo>
                <a:lnTo>
                  <a:pt x="0" y="68064"/>
                </a:lnTo>
                <a:cubicBezTo>
                  <a:pt x="0" y="30473"/>
                  <a:pt x="30473" y="0"/>
                  <a:pt x="6806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70326" y="5367500"/>
            <a:ext cx="178669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3737" y="5316452"/>
            <a:ext cx="4228488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Aristotle (384-322 BC)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3737" y="5520645"/>
            <a:ext cx="421998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Studied logical reasoning and syllogisms - the foundation of rule-based systems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1320" y="5792902"/>
            <a:ext cx="340321" cy="340321"/>
          </a:xfrm>
          <a:custGeom>
            <a:avLst/>
            <a:gdLst/>
            <a:ahLst/>
            <a:cxnLst/>
            <a:rect l="l" t="t" r="r" b="b"/>
            <a:pathLst>
              <a:path w="340321" h="340321">
                <a:moveTo>
                  <a:pt x="68064" y="0"/>
                </a:moveTo>
                <a:lnTo>
                  <a:pt x="272257" y="0"/>
                </a:lnTo>
                <a:cubicBezTo>
                  <a:pt x="309848" y="0"/>
                  <a:pt x="340321" y="30473"/>
                  <a:pt x="340321" y="68064"/>
                </a:cubicBezTo>
                <a:lnTo>
                  <a:pt x="340321" y="272257"/>
                </a:lnTo>
                <a:cubicBezTo>
                  <a:pt x="340321" y="309848"/>
                  <a:pt x="309848" y="340321"/>
                  <a:pt x="272257" y="340321"/>
                </a:cubicBezTo>
                <a:lnTo>
                  <a:pt x="68064" y="340321"/>
                </a:lnTo>
                <a:cubicBezTo>
                  <a:pt x="30473" y="340321"/>
                  <a:pt x="0" y="309848"/>
                  <a:pt x="0" y="272257"/>
                </a:cubicBezTo>
                <a:lnTo>
                  <a:pt x="0" y="68064"/>
                </a:lnTo>
                <a:cubicBezTo>
                  <a:pt x="0" y="30473"/>
                  <a:pt x="30473" y="0"/>
                  <a:pt x="6806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8093" y="5843950"/>
            <a:ext cx="187177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3737" y="5792902"/>
            <a:ext cx="484106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René Descartes (1596-1650)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3737" y="5997094"/>
            <a:ext cx="483255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Questioned the nature of mind and body, influencing debates about machine consciousness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1320" y="6269351"/>
            <a:ext cx="340321" cy="340321"/>
          </a:xfrm>
          <a:custGeom>
            <a:avLst/>
            <a:gdLst/>
            <a:ahLst/>
            <a:cxnLst/>
            <a:rect l="l" t="t" r="r" b="b"/>
            <a:pathLst>
              <a:path w="340321" h="340321">
                <a:moveTo>
                  <a:pt x="68064" y="0"/>
                </a:moveTo>
                <a:lnTo>
                  <a:pt x="272257" y="0"/>
                </a:lnTo>
                <a:cubicBezTo>
                  <a:pt x="309848" y="0"/>
                  <a:pt x="340321" y="30473"/>
                  <a:pt x="340321" y="68064"/>
                </a:cubicBezTo>
                <a:lnTo>
                  <a:pt x="340321" y="272257"/>
                </a:lnTo>
                <a:cubicBezTo>
                  <a:pt x="340321" y="309848"/>
                  <a:pt x="309848" y="340321"/>
                  <a:pt x="272257" y="340321"/>
                </a:cubicBezTo>
                <a:lnTo>
                  <a:pt x="68064" y="340321"/>
                </a:lnTo>
                <a:cubicBezTo>
                  <a:pt x="30473" y="340321"/>
                  <a:pt x="0" y="309848"/>
                  <a:pt x="0" y="272257"/>
                </a:cubicBezTo>
                <a:lnTo>
                  <a:pt x="0" y="68064"/>
                </a:lnTo>
                <a:cubicBezTo>
                  <a:pt x="0" y="30473"/>
                  <a:pt x="30473" y="0"/>
                  <a:pt x="6806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75324" y="6320399"/>
            <a:ext cx="170161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3737" y="6269351"/>
            <a:ext cx="36584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Alan Turing (1912-1954)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3737" y="6473544"/>
            <a:ext cx="3649943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the Turing Test, bridging philosophy and computer science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31685" y="1160495"/>
            <a:ext cx="4516060" cy="5690167"/>
          </a:xfrm>
          <a:custGeom>
            <a:avLst/>
            <a:gdLst/>
            <a:ahLst/>
            <a:cxnLst/>
            <a:rect l="l" t="t" r="r" b="b"/>
            <a:pathLst>
              <a:path w="4516060" h="5690167">
                <a:moveTo>
                  <a:pt x="102108" y="0"/>
                </a:moveTo>
                <a:lnTo>
                  <a:pt x="4413952" y="0"/>
                </a:lnTo>
                <a:cubicBezTo>
                  <a:pt x="4470344" y="0"/>
                  <a:pt x="4516060" y="45715"/>
                  <a:pt x="4516060" y="102108"/>
                </a:cubicBezTo>
                <a:lnTo>
                  <a:pt x="4516060" y="5588059"/>
                </a:lnTo>
                <a:cubicBezTo>
                  <a:pt x="4516060" y="5644452"/>
                  <a:pt x="4470344" y="5690167"/>
                  <a:pt x="4413952" y="5690167"/>
                </a:cubicBezTo>
                <a:lnTo>
                  <a:pt x="102108" y="5690167"/>
                </a:lnTo>
                <a:cubicBezTo>
                  <a:pt x="45715" y="5690167"/>
                  <a:pt x="0" y="5644452"/>
                  <a:pt x="0" y="5588059"/>
                </a:cubicBezTo>
                <a:lnTo>
                  <a:pt x="0" y="102108"/>
                </a:lnTo>
                <a:cubicBezTo>
                  <a:pt x="0" y="45753"/>
                  <a:pt x="45753" y="0"/>
                  <a:pt x="10210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05248" y="1334057"/>
            <a:ext cx="4271029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8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05248" y="1742342"/>
            <a:ext cx="4168932" cy="1820717"/>
          </a:xfrm>
          <a:custGeom>
            <a:avLst/>
            <a:gdLst/>
            <a:ahLst/>
            <a:cxnLst/>
            <a:rect l="l" t="t" r="r" b="b"/>
            <a:pathLst>
              <a:path w="4168932" h="1820717">
                <a:moveTo>
                  <a:pt x="68058" y="0"/>
                </a:moveTo>
                <a:lnTo>
                  <a:pt x="4100874" y="0"/>
                </a:lnTo>
                <a:cubicBezTo>
                  <a:pt x="4138462" y="0"/>
                  <a:pt x="4168932" y="30471"/>
                  <a:pt x="4168932" y="68058"/>
                </a:cubicBezTo>
                <a:lnTo>
                  <a:pt x="4168932" y="1752659"/>
                </a:lnTo>
                <a:cubicBezTo>
                  <a:pt x="4168932" y="1790247"/>
                  <a:pt x="4138462" y="1820717"/>
                  <a:pt x="4100874" y="1820717"/>
                </a:cubicBezTo>
                <a:lnTo>
                  <a:pt x="68058" y="1820717"/>
                </a:lnTo>
                <a:cubicBezTo>
                  <a:pt x="30471" y="1820717"/>
                  <a:pt x="0" y="1790247"/>
                  <a:pt x="0" y="1752659"/>
                </a:cubicBezTo>
                <a:lnTo>
                  <a:pt x="0" y="68058"/>
                </a:lnTo>
                <a:cubicBezTo>
                  <a:pt x="0" y="30471"/>
                  <a:pt x="30471" y="0"/>
                  <a:pt x="6805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0" name="Text 28"/>
          <p:cNvSpPr/>
          <p:nvPr/>
        </p:nvSpPr>
        <p:spPr>
          <a:xfrm>
            <a:off x="7641377" y="1878471"/>
            <a:ext cx="3973248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Philosophical Questions Drive AI Ethics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41377" y="2218792"/>
            <a:ext cx="3964740" cy="221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Today, philosophers help AI researchers think about: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41377" y="2542097"/>
            <a:ext cx="3956232" cy="88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3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Should AI have rights?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3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is responsible when AI makes mistakes?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3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do we prevent AI bias?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3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the limits of AI?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08651" y="3702591"/>
            <a:ext cx="4158723" cy="891641"/>
          </a:xfrm>
          <a:custGeom>
            <a:avLst/>
            <a:gdLst/>
            <a:ahLst/>
            <a:cxnLst/>
            <a:rect l="l" t="t" r="r" b="b"/>
            <a:pathLst>
              <a:path w="4158723" h="891641">
                <a:moveTo>
                  <a:pt x="68068" y="0"/>
                </a:moveTo>
                <a:lnTo>
                  <a:pt x="4090655" y="0"/>
                </a:lnTo>
                <a:cubicBezTo>
                  <a:pt x="4128248" y="0"/>
                  <a:pt x="4158723" y="30475"/>
                  <a:pt x="4158723" y="68068"/>
                </a:cubicBezTo>
                <a:lnTo>
                  <a:pt x="4158723" y="823573"/>
                </a:lnTo>
                <a:cubicBezTo>
                  <a:pt x="4158723" y="861166"/>
                  <a:pt x="4128248" y="891641"/>
                  <a:pt x="4090655" y="891641"/>
                </a:cubicBezTo>
                <a:lnTo>
                  <a:pt x="68068" y="891641"/>
                </a:lnTo>
                <a:cubicBezTo>
                  <a:pt x="30475" y="891641"/>
                  <a:pt x="0" y="861166"/>
                  <a:pt x="0" y="823573"/>
                </a:cubicBezTo>
                <a:lnTo>
                  <a:pt x="0" y="68068"/>
                </a:lnTo>
                <a:cubicBezTo>
                  <a:pt x="0" y="30500"/>
                  <a:pt x="30500" y="0"/>
                  <a:pt x="68068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8183" y="3842121"/>
            <a:ext cx="591839" cy="19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48183" y="4114378"/>
            <a:ext cx="3939216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Philosophers are like the architects who draw the blueprint - they ask "What should we build?" and "Why?" before engineers start construction.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0844" y="476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5147" y="29059"/>
                </a:moveTo>
                <a:cubicBezTo>
                  <a:pt x="108124" y="18901"/>
                  <a:pt x="117425" y="11906"/>
                  <a:pt x="127992" y="11906"/>
                </a:cubicBezTo>
                <a:lnTo>
                  <a:pt x="202406" y="11906"/>
                </a:lnTo>
                <a:cubicBezTo>
                  <a:pt x="208992" y="11906"/>
                  <a:pt x="214313" y="17227"/>
                  <a:pt x="214313" y="23812"/>
                </a:cubicBezTo>
                <a:cubicBezTo>
                  <a:pt x="214313" y="30398"/>
                  <a:pt x="208992" y="35719"/>
                  <a:pt x="202406" y="35719"/>
                </a:cubicBezTo>
                <a:lnTo>
                  <a:pt x="127992" y="35719"/>
                </a:lnTo>
                <a:lnTo>
                  <a:pt x="88813" y="170036"/>
                </a:lnTo>
                <a:cubicBezTo>
                  <a:pt x="87474" y="174613"/>
                  <a:pt x="83567" y="177924"/>
                  <a:pt x="78842" y="178519"/>
                </a:cubicBezTo>
                <a:cubicBezTo>
                  <a:pt x="74116" y="179115"/>
                  <a:pt x="69503" y="176808"/>
                  <a:pt x="67121" y="172715"/>
                </a:cubicBezTo>
                <a:lnTo>
                  <a:pt x="28873" y="107156"/>
                </a:ln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28873" y="83344"/>
                </a:lnTo>
                <a:cubicBezTo>
                  <a:pt x="37356" y="83344"/>
                  <a:pt x="45169" y="87846"/>
                  <a:pt x="49448" y="95176"/>
                </a:cubicBezTo>
                <a:lnTo>
                  <a:pt x="73707" y="136773"/>
                </a:lnTo>
                <a:lnTo>
                  <a:pt x="105110" y="29059"/>
                </a:lnTo>
                <a:close/>
                <a:moveTo>
                  <a:pt x="146372" y="86841"/>
                </a:moveTo>
                <a:cubicBezTo>
                  <a:pt x="151023" y="82190"/>
                  <a:pt x="158576" y="82190"/>
                  <a:pt x="163227" y="86841"/>
                </a:cubicBezTo>
                <a:lnTo>
                  <a:pt x="178631" y="102245"/>
                </a:lnTo>
                <a:lnTo>
                  <a:pt x="194035" y="86841"/>
                </a:lnTo>
                <a:cubicBezTo>
                  <a:pt x="198686" y="82190"/>
                  <a:pt x="206239" y="82190"/>
                  <a:pt x="210889" y="86841"/>
                </a:cubicBezTo>
                <a:cubicBezTo>
                  <a:pt x="215540" y="91492"/>
                  <a:pt x="215540" y="99045"/>
                  <a:pt x="210889" y="103696"/>
                </a:cubicBezTo>
                <a:lnTo>
                  <a:pt x="195486" y="119100"/>
                </a:lnTo>
                <a:lnTo>
                  <a:pt x="210889" y="134503"/>
                </a:lnTo>
                <a:cubicBezTo>
                  <a:pt x="215540" y="139154"/>
                  <a:pt x="215540" y="146707"/>
                  <a:pt x="210889" y="151358"/>
                </a:cubicBezTo>
                <a:cubicBezTo>
                  <a:pt x="206239" y="156009"/>
                  <a:pt x="198686" y="156009"/>
                  <a:pt x="194035" y="151358"/>
                </a:cubicBezTo>
                <a:lnTo>
                  <a:pt x="178631" y="135954"/>
                </a:lnTo>
                <a:lnTo>
                  <a:pt x="163227" y="151358"/>
                </a:lnTo>
                <a:cubicBezTo>
                  <a:pt x="158576" y="156009"/>
                  <a:pt x="151023" y="156009"/>
                  <a:pt x="146372" y="151358"/>
                </a:cubicBezTo>
                <a:cubicBezTo>
                  <a:pt x="141722" y="146707"/>
                  <a:pt x="141722" y="139154"/>
                  <a:pt x="146372" y="134503"/>
                </a:cubicBezTo>
                <a:lnTo>
                  <a:pt x="161776" y="119100"/>
                </a:lnTo>
                <a:lnTo>
                  <a:pt x="146372" y="103696"/>
                </a:lnTo>
                <a:cubicBezTo>
                  <a:pt x="141722" y="99045"/>
                  <a:pt x="141722" y="91492"/>
                  <a:pt x="146372" y="868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93750" y="31750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• TOPIC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508000"/>
            <a:ext cx="3698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of Mathematicians in 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082675"/>
            <a:ext cx="6816725" cy="2752725"/>
          </a:xfrm>
          <a:custGeom>
            <a:avLst/>
            <a:gdLst/>
            <a:ahLst/>
            <a:cxnLst/>
            <a:rect l="l" t="t" r="r" b="b"/>
            <a:pathLst>
              <a:path w="6816725" h="2752725">
                <a:moveTo>
                  <a:pt x="95244" y="0"/>
                </a:moveTo>
                <a:lnTo>
                  <a:pt x="6721481" y="0"/>
                </a:lnTo>
                <a:cubicBezTo>
                  <a:pt x="6774047" y="0"/>
                  <a:pt x="6816725" y="42678"/>
                  <a:pt x="6816725" y="95244"/>
                </a:cubicBezTo>
                <a:lnTo>
                  <a:pt x="6816725" y="2657481"/>
                </a:lnTo>
                <a:cubicBezTo>
                  <a:pt x="6816725" y="2710047"/>
                  <a:pt x="6774047" y="2752725"/>
                  <a:pt x="6721481" y="2752725"/>
                </a:cubicBezTo>
                <a:lnTo>
                  <a:pt x="95244" y="2752725"/>
                </a:lnTo>
                <a:cubicBezTo>
                  <a:pt x="42678" y="2752725"/>
                  <a:pt x="0" y="2710047"/>
                  <a:pt x="0" y="2657481"/>
                </a:cubicBezTo>
                <a:lnTo>
                  <a:pt x="0" y="95244"/>
                </a:lnTo>
                <a:cubicBezTo>
                  <a:pt x="0" y="42678"/>
                  <a:pt x="42678" y="0"/>
                  <a:pt x="9524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1276348"/>
            <a:ext cx="652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Language of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4350" y="1657255"/>
            <a:ext cx="6500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Mathematicians provided the </a:t>
            </a:r>
            <a:r>
              <a:rPr lang="en-US" sz="1125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and language</a:t>
            </a: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make AI possible. Without math, AI would just be science fiction!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225" y="2248599"/>
            <a:ext cx="6413500" cy="1397000"/>
          </a:xfrm>
          <a:custGeom>
            <a:avLst/>
            <a:gdLst/>
            <a:ahLst/>
            <a:cxnLst/>
            <a:rect l="l" t="t" r="r" b="b"/>
            <a:pathLst>
              <a:path w="6413500" h="1397000">
                <a:moveTo>
                  <a:pt x="31750" y="0"/>
                </a:moveTo>
                <a:lnTo>
                  <a:pt x="6350006" y="0"/>
                </a:lnTo>
                <a:cubicBezTo>
                  <a:pt x="6385073" y="0"/>
                  <a:pt x="6413500" y="28427"/>
                  <a:pt x="6413500" y="63494"/>
                </a:cubicBezTo>
                <a:lnTo>
                  <a:pt x="6413500" y="1333506"/>
                </a:lnTo>
                <a:cubicBezTo>
                  <a:pt x="6413500" y="1368573"/>
                  <a:pt x="6385073" y="1397000"/>
                  <a:pt x="6350006" y="1397000"/>
                </a:cubicBezTo>
                <a:lnTo>
                  <a:pt x="31750" y="1397000"/>
                </a:lnTo>
                <a:cubicBezTo>
                  <a:pt x="14215" y="1397000"/>
                  <a:pt x="0" y="1382785"/>
                  <a:pt x="0" y="136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30225" y="2248599"/>
            <a:ext cx="31750" cy="1397000"/>
          </a:xfrm>
          <a:custGeom>
            <a:avLst/>
            <a:gdLst/>
            <a:ahLst/>
            <a:cxnLst/>
            <a:rect l="l" t="t" r="r" b="b"/>
            <a:pathLst>
              <a:path w="31750" h="1397000">
                <a:moveTo>
                  <a:pt x="31750" y="0"/>
                </a:moveTo>
                <a:lnTo>
                  <a:pt x="31750" y="0"/>
                </a:lnTo>
                <a:lnTo>
                  <a:pt x="31750" y="1397000"/>
                </a:lnTo>
                <a:lnTo>
                  <a:pt x="31750" y="1397000"/>
                </a:lnTo>
                <a:cubicBezTo>
                  <a:pt x="14227" y="1397000"/>
                  <a:pt x="0" y="1382773"/>
                  <a:pt x="0" y="136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04850" y="2407349"/>
            <a:ext cx="188624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Mathematical Contributions: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0725" y="272484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27100" y="2693099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7100" y="2883599"/>
            <a:ext cx="99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for reasoning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6825" y="272484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013200" y="2693099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3200" y="2883599"/>
            <a:ext cx="107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Handling uncertainty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0725" y="316934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927100" y="3137599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7100" y="3328099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from data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06825" y="316934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013200" y="3137599"/>
            <a:ext cx="69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Calculus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13200" y="3328099"/>
            <a:ext cx="68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675" y="3972623"/>
            <a:ext cx="6816725" cy="2998787"/>
          </a:xfrm>
          <a:custGeom>
            <a:avLst/>
            <a:gdLst/>
            <a:ahLst/>
            <a:cxnLst/>
            <a:rect l="l" t="t" r="r" b="b"/>
            <a:pathLst>
              <a:path w="6816725" h="2998787">
                <a:moveTo>
                  <a:pt x="95241" y="0"/>
                </a:moveTo>
                <a:lnTo>
                  <a:pt x="6721484" y="0"/>
                </a:lnTo>
                <a:cubicBezTo>
                  <a:pt x="6774084" y="0"/>
                  <a:pt x="6816725" y="42641"/>
                  <a:pt x="6816725" y="95241"/>
                </a:cubicBezTo>
                <a:lnTo>
                  <a:pt x="6816725" y="2903546"/>
                </a:lnTo>
                <a:cubicBezTo>
                  <a:pt x="6816725" y="2956146"/>
                  <a:pt x="6774084" y="2998787"/>
                  <a:pt x="6721484" y="2998787"/>
                </a:cubicBezTo>
                <a:lnTo>
                  <a:pt x="95241" y="2998787"/>
                </a:lnTo>
                <a:cubicBezTo>
                  <a:pt x="42641" y="2998787"/>
                  <a:pt x="0" y="2956146"/>
                  <a:pt x="0" y="2903546"/>
                </a:cubicBezTo>
                <a:lnTo>
                  <a:pt x="0" y="95241"/>
                </a:lnTo>
                <a:cubicBezTo>
                  <a:pt x="0" y="42676"/>
                  <a:pt x="42676" y="0"/>
                  <a:pt x="9524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350" y="4166296"/>
            <a:ext cx="652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 in Action: Simple Example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4350" y="4547195"/>
            <a:ext cx="6429375" cy="2230438"/>
          </a:xfrm>
          <a:custGeom>
            <a:avLst/>
            <a:gdLst/>
            <a:ahLst/>
            <a:cxnLst/>
            <a:rect l="l" t="t" r="r" b="b"/>
            <a:pathLst>
              <a:path w="6429375" h="2230438">
                <a:moveTo>
                  <a:pt x="63501" y="0"/>
                </a:moveTo>
                <a:lnTo>
                  <a:pt x="6365874" y="0"/>
                </a:lnTo>
                <a:cubicBezTo>
                  <a:pt x="6400945" y="0"/>
                  <a:pt x="6429375" y="28430"/>
                  <a:pt x="6429375" y="63501"/>
                </a:cubicBezTo>
                <a:lnTo>
                  <a:pt x="6429375" y="2166937"/>
                </a:lnTo>
                <a:cubicBezTo>
                  <a:pt x="6429375" y="2202007"/>
                  <a:pt x="6400945" y="2230437"/>
                  <a:pt x="6365874" y="2230438"/>
                </a:cubicBezTo>
                <a:lnTo>
                  <a:pt x="63501" y="2230438"/>
                </a:lnTo>
                <a:cubicBezTo>
                  <a:pt x="28430" y="2230438"/>
                  <a:pt x="0" y="2202007"/>
                  <a:pt x="0" y="2166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7" name="Text 25"/>
          <p:cNvSpPr/>
          <p:nvPr/>
        </p:nvSpPr>
        <p:spPr>
          <a:xfrm>
            <a:off x="641350" y="4674195"/>
            <a:ext cx="206553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Probability to Make Decisions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525" y="4963120"/>
            <a:ext cx="6165850" cy="1427163"/>
          </a:xfrm>
          <a:custGeom>
            <a:avLst/>
            <a:gdLst/>
            <a:ahLst/>
            <a:cxnLst/>
            <a:rect l="l" t="t" r="r" b="b"/>
            <a:pathLst>
              <a:path w="6165850" h="1427163">
                <a:moveTo>
                  <a:pt x="63494" y="0"/>
                </a:moveTo>
                <a:lnTo>
                  <a:pt x="6102356" y="0"/>
                </a:lnTo>
                <a:cubicBezTo>
                  <a:pt x="6137423" y="0"/>
                  <a:pt x="6165850" y="28427"/>
                  <a:pt x="6165850" y="63494"/>
                </a:cubicBezTo>
                <a:lnTo>
                  <a:pt x="6165850" y="1363668"/>
                </a:lnTo>
                <a:cubicBezTo>
                  <a:pt x="6165850" y="1398735"/>
                  <a:pt x="6137423" y="1427163"/>
                  <a:pt x="6102356" y="1427163"/>
                </a:cubicBezTo>
                <a:lnTo>
                  <a:pt x="63494" y="1427163"/>
                </a:lnTo>
                <a:cubicBezTo>
                  <a:pt x="28427" y="1427163"/>
                  <a:pt x="0" y="1398735"/>
                  <a:pt x="0" y="1363668"/>
                </a:cubicBezTo>
                <a:lnTo>
                  <a:pt x="0" y="63494"/>
                </a:lnTo>
                <a:cubicBezTo>
                  <a:pt x="0" y="28427"/>
                  <a:pt x="28427" y="0"/>
                  <a:pt x="63494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700" y="5093294"/>
            <a:ext cx="5961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Weather prediction using probability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4700" y="5259981"/>
            <a:ext cx="5961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cloudy AND humidity &gt; 80%: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4700" y="5426669"/>
            <a:ext cx="5961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rain_probability = 0.85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4700" y="5593356"/>
            <a:ext cx="5961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 = "Take umbrella"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4700" y="5760044"/>
            <a:ext cx="5961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4700" y="5926731"/>
            <a:ext cx="5961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rain_probability = 0.15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4700" y="6093419"/>
            <a:ext cx="5961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 = "No umbrella needed"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1350" y="6488712"/>
            <a:ext cx="6230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uses similar math to make predictions and decisions!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31075" y="1082675"/>
            <a:ext cx="4538663" cy="5888038"/>
          </a:xfrm>
          <a:custGeom>
            <a:avLst/>
            <a:gdLst/>
            <a:ahLst/>
            <a:cxnLst/>
            <a:rect l="l" t="t" r="r" b="b"/>
            <a:pathLst>
              <a:path w="4538663" h="5888038">
                <a:moveTo>
                  <a:pt x="95267" y="0"/>
                </a:moveTo>
                <a:lnTo>
                  <a:pt x="4443396" y="0"/>
                </a:lnTo>
                <a:cubicBezTo>
                  <a:pt x="4496010" y="0"/>
                  <a:pt x="4538663" y="42652"/>
                  <a:pt x="4538663" y="95267"/>
                </a:cubicBezTo>
                <a:lnTo>
                  <a:pt x="4538663" y="5792771"/>
                </a:lnTo>
                <a:cubicBezTo>
                  <a:pt x="4538663" y="5845385"/>
                  <a:pt x="4496010" y="5888038"/>
                  <a:pt x="4443396" y="5888038"/>
                </a:cubicBezTo>
                <a:lnTo>
                  <a:pt x="95267" y="5888038"/>
                </a:lnTo>
                <a:cubicBezTo>
                  <a:pt x="42652" y="5888038"/>
                  <a:pt x="0" y="5845385"/>
                  <a:pt x="0" y="5792771"/>
                </a:cubicBezTo>
                <a:lnTo>
                  <a:pt x="0" y="95267"/>
                </a:lnTo>
                <a:cubicBezTo>
                  <a:pt x="0" y="42687"/>
                  <a:pt x="42687" y="0"/>
                  <a:pt x="9526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3000" y="1244598"/>
            <a:ext cx="4310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493000" y="1625505"/>
            <a:ext cx="4214813" cy="1682750"/>
          </a:xfrm>
          <a:custGeom>
            <a:avLst/>
            <a:gdLst/>
            <a:ahLst/>
            <a:cxnLst/>
            <a:rect l="l" t="t" r="r" b="b"/>
            <a:pathLst>
              <a:path w="4214813" h="1682750">
                <a:moveTo>
                  <a:pt x="63507" y="0"/>
                </a:moveTo>
                <a:lnTo>
                  <a:pt x="4151306" y="0"/>
                </a:lnTo>
                <a:cubicBezTo>
                  <a:pt x="4186379" y="0"/>
                  <a:pt x="4214813" y="28433"/>
                  <a:pt x="4214813" y="63507"/>
                </a:cubicBezTo>
                <a:lnTo>
                  <a:pt x="4214813" y="1619243"/>
                </a:lnTo>
                <a:cubicBezTo>
                  <a:pt x="4214813" y="1654317"/>
                  <a:pt x="4186379" y="1682750"/>
                  <a:pt x="4151306" y="1682750"/>
                </a:cubicBezTo>
                <a:lnTo>
                  <a:pt x="63507" y="1682750"/>
                </a:lnTo>
                <a:cubicBezTo>
                  <a:pt x="28433" y="1682750"/>
                  <a:pt x="0" y="1654317"/>
                  <a:pt x="0" y="161924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0" name="Text 38"/>
          <p:cNvSpPr/>
          <p:nvPr/>
        </p:nvSpPr>
        <p:spPr>
          <a:xfrm>
            <a:off x="7620000" y="1752505"/>
            <a:ext cx="403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Spam Email Filter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20000" y="2070005"/>
            <a:ext cx="4024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probability helps AI determine if an email is spam by calculating: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20000" y="2578005"/>
            <a:ext cx="4016375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often certain words appear in spam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probability based on sender history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score to make decision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96175" y="3438430"/>
            <a:ext cx="4213225" cy="831850"/>
          </a:xfrm>
          <a:custGeom>
            <a:avLst/>
            <a:gdLst/>
            <a:ahLst/>
            <a:cxnLst/>
            <a:rect l="l" t="t" r="r" b="b"/>
            <a:pathLst>
              <a:path w="4213225" h="831850">
                <a:moveTo>
                  <a:pt x="63503" y="0"/>
                </a:moveTo>
                <a:lnTo>
                  <a:pt x="4149722" y="0"/>
                </a:lnTo>
                <a:cubicBezTo>
                  <a:pt x="4184770" y="0"/>
                  <a:pt x="4213225" y="28455"/>
                  <a:pt x="4213225" y="63503"/>
                </a:cubicBezTo>
                <a:lnTo>
                  <a:pt x="4213225" y="768347"/>
                </a:lnTo>
                <a:cubicBezTo>
                  <a:pt x="4213225" y="803419"/>
                  <a:pt x="4184794" y="831850"/>
                  <a:pt x="4149722" y="831850"/>
                </a:cubicBezTo>
                <a:lnTo>
                  <a:pt x="63503" y="831850"/>
                </a:lnTo>
                <a:cubicBezTo>
                  <a:pt x="28431" y="831850"/>
                  <a:pt x="0" y="803419"/>
                  <a:pt x="0" y="7683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26350" y="3568604"/>
            <a:ext cx="55215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26350" y="3822604"/>
            <a:ext cx="4008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 is like the engine of a car - you don't see it, but it powers everything and makes the vehicle move!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2750" y="476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93750" y="317500"/>
            <a:ext cx="336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• TOPIC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508000"/>
            <a:ext cx="3444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of Psychologists in 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082675"/>
            <a:ext cx="6816725" cy="2911475"/>
          </a:xfrm>
          <a:custGeom>
            <a:avLst/>
            <a:gdLst/>
            <a:ahLst/>
            <a:cxnLst/>
            <a:rect l="l" t="t" r="r" b="b"/>
            <a:pathLst>
              <a:path w="6816725" h="2911475">
                <a:moveTo>
                  <a:pt x="95263" y="0"/>
                </a:moveTo>
                <a:lnTo>
                  <a:pt x="6721462" y="0"/>
                </a:lnTo>
                <a:cubicBezTo>
                  <a:pt x="6774074" y="0"/>
                  <a:pt x="6816725" y="42651"/>
                  <a:pt x="6816725" y="95263"/>
                </a:cubicBezTo>
                <a:lnTo>
                  <a:pt x="6816725" y="2816212"/>
                </a:lnTo>
                <a:cubicBezTo>
                  <a:pt x="6816725" y="2868824"/>
                  <a:pt x="6774074" y="2911475"/>
                  <a:pt x="6721462" y="2911475"/>
                </a:cubicBezTo>
                <a:lnTo>
                  <a:pt x="95263" y="2911475"/>
                </a:lnTo>
                <a:cubicBezTo>
                  <a:pt x="42651" y="2911475"/>
                  <a:pt x="0" y="2868824"/>
                  <a:pt x="0" y="2816212"/>
                </a:cubicBezTo>
                <a:lnTo>
                  <a:pt x="0" y="95263"/>
                </a:lnTo>
                <a:cubicBezTo>
                  <a:pt x="0" y="42651"/>
                  <a:pt x="42651" y="0"/>
                  <a:pt x="9526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1276348"/>
            <a:ext cx="652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How Humans Think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4350" y="1657255"/>
            <a:ext cx="6500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Psychologists study </a:t>
            </a:r>
            <a:r>
              <a:rPr lang="en-US" sz="1125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humans learn, remember, and solve problems</a:t>
            </a: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This knowledge helps AI researchers build systems that work in similar ways.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225" y="2248599"/>
            <a:ext cx="6413500" cy="1555750"/>
          </a:xfrm>
          <a:custGeom>
            <a:avLst/>
            <a:gdLst/>
            <a:ahLst/>
            <a:cxnLst/>
            <a:rect l="l" t="t" r="r" b="b"/>
            <a:pathLst>
              <a:path w="6413500" h="1555750">
                <a:moveTo>
                  <a:pt x="31750" y="0"/>
                </a:moveTo>
                <a:lnTo>
                  <a:pt x="6349994" y="0"/>
                </a:lnTo>
                <a:cubicBezTo>
                  <a:pt x="6385068" y="0"/>
                  <a:pt x="6413500" y="28432"/>
                  <a:pt x="6413500" y="63506"/>
                </a:cubicBezTo>
                <a:lnTo>
                  <a:pt x="6413500" y="1492244"/>
                </a:lnTo>
                <a:cubicBezTo>
                  <a:pt x="6413500" y="1527318"/>
                  <a:pt x="6385068" y="1555750"/>
                  <a:pt x="6349994" y="1555750"/>
                </a:cubicBezTo>
                <a:lnTo>
                  <a:pt x="31750" y="1555750"/>
                </a:lnTo>
                <a:cubicBezTo>
                  <a:pt x="14215" y="1555750"/>
                  <a:pt x="0" y="1541535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30225" y="2248599"/>
            <a:ext cx="31750" cy="1555750"/>
          </a:xfrm>
          <a:custGeom>
            <a:avLst/>
            <a:gdLst/>
            <a:ahLst/>
            <a:cxnLst/>
            <a:rect l="l" t="t" r="r" b="b"/>
            <a:pathLst>
              <a:path w="31750" h="1555750">
                <a:moveTo>
                  <a:pt x="31750" y="0"/>
                </a:moveTo>
                <a:lnTo>
                  <a:pt x="31750" y="0"/>
                </a:lnTo>
                <a:lnTo>
                  <a:pt x="31750" y="1555750"/>
                </a:lnTo>
                <a:lnTo>
                  <a:pt x="31750" y="1555750"/>
                </a:lnTo>
                <a:cubicBezTo>
                  <a:pt x="14227" y="1555750"/>
                  <a:pt x="0" y="1541523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04850" y="2407349"/>
            <a:ext cx="157787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Psychological Insights: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2788" y="272484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1906" y="48568"/>
                </a:moveTo>
                <a:lnTo>
                  <a:pt x="63798" y="69924"/>
                </a:lnTo>
                <a:cubicBezTo>
                  <a:pt x="66229" y="70917"/>
                  <a:pt x="68808" y="71438"/>
                  <a:pt x="71438" y="71438"/>
                </a:cubicBezTo>
                <a:cubicBezTo>
                  <a:pt x="74067" y="71438"/>
                  <a:pt x="76646" y="70917"/>
                  <a:pt x="79077" y="69924"/>
                </a:cubicBezTo>
                <a:lnTo>
                  <a:pt x="139204" y="45169"/>
                </a:lnTo>
                <a:cubicBezTo>
                  <a:pt x="141436" y="44252"/>
                  <a:pt x="142875" y="42094"/>
                  <a:pt x="142875" y="39687"/>
                </a:cubicBezTo>
                <a:cubicBezTo>
                  <a:pt x="142875" y="37281"/>
                  <a:pt x="141436" y="35123"/>
                  <a:pt x="139204" y="34206"/>
                </a:cubicBezTo>
                <a:lnTo>
                  <a:pt x="79077" y="9451"/>
                </a:lnTo>
                <a:cubicBezTo>
                  <a:pt x="76646" y="8458"/>
                  <a:pt x="74067" y="7938"/>
                  <a:pt x="71438" y="7938"/>
                </a:cubicBezTo>
                <a:cubicBezTo>
                  <a:pt x="68808" y="7938"/>
                  <a:pt x="66229" y="8458"/>
                  <a:pt x="63798" y="9451"/>
                </a:cubicBezTo>
                <a:lnTo>
                  <a:pt x="3671" y="34206"/>
                </a:lnTo>
                <a:cubicBezTo>
                  <a:pt x="1439" y="35123"/>
                  <a:pt x="0" y="37281"/>
                  <a:pt x="0" y="39688"/>
                </a:cubicBezTo>
                <a:lnTo>
                  <a:pt x="0" y="113109"/>
                </a:lnTo>
                <a:cubicBezTo>
                  <a:pt x="0" y="116408"/>
                  <a:pt x="2654" y="119063"/>
                  <a:pt x="5953" y="119063"/>
                </a:cubicBezTo>
                <a:cubicBezTo>
                  <a:pt x="9252" y="119063"/>
                  <a:pt x="11906" y="116408"/>
                  <a:pt x="11906" y="113109"/>
                </a:cubicBezTo>
                <a:lnTo>
                  <a:pt x="11906" y="48568"/>
                </a:lnTo>
                <a:close/>
                <a:moveTo>
                  <a:pt x="23812" y="66353"/>
                </a:moveTo>
                <a:lnTo>
                  <a:pt x="23812" y="95250"/>
                </a:lnTo>
                <a:cubicBezTo>
                  <a:pt x="23812" y="108396"/>
                  <a:pt x="45145" y="119063"/>
                  <a:pt x="71438" y="119063"/>
                </a:cubicBezTo>
                <a:cubicBezTo>
                  <a:pt x="97730" y="119063"/>
                  <a:pt x="119063" y="108396"/>
                  <a:pt x="119063" y="95250"/>
                </a:cubicBezTo>
                <a:lnTo>
                  <a:pt x="119063" y="66328"/>
                </a:lnTo>
                <a:lnTo>
                  <a:pt x="83617" y="80938"/>
                </a:lnTo>
                <a:cubicBezTo>
                  <a:pt x="79747" y="82525"/>
                  <a:pt x="75629" y="83344"/>
                  <a:pt x="71438" y="83344"/>
                </a:cubicBezTo>
                <a:cubicBezTo>
                  <a:pt x="67246" y="83344"/>
                  <a:pt x="63128" y="82525"/>
                  <a:pt x="59258" y="80938"/>
                </a:cubicBezTo>
                <a:lnTo>
                  <a:pt x="23812" y="6632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927100" y="2693099"/>
            <a:ext cx="486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Learning:</a:t>
            </a: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Humans learn from experience and examples - this inspired machine learning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0725" y="297884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7119" y="15875"/>
                  <a:pt x="0" y="22994"/>
                  <a:pt x="0" y="31750"/>
                </a:cubicBezTo>
                <a:lnTo>
                  <a:pt x="0" y="33586"/>
                </a:lnTo>
                <a:cubicBezTo>
                  <a:pt x="0" y="35272"/>
                  <a:pt x="1091" y="36711"/>
                  <a:pt x="2505" y="37629"/>
                </a:cubicBezTo>
                <a:cubicBezTo>
                  <a:pt x="5779" y="39762"/>
                  <a:pt x="7938" y="43433"/>
                  <a:pt x="7938" y="47625"/>
                </a:cubicBezTo>
                <a:cubicBezTo>
                  <a:pt x="7938" y="51817"/>
                  <a:pt x="5779" y="55488"/>
                  <a:pt x="2505" y="57621"/>
                </a:cubicBezTo>
                <a:cubicBezTo>
                  <a:pt x="1091" y="58539"/>
                  <a:pt x="0" y="59978"/>
                  <a:pt x="0" y="61664"/>
                </a:cubicBezTo>
                <a:lnTo>
                  <a:pt x="0" y="75406"/>
                </a:lnTo>
                <a:lnTo>
                  <a:pt x="127000" y="75406"/>
                </a:lnTo>
                <a:lnTo>
                  <a:pt x="127000" y="61664"/>
                </a:lnTo>
                <a:cubicBezTo>
                  <a:pt x="127000" y="59978"/>
                  <a:pt x="125909" y="58539"/>
                  <a:pt x="124495" y="57621"/>
                </a:cubicBezTo>
                <a:cubicBezTo>
                  <a:pt x="121221" y="55488"/>
                  <a:pt x="119063" y="51817"/>
                  <a:pt x="119063" y="47625"/>
                </a:cubicBezTo>
                <a:cubicBezTo>
                  <a:pt x="119063" y="43433"/>
                  <a:pt x="121221" y="39762"/>
                  <a:pt x="124495" y="37629"/>
                </a:cubicBezTo>
                <a:cubicBezTo>
                  <a:pt x="125909" y="36711"/>
                  <a:pt x="127000" y="35272"/>
                  <a:pt x="127000" y="33586"/>
                </a:cubicBezTo>
                <a:lnTo>
                  <a:pt x="127000" y="31750"/>
                </a:lnTo>
                <a:cubicBezTo>
                  <a:pt x="127000" y="22994"/>
                  <a:pt x="119881" y="15875"/>
                  <a:pt x="111125" y="15875"/>
                </a:cubicBezTo>
                <a:lnTo>
                  <a:pt x="15875" y="15875"/>
                </a:lnTo>
                <a:close/>
                <a:moveTo>
                  <a:pt x="127000" y="103188"/>
                </a:moveTo>
                <a:lnTo>
                  <a:pt x="127000" y="87313"/>
                </a:lnTo>
                <a:lnTo>
                  <a:pt x="0" y="87313"/>
                </a:lnTo>
                <a:lnTo>
                  <a:pt x="0" y="103188"/>
                </a:lnTo>
                <a:cubicBezTo>
                  <a:pt x="0" y="107578"/>
                  <a:pt x="3547" y="111125"/>
                  <a:pt x="7938" y="111125"/>
                </a:cubicBezTo>
                <a:lnTo>
                  <a:pt x="23812" y="111125"/>
                </a:lnTo>
                <a:lnTo>
                  <a:pt x="23812" y="105172"/>
                </a:lnTo>
                <a:cubicBezTo>
                  <a:pt x="23812" y="101873"/>
                  <a:pt x="26467" y="99219"/>
                  <a:pt x="29766" y="99219"/>
                </a:cubicBezTo>
                <a:cubicBezTo>
                  <a:pt x="33065" y="99219"/>
                  <a:pt x="35719" y="101873"/>
                  <a:pt x="35719" y="105172"/>
                </a:cubicBezTo>
                <a:lnTo>
                  <a:pt x="35719" y="111125"/>
                </a:lnTo>
                <a:lnTo>
                  <a:pt x="57547" y="111125"/>
                </a:lnTo>
                <a:lnTo>
                  <a:pt x="57547" y="105172"/>
                </a:lnTo>
                <a:cubicBezTo>
                  <a:pt x="57547" y="101873"/>
                  <a:pt x="60201" y="99219"/>
                  <a:pt x="63500" y="99219"/>
                </a:cubicBezTo>
                <a:cubicBezTo>
                  <a:pt x="66799" y="99219"/>
                  <a:pt x="69453" y="101873"/>
                  <a:pt x="69453" y="105172"/>
                </a:cubicBezTo>
                <a:lnTo>
                  <a:pt x="69453" y="111125"/>
                </a:lnTo>
                <a:lnTo>
                  <a:pt x="91281" y="111125"/>
                </a:lnTo>
                <a:lnTo>
                  <a:pt x="91281" y="105172"/>
                </a:lnTo>
                <a:cubicBezTo>
                  <a:pt x="91281" y="101873"/>
                  <a:pt x="93935" y="99219"/>
                  <a:pt x="97234" y="99219"/>
                </a:cubicBezTo>
                <a:cubicBezTo>
                  <a:pt x="100533" y="99219"/>
                  <a:pt x="103188" y="101873"/>
                  <a:pt x="103188" y="105172"/>
                </a:cubicBezTo>
                <a:lnTo>
                  <a:pt x="103188" y="111125"/>
                </a:ln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lose/>
                <a:moveTo>
                  <a:pt x="39688" y="39688"/>
                </a:moveTo>
                <a:lnTo>
                  <a:pt x="39688" y="55563"/>
                </a:lnTo>
                <a:cubicBezTo>
                  <a:pt x="39688" y="59953"/>
                  <a:pt x="36140" y="63500"/>
                  <a:pt x="31750" y="63500"/>
                </a:cubicBezTo>
                <a:cubicBezTo>
                  <a:pt x="27360" y="63500"/>
                  <a:pt x="23812" y="59953"/>
                  <a:pt x="23812" y="55563"/>
                </a:cubicBezTo>
                <a:lnTo>
                  <a:pt x="23812" y="39688"/>
                </a:lnTo>
                <a:cubicBezTo>
                  <a:pt x="23812" y="35297"/>
                  <a:pt x="27360" y="31750"/>
                  <a:pt x="31750" y="31750"/>
                </a:cubicBezTo>
                <a:cubicBezTo>
                  <a:pt x="36140" y="31750"/>
                  <a:pt x="39688" y="35297"/>
                  <a:pt x="39688" y="39688"/>
                </a:cubicBezTo>
                <a:close/>
                <a:moveTo>
                  <a:pt x="71438" y="39688"/>
                </a:moveTo>
                <a:lnTo>
                  <a:pt x="71438" y="55563"/>
                </a:lnTo>
                <a:cubicBezTo>
                  <a:pt x="71438" y="59953"/>
                  <a:pt x="67890" y="63500"/>
                  <a:pt x="63500" y="63500"/>
                </a:cubicBezTo>
                <a:cubicBezTo>
                  <a:pt x="59110" y="63500"/>
                  <a:pt x="55563" y="59953"/>
                  <a:pt x="55563" y="55563"/>
                </a:cubicBezTo>
                <a:lnTo>
                  <a:pt x="55563" y="39688"/>
                </a:lnTo>
                <a:cubicBezTo>
                  <a:pt x="55563" y="35297"/>
                  <a:pt x="59110" y="31750"/>
                  <a:pt x="63500" y="31750"/>
                </a:cubicBezTo>
                <a:cubicBezTo>
                  <a:pt x="67890" y="31750"/>
                  <a:pt x="71438" y="35297"/>
                  <a:pt x="71438" y="39688"/>
                </a:cubicBezTo>
                <a:close/>
                <a:moveTo>
                  <a:pt x="103188" y="39688"/>
                </a:moveTo>
                <a:lnTo>
                  <a:pt x="103188" y="55563"/>
                </a:lnTo>
                <a:cubicBezTo>
                  <a:pt x="103188" y="59953"/>
                  <a:pt x="99640" y="63500"/>
                  <a:pt x="95250" y="63500"/>
                </a:cubicBezTo>
                <a:cubicBezTo>
                  <a:pt x="90860" y="63500"/>
                  <a:pt x="87313" y="59953"/>
                  <a:pt x="87313" y="55563"/>
                </a:cubicBezTo>
                <a:lnTo>
                  <a:pt x="87313" y="39688"/>
                </a:lnTo>
                <a:cubicBezTo>
                  <a:pt x="87313" y="35297"/>
                  <a:pt x="90860" y="31750"/>
                  <a:pt x="95250" y="31750"/>
                </a:cubicBezTo>
                <a:cubicBezTo>
                  <a:pt x="99640" y="31750"/>
                  <a:pt x="103188" y="35297"/>
                  <a:pt x="103188" y="3968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27100" y="2947099"/>
            <a:ext cx="397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Memory:</a:t>
            </a: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How we store and recall information inspired neural networks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0725" y="323284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5563" y="0"/>
                </a:moveTo>
                <a:cubicBezTo>
                  <a:pt x="64319" y="0"/>
                  <a:pt x="71438" y="5333"/>
                  <a:pt x="71438" y="11906"/>
                </a:cubicBezTo>
                <a:cubicBezTo>
                  <a:pt x="71438" y="14486"/>
                  <a:pt x="70346" y="16867"/>
                  <a:pt x="68461" y="18827"/>
                </a:cubicBezTo>
                <a:cubicBezTo>
                  <a:pt x="66824" y="20538"/>
                  <a:pt x="65484" y="22622"/>
                  <a:pt x="65484" y="25003"/>
                </a:cubicBezTo>
                <a:cubicBezTo>
                  <a:pt x="65484" y="28724"/>
                  <a:pt x="68511" y="31750"/>
                  <a:pt x="72231" y="31750"/>
                </a:cubicBezTo>
                <a:lnTo>
                  <a:pt x="83344" y="31750"/>
                </a:lnTo>
                <a:cubicBezTo>
                  <a:pt x="89917" y="31750"/>
                  <a:pt x="95250" y="37083"/>
                  <a:pt x="95250" y="43656"/>
                </a:cubicBezTo>
                <a:lnTo>
                  <a:pt x="95250" y="54769"/>
                </a:lnTo>
                <a:cubicBezTo>
                  <a:pt x="95250" y="58489"/>
                  <a:pt x="98276" y="61516"/>
                  <a:pt x="101997" y="61516"/>
                </a:cubicBezTo>
                <a:cubicBezTo>
                  <a:pt x="104353" y="61516"/>
                  <a:pt x="106462" y="60176"/>
                  <a:pt x="108173" y="58539"/>
                </a:cubicBezTo>
                <a:cubicBezTo>
                  <a:pt x="110133" y="56679"/>
                  <a:pt x="112514" y="55563"/>
                  <a:pt x="115094" y="55563"/>
                </a:cubicBezTo>
                <a:cubicBezTo>
                  <a:pt x="121667" y="55563"/>
                  <a:pt x="127000" y="62681"/>
                  <a:pt x="127000" y="71438"/>
                </a:cubicBezTo>
                <a:cubicBezTo>
                  <a:pt x="127000" y="80194"/>
                  <a:pt x="121667" y="87313"/>
                  <a:pt x="115094" y="87313"/>
                </a:cubicBezTo>
                <a:cubicBezTo>
                  <a:pt x="112514" y="87313"/>
                  <a:pt x="110108" y="86221"/>
                  <a:pt x="108173" y="84336"/>
                </a:cubicBezTo>
                <a:cubicBezTo>
                  <a:pt x="106462" y="82699"/>
                  <a:pt x="104378" y="81359"/>
                  <a:pt x="101997" y="81359"/>
                </a:cubicBezTo>
                <a:cubicBezTo>
                  <a:pt x="98276" y="81359"/>
                  <a:pt x="95250" y="84386"/>
                  <a:pt x="95250" y="88106"/>
                </a:cubicBezTo>
                <a:lnTo>
                  <a:pt x="95250" y="115094"/>
                </a:lnTo>
                <a:cubicBezTo>
                  <a:pt x="95250" y="121667"/>
                  <a:pt x="89917" y="127000"/>
                  <a:pt x="83344" y="127000"/>
                </a:cubicBezTo>
                <a:lnTo>
                  <a:pt x="69255" y="127000"/>
                </a:lnTo>
                <a:cubicBezTo>
                  <a:pt x="66080" y="127000"/>
                  <a:pt x="63500" y="124420"/>
                  <a:pt x="63500" y="121245"/>
                </a:cubicBezTo>
                <a:cubicBezTo>
                  <a:pt x="63500" y="118963"/>
                  <a:pt x="64939" y="116954"/>
                  <a:pt x="66774" y="115590"/>
                </a:cubicBezTo>
                <a:cubicBezTo>
                  <a:pt x="69652" y="113432"/>
                  <a:pt x="71438" y="110455"/>
                  <a:pt x="71438" y="107156"/>
                </a:cubicBezTo>
                <a:cubicBezTo>
                  <a:pt x="71438" y="100583"/>
                  <a:pt x="64319" y="95250"/>
                  <a:pt x="55563" y="95250"/>
                </a:cubicBezTo>
                <a:cubicBezTo>
                  <a:pt x="46806" y="95250"/>
                  <a:pt x="39688" y="100583"/>
                  <a:pt x="39688" y="107156"/>
                </a:cubicBezTo>
                <a:cubicBezTo>
                  <a:pt x="39688" y="110455"/>
                  <a:pt x="41473" y="113432"/>
                  <a:pt x="44351" y="115590"/>
                </a:cubicBezTo>
                <a:cubicBezTo>
                  <a:pt x="46186" y="116954"/>
                  <a:pt x="47625" y="118938"/>
                  <a:pt x="47625" y="121245"/>
                </a:cubicBezTo>
                <a:cubicBezTo>
                  <a:pt x="47625" y="124420"/>
                  <a:pt x="45045" y="127000"/>
                  <a:pt x="41870" y="127000"/>
                </a:cubicBezTo>
                <a:lnTo>
                  <a:pt x="11906" y="127000"/>
                </a:lnTo>
                <a:cubicBezTo>
                  <a:pt x="5333" y="127000"/>
                  <a:pt x="0" y="121667"/>
                  <a:pt x="0" y="115094"/>
                </a:cubicBezTo>
                <a:lnTo>
                  <a:pt x="0" y="85130"/>
                </a:lnTo>
                <a:cubicBezTo>
                  <a:pt x="0" y="81955"/>
                  <a:pt x="2580" y="79375"/>
                  <a:pt x="5755" y="79375"/>
                </a:cubicBezTo>
                <a:cubicBezTo>
                  <a:pt x="8037" y="79375"/>
                  <a:pt x="10046" y="80814"/>
                  <a:pt x="11410" y="82649"/>
                </a:cubicBezTo>
                <a:cubicBezTo>
                  <a:pt x="13568" y="85527"/>
                  <a:pt x="16545" y="87313"/>
                  <a:pt x="19844" y="87313"/>
                </a:cubicBezTo>
                <a:cubicBezTo>
                  <a:pt x="26417" y="87313"/>
                  <a:pt x="31750" y="80194"/>
                  <a:pt x="31750" y="71438"/>
                </a:cubicBezTo>
                <a:cubicBezTo>
                  <a:pt x="31750" y="62681"/>
                  <a:pt x="26417" y="55563"/>
                  <a:pt x="19844" y="55563"/>
                </a:cubicBezTo>
                <a:cubicBezTo>
                  <a:pt x="16545" y="55563"/>
                  <a:pt x="13568" y="57348"/>
                  <a:pt x="11410" y="60226"/>
                </a:cubicBezTo>
                <a:cubicBezTo>
                  <a:pt x="10046" y="62061"/>
                  <a:pt x="8062" y="63500"/>
                  <a:pt x="5755" y="63500"/>
                </a:cubicBezTo>
                <a:cubicBezTo>
                  <a:pt x="2580" y="63500"/>
                  <a:pt x="0" y="60920"/>
                  <a:pt x="0" y="57745"/>
                </a:cubicBezTo>
                <a:lnTo>
                  <a:pt x="0" y="43656"/>
                </a:lnTo>
                <a:cubicBezTo>
                  <a:pt x="0" y="37083"/>
                  <a:pt x="5333" y="31750"/>
                  <a:pt x="11906" y="31750"/>
                </a:cubicBezTo>
                <a:lnTo>
                  <a:pt x="38894" y="31750"/>
                </a:lnTo>
                <a:cubicBezTo>
                  <a:pt x="42614" y="31750"/>
                  <a:pt x="45641" y="28724"/>
                  <a:pt x="45641" y="25003"/>
                </a:cubicBezTo>
                <a:cubicBezTo>
                  <a:pt x="45641" y="22647"/>
                  <a:pt x="44301" y="20538"/>
                  <a:pt x="42664" y="18827"/>
                </a:cubicBezTo>
                <a:cubicBezTo>
                  <a:pt x="40804" y="16867"/>
                  <a:pt x="39688" y="14486"/>
                  <a:pt x="39688" y="11906"/>
                </a:cubicBezTo>
                <a:cubicBezTo>
                  <a:pt x="39688" y="5333"/>
                  <a:pt x="46806" y="0"/>
                  <a:pt x="55563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27100" y="3201099"/>
            <a:ext cx="3659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Solving:</a:t>
            </a: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Human strategies inspired AI search algorithms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2788" y="348684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27100" y="3455099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Perception:</a:t>
            </a: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How we see and hear inspired computer vision and speech recognition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675" y="4131373"/>
            <a:ext cx="6816725" cy="2546350"/>
          </a:xfrm>
          <a:custGeom>
            <a:avLst/>
            <a:gdLst/>
            <a:ahLst/>
            <a:cxnLst/>
            <a:rect l="l" t="t" r="r" b="b"/>
            <a:pathLst>
              <a:path w="6816725" h="2546350">
                <a:moveTo>
                  <a:pt x="95259" y="0"/>
                </a:moveTo>
                <a:lnTo>
                  <a:pt x="6721466" y="0"/>
                </a:lnTo>
                <a:cubicBezTo>
                  <a:pt x="6774076" y="0"/>
                  <a:pt x="6816725" y="42649"/>
                  <a:pt x="6816725" y="95259"/>
                </a:cubicBezTo>
                <a:lnTo>
                  <a:pt x="6816725" y="2451091"/>
                </a:lnTo>
                <a:cubicBezTo>
                  <a:pt x="6816725" y="2503701"/>
                  <a:pt x="6774076" y="2546350"/>
                  <a:pt x="6721466" y="2546350"/>
                </a:cubicBezTo>
                <a:lnTo>
                  <a:pt x="95259" y="2546350"/>
                </a:lnTo>
                <a:cubicBezTo>
                  <a:pt x="42649" y="2546350"/>
                  <a:pt x="0" y="2503701"/>
                  <a:pt x="0" y="2451091"/>
                </a:cubicBezTo>
                <a:lnTo>
                  <a:pt x="0" y="95259"/>
                </a:lnTo>
                <a:cubicBezTo>
                  <a:pt x="0" y="42649"/>
                  <a:pt x="42649" y="0"/>
                  <a:pt x="9525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" y="4325046"/>
            <a:ext cx="652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Psychology Inspires AI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4350" y="4705945"/>
            <a:ext cx="3151188" cy="825500"/>
          </a:xfrm>
          <a:custGeom>
            <a:avLst/>
            <a:gdLst/>
            <a:ahLst/>
            <a:cxnLst/>
            <a:rect l="l" t="t" r="r" b="b"/>
            <a:pathLst>
              <a:path w="3151188" h="825500">
                <a:moveTo>
                  <a:pt x="63497" y="0"/>
                </a:moveTo>
                <a:lnTo>
                  <a:pt x="3087690" y="0"/>
                </a:lnTo>
                <a:cubicBezTo>
                  <a:pt x="3122759" y="0"/>
                  <a:pt x="3151188" y="28429"/>
                  <a:pt x="3151188" y="63497"/>
                </a:cubicBezTo>
                <a:lnTo>
                  <a:pt x="3151188" y="762003"/>
                </a:lnTo>
                <a:cubicBezTo>
                  <a:pt x="3151188" y="797071"/>
                  <a:pt x="3122759" y="825500"/>
                  <a:pt x="3087690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3" name="Text 21"/>
          <p:cNvSpPr/>
          <p:nvPr/>
        </p:nvSpPr>
        <p:spPr>
          <a:xfrm>
            <a:off x="641350" y="4832945"/>
            <a:ext cx="296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 Learning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350" y="5086945"/>
            <a:ext cx="2952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Children learn by example and practice → Machine learning algorithms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90950" y="4705945"/>
            <a:ext cx="3151188" cy="825500"/>
          </a:xfrm>
          <a:custGeom>
            <a:avLst/>
            <a:gdLst/>
            <a:ahLst/>
            <a:cxnLst/>
            <a:rect l="l" t="t" r="r" b="b"/>
            <a:pathLst>
              <a:path w="3151188" h="825500">
                <a:moveTo>
                  <a:pt x="63497" y="0"/>
                </a:moveTo>
                <a:lnTo>
                  <a:pt x="3087690" y="0"/>
                </a:lnTo>
                <a:cubicBezTo>
                  <a:pt x="3122759" y="0"/>
                  <a:pt x="3151188" y="28429"/>
                  <a:pt x="3151188" y="63497"/>
                </a:cubicBezTo>
                <a:lnTo>
                  <a:pt x="3151188" y="762003"/>
                </a:lnTo>
                <a:cubicBezTo>
                  <a:pt x="3151188" y="797071"/>
                  <a:pt x="3122759" y="825500"/>
                  <a:pt x="3087690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6" name="Text 24"/>
          <p:cNvSpPr/>
          <p:nvPr/>
        </p:nvSpPr>
        <p:spPr>
          <a:xfrm>
            <a:off x="3917950" y="4832945"/>
            <a:ext cx="296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Recognition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17950" y="5086945"/>
            <a:ext cx="295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Humans recognize faces instantly → Facial recognition AI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350" y="5658445"/>
            <a:ext cx="3151188" cy="825500"/>
          </a:xfrm>
          <a:custGeom>
            <a:avLst/>
            <a:gdLst/>
            <a:ahLst/>
            <a:cxnLst/>
            <a:rect l="l" t="t" r="r" b="b"/>
            <a:pathLst>
              <a:path w="3151188" h="825500">
                <a:moveTo>
                  <a:pt x="63497" y="0"/>
                </a:moveTo>
                <a:lnTo>
                  <a:pt x="3087690" y="0"/>
                </a:lnTo>
                <a:cubicBezTo>
                  <a:pt x="3122759" y="0"/>
                  <a:pt x="3151188" y="28429"/>
                  <a:pt x="3151188" y="63497"/>
                </a:cubicBezTo>
                <a:lnTo>
                  <a:pt x="3151188" y="762003"/>
                </a:lnTo>
                <a:cubicBezTo>
                  <a:pt x="3151188" y="797071"/>
                  <a:pt x="3122759" y="825500"/>
                  <a:pt x="3087690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9" name="Text 27"/>
          <p:cNvSpPr/>
          <p:nvPr/>
        </p:nvSpPr>
        <p:spPr>
          <a:xfrm>
            <a:off x="641350" y="5785445"/>
            <a:ext cx="296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Acquisition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350" y="6039445"/>
            <a:ext cx="2952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Babies learn language naturally → Natural language processing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790950" y="5658445"/>
            <a:ext cx="3151188" cy="825500"/>
          </a:xfrm>
          <a:custGeom>
            <a:avLst/>
            <a:gdLst/>
            <a:ahLst/>
            <a:cxnLst/>
            <a:rect l="l" t="t" r="r" b="b"/>
            <a:pathLst>
              <a:path w="3151188" h="825500">
                <a:moveTo>
                  <a:pt x="63497" y="0"/>
                </a:moveTo>
                <a:lnTo>
                  <a:pt x="3087690" y="0"/>
                </a:lnTo>
                <a:cubicBezTo>
                  <a:pt x="3122759" y="0"/>
                  <a:pt x="3151188" y="28429"/>
                  <a:pt x="3151188" y="63497"/>
                </a:cubicBezTo>
                <a:lnTo>
                  <a:pt x="3151188" y="762003"/>
                </a:lnTo>
                <a:cubicBezTo>
                  <a:pt x="3151188" y="797071"/>
                  <a:pt x="3122759" y="825500"/>
                  <a:pt x="3087690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2" name="Text 30"/>
          <p:cNvSpPr/>
          <p:nvPr/>
        </p:nvSpPr>
        <p:spPr>
          <a:xfrm>
            <a:off x="3917950" y="5785445"/>
            <a:ext cx="296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Making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917950" y="6039445"/>
            <a:ext cx="295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Humans use intuition and logic → Expert systems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31075" y="1082675"/>
            <a:ext cx="4538663" cy="5594350"/>
          </a:xfrm>
          <a:custGeom>
            <a:avLst/>
            <a:gdLst/>
            <a:ahLst/>
            <a:cxnLst/>
            <a:rect l="l" t="t" r="r" b="b"/>
            <a:pathLst>
              <a:path w="4538663" h="5594350">
                <a:moveTo>
                  <a:pt x="95267" y="0"/>
                </a:moveTo>
                <a:lnTo>
                  <a:pt x="4443396" y="0"/>
                </a:lnTo>
                <a:cubicBezTo>
                  <a:pt x="4496010" y="0"/>
                  <a:pt x="4538663" y="42652"/>
                  <a:pt x="4538663" y="95267"/>
                </a:cubicBezTo>
                <a:lnTo>
                  <a:pt x="4538663" y="5499083"/>
                </a:lnTo>
                <a:cubicBezTo>
                  <a:pt x="4538663" y="5551698"/>
                  <a:pt x="4496010" y="5594350"/>
                  <a:pt x="4443396" y="5594350"/>
                </a:cubicBezTo>
                <a:lnTo>
                  <a:pt x="95267" y="5594350"/>
                </a:lnTo>
                <a:cubicBezTo>
                  <a:pt x="42652" y="5594350"/>
                  <a:pt x="0" y="5551698"/>
                  <a:pt x="0" y="5499083"/>
                </a:cubicBezTo>
                <a:lnTo>
                  <a:pt x="0" y="95267"/>
                </a:lnTo>
                <a:cubicBezTo>
                  <a:pt x="0" y="42687"/>
                  <a:pt x="42687" y="0"/>
                  <a:pt x="9526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3000" y="1244598"/>
            <a:ext cx="4310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93000" y="1625505"/>
            <a:ext cx="4214813" cy="2190750"/>
          </a:xfrm>
          <a:custGeom>
            <a:avLst/>
            <a:gdLst/>
            <a:ahLst/>
            <a:cxnLst/>
            <a:rect l="l" t="t" r="r" b="b"/>
            <a:pathLst>
              <a:path w="4214813" h="2190750">
                <a:moveTo>
                  <a:pt x="63510" y="0"/>
                </a:moveTo>
                <a:lnTo>
                  <a:pt x="4151303" y="0"/>
                </a:lnTo>
                <a:cubicBezTo>
                  <a:pt x="4186378" y="0"/>
                  <a:pt x="4214813" y="28434"/>
                  <a:pt x="4214813" y="63510"/>
                </a:cubicBezTo>
                <a:lnTo>
                  <a:pt x="4214813" y="2127240"/>
                </a:lnTo>
                <a:cubicBezTo>
                  <a:pt x="4214813" y="2162316"/>
                  <a:pt x="4186378" y="2190750"/>
                  <a:pt x="4151303" y="2190750"/>
                </a:cubicBezTo>
                <a:lnTo>
                  <a:pt x="63510" y="2190750"/>
                </a:lnTo>
                <a:cubicBezTo>
                  <a:pt x="28434" y="2190750"/>
                  <a:pt x="0" y="2162316"/>
                  <a:pt x="0" y="2127240"/>
                </a:cubicBezTo>
                <a:lnTo>
                  <a:pt x="0" y="63510"/>
                </a:lnTo>
                <a:cubicBezTo>
                  <a:pt x="0" y="28434"/>
                  <a:pt x="28434" y="0"/>
                  <a:pt x="6351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37" name="Image 0" descr="https://esdst.eu/wp-content/uploads/2024/07/Blog-Banner-for-Website-Cont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1752505"/>
            <a:ext cx="3960813" cy="1143000"/>
          </a:xfrm>
          <a:prstGeom prst="roundRect">
            <a:avLst>
              <a:gd name="adj" fmla="val 5556"/>
            </a:avLst>
          </a:prstGeom>
        </p:spPr>
      </p:pic>
      <p:sp>
        <p:nvSpPr>
          <p:cNvPr id="38" name="Text 35"/>
          <p:cNvSpPr/>
          <p:nvPr/>
        </p:nvSpPr>
        <p:spPr>
          <a:xfrm>
            <a:off x="7620000" y="2990755"/>
            <a:ext cx="403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620000" y="3276505"/>
            <a:ext cx="4024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neural networks are directly inspired by how neurons in the human brain connect and process information.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496175" y="3946430"/>
            <a:ext cx="4213225" cy="831850"/>
          </a:xfrm>
          <a:custGeom>
            <a:avLst/>
            <a:gdLst/>
            <a:ahLst/>
            <a:cxnLst/>
            <a:rect l="l" t="t" r="r" b="b"/>
            <a:pathLst>
              <a:path w="4213225" h="831850">
                <a:moveTo>
                  <a:pt x="63503" y="0"/>
                </a:moveTo>
                <a:lnTo>
                  <a:pt x="4149722" y="0"/>
                </a:lnTo>
                <a:cubicBezTo>
                  <a:pt x="4184770" y="0"/>
                  <a:pt x="4213225" y="28455"/>
                  <a:pt x="4213225" y="63503"/>
                </a:cubicBezTo>
                <a:lnTo>
                  <a:pt x="4213225" y="768347"/>
                </a:lnTo>
                <a:cubicBezTo>
                  <a:pt x="4213225" y="803419"/>
                  <a:pt x="4184794" y="831850"/>
                  <a:pt x="4149722" y="831850"/>
                </a:cubicBezTo>
                <a:lnTo>
                  <a:pt x="63503" y="831850"/>
                </a:lnTo>
                <a:cubicBezTo>
                  <a:pt x="28431" y="831850"/>
                  <a:pt x="0" y="803419"/>
                  <a:pt x="0" y="7683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26350" y="4076604"/>
            <a:ext cx="55215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626350" y="4330604"/>
            <a:ext cx="4008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Psychologists are like nature observers who study birds to design better airplanes - they study human minds to design better AI!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407" y="396488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99122" y="0"/>
                </a:moveTo>
                <a:lnTo>
                  <a:pt x="297366" y="0"/>
                </a:lnTo>
                <a:cubicBezTo>
                  <a:pt x="352073" y="0"/>
                  <a:pt x="396488" y="44415"/>
                  <a:pt x="396488" y="99122"/>
                </a:cubicBezTo>
                <a:lnTo>
                  <a:pt x="396488" y="297366"/>
                </a:lnTo>
                <a:cubicBezTo>
                  <a:pt x="396488" y="352109"/>
                  <a:pt x="352109" y="396488"/>
                  <a:pt x="297366" y="396488"/>
                </a:cubicBezTo>
                <a:lnTo>
                  <a:pt x="99122" y="396488"/>
                </a:lnTo>
                <a:cubicBezTo>
                  <a:pt x="44415" y="396488"/>
                  <a:pt x="0" y="352073"/>
                  <a:pt x="0" y="297366"/>
                </a:cubicBezTo>
                <a:lnTo>
                  <a:pt x="0" y="99122"/>
                </a:lnTo>
                <a:cubicBezTo>
                  <a:pt x="0" y="44415"/>
                  <a:pt x="44415" y="0"/>
                  <a:pt x="99122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9528" y="495610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68146" y="9293"/>
                </a:moveTo>
                <a:cubicBezTo>
                  <a:pt x="68146" y="4143"/>
                  <a:pt x="64003" y="0"/>
                  <a:pt x="58854" y="0"/>
                </a:cubicBezTo>
                <a:cubicBezTo>
                  <a:pt x="53704" y="0"/>
                  <a:pt x="49561" y="4143"/>
                  <a:pt x="49561" y="9293"/>
                </a:cubicBezTo>
                <a:lnTo>
                  <a:pt x="49561" y="24780"/>
                </a:lnTo>
                <a:cubicBezTo>
                  <a:pt x="35893" y="24780"/>
                  <a:pt x="24780" y="35893"/>
                  <a:pt x="24780" y="49561"/>
                </a:cubicBezTo>
                <a:lnTo>
                  <a:pt x="9293" y="49561"/>
                </a:lnTo>
                <a:cubicBezTo>
                  <a:pt x="4143" y="49561"/>
                  <a:pt x="0" y="53704"/>
                  <a:pt x="0" y="58854"/>
                </a:cubicBezTo>
                <a:cubicBezTo>
                  <a:pt x="0" y="64003"/>
                  <a:pt x="4143" y="68146"/>
                  <a:pt x="9293" y="68146"/>
                </a:cubicBezTo>
                <a:lnTo>
                  <a:pt x="24780" y="68146"/>
                </a:lnTo>
                <a:lnTo>
                  <a:pt x="24780" y="89829"/>
                </a:lnTo>
                <a:lnTo>
                  <a:pt x="9293" y="89829"/>
                </a:lnTo>
                <a:cubicBezTo>
                  <a:pt x="4143" y="89829"/>
                  <a:pt x="0" y="93972"/>
                  <a:pt x="0" y="99122"/>
                </a:cubicBezTo>
                <a:cubicBezTo>
                  <a:pt x="0" y="104272"/>
                  <a:pt x="4143" y="108415"/>
                  <a:pt x="9293" y="108415"/>
                </a:cubicBezTo>
                <a:lnTo>
                  <a:pt x="24780" y="108415"/>
                </a:lnTo>
                <a:lnTo>
                  <a:pt x="24780" y="130098"/>
                </a:lnTo>
                <a:lnTo>
                  <a:pt x="9293" y="130098"/>
                </a:lnTo>
                <a:cubicBezTo>
                  <a:pt x="4143" y="130098"/>
                  <a:pt x="0" y="134241"/>
                  <a:pt x="0" y="139390"/>
                </a:cubicBezTo>
                <a:cubicBezTo>
                  <a:pt x="0" y="144540"/>
                  <a:pt x="4143" y="148683"/>
                  <a:pt x="9293" y="148683"/>
                </a:cubicBezTo>
                <a:lnTo>
                  <a:pt x="24780" y="148683"/>
                </a:lnTo>
                <a:cubicBezTo>
                  <a:pt x="24780" y="162351"/>
                  <a:pt x="35893" y="173463"/>
                  <a:pt x="49561" y="173463"/>
                </a:cubicBezTo>
                <a:lnTo>
                  <a:pt x="49561" y="188951"/>
                </a:lnTo>
                <a:cubicBezTo>
                  <a:pt x="49561" y="194101"/>
                  <a:pt x="53704" y="198244"/>
                  <a:pt x="58854" y="198244"/>
                </a:cubicBezTo>
                <a:cubicBezTo>
                  <a:pt x="64003" y="198244"/>
                  <a:pt x="68146" y="194101"/>
                  <a:pt x="68146" y="188951"/>
                </a:cubicBezTo>
                <a:lnTo>
                  <a:pt x="68146" y="173463"/>
                </a:lnTo>
                <a:lnTo>
                  <a:pt x="89829" y="173463"/>
                </a:lnTo>
                <a:lnTo>
                  <a:pt x="89829" y="188951"/>
                </a:lnTo>
                <a:cubicBezTo>
                  <a:pt x="89829" y="194101"/>
                  <a:pt x="93972" y="198244"/>
                  <a:pt x="99122" y="198244"/>
                </a:cubicBezTo>
                <a:cubicBezTo>
                  <a:pt x="104272" y="198244"/>
                  <a:pt x="108415" y="194101"/>
                  <a:pt x="108415" y="188951"/>
                </a:cubicBezTo>
                <a:lnTo>
                  <a:pt x="108415" y="173463"/>
                </a:lnTo>
                <a:lnTo>
                  <a:pt x="130098" y="173463"/>
                </a:lnTo>
                <a:lnTo>
                  <a:pt x="130098" y="188951"/>
                </a:lnTo>
                <a:cubicBezTo>
                  <a:pt x="130098" y="194101"/>
                  <a:pt x="134241" y="198244"/>
                  <a:pt x="139390" y="198244"/>
                </a:cubicBezTo>
                <a:cubicBezTo>
                  <a:pt x="144540" y="198244"/>
                  <a:pt x="148683" y="194101"/>
                  <a:pt x="148683" y="188951"/>
                </a:cubicBezTo>
                <a:lnTo>
                  <a:pt x="148683" y="173463"/>
                </a:lnTo>
                <a:cubicBezTo>
                  <a:pt x="162351" y="173463"/>
                  <a:pt x="173463" y="162351"/>
                  <a:pt x="173463" y="148683"/>
                </a:cubicBezTo>
                <a:lnTo>
                  <a:pt x="188951" y="148683"/>
                </a:lnTo>
                <a:cubicBezTo>
                  <a:pt x="194101" y="148683"/>
                  <a:pt x="198244" y="144540"/>
                  <a:pt x="198244" y="139390"/>
                </a:cubicBezTo>
                <a:cubicBezTo>
                  <a:pt x="198244" y="134241"/>
                  <a:pt x="194101" y="130098"/>
                  <a:pt x="188951" y="130098"/>
                </a:cubicBezTo>
                <a:lnTo>
                  <a:pt x="173463" y="130098"/>
                </a:lnTo>
                <a:lnTo>
                  <a:pt x="173463" y="108415"/>
                </a:lnTo>
                <a:lnTo>
                  <a:pt x="188951" y="108415"/>
                </a:lnTo>
                <a:cubicBezTo>
                  <a:pt x="194101" y="108415"/>
                  <a:pt x="198244" y="104272"/>
                  <a:pt x="198244" y="99122"/>
                </a:cubicBezTo>
                <a:cubicBezTo>
                  <a:pt x="198244" y="93972"/>
                  <a:pt x="194101" y="89829"/>
                  <a:pt x="188951" y="89829"/>
                </a:cubicBezTo>
                <a:lnTo>
                  <a:pt x="173463" y="89829"/>
                </a:lnTo>
                <a:lnTo>
                  <a:pt x="173463" y="68146"/>
                </a:lnTo>
                <a:lnTo>
                  <a:pt x="188951" y="68146"/>
                </a:lnTo>
                <a:cubicBezTo>
                  <a:pt x="194101" y="68146"/>
                  <a:pt x="198244" y="64003"/>
                  <a:pt x="198244" y="58854"/>
                </a:cubicBezTo>
                <a:cubicBezTo>
                  <a:pt x="198244" y="53704"/>
                  <a:pt x="194101" y="49561"/>
                  <a:pt x="188951" y="49561"/>
                </a:cubicBezTo>
                <a:lnTo>
                  <a:pt x="173463" y="49561"/>
                </a:lnTo>
                <a:cubicBezTo>
                  <a:pt x="173463" y="35893"/>
                  <a:pt x="162351" y="24780"/>
                  <a:pt x="148683" y="24780"/>
                </a:cubicBezTo>
                <a:lnTo>
                  <a:pt x="148683" y="9293"/>
                </a:lnTo>
                <a:cubicBezTo>
                  <a:pt x="148683" y="4143"/>
                  <a:pt x="144540" y="0"/>
                  <a:pt x="139390" y="0"/>
                </a:cubicBezTo>
                <a:cubicBezTo>
                  <a:pt x="134241" y="0"/>
                  <a:pt x="130098" y="4143"/>
                  <a:pt x="130098" y="9293"/>
                </a:cubicBezTo>
                <a:lnTo>
                  <a:pt x="130098" y="24780"/>
                </a:lnTo>
                <a:lnTo>
                  <a:pt x="108415" y="24780"/>
                </a:lnTo>
                <a:lnTo>
                  <a:pt x="108415" y="9293"/>
                </a:lnTo>
                <a:cubicBezTo>
                  <a:pt x="108415" y="4143"/>
                  <a:pt x="104272" y="0"/>
                  <a:pt x="99122" y="0"/>
                </a:cubicBezTo>
                <a:cubicBezTo>
                  <a:pt x="93972" y="0"/>
                  <a:pt x="89829" y="4143"/>
                  <a:pt x="89829" y="9293"/>
                </a:cubicBezTo>
                <a:lnTo>
                  <a:pt x="89829" y="24780"/>
                </a:lnTo>
                <a:lnTo>
                  <a:pt x="68146" y="24780"/>
                </a:lnTo>
                <a:lnTo>
                  <a:pt x="68146" y="9293"/>
                </a:lnTo>
                <a:close/>
                <a:moveTo>
                  <a:pt x="61951" y="49561"/>
                </a:moveTo>
                <a:lnTo>
                  <a:pt x="136293" y="49561"/>
                </a:lnTo>
                <a:cubicBezTo>
                  <a:pt x="143146" y="49561"/>
                  <a:pt x="148683" y="55098"/>
                  <a:pt x="148683" y="61951"/>
                </a:cubicBezTo>
                <a:lnTo>
                  <a:pt x="148683" y="136293"/>
                </a:lnTo>
                <a:cubicBezTo>
                  <a:pt x="148683" y="143146"/>
                  <a:pt x="143146" y="148683"/>
                  <a:pt x="136293" y="148683"/>
                </a:cubicBezTo>
                <a:lnTo>
                  <a:pt x="61951" y="148683"/>
                </a:lnTo>
                <a:cubicBezTo>
                  <a:pt x="55098" y="148683"/>
                  <a:pt x="49561" y="143146"/>
                  <a:pt x="49561" y="136293"/>
                </a:cubicBezTo>
                <a:lnTo>
                  <a:pt x="49561" y="61951"/>
                </a:lnTo>
                <a:cubicBezTo>
                  <a:pt x="49561" y="55098"/>
                  <a:pt x="55098" y="49561"/>
                  <a:pt x="61951" y="49561"/>
                </a:cubicBezTo>
                <a:close/>
                <a:moveTo>
                  <a:pt x="68146" y="68146"/>
                </a:moveTo>
                <a:lnTo>
                  <a:pt x="68146" y="130098"/>
                </a:lnTo>
                <a:lnTo>
                  <a:pt x="130098" y="130098"/>
                </a:lnTo>
                <a:lnTo>
                  <a:pt x="130098" y="68146"/>
                </a:lnTo>
                <a:lnTo>
                  <a:pt x="68146" y="68146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826016" y="330407"/>
            <a:ext cx="4353106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• TOPIC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6016" y="528650"/>
            <a:ext cx="4435707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of Computer Engineers in 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711" y="1126686"/>
            <a:ext cx="6788202" cy="3029828"/>
          </a:xfrm>
          <a:custGeom>
            <a:avLst/>
            <a:gdLst/>
            <a:ahLst/>
            <a:cxnLst/>
            <a:rect l="l" t="t" r="r" b="b"/>
            <a:pathLst>
              <a:path w="6788202" h="3029828">
                <a:moveTo>
                  <a:pt x="99136" y="0"/>
                </a:moveTo>
                <a:lnTo>
                  <a:pt x="6689066" y="0"/>
                </a:lnTo>
                <a:cubicBezTo>
                  <a:pt x="6743817" y="0"/>
                  <a:pt x="6788202" y="44385"/>
                  <a:pt x="6788202" y="99136"/>
                </a:cubicBezTo>
                <a:lnTo>
                  <a:pt x="6788202" y="2930692"/>
                </a:lnTo>
                <a:cubicBezTo>
                  <a:pt x="6788202" y="2985443"/>
                  <a:pt x="6743817" y="3029828"/>
                  <a:pt x="6689066" y="3029828"/>
                </a:cubicBezTo>
                <a:lnTo>
                  <a:pt x="99136" y="3029828"/>
                </a:lnTo>
                <a:cubicBezTo>
                  <a:pt x="44385" y="3029828"/>
                  <a:pt x="0" y="2985443"/>
                  <a:pt x="0" y="2930692"/>
                </a:cubicBezTo>
                <a:lnTo>
                  <a:pt x="0" y="99136"/>
                </a:lnTo>
                <a:cubicBezTo>
                  <a:pt x="0" y="44421"/>
                  <a:pt x="44421" y="0"/>
                  <a:pt x="9913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259" y="1328233"/>
            <a:ext cx="6484228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the Tools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5259" y="1724624"/>
            <a:ext cx="6459447" cy="4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engineers create the </a:t>
            </a:r>
            <a:r>
              <a:rPr lang="en-US" sz="1171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and software</a:t>
            </a:r>
            <a:r>
              <a:rPr lang="en-US" sz="117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make AI possible. They build the engines that power intelligent systems!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1779" y="2340006"/>
            <a:ext cx="6368585" cy="1618992"/>
          </a:xfrm>
          <a:custGeom>
            <a:avLst/>
            <a:gdLst/>
            <a:ahLst/>
            <a:cxnLst/>
            <a:rect l="l" t="t" r="r" b="b"/>
            <a:pathLst>
              <a:path w="6368585" h="1618992">
                <a:moveTo>
                  <a:pt x="33041" y="0"/>
                </a:moveTo>
                <a:lnTo>
                  <a:pt x="6302498" y="0"/>
                </a:lnTo>
                <a:cubicBezTo>
                  <a:pt x="6338997" y="0"/>
                  <a:pt x="6368585" y="29588"/>
                  <a:pt x="6368585" y="66087"/>
                </a:cubicBezTo>
                <a:lnTo>
                  <a:pt x="6368585" y="1552905"/>
                </a:lnTo>
                <a:cubicBezTo>
                  <a:pt x="6368585" y="1589404"/>
                  <a:pt x="6338997" y="1618992"/>
                  <a:pt x="6302498" y="1618992"/>
                </a:cubicBezTo>
                <a:lnTo>
                  <a:pt x="33041" y="1618992"/>
                </a:lnTo>
                <a:cubicBezTo>
                  <a:pt x="14793" y="1618992"/>
                  <a:pt x="0" y="1604199"/>
                  <a:pt x="0" y="1585951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51779" y="2340006"/>
            <a:ext cx="33041" cy="1618992"/>
          </a:xfrm>
          <a:custGeom>
            <a:avLst/>
            <a:gdLst/>
            <a:ahLst/>
            <a:cxnLst/>
            <a:rect l="l" t="t" r="r" b="b"/>
            <a:pathLst>
              <a:path w="33041" h="1618992">
                <a:moveTo>
                  <a:pt x="33041" y="0"/>
                </a:moveTo>
                <a:lnTo>
                  <a:pt x="33041" y="0"/>
                </a:lnTo>
                <a:lnTo>
                  <a:pt x="33041" y="1618992"/>
                </a:lnTo>
                <a:lnTo>
                  <a:pt x="33041" y="1618992"/>
                </a:lnTo>
                <a:cubicBezTo>
                  <a:pt x="14793" y="1618992"/>
                  <a:pt x="0" y="1604199"/>
                  <a:pt x="0" y="1585951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733502" y="2505209"/>
            <a:ext cx="1861841" cy="19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Engineering Contributions: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283" y="2835615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16520" y="8260"/>
                </a:moveTo>
                <a:cubicBezTo>
                  <a:pt x="7408" y="8260"/>
                  <a:pt x="0" y="15668"/>
                  <a:pt x="0" y="24780"/>
                </a:cubicBezTo>
                <a:lnTo>
                  <a:pt x="0" y="41301"/>
                </a:lnTo>
                <a:cubicBezTo>
                  <a:pt x="0" y="50413"/>
                  <a:pt x="7408" y="57821"/>
                  <a:pt x="16520" y="57821"/>
                </a:cubicBezTo>
                <a:lnTo>
                  <a:pt x="99122" y="57821"/>
                </a:lnTo>
                <a:cubicBezTo>
                  <a:pt x="108234" y="57821"/>
                  <a:pt x="115642" y="50413"/>
                  <a:pt x="115642" y="41301"/>
                </a:cubicBezTo>
                <a:lnTo>
                  <a:pt x="115642" y="24780"/>
                </a:lnTo>
                <a:cubicBezTo>
                  <a:pt x="115642" y="15668"/>
                  <a:pt x="108234" y="8260"/>
                  <a:pt x="99122" y="8260"/>
                </a:cubicBezTo>
                <a:lnTo>
                  <a:pt x="16520" y="8260"/>
                </a:lnTo>
                <a:close/>
                <a:moveTo>
                  <a:pt x="72276" y="26846"/>
                </a:moveTo>
                <a:cubicBezTo>
                  <a:pt x="75696" y="26846"/>
                  <a:pt x="78472" y="29621"/>
                  <a:pt x="78472" y="33041"/>
                </a:cubicBezTo>
                <a:cubicBezTo>
                  <a:pt x="78472" y="36460"/>
                  <a:pt x="75696" y="39236"/>
                  <a:pt x="72276" y="39236"/>
                </a:cubicBezTo>
                <a:cubicBezTo>
                  <a:pt x="68857" y="39236"/>
                  <a:pt x="66081" y="36460"/>
                  <a:pt x="66081" y="33041"/>
                </a:cubicBezTo>
                <a:cubicBezTo>
                  <a:pt x="66081" y="29621"/>
                  <a:pt x="68857" y="26846"/>
                  <a:pt x="72276" y="26846"/>
                </a:cubicBezTo>
                <a:close/>
                <a:moveTo>
                  <a:pt x="86732" y="33041"/>
                </a:moveTo>
                <a:cubicBezTo>
                  <a:pt x="86732" y="29621"/>
                  <a:pt x="89508" y="26846"/>
                  <a:pt x="92927" y="26846"/>
                </a:cubicBezTo>
                <a:cubicBezTo>
                  <a:pt x="96346" y="26846"/>
                  <a:pt x="99122" y="29621"/>
                  <a:pt x="99122" y="33041"/>
                </a:cubicBezTo>
                <a:cubicBezTo>
                  <a:pt x="99122" y="36460"/>
                  <a:pt x="96346" y="39236"/>
                  <a:pt x="92927" y="39236"/>
                </a:cubicBezTo>
                <a:cubicBezTo>
                  <a:pt x="89508" y="39236"/>
                  <a:pt x="86732" y="36460"/>
                  <a:pt x="86732" y="33041"/>
                </a:cubicBezTo>
                <a:close/>
                <a:moveTo>
                  <a:pt x="16520" y="74341"/>
                </a:moveTo>
                <a:cubicBezTo>
                  <a:pt x="7408" y="74341"/>
                  <a:pt x="0" y="81750"/>
                  <a:pt x="0" y="90862"/>
                </a:cubicBezTo>
                <a:lnTo>
                  <a:pt x="0" y="107382"/>
                </a:lnTo>
                <a:cubicBezTo>
                  <a:pt x="0" y="116494"/>
                  <a:pt x="7408" y="123902"/>
                  <a:pt x="16520" y="123902"/>
                </a:cubicBezTo>
                <a:lnTo>
                  <a:pt x="99122" y="123902"/>
                </a:lnTo>
                <a:cubicBezTo>
                  <a:pt x="108234" y="123902"/>
                  <a:pt x="115642" y="116494"/>
                  <a:pt x="115642" y="107382"/>
                </a:cubicBezTo>
                <a:lnTo>
                  <a:pt x="115642" y="90862"/>
                </a:lnTo>
                <a:cubicBezTo>
                  <a:pt x="115642" y="81750"/>
                  <a:pt x="108234" y="74341"/>
                  <a:pt x="99122" y="74341"/>
                </a:cubicBezTo>
                <a:lnTo>
                  <a:pt x="16520" y="74341"/>
                </a:lnTo>
                <a:close/>
                <a:moveTo>
                  <a:pt x="72276" y="92927"/>
                </a:moveTo>
                <a:cubicBezTo>
                  <a:pt x="75696" y="92927"/>
                  <a:pt x="78472" y="95703"/>
                  <a:pt x="78472" y="99122"/>
                </a:cubicBezTo>
                <a:cubicBezTo>
                  <a:pt x="78472" y="102541"/>
                  <a:pt x="75696" y="105317"/>
                  <a:pt x="72276" y="105317"/>
                </a:cubicBezTo>
                <a:cubicBezTo>
                  <a:pt x="68857" y="105317"/>
                  <a:pt x="66081" y="102541"/>
                  <a:pt x="66081" y="99122"/>
                </a:cubicBezTo>
                <a:cubicBezTo>
                  <a:pt x="66081" y="95703"/>
                  <a:pt x="68857" y="92927"/>
                  <a:pt x="72276" y="92927"/>
                </a:cubicBezTo>
                <a:close/>
                <a:moveTo>
                  <a:pt x="86732" y="99122"/>
                </a:moveTo>
                <a:cubicBezTo>
                  <a:pt x="86732" y="95703"/>
                  <a:pt x="89508" y="92927"/>
                  <a:pt x="92927" y="92927"/>
                </a:cubicBezTo>
                <a:cubicBezTo>
                  <a:pt x="96346" y="92927"/>
                  <a:pt x="99122" y="95703"/>
                  <a:pt x="99122" y="99122"/>
                </a:cubicBezTo>
                <a:cubicBezTo>
                  <a:pt x="99122" y="102541"/>
                  <a:pt x="96346" y="105317"/>
                  <a:pt x="92927" y="105317"/>
                </a:cubicBezTo>
                <a:cubicBezTo>
                  <a:pt x="89508" y="105317"/>
                  <a:pt x="86732" y="102541"/>
                  <a:pt x="86732" y="99122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787" y="2802575"/>
            <a:ext cx="417964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Powerful Computers:</a:t>
            </a: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Faster processors enable complex AI calculations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0023" y="3099941"/>
            <a:ext cx="132163" cy="132163"/>
          </a:xfrm>
          <a:custGeom>
            <a:avLst/>
            <a:gdLst/>
            <a:ahLst/>
            <a:cxnLst/>
            <a:rect l="l" t="t" r="r" b="b"/>
            <a:pathLst>
              <a:path w="132163" h="132163">
                <a:moveTo>
                  <a:pt x="16520" y="16520"/>
                </a:moveTo>
                <a:cubicBezTo>
                  <a:pt x="7408" y="16520"/>
                  <a:pt x="0" y="23929"/>
                  <a:pt x="0" y="33041"/>
                </a:cubicBezTo>
                <a:lnTo>
                  <a:pt x="0" y="34951"/>
                </a:lnTo>
                <a:cubicBezTo>
                  <a:pt x="0" y="36706"/>
                  <a:pt x="1136" y="38203"/>
                  <a:pt x="2607" y="39158"/>
                </a:cubicBezTo>
                <a:cubicBezTo>
                  <a:pt x="6014" y="41378"/>
                  <a:pt x="8260" y="45199"/>
                  <a:pt x="8260" y="49561"/>
                </a:cubicBezTo>
                <a:cubicBezTo>
                  <a:pt x="8260" y="53923"/>
                  <a:pt x="6014" y="57744"/>
                  <a:pt x="2607" y="59964"/>
                </a:cubicBezTo>
                <a:cubicBezTo>
                  <a:pt x="1136" y="60919"/>
                  <a:pt x="0" y="62416"/>
                  <a:pt x="0" y="64171"/>
                </a:cubicBezTo>
                <a:lnTo>
                  <a:pt x="0" y="78472"/>
                </a:lnTo>
                <a:lnTo>
                  <a:pt x="132163" y="78472"/>
                </a:lnTo>
                <a:lnTo>
                  <a:pt x="132163" y="64171"/>
                </a:lnTo>
                <a:cubicBezTo>
                  <a:pt x="132163" y="62416"/>
                  <a:pt x="131027" y="60919"/>
                  <a:pt x="129555" y="59964"/>
                </a:cubicBezTo>
                <a:cubicBezTo>
                  <a:pt x="126148" y="57744"/>
                  <a:pt x="123902" y="53923"/>
                  <a:pt x="123902" y="49561"/>
                </a:cubicBezTo>
                <a:cubicBezTo>
                  <a:pt x="123902" y="45199"/>
                  <a:pt x="126148" y="41378"/>
                  <a:pt x="129555" y="39158"/>
                </a:cubicBezTo>
                <a:cubicBezTo>
                  <a:pt x="131027" y="38203"/>
                  <a:pt x="132163" y="36706"/>
                  <a:pt x="132163" y="34951"/>
                </a:cubicBezTo>
                <a:lnTo>
                  <a:pt x="132163" y="33041"/>
                </a:lnTo>
                <a:cubicBezTo>
                  <a:pt x="132163" y="23929"/>
                  <a:pt x="124754" y="16520"/>
                  <a:pt x="115642" y="16520"/>
                </a:cubicBezTo>
                <a:lnTo>
                  <a:pt x="16520" y="16520"/>
                </a:lnTo>
                <a:close/>
                <a:moveTo>
                  <a:pt x="132163" y="107382"/>
                </a:moveTo>
                <a:lnTo>
                  <a:pt x="132163" y="90862"/>
                </a:lnTo>
                <a:lnTo>
                  <a:pt x="0" y="90862"/>
                </a:lnTo>
                <a:lnTo>
                  <a:pt x="0" y="107382"/>
                </a:lnTo>
                <a:cubicBezTo>
                  <a:pt x="0" y="111951"/>
                  <a:pt x="3691" y="115642"/>
                  <a:pt x="8260" y="115642"/>
                </a:cubicBezTo>
                <a:lnTo>
                  <a:pt x="24780" y="115642"/>
                </a:lnTo>
                <a:lnTo>
                  <a:pt x="24780" y="109447"/>
                </a:lnTo>
                <a:cubicBezTo>
                  <a:pt x="24780" y="106014"/>
                  <a:pt x="27542" y="103252"/>
                  <a:pt x="30976" y="103252"/>
                </a:cubicBezTo>
                <a:cubicBezTo>
                  <a:pt x="34409" y="103252"/>
                  <a:pt x="37171" y="106014"/>
                  <a:pt x="37171" y="109447"/>
                </a:cubicBezTo>
                <a:lnTo>
                  <a:pt x="37171" y="115642"/>
                </a:lnTo>
                <a:lnTo>
                  <a:pt x="59886" y="115642"/>
                </a:lnTo>
                <a:lnTo>
                  <a:pt x="59886" y="109447"/>
                </a:lnTo>
                <a:cubicBezTo>
                  <a:pt x="59886" y="106014"/>
                  <a:pt x="62648" y="103252"/>
                  <a:pt x="66081" y="103252"/>
                </a:cubicBezTo>
                <a:cubicBezTo>
                  <a:pt x="69514" y="103252"/>
                  <a:pt x="72276" y="106014"/>
                  <a:pt x="72276" y="109447"/>
                </a:cubicBezTo>
                <a:lnTo>
                  <a:pt x="72276" y="115642"/>
                </a:lnTo>
                <a:lnTo>
                  <a:pt x="94992" y="115642"/>
                </a:lnTo>
                <a:lnTo>
                  <a:pt x="94992" y="109447"/>
                </a:lnTo>
                <a:cubicBezTo>
                  <a:pt x="94992" y="106014"/>
                  <a:pt x="97754" y="103252"/>
                  <a:pt x="101187" y="103252"/>
                </a:cubicBezTo>
                <a:cubicBezTo>
                  <a:pt x="104620" y="103252"/>
                  <a:pt x="107382" y="106014"/>
                  <a:pt x="107382" y="109447"/>
                </a:cubicBezTo>
                <a:lnTo>
                  <a:pt x="107382" y="115642"/>
                </a:lnTo>
                <a:lnTo>
                  <a:pt x="123902" y="115642"/>
                </a:lnTo>
                <a:cubicBezTo>
                  <a:pt x="128471" y="115642"/>
                  <a:pt x="132163" y="111951"/>
                  <a:pt x="132163" y="107382"/>
                </a:cubicBezTo>
                <a:close/>
                <a:moveTo>
                  <a:pt x="41301" y="41301"/>
                </a:moveTo>
                <a:lnTo>
                  <a:pt x="41301" y="57821"/>
                </a:lnTo>
                <a:cubicBezTo>
                  <a:pt x="41301" y="62390"/>
                  <a:pt x="37610" y="66081"/>
                  <a:pt x="33041" y="66081"/>
                </a:cubicBezTo>
                <a:cubicBezTo>
                  <a:pt x="28472" y="66081"/>
                  <a:pt x="24780" y="62390"/>
                  <a:pt x="24780" y="57821"/>
                </a:cubicBezTo>
                <a:lnTo>
                  <a:pt x="24780" y="41301"/>
                </a:lnTo>
                <a:cubicBezTo>
                  <a:pt x="24780" y="36732"/>
                  <a:pt x="28472" y="33041"/>
                  <a:pt x="33041" y="33041"/>
                </a:cubicBezTo>
                <a:cubicBezTo>
                  <a:pt x="37610" y="33041"/>
                  <a:pt x="41301" y="36732"/>
                  <a:pt x="41301" y="41301"/>
                </a:cubicBezTo>
                <a:close/>
                <a:moveTo>
                  <a:pt x="74341" y="41301"/>
                </a:moveTo>
                <a:lnTo>
                  <a:pt x="74341" y="57821"/>
                </a:lnTo>
                <a:cubicBezTo>
                  <a:pt x="74341" y="62390"/>
                  <a:pt x="70650" y="66081"/>
                  <a:pt x="66081" y="66081"/>
                </a:cubicBezTo>
                <a:cubicBezTo>
                  <a:pt x="61512" y="66081"/>
                  <a:pt x="57821" y="62390"/>
                  <a:pt x="57821" y="57821"/>
                </a:cubicBezTo>
                <a:lnTo>
                  <a:pt x="57821" y="41301"/>
                </a:lnTo>
                <a:cubicBezTo>
                  <a:pt x="57821" y="36732"/>
                  <a:pt x="61512" y="33041"/>
                  <a:pt x="66081" y="33041"/>
                </a:cubicBezTo>
                <a:cubicBezTo>
                  <a:pt x="70650" y="33041"/>
                  <a:pt x="74341" y="36732"/>
                  <a:pt x="74341" y="41301"/>
                </a:cubicBezTo>
                <a:close/>
                <a:moveTo>
                  <a:pt x="107382" y="41301"/>
                </a:moveTo>
                <a:lnTo>
                  <a:pt x="107382" y="57821"/>
                </a:lnTo>
                <a:cubicBezTo>
                  <a:pt x="107382" y="62390"/>
                  <a:pt x="103691" y="66081"/>
                  <a:pt x="99122" y="66081"/>
                </a:cubicBezTo>
                <a:cubicBezTo>
                  <a:pt x="94553" y="66081"/>
                  <a:pt x="90862" y="62390"/>
                  <a:pt x="90862" y="57821"/>
                </a:cubicBezTo>
                <a:lnTo>
                  <a:pt x="90862" y="41301"/>
                </a:lnTo>
                <a:cubicBezTo>
                  <a:pt x="90862" y="36732"/>
                  <a:pt x="94553" y="33041"/>
                  <a:pt x="99122" y="33041"/>
                </a:cubicBezTo>
                <a:cubicBezTo>
                  <a:pt x="103691" y="33041"/>
                  <a:pt x="107382" y="36732"/>
                  <a:pt x="107382" y="41301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964787" y="3066900"/>
            <a:ext cx="399791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Specialized Chips:</a:t>
            </a: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GPUs and TPUs designed specifically for AI tasks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1763" y="3364266"/>
            <a:ext cx="148683" cy="132163"/>
          </a:xfrm>
          <a:custGeom>
            <a:avLst/>
            <a:gdLst/>
            <a:ahLst/>
            <a:cxnLst/>
            <a:rect l="l" t="t" r="r" b="b"/>
            <a:pathLst>
              <a:path w="148683" h="132163">
                <a:moveTo>
                  <a:pt x="93133" y="310"/>
                </a:moveTo>
                <a:cubicBezTo>
                  <a:pt x="88745" y="-955"/>
                  <a:pt x="84176" y="1600"/>
                  <a:pt x="82911" y="5989"/>
                </a:cubicBezTo>
                <a:lnTo>
                  <a:pt x="49871" y="121631"/>
                </a:lnTo>
                <a:cubicBezTo>
                  <a:pt x="48606" y="126019"/>
                  <a:pt x="51161" y="130588"/>
                  <a:pt x="55550" y="131853"/>
                </a:cubicBezTo>
                <a:cubicBezTo>
                  <a:pt x="59938" y="133118"/>
                  <a:pt x="64507" y="130562"/>
                  <a:pt x="65772" y="126174"/>
                </a:cubicBezTo>
                <a:lnTo>
                  <a:pt x="98812" y="10532"/>
                </a:lnTo>
                <a:cubicBezTo>
                  <a:pt x="100077" y="6143"/>
                  <a:pt x="97522" y="1575"/>
                  <a:pt x="93133" y="310"/>
                </a:cubicBezTo>
                <a:close/>
                <a:moveTo>
                  <a:pt x="109809" y="35441"/>
                </a:moveTo>
                <a:cubicBezTo>
                  <a:pt x="106582" y="38668"/>
                  <a:pt x="106582" y="43908"/>
                  <a:pt x="109809" y="47135"/>
                </a:cubicBezTo>
                <a:lnTo>
                  <a:pt x="128755" y="66081"/>
                </a:lnTo>
                <a:lnTo>
                  <a:pt x="109809" y="85028"/>
                </a:lnTo>
                <a:cubicBezTo>
                  <a:pt x="106582" y="88255"/>
                  <a:pt x="106582" y="93495"/>
                  <a:pt x="109809" y="96721"/>
                </a:cubicBezTo>
                <a:cubicBezTo>
                  <a:pt x="113035" y="99948"/>
                  <a:pt x="118275" y="99948"/>
                  <a:pt x="121502" y="96721"/>
                </a:cubicBezTo>
                <a:lnTo>
                  <a:pt x="146282" y="71941"/>
                </a:lnTo>
                <a:cubicBezTo>
                  <a:pt x="149509" y="68714"/>
                  <a:pt x="149509" y="63474"/>
                  <a:pt x="146282" y="60248"/>
                </a:cubicBezTo>
                <a:lnTo>
                  <a:pt x="121502" y="35467"/>
                </a:lnTo>
                <a:cubicBezTo>
                  <a:pt x="118275" y="32240"/>
                  <a:pt x="113035" y="32240"/>
                  <a:pt x="109809" y="35467"/>
                </a:cubicBezTo>
                <a:close/>
                <a:moveTo>
                  <a:pt x="38900" y="35441"/>
                </a:moveTo>
                <a:cubicBezTo>
                  <a:pt x="35674" y="32215"/>
                  <a:pt x="30434" y="32215"/>
                  <a:pt x="27207" y="35441"/>
                </a:cubicBezTo>
                <a:lnTo>
                  <a:pt x="2426" y="60222"/>
                </a:lnTo>
                <a:cubicBezTo>
                  <a:pt x="-800" y="63448"/>
                  <a:pt x="-800" y="68688"/>
                  <a:pt x="2426" y="71915"/>
                </a:cubicBezTo>
                <a:lnTo>
                  <a:pt x="27207" y="96696"/>
                </a:lnTo>
                <a:cubicBezTo>
                  <a:pt x="30434" y="99922"/>
                  <a:pt x="35674" y="99922"/>
                  <a:pt x="38900" y="96696"/>
                </a:cubicBezTo>
                <a:cubicBezTo>
                  <a:pt x="42127" y="93469"/>
                  <a:pt x="42127" y="88229"/>
                  <a:pt x="38900" y="85002"/>
                </a:cubicBezTo>
                <a:lnTo>
                  <a:pt x="19953" y="66081"/>
                </a:lnTo>
                <a:lnTo>
                  <a:pt x="38874" y="47135"/>
                </a:lnTo>
                <a:cubicBezTo>
                  <a:pt x="42101" y="43908"/>
                  <a:pt x="42101" y="38668"/>
                  <a:pt x="38874" y="35441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964787" y="3331225"/>
            <a:ext cx="371707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Frameworks:</a:t>
            </a: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Software libraries like TensorFlow and PyTorch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1763" y="3628591"/>
            <a:ext cx="148683" cy="132163"/>
          </a:xfrm>
          <a:custGeom>
            <a:avLst/>
            <a:gdLst/>
            <a:ahLst/>
            <a:cxnLst/>
            <a:rect l="l" t="t" r="r" b="b"/>
            <a:pathLst>
              <a:path w="148683" h="132163">
                <a:moveTo>
                  <a:pt x="0" y="86732"/>
                </a:moveTo>
                <a:cubicBezTo>
                  <a:pt x="0" y="107253"/>
                  <a:pt x="16649" y="123902"/>
                  <a:pt x="37171" y="123902"/>
                </a:cubicBezTo>
                <a:lnTo>
                  <a:pt x="115642" y="123902"/>
                </a:lnTo>
                <a:cubicBezTo>
                  <a:pt x="133892" y="123902"/>
                  <a:pt x="148683" y="109112"/>
                  <a:pt x="148683" y="90862"/>
                </a:cubicBezTo>
                <a:cubicBezTo>
                  <a:pt x="148683" y="77542"/>
                  <a:pt x="140810" y="66055"/>
                  <a:pt x="129452" y="60841"/>
                </a:cubicBezTo>
                <a:cubicBezTo>
                  <a:pt x="131182" y="57460"/>
                  <a:pt x="132163" y="53614"/>
                  <a:pt x="132163" y="49561"/>
                </a:cubicBezTo>
                <a:cubicBezTo>
                  <a:pt x="132163" y="35880"/>
                  <a:pt x="121063" y="24780"/>
                  <a:pt x="107382" y="24780"/>
                </a:cubicBezTo>
                <a:cubicBezTo>
                  <a:pt x="102813" y="24780"/>
                  <a:pt x="98554" y="26020"/>
                  <a:pt x="94889" y="28162"/>
                </a:cubicBezTo>
                <a:cubicBezTo>
                  <a:pt x="88668" y="16340"/>
                  <a:pt x="76252" y="8260"/>
                  <a:pt x="61951" y="8260"/>
                </a:cubicBezTo>
                <a:cubicBezTo>
                  <a:pt x="41430" y="8260"/>
                  <a:pt x="24780" y="24910"/>
                  <a:pt x="24780" y="45431"/>
                </a:cubicBezTo>
                <a:cubicBezTo>
                  <a:pt x="24780" y="47496"/>
                  <a:pt x="24961" y="49535"/>
                  <a:pt x="25271" y="51497"/>
                </a:cubicBezTo>
                <a:cubicBezTo>
                  <a:pt x="10583" y="56453"/>
                  <a:pt x="0" y="70366"/>
                  <a:pt x="0" y="86732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964787" y="3595550"/>
            <a:ext cx="396487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Computing:</a:t>
            </a: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Making AI accessible to everyone via the internet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3711" y="4299315"/>
            <a:ext cx="6788202" cy="2550738"/>
          </a:xfrm>
          <a:custGeom>
            <a:avLst/>
            <a:gdLst/>
            <a:ahLst/>
            <a:cxnLst/>
            <a:rect l="l" t="t" r="r" b="b"/>
            <a:pathLst>
              <a:path w="6788202" h="2550738">
                <a:moveTo>
                  <a:pt x="99122" y="0"/>
                </a:moveTo>
                <a:lnTo>
                  <a:pt x="6689080" y="0"/>
                </a:lnTo>
                <a:cubicBezTo>
                  <a:pt x="6743823" y="0"/>
                  <a:pt x="6788202" y="44378"/>
                  <a:pt x="6788202" y="99122"/>
                </a:cubicBezTo>
                <a:lnTo>
                  <a:pt x="6788202" y="2451617"/>
                </a:lnTo>
                <a:cubicBezTo>
                  <a:pt x="6788202" y="2506360"/>
                  <a:pt x="6743823" y="2550738"/>
                  <a:pt x="6689080" y="2550738"/>
                </a:cubicBezTo>
                <a:lnTo>
                  <a:pt x="99122" y="2550738"/>
                </a:lnTo>
                <a:cubicBezTo>
                  <a:pt x="44378" y="2550738"/>
                  <a:pt x="0" y="2506360"/>
                  <a:pt x="0" y="2451617"/>
                </a:cubicBezTo>
                <a:lnTo>
                  <a:pt x="0" y="99122"/>
                </a:lnTo>
                <a:cubicBezTo>
                  <a:pt x="0" y="44378"/>
                  <a:pt x="44378" y="0"/>
                  <a:pt x="9912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259" y="4500861"/>
            <a:ext cx="6484228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 of AI Hardware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7437" y="4996366"/>
            <a:ext cx="850797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1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1950s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60397" y="4897244"/>
            <a:ext cx="5459967" cy="363447"/>
          </a:xfrm>
          <a:custGeom>
            <a:avLst/>
            <a:gdLst/>
            <a:ahLst/>
            <a:cxnLst/>
            <a:rect l="l" t="t" r="r" b="b"/>
            <a:pathLst>
              <a:path w="5459967" h="363447">
                <a:moveTo>
                  <a:pt x="66082" y="0"/>
                </a:moveTo>
                <a:lnTo>
                  <a:pt x="5393886" y="0"/>
                </a:lnTo>
                <a:cubicBezTo>
                  <a:pt x="5430382" y="0"/>
                  <a:pt x="5459967" y="29586"/>
                  <a:pt x="5459967" y="66082"/>
                </a:cubicBezTo>
                <a:lnTo>
                  <a:pt x="5459967" y="297365"/>
                </a:lnTo>
                <a:cubicBezTo>
                  <a:pt x="5459967" y="333861"/>
                  <a:pt x="5430382" y="363447"/>
                  <a:pt x="5393886" y="363447"/>
                </a:cubicBezTo>
                <a:lnTo>
                  <a:pt x="66082" y="363447"/>
                </a:lnTo>
                <a:cubicBezTo>
                  <a:pt x="29586" y="363447"/>
                  <a:pt x="0" y="333861"/>
                  <a:pt x="0" y="297365"/>
                </a:cubicBezTo>
                <a:lnTo>
                  <a:pt x="0" y="66082"/>
                </a:lnTo>
                <a:cubicBezTo>
                  <a:pt x="0" y="29610"/>
                  <a:pt x="29610" y="0"/>
                  <a:pt x="6608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4" name="Text 22"/>
          <p:cNvSpPr/>
          <p:nvPr/>
        </p:nvSpPr>
        <p:spPr>
          <a:xfrm>
            <a:off x="1559519" y="4996366"/>
            <a:ext cx="5319545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computers - could only run simple AI programs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7437" y="5458935"/>
            <a:ext cx="850797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1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1980s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460397" y="5359813"/>
            <a:ext cx="5459967" cy="363447"/>
          </a:xfrm>
          <a:custGeom>
            <a:avLst/>
            <a:gdLst/>
            <a:ahLst/>
            <a:cxnLst/>
            <a:rect l="l" t="t" r="r" b="b"/>
            <a:pathLst>
              <a:path w="5459967" h="363447">
                <a:moveTo>
                  <a:pt x="66082" y="0"/>
                </a:moveTo>
                <a:lnTo>
                  <a:pt x="5393886" y="0"/>
                </a:lnTo>
                <a:cubicBezTo>
                  <a:pt x="5430382" y="0"/>
                  <a:pt x="5459967" y="29586"/>
                  <a:pt x="5459967" y="66082"/>
                </a:cubicBezTo>
                <a:lnTo>
                  <a:pt x="5459967" y="297365"/>
                </a:lnTo>
                <a:cubicBezTo>
                  <a:pt x="5459967" y="333861"/>
                  <a:pt x="5430382" y="363447"/>
                  <a:pt x="5393886" y="363447"/>
                </a:cubicBezTo>
                <a:lnTo>
                  <a:pt x="66082" y="363447"/>
                </a:lnTo>
                <a:cubicBezTo>
                  <a:pt x="29586" y="363447"/>
                  <a:pt x="0" y="333861"/>
                  <a:pt x="0" y="297365"/>
                </a:cubicBezTo>
                <a:lnTo>
                  <a:pt x="0" y="66082"/>
                </a:lnTo>
                <a:cubicBezTo>
                  <a:pt x="0" y="29610"/>
                  <a:pt x="29610" y="0"/>
                  <a:pt x="6608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7" name="Text 25"/>
          <p:cNvSpPr/>
          <p:nvPr/>
        </p:nvSpPr>
        <p:spPr>
          <a:xfrm>
            <a:off x="1559519" y="5458935"/>
            <a:ext cx="5319545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 computers - AI research expanded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7437" y="5921504"/>
            <a:ext cx="850797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1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2000s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60397" y="5822382"/>
            <a:ext cx="5459967" cy="363447"/>
          </a:xfrm>
          <a:custGeom>
            <a:avLst/>
            <a:gdLst/>
            <a:ahLst/>
            <a:cxnLst/>
            <a:rect l="l" t="t" r="r" b="b"/>
            <a:pathLst>
              <a:path w="5459967" h="363447">
                <a:moveTo>
                  <a:pt x="66082" y="0"/>
                </a:moveTo>
                <a:lnTo>
                  <a:pt x="5393886" y="0"/>
                </a:lnTo>
                <a:cubicBezTo>
                  <a:pt x="5430382" y="0"/>
                  <a:pt x="5459967" y="29586"/>
                  <a:pt x="5459967" y="66082"/>
                </a:cubicBezTo>
                <a:lnTo>
                  <a:pt x="5459967" y="297365"/>
                </a:lnTo>
                <a:cubicBezTo>
                  <a:pt x="5459967" y="333861"/>
                  <a:pt x="5430382" y="363447"/>
                  <a:pt x="5393886" y="363447"/>
                </a:cubicBezTo>
                <a:lnTo>
                  <a:pt x="66082" y="363447"/>
                </a:lnTo>
                <a:cubicBezTo>
                  <a:pt x="29586" y="363447"/>
                  <a:pt x="0" y="333861"/>
                  <a:pt x="0" y="297365"/>
                </a:cubicBezTo>
                <a:lnTo>
                  <a:pt x="0" y="66082"/>
                </a:lnTo>
                <a:cubicBezTo>
                  <a:pt x="0" y="29610"/>
                  <a:pt x="29610" y="0"/>
                  <a:pt x="6608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0" name="Text 28"/>
          <p:cNvSpPr/>
          <p:nvPr/>
        </p:nvSpPr>
        <p:spPr>
          <a:xfrm>
            <a:off x="1559519" y="5921504"/>
            <a:ext cx="5319545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GPUs invented - enabled deep learning revolution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7437" y="6384073"/>
            <a:ext cx="850797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1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460397" y="6284951"/>
            <a:ext cx="5459967" cy="363447"/>
          </a:xfrm>
          <a:custGeom>
            <a:avLst/>
            <a:gdLst/>
            <a:ahLst/>
            <a:cxnLst/>
            <a:rect l="l" t="t" r="r" b="b"/>
            <a:pathLst>
              <a:path w="5459967" h="363447">
                <a:moveTo>
                  <a:pt x="66082" y="0"/>
                </a:moveTo>
                <a:lnTo>
                  <a:pt x="5393886" y="0"/>
                </a:lnTo>
                <a:cubicBezTo>
                  <a:pt x="5430382" y="0"/>
                  <a:pt x="5459967" y="29586"/>
                  <a:pt x="5459967" y="66082"/>
                </a:cubicBezTo>
                <a:lnTo>
                  <a:pt x="5459967" y="297365"/>
                </a:lnTo>
                <a:cubicBezTo>
                  <a:pt x="5459967" y="333861"/>
                  <a:pt x="5430382" y="363447"/>
                  <a:pt x="5393886" y="363447"/>
                </a:cubicBezTo>
                <a:lnTo>
                  <a:pt x="66082" y="363447"/>
                </a:lnTo>
                <a:cubicBezTo>
                  <a:pt x="29586" y="363447"/>
                  <a:pt x="0" y="333861"/>
                  <a:pt x="0" y="297365"/>
                </a:cubicBezTo>
                <a:lnTo>
                  <a:pt x="0" y="66082"/>
                </a:lnTo>
                <a:cubicBezTo>
                  <a:pt x="0" y="29610"/>
                  <a:pt x="29610" y="0"/>
                  <a:pt x="6608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3" name="Text 31"/>
          <p:cNvSpPr/>
          <p:nvPr/>
        </p:nvSpPr>
        <p:spPr>
          <a:xfrm>
            <a:off x="1559519" y="6384073"/>
            <a:ext cx="5319545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AI - anyone can use powerful AI via internet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29449" y="1126686"/>
            <a:ext cx="4524917" cy="5722641"/>
          </a:xfrm>
          <a:custGeom>
            <a:avLst/>
            <a:gdLst/>
            <a:ahLst/>
            <a:cxnLst/>
            <a:rect l="l" t="t" r="r" b="b"/>
            <a:pathLst>
              <a:path w="4524917" h="5722641">
                <a:moveTo>
                  <a:pt x="99141" y="0"/>
                </a:moveTo>
                <a:lnTo>
                  <a:pt x="4425776" y="0"/>
                </a:lnTo>
                <a:cubicBezTo>
                  <a:pt x="4480530" y="0"/>
                  <a:pt x="4524917" y="44387"/>
                  <a:pt x="4524917" y="99141"/>
                </a:cubicBezTo>
                <a:lnTo>
                  <a:pt x="4524917" y="5623500"/>
                </a:lnTo>
                <a:cubicBezTo>
                  <a:pt x="4524917" y="5678254"/>
                  <a:pt x="4480530" y="5722641"/>
                  <a:pt x="4425776" y="5722641"/>
                </a:cubicBezTo>
                <a:lnTo>
                  <a:pt x="99141" y="5722641"/>
                </a:lnTo>
                <a:cubicBezTo>
                  <a:pt x="44387" y="5722641"/>
                  <a:pt x="0" y="5678254"/>
                  <a:pt x="0" y="5623500"/>
                </a:cubicBezTo>
                <a:lnTo>
                  <a:pt x="0" y="99141"/>
                </a:lnTo>
                <a:cubicBezTo>
                  <a:pt x="0" y="44424"/>
                  <a:pt x="44424" y="0"/>
                  <a:pt x="9914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7956" y="1295192"/>
            <a:ext cx="4287024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97956" y="1691583"/>
            <a:ext cx="4187902" cy="2279805"/>
          </a:xfrm>
          <a:custGeom>
            <a:avLst/>
            <a:gdLst/>
            <a:ahLst/>
            <a:cxnLst/>
            <a:rect l="l" t="t" r="r" b="b"/>
            <a:pathLst>
              <a:path w="4187902" h="2279805">
                <a:moveTo>
                  <a:pt x="66092" y="0"/>
                </a:moveTo>
                <a:lnTo>
                  <a:pt x="4121811" y="0"/>
                </a:lnTo>
                <a:cubicBezTo>
                  <a:pt x="4158288" y="0"/>
                  <a:pt x="4187902" y="29615"/>
                  <a:pt x="4187902" y="66092"/>
                </a:cubicBezTo>
                <a:lnTo>
                  <a:pt x="4187902" y="2213713"/>
                </a:lnTo>
                <a:cubicBezTo>
                  <a:pt x="4187902" y="2250190"/>
                  <a:pt x="4158288" y="2279805"/>
                  <a:pt x="4121811" y="2279805"/>
                </a:cubicBezTo>
                <a:lnTo>
                  <a:pt x="66092" y="2279805"/>
                </a:lnTo>
                <a:cubicBezTo>
                  <a:pt x="29615" y="2279805"/>
                  <a:pt x="0" y="2250190"/>
                  <a:pt x="0" y="2213713"/>
                </a:cubicBezTo>
                <a:lnTo>
                  <a:pt x="0" y="66092"/>
                </a:lnTo>
                <a:cubicBezTo>
                  <a:pt x="0" y="29590"/>
                  <a:pt x="29590" y="0"/>
                  <a:pt x="6609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37" name="Image 0" descr="https://www.newelectronics.co.uk/media/yfoo3jx3/adobestock_205771990.jpg?width=1002&amp;height=564&amp;v=1d9d7600cd6b4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119" y="1823745"/>
            <a:ext cx="3923577" cy="1189463"/>
          </a:xfrm>
          <a:prstGeom prst="roundRect">
            <a:avLst>
              <a:gd name="adj" fmla="val 5556"/>
            </a:avLst>
          </a:prstGeom>
        </p:spPr>
      </p:pic>
      <p:sp>
        <p:nvSpPr>
          <p:cNvPr id="38" name="Text 35"/>
          <p:cNvSpPr/>
          <p:nvPr/>
        </p:nvSpPr>
        <p:spPr>
          <a:xfrm>
            <a:off x="7630119" y="3112331"/>
            <a:ext cx="3997919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AI Chips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630119" y="3409697"/>
            <a:ext cx="3989659" cy="42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 GPUs and Google TPUs are specially designed chips that can perform millions of AI calculations per second.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501260" y="4106854"/>
            <a:ext cx="4177990" cy="1030868"/>
          </a:xfrm>
          <a:custGeom>
            <a:avLst/>
            <a:gdLst/>
            <a:ahLst/>
            <a:cxnLst/>
            <a:rect l="l" t="t" r="r" b="b"/>
            <a:pathLst>
              <a:path w="4177990" h="1030868">
                <a:moveTo>
                  <a:pt x="66079" y="0"/>
                </a:moveTo>
                <a:lnTo>
                  <a:pt x="4111912" y="0"/>
                </a:lnTo>
                <a:cubicBezTo>
                  <a:pt x="4148406" y="0"/>
                  <a:pt x="4177990" y="29584"/>
                  <a:pt x="4177990" y="66079"/>
                </a:cubicBezTo>
                <a:lnTo>
                  <a:pt x="4177990" y="964790"/>
                </a:lnTo>
                <a:cubicBezTo>
                  <a:pt x="4177990" y="1001284"/>
                  <a:pt x="4148406" y="1030868"/>
                  <a:pt x="4111912" y="1030868"/>
                </a:cubicBezTo>
                <a:lnTo>
                  <a:pt x="66079" y="1030868"/>
                </a:lnTo>
                <a:cubicBezTo>
                  <a:pt x="29584" y="1030868"/>
                  <a:pt x="0" y="1001284"/>
                  <a:pt x="0" y="964790"/>
                </a:cubicBezTo>
                <a:lnTo>
                  <a:pt x="0" y="66079"/>
                </a:lnTo>
                <a:cubicBezTo>
                  <a:pt x="0" y="29609"/>
                  <a:pt x="29609" y="0"/>
                  <a:pt x="6607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36727" y="4242319"/>
            <a:ext cx="574598" cy="19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636727" y="4506645"/>
            <a:ext cx="3964878" cy="49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engineers are like the builders who construct the racetrack - philosophers design the course, mathematicians calculate the speed, but engineers build the track that makes the race possible!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0844" y="476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93750" y="317500"/>
            <a:ext cx="601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• TOPIC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508000"/>
            <a:ext cx="609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Without AI: Following Strict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082675"/>
            <a:ext cx="6816725" cy="2911475"/>
          </a:xfrm>
          <a:custGeom>
            <a:avLst/>
            <a:gdLst/>
            <a:ahLst/>
            <a:cxnLst/>
            <a:rect l="l" t="t" r="r" b="b"/>
            <a:pathLst>
              <a:path w="6816725" h="2911475">
                <a:moveTo>
                  <a:pt x="95263" y="0"/>
                </a:moveTo>
                <a:lnTo>
                  <a:pt x="6721462" y="0"/>
                </a:lnTo>
                <a:cubicBezTo>
                  <a:pt x="6774074" y="0"/>
                  <a:pt x="6816725" y="42651"/>
                  <a:pt x="6816725" y="95263"/>
                </a:cubicBezTo>
                <a:lnTo>
                  <a:pt x="6816725" y="2816212"/>
                </a:lnTo>
                <a:cubicBezTo>
                  <a:pt x="6816725" y="2868824"/>
                  <a:pt x="6774074" y="2911475"/>
                  <a:pt x="6721462" y="2911475"/>
                </a:cubicBezTo>
                <a:lnTo>
                  <a:pt x="95263" y="2911475"/>
                </a:lnTo>
                <a:cubicBezTo>
                  <a:pt x="42651" y="2911475"/>
                  <a:pt x="0" y="2868824"/>
                  <a:pt x="0" y="2816212"/>
                </a:cubicBezTo>
                <a:lnTo>
                  <a:pt x="0" y="95263"/>
                </a:lnTo>
                <a:cubicBezTo>
                  <a:pt x="0" y="42651"/>
                  <a:pt x="42651" y="0"/>
                  <a:pt x="9526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1276348"/>
            <a:ext cx="652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Programming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4350" y="1657255"/>
            <a:ext cx="6500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traditional programming, developers write </a:t>
            </a:r>
            <a:r>
              <a:rPr lang="en-US" sz="112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rules</a:t>
            </a: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every possible situation. It's like writing a detailed recipe with no room for improvisation.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225" y="2248599"/>
            <a:ext cx="6413500" cy="1555750"/>
          </a:xfrm>
          <a:custGeom>
            <a:avLst/>
            <a:gdLst/>
            <a:ahLst/>
            <a:cxnLst/>
            <a:rect l="l" t="t" r="r" b="b"/>
            <a:pathLst>
              <a:path w="6413500" h="1555750">
                <a:moveTo>
                  <a:pt x="31750" y="0"/>
                </a:moveTo>
                <a:lnTo>
                  <a:pt x="6349994" y="0"/>
                </a:lnTo>
                <a:cubicBezTo>
                  <a:pt x="6385068" y="0"/>
                  <a:pt x="6413500" y="28432"/>
                  <a:pt x="6413500" y="63506"/>
                </a:cubicBezTo>
                <a:lnTo>
                  <a:pt x="6413500" y="1492244"/>
                </a:lnTo>
                <a:cubicBezTo>
                  <a:pt x="6413500" y="1527318"/>
                  <a:pt x="6385068" y="1555750"/>
                  <a:pt x="6349994" y="1555750"/>
                </a:cubicBezTo>
                <a:lnTo>
                  <a:pt x="31750" y="1555750"/>
                </a:lnTo>
                <a:cubicBezTo>
                  <a:pt x="14215" y="1555750"/>
                  <a:pt x="0" y="1541535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30225" y="2248599"/>
            <a:ext cx="31750" cy="1555750"/>
          </a:xfrm>
          <a:custGeom>
            <a:avLst/>
            <a:gdLst/>
            <a:ahLst/>
            <a:cxnLst/>
            <a:rect l="l" t="t" r="r" b="b"/>
            <a:pathLst>
              <a:path w="31750" h="1555750">
                <a:moveTo>
                  <a:pt x="31750" y="0"/>
                </a:moveTo>
                <a:lnTo>
                  <a:pt x="31750" y="0"/>
                </a:lnTo>
                <a:lnTo>
                  <a:pt x="31750" y="1555750"/>
                </a:lnTo>
                <a:lnTo>
                  <a:pt x="31750" y="1555750"/>
                </a:lnTo>
                <a:cubicBezTo>
                  <a:pt x="14227" y="1555750"/>
                  <a:pt x="0" y="1541523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704850" y="2407349"/>
            <a:ext cx="845741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850" y="2693099"/>
            <a:ext cx="6143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Programmer identifies all possible scenarios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Writes specific rules for each scenario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follows rules exactly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input always gives same output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675" y="4131373"/>
            <a:ext cx="6816725" cy="2959100"/>
          </a:xfrm>
          <a:custGeom>
            <a:avLst/>
            <a:gdLst/>
            <a:ahLst/>
            <a:cxnLst/>
            <a:rect l="l" t="t" r="r" b="b"/>
            <a:pathLst>
              <a:path w="6816725" h="2959100">
                <a:moveTo>
                  <a:pt x="95253" y="0"/>
                </a:moveTo>
                <a:lnTo>
                  <a:pt x="6721472" y="0"/>
                </a:lnTo>
                <a:cubicBezTo>
                  <a:pt x="6774079" y="0"/>
                  <a:pt x="6816725" y="42646"/>
                  <a:pt x="6816725" y="95253"/>
                </a:cubicBezTo>
                <a:lnTo>
                  <a:pt x="6816725" y="2863847"/>
                </a:lnTo>
                <a:cubicBezTo>
                  <a:pt x="6816725" y="2916454"/>
                  <a:pt x="6774079" y="2959100"/>
                  <a:pt x="6721472" y="2959100"/>
                </a:cubicBezTo>
                <a:lnTo>
                  <a:pt x="95253" y="2959100"/>
                </a:lnTo>
                <a:cubicBezTo>
                  <a:pt x="42646" y="2959100"/>
                  <a:pt x="0" y="2916454"/>
                  <a:pt x="0" y="2863847"/>
                </a:cubicBezTo>
                <a:lnTo>
                  <a:pt x="0" y="95253"/>
                </a:lnTo>
                <a:cubicBezTo>
                  <a:pt x="0" y="42646"/>
                  <a:pt x="42646" y="0"/>
                  <a:pt x="9525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350" y="4325046"/>
            <a:ext cx="652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Example: Traditional Approach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7525" y="4709120"/>
            <a:ext cx="6419850" cy="1927225"/>
          </a:xfrm>
          <a:custGeom>
            <a:avLst/>
            <a:gdLst/>
            <a:ahLst/>
            <a:cxnLst/>
            <a:rect l="l" t="t" r="r" b="b"/>
            <a:pathLst>
              <a:path w="6419850" h="1927225">
                <a:moveTo>
                  <a:pt x="63502" y="0"/>
                </a:moveTo>
                <a:lnTo>
                  <a:pt x="6356348" y="0"/>
                </a:lnTo>
                <a:cubicBezTo>
                  <a:pt x="6391419" y="0"/>
                  <a:pt x="6419850" y="28431"/>
                  <a:pt x="6419850" y="63502"/>
                </a:cubicBezTo>
                <a:lnTo>
                  <a:pt x="6419850" y="1863723"/>
                </a:lnTo>
                <a:cubicBezTo>
                  <a:pt x="6419850" y="1898794"/>
                  <a:pt x="6391419" y="1927225"/>
                  <a:pt x="6356348" y="1927225"/>
                </a:cubicBezTo>
                <a:lnTo>
                  <a:pt x="63502" y="1927225"/>
                </a:lnTo>
                <a:cubicBezTo>
                  <a:pt x="28431" y="1927225"/>
                  <a:pt x="0" y="1898794"/>
                  <a:pt x="0" y="186372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" y="4839294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Traditional spam filter - explicit rules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700" y="5005981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is_spam(email):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5172669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spam_words = ["win", "free", "money", "click here"]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" y="5339356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email_text = email.lower()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700" y="5672731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word in spam_words: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700" y="5839419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word in email_text: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700" y="6006106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True # It's spam!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" y="6339481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False # Not spam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4350" y="6734775"/>
            <a:ext cx="648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What if spammers use new words? We need to update the code constantly!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31075" y="1082675"/>
            <a:ext cx="4538663" cy="6007100"/>
          </a:xfrm>
          <a:custGeom>
            <a:avLst/>
            <a:gdLst/>
            <a:ahLst/>
            <a:cxnLst/>
            <a:rect l="l" t="t" r="r" b="b"/>
            <a:pathLst>
              <a:path w="4538663" h="6007100">
                <a:moveTo>
                  <a:pt x="95267" y="0"/>
                </a:moveTo>
                <a:lnTo>
                  <a:pt x="4443396" y="0"/>
                </a:lnTo>
                <a:cubicBezTo>
                  <a:pt x="4496010" y="0"/>
                  <a:pt x="4538663" y="42652"/>
                  <a:pt x="4538663" y="95267"/>
                </a:cubicBezTo>
                <a:lnTo>
                  <a:pt x="4538663" y="5911833"/>
                </a:lnTo>
                <a:cubicBezTo>
                  <a:pt x="4538663" y="5964448"/>
                  <a:pt x="4496010" y="6007100"/>
                  <a:pt x="4443396" y="6007100"/>
                </a:cubicBezTo>
                <a:lnTo>
                  <a:pt x="95267" y="6007100"/>
                </a:lnTo>
                <a:cubicBezTo>
                  <a:pt x="42652" y="6007100"/>
                  <a:pt x="0" y="5964448"/>
                  <a:pt x="0" y="5911833"/>
                </a:cubicBezTo>
                <a:lnTo>
                  <a:pt x="0" y="95267"/>
                </a:lnTo>
                <a:cubicBezTo>
                  <a:pt x="0" y="42687"/>
                  <a:pt x="42687" y="0"/>
                  <a:pt x="9526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3000" y="1244598"/>
            <a:ext cx="4310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93000" y="1625505"/>
            <a:ext cx="4214813" cy="1698625"/>
          </a:xfrm>
          <a:custGeom>
            <a:avLst/>
            <a:gdLst/>
            <a:ahLst/>
            <a:cxnLst/>
            <a:rect l="l" t="t" r="r" b="b"/>
            <a:pathLst>
              <a:path w="4214813" h="1698625">
                <a:moveTo>
                  <a:pt x="63495" y="0"/>
                </a:moveTo>
                <a:lnTo>
                  <a:pt x="4151318" y="0"/>
                </a:lnTo>
                <a:cubicBezTo>
                  <a:pt x="4186385" y="0"/>
                  <a:pt x="4214812" y="28428"/>
                  <a:pt x="4214812" y="63495"/>
                </a:cubicBezTo>
                <a:lnTo>
                  <a:pt x="4214813" y="1635130"/>
                </a:lnTo>
                <a:cubicBezTo>
                  <a:pt x="4214812" y="1670197"/>
                  <a:pt x="4186385" y="1698625"/>
                  <a:pt x="4151318" y="1698625"/>
                </a:cubicBezTo>
                <a:lnTo>
                  <a:pt x="63495" y="1698625"/>
                </a:lnTo>
                <a:cubicBezTo>
                  <a:pt x="28428" y="1698625"/>
                  <a:pt x="0" y="1670197"/>
                  <a:pt x="0" y="1635130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0" y="1752505"/>
            <a:ext cx="403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Calculator App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0" y="2070005"/>
            <a:ext cx="4024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calculator follows strict mathematical rules: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0" y="2371630"/>
            <a:ext cx="401637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+ 2 always equals 4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learning or adaptation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input = same output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handle new situations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93000" y="3451130"/>
            <a:ext cx="4214813" cy="984250"/>
          </a:xfrm>
          <a:custGeom>
            <a:avLst/>
            <a:gdLst/>
            <a:ahLst/>
            <a:cxnLst/>
            <a:rect l="l" t="t" r="r" b="b"/>
            <a:pathLst>
              <a:path w="4214813" h="984250">
                <a:moveTo>
                  <a:pt x="63504" y="0"/>
                </a:moveTo>
                <a:lnTo>
                  <a:pt x="4151309" y="0"/>
                </a:lnTo>
                <a:cubicBezTo>
                  <a:pt x="4186381" y="0"/>
                  <a:pt x="4214813" y="28432"/>
                  <a:pt x="4214813" y="63504"/>
                </a:cubicBezTo>
                <a:lnTo>
                  <a:pt x="4214813" y="920746"/>
                </a:lnTo>
                <a:cubicBezTo>
                  <a:pt x="4214812" y="955818"/>
                  <a:pt x="4186381" y="984250"/>
                  <a:pt x="4151309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0" y="3578130"/>
            <a:ext cx="403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Light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0" y="3895630"/>
            <a:ext cx="4024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lights follow simple rules: Green → Yellow → Red → Green. They cannot adapt to traffic conditions.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96175" y="4565555"/>
            <a:ext cx="4213225" cy="641350"/>
          </a:xfrm>
          <a:custGeom>
            <a:avLst/>
            <a:gdLst/>
            <a:ahLst/>
            <a:cxnLst/>
            <a:rect l="l" t="t" r="r" b="b"/>
            <a:pathLst>
              <a:path w="4213225" h="641350">
                <a:moveTo>
                  <a:pt x="63500" y="0"/>
                </a:moveTo>
                <a:lnTo>
                  <a:pt x="4149725" y="0"/>
                </a:lnTo>
                <a:cubicBezTo>
                  <a:pt x="4184795" y="0"/>
                  <a:pt x="4213225" y="28430"/>
                  <a:pt x="4213225" y="63500"/>
                </a:cubicBezTo>
                <a:lnTo>
                  <a:pt x="4213225" y="577850"/>
                </a:lnTo>
                <a:cubicBezTo>
                  <a:pt x="4213225" y="612920"/>
                  <a:pt x="4184795" y="641350"/>
                  <a:pt x="414972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6350" y="4695729"/>
            <a:ext cx="4016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Traditional programming is like a rigid recipe - if you don't have exact ingredients, the dish fails!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407" y="396488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99122" y="0"/>
                </a:moveTo>
                <a:lnTo>
                  <a:pt x="297366" y="0"/>
                </a:lnTo>
                <a:cubicBezTo>
                  <a:pt x="352073" y="0"/>
                  <a:pt x="396488" y="44415"/>
                  <a:pt x="396488" y="99122"/>
                </a:cubicBezTo>
                <a:lnTo>
                  <a:pt x="396488" y="297366"/>
                </a:lnTo>
                <a:cubicBezTo>
                  <a:pt x="396488" y="352109"/>
                  <a:pt x="352109" y="396488"/>
                  <a:pt x="297366" y="396488"/>
                </a:cubicBezTo>
                <a:lnTo>
                  <a:pt x="99122" y="396488"/>
                </a:lnTo>
                <a:cubicBezTo>
                  <a:pt x="44415" y="396488"/>
                  <a:pt x="0" y="352073"/>
                  <a:pt x="0" y="297366"/>
                </a:cubicBezTo>
                <a:lnTo>
                  <a:pt x="0" y="99122"/>
                </a:lnTo>
                <a:cubicBezTo>
                  <a:pt x="0" y="44415"/>
                  <a:pt x="44415" y="0"/>
                  <a:pt x="9912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4748" y="495610"/>
            <a:ext cx="247805" cy="198244"/>
          </a:xfrm>
          <a:custGeom>
            <a:avLst/>
            <a:gdLst/>
            <a:ahLst/>
            <a:cxnLst/>
            <a:rect l="l" t="t" r="r" b="b"/>
            <a:pathLst>
              <a:path w="247805" h="198244">
                <a:moveTo>
                  <a:pt x="136293" y="0"/>
                </a:moveTo>
                <a:cubicBezTo>
                  <a:pt x="136293" y="-6853"/>
                  <a:pt x="130756" y="-12390"/>
                  <a:pt x="123902" y="-12390"/>
                </a:cubicBezTo>
                <a:cubicBezTo>
                  <a:pt x="117049" y="-12390"/>
                  <a:pt x="111512" y="-6853"/>
                  <a:pt x="111512" y="0"/>
                </a:cubicBezTo>
                <a:lnTo>
                  <a:pt x="111512" y="24780"/>
                </a:lnTo>
                <a:lnTo>
                  <a:pt x="74341" y="24780"/>
                </a:lnTo>
                <a:cubicBezTo>
                  <a:pt x="53820" y="24780"/>
                  <a:pt x="37171" y="41430"/>
                  <a:pt x="37171" y="61951"/>
                </a:cubicBezTo>
                <a:lnTo>
                  <a:pt x="37171" y="148683"/>
                </a:lnTo>
                <a:cubicBezTo>
                  <a:pt x="37171" y="169204"/>
                  <a:pt x="53820" y="185854"/>
                  <a:pt x="74341" y="185854"/>
                </a:cubicBezTo>
                <a:lnTo>
                  <a:pt x="173463" y="185854"/>
                </a:lnTo>
                <a:cubicBezTo>
                  <a:pt x="193985" y="185854"/>
                  <a:pt x="210634" y="169204"/>
                  <a:pt x="210634" y="148683"/>
                </a:cubicBezTo>
                <a:lnTo>
                  <a:pt x="210634" y="61951"/>
                </a:lnTo>
                <a:cubicBezTo>
                  <a:pt x="210634" y="41430"/>
                  <a:pt x="193985" y="24780"/>
                  <a:pt x="173463" y="24780"/>
                </a:cubicBezTo>
                <a:lnTo>
                  <a:pt x="136293" y="24780"/>
                </a:lnTo>
                <a:lnTo>
                  <a:pt x="136293" y="0"/>
                </a:lnTo>
                <a:close/>
                <a:moveTo>
                  <a:pt x="61951" y="142488"/>
                </a:moveTo>
                <a:cubicBezTo>
                  <a:pt x="61951" y="137338"/>
                  <a:pt x="66094" y="133195"/>
                  <a:pt x="71244" y="133195"/>
                </a:cubicBezTo>
                <a:lnTo>
                  <a:pt x="83634" y="133195"/>
                </a:lnTo>
                <a:cubicBezTo>
                  <a:pt x="88784" y="133195"/>
                  <a:pt x="92927" y="137338"/>
                  <a:pt x="92927" y="142488"/>
                </a:cubicBezTo>
                <a:cubicBezTo>
                  <a:pt x="92927" y="147638"/>
                  <a:pt x="88784" y="151780"/>
                  <a:pt x="83634" y="151780"/>
                </a:cubicBezTo>
                <a:lnTo>
                  <a:pt x="71244" y="151780"/>
                </a:lnTo>
                <a:cubicBezTo>
                  <a:pt x="66094" y="151780"/>
                  <a:pt x="61951" y="147638"/>
                  <a:pt x="61951" y="142488"/>
                </a:cubicBezTo>
                <a:close/>
                <a:moveTo>
                  <a:pt x="108415" y="142488"/>
                </a:moveTo>
                <a:cubicBezTo>
                  <a:pt x="108415" y="137338"/>
                  <a:pt x="112558" y="133195"/>
                  <a:pt x="117707" y="133195"/>
                </a:cubicBezTo>
                <a:lnTo>
                  <a:pt x="130098" y="133195"/>
                </a:lnTo>
                <a:cubicBezTo>
                  <a:pt x="135247" y="133195"/>
                  <a:pt x="139390" y="137338"/>
                  <a:pt x="139390" y="142488"/>
                </a:cubicBezTo>
                <a:cubicBezTo>
                  <a:pt x="139390" y="147638"/>
                  <a:pt x="135247" y="151780"/>
                  <a:pt x="130098" y="151780"/>
                </a:cubicBezTo>
                <a:lnTo>
                  <a:pt x="117707" y="151780"/>
                </a:lnTo>
                <a:cubicBezTo>
                  <a:pt x="112558" y="151780"/>
                  <a:pt x="108415" y="147638"/>
                  <a:pt x="108415" y="142488"/>
                </a:cubicBezTo>
                <a:close/>
                <a:moveTo>
                  <a:pt x="154878" y="142488"/>
                </a:moveTo>
                <a:cubicBezTo>
                  <a:pt x="154878" y="137338"/>
                  <a:pt x="159021" y="133195"/>
                  <a:pt x="164171" y="133195"/>
                </a:cubicBezTo>
                <a:lnTo>
                  <a:pt x="176561" y="133195"/>
                </a:lnTo>
                <a:cubicBezTo>
                  <a:pt x="181711" y="133195"/>
                  <a:pt x="185854" y="137338"/>
                  <a:pt x="185854" y="142488"/>
                </a:cubicBezTo>
                <a:cubicBezTo>
                  <a:pt x="185854" y="147638"/>
                  <a:pt x="181711" y="151780"/>
                  <a:pt x="176561" y="151780"/>
                </a:cubicBezTo>
                <a:lnTo>
                  <a:pt x="164171" y="151780"/>
                </a:lnTo>
                <a:cubicBezTo>
                  <a:pt x="159021" y="151780"/>
                  <a:pt x="154878" y="147638"/>
                  <a:pt x="154878" y="142488"/>
                </a:cubicBezTo>
                <a:close/>
                <a:moveTo>
                  <a:pt x="86732" y="68146"/>
                </a:moveTo>
                <a:cubicBezTo>
                  <a:pt x="96989" y="68146"/>
                  <a:pt x="105317" y="76474"/>
                  <a:pt x="105317" y="86732"/>
                </a:cubicBezTo>
                <a:cubicBezTo>
                  <a:pt x="105317" y="96989"/>
                  <a:pt x="96989" y="105317"/>
                  <a:pt x="86732" y="105317"/>
                </a:cubicBezTo>
                <a:cubicBezTo>
                  <a:pt x="76474" y="105317"/>
                  <a:pt x="68146" y="96989"/>
                  <a:pt x="68146" y="86732"/>
                </a:cubicBezTo>
                <a:cubicBezTo>
                  <a:pt x="68146" y="76474"/>
                  <a:pt x="76474" y="68146"/>
                  <a:pt x="86732" y="68146"/>
                </a:cubicBezTo>
                <a:close/>
                <a:moveTo>
                  <a:pt x="142488" y="86732"/>
                </a:moveTo>
                <a:cubicBezTo>
                  <a:pt x="142488" y="76474"/>
                  <a:pt x="150816" y="68146"/>
                  <a:pt x="161073" y="68146"/>
                </a:cubicBezTo>
                <a:cubicBezTo>
                  <a:pt x="171331" y="68146"/>
                  <a:pt x="179659" y="76474"/>
                  <a:pt x="179659" y="86732"/>
                </a:cubicBezTo>
                <a:cubicBezTo>
                  <a:pt x="179659" y="96989"/>
                  <a:pt x="171331" y="105317"/>
                  <a:pt x="161073" y="105317"/>
                </a:cubicBezTo>
                <a:cubicBezTo>
                  <a:pt x="150816" y="105317"/>
                  <a:pt x="142488" y="96989"/>
                  <a:pt x="142488" y="86732"/>
                </a:cubicBezTo>
                <a:close/>
                <a:moveTo>
                  <a:pt x="24780" y="86732"/>
                </a:moveTo>
                <a:cubicBezTo>
                  <a:pt x="24780" y="79878"/>
                  <a:pt x="19244" y="74341"/>
                  <a:pt x="12390" y="74341"/>
                </a:cubicBezTo>
                <a:cubicBezTo>
                  <a:pt x="5537" y="74341"/>
                  <a:pt x="0" y="79878"/>
                  <a:pt x="0" y="86732"/>
                </a:cubicBezTo>
                <a:lnTo>
                  <a:pt x="0" y="123902"/>
                </a:lnTo>
                <a:cubicBezTo>
                  <a:pt x="0" y="130756"/>
                  <a:pt x="5537" y="136293"/>
                  <a:pt x="12390" y="136293"/>
                </a:cubicBezTo>
                <a:cubicBezTo>
                  <a:pt x="19244" y="136293"/>
                  <a:pt x="24780" y="130756"/>
                  <a:pt x="24780" y="123902"/>
                </a:cubicBezTo>
                <a:lnTo>
                  <a:pt x="24780" y="86732"/>
                </a:lnTo>
                <a:close/>
                <a:moveTo>
                  <a:pt x="235415" y="74341"/>
                </a:moveTo>
                <a:cubicBezTo>
                  <a:pt x="228561" y="74341"/>
                  <a:pt x="223024" y="79878"/>
                  <a:pt x="223024" y="86732"/>
                </a:cubicBezTo>
                <a:lnTo>
                  <a:pt x="223024" y="123902"/>
                </a:lnTo>
                <a:cubicBezTo>
                  <a:pt x="223024" y="130756"/>
                  <a:pt x="228561" y="136293"/>
                  <a:pt x="235415" y="136293"/>
                </a:cubicBezTo>
                <a:cubicBezTo>
                  <a:pt x="242268" y="136293"/>
                  <a:pt x="247805" y="130756"/>
                  <a:pt x="247805" y="123902"/>
                </a:cubicBezTo>
                <a:lnTo>
                  <a:pt x="247805" y="86732"/>
                </a:lnTo>
                <a:cubicBezTo>
                  <a:pt x="247805" y="79878"/>
                  <a:pt x="242268" y="74341"/>
                  <a:pt x="235415" y="74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6016" y="330407"/>
            <a:ext cx="550952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• TOPIC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6016" y="528650"/>
            <a:ext cx="559213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With AI: Learning from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711" y="1126686"/>
            <a:ext cx="6788202" cy="3029828"/>
          </a:xfrm>
          <a:custGeom>
            <a:avLst/>
            <a:gdLst/>
            <a:ahLst/>
            <a:cxnLst/>
            <a:rect l="l" t="t" r="r" b="b"/>
            <a:pathLst>
              <a:path w="6788202" h="3029828">
                <a:moveTo>
                  <a:pt x="99136" y="0"/>
                </a:moveTo>
                <a:lnTo>
                  <a:pt x="6689066" y="0"/>
                </a:lnTo>
                <a:cubicBezTo>
                  <a:pt x="6743817" y="0"/>
                  <a:pt x="6788202" y="44385"/>
                  <a:pt x="6788202" y="99136"/>
                </a:cubicBezTo>
                <a:lnTo>
                  <a:pt x="6788202" y="2930692"/>
                </a:lnTo>
                <a:cubicBezTo>
                  <a:pt x="6788202" y="2985443"/>
                  <a:pt x="6743817" y="3029828"/>
                  <a:pt x="6689066" y="3029828"/>
                </a:cubicBezTo>
                <a:lnTo>
                  <a:pt x="99136" y="3029828"/>
                </a:lnTo>
                <a:cubicBezTo>
                  <a:pt x="44385" y="3029828"/>
                  <a:pt x="0" y="2985443"/>
                  <a:pt x="0" y="2930692"/>
                </a:cubicBezTo>
                <a:lnTo>
                  <a:pt x="0" y="99136"/>
                </a:lnTo>
                <a:cubicBezTo>
                  <a:pt x="0" y="44421"/>
                  <a:pt x="44421" y="0"/>
                  <a:pt x="9913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259" y="1328233"/>
            <a:ext cx="6484228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Programming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5259" y="1724624"/>
            <a:ext cx="6459447" cy="4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Instead of writing explicit rules, AI systems </a:t>
            </a:r>
            <a:r>
              <a:rPr lang="en-US" sz="117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patterns from examples and data</a:t>
            </a:r>
            <a:r>
              <a:rPr lang="en-US" sz="117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It's like teaching a child by showing them many examples!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1779" y="2340006"/>
            <a:ext cx="6368585" cy="1618992"/>
          </a:xfrm>
          <a:custGeom>
            <a:avLst/>
            <a:gdLst/>
            <a:ahLst/>
            <a:cxnLst/>
            <a:rect l="l" t="t" r="r" b="b"/>
            <a:pathLst>
              <a:path w="6368585" h="1618992">
                <a:moveTo>
                  <a:pt x="33041" y="0"/>
                </a:moveTo>
                <a:lnTo>
                  <a:pt x="6302498" y="0"/>
                </a:lnTo>
                <a:cubicBezTo>
                  <a:pt x="6338997" y="0"/>
                  <a:pt x="6368585" y="29588"/>
                  <a:pt x="6368585" y="66087"/>
                </a:cubicBezTo>
                <a:lnTo>
                  <a:pt x="6368585" y="1552905"/>
                </a:lnTo>
                <a:cubicBezTo>
                  <a:pt x="6368585" y="1589404"/>
                  <a:pt x="6338997" y="1618992"/>
                  <a:pt x="6302498" y="1618992"/>
                </a:cubicBezTo>
                <a:lnTo>
                  <a:pt x="33041" y="1618992"/>
                </a:lnTo>
                <a:cubicBezTo>
                  <a:pt x="14793" y="1618992"/>
                  <a:pt x="0" y="1604199"/>
                  <a:pt x="0" y="1585951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51779" y="2340006"/>
            <a:ext cx="33041" cy="1618992"/>
          </a:xfrm>
          <a:custGeom>
            <a:avLst/>
            <a:gdLst/>
            <a:ahLst/>
            <a:cxnLst/>
            <a:rect l="l" t="t" r="r" b="b"/>
            <a:pathLst>
              <a:path w="33041" h="1618992">
                <a:moveTo>
                  <a:pt x="33041" y="0"/>
                </a:moveTo>
                <a:lnTo>
                  <a:pt x="33041" y="0"/>
                </a:lnTo>
                <a:lnTo>
                  <a:pt x="33041" y="1618992"/>
                </a:lnTo>
                <a:lnTo>
                  <a:pt x="33041" y="1618992"/>
                </a:lnTo>
                <a:cubicBezTo>
                  <a:pt x="14793" y="1618992"/>
                  <a:pt x="0" y="1604199"/>
                  <a:pt x="0" y="1585951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3502" y="2505209"/>
            <a:ext cx="880120" cy="19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3502" y="2802575"/>
            <a:ext cx="6087740" cy="99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lots of examples (data)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system analyzes patterns in data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learns to recognize patterns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handle new, unseen situations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711" y="4299315"/>
            <a:ext cx="6788202" cy="2558998"/>
          </a:xfrm>
          <a:custGeom>
            <a:avLst/>
            <a:gdLst/>
            <a:ahLst/>
            <a:cxnLst/>
            <a:rect l="l" t="t" r="r" b="b"/>
            <a:pathLst>
              <a:path w="6788202" h="2558998">
                <a:moveTo>
                  <a:pt x="99110" y="0"/>
                </a:moveTo>
                <a:lnTo>
                  <a:pt x="6689092" y="0"/>
                </a:lnTo>
                <a:cubicBezTo>
                  <a:pt x="6743829" y="0"/>
                  <a:pt x="6788202" y="44373"/>
                  <a:pt x="6788202" y="99110"/>
                </a:cubicBezTo>
                <a:lnTo>
                  <a:pt x="6788202" y="2459888"/>
                </a:lnTo>
                <a:cubicBezTo>
                  <a:pt x="6788202" y="2514625"/>
                  <a:pt x="6743829" y="2558998"/>
                  <a:pt x="6689092" y="2558998"/>
                </a:cubicBezTo>
                <a:lnTo>
                  <a:pt x="99110" y="2558998"/>
                </a:lnTo>
                <a:cubicBezTo>
                  <a:pt x="44373" y="2558998"/>
                  <a:pt x="0" y="2514625"/>
                  <a:pt x="0" y="2459888"/>
                </a:cubicBezTo>
                <a:lnTo>
                  <a:pt x="0" y="99110"/>
                </a:lnTo>
                <a:cubicBezTo>
                  <a:pt x="0" y="44410"/>
                  <a:pt x="44410" y="0"/>
                  <a:pt x="9911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259" y="4500861"/>
            <a:ext cx="6484228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Example: AI Approach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8563" y="4900548"/>
            <a:ext cx="6383454" cy="1485177"/>
          </a:xfrm>
          <a:custGeom>
            <a:avLst/>
            <a:gdLst/>
            <a:ahLst/>
            <a:cxnLst/>
            <a:rect l="l" t="t" r="r" b="b"/>
            <a:pathLst>
              <a:path w="6383454" h="1485177">
                <a:moveTo>
                  <a:pt x="66076" y="0"/>
                </a:moveTo>
                <a:lnTo>
                  <a:pt x="6317378" y="0"/>
                </a:lnTo>
                <a:cubicBezTo>
                  <a:pt x="6353871" y="0"/>
                  <a:pt x="6383454" y="29583"/>
                  <a:pt x="6383454" y="66076"/>
                </a:cubicBezTo>
                <a:lnTo>
                  <a:pt x="6383454" y="1419102"/>
                </a:lnTo>
                <a:cubicBezTo>
                  <a:pt x="6383454" y="1455594"/>
                  <a:pt x="6353871" y="1485177"/>
                  <a:pt x="6317378" y="1485177"/>
                </a:cubicBezTo>
                <a:lnTo>
                  <a:pt x="66076" y="1485177"/>
                </a:lnTo>
                <a:cubicBezTo>
                  <a:pt x="29583" y="1485177"/>
                  <a:pt x="0" y="1455594"/>
                  <a:pt x="0" y="1419102"/>
                </a:cubicBezTo>
                <a:lnTo>
                  <a:pt x="0" y="66076"/>
                </a:lnTo>
                <a:cubicBezTo>
                  <a:pt x="0" y="29607"/>
                  <a:pt x="29607" y="0"/>
                  <a:pt x="66076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029" y="5036013"/>
            <a:ext cx="6170341" cy="17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AI spam filter - learns from examples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4029" y="5209476"/>
            <a:ext cx="6170341" cy="17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sklearn.naive_bayes import MultinomialNB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4029" y="5382940"/>
            <a:ext cx="6170341" cy="17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Train AI with labeled examples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4029" y="5556403"/>
            <a:ext cx="6170341" cy="17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ai_model = MultinomialNB()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4029" y="5729867"/>
            <a:ext cx="6170341" cy="17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ai_model.fit(training_emails, labels)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4029" y="5903330"/>
            <a:ext cx="6170341" cy="17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AI learns patterns automatically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4029" y="6076794"/>
            <a:ext cx="6170341" cy="17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 = ai_model.predict(new_email)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5259" y="6488156"/>
            <a:ext cx="6442927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Advantage:</a:t>
            </a:r>
            <a:r>
              <a:rPr lang="en-US" sz="9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adapts to new spam techniques without manual updates!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29449" y="1126686"/>
            <a:ext cx="4524917" cy="5730901"/>
          </a:xfrm>
          <a:custGeom>
            <a:avLst/>
            <a:gdLst/>
            <a:ahLst/>
            <a:cxnLst/>
            <a:rect l="l" t="t" r="r" b="b"/>
            <a:pathLst>
              <a:path w="4524917" h="5730901">
                <a:moveTo>
                  <a:pt x="99141" y="0"/>
                </a:moveTo>
                <a:lnTo>
                  <a:pt x="4425776" y="0"/>
                </a:lnTo>
                <a:cubicBezTo>
                  <a:pt x="4480530" y="0"/>
                  <a:pt x="4524917" y="44387"/>
                  <a:pt x="4524917" y="99141"/>
                </a:cubicBezTo>
                <a:lnTo>
                  <a:pt x="4524917" y="5631760"/>
                </a:lnTo>
                <a:cubicBezTo>
                  <a:pt x="4524917" y="5686514"/>
                  <a:pt x="4480530" y="5730901"/>
                  <a:pt x="4425776" y="5730901"/>
                </a:cubicBezTo>
                <a:lnTo>
                  <a:pt x="99141" y="5730901"/>
                </a:lnTo>
                <a:cubicBezTo>
                  <a:pt x="44387" y="5730901"/>
                  <a:pt x="0" y="5686514"/>
                  <a:pt x="0" y="5631760"/>
                </a:cubicBezTo>
                <a:lnTo>
                  <a:pt x="0" y="99141"/>
                </a:lnTo>
                <a:cubicBezTo>
                  <a:pt x="0" y="44424"/>
                  <a:pt x="44424" y="0"/>
                  <a:pt x="9914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7956" y="1295192"/>
            <a:ext cx="4287024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7956" y="1691583"/>
            <a:ext cx="4187902" cy="1767675"/>
          </a:xfrm>
          <a:custGeom>
            <a:avLst/>
            <a:gdLst/>
            <a:ahLst/>
            <a:cxnLst/>
            <a:rect l="l" t="t" r="r" b="b"/>
            <a:pathLst>
              <a:path w="4187902" h="1767675">
                <a:moveTo>
                  <a:pt x="66076" y="0"/>
                </a:moveTo>
                <a:lnTo>
                  <a:pt x="4121827" y="0"/>
                </a:lnTo>
                <a:cubicBezTo>
                  <a:pt x="4158319" y="0"/>
                  <a:pt x="4187902" y="29583"/>
                  <a:pt x="4187902" y="66076"/>
                </a:cubicBezTo>
                <a:lnTo>
                  <a:pt x="4187902" y="1701599"/>
                </a:lnTo>
                <a:cubicBezTo>
                  <a:pt x="4187902" y="1738092"/>
                  <a:pt x="4158319" y="1767675"/>
                  <a:pt x="4121827" y="1767675"/>
                </a:cubicBezTo>
                <a:lnTo>
                  <a:pt x="66076" y="1767675"/>
                </a:lnTo>
                <a:cubicBezTo>
                  <a:pt x="29583" y="1767675"/>
                  <a:pt x="0" y="1738092"/>
                  <a:pt x="0" y="1701599"/>
                </a:cubicBezTo>
                <a:lnTo>
                  <a:pt x="0" y="66076"/>
                </a:lnTo>
                <a:cubicBezTo>
                  <a:pt x="0" y="29608"/>
                  <a:pt x="29608" y="0"/>
                  <a:pt x="66076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7" name="Text 25"/>
          <p:cNvSpPr/>
          <p:nvPr/>
        </p:nvSpPr>
        <p:spPr>
          <a:xfrm>
            <a:off x="7630119" y="1823745"/>
            <a:ext cx="3997919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Recommendations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30119" y="2154152"/>
            <a:ext cx="3989659" cy="2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AI learns your preferences: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30119" y="2468038"/>
            <a:ext cx="3981398" cy="859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Watches what you click and watch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Learns patterns in your behavior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Suggests movies you might like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1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Gets better over time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97956" y="3591420"/>
            <a:ext cx="4187902" cy="1024260"/>
          </a:xfrm>
          <a:custGeom>
            <a:avLst/>
            <a:gdLst/>
            <a:ahLst/>
            <a:cxnLst/>
            <a:rect l="l" t="t" r="r" b="b"/>
            <a:pathLst>
              <a:path w="4187902" h="1024260">
                <a:moveTo>
                  <a:pt x="66085" y="0"/>
                </a:moveTo>
                <a:lnTo>
                  <a:pt x="4121817" y="0"/>
                </a:lnTo>
                <a:cubicBezTo>
                  <a:pt x="4158315" y="0"/>
                  <a:pt x="4187902" y="29587"/>
                  <a:pt x="4187902" y="66085"/>
                </a:cubicBezTo>
                <a:lnTo>
                  <a:pt x="4187902" y="958175"/>
                </a:lnTo>
                <a:cubicBezTo>
                  <a:pt x="4187902" y="994673"/>
                  <a:pt x="4158315" y="1024260"/>
                  <a:pt x="4121817" y="1024260"/>
                </a:cubicBezTo>
                <a:lnTo>
                  <a:pt x="66085" y="1024260"/>
                </a:lnTo>
                <a:cubicBezTo>
                  <a:pt x="29612" y="1024260"/>
                  <a:pt x="0" y="994648"/>
                  <a:pt x="0" y="958175"/>
                </a:cubicBezTo>
                <a:lnTo>
                  <a:pt x="0" y="66085"/>
                </a:lnTo>
                <a:cubicBezTo>
                  <a:pt x="0" y="29587"/>
                  <a:pt x="29587" y="0"/>
                  <a:pt x="6608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1" name="Text 29"/>
          <p:cNvSpPr/>
          <p:nvPr/>
        </p:nvSpPr>
        <p:spPr>
          <a:xfrm>
            <a:off x="7630119" y="3723583"/>
            <a:ext cx="3997919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Recognition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30119" y="4053989"/>
            <a:ext cx="3989659" cy="42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sees thousands of cat photos, learns what cats look like, then recognizes cats in new photos it's never seen!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01260" y="4751147"/>
            <a:ext cx="4177990" cy="667421"/>
          </a:xfrm>
          <a:custGeom>
            <a:avLst/>
            <a:gdLst/>
            <a:ahLst/>
            <a:cxnLst/>
            <a:rect l="l" t="t" r="r" b="b"/>
            <a:pathLst>
              <a:path w="4177990" h="667421">
                <a:moveTo>
                  <a:pt x="66081" y="0"/>
                </a:moveTo>
                <a:lnTo>
                  <a:pt x="4111909" y="0"/>
                </a:lnTo>
                <a:cubicBezTo>
                  <a:pt x="4148405" y="0"/>
                  <a:pt x="4177990" y="29586"/>
                  <a:pt x="4177990" y="66081"/>
                </a:cubicBezTo>
                <a:lnTo>
                  <a:pt x="4177990" y="601340"/>
                </a:lnTo>
                <a:cubicBezTo>
                  <a:pt x="4177990" y="637836"/>
                  <a:pt x="4148405" y="667421"/>
                  <a:pt x="4111909" y="667421"/>
                </a:cubicBezTo>
                <a:lnTo>
                  <a:pt x="66081" y="667421"/>
                </a:lnTo>
                <a:cubicBezTo>
                  <a:pt x="29586" y="667421"/>
                  <a:pt x="0" y="637836"/>
                  <a:pt x="0" y="601340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6727" y="4886612"/>
            <a:ext cx="3973138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r>
              <a:rPr lang="en-US" sz="104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programming is like teaching a student through examples rather than giving them a rulebook!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6725" y="5715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00025" y="28575"/>
                </a:moveTo>
                <a:cubicBezTo>
                  <a:pt x="247352" y="28575"/>
                  <a:pt x="285750" y="66973"/>
                  <a:pt x="285750" y="114300"/>
                </a:cubicBezTo>
                <a:cubicBezTo>
                  <a:pt x="285750" y="161627"/>
                  <a:pt x="247352" y="200025"/>
                  <a:pt x="200025" y="200025"/>
                </a:cubicBezTo>
                <a:lnTo>
                  <a:pt x="85725" y="200025"/>
                </a:lnTo>
                <a:cubicBezTo>
                  <a:pt x="38398" y="200025"/>
                  <a:pt x="0" y="161627"/>
                  <a:pt x="0" y="114300"/>
                </a:cubicBezTo>
                <a:cubicBezTo>
                  <a:pt x="0" y="66973"/>
                  <a:pt x="38398" y="28575"/>
                  <a:pt x="85725" y="28575"/>
                </a:cubicBezTo>
                <a:lnTo>
                  <a:pt x="200025" y="28575"/>
                </a:lnTo>
                <a:close/>
                <a:moveTo>
                  <a:pt x="85725" y="78581"/>
                </a:moveTo>
                <a:cubicBezTo>
                  <a:pt x="79787" y="78581"/>
                  <a:pt x="75009" y="83359"/>
                  <a:pt x="75009" y="89297"/>
                </a:cubicBezTo>
                <a:lnTo>
                  <a:pt x="75009" y="103584"/>
                </a:lnTo>
                <a:lnTo>
                  <a:pt x="60722" y="103584"/>
                </a:lnTo>
                <a:cubicBezTo>
                  <a:pt x="54784" y="103584"/>
                  <a:pt x="50006" y="108362"/>
                  <a:pt x="50006" y="114300"/>
                </a:cubicBezTo>
                <a:cubicBezTo>
                  <a:pt x="50006" y="120238"/>
                  <a:pt x="54784" y="125016"/>
                  <a:pt x="60722" y="125016"/>
                </a:cubicBezTo>
                <a:lnTo>
                  <a:pt x="75009" y="125016"/>
                </a:lnTo>
                <a:lnTo>
                  <a:pt x="75009" y="139303"/>
                </a:lnTo>
                <a:cubicBezTo>
                  <a:pt x="75009" y="145241"/>
                  <a:pt x="79787" y="150019"/>
                  <a:pt x="85725" y="150019"/>
                </a:cubicBezTo>
                <a:cubicBezTo>
                  <a:pt x="91663" y="150019"/>
                  <a:pt x="96441" y="145241"/>
                  <a:pt x="96441" y="139303"/>
                </a:cubicBezTo>
                <a:lnTo>
                  <a:pt x="96441" y="125016"/>
                </a:lnTo>
                <a:lnTo>
                  <a:pt x="110728" y="125016"/>
                </a:lnTo>
                <a:cubicBezTo>
                  <a:pt x="116666" y="125016"/>
                  <a:pt x="121444" y="120238"/>
                  <a:pt x="121444" y="114300"/>
                </a:cubicBezTo>
                <a:cubicBezTo>
                  <a:pt x="121444" y="108362"/>
                  <a:pt x="116666" y="103584"/>
                  <a:pt x="110728" y="103584"/>
                </a:cubicBezTo>
                <a:lnTo>
                  <a:pt x="96441" y="103584"/>
                </a:lnTo>
                <a:lnTo>
                  <a:pt x="96441" y="89297"/>
                </a:lnTo>
                <a:cubicBezTo>
                  <a:pt x="96441" y="83359"/>
                  <a:pt x="91663" y="78581"/>
                  <a:pt x="85725" y="78581"/>
                </a:cubicBezTo>
                <a:close/>
                <a:moveTo>
                  <a:pt x="192881" y="121444"/>
                </a:moveTo>
                <a:cubicBezTo>
                  <a:pt x="184996" y="121444"/>
                  <a:pt x="178594" y="127846"/>
                  <a:pt x="178594" y="135731"/>
                </a:cubicBezTo>
                <a:cubicBezTo>
                  <a:pt x="178594" y="143617"/>
                  <a:pt x="184996" y="150019"/>
                  <a:pt x="192881" y="150019"/>
                </a:cubicBezTo>
                <a:cubicBezTo>
                  <a:pt x="200767" y="150019"/>
                  <a:pt x="207169" y="143617"/>
                  <a:pt x="207169" y="135731"/>
                </a:cubicBezTo>
                <a:cubicBezTo>
                  <a:pt x="207169" y="127846"/>
                  <a:pt x="200767" y="121444"/>
                  <a:pt x="192881" y="121444"/>
                </a:cubicBezTo>
                <a:close/>
                <a:moveTo>
                  <a:pt x="221456" y="78581"/>
                </a:moveTo>
                <a:cubicBezTo>
                  <a:pt x="213571" y="78581"/>
                  <a:pt x="207169" y="84983"/>
                  <a:pt x="207169" y="92869"/>
                </a:cubicBezTo>
                <a:cubicBezTo>
                  <a:pt x="207169" y="100754"/>
                  <a:pt x="213571" y="107156"/>
                  <a:pt x="221456" y="107156"/>
                </a:cubicBezTo>
                <a:cubicBezTo>
                  <a:pt x="229342" y="107156"/>
                  <a:pt x="235744" y="100754"/>
                  <a:pt x="235744" y="92869"/>
                </a:cubicBezTo>
                <a:cubicBezTo>
                  <a:pt x="235744" y="84983"/>
                  <a:pt x="229342" y="78581"/>
                  <a:pt x="221456" y="785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709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• TOPIC 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7191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 Gaming and Natural Language Processing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5589270" cy="5379720"/>
          </a:xfrm>
          <a:custGeom>
            <a:avLst/>
            <a:gdLst/>
            <a:ahLst/>
            <a:cxnLst/>
            <a:rect l="l" t="t" r="r" b="b"/>
            <a:pathLst>
              <a:path w="5589270" h="5379720">
                <a:moveTo>
                  <a:pt x="114319" y="0"/>
                </a:moveTo>
                <a:lnTo>
                  <a:pt x="5474951" y="0"/>
                </a:lnTo>
                <a:cubicBezTo>
                  <a:pt x="5538088" y="0"/>
                  <a:pt x="5589270" y="51182"/>
                  <a:pt x="5589270" y="114319"/>
                </a:cubicBezTo>
                <a:lnTo>
                  <a:pt x="5589270" y="5265401"/>
                </a:lnTo>
                <a:cubicBezTo>
                  <a:pt x="5589270" y="5328538"/>
                  <a:pt x="5538088" y="5379720"/>
                  <a:pt x="5474951" y="5379720"/>
                </a:cubicBezTo>
                <a:lnTo>
                  <a:pt x="114319" y="5379720"/>
                </a:lnTo>
                <a:cubicBezTo>
                  <a:pt x="51182" y="5379720"/>
                  <a:pt x="0" y="5328538"/>
                  <a:pt x="0" y="5265401"/>
                </a:cubicBezTo>
                <a:lnTo>
                  <a:pt x="0" y="114319"/>
                </a:lnTo>
                <a:cubicBezTo>
                  <a:pt x="0" y="51225"/>
                  <a:pt x="51225" y="0"/>
                  <a:pt x="11431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5316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2945" y="164591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00025" y="28575"/>
                </a:moveTo>
                <a:cubicBezTo>
                  <a:pt x="247352" y="28575"/>
                  <a:pt x="285750" y="66973"/>
                  <a:pt x="285750" y="114300"/>
                </a:cubicBezTo>
                <a:cubicBezTo>
                  <a:pt x="285750" y="161627"/>
                  <a:pt x="247352" y="200025"/>
                  <a:pt x="200025" y="200025"/>
                </a:cubicBezTo>
                <a:lnTo>
                  <a:pt x="85725" y="200025"/>
                </a:lnTo>
                <a:cubicBezTo>
                  <a:pt x="38398" y="200025"/>
                  <a:pt x="0" y="161627"/>
                  <a:pt x="0" y="114300"/>
                </a:cubicBezTo>
                <a:cubicBezTo>
                  <a:pt x="0" y="66973"/>
                  <a:pt x="38398" y="28575"/>
                  <a:pt x="85725" y="28575"/>
                </a:cubicBezTo>
                <a:lnTo>
                  <a:pt x="200025" y="28575"/>
                </a:lnTo>
                <a:close/>
                <a:moveTo>
                  <a:pt x="85725" y="78581"/>
                </a:moveTo>
                <a:cubicBezTo>
                  <a:pt x="79787" y="78581"/>
                  <a:pt x="75009" y="83359"/>
                  <a:pt x="75009" y="89297"/>
                </a:cubicBezTo>
                <a:lnTo>
                  <a:pt x="75009" y="103584"/>
                </a:lnTo>
                <a:lnTo>
                  <a:pt x="60722" y="103584"/>
                </a:lnTo>
                <a:cubicBezTo>
                  <a:pt x="54784" y="103584"/>
                  <a:pt x="50006" y="108362"/>
                  <a:pt x="50006" y="114300"/>
                </a:cubicBezTo>
                <a:cubicBezTo>
                  <a:pt x="50006" y="120238"/>
                  <a:pt x="54784" y="125016"/>
                  <a:pt x="60722" y="125016"/>
                </a:cubicBezTo>
                <a:lnTo>
                  <a:pt x="75009" y="125016"/>
                </a:lnTo>
                <a:lnTo>
                  <a:pt x="75009" y="139303"/>
                </a:lnTo>
                <a:cubicBezTo>
                  <a:pt x="75009" y="145241"/>
                  <a:pt x="79787" y="150019"/>
                  <a:pt x="85725" y="150019"/>
                </a:cubicBezTo>
                <a:cubicBezTo>
                  <a:pt x="91663" y="150019"/>
                  <a:pt x="96441" y="145241"/>
                  <a:pt x="96441" y="139303"/>
                </a:cubicBezTo>
                <a:lnTo>
                  <a:pt x="96441" y="125016"/>
                </a:lnTo>
                <a:lnTo>
                  <a:pt x="110728" y="125016"/>
                </a:lnTo>
                <a:cubicBezTo>
                  <a:pt x="116666" y="125016"/>
                  <a:pt x="121444" y="120238"/>
                  <a:pt x="121444" y="114300"/>
                </a:cubicBezTo>
                <a:cubicBezTo>
                  <a:pt x="121444" y="108362"/>
                  <a:pt x="116666" y="103584"/>
                  <a:pt x="110728" y="103584"/>
                </a:cubicBezTo>
                <a:lnTo>
                  <a:pt x="96441" y="103584"/>
                </a:lnTo>
                <a:lnTo>
                  <a:pt x="96441" y="89297"/>
                </a:lnTo>
                <a:cubicBezTo>
                  <a:pt x="96441" y="83359"/>
                  <a:pt x="91663" y="78581"/>
                  <a:pt x="85725" y="78581"/>
                </a:cubicBezTo>
                <a:close/>
                <a:moveTo>
                  <a:pt x="192881" y="121444"/>
                </a:moveTo>
                <a:cubicBezTo>
                  <a:pt x="184996" y="121444"/>
                  <a:pt x="178594" y="127846"/>
                  <a:pt x="178594" y="135731"/>
                </a:cubicBezTo>
                <a:cubicBezTo>
                  <a:pt x="178594" y="143617"/>
                  <a:pt x="184996" y="150019"/>
                  <a:pt x="192881" y="150019"/>
                </a:cubicBezTo>
                <a:cubicBezTo>
                  <a:pt x="200767" y="150019"/>
                  <a:pt x="207169" y="143617"/>
                  <a:pt x="207169" y="135731"/>
                </a:cubicBezTo>
                <a:cubicBezTo>
                  <a:pt x="207169" y="127846"/>
                  <a:pt x="200767" y="121444"/>
                  <a:pt x="192881" y="121444"/>
                </a:cubicBezTo>
                <a:close/>
                <a:moveTo>
                  <a:pt x="221456" y="78581"/>
                </a:moveTo>
                <a:cubicBezTo>
                  <a:pt x="213571" y="78581"/>
                  <a:pt x="207169" y="84983"/>
                  <a:pt x="207169" y="92869"/>
                </a:cubicBezTo>
                <a:cubicBezTo>
                  <a:pt x="207169" y="100754"/>
                  <a:pt x="213571" y="107156"/>
                  <a:pt x="221456" y="107156"/>
                </a:cubicBezTo>
                <a:cubicBezTo>
                  <a:pt x="229342" y="107156"/>
                  <a:pt x="235744" y="100754"/>
                  <a:pt x="235744" y="92869"/>
                </a:cubicBezTo>
                <a:cubicBezTo>
                  <a:pt x="235744" y="84983"/>
                  <a:pt x="229342" y="78581"/>
                  <a:pt x="221456" y="785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607818"/>
            <a:ext cx="138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 Gaming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141218"/>
            <a:ext cx="5210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creates </a:t>
            </a: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opponents</a:t>
            </a: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generates game worlds, and adapts difficulty to keep players engaged.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" y="2850840"/>
            <a:ext cx="5124450" cy="2819400"/>
          </a:xfrm>
          <a:custGeom>
            <a:avLst/>
            <a:gdLst/>
            <a:ahLst/>
            <a:cxnLst/>
            <a:rect l="l" t="t" r="r" b="b"/>
            <a:pathLst>
              <a:path w="5124450" h="2819400">
                <a:moveTo>
                  <a:pt x="76208" y="0"/>
                </a:moveTo>
                <a:lnTo>
                  <a:pt x="5048242" y="0"/>
                </a:lnTo>
                <a:cubicBezTo>
                  <a:pt x="5090330" y="0"/>
                  <a:pt x="5124450" y="34120"/>
                  <a:pt x="5124450" y="76208"/>
                </a:cubicBezTo>
                <a:lnTo>
                  <a:pt x="5124450" y="2743192"/>
                </a:lnTo>
                <a:cubicBezTo>
                  <a:pt x="5124450" y="2785280"/>
                  <a:pt x="5090330" y="2819400"/>
                  <a:pt x="5048242" y="2819400"/>
                </a:cubicBezTo>
                <a:lnTo>
                  <a:pt x="76208" y="2819400"/>
                </a:lnTo>
                <a:cubicBezTo>
                  <a:pt x="34120" y="2819400"/>
                  <a:pt x="0" y="2785280"/>
                  <a:pt x="0" y="27431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12" name="Image 0" descr="https://itchronicles.com/wp-content/uploads/2021/04/Optimized-Illustration-from-Adobe-Stock-for-ITC-Post-on-AI-in-Game-Development-scaled.jpeg"/>
          <p:cNvPicPr>
            <a:picLocks noChangeAspect="1"/>
          </p:cNvPicPr>
          <p:nvPr/>
        </p:nvPicPr>
        <p:blipFill>
          <a:blip r:embed="rId3"/>
          <a:srcRect t="27514" b="27514"/>
          <a:stretch/>
        </p:blipFill>
        <p:spPr>
          <a:xfrm>
            <a:off x="769620" y="3003240"/>
            <a:ext cx="4819650" cy="1219200"/>
          </a:xfrm>
          <a:prstGeom prst="roundRect">
            <a:avLst>
              <a:gd name="adj" fmla="val 6250"/>
            </a:avLst>
          </a:prstGeom>
        </p:spPr>
      </p:pic>
      <p:sp>
        <p:nvSpPr>
          <p:cNvPr id="13" name="Text 10"/>
          <p:cNvSpPr/>
          <p:nvPr/>
        </p:nvSpPr>
        <p:spPr>
          <a:xfrm>
            <a:off x="769620" y="433674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AI Powers Games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9620" y="4641540"/>
            <a:ext cx="488632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enemies that learn your strategies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 world generation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difficulty adjustment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Realistic NPC behaviors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030" y="5826450"/>
            <a:ext cx="5122545" cy="617220"/>
          </a:xfrm>
          <a:custGeom>
            <a:avLst/>
            <a:gdLst/>
            <a:ahLst/>
            <a:cxnLst/>
            <a:rect l="l" t="t" r="r" b="b"/>
            <a:pathLst>
              <a:path w="5122545" h="617220">
                <a:moveTo>
                  <a:pt x="76202" y="0"/>
                </a:moveTo>
                <a:lnTo>
                  <a:pt x="5046343" y="0"/>
                </a:lnTo>
                <a:cubicBezTo>
                  <a:pt x="5088428" y="0"/>
                  <a:pt x="5122545" y="34117"/>
                  <a:pt x="5122545" y="76202"/>
                </a:cubicBezTo>
                <a:lnTo>
                  <a:pt x="5122545" y="541018"/>
                </a:lnTo>
                <a:cubicBezTo>
                  <a:pt x="5122545" y="583103"/>
                  <a:pt x="5088428" y="617220"/>
                  <a:pt x="50463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9140" y="5944549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chess games, AI can beat grandmasters by calculating millions of possible moves!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4110" y="1299210"/>
            <a:ext cx="5589270" cy="5379720"/>
          </a:xfrm>
          <a:custGeom>
            <a:avLst/>
            <a:gdLst/>
            <a:ahLst/>
            <a:cxnLst/>
            <a:rect l="l" t="t" r="r" b="b"/>
            <a:pathLst>
              <a:path w="5589270" h="5379720">
                <a:moveTo>
                  <a:pt x="114319" y="0"/>
                </a:moveTo>
                <a:lnTo>
                  <a:pt x="5474951" y="0"/>
                </a:lnTo>
                <a:cubicBezTo>
                  <a:pt x="5538088" y="0"/>
                  <a:pt x="5589270" y="51182"/>
                  <a:pt x="5589270" y="114319"/>
                </a:cubicBezTo>
                <a:lnTo>
                  <a:pt x="5589270" y="5265401"/>
                </a:lnTo>
                <a:cubicBezTo>
                  <a:pt x="5589270" y="5328538"/>
                  <a:pt x="5538088" y="5379720"/>
                  <a:pt x="5474951" y="5379720"/>
                </a:cubicBezTo>
                <a:lnTo>
                  <a:pt x="114319" y="5379720"/>
                </a:lnTo>
                <a:cubicBezTo>
                  <a:pt x="51182" y="5379720"/>
                  <a:pt x="0" y="5328538"/>
                  <a:pt x="0" y="5265401"/>
                </a:cubicBezTo>
                <a:lnTo>
                  <a:pt x="0" y="114319"/>
                </a:lnTo>
                <a:cubicBezTo>
                  <a:pt x="0" y="51225"/>
                  <a:pt x="51225" y="0"/>
                  <a:pt x="11431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15316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546532" y="164591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7018020" y="1607818"/>
            <a:ext cx="3067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Processing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46520" y="2141218"/>
            <a:ext cx="5210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helps AI </a:t>
            </a:r>
            <a:r>
              <a:rPr lang="en-US" sz="13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and generate human language</a:t>
            </a: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enabling communication between humans and machines.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46520" y="2850840"/>
            <a:ext cx="5124450" cy="2819400"/>
          </a:xfrm>
          <a:custGeom>
            <a:avLst/>
            <a:gdLst/>
            <a:ahLst/>
            <a:cxnLst/>
            <a:rect l="l" t="t" r="r" b="b"/>
            <a:pathLst>
              <a:path w="5124450" h="2819400">
                <a:moveTo>
                  <a:pt x="76208" y="0"/>
                </a:moveTo>
                <a:lnTo>
                  <a:pt x="5048242" y="0"/>
                </a:lnTo>
                <a:cubicBezTo>
                  <a:pt x="5090330" y="0"/>
                  <a:pt x="5124450" y="34120"/>
                  <a:pt x="5124450" y="76208"/>
                </a:cubicBezTo>
                <a:lnTo>
                  <a:pt x="5124450" y="2743192"/>
                </a:lnTo>
                <a:cubicBezTo>
                  <a:pt x="5124450" y="2785280"/>
                  <a:pt x="5090330" y="2819400"/>
                  <a:pt x="5048242" y="2819400"/>
                </a:cubicBezTo>
                <a:lnTo>
                  <a:pt x="76208" y="2819400"/>
                </a:lnTo>
                <a:cubicBezTo>
                  <a:pt x="34120" y="2819400"/>
                  <a:pt x="0" y="2785280"/>
                  <a:pt x="0" y="27431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23" name="Image 1" descr="https://miro.medium.com/0*F6CHRh7ITaQ93ad4.jpg"/>
          <p:cNvPicPr>
            <a:picLocks noChangeAspect="1"/>
          </p:cNvPicPr>
          <p:nvPr/>
        </p:nvPicPr>
        <p:blipFill>
          <a:blip r:embed="rId4"/>
          <a:srcRect t="29537" b="29537"/>
          <a:stretch/>
        </p:blipFill>
        <p:spPr>
          <a:xfrm>
            <a:off x="6598920" y="3003240"/>
            <a:ext cx="4819650" cy="1219200"/>
          </a:xfrm>
          <a:prstGeom prst="roundRect">
            <a:avLst>
              <a:gd name="adj" fmla="val 6250"/>
            </a:avLst>
          </a:prstGeom>
        </p:spPr>
      </p:pic>
      <p:sp>
        <p:nvSpPr>
          <p:cNvPr id="24" name="Text 20"/>
          <p:cNvSpPr/>
          <p:nvPr/>
        </p:nvSpPr>
        <p:spPr>
          <a:xfrm>
            <a:off x="6598920" y="433674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Applications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98920" y="4641540"/>
            <a:ext cx="488632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 and conversational AI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translation apps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assistants (Siri, Alexa)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summarization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450330" y="5826450"/>
            <a:ext cx="5122545" cy="617220"/>
          </a:xfrm>
          <a:custGeom>
            <a:avLst/>
            <a:gdLst/>
            <a:ahLst/>
            <a:cxnLst/>
            <a:rect l="l" t="t" r="r" b="b"/>
            <a:pathLst>
              <a:path w="5122545" h="617220">
                <a:moveTo>
                  <a:pt x="76202" y="0"/>
                </a:moveTo>
                <a:lnTo>
                  <a:pt x="5046343" y="0"/>
                </a:lnTo>
                <a:cubicBezTo>
                  <a:pt x="5088428" y="0"/>
                  <a:pt x="5122545" y="34117"/>
                  <a:pt x="5122545" y="76202"/>
                </a:cubicBezTo>
                <a:lnTo>
                  <a:pt x="5122545" y="541018"/>
                </a:lnTo>
                <a:cubicBezTo>
                  <a:pt x="5122545" y="583103"/>
                  <a:pt x="5088428" y="617220"/>
                  <a:pt x="50463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68440" y="5944549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Google Translate uses NLP to translate between 100+ languages instantly!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6725" y="5715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796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• TOPIC 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805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 Expert Systems, Computer Vision, and Robotics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3703320" cy="5170170"/>
          </a:xfrm>
          <a:custGeom>
            <a:avLst/>
            <a:gdLst/>
            <a:ahLst/>
            <a:cxnLst/>
            <a:rect l="l" t="t" r="r" b="b"/>
            <a:pathLst>
              <a:path w="3703320" h="517017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5055886"/>
                </a:lnTo>
                <a:cubicBezTo>
                  <a:pt x="3703320" y="5119003"/>
                  <a:pt x="3652153" y="5170170"/>
                  <a:pt x="3589036" y="5170170"/>
                </a:cubicBezTo>
                <a:lnTo>
                  <a:pt x="114284" y="5170170"/>
                </a:lnTo>
                <a:cubicBezTo>
                  <a:pt x="51167" y="5170170"/>
                  <a:pt x="0" y="5119003"/>
                  <a:pt x="0" y="505588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4935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7708" y="160782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3572"/>
                </a:move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lose/>
                <a:moveTo>
                  <a:pt x="126802" y="143232"/>
                </a:moveTo>
                <a:cubicBezTo>
                  <a:pt x="124391" y="143009"/>
                  <a:pt x="121890" y="142875"/>
                  <a:pt x="119390" y="142875"/>
                </a:cubicBezTo>
                <a:lnTo>
                  <a:pt x="80590" y="142875"/>
                </a:lnTo>
                <a:cubicBezTo>
                  <a:pt x="78090" y="142875"/>
                  <a:pt x="75634" y="143009"/>
                  <a:pt x="73179" y="143232"/>
                </a:cubicBezTo>
                <a:lnTo>
                  <a:pt x="73179" y="173370"/>
                </a:lnTo>
                <a:cubicBezTo>
                  <a:pt x="80546" y="176763"/>
                  <a:pt x="85680" y="184219"/>
                  <a:pt x="85680" y="192837"/>
                </a:cubicBezTo>
                <a:cubicBezTo>
                  <a:pt x="85680" y="204668"/>
                  <a:pt x="76081" y="214268"/>
                  <a:pt x="64249" y="214268"/>
                </a:cubicBezTo>
                <a:cubicBezTo>
                  <a:pt x="52417" y="214268"/>
                  <a:pt x="42818" y="204668"/>
                  <a:pt x="42818" y="192837"/>
                </a:cubicBezTo>
                <a:cubicBezTo>
                  <a:pt x="42818" y="184175"/>
                  <a:pt x="47952" y="176719"/>
                  <a:pt x="55319" y="173370"/>
                </a:cubicBezTo>
                <a:lnTo>
                  <a:pt x="55319" y="147295"/>
                </a:lnTo>
                <a:cubicBezTo>
                  <a:pt x="27236" y="157609"/>
                  <a:pt x="7144" y="184666"/>
                  <a:pt x="7144" y="216366"/>
                </a:cubicBezTo>
                <a:cubicBezTo>
                  <a:pt x="7144" y="223108"/>
                  <a:pt x="12636" y="228600"/>
                  <a:pt x="19377" y="228600"/>
                </a:cubicBezTo>
                <a:lnTo>
                  <a:pt x="180603" y="228600"/>
                </a:lnTo>
                <a:cubicBezTo>
                  <a:pt x="187345" y="228600"/>
                  <a:pt x="192837" y="223108"/>
                  <a:pt x="192837" y="216366"/>
                </a:cubicBezTo>
                <a:cubicBezTo>
                  <a:pt x="192837" y="184666"/>
                  <a:pt x="172745" y="157654"/>
                  <a:pt x="144616" y="147340"/>
                </a:cubicBezTo>
                <a:lnTo>
                  <a:pt x="144616" y="164038"/>
                </a:lnTo>
                <a:cubicBezTo>
                  <a:pt x="155019" y="167700"/>
                  <a:pt x="162476" y="177656"/>
                  <a:pt x="162476" y="189309"/>
                </a:cubicBezTo>
                <a:lnTo>
                  <a:pt x="162476" y="203597"/>
                </a:lnTo>
                <a:cubicBezTo>
                  <a:pt x="162476" y="208508"/>
                  <a:pt x="158457" y="212527"/>
                  <a:pt x="153546" y="212527"/>
                </a:cubicBezTo>
                <a:cubicBezTo>
                  <a:pt x="148635" y="212527"/>
                  <a:pt x="144616" y="208508"/>
                  <a:pt x="144616" y="203597"/>
                </a:cubicBezTo>
                <a:lnTo>
                  <a:pt x="144616" y="189309"/>
                </a:lnTo>
                <a:cubicBezTo>
                  <a:pt x="144616" y="184398"/>
                  <a:pt x="140598" y="180380"/>
                  <a:pt x="135687" y="180380"/>
                </a:cubicBezTo>
                <a:cubicBezTo>
                  <a:pt x="130775" y="180380"/>
                  <a:pt x="126757" y="184398"/>
                  <a:pt x="126757" y="189309"/>
                </a:cubicBezTo>
                <a:lnTo>
                  <a:pt x="126757" y="203597"/>
                </a:lnTo>
                <a:cubicBezTo>
                  <a:pt x="126757" y="208508"/>
                  <a:pt x="122739" y="212527"/>
                  <a:pt x="117827" y="212527"/>
                </a:cubicBezTo>
                <a:cubicBezTo>
                  <a:pt x="112916" y="212527"/>
                  <a:pt x="108898" y="208508"/>
                  <a:pt x="108898" y="203597"/>
                </a:cubicBezTo>
                <a:lnTo>
                  <a:pt x="108898" y="189309"/>
                </a:lnTo>
                <a:cubicBezTo>
                  <a:pt x="108898" y="177656"/>
                  <a:pt x="116354" y="167744"/>
                  <a:pt x="126757" y="164038"/>
                </a:cubicBezTo>
                <a:lnTo>
                  <a:pt x="126757" y="14323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150620" y="1588777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Systems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103127"/>
            <a:ext cx="339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that mimics </a:t>
            </a: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experts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specific fields like medical diagnosis or financial advice.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" y="2712727"/>
            <a:ext cx="3314700" cy="2905125"/>
          </a:xfrm>
          <a:custGeom>
            <a:avLst/>
            <a:gdLst/>
            <a:ahLst/>
            <a:cxnLst/>
            <a:rect l="l" t="t" r="r" b="b"/>
            <a:pathLst>
              <a:path w="3314700" h="2905125">
                <a:moveTo>
                  <a:pt x="76201" y="0"/>
                </a:moveTo>
                <a:lnTo>
                  <a:pt x="3238499" y="0"/>
                </a:lnTo>
                <a:cubicBezTo>
                  <a:pt x="3280555" y="0"/>
                  <a:pt x="3314700" y="34145"/>
                  <a:pt x="3314700" y="76201"/>
                </a:cubicBezTo>
                <a:lnTo>
                  <a:pt x="3314700" y="2828924"/>
                </a:lnTo>
                <a:cubicBezTo>
                  <a:pt x="3314700" y="2870980"/>
                  <a:pt x="3280555" y="2905125"/>
                  <a:pt x="3238499" y="2905125"/>
                </a:cubicBezTo>
                <a:lnTo>
                  <a:pt x="76201" y="2905125"/>
                </a:lnTo>
                <a:cubicBezTo>
                  <a:pt x="34145" y="2905125"/>
                  <a:pt x="0" y="2870980"/>
                  <a:pt x="0" y="28289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12" name="Image 0" descr="https://tateeda.com/wp-content/uploads/2024/11/ultrasound-diagnostics-with-AI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2827027"/>
            <a:ext cx="3086100" cy="1066800"/>
          </a:xfrm>
          <a:prstGeom prst="roundRect">
            <a:avLst>
              <a:gd name="adj" fmla="val 7143"/>
            </a:avLst>
          </a:prstGeom>
        </p:spPr>
      </p:pic>
      <p:sp>
        <p:nvSpPr>
          <p:cNvPr id="13" name="Text 10"/>
          <p:cNvSpPr/>
          <p:nvPr/>
        </p:nvSpPr>
        <p:spPr>
          <a:xfrm>
            <a:off x="693420" y="3970027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They Work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3420" y="4198627"/>
            <a:ext cx="3143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 of expert rules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engine applies logic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Asks questions like a doctor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recommendations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2930" y="5734288"/>
            <a:ext cx="3303270" cy="541020"/>
          </a:xfrm>
          <a:custGeom>
            <a:avLst/>
            <a:gdLst/>
            <a:ahLst/>
            <a:cxnLst/>
            <a:rect l="l" t="t" r="r" b="b"/>
            <a:pathLst>
              <a:path w="3303270" h="541020">
                <a:moveTo>
                  <a:pt x="76203" y="0"/>
                </a:moveTo>
                <a:lnTo>
                  <a:pt x="3227067" y="0"/>
                </a:lnTo>
                <a:cubicBezTo>
                  <a:pt x="3269153" y="0"/>
                  <a:pt x="3303270" y="34117"/>
                  <a:pt x="3303270" y="76203"/>
                </a:cubicBezTo>
                <a:lnTo>
                  <a:pt x="3303270" y="464817"/>
                </a:lnTo>
                <a:cubicBezTo>
                  <a:pt x="3303270" y="506903"/>
                  <a:pt x="3269153" y="541020"/>
                  <a:pt x="3227067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1040" y="5852406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9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Medical AI diagnoses diseases from symptoms with 95% accuracy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45531" y="1299210"/>
            <a:ext cx="3703320" cy="5170170"/>
          </a:xfrm>
          <a:custGeom>
            <a:avLst/>
            <a:gdLst/>
            <a:ahLst/>
            <a:cxnLst/>
            <a:rect l="l" t="t" r="r" b="b"/>
            <a:pathLst>
              <a:path w="3703320" h="517017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5055886"/>
                </a:lnTo>
                <a:cubicBezTo>
                  <a:pt x="3703320" y="5119003"/>
                  <a:pt x="3652153" y="5170170"/>
                  <a:pt x="3589036" y="5170170"/>
                </a:cubicBezTo>
                <a:lnTo>
                  <a:pt x="114284" y="5170170"/>
                </a:lnTo>
                <a:cubicBezTo>
                  <a:pt x="51167" y="5170170"/>
                  <a:pt x="0" y="5119003"/>
                  <a:pt x="0" y="505588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9841" y="14935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539853" y="160782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5011341" y="1588777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39841" y="2103127"/>
            <a:ext cx="339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that can </a:t>
            </a: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 and understand images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like facial recognition and object detection.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439841" y="2712727"/>
            <a:ext cx="3314700" cy="2905125"/>
          </a:xfrm>
          <a:custGeom>
            <a:avLst/>
            <a:gdLst/>
            <a:ahLst/>
            <a:cxnLst/>
            <a:rect l="l" t="t" r="r" b="b"/>
            <a:pathLst>
              <a:path w="3314700" h="2905125">
                <a:moveTo>
                  <a:pt x="76201" y="0"/>
                </a:moveTo>
                <a:lnTo>
                  <a:pt x="3238499" y="0"/>
                </a:lnTo>
                <a:cubicBezTo>
                  <a:pt x="3280555" y="0"/>
                  <a:pt x="3314700" y="34145"/>
                  <a:pt x="3314700" y="76201"/>
                </a:cubicBezTo>
                <a:lnTo>
                  <a:pt x="3314700" y="2828924"/>
                </a:lnTo>
                <a:cubicBezTo>
                  <a:pt x="3314700" y="2870980"/>
                  <a:pt x="3280555" y="2905125"/>
                  <a:pt x="3238499" y="2905125"/>
                </a:cubicBezTo>
                <a:lnTo>
                  <a:pt x="76201" y="2905125"/>
                </a:lnTo>
                <a:cubicBezTo>
                  <a:pt x="34145" y="2905125"/>
                  <a:pt x="0" y="2870980"/>
                  <a:pt x="0" y="28289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23" name="Image 1" descr="https://caradas.com/wp-content/uploads/2024/09/AdobeStock_224332680-sca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141" y="2827027"/>
            <a:ext cx="3086100" cy="1066800"/>
          </a:xfrm>
          <a:prstGeom prst="roundRect">
            <a:avLst>
              <a:gd name="adj" fmla="val 7143"/>
            </a:avLst>
          </a:prstGeom>
        </p:spPr>
      </p:pic>
      <p:sp>
        <p:nvSpPr>
          <p:cNvPr id="24" name="Text 20"/>
          <p:cNvSpPr/>
          <p:nvPr/>
        </p:nvSpPr>
        <p:spPr>
          <a:xfrm>
            <a:off x="4554141" y="3970027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554141" y="4198627"/>
            <a:ext cx="3143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Facial recognition on phones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Self-driving car vision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image analysis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control in factories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443651" y="5734288"/>
            <a:ext cx="3303270" cy="541020"/>
          </a:xfrm>
          <a:custGeom>
            <a:avLst/>
            <a:gdLst/>
            <a:ahLst/>
            <a:cxnLst/>
            <a:rect l="l" t="t" r="r" b="b"/>
            <a:pathLst>
              <a:path w="3303270" h="541020">
                <a:moveTo>
                  <a:pt x="76203" y="0"/>
                </a:moveTo>
                <a:lnTo>
                  <a:pt x="3227067" y="0"/>
                </a:lnTo>
                <a:cubicBezTo>
                  <a:pt x="3269153" y="0"/>
                  <a:pt x="3303270" y="34117"/>
                  <a:pt x="3303270" y="76203"/>
                </a:cubicBezTo>
                <a:lnTo>
                  <a:pt x="3303270" y="464817"/>
                </a:lnTo>
                <a:cubicBezTo>
                  <a:pt x="3303270" y="506903"/>
                  <a:pt x="3269153" y="541020"/>
                  <a:pt x="3227067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61761" y="5852406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9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iPhone Face ID uses computer vision to recognize your face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8106371" y="1299210"/>
            <a:ext cx="3703320" cy="5170170"/>
          </a:xfrm>
          <a:custGeom>
            <a:avLst/>
            <a:gdLst/>
            <a:ahLst/>
            <a:cxnLst/>
            <a:rect l="l" t="t" r="r" b="b"/>
            <a:pathLst>
              <a:path w="3703320" h="517017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5055886"/>
                </a:lnTo>
                <a:cubicBezTo>
                  <a:pt x="3703320" y="5119003"/>
                  <a:pt x="3652153" y="5170170"/>
                  <a:pt x="3589036" y="5170170"/>
                </a:cubicBezTo>
                <a:lnTo>
                  <a:pt x="114284" y="5170170"/>
                </a:lnTo>
                <a:cubicBezTo>
                  <a:pt x="51167" y="5170170"/>
                  <a:pt x="0" y="5119003"/>
                  <a:pt x="0" y="505588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00681" y="14935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8386406" y="1607827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1" name="Text 27"/>
          <p:cNvSpPr/>
          <p:nvPr/>
        </p:nvSpPr>
        <p:spPr>
          <a:xfrm>
            <a:off x="8872181" y="1588777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300681" y="2103127"/>
            <a:ext cx="339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robots that can </a:t>
            </a:r>
            <a:r>
              <a:rPr lang="en-US" sz="12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 physical tasks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autonomously in various environments.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8300681" y="2712727"/>
            <a:ext cx="3314700" cy="2905125"/>
          </a:xfrm>
          <a:custGeom>
            <a:avLst/>
            <a:gdLst/>
            <a:ahLst/>
            <a:cxnLst/>
            <a:rect l="l" t="t" r="r" b="b"/>
            <a:pathLst>
              <a:path w="3314700" h="2905125">
                <a:moveTo>
                  <a:pt x="76201" y="0"/>
                </a:moveTo>
                <a:lnTo>
                  <a:pt x="3238499" y="0"/>
                </a:lnTo>
                <a:cubicBezTo>
                  <a:pt x="3280555" y="0"/>
                  <a:pt x="3314700" y="34145"/>
                  <a:pt x="3314700" y="76201"/>
                </a:cubicBezTo>
                <a:lnTo>
                  <a:pt x="3314700" y="2828924"/>
                </a:lnTo>
                <a:cubicBezTo>
                  <a:pt x="3314700" y="2870980"/>
                  <a:pt x="3280555" y="2905125"/>
                  <a:pt x="3238499" y="2905125"/>
                </a:cubicBezTo>
                <a:lnTo>
                  <a:pt x="76201" y="2905125"/>
                </a:lnTo>
                <a:cubicBezTo>
                  <a:pt x="34145" y="2905125"/>
                  <a:pt x="0" y="2870980"/>
                  <a:pt x="0" y="28289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34" name="Image 2" descr="https://www.azorobotics.com/images/Article_Images/ImageForArticle_715_172705520202451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981" y="2827027"/>
            <a:ext cx="3086100" cy="1066800"/>
          </a:xfrm>
          <a:prstGeom prst="roundRect">
            <a:avLst>
              <a:gd name="adj" fmla="val 7143"/>
            </a:avLst>
          </a:prstGeom>
        </p:spPr>
      </p:pic>
      <p:sp>
        <p:nvSpPr>
          <p:cNvPr id="35" name="Text 30"/>
          <p:cNvSpPr/>
          <p:nvPr/>
        </p:nvSpPr>
        <p:spPr>
          <a:xfrm>
            <a:off x="8414981" y="3970027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Robots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8414981" y="4198627"/>
            <a:ext cx="3143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Industrial assembly robots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Roomba vacuum cleaners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Surgical robots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Char char="•"/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Exploration drones</a:t>
            </a:r>
            <a:endParaRPr lang="en-US" sz="1600" dirty="0"/>
          </a:p>
        </p:txBody>
      </p:sp>
      <p:sp>
        <p:nvSpPr>
          <p:cNvPr id="37" name="Shape 32"/>
          <p:cNvSpPr/>
          <p:nvPr/>
        </p:nvSpPr>
        <p:spPr>
          <a:xfrm>
            <a:off x="8304491" y="5734288"/>
            <a:ext cx="3303270" cy="541020"/>
          </a:xfrm>
          <a:custGeom>
            <a:avLst/>
            <a:gdLst/>
            <a:ahLst/>
            <a:cxnLst/>
            <a:rect l="l" t="t" r="r" b="b"/>
            <a:pathLst>
              <a:path w="3303270" h="541020">
                <a:moveTo>
                  <a:pt x="76203" y="0"/>
                </a:moveTo>
                <a:lnTo>
                  <a:pt x="3227067" y="0"/>
                </a:lnTo>
                <a:cubicBezTo>
                  <a:pt x="3269153" y="0"/>
                  <a:pt x="3303270" y="34117"/>
                  <a:pt x="3303270" y="76203"/>
                </a:cubicBezTo>
                <a:lnTo>
                  <a:pt x="3303270" y="464817"/>
                </a:lnTo>
                <a:cubicBezTo>
                  <a:pt x="3303270" y="506903"/>
                  <a:pt x="3269153" y="541020"/>
                  <a:pt x="3227067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 w="10160">
            <a:solidFill>
              <a:srgbClr val="EC4899">
                <a:alpha val="30196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422600" y="5852406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9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Boston Dynamics robots can walk, run, and do backflips!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.vecteezy.com/system/resources/previews/078/738/245/non_2x/futuristic-artificial-intelligence-concept-digital-brain-network-with-chip-data-nodes-illustration-dark-background-vector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4544" b="245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/>
              </a:gs>
              <a:gs pos="50000">
                <a:srgbClr val="191919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029789"/>
            <a:ext cx="1893570" cy="388620"/>
          </a:xfrm>
          <a:custGeom>
            <a:avLst/>
            <a:gdLst/>
            <a:ahLst/>
            <a:cxnLst/>
            <a:rect l="l" t="t" r="r" b="b"/>
            <a:pathLst>
              <a:path w="1893570" h="388620">
                <a:moveTo>
                  <a:pt x="194310" y="0"/>
                </a:moveTo>
                <a:lnTo>
                  <a:pt x="1699260" y="0"/>
                </a:lnTo>
                <a:cubicBezTo>
                  <a:pt x="1806574" y="0"/>
                  <a:pt x="1893570" y="86996"/>
                  <a:pt x="1893570" y="194310"/>
                </a:cubicBezTo>
                <a:lnTo>
                  <a:pt x="1893570" y="194310"/>
                </a:lnTo>
                <a:cubicBezTo>
                  <a:pt x="1893570" y="301624"/>
                  <a:pt x="1806574" y="388620"/>
                  <a:pt x="169926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2109788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2 • LECTURE 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50815"/>
            <a:ext cx="76009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Agents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51759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how AI systems perceive, think, and act in the world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7964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1447800" y="456534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Topics • 45 Minutes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790" y="383748"/>
            <a:ext cx="383748" cy="383748"/>
          </a:xfrm>
          <a:custGeom>
            <a:avLst/>
            <a:gdLst/>
            <a:ahLst/>
            <a:cxnLst/>
            <a:rect l="l" t="t" r="r" b="b"/>
            <a:pathLst>
              <a:path w="383748" h="383748">
                <a:moveTo>
                  <a:pt x="95937" y="0"/>
                </a:moveTo>
                <a:lnTo>
                  <a:pt x="287811" y="0"/>
                </a:lnTo>
                <a:cubicBezTo>
                  <a:pt x="340760" y="0"/>
                  <a:pt x="383748" y="42988"/>
                  <a:pt x="383748" y="95937"/>
                </a:cubicBezTo>
                <a:lnTo>
                  <a:pt x="383748" y="287811"/>
                </a:lnTo>
                <a:cubicBezTo>
                  <a:pt x="383748" y="340796"/>
                  <a:pt x="340796" y="383748"/>
                  <a:pt x="287811" y="383748"/>
                </a:cubicBezTo>
                <a:lnTo>
                  <a:pt x="95937" y="383748"/>
                </a:lnTo>
                <a:cubicBezTo>
                  <a:pt x="42988" y="383748"/>
                  <a:pt x="0" y="340760"/>
                  <a:pt x="0" y="287811"/>
                </a:cubicBezTo>
                <a:lnTo>
                  <a:pt x="0" y="95937"/>
                </a:lnTo>
                <a:cubicBezTo>
                  <a:pt x="0" y="42988"/>
                  <a:pt x="42988" y="0"/>
                  <a:pt x="95937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1743" y="479685"/>
            <a:ext cx="239843" cy="191874"/>
          </a:xfrm>
          <a:custGeom>
            <a:avLst/>
            <a:gdLst/>
            <a:ahLst/>
            <a:cxnLst/>
            <a:rect l="l" t="t" r="r" b="b"/>
            <a:pathLst>
              <a:path w="239843" h="191874">
                <a:moveTo>
                  <a:pt x="131913" y="0"/>
                </a:moveTo>
                <a:cubicBezTo>
                  <a:pt x="131913" y="-6633"/>
                  <a:pt x="126554" y="-11992"/>
                  <a:pt x="119921" y="-11992"/>
                </a:cubicBezTo>
                <a:cubicBezTo>
                  <a:pt x="113288" y="-11992"/>
                  <a:pt x="107929" y="-6633"/>
                  <a:pt x="107929" y="0"/>
                </a:cubicBezTo>
                <a:lnTo>
                  <a:pt x="107929" y="23984"/>
                </a:lnTo>
                <a:lnTo>
                  <a:pt x="71953" y="23984"/>
                </a:lnTo>
                <a:cubicBezTo>
                  <a:pt x="52091" y="23984"/>
                  <a:pt x="35976" y="40099"/>
                  <a:pt x="35976" y="59961"/>
                </a:cubicBezTo>
                <a:lnTo>
                  <a:pt x="35976" y="143906"/>
                </a:lnTo>
                <a:cubicBezTo>
                  <a:pt x="35976" y="163768"/>
                  <a:pt x="52091" y="179882"/>
                  <a:pt x="71953" y="179882"/>
                </a:cubicBezTo>
                <a:lnTo>
                  <a:pt x="167890" y="179882"/>
                </a:lnTo>
                <a:cubicBezTo>
                  <a:pt x="187752" y="179882"/>
                  <a:pt x="203866" y="163768"/>
                  <a:pt x="203866" y="143906"/>
                </a:cubicBezTo>
                <a:lnTo>
                  <a:pt x="203866" y="59961"/>
                </a:lnTo>
                <a:cubicBezTo>
                  <a:pt x="203866" y="40099"/>
                  <a:pt x="187752" y="23984"/>
                  <a:pt x="167890" y="23984"/>
                </a:cubicBezTo>
                <a:lnTo>
                  <a:pt x="131913" y="23984"/>
                </a:lnTo>
                <a:lnTo>
                  <a:pt x="131913" y="0"/>
                </a:lnTo>
                <a:close/>
                <a:moveTo>
                  <a:pt x="59961" y="137910"/>
                </a:moveTo>
                <a:cubicBezTo>
                  <a:pt x="59961" y="132925"/>
                  <a:pt x="63971" y="128915"/>
                  <a:pt x="68955" y="128915"/>
                </a:cubicBezTo>
                <a:lnTo>
                  <a:pt x="80947" y="128915"/>
                </a:lnTo>
                <a:cubicBezTo>
                  <a:pt x="85931" y="128915"/>
                  <a:pt x="89941" y="132925"/>
                  <a:pt x="89941" y="137910"/>
                </a:cubicBezTo>
                <a:cubicBezTo>
                  <a:pt x="89941" y="142894"/>
                  <a:pt x="85931" y="146904"/>
                  <a:pt x="80947" y="146904"/>
                </a:cubicBezTo>
                <a:lnTo>
                  <a:pt x="68955" y="146904"/>
                </a:lnTo>
                <a:cubicBezTo>
                  <a:pt x="63971" y="146904"/>
                  <a:pt x="59961" y="142894"/>
                  <a:pt x="59961" y="137910"/>
                </a:cubicBezTo>
                <a:close/>
                <a:moveTo>
                  <a:pt x="104931" y="137910"/>
                </a:moveTo>
                <a:cubicBezTo>
                  <a:pt x="104931" y="132925"/>
                  <a:pt x="108941" y="128915"/>
                  <a:pt x="113925" y="128915"/>
                </a:cubicBezTo>
                <a:lnTo>
                  <a:pt x="125917" y="128915"/>
                </a:lnTo>
                <a:cubicBezTo>
                  <a:pt x="130902" y="128915"/>
                  <a:pt x="134911" y="132925"/>
                  <a:pt x="134911" y="137910"/>
                </a:cubicBezTo>
                <a:cubicBezTo>
                  <a:pt x="134911" y="142894"/>
                  <a:pt x="130902" y="146904"/>
                  <a:pt x="125917" y="146904"/>
                </a:cubicBezTo>
                <a:lnTo>
                  <a:pt x="113925" y="146904"/>
                </a:lnTo>
                <a:cubicBezTo>
                  <a:pt x="108941" y="146904"/>
                  <a:pt x="104931" y="142894"/>
                  <a:pt x="104931" y="137910"/>
                </a:cubicBezTo>
                <a:close/>
                <a:moveTo>
                  <a:pt x="149902" y="137910"/>
                </a:moveTo>
                <a:cubicBezTo>
                  <a:pt x="149902" y="132925"/>
                  <a:pt x="153912" y="128915"/>
                  <a:pt x="158896" y="128915"/>
                </a:cubicBezTo>
                <a:lnTo>
                  <a:pt x="170888" y="128915"/>
                </a:lnTo>
                <a:cubicBezTo>
                  <a:pt x="175872" y="128915"/>
                  <a:pt x="179882" y="132925"/>
                  <a:pt x="179882" y="137910"/>
                </a:cubicBezTo>
                <a:cubicBezTo>
                  <a:pt x="179882" y="142894"/>
                  <a:pt x="175872" y="146904"/>
                  <a:pt x="170888" y="146904"/>
                </a:cubicBezTo>
                <a:lnTo>
                  <a:pt x="158896" y="146904"/>
                </a:lnTo>
                <a:cubicBezTo>
                  <a:pt x="153912" y="146904"/>
                  <a:pt x="149902" y="142894"/>
                  <a:pt x="149902" y="137910"/>
                </a:cubicBezTo>
                <a:close/>
                <a:moveTo>
                  <a:pt x="83945" y="65957"/>
                </a:moveTo>
                <a:cubicBezTo>
                  <a:pt x="93873" y="65957"/>
                  <a:pt x="101933" y="74017"/>
                  <a:pt x="101933" y="83945"/>
                </a:cubicBezTo>
                <a:cubicBezTo>
                  <a:pt x="101933" y="93873"/>
                  <a:pt x="93873" y="101933"/>
                  <a:pt x="83945" y="101933"/>
                </a:cubicBezTo>
                <a:cubicBezTo>
                  <a:pt x="74017" y="101933"/>
                  <a:pt x="65957" y="93873"/>
                  <a:pt x="65957" y="83945"/>
                </a:cubicBezTo>
                <a:cubicBezTo>
                  <a:pt x="65957" y="74017"/>
                  <a:pt x="74017" y="65957"/>
                  <a:pt x="83945" y="65957"/>
                </a:cubicBezTo>
                <a:close/>
                <a:moveTo>
                  <a:pt x="137910" y="83945"/>
                </a:moveTo>
                <a:cubicBezTo>
                  <a:pt x="137910" y="74017"/>
                  <a:pt x="145970" y="65957"/>
                  <a:pt x="155898" y="65957"/>
                </a:cubicBezTo>
                <a:cubicBezTo>
                  <a:pt x="165826" y="65957"/>
                  <a:pt x="173886" y="74017"/>
                  <a:pt x="173886" y="83945"/>
                </a:cubicBezTo>
                <a:cubicBezTo>
                  <a:pt x="173886" y="93873"/>
                  <a:pt x="165826" y="101933"/>
                  <a:pt x="155898" y="101933"/>
                </a:cubicBezTo>
                <a:cubicBezTo>
                  <a:pt x="145970" y="101933"/>
                  <a:pt x="137910" y="93873"/>
                  <a:pt x="137910" y="83945"/>
                </a:cubicBezTo>
                <a:close/>
                <a:moveTo>
                  <a:pt x="23984" y="83945"/>
                </a:moveTo>
                <a:cubicBezTo>
                  <a:pt x="23984" y="77312"/>
                  <a:pt x="18625" y="71953"/>
                  <a:pt x="11992" y="71953"/>
                </a:cubicBezTo>
                <a:cubicBezTo>
                  <a:pt x="5359" y="71953"/>
                  <a:pt x="0" y="77312"/>
                  <a:pt x="0" y="83945"/>
                </a:cubicBezTo>
                <a:lnTo>
                  <a:pt x="0" y="119921"/>
                </a:lnTo>
                <a:cubicBezTo>
                  <a:pt x="0" y="126554"/>
                  <a:pt x="5359" y="131913"/>
                  <a:pt x="11992" y="131913"/>
                </a:cubicBezTo>
                <a:cubicBezTo>
                  <a:pt x="18625" y="131913"/>
                  <a:pt x="23984" y="126554"/>
                  <a:pt x="23984" y="119921"/>
                </a:cubicBezTo>
                <a:lnTo>
                  <a:pt x="23984" y="83945"/>
                </a:lnTo>
                <a:close/>
                <a:moveTo>
                  <a:pt x="227850" y="71953"/>
                </a:moveTo>
                <a:cubicBezTo>
                  <a:pt x="221217" y="71953"/>
                  <a:pt x="215858" y="77312"/>
                  <a:pt x="215858" y="83945"/>
                </a:cubicBezTo>
                <a:lnTo>
                  <a:pt x="215858" y="119921"/>
                </a:lnTo>
                <a:cubicBezTo>
                  <a:pt x="215858" y="126554"/>
                  <a:pt x="221217" y="131913"/>
                  <a:pt x="227850" y="131913"/>
                </a:cubicBezTo>
                <a:cubicBezTo>
                  <a:pt x="234484" y="131913"/>
                  <a:pt x="239843" y="126554"/>
                  <a:pt x="239843" y="119921"/>
                </a:cubicBezTo>
                <a:lnTo>
                  <a:pt x="239843" y="83945"/>
                </a:lnTo>
                <a:cubicBezTo>
                  <a:pt x="239843" y="77312"/>
                  <a:pt x="234484" y="71953"/>
                  <a:pt x="227850" y="7195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99475" y="319790"/>
            <a:ext cx="3677587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 • TOPIC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9475" y="511664"/>
            <a:ext cx="3757534" cy="31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Intelligent Agent?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2988" y="1090484"/>
            <a:ext cx="6809932" cy="2772581"/>
          </a:xfrm>
          <a:custGeom>
            <a:avLst/>
            <a:gdLst/>
            <a:ahLst/>
            <a:cxnLst/>
            <a:rect l="l" t="t" r="r" b="b"/>
            <a:pathLst>
              <a:path w="6809932" h="2772581">
                <a:moveTo>
                  <a:pt x="95931" y="0"/>
                </a:moveTo>
                <a:lnTo>
                  <a:pt x="6714000" y="0"/>
                </a:lnTo>
                <a:cubicBezTo>
                  <a:pt x="6766982" y="0"/>
                  <a:pt x="6809932" y="42950"/>
                  <a:pt x="6809932" y="95931"/>
                </a:cubicBezTo>
                <a:lnTo>
                  <a:pt x="6809932" y="2676649"/>
                </a:lnTo>
                <a:cubicBezTo>
                  <a:pt x="6809932" y="2729631"/>
                  <a:pt x="6766982" y="2772581"/>
                  <a:pt x="6714000" y="2772581"/>
                </a:cubicBezTo>
                <a:lnTo>
                  <a:pt x="95931" y="2772581"/>
                </a:lnTo>
                <a:cubicBezTo>
                  <a:pt x="42950" y="2772581"/>
                  <a:pt x="0" y="2729631"/>
                  <a:pt x="0" y="2676649"/>
                </a:cubicBezTo>
                <a:lnTo>
                  <a:pt x="0" y="95931"/>
                </a:lnTo>
                <a:cubicBezTo>
                  <a:pt x="0" y="42985"/>
                  <a:pt x="42985" y="0"/>
                  <a:pt x="9593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8060" y="1285563"/>
            <a:ext cx="6515725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8060" y="1669202"/>
            <a:ext cx="6491740" cy="471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</a:t>
            </a:r>
            <a:r>
              <a:rPr lang="en-US" sz="113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agent</a:t>
            </a:r>
            <a:r>
              <a:rPr lang="en-US" sz="113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anything that can perceive its environment through sensors and take actions through actuators to achieve goals.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4050" y="2264811"/>
            <a:ext cx="6403798" cy="1407077"/>
          </a:xfrm>
          <a:custGeom>
            <a:avLst/>
            <a:gdLst/>
            <a:ahLst/>
            <a:cxnLst/>
            <a:rect l="l" t="t" r="r" b="b"/>
            <a:pathLst>
              <a:path w="6403798" h="1407077">
                <a:moveTo>
                  <a:pt x="31979" y="0"/>
                </a:moveTo>
                <a:lnTo>
                  <a:pt x="6339846" y="0"/>
                </a:lnTo>
                <a:cubicBezTo>
                  <a:pt x="6375166" y="0"/>
                  <a:pt x="6403798" y="28632"/>
                  <a:pt x="6403798" y="63952"/>
                </a:cubicBezTo>
                <a:lnTo>
                  <a:pt x="6403798" y="1343125"/>
                </a:lnTo>
                <a:cubicBezTo>
                  <a:pt x="6403798" y="1378445"/>
                  <a:pt x="6375166" y="1407077"/>
                  <a:pt x="6339846" y="1407077"/>
                </a:cubicBezTo>
                <a:lnTo>
                  <a:pt x="31979" y="1407077"/>
                </a:lnTo>
                <a:cubicBezTo>
                  <a:pt x="14317" y="1407077"/>
                  <a:pt x="0" y="1392759"/>
                  <a:pt x="0" y="1375098"/>
                </a:cubicBezTo>
                <a:lnTo>
                  <a:pt x="0" y="31979"/>
                </a:lnTo>
                <a:cubicBezTo>
                  <a:pt x="0" y="14329"/>
                  <a:pt x="14329" y="0"/>
                  <a:pt x="3197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34050" y="2264811"/>
            <a:ext cx="31979" cy="1407077"/>
          </a:xfrm>
          <a:custGeom>
            <a:avLst/>
            <a:gdLst/>
            <a:ahLst/>
            <a:cxnLst/>
            <a:rect l="l" t="t" r="r" b="b"/>
            <a:pathLst>
              <a:path w="31979" h="1407077">
                <a:moveTo>
                  <a:pt x="31979" y="0"/>
                </a:moveTo>
                <a:lnTo>
                  <a:pt x="31979" y="0"/>
                </a:lnTo>
                <a:lnTo>
                  <a:pt x="31979" y="1407077"/>
                </a:lnTo>
                <a:lnTo>
                  <a:pt x="31979" y="1407077"/>
                </a:lnTo>
                <a:cubicBezTo>
                  <a:pt x="14317" y="1407077"/>
                  <a:pt x="0" y="1392759"/>
                  <a:pt x="0" y="1375098"/>
                </a:cubicBezTo>
                <a:lnTo>
                  <a:pt x="0" y="31979"/>
                </a:lnTo>
                <a:cubicBezTo>
                  <a:pt x="0" y="14329"/>
                  <a:pt x="14329" y="0"/>
                  <a:pt x="31979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709934" y="2424706"/>
            <a:ext cx="1060004" cy="18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Components: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7929" y="2744496"/>
            <a:ext cx="143906" cy="127916"/>
          </a:xfrm>
          <a:custGeom>
            <a:avLst/>
            <a:gdLst/>
            <a:ahLst/>
            <a:cxnLst/>
            <a:rect l="l" t="t" r="r" b="b"/>
            <a:pathLst>
              <a:path w="143906" h="127916">
                <a:moveTo>
                  <a:pt x="71953" y="7995"/>
                </a:moveTo>
                <a:cubicBezTo>
                  <a:pt x="51766" y="7995"/>
                  <a:pt x="35602" y="17189"/>
                  <a:pt x="23834" y="28132"/>
                </a:cubicBezTo>
                <a:cubicBezTo>
                  <a:pt x="12142" y="38999"/>
                  <a:pt x="4322" y="51966"/>
                  <a:pt x="600" y="60885"/>
                </a:cubicBezTo>
                <a:cubicBezTo>
                  <a:pt x="-225" y="62859"/>
                  <a:pt x="-225" y="65057"/>
                  <a:pt x="600" y="67031"/>
                </a:cubicBezTo>
                <a:cubicBezTo>
                  <a:pt x="4322" y="75950"/>
                  <a:pt x="12142" y="88942"/>
                  <a:pt x="23834" y="99785"/>
                </a:cubicBezTo>
                <a:cubicBezTo>
                  <a:pt x="35602" y="110702"/>
                  <a:pt x="51766" y="119921"/>
                  <a:pt x="71953" y="119921"/>
                </a:cubicBezTo>
                <a:cubicBezTo>
                  <a:pt x="92140" y="119921"/>
                  <a:pt x="108304" y="110727"/>
                  <a:pt x="120071" y="99785"/>
                </a:cubicBezTo>
                <a:cubicBezTo>
                  <a:pt x="131764" y="88917"/>
                  <a:pt x="139583" y="75950"/>
                  <a:pt x="143306" y="67031"/>
                </a:cubicBezTo>
                <a:cubicBezTo>
                  <a:pt x="144130" y="65057"/>
                  <a:pt x="144130" y="62859"/>
                  <a:pt x="143306" y="60885"/>
                </a:cubicBezTo>
                <a:cubicBezTo>
                  <a:pt x="139583" y="51966"/>
                  <a:pt x="131764" y="38974"/>
                  <a:pt x="120071" y="28132"/>
                </a:cubicBezTo>
                <a:cubicBezTo>
                  <a:pt x="108304" y="17214"/>
                  <a:pt x="92140" y="7995"/>
                  <a:pt x="71953" y="7995"/>
                </a:cubicBezTo>
                <a:close/>
                <a:moveTo>
                  <a:pt x="35976" y="63958"/>
                </a:moveTo>
                <a:cubicBezTo>
                  <a:pt x="35976" y="44102"/>
                  <a:pt x="52097" y="27982"/>
                  <a:pt x="71953" y="27982"/>
                </a:cubicBezTo>
                <a:cubicBezTo>
                  <a:pt x="91809" y="27982"/>
                  <a:pt x="107929" y="44102"/>
                  <a:pt x="107929" y="63958"/>
                </a:cubicBezTo>
                <a:cubicBezTo>
                  <a:pt x="107929" y="83814"/>
                  <a:pt x="91809" y="99934"/>
                  <a:pt x="71953" y="99934"/>
                </a:cubicBezTo>
                <a:cubicBezTo>
                  <a:pt x="52097" y="99934"/>
                  <a:pt x="35976" y="83814"/>
                  <a:pt x="35976" y="63958"/>
                </a:cubicBezTo>
                <a:close/>
                <a:moveTo>
                  <a:pt x="71953" y="47969"/>
                </a:moveTo>
                <a:cubicBezTo>
                  <a:pt x="71953" y="56788"/>
                  <a:pt x="64782" y="63958"/>
                  <a:pt x="55963" y="63958"/>
                </a:cubicBezTo>
                <a:cubicBezTo>
                  <a:pt x="53090" y="63958"/>
                  <a:pt x="50392" y="63209"/>
                  <a:pt x="48043" y="61859"/>
                </a:cubicBezTo>
                <a:cubicBezTo>
                  <a:pt x="47794" y="64583"/>
                  <a:pt x="48018" y="67381"/>
                  <a:pt x="48768" y="70154"/>
                </a:cubicBezTo>
                <a:cubicBezTo>
                  <a:pt x="52191" y="82946"/>
                  <a:pt x="65357" y="90541"/>
                  <a:pt x="78149" y="87118"/>
                </a:cubicBezTo>
                <a:cubicBezTo>
                  <a:pt x="90940" y="83695"/>
                  <a:pt x="98535" y="70529"/>
                  <a:pt x="95113" y="57737"/>
                </a:cubicBezTo>
                <a:cubicBezTo>
                  <a:pt x="92065" y="46320"/>
                  <a:pt x="81247" y="39049"/>
                  <a:pt x="69854" y="40049"/>
                </a:cubicBezTo>
                <a:cubicBezTo>
                  <a:pt x="71178" y="42372"/>
                  <a:pt x="71953" y="45070"/>
                  <a:pt x="71953" y="479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933787" y="2712517"/>
            <a:ext cx="1319134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3787" y="2904391"/>
            <a:ext cx="1311140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Perceive the environment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6696" y="2744496"/>
            <a:ext cx="111927" cy="127916"/>
          </a:xfrm>
          <a:custGeom>
            <a:avLst/>
            <a:gdLst/>
            <a:ahLst/>
            <a:cxnLst/>
            <a:rect l="l" t="t" r="r" b="b"/>
            <a:pathLst>
              <a:path w="111927" h="127916">
                <a:moveTo>
                  <a:pt x="31979" y="9993"/>
                </a:moveTo>
                <a:cubicBezTo>
                  <a:pt x="31979" y="4472"/>
                  <a:pt x="36451" y="0"/>
                  <a:pt x="41972" y="0"/>
                </a:cubicBezTo>
                <a:cubicBezTo>
                  <a:pt x="47494" y="0"/>
                  <a:pt x="51966" y="4472"/>
                  <a:pt x="51966" y="9993"/>
                </a:cubicBezTo>
                <a:lnTo>
                  <a:pt x="51966" y="47019"/>
                </a:lnTo>
                <a:cubicBezTo>
                  <a:pt x="54090" y="45120"/>
                  <a:pt x="56888" y="43971"/>
                  <a:pt x="59961" y="43971"/>
                </a:cubicBezTo>
                <a:cubicBezTo>
                  <a:pt x="65107" y="43971"/>
                  <a:pt x="69504" y="47219"/>
                  <a:pt x="71203" y="51766"/>
                </a:cubicBezTo>
                <a:cubicBezTo>
                  <a:pt x="73402" y="49443"/>
                  <a:pt x="76500" y="47969"/>
                  <a:pt x="79948" y="47969"/>
                </a:cubicBezTo>
                <a:cubicBezTo>
                  <a:pt x="86268" y="47969"/>
                  <a:pt x="91440" y="52840"/>
                  <a:pt x="91915" y="59036"/>
                </a:cubicBezTo>
                <a:cubicBezTo>
                  <a:pt x="94038" y="57113"/>
                  <a:pt x="96861" y="55963"/>
                  <a:pt x="99934" y="55963"/>
                </a:cubicBezTo>
                <a:cubicBezTo>
                  <a:pt x="106555" y="55963"/>
                  <a:pt x="111927" y="61335"/>
                  <a:pt x="111927" y="67955"/>
                </a:cubicBezTo>
                <a:lnTo>
                  <a:pt x="111927" y="95937"/>
                </a:lnTo>
                <a:cubicBezTo>
                  <a:pt x="111927" y="113600"/>
                  <a:pt x="97611" y="127916"/>
                  <a:pt x="79948" y="127916"/>
                </a:cubicBezTo>
                <a:lnTo>
                  <a:pt x="58637" y="127916"/>
                </a:lnTo>
                <a:cubicBezTo>
                  <a:pt x="57387" y="127916"/>
                  <a:pt x="56163" y="127841"/>
                  <a:pt x="54964" y="127666"/>
                </a:cubicBezTo>
                <a:cubicBezTo>
                  <a:pt x="41148" y="126267"/>
                  <a:pt x="28431" y="119172"/>
                  <a:pt x="19987" y="107929"/>
                </a:cubicBezTo>
                <a:lnTo>
                  <a:pt x="1999" y="83945"/>
                </a:lnTo>
                <a:cubicBezTo>
                  <a:pt x="-1324" y="79523"/>
                  <a:pt x="-425" y="73277"/>
                  <a:pt x="3997" y="69954"/>
                </a:cubicBezTo>
                <a:cubicBezTo>
                  <a:pt x="8419" y="66631"/>
                  <a:pt x="14665" y="67531"/>
                  <a:pt x="17988" y="71953"/>
                </a:cubicBezTo>
                <a:lnTo>
                  <a:pt x="31979" y="90616"/>
                </a:lnTo>
                <a:lnTo>
                  <a:pt x="31979" y="9993"/>
                </a:lnTo>
                <a:close/>
                <a:moveTo>
                  <a:pt x="59961" y="75950"/>
                </a:moveTo>
                <a:cubicBezTo>
                  <a:pt x="59961" y="73752"/>
                  <a:pt x="58162" y="71953"/>
                  <a:pt x="55963" y="71953"/>
                </a:cubicBezTo>
                <a:cubicBezTo>
                  <a:pt x="53765" y="71953"/>
                  <a:pt x="51966" y="73752"/>
                  <a:pt x="51966" y="75950"/>
                </a:cubicBezTo>
                <a:lnTo>
                  <a:pt x="51966" y="99934"/>
                </a:lnTo>
                <a:cubicBezTo>
                  <a:pt x="51966" y="102133"/>
                  <a:pt x="53765" y="103932"/>
                  <a:pt x="55963" y="103932"/>
                </a:cubicBezTo>
                <a:cubicBezTo>
                  <a:pt x="58162" y="103932"/>
                  <a:pt x="59961" y="102133"/>
                  <a:pt x="59961" y="99934"/>
                </a:cubicBezTo>
                <a:lnTo>
                  <a:pt x="59961" y="75950"/>
                </a:lnTo>
                <a:close/>
                <a:moveTo>
                  <a:pt x="71953" y="71953"/>
                </a:moveTo>
                <a:cubicBezTo>
                  <a:pt x="69754" y="71953"/>
                  <a:pt x="67955" y="73752"/>
                  <a:pt x="67955" y="75950"/>
                </a:cubicBezTo>
                <a:lnTo>
                  <a:pt x="67955" y="99934"/>
                </a:lnTo>
                <a:cubicBezTo>
                  <a:pt x="67955" y="102133"/>
                  <a:pt x="69754" y="103932"/>
                  <a:pt x="71953" y="103932"/>
                </a:cubicBezTo>
                <a:cubicBezTo>
                  <a:pt x="74151" y="103932"/>
                  <a:pt x="75950" y="102133"/>
                  <a:pt x="75950" y="99934"/>
                </a:cubicBezTo>
                <a:lnTo>
                  <a:pt x="75950" y="75950"/>
                </a:lnTo>
                <a:cubicBezTo>
                  <a:pt x="75950" y="73752"/>
                  <a:pt x="74151" y="71953"/>
                  <a:pt x="71953" y="71953"/>
                </a:cubicBezTo>
                <a:close/>
                <a:moveTo>
                  <a:pt x="91940" y="75950"/>
                </a:moveTo>
                <a:cubicBezTo>
                  <a:pt x="91940" y="73752"/>
                  <a:pt x="90141" y="71953"/>
                  <a:pt x="87942" y="71953"/>
                </a:cubicBezTo>
                <a:cubicBezTo>
                  <a:pt x="85744" y="71953"/>
                  <a:pt x="83945" y="73752"/>
                  <a:pt x="83945" y="75950"/>
                </a:cubicBezTo>
                <a:lnTo>
                  <a:pt x="83945" y="99934"/>
                </a:lnTo>
                <a:cubicBezTo>
                  <a:pt x="83945" y="102133"/>
                  <a:pt x="85744" y="103932"/>
                  <a:pt x="87942" y="103932"/>
                </a:cubicBezTo>
                <a:cubicBezTo>
                  <a:pt x="90141" y="103932"/>
                  <a:pt x="91940" y="102133"/>
                  <a:pt x="91940" y="99934"/>
                </a:cubicBezTo>
                <a:lnTo>
                  <a:pt x="91940" y="7595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016564" y="2712517"/>
            <a:ext cx="847444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6564" y="2904391"/>
            <a:ext cx="839449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 actions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5924" y="3192202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29980" y="13991"/>
                </a:moveTo>
                <a:cubicBezTo>
                  <a:pt x="29980" y="6271"/>
                  <a:pt x="36251" y="0"/>
                  <a:pt x="43971" y="0"/>
                </a:cubicBezTo>
                <a:lnTo>
                  <a:pt x="49967" y="0"/>
                </a:lnTo>
                <a:cubicBezTo>
                  <a:pt x="54389" y="0"/>
                  <a:pt x="57962" y="3573"/>
                  <a:pt x="57962" y="7995"/>
                </a:cubicBezTo>
                <a:lnTo>
                  <a:pt x="57962" y="119921"/>
                </a:lnTo>
                <a:cubicBezTo>
                  <a:pt x="57962" y="124343"/>
                  <a:pt x="54389" y="127916"/>
                  <a:pt x="49967" y="127916"/>
                </a:cubicBezTo>
                <a:lnTo>
                  <a:pt x="41972" y="127916"/>
                </a:lnTo>
                <a:cubicBezTo>
                  <a:pt x="34527" y="127916"/>
                  <a:pt x="28256" y="122819"/>
                  <a:pt x="26483" y="115924"/>
                </a:cubicBezTo>
                <a:cubicBezTo>
                  <a:pt x="26308" y="115924"/>
                  <a:pt x="26158" y="115924"/>
                  <a:pt x="25983" y="115924"/>
                </a:cubicBezTo>
                <a:cubicBezTo>
                  <a:pt x="14940" y="115924"/>
                  <a:pt x="5996" y="106980"/>
                  <a:pt x="5996" y="95937"/>
                </a:cubicBezTo>
                <a:cubicBezTo>
                  <a:pt x="5996" y="91440"/>
                  <a:pt x="7495" y="87293"/>
                  <a:pt x="9993" y="83945"/>
                </a:cubicBezTo>
                <a:cubicBezTo>
                  <a:pt x="5147" y="80297"/>
                  <a:pt x="1999" y="74501"/>
                  <a:pt x="1999" y="67955"/>
                </a:cubicBezTo>
                <a:cubicBezTo>
                  <a:pt x="1999" y="60235"/>
                  <a:pt x="6396" y="53515"/>
                  <a:pt x="12792" y="50192"/>
                </a:cubicBezTo>
                <a:cubicBezTo>
                  <a:pt x="11018" y="47194"/>
                  <a:pt x="9993" y="43696"/>
                  <a:pt x="9993" y="39974"/>
                </a:cubicBezTo>
                <a:cubicBezTo>
                  <a:pt x="9993" y="28931"/>
                  <a:pt x="18938" y="19987"/>
                  <a:pt x="29980" y="19987"/>
                </a:cubicBezTo>
                <a:lnTo>
                  <a:pt x="29980" y="13991"/>
                </a:lnTo>
                <a:close/>
                <a:moveTo>
                  <a:pt x="97936" y="13991"/>
                </a:moveTo>
                <a:lnTo>
                  <a:pt x="97936" y="19987"/>
                </a:lnTo>
                <a:cubicBezTo>
                  <a:pt x="108978" y="19987"/>
                  <a:pt x="117923" y="28931"/>
                  <a:pt x="117923" y="39974"/>
                </a:cubicBezTo>
                <a:cubicBezTo>
                  <a:pt x="117923" y="43721"/>
                  <a:pt x="116898" y="47219"/>
                  <a:pt x="115124" y="50192"/>
                </a:cubicBezTo>
                <a:cubicBezTo>
                  <a:pt x="121545" y="53515"/>
                  <a:pt x="125917" y="60210"/>
                  <a:pt x="125917" y="67955"/>
                </a:cubicBezTo>
                <a:cubicBezTo>
                  <a:pt x="125917" y="74501"/>
                  <a:pt x="122769" y="80297"/>
                  <a:pt x="117923" y="83945"/>
                </a:cubicBezTo>
                <a:cubicBezTo>
                  <a:pt x="120421" y="87293"/>
                  <a:pt x="121920" y="91440"/>
                  <a:pt x="121920" y="95937"/>
                </a:cubicBezTo>
                <a:cubicBezTo>
                  <a:pt x="121920" y="106980"/>
                  <a:pt x="112976" y="115924"/>
                  <a:pt x="101933" y="115924"/>
                </a:cubicBezTo>
                <a:cubicBezTo>
                  <a:pt x="101758" y="115924"/>
                  <a:pt x="101608" y="115924"/>
                  <a:pt x="101433" y="115924"/>
                </a:cubicBezTo>
                <a:cubicBezTo>
                  <a:pt x="99660" y="122819"/>
                  <a:pt x="93389" y="127916"/>
                  <a:pt x="85944" y="127916"/>
                </a:cubicBezTo>
                <a:lnTo>
                  <a:pt x="77949" y="127916"/>
                </a:lnTo>
                <a:cubicBezTo>
                  <a:pt x="73527" y="127916"/>
                  <a:pt x="69954" y="124343"/>
                  <a:pt x="69954" y="119921"/>
                </a:cubicBezTo>
                <a:lnTo>
                  <a:pt x="69954" y="7995"/>
                </a:lnTo>
                <a:cubicBezTo>
                  <a:pt x="69954" y="3573"/>
                  <a:pt x="73527" y="0"/>
                  <a:pt x="77949" y="0"/>
                </a:cubicBezTo>
                <a:lnTo>
                  <a:pt x="83945" y="0"/>
                </a:lnTo>
                <a:cubicBezTo>
                  <a:pt x="91665" y="0"/>
                  <a:pt x="97936" y="6271"/>
                  <a:pt x="97936" y="1399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933787" y="3160223"/>
            <a:ext cx="95137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3787" y="3352097"/>
            <a:ext cx="94338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Decide what to do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08701" y="3192202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111927" y="63958"/>
                </a:moveTo>
                <a:cubicBezTo>
                  <a:pt x="111927" y="37483"/>
                  <a:pt x="90433" y="15990"/>
                  <a:pt x="63958" y="15990"/>
                </a:cubicBezTo>
                <a:cubicBezTo>
                  <a:pt x="37483" y="15990"/>
                  <a:pt x="15990" y="37483"/>
                  <a:pt x="15990" y="63958"/>
                </a:cubicBezTo>
                <a:cubicBezTo>
                  <a:pt x="15990" y="90433"/>
                  <a:pt x="37483" y="111927"/>
                  <a:pt x="63958" y="111927"/>
                </a:cubicBezTo>
                <a:cubicBezTo>
                  <a:pt x="90433" y="111927"/>
                  <a:pt x="111927" y="90433"/>
                  <a:pt x="111927" y="63958"/>
                </a:cubicBezTo>
                <a:close/>
                <a:moveTo>
                  <a:pt x="0" y="63958"/>
                </a:moveTo>
                <a:cubicBezTo>
                  <a:pt x="0" y="28659"/>
                  <a:pt x="28659" y="0"/>
                  <a:pt x="63958" y="0"/>
                </a:cubicBezTo>
                <a:cubicBezTo>
                  <a:pt x="99257" y="0"/>
                  <a:pt x="127916" y="28659"/>
                  <a:pt x="127916" y="63958"/>
                </a:cubicBezTo>
                <a:cubicBezTo>
                  <a:pt x="127916" y="99257"/>
                  <a:pt x="99257" y="127916"/>
                  <a:pt x="63958" y="127916"/>
                </a:cubicBezTo>
                <a:cubicBezTo>
                  <a:pt x="28659" y="127916"/>
                  <a:pt x="0" y="99257"/>
                  <a:pt x="0" y="63958"/>
                </a:cubicBezTo>
                <a:close/>
                <a:moveTo>
                  <a:pt x="63958" y="83945"/>
                </a:moveTo>
                <a:cubicBezTo>
                  <a:pt x="74989" y="83945"/>
                  <a:pt x="83945" y="74989"/>
                  <a:pt x="83945" y="63958"/>
                </a:cubicBezTo>
                <a:cubicBezTo>
                  <a:pt x="83945" y="52927"/>
                  <a:pt x="74989" y="43971"/>
                  <a:pt x="63958" y="43971"/>
                </a:cubicBezTo>
                <a:cubicBezTo>
                  <a:pt x="52927" y="43971"/>
                  <a:pt x="43971" y="52927"/>
                  <a:pt x="43971" y="63958"/>
                </a:cubicBezTo>
                <a:cubicBezTo>
                  <a:pt x="43971" y="74989"/>
                  <a:pt x="52927" y="83945"/>
                  <a:pt x="63958" y="83945"/>
                </a:cubicBezTo>
                <a:close/>
                <a:moveTo>
                  <a:pt x="63958" y="27982"/>
                </a:moveTo>
                <a:cubicBezTo>
                  <a:pt x="83814" y="27982"/>
                  <a:pt x="99934" y="44102"/>
                  <a:pt x="99934" y="63958"/>
                </a:cubicBezTo>
                <a:cubicBezTo>
                  <a:pt x="99934" y="83814"/>
                  <a:pt x="83814" y="99934"/>
                  <a:pt x="63958" y="99934"/>
                </a:cubicBezTo>
                <a:cubicBezTo>
                  <a:pt x="44102" y="99934"/>
                  <a:pt x="27982" y="83814"/>
                  <a:pt x="27982" y="63958"/>
                </a:cubicBezTo>
                <a:cubicBezTo>
                  <a:pt x="27982" y="44102"/>
                  <a:pt x="44102" y="27982"/>
                  <a:pt x="63958" y="27982"/>
                </a:cubicBezTo>
                <a:close/>
                <a:moveTo>
                  <a:pt x="55963" y="63958"/>
                </a:moveTo>
                <a:cubicBezTo>
                  <a:pt x="55963" y="59546"/>
                  <a:pt x="59546" y="55963"/>
                  <a:pt x="63958" y="55963"/>
                </a:cubicBezTo>
                <a:cubicBezTo>
                  <a:pt x="68370" y="55963"/>
                  <a:pt x="71953" y="59546"/>
                  <a:pt x="71953" y="63958"/>
                </a:cubicBezTo>
                <a:cubicBezTo>
                  <a:pt x="71953" y="68370"/>
                  <a:pt x="68370" y="71953"/>
                  <a:pt x="63958" y="71953"/>
                </a:cubicBezTo>
                <a:cubicBezTo>
                  <a:pt x="59546" y="71953"/>
                  <a:pt x="55963" y="68370"/>
                  <a:pt x="55963" y="6395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016564" y="3160223"/>
            <a:ext cx="855439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16564" y="3352097"/>
            <a:ext cx="847444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to achieve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2988" y="4001278"/>
            <a:ext cx="6809932" cy="2852528"/>
          </a:xfrm>
          <a:custGeom>
            <a:avLst/>
            <a:gdLst/>
            <a:ahLst/>
            <a:cxnLst/>
            <a:rect l="l" t="t" r="r" b="b"/>
            <a:pathLst>
              <a:path w="6809932" h="2852528">
                <a:moveTo>
                  <a:pt x="95931" y="0"/>
                </a:moveTo>
                <a:lnTo>
                  <a:pt x="6714001" y="0"/>
                </a:lnTo>
                <a:cubicBezTo>
                  <a:pt x="6766982" y="0"/>
                  <a:pt x="6809932" y="42950"/>
                  <a:pt x="6809932" y="95931"/>
                </a:cubicBezTo>
                <a:lnTo>
                  <a:pt x="6809932" y="2756598"/>
                </a:lnTo>
                <a:cubicBezTo>
                  <a:pt x="6809932" y="2809579"/>
                  <a:pt x="6766982" y="2852528"/>
                  <a:pt x="6714001" y="2852528"/>
                </a:cubicBezTo>
                <a:lnTo>
                  <a:pt x="95931" y="2852528"/>
                </a:lnTo>
                <a:cubicBezTo>
                  <a:pt x="42950" y="2852528"/>
                  <a:pt x="0" y="2809579"/>
                  <a:pt x="0" y="2756598"/>
                </a:cubicBezTo>
                <a:lnTo>
                  <a:pt x="0" y="95931"/>
                </a:lnTo>
                <a:cubicBezTo>
                  <a:pt x="0" y="42985"/>
                  <a:pt x="42985" y="0"/>
                  <a:pt x="9593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060" y="4196356"/>
            <a:ext cx="6515725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Everyday Examples of Agents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8060" y="4579995"/>
            <a:ext cx="3165923" cy="991350"/>
          </a:xfrm>
          <a:custGeom>
            <a:avLst/>
            <a:gdLst/>
            <a:ahLst/>
            <a:cxnLst/>
            <a:rect l="l" t="t" r="r" b="b"/>
            <a:pathLst>
              <a:path w="3165923" h="991350">
                <a:moveTo>
                  <a:pt x="63962" y="0"/>
                </a:moveTo>
                <a:lnTo>
                  <a:pt x="3101961" y="0"/>
                </a:lnTo>
                <a:cubicBezTo>
                  <a:pt x="3137286" y="0"/>
                  <a:pt x="3165923" y="28637"/>
                  <a:pt x="3165923" y="63962"/>
                </a:cubicBezTo>
                <a:lnTo>
                  <a:pt x="3165923" y="927388"/>
                </a:lnTo>
                <a:cubicBezTo>
                  <a:pt x="3165923" y="962713"/>
                  <a:pt x="3137286" y="991350"/>
                  <a:pt x="3101961" y="991350"/>
                </a:cubicBezTo>
                <a:lnTo>
                  <a:pt x="63962" y="991350"/>
                </a:lnTo>
                <a:cubicBezTo>
                  <a:pt x="28637" y="991350"/>
                  <a:pt x="0" y="962713"/>
                  <a:pt x="0" y="927388"/>
                </a:cubicBezTo>
                <a:lnTo>
                  <a:pt x="0" y="63962"/>
                </a:lnTo>
                <a:cubicBezTo>
                  <a:pt x="0" y="28660"/>
                  <a:pt x="28660" y="0"/>
                  <a:pt x="6396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7" name="Text 25"/>
          <p:cNvSpPr/>
          <p:nvPr/>
        </p:nvSpPr>
        <p:spPr>
          <a:xfrm>
            <a:off x="645976" y="4707911"/>
            <a:ext cx="2974049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🌡️ Thermostat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5976" y="4963743"/>
            <a:ext cx="2966054" cy="479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Temperature sensor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Heater/AC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Maintain set temperature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76722" y="4579995"/>
            <a:ext cx="3165923" cy="991350"/>
          </a:xfrm>
          <a:custGeom>
            <a:avLst/>
            <a:gdLst/>
            <a:ahLst/>
            <a:cxnLst/>
            <a:rect l="l" t="t" r="r" b="b"/>
            <a:pathLst>
              <a:path w="3165923" h="991350">
                <a:moveTo>
                  <a:pt x="63962" y="0"/>
                </a:moveTo>
                <a:lnTo>
                  <a:pt x="3101961" y="0"/>
                </a:lnTo>
                <a:cubicBezTo>
                  <a:pt x="3137286" y="0"/>
                  <a:pt x="3165923" y="28637"/>
                  <a:pt x="3165923" y="63962"/>
                </a:cubicBezTo>
                <a:lnTo>
                  <a:pt x="3165923" y="927388"/>
                </a:lnTo>
                <a:cubicBezTo>
                  <a:pt x="3165923" y="962713"/>
                  <a:pt x="3137286" y="991350"/>
                  <a:pt x="3101961" y="991350"/>
                </a:cubicBezTo>
                <a:lnTo>
                  <a:pt x="63962" y="991350"/>
                </a:lnTo>
                <a:cubicBezTo>
                  <a:pt x="28637" y="991350"/>
                  <a:pt x="0" y="962713"/>
                  <a:pt x="0" y="927388"/>
                </a:cubicBezTo>
                <a:lnTo>
                  <a:pt x="0" y="63962"/>
                </a:lnTo>
                <a:cubicBezTo>
                  <a:pt x="0" y="28660"/>
                  <a:pt x="28660" y="0"/>
                  <a:pt x="6396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0" name="Text 28"/>
          <p:cNvSpPr/>
          <p:nvPr/>
        </p:nvSpPr>
        <p:spPr>
          <a:xfrm>
            <a:off x="3904638" y="4707911"/>
            <a:ext cx="2974049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🤖 Robot Vacuum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04638" y="4963743"/>
            <a:ext cx="2966054" cy="479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Cameras, bump sensors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Wheels, brushes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Clean the floor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8060" y="5667281"/>
            <a:ext cx="3165923" cy="991350"/>
          </a:xfrm>
          <a:custGeom>
            <a:avLst/>
            <a:gdLst/>
            <a:ahLst/>
            <a:cxnLst/>
            <a:rect l="l" t="t" r="r" b="b"/>
            <a:pathLst>
              <a:path w="3165923" h="991350">
                <a:moveTo>
                  <a:pt x="63962" y="0"/>
                </a:moveTo>
                <a:lnTo>
                  <a:pt x="3101961" y="0"/>
                </a:lnTo>
                <a:cubicBezTo>
                  <a:pt x="3137286" y="0"/>
                  <a:pt x="3165923" y="28637"/>
                  <a:pt x="3165923" y="63962"/>
                </a:cubicBezTo>
                <a:lnTo>
                  <a:pt x="3165923" y="927388"/>
                </a:lnTo>
                <a:cubicBezTo>
                  <a:pt x="3165923" y="962713"/>
                  <a:pt x="3137286" y="991350"/>
                  <a:pt x="3101961" y="991350"/>
                </a:cubicBezTo>
                <a:lnTo>
                  <a:pt x="63962" y="991350"/>
                </a:lnTo>
                <a:cubicBezTo>
                  <a:pt x="28637" y="991350"/>
                  <a:pt x="0" y="962713"/>
                  <a:pt x="0" y="927388"/>
                </a:cubicBezTo>
                <a:lnTo>
                  <a:pt x="0" y="63962"/>
                </a:lnTo>
                <a:cubicBezTo>
                  <a:pt x="0" y="28660"/>
                  <a:pt x="28660" y="0"/>
                  <a:pt x="6396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3" name="Text 31"/>
          <p:cNvSpPr/>
          <p:nvPr/>
        </p:nvSpPr>
        <p:spPr>
          <a:xfrm>
            <a:off x="645976" y="5795197"/>
            <a:ext cx="2974049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🚗 Self-Driving Car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976" y="6051030"/>
            <a:ext cx="2966054" cy="479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Cameras, radar, GPS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Steering, brakes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Drive safely to destination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76722" y="5667281"/>
            <a:ext cx="3165923" cy="991350"/>
          </a:xfrm>
          <a:custGeom>
            <a:avLst/>
            <a:gdLst/>
            <a:ahLst/>
            <a:cxnLst/>
            <a:rect l="l" t="t" r="r" b="b"/>
            <a:pathLst>
              <a:path w="3165923" h="991350">
                <a:moveTo>
                  <a:pt x="63962" y="0"/>
                </a:moveTo>
                <a:lnTo>
                  <a:pt x="3101961" y="0"/>
                </a:lnTo>
                <a:cubicBezTo>
                  <a:pt x="3137286" y="0"/>
                  <a:pt x="3165923" y="28637"/>
                  <a:pt x="3165923" y="63962"/>
                </a:cubicBezTo>
                <a:lnTo>
                  <a:pt x="3165923" y="927388"/>
                </a:lnTo>
                <a:cubicBezTo>
                  <a:pt x="3165923" y="962713"/>
                  <a:pt x="3137286" y="991350"/>
                  <a:pt x="3101961" y="991350"/>
                </a:cubicBezTo>
                <a:lnTo>
                  <a:pt x="63962" y="991350"/>
                </a:lnTo>
                <a:cubicBezTo>
                  <a:pt x="28637" y="991350"/>
                  <a:pt x="0" y="962713"/>
                  <a:pt x="0" y="927388"/>
                </a:cubicBezTo>
                <a:lnTo>
                  <a:pt x="0" y="63962"/>
                </a:lnTo>
                <a:cubicBezTo>
                  <a:pt x="0" y="28660"/>
                  <a:pt x="28660" y="0"/>
                  <a:pt x="6396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Text 34"/>
          <p:cNvSpPr/>
          <p:nvPr/>
        </p:nvSpPr>
        <p:spPr>
          <a:xfrm>
            <a:off x="3904638" y="5795197"/>
            <a:ext cx="2974049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📱 Smart Assistant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04638" y="6051030"/>
            <a:ext cx="2966054" cy="479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Microphone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Speaker, screen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</a:t>
            </a:r>
            <a:r>
              <a:rPr lang="en-US" sz="8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Answer questions, help user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32788" y="1090484"/>
            <a:ext cx="4539421" cy="5762619"/>
          </a:xfrm>
          <a:custGeom>
            <a:avLst/>
            <a:gdLst/>
            <a:ahLst/>
            <a:cxnLst/>
            <a:rect l="l" t="t" r="r" b="b"/>
            <a:pathLst>
              <a:path w="4539421" h="5762619">
                <a:moveTo>
                  <a:pt x="95918" y="0"/>
                </a:moveTo>
                <a:lnTo>
                  <a:pt x="4443503" y="0"/>
                </a:lnTo>
                <a:cubicBezTo>
                  <a:pt x="4496477" y="0"/>
                  <a:pt x="4539421" y="42944"/>
                  <a:pt x="4539421" y="95918"/>
                </a:cubicBezTo>
                <a:lnTo>
                  <a:pt x="4539421" y="5666701"/>
                </a:lnTo>
                <a:cubicBezTo>
                  <a:pt x="4539421" y="5719675"/>
                  <a:pt x="4496477" y="5762619"/>
                  <a:pt x="4443503" y="5762619"/>
                </a:cubicBezTo>
                <a:lnTo>
                  <a:pt x="95918" y="5762619"/>
                </a:lnTo>
                <a:cubicBezTo>
                  <a:pt x="42944" y="5762619"/>
                  <a:pt x="0" y="5719675"/>
                  <a:pt x="0" y="5666701"/>
                </a:cubicBezTo>
                <a:lnTo>
                  <a:pt x="0" y="95918"/>
                </a:lnTo>
                <a:cubicBezTo>
                  <a:pt x="0" y="42944"/>
                  <a:pt x="42944" y="0"/>
                  <a:pt x="9591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5882" y="1253584"/>
            <a:ext cx="4309172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Diagram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95882" y="1637223"/>
            <a:ext cx="4213235" cy="3181912"/>
          </a:xfrm>
          <a:custGeom>
            <a:avLst/>
            <a:gdLst/>
            <a:ahLst/>
            <a:cxnLst/>
            <a:rect l="l" t="t" r="r" b="b"/>
            <a:pathLst>
              <a:path w="4213235" h="3181912">
                <a:moveTo>
                  <a:pt x="63956" y="0"/>
                </a:moveTo>
                <a:lnTo>
                  <a:pt x="4149279" y="0"/>
                </a:lnTo>
                <a:cubicBezTo>
                  <a:pt x="4184601" y="0"/>
                  <a:pt x="4213235" y="28634"/>
                  <a:pt x="4213235" y="63956"/>
                </a:cubicBezTo>
                <a:lnTo>
                  <a:pt x="4213235" y="3117956"/>
                </a:lnTo>
                <a:cubicBezTo>
                  <a:pt x="4213235" y="3153278"/>
                  <a:pt x="4184601" y="3181912"/>
                  <a:pt x="4149279" y="3181912"/>
                </a:cubicBezTo>
                <a:lnTo>
                  <a:pt x="63956" y="3181912"/>
                </a:lnTo>
                <a:cubicBezTo>
                  <a:pt x="28634" y="3181912"/>
                  <a:pt x="0" y="3153278"/>
                  <a:pt x="0" y="3117956"/>
                </a:cubicBezTo>
                <a:lnTo>
                  <a:pt x="0" y="63956"/>
                </a:lnTo>
                <a:cubicBezTo>
                  <a:pt x="0" y="28634"/>
                  <a:pt x="28634" y="0"/>
                  <a:pt x="63956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1" name="Text 39"/>
          <p:cNvSpPr/>
          <p:nvPr/>
        </p:nvSpPr>
        <p:spPr>
          <a:xfrm>
            <a:off x="7591819" y="1765139"/>
            <a:ext cx="4021361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an Agent Works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26996" y="2056148"/>
            <a:ext cx="3947810" cy="486081"/>
          </a:xfrm>
          <a:custGeom>
            <a:avLst/>
            <a:gdLst/>
            <a:ahLst/>
            <a:cxnLst/>
            <a:rect l="l" t="t" r="r" b="b"/>
            <a:pathLst>
              <a:path w="3947810" h="486081">
                <a:moveTo>
                  <a:pt x="63959" y="0"/>
                </a:moveTo>
                <a:lnTo>
                  <a:pt x="3883851" y="0"/>
                </a:lnTo>
                <a:cubicBezTo>
                  <a:pt x="3919174" y="0"/>
                  <a:pt x="3947810" y="28635"/>
                  <a:pt x="3947810" y="63959"/>
                </a:cubicBezTo>
                <a:lnTo>
                  <a:pt x="3947810" y="422123"/>
                </a:lnTo>
                <a:cubicBezTo>
                  <a:pt x="3947810" y="457446"/>
                  <a:pt x="3919174" y="486081"/>
                  <a:pt x="3883851" y="486081"/>
                </a:cubicBezTo>
                <a:lnTo>
                  <a:pt x="63959" y="486081"/>
                </a:lnTo>
                <a:cubicBezTo>
                  <a:pt x="28635" y="486081"/>
                  <a:pt x="0" y="457446"/>
                  <a:pt x="0" y="422123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8149" y="2155289"/>
            <a:ext cx="380550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🌍 ENVIRONMENT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02146" y="2315184"/>
            <a:ext cx="3797508" cy="12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world around the agent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158990" y="2641267"/>
            <a:ext cx="95937" cy="127916"/>
          </a:xfrm>
          <a:custGeom>
            <a:avLst/>
            <a:gdLst/>
            <a:ahLst/>
            <a:cxnLst/>
            <a:rect l="l" t="t" r="r" b="b"/>
            <a:pathLst>
              <a:path w="95937" h="127916">
                <a:moveTo>
                  <a:pt x="42322" y="125568"/>
                </a:moveTo>
                <a:cubicBezTo>
                  <a:pt x="45445" y="128691"/>
                  <a:pt x="50517" y="128691"/>
                  <a:pt x="53640" y="125568"/>
                </a:cubicBezTo>
                <a:lnTo>
                  <a:pt x="93614" y="85594"/>
                </a:lnTo>
                <a:cubicBezTo>
                  <a:pt x="96737" y="82471"/>
                  <a:pt x="96737" y="77399"/>
                  <a:pt x="93614" y="74276"/>
                </a:cubicBezTo>
                <a:cubicBezTo>
                  <a:pt x="90491" y="71153"/>
                  <a:pt x="85419" y="71153"/>
                  <a:pt x="82296" y="74276"/>
                </a:cubicBezTo>
                <a:lnTo>
                  <a:pt x="55963" y="100609"/>
                </a:lnTo>
                <a:lnTo>
                  <a:pt x="55963" y="7995"/>
                </a:lnTo>
                <a:cubicBezTo>
                  <a:pt x="55963" y="3573"/>
                  <a:pt x="52391" y="0"/>
                  <a:pt x="47969" y="0"/>
                </a:cubicBezTo>
                <a:cubicBezTo>
                  <a:pt x="43546" y="0"/>
                  <a:pt x="39974" y="3573"/>
                  <a:pt x="39974" y="7995"/>
                </a:cubicBezTo>
                <a:lnTo>
                  <a:pt x="39974" y="100609"/>
                </a:lnTo>
                <a:lnTo>
                  <a:pt x="13641" y="74276"/>
                </a:lnTo>
                <a:cubicBezTo>
                  <a:pt x="10518" y="71153"/>
                  <a:pt x="5446" y="71153"/>
                  <a:pt x="2323" y="74276"/>
                </a:cubicBezTo>
                <a:cubicBezTo>
                  <a:pt x="-799" y="77399"/>
                  <a:pt x="-799" y="82471"/>
                  <a:pt x="2323" y="85594"/>
                </a:cubicBezTo>
                <a:lnTo>
                  <a:pt x="42297" y="12556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9350864" y="2641267"/>
            <a:ext cx="775491" cy="12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 perceive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30194" y="2871516"/>
            <a:ext cx="3946211" cy="1004141"/>
          </a:xfrm>
          <a:custGeom>
            <a:avLst/>
            <a:gdLst/>
            <a:ahLst/>
            <a:cxnLst/>
            <a:rect l="l" t="t" r="r" b="b"/>
            <a:pathLst>
              <a:path w="3946211" h="1004141">
                <a:moveTo>
                  <a:pt x="63954" y="0"/>
                </a:moveTo>
                <a:lnTo>
                  <a:pt x="3882257" y="0"/>
                </a:lnTo>
                <a:cubicBezTo>
                  <a:pt x="3917578" y="0"/>
                  <a:pt x="3946211" y="28633"/>
                  <a:pt x="3946211" y="63954"/>
                </a:cubicBezTo>
                <a:lnTo>
                  <a:pt x="3946211" y="940187"/>
                </a:lnTo>
                <a:cubicBezTo>
                  <a:pt x="3946211" y="975508"/>
                  <a:pt x="3917578" y="1004141"/>
                  <a:pt x="3882257" y="1004141"/>
                </a:cubicBezTo>
                <a:lnTo>
                  <a:pt x="63954" y="1004141"/>
                </a:lnTo>
                <a:cubicBezTo>
                  <a:pt x="28633" y="1004141"/>
                  <a:pt x="0" y="975508"/>
                  <a:pt x="0" y="940187"/>
                </a:cubicBezTo>
                <a:lnTo>
                  <a:pt x="0" y="63954"/>
                </a:lnTo>
                <a:cubicBezTo>
                  <a:pt x="0" y="28657"/>
                  <a:pt x="28657" y="0"/>
                  <a:pt x="63954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36524" y="3005825"/>
            <a:ext cx="3733550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🤖 AGENT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764505" y="3229678"/>
            <a:ext cx="3677587" cy="511664"/>
          </a:xfrm>
          <a:custGeom>
            <a:avLst/>
            <a:gdLst/>
            <a:ahLst/>
            <a:cxnLst/>
            <a:rect l="l" t="t" r="r" b="b"/>
            <a:pathLst>
              <a:path w="3677587" h="511664">
                <a:moveTo>
                  <a:pt x="31979" y="0"/>
                </a:moveTo>
                <a:lnTo>
                  <a:pt x="3645608" y="0"/>
                </a:lnTo>
                <a:cubicBezTo>
                  <a:pt x="3663269" y="0"/>
                  <a:pt x="3677587" y="14317"/>
                  <a:pt x="3677587" y="31979"/>
                </a:cubicBezTo>
                <a:lnTo>
                  <a:pt x="3677587" y="479685"/>
                </a:lnTo>
                <a:cubicBezTo>
                  <a:pt x="3677587" y="497347"/>
                  <a:pt x="3663269" y="511664"/>
                  <a:pt x="3645608" y="511664"/>
                </a:cubicBezTo>
                <a:lnTo>
                  <a:pt x="31979" y="511664"/>
                </a:lnTo>
                <a:cubicBezTo>
                  <a:pt x="14317" y="511664"/>
                  <a:pt x="0" y="497347"/>
                  <a:pt x="0" y="479685"/>
                </a:cubicBezTo>
                <a:lnTo>
                  <a:pt x="0" y="31979"/>
                </a:lnTo>
                <a:cubicBezTo>
                  <a:pt x="0" y="14329"/>
                  <a:pt x="14329" y="0"/>
                  <a:pt x="3197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0" name="Text 48"/>
          <p:cNvSpPr/>
          <p:nvPr/>
        </p:nvSpPr>
        <p:spPr>
          <a:xfrm>
            <a:off x="7804479" y="3293636"/>
            <a:ext cx="3597639" cy="12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Processes information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804479" y="3421458"/>
            <a:ext cx="3597639" cy="12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Makes decisions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04479" y="3549280"/>
            <a:ext cx="3597639" cy="12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Chooses actions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238738" y="3977687"/>
            <a:ext cx="95937" cy="127916"/>
          </a:xfrm>
          <a:custGeom>
            <a:avLst/>
            <a:gdLst/>
            <a:ahLst/>
            <a:cxnLst/>
            <a:rect l="l" t="t" r="r" b="b"/>
            <a:pathLst>
              <a:path w="95937" h="127916">
                <a:moveTo>
                  <a:pt x="53615" y="4347"/>
                </a:moveTo>
                <a:cubicBezTo>
                  <a:pt x="50492" y="1224"/>
                  <a:pt x="45420" y="1224"/>
                  <a:pt x="42297" y="4347"/>
                </a:cubicBezTo>
                <a:lnTo>
                  <a:pt x="2323" y="44321"/>
                </a:lnTo>
                <a:cubicBezTo>
                  <a:pt x="-799" y="47444"/>
                  <a:pt x="-799" y="52516"/>
                  <a:pt x="2323" y="55638"/>
                </a:cubicBezTo>
                <a:cubicBezTo>
                  <a:pt x="5446" y="58761"/>
                  <a:pt x="10518" y="58761"/>
                  <a:pt x="13641" y="55638"/>
                </a:cubicBezTo>
                <a:lnTo>
                  <a:pt x="39974" y="29306"/>
                </a:lnTo>
                <a:lnTo>
                  <a:pt x="39974" y="121920"/>
                </a:lnTo>
                <a:cubicBezTo>
                  <a:pt x="39974" y="126342"/>
                  <a:pt x="43546" y="129915"/>
                  <a:pt x="47969" y="129915"/>
                </a:cubicBezTo>
                <a:cubicBezTo>
                  <a:pt x="52391" y="129915"/>
                  <a:pt x="55963" y="126342"/>
                  <a:pt x="55963" y="121920"/>
                </a:cubicBezTo>
                <a:lnTo>
                  <a:pt x="55963" y="29306"/>
                </a:lnTo>
                <a:lnTo>
                  <a:pt x="82296" y="55638"/>
                </a:lnTo>
                <a:cubicBezTo>
                  <a:pt x="85419" y="58761"/>
                  <a:pt x="90491" y="58761"/>
                  <a:pt x="93614" y="55638"/>
                </a:cubicBezTo>
                <a:cubicBezTo>
                  <a:pt x="96737" y="52516"/>
                  <a:pt x="96737" y="47444"/>
                  <a:pt x="93614" y="44321"/>
                </a:cubicBezTo>
                <a:lnTo>
                  <a:pt x="53640" y="434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9430612" y="3977687"/>
            <a:ext cx="615596" cy="12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 act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626996" y="4204738"/>
            <a:ext cx="3947810" cy="486081"/>
          </a:xfrm>
          <a:custGeom>
            <a:avLst/>
            <a:gdLst/>
            <a:ahLst/>
            <a:cxnLst/>
            <a:rect l="l" t="t" r="r" b="b"/>
            <a:pathLst>
              <a:path w="3947810" h="486081">
                <a:moveTo>
                  <a:pt x="63959" y="0"/>
                </a:moveTo>
                <a:lnTo>
                  <a:pt x="3883851" y="0"/>
                </a:lnTo>
                <a:cubicBezTo>
                  <a:pt x="3919174" y="0"/>
                  <a:pt x="3947810" y="28635"/>
                  <a:pt x="3947810" y="63959"/>
                </a:cubicBezTo>
                <a:lnTo>
                  <a:pt x="3947810" y="422123"/>
                </a:lnTo>
                <a:cubicBezTo>
                  <a:pt x="3947810" y="457446"/>
                  <a:pt x="3919174" y="486081"/>
                  <a:pt x="3883851" y="486081"/>
                </a:cubicBezTo>
                <a:lnTo>
                  <a:pt x="63959" y="486081"/>
                </a:lnTo>
                <a:cubicBezTo>
                  <a:pt x="28635" y="486081"/>
                  <a:pt x="0" y="457446"/>
                  <a:pt x="0" y="422123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98149" y="4303879"/>
            <a:ext cx="380550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⚡ ACTIONS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702146" y="4463774"/>
            <a:ext cx="3797508" cy="12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Changes in environment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499080" y="4952950"/>
            <a:ext cx="4203642" cy="645976"/>
          </a:xfrm>
          <a:custGeom>
            <a:avLst/>
            <a:gdLst/>
            <a:ahLst/>
            <a:cxnLst/>
            <a:rect l="l" t="t" r="r" b="b"/>
            <a:pathLst>
              <a:path w="4203642" h="645976">
                <a:moveTo>
                  <a:pt x="63958" y="0"/>
                </a:moveTo>
                <a:lnTo>
                  <a:pt x="4139684" y="0"/>
                </a:lnTo>
                <a:cubicBezTo>
                  <a:pt x="4175007" y="0"/>
                  <a:pt x="4203642" y="28635"/>
                  <a:pt x="4203642" y="63958"/>
                </a:cubicBezTo>
                <a:lnTo>
                  <a:pt x="4203642" y="582018"/>
                </a:lnTo>
                <a:cubicBezTo>
                  <a:pt x="4203642" y="617341"/>
                  <a:pt x="4175007" y="645976"/>
                  <a:pt x="4139684" y="645976"/>
                </a:cubicBezTo>
                <a:lnTo>
                  <a:pt x="63958" y="645976"/>
                </a:lnTo>
                <a:cubicBezTo>
                  <a:pt x="28635" y="645976"/>
                  <a:pt x="0" y="617341"/>
                  <a:pt x="0" y="582018"/>
                </a:cubicBezTo>
                <a:lnTo>
                  <a:pt x="0" y="63958"/>
                </a:lnTo>
                <a:cubicBezTo>
                  <a:pt x="0" y="28635"/>
                  <a:pt x="28635" y="0"/>
                  <a:pt x="63958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30194" y="5084070"/>
            <a:ext cx="4005372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r>
              <a:rPr lang="en-US" sz="1007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 agent is like a loop - it continuously perceives, thinks, and acts!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183" y="393820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98455" y="0"/>
                </a:moveTo>
                <a:lnTo>
                  <a:pt x="295365" y="0"/>
                </a:lnTo>
                <a:cubicBezTo>
                  <a:pt x="349740" y="0"/>
                  <a:pt x="393820" y="44080"/>
                  <a:pt x="393820" y="98455"/>
                </a:cubicBezTo>
                <a:lnTo>
                  <a:pt x="393820" y="295365"/>
                </a:lnTo>
                <a:cubicBezTo>
                  <a:pt x="393820" y="349740"/>
                  <a:pt x="349740" y="393820"/>
                  <a:pt x="295365" y="393820"/>
                </a:cubicBezTo>
                <a:lnTo>
                  <a:pt x="98455" y="393820"/>
                </a:lnTo>
                <a:cubicBezTo>
                  <a:pt x="44080" y="393820"/>
                  <a:pt x="0" y="349740"/>
                  <a:pt x="0" y="295365"/>
                </a:cubicBezTo>
                <a:lnTo>
                  <a:pt x="0" y="98455"/>
                </a:lnTo>
                <a:cubicBezTo>
                  <a:pt x="0" y="44080"/>
                  <a:pt x="44080" y="0"/>
                  <a:pt x="9845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6638" y="492275"/>
            <a:ext cx="196910" cy="196910"/>
          </a:xfrm>
          <a:custGeom>
            <a:avLst/>
            <a:gdLst/>
            <a:ahLst/>
            <a:cxnLst/>
            <a:rect l="l" t="t" r="r" b="b"/>
            <a:pathLst>
              <a:path w="196910" h="196910">
                <a:moveTo>
                  <a:pt x="73841" y="24614"/>
                </a:moveTo>
                <a:cubicBezTo>
                  <a:pt x="73841" y="17806"/>
                  <a:pt x="79341" y="12307"/>
                  <a:pt x="86148" y="12307"/>
                </a:cubicBezTo>
                <a:lnTo>
                  <a:pt x="110762" y="12307"/>
                </a:lnTo>
                <a:cubicBezTo>
                  <a:pt x="117569" y="12307"/>
                  <a:pt x="123069" y="17806"/>
                  <a:pt x="123069" y="24614"/>
                </a:cubicBezTo>
                <a:lnTo>
                  <a:pt x="123069" y="49227"/>
                </a:lnTo>
                <a:cubicBezTo>
                  <a:pt x="123069" y="56035"/>
                  <a:pt x="117569" y="61534"/>
                  <a:pt x="110762" y="61534"/>
                </a:cubicBezTo>
                <a:lnTo>
                  <a:pt x="107685" y="61534"/>
                </a:lnTo>
                <a:lnTo>
                  <a:pt x="107685" y="86148"/>
                </a:lnTo>
                <a:lnTo>
                  <a:pt x="153836" y="86148"/>
                </a:lnTo>
                <a:cubicBezTo>
                  <a:pt x="169142" y="86148"/>
                  <a:pt x="181526" y="98532"/>
                  <a:pt x="181526" y="113838"/>
                </a:cubicBezTo>
                <a:lnTo>
                  <a:pt x="181526" y="135376"/>
                </a:lnTo>
                <a:lnTo>
                  <a:pt x="184603" y="135376"/>
                </a:lnTo>
                <a:cubicBezTo>
                  <a:pt x="191410" y="135376"/>
                  <a:pt x="196910" y="140875"/>
                  <a:pt x="196910" y="147682"/>
                </a:cubicBezTo>
                <a:lnTo>
                  <a:pt x="196910" y="172296"/>
                </a:lnTo>
                <a:cubicBezTo>
                  <a:pt x="196910" y="179103"/>
                  <a:pt x="191410" y="184603"/>
                  <a:pt x="184603" y="184603"/>
                </a:cubicBezTo>
                <a:lnTo>
                  <a:pt x="159989" y="184603"/>
                </a:lnTo>
                <a:cubicBezTo>
                  <a:pt x="153182" y="184603"/>
                  <a:pt x="147682" y="179103"/>
                  <a:pt x="147682" y="172296"/>
                </a:cubicBezTo>
                <a:lnTo>
                  <a:pt x="147682" y="147682"/>
                </a:lnTo>
                <a:cubicBezTo>
                  <a:pt x="147682" y="140875"/>
                  <a:pt x="153182" y="135376"/>
                  <a:pt x="159989" y="135376"/>
                </a:cubicBezTo>
                <a:lnTo>
                  <a:pt x="163066" y="135376"/>
                </a:lnTo>
                <a:lnTo>
                  <a:pt x="163066" y="113838"/>
                </a:lnTo>
                <a:cubicBezTo>
                  <a:pt x="163066" y="108723"/>
                  <a:pt x="158951" y="104608"/>
                  <a:pt x="153836" y="104608"/>
                </a:cubicBezTo>
                <a:lnTo>
                  <a:pt x="107685" y="104608"/>
                </a:lnTo>
                <a:lnTo>
                  <a:pt x="107685" y="135376"/>
                </a:lnTo>
                <a:lnTo>
                  <a:pt x="110762" y="135376"/>
                </a:lnTo>
                <a:cubicBezTo>
                  <a:pt x="117569" y="135376"/>
                  <a:pt x="123069" y="140875"/>
                  <a:pt x="123069" y="147682"/>
                </a:cubicBezTo>
                <a:lnTo>
                  <a:pt x="123069" y="172296"/>
                </a:lnTo>
                <a:cubicBezTo>
                  <a:pt x="123069" y="179103"/>
                  <a:pt x="117569" y="184603"/>
                  <a:pt x="110762" y="184603"/>
                </a:cubicBezTo>
                <a:lnTo>
                  <a:pt x="86148" y="184603"/>
                </a:lnTo>
                <a:cubicBezTo>
                  <a:pt x="79341" y="184603"/>
                  <a:pt x="73841" y="179103"/>
                  <a:pt x="73841" y="172296"/>
                </a:cubicBezTo>
                <a:lnTo>
                  <a:pt x="73841" y="147682"/>
                </a:lnTo>
                <a:cubicBezTo>
                  <a:pt x="73841" y="140875"/>
                  <a:pt x="79341" y="135376"/>
                  <a:pt x="86148" y="135376"/>
                </a:cubicBezTo>
                <a:lnTo>
                  <a:pt x="89225" y="135376"/>
                </a:lnTo>
                <a:lnTo>
                  <a:pt x="89225" y="104608"/>
                </a:lnTo>
                <a:lnTo>
                  <a:pt x="43074" y="104608"/>
                </a:lnTo>
                <a:cubicBezTo>
                  <a:pt x="37959" y="104608"/>
                  <a:pt x="33844" y="108723"/>
                  <a:pt x="33844" y="113838"/>
                </a:cubicBezTo>
                <a:lnTo>
                  <a:pt x="33844" y="135376"/>
                </a:lnTo>
                <a:lnTo>
                  <a:pt x="36921" y="135376"/>
                </a:lnTo>
                <a:cubicBezTo>
                  <a:pt x="43728" y="135376"/>
                  <a:pt x="49227" y="140875"/>
                  <a:pt x="49227" y="147682"/>
                </a:cubicBezTo>
                <a:lnTo>
                  <a:pt x="49227" y="172296"/>
                </a:lnTo>
                <a:cubicBezTo>
                  <a:pt x="49227" y="179103"/>
                  <a:pt x="43728" y="184603"/>
                  <a:pt x="36921" y="184603"/>
                </a:cubicBezTo>
                <a:lnTo>
                  <a:pt x="12307" y="184603"/>
                </a:lnTo>
                <a:cubicBezTo>
                  <a:pt x="5500" y="184603"/>
                  <a:pt x="0" y="179103"/>
                  <a:pt x="0" y="172296"/>
                </a:cubicBezTo>
                <a:lnTo>
                  <a:pt x="0" y="147682"/>
                </a:lnTo>
                <a:cubicBezTo>
                  <a:pt x="0" y="140875"/>
                  <a:pt x="5500" y="135376"/>
                  <a:pt x="12307" y="135376"/>
                </a:cubicBezTo>
                <a:lnTo>
                  <a:pt x="15384" y="135376"/>
                </a:lnTo>
                <a:lnTo>
                  <a:pt x="15384" y="113838"/>
                </a:lnTo>
                <a:cubicBezTo>
                  <a:pt x="15384" y="98532"/>
                  <a:pt x="27767" y="86148"/>
                  <a:pt x="43074" y="86148"/>
                </a:cubicBezTo>
                <a:lnTo>
                  <a:pt x="89225" y="86148"/>
                </a:lnTo>
                <a:lnTo>
                  <a:pt x="89225" y="61534"/>
                </a:lnTo>
                <a:lnTo>
                  <a:pt x="86148" y="61534"/>
                </a:lnTo>
                <a:cubicBezTo>
                  <a:pt x="79341" y="61534"/>
                  <a:pt x="73841" y="56035"/>
                  <a:pt x="73841" y="49227"/>
                </a:cubicBezTo>
                <a:lnTo>
                  <a:pt x="73841" y="2461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0458" y="328183"/>
            <a:ext cx="4717631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 • TOPIC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0458" y="525093"/>
            <a:ext cx="4799677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of an Agent: How It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465" y="1119104"/>
            <a:ext cx="6799953" cy="3034052"/>
          </a:xfrm>
          <a:custGeom>
            <a:avLst/>
            <a:gdLst/>
            <a:ahLst/>
            <a:cxnLst/>
            <a:rect l="l" t="t" r="r" b="b"/>
            <a:pathLst>
              <a:path w="6799953" h="3034052">
                <a:moveTo>
                  <a:pt x="98455" y="0"/>
                </a:moveTo>
                <a:lnTo>
                  <a:pt x="6701498" y="0"/>
                </a:lnTo>
                <a:cubicBezTo>
                  <a:pt x="6755873" y="0"/>
                  <a:pt x="6799953" y="44080"/>
                  <a:pt x="6799953" y="98455"/>
                </a:cubicBezTo>
                <a:lnTo>
                  <a:pt x="6799953" y="2935597"/>
                </a:lnTo>
                <a:cubicBezTo>
                  <a:pt x="6799953" y="2989972"/>
                  <a:pt x="6755873" y="3034052"/>
                  <a:pt x="6701498" y="3034052"/>
                </a:cubicBezTo>
                <a:lnTo>
                  <a:pt x="98455" y="3034052"/>
                </a:lnTo>
                <a:cubicBezTo>
                  <a:pt x="44080" y="3034052"/>
                  <a:pt x="0" y="2989972"/>
                  <a:pt x="0" y="2935597"/>
                </a:cubicBezTo>
                <a:lnTo>
                  <a:pt x="0" y="98455"/>
                </a:lnTo>
                <a:cubicBezTo>
                  <a:pt x="0" y="44080"/>
                  <a:pt x="44080" y="0"/>
                  <a:pt x="9845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1657" y="1319302"/>
            <a:ext cx="6498024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PEAS Framework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1657" y="1713010"/>
            <a:ext cx="6473410" cy="237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engineers use the </a:t>
            </a:r>
            <a:r>
              <a:rPr lang="en-US" sz="116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PEAS framework</a:t>
            </a:r>
            <a:r>
              <a:rPr lang="en-US" sz="116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design intelligent agents. PEAS stands for: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066" y="2084267"/>
            <a:ext cx="3134148" cy="886094"/>
          </a:xfrm>
          <a:custGeom>
            <a:avLst/>
            <a:gdLst/>
            <a:ahLst/>
            <a:cxnLst/>
            <a:rect l="l" t="t" r="r" b="b"/>
            <a:pathLst>
              <a:path w="3134148" h="886094">
                <a:moveTo>
                  <a:pt x="32818" y="0"/>
                </a:moveTo>
                <a:lnTo>
                  <a:pt x="3068515" y="0"/>
                </a:lnTo>
                <a:cubicBezTo>
                  <a:pt x="3104763" y="0"/>
                  <a:pt x="3134148" y="29385"/>
                  <a:pt x="3134148" y="65633"/>
                </a:cubicBezTo>
                <a:lnTo>
                  <a:pt x="3134148" y="820461"/>
                </a:lnTo>
                <a:cubicBezTo>
                  <a:pt x="3134148" y="856709"/>
                  <a:pt x="3104763" y="886094"/>
                  <a:pt x="3068515" y="886094"/>
                </a:cubicBezTo>
                <a:lnTo>
                  <a:pt x="32818" y="886094"/>
                </a:lnTo>
                <a:cubicBezTo>
                  <a:pt x="14693" y="886094"/>
                  <a:pt x="0" y="871401"/>
                  <a:pt x="0" y="853276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066" y="2084267"/>
            <a:ext cx="32818" cy="886094"/>
          </a:xfrm>
          <a:custGeom>
            <a:avLst/>
            <a:gdLst/>
            <a:ahLst/>
            <a:cxnLst/>
            <a:rect l="l" t="t" r="r" b="b"/>
            <a:pathLst>
              <a:path w="32818" h="886094">
                <a:moveTo>
                  <a:pt x="32818" y="0"/>
                </a:moveTo>
                <a:lnTo>
                  <a:pt x="32818" y="0"/>
                </a:lnTo>
                <a:lnTo>
                  <a:pt x="32818" y="886094"/>
                </a:lnTo>
                <a:lnTo>
                  <a:pt x="32818" y="886094"/>
                </a:lnTo>
                <a:cubicBezTo>
                  <a:pt x="14693" y="886094"/>
                  <a:pt x="0" y="871401"/>
                  <a:pt x="0" y="853276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95748" y="2215540"/>
            <a:ext cx="2937238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748" y="2478086"/>
            <a:ext cx="292082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5748" y="2674996"/>
            <a:ext cx="29126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we measure success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95950" y="2084267"/>
            <a:ext cx="3134148" cy="886094"/>
          </a:xfrm>
          <a:custGeom>
            <a:avLst/>
            <a:gdLst/>
            <a:ahLst/>
            <a:cxnLst/>
            <a:rect l="l" t="t" r="r" b="b"/>
            <a:pathLst>
              <a:path w="3134148" h="886094">
                <a:moveTo>
                  <a:pt x="32818" y="0"/>
                </a:moveTo>
                <a:lnTo>
                  <a:pt x="3068515" y="0"/>
                </a:lnTo>
                <a:cubicBezTo>
                  <a:pt x="3104763" y="0"/>
                  <a:pt x="3134148" y="29385"/>
                  <a:pt x="3134148" y="65633"/>
                </a:cubicBezTo>
                <a:lnTo>
                  <a:pt x="3134148" y="820461"/>
                </a:lnTo>
                <a:cubicBezTo>
                  <a:pt x="3134148" y="856709"/>
                  <a:pt x="3104763" y="886094"/>
                  <a:pt x="3068515" y="886094"/>
                </a:cubicBezTo>
                <a:lnTo>
                  <a:pt x="32818" y="886094"/>
                </a:lnTo>
                <a:cubicBezTo>
                  <a:pt x="14693" y="886094"/>
                  <a:pt x="0" y="871401"/>
                  <a:pt x="0" y="853276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5" name="Shape 13"/>
          <p:cNvSpPr/>
          <p:nvPr/>
        </p:nvSpPr>
        <p:spPr>
          <a:xfrm>
            <a:off x="3795950" y="2084267"/>
            <a:ext cx="32818" cy="886094"/>
          </a:xfrm>
          <a:custGeom>
            <a:avLst/>
            <a:gdLst/>
            <a:ahLst/>
            <a:cxnLst/>
            <a:rect l="l" t="t" r="r" b="b"/>
            <a:pathLst>
              <a:path w="32818" h="886094">
                <a:moveTo>
                  <a:pt x="32818" y="0"/>
                </a:moveTo>
                <a:lnTo>
                  <a:pt x="32818" y="0"/>
                </a:lnTo>
                <a:lnTo>
                  <a:pt x="32818" y="886094"/>
                </a:lnTo>
                <a:lnTo>
                  <a:pt x="32818" y="886094"/>
                </a:lnTo>
                <a:cubicBezTo>
                  <a:pt x="14693" y="886094"/>
                  <a:pt x="0" y="871401"/>
                  <a:pt x="0" y="853276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943632" y="2215540"/>
            <a:ext cx="2937238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43632" y="2478086"/>
            <a:ext cx="292082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43632" y="2674996"/>
            <a:ext cx="29126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the agent operates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066" y="3068816"/>
            <a:ext cx="3134148" cy="886094"/>
          </a:xfrm>
          <a:custGeom>
            <a:avLst/>
            <a:gdLst/>
            <a:ahLst/>
            <a:cxnLst/>
            <a:rect l="l" t="t" r="r" b="b"/>
            <a:pathLst>
              <a:path w="3134148" h="886094">
                <a:moveTo>
                  <a:pt x="32818" y="0"/>
                </a:moveTo>
                <a:lnTo>
                  <a:pt x="3068515" y="0"/>
                </a:lnTo>
                <a:cubicBezTo>
                  <a:pt x="3104763" y="0"/>
                  <a:pt x="3134148" y="29385"/>
                  <a:pt x="3134148" y="65633"/>
                </a:cubicBezTo>
                <a:lnTo>
                  <a:pt x="3134148" y="820461"/>
                </a:lnTo>
                <a:cubicBezTo>
                  <a:pt x="3134148" y="856709"/>
                  <a:pt x="3104763" y="886094"/>
                  <a:pt x="3068515" y="886094"/>
                </a:cubicBezTo>
                <a:lnTo>
                  <a:pt x="32818" y="886094"/>
                </a:lnTo>
                <a:cubicBezTo>
                  <a:pt x="14693" y="886094"/>
                  <a:pt x="0" y="871401"/>
                  <a:pt x="0" y="853276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066" y="3068816"/>
            <a:ext cx="32818" cy="886094"/>
          </a:xfrm>
          <a:custGeom>
            <a:avLst/>
            <a:gdLst/>
            <a:ahLst/>
            <a:cxnLst/>
            <a:rect l="l" t="t" r="r" b="b"/>
            <a:pathLst>
              <a:path w="32818" h="886094">
                <a:moveTo>
                  <a:pt x="32818" y="0"/>
                </a:moveTo>
                <a:lnTo>
                  <a:pt x="32818" y="0"/>
                </a:lnTo>
                <a:lnTo>
                  <a:pt x="32818" y="886094"/>
                </a:lnTo>
                <a:lnTo>
                  <a:pt x="32818" y="886094"/>
                </a:lnTo>
                <a:cubicBezTo>
                  <a:pt x="14693" y="886094"/>
                  <a:pt x="0" y="871401"/>
                  <a:pt x="0" y="853276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5748" y="3200089"/>
            <a:ext cx="2937238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5748" y="3462636"/>
            <a:ext cx="292082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5748" y="3659545"/>
            <a:ext cx="29126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actions it can take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95950" y="3068816"/>
            <a:ext cx="3134148" cy="886094"/>
          </a:xfrm>
          <a:custGeom>
            <a:avLst/>
            <a:gdLst/>
            <a:ahLst/>
            <a:cxnLst/>
            <a:rect l="l" t="t" r="r" b="b"/>
            <a:pathLst>
              <a:path w="3134148" h="886094">
                <a:moveTo>
                  <a:pt x="32818" y="0"/>
                </a:moveTo>
                <a:lnTo>
                  <a:pt x="3068515" y="0"/>
                </a:lnTo>
                <a:cubicBezTo>
                  <a:pt x="3104763" y="0"/>
                  <a:pt x="3134148" y="29385"/>
                  <a:pt x="3134148" y="65633"/>
                </a:cubicBezTo>
                <a:lnTo>
                  <a:pt x="3134148" y="820461"/>
                </a:lnTo>
                <a:cubicBezTo>
                  <a:pt x="3134148" y="856709"/>
                  <a:pt x="3104763" y="886094"/>
                  <a:pt x="3068515" y="886094"/>
                </a:cubicBezTo>
                <a:lnTo>
                  <a:pt x="32818" y="886094"/>
                </a:lnTo>
                <a:cubicBezTo>
                  <a:pt x="14693" y="886094"/>
                  <a:pt x="0" y="871401"/>
                  <a:pt x="0" y="853276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5" name="Shape 23"/>
          <p:cNvSpPr/>
          <p:nvPr/>
        </p:nvSpPr>
        <p:spPr>
          <a:xfrm>
            <a:off x="3795950" y="3068816"/>
            <a:ext cx="32818" cy="886094"/>
          </a:xfrm>
          <a:custGeom>
            <a:avLst/>
            <a:gdLst/>
            <a:ahLst/>
            <a:cxnLst/>
            <a:rect l="l" t="t" r="r" b="b"/>
            <a:pathLst>
              <a:path w="32818" h="886094">
                <a:moveTo>
                  <a:pt x="32818" y="0"/>
                </a:moveTo>
                <a:lnTo>
                  <a:pt x="32818" y="0"/>
                </a:lnTo>
                <a:lnTo>
                  <a:pt x="32818" y="886094"/>
                </a:lnTo>
                <a:lnTo>
                  <a:pt x="32818" y="886094"/>
                </a:lnTo>
                <a:cubicBezTo>
                  <a:pt x="14693" y="886094"/>
                  <a:pt x="0" y="871401"/>
                  <a:pt x="0" y="853276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3943632" y="3200089"/>
            <a:ext cx="2937238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43632" y="3462636"/>
            <a:ext cx="292082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43632" y="3659545"/>
            <a:ext cx="29126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perceives the world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1465" y="4292945"/>
            <a:ext cx="6799953" cy="2558187"/>
          </a:xfrm>
          <a:custGeom>
            <a:avLst/>
            <a:gdLst/>
            <a:ahLst/>
            <a:cxnLst/>
            <a:rect l="l" t="t" r="r" b="b"/>
            <a:pathLst>
              <a:path w="6799953" h="2558187">
                <a:moveTo>
                  <a:pt x="98465" y="0"/>
                </a:moveTo>
                <a:lnTo>
                  <a:pt x="6701488" y="0"/>
                </a:lnTo>
                <a:cubicBezTo>
                  <a:pt x="6755869" y="0"/>
                  <a:pt x="6799953" y="44084"/>
                  <a:pt x="6799953" y="98465"/>
                </a:cubicBezTo>
                <a:lnTo>
                  <a:pt x="6799953" y="2459722"/>
                </a:lnTo>
                <a:cubicBezTo>
                  <a:pt x="6799953" y="2514103"/>
                  <a:pt x="6755869" y="2558187"/>
                  <a:pt x="6701488" y="2558187"/>
                </a:cubicBezTo>
                <a:lnTo>
                  <a:pt x="98465" y="2558187"/>
                </a:lnTo>
                <a:cubicBezTo>
                  <a:pt x="44084" y="2558187"/>
                  <a:pt x="0" y="2514103"/>
                  <a:pt x="0" y="2459722"/>
                </a:cubicBezTo>
                <a:lnTo>
                  <a:pt x="0" y="98465"/>
                </a:lnTo>
                <a:cubicBezTo>
                  <a:pt x="0" y="44121"/>
                  <a:pt x="44121" y="0"/>
                  <a:pt x="9846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1657" y="4493143"/>
            <a:ext cx="6498024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Self-Driving Taxi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1657" y="4886851"/>
            <a:ext cx="6399569" cy="1763984"/>
          </a:xfrm>
          <a:custGeom>
            <a:avLst/>
            <a:gdLst/>
            <a:ahLst/>
            <a:cxnLst/>
            <a:rect l="l" t="t" r="r" b="b"/>
            <a:pathLst>
              <a:path w="6399569" h="1763984">
                <a:moveTo>
                  <a:pt x="65638" y="0"/>
                </a:moveTo>
                <a:lnTo>
                  <a:pt x="6333931" y="0"/>
                </a:lnTo>
                <a:cubicBezTo>
                  <a:pt x="6370182" y="0"/>
                  <a:pt x="6399569" y="29387"/>
                  <a:pt x="6399569" y="65638"/>
                </a:cubicBezTo>
                <a:lnTo>
                  <a:pt x="6399569" y="1698346"/>
                </a:lnTo>
                <a:cubicBezTo>
                  <a:pt x="6399569" y="1734597"/>
                  <a:pt x="6370182" y="1763984"/>
                  <a:pt x="6333931" y="1763984"/>
                </a:cubicBezTo>
                <a:lnTo>
                  <a:pt x="65638" y="1763984"/>
                </a:lnTo>
                <a:cubicBezTo>
                  <a:pt x="29387" y="1763984"/>
                  <a:pt x="0" y="1734597"/>
                  <a:pt x="0" y="1698346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30" y="5018124"/>
          <a:ext cx="6137023" cy="1501435"/>
        </p:xfrm>
        <a:graphic>
          <a:graphicData uri="http://schemas.openxmlformats.org/drawingml/2006/table">
            <a:tbl>
              <a:tblPr/>
              <a:tblGrid>
                <a:gridCol w="1591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287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Component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Description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87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FEFE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Performance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Safety, speed, comfort, profits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87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FEFE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Environment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Roads, traffic, pedestrians, weather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287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FEFE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Actuators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Steering, accelerator, brake, horn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287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FEFE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Sensors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8F8F8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Cameras, GPS, radar, accelerometers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7332635" y="1119104"/>
            <a:ext cx="4527285" cy="5733358"/>
          </a:xfrm>
          <a:custGeom>
            <a:avLst/>
            <a:gdLst/>
            <a:ahLst/>
            <a:cxnLst/>
            <a:rect l="l" t="t" r="r" b="b"/>
            <a:pathLst>
              <a:path w="4527285" h="5733358">
                <a:moveTo>
                  <a:pt x="98468" y="0"/>
                </a:moveTo>
                <a:lnTo>
                  <a:pt x="4428817" y="0"/>
                </a:lnTo>
                <a:cubicBezTo>
                  <a:pt x="4483199" y="0"/>
                  <a:pt x="4527285" y="44086"/>
                  <a:pt x="4527285" y="98468"/>
                </a:cubicBezTo>
                <a:lnTo>
                  <a:pt x="4527285" y="5634889"/>
                </a:lnTo>
                <a:cubicBezTo>
                  <a:pt x="4527285" y="5689272"/>
                  <a:pt x="4483199" y="5733358"/>
                  <a:pt x="4428817" y="5733358"/>
                </a:cubicBezTo>
                <a:lnTo>
                  <a:pt x="98468" y="5733358"/>
                </a:lnTo>
                <a:cubicBezTo>
                  <a:pt x="44086" y="5733358"/>
                  <a:pt x="0" y="5689272"/>
                  <a:pt x="0" y="5634889"/>
                </a:cubicBezTo>
                <a:lnTo>
                  <a:pt x="0" y="98468"/>
                </a:lnTo>
                <a:cubicBezTo>
                  <a:pt x="0" y="44122"/>
                  <a:pt x="44122" y="0"/>
                  <a:pt x="9846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00008" y="1286484"/>
            <a:ext cx="4290993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Examples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500008" y="1680191"/>
            <a:ext cx="4192538" cy="1279914"/>
          </a:xfrm>
          <a:custGeom>
            <a:avLst/>
            <a:gdLst/>
            <a:ahLst/>
            <a:cxnLst/>
            <a:rect l="l" t="t" r="r" b="b"/>
            <a:pathLst>
              <a:path w="4192538" h="1279914">
                <a:moveTo>
                  <a:pt x="65634" y="0"/>
                </a:moveTo>
                <a:lnTo>
                  <a:pt x="4126904" y="0"/>
                </a:lnTo>
                <a:cubicBezTo>
                  <a:pt x="4163153" y="0"/>
                  <a:pt x="4192538" y="29385"/>
                  <a:pt x="4192538" y="65634"/>
                </a:cubicBezTo>
                <a:lnTo>
                  <a:pt x="4192538" y="1214280"/>
                </a:lnTo>
                <a:cubicBezTo>
                  <a:pt x="4192538" y="1250504"/>
                  <a:pt x="4163129" y="1279914"/>
                  <a:pt x="4126904" y="1279914"/>
                </a:cubicBezTo>
                <a:lnTo>
                  <a:pt x="65634" y="1279914"/>
                </a:lnTo>
                <a:cubicBezTo>
                  <a:pt x="29385" y="1279914"/>
                  <a:pt x="0" y="1250529"/>
                  <a:pt x="0" y="1214280"/>
                </a:cubicBezTo>
                <a:lnTo>
                  <a:pt x="0" y="65634"/>
                </a:lnTo>
                <a:cubicBezTo>
                  <a:pt x="0" y="29410"/>
                  <a:pt x="29410" y="0"/>
                  <a:pt x="6563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Text 33"/>
          <p:cNvSpPr/>
          <p:nvPr/>
        </p:nvSpPr>
        <p:spPr>
          <a:xfrm>
            <a:off x="7631281" y="1811465"/>
            <a:ext cx="399562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Diagnosis System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631281" y="2074011"/>
            <a:ext cx="39874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P:</a:t>
            </a: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Healthy patients, low costs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631281" y="2270921"/>
            <a:ext cx="39874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E:</a:t>
            </a: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Patients, hospital, symptoms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631281" y="2467831"/>
            <a:ext cx="39874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A:</a:t>
            </a: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 diagnosis, treatments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631281" y="2664741"/>
            <a:ext cx="39874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S:</a:t>
            </a: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Patient data, test results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500008" y="3058560"/>
            <a:ext cx="4192538" cy="1279914"/>
          </a:xfrm>
          <a:custGeom>
            <a:avLst/>
            <a:gdLst/>
            <a:ahLst/>
            <a:cxnLst/>
            <a:rect l="l" t="t" r="r" b="b"/>
            <a:pathLst>
              <a:path w="4192538" h="1279914">
                <a:moveTo>
                  <a:pt x="65634" y="0"/>
                </a:moveTo>
                <a:lnTo>
                  <a:pt x="4126904" y="0"/>
                </a:lnTo>
                <a:cubicBezTo>
                  <a:pt x="4163153" y="0"/>
                  <a:pt x="4192538" y="29385"/>
                  <a:pt x="4192538" y="65634"/>
                </a:cubicBezTo>
                <a:lnTo>
                  <a:pt x="4192538" y="1214280"/>
                </a:lnTo>
                <a:cubicBezTo>
                  <a:pt x="4192538" y="1250504"/>
                  <a:pt x="4163129" y="1279914"/>
                  <a:pt x="4126904" y="1279914"/>
                </a:cubicBezTo>
                <a:lnTo>
                  <a:pt x="65634" y="1279914"/>
                </a:lnTo>
                <a:cubicBezTo>
                  <a:pt x="29385" y="1279914"/>
                  <a:pt x="0" y="1250529"/>
                  <a:pt x="0" y="1214280"/>
                </a:cubicBezTo>
                <a:lnTo>
                  <a:pt x="0" y="65634"/>
                </a:lnTo>
                <a:cubicBezTo>
                  <a:pt x="0" y="29410"/>
                  <a:pt x="29410" y="0"/>
                  <a:pt x="6563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2" name="Text 39"/>
          <p:cNvSpPr/>
          <p:nvPr/>
        </p:nvSpPr>
        <p:spPr>
          <a:xfrm>
            <a:off x="7631281" y="3189833"/>
            <a:ext cx="399562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Chess Playing Agent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631281" y="3452380"/>
            <a:ext cx="39874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P:</a:t>
            </a: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Win games, learn strategies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631281" y="3649290"/>
            <a:ext cx="39874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E:</a:t>
            </a: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Chess board, opponent moves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631281" y="3846199"/>
            <a:ext cx="39874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A:</a:t>
            </a: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Move chess pieces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631281" y="4043109"/>
            <a:ext cx="398742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S:</a:t>
            </a:r>
            <a:r>
              <a:rPr lang="en-US" sz="90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Board position, game state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503290" y="4341756"/>
            <a:ext cx="4190897" cy="662930"/>
          </a:xfrm>
          <a:custGeom>
            <a:avLst/>
            <a:gdLst/>
            <a:ahLst/>
            <a:cxnLst/>
            <a:rect l="l" t="t" r="r" b="b"/>
            <a:pathLst>
              <a:path w="4190897" h="662930">
                <a:moveTo>
                  <a:pt x="65637" y="0"/>
                </a:moveTo>
                <a:lnTo>
                  <a:pt x="4125261" y="0"/>
                </a:lnTo>
                <a:cubicBezTo>
                  <a:pt x="4161511" y="0"/>
                  <a:pt x="4190897" y="29387"/>
                  <a:pt x="4190897" y="65637"/>
                </a:cubicBezTo>
                <a:lnTo>
                  <a:pt x="4190897" y="597293"/>
                </a:lnTo>
                <a:cubicBezTo>
                  <a:pt x="4190897" y="633543"/>
                  <a:pt x="4161511" y="662930"/>
                  <a:pt x="4125261" y="662930"/>
                </a:cubicBezTo>
                <a:lnTo>
                  <a:pt x="65637" y="662930"/>
                </a:lnTo>
                <a:cubicBezTo>
                  <a:pt x="29411" y="662930"/>
                  <a:pt x="0" y="633519"/>
                  <a:pt x="0" y="597293"/>
                </a:cubicBezTo>
                <a:lnTo>
                  <a:pt x="0" y="65637"/>
                </a:lnTo>
                <a:cubicBezTo>
                  <a:pt x="0" y="29387"/>
                  <a:pt x="29387" y="0"/>
                  <a:pt x="65637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37845" y="4476317"/>
            <a:ext cx="3987424" cy="39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PEAS Matters:</a:t>
            </a:r>
            <a:r>
              <a:rPr lang="en-US" sz="103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It helps engineers clearly define what the agent needs to do, where it operates, and how it interacts with the world.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8938" y="476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93750" y="317500"/>
            <a:ext cx="669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 • TOPIC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508000"/>
            <a:ext cx="67706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Should Agents Act? Rationality vs. Omniscience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082675"/>
            <a:ext cx="6816725" cy="2911475"/>
          </a:xfrm>
          <a:custGeom>
            <a:avLst/>
            <a:gdLst/>
            <a:ahLst/>
            <a:cxnLst/>
            <a:rect l="l" t="t" r="r" b="b"/>
            <a:pathLst>
              <a:path w="6816725" h="2911475">
                <a:moveTo>
                  <a:pt x="95263" y="0"/>
                </a:moveTo>
                <a:lnTo>
                  <a:pt x="6721462" y="0"/>
                </a:lnTo>
                <a:cubicBezTo>
                  <a:pt x="6774074" y="0"/>
                  <a:pt x="6816725" y="42651"/>
                  <a:pt x="6816725" y="95263"/>
                </a:cubicBezTo>
                <a:lnTo>
                  <a:pt x="6816725" y="2816212"/>
                </a:lnTo>
                <a:cubicBezTo>
                  <a:pt x="6816725" y="2868824"/>
                  <a:pt x="6774074" y="2911475"/>
                  <a:pt x="6721462" y="2911475"/>
                </a:cubicBezTo>
                <a:lnTo>
                  <a:pt x="95263" y="2911475"/>
                </a:lnTo>
                <a:cubicBezTo>
                  <a:pt x="42651" y="2911475"/>
                  <a:pt x="0" y="2868824"/>
                  <a:pt x="0" y="2816212"/>
                </a:cubicBezTo>
                <a:lnTo>
                  <a:pt x="0" y="95263"/>
                </a:lnTo>
                <a:cubicBezTo>
                  <a:pt x="0" y="42651"/>
                  <a:pt x="42651" y="0"/>
                  <a:pt x="9526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1276356"/>
            <a:ext cx="652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Rationality: Making the Best Choice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4350" y="1657248"/>
            <a:ext cx="6500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r>
              <a:rPr lang="en-US" sz="1125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rational agent</a:t>
            </a: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makes the best possible decision based on what it knows, what it can do, and what it wants to achieve. It's not about being perfect - it's about being optimal!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225" y="2248591"/>
            <a:ext cx="6413500" cy="1555750"/>
          </a:xfrm>
          <a:custGeom>
            <a:avLst/>
            <a:gdLst/>
            <a:ahLst/>
            <a:cxnLst/>
            <a:rect l="l" t="t" r="r" b="b"/>
            <a:pathLst>
              <a:path w="6413500" h="1555750">
                <a:moveTo>
                  <a:pt x="31750" y="0"/>
                </a:moveTo>
                <a:lnTo>
                  <a:pt x="6349994" y="0"/>
                </a:lnTo>
                <a:cubicBezTo>
                  <a:pt x="6385068" y="0"/>
                  <a:pt x="6413500" y="28432"/>
                  <a:pt x="6413500" y="63506"/>
                </a:cubicBezTo>
                <a:lnTo>
                  <a:pt x="6413500" y="1492244"/>
                </a:lnTo>
                <a:cubicBezTo>
                  <a:pt x="6413500" y="1527318"/>
                  <a:pt x="6385068" y="1555750"/>
                  <a:pt x="6349994" y="1555750"/>
                </a:cubicBezTo>
                <a:lnTo>
                  <a:pt x="31750" y="1555750"/>
                </a:lnTo>
                <a:cubicBezTo>
                  <a:pt x="14215" y="1555750"/>
                  <a:pt x="0" y="1541535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30225" y="2248591"/>
            <a:ext cx="31750" cy="1555750"/>
          </a:xfrm>
          <a:custGeom>
            <a:avLst/>
            <a:gdLst/>
            <a:ahLst/>
            <a:cxnLst/>
            <a:rect l="l" t="t" r="r" b="b"/>
            <a:pathLst>
              <a:path w="31750" h="1555750">
                <a:moveTo>
                  <a:pt x="31750" y="0"/>
                </a:moveTo>
                <a:lnTo>
                  <a:pt x="31750" y="0"/>
                </a:lnTo>
                <a:lnTo>
                  <a:pt x="31750" y="1555750"/>
                </a:lnTo>
                <a:lnTo>
                  <a:pt x="31750" y="1555750"/>
                </a:lnTo>
                <a:cubicBezTo>
                  <a:pt x="14227" y="1555750"/>
                  <a:pt x="0" y="1541523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04850" y="2407341"/>
            <a:ext cx="141575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Rationality Means: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850" y="2693091"/>
            <a:ext cx="6143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 the best with available information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all possible actions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the action most likely to succeed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from experience to improve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675" y="4131373"/>
            <a:ext cx="6816725" cy="2681287"/>
          </a:xfrm>
          <a:custGeom>
            <a:avLst/>
            <a:gdLst/>
            <a:ahLst/>
            <a:cxnLst/>
            <a:rect l="l" t="t" r="r" b="b"/>
            <a:pathLst>
              <a:path w="6816725" h="2681287">
                <a:moveTo>
                  <a:pt x="95239" y="0"/>
                </a:moveTo>
                <a:lnTo>
                  <a:pt x="6721486" y="0"/>
                </a:lnTo>
                <a:cubicBezTo>
                  <a:pt x="6774085" y="0"/>
                  <a:pt x="6816725" y="42640"/>
                  <a:pt x="6816725" y="95239"/>
                </a:cubicBezTo>
                <a:lnTo>
                  <a:pt x="6816725" y="2586048"/>
                </a:lnTo>
                <a:cubicBezTo>
                  <a:pt x="6816725" y="2638647"/>
                  <a:pt x="6774085" y="2681288"/>
                  <a:pt x="6721486" y="2681287"/>
                </a:cubicBezTo>
                <a:lnTo>
                  <a:pt x="95239" y="2681287"/>
                </a:lnTo>
                <a:cubicBezTo>
                  <a:pt x="42640" y="2681287"/>
                  <a:pt x="0" y="2638647"/>
                  <a:pt x="0" y="2586048"/>
                </a:cubicBezTo>
                <a:lnTo>
                  <a:pt x="0" y="95239"/>
                </a:lnTo>
                <a:cubicBezTo>
                  <a:pt x="0" y="42675"/>
                  <a:pt x="42675" y="0"/>
                  <a:pt x="9523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350" y="4325054"/>
            <a:ext cx="652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Omniscience: Knowing Everything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4350" y="4705945"/>
            <a:ext cx="6500813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Omniscience</a:t>
            </a: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means knowing everything - past, present, and future. This is </a:t>
            </a:r>
            <a:r>
              <a:rPr lang="en-US" sz="1125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impossible</a:t>
            </a: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 real world!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225" y="5065117"/>
            <a:ext cx="6413500" cy="1555750"/>
          </a:xfrm>
          <a:custGeom>
            <a:avLst/>
            <a:gdLst/>
            <a:ahLst/>
            <a:cxnLst/>
            <a:rect l="l" t="t" r="r" b="b"/>
            <a:pathLst>
              <a:path w="6413500" h="1555750">
                <a:moveTo>
                  <a:pt x="31750" y="0"/>
                </a:moveTo>
                <a:lnTo>
                  <a:pt x="6349994" y="0"/>
                </a:lnTo>
                <a:cubicBezTo>
                  <a:pt x="6385068" y="0"/>
                  <a:pt x="6413500" y="28432"/>
                  <a:pt x="6413500" y="63506"/>
                </a:cubicBezTo>
                <a:lnTo>
                  <a:pt x="6413500" y="1492244"/>
                </a:lnTo>
                <a:cubicBezTo>
                  <a:pt x="6413500" y="1527318"/>
                  <a:pt x="6385068" y="1555750"/>
                  <a:pt x="6349994" y="1555750"/>
                </a:cubicBezTo>
                <a:lnTo>
                  <a:pt x="31750" y="1555750"/>
                </a:lnTo>
                <a:cubicBezTo>
                  <a:pt x="14215" y="1555750"/>
                  <a:pt x="0" y="1541535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225" y="5065117"/>
            <a:ext cx="31750" cy="1555750"/>
          </a:xfrm>
          <a:custGeom>
            <a:avLst/>
            <a:gdLst/>
            <a:ahLst/>
            <a:cxnLst/>
            <a:rect l="l" t="t" r="r" b="b"/>
            <a:pathLst>
              <a:path w="31750" h="1555750">
                <a:moveTo>
                  <a:pt x="31750" y="0"/>
                </a:moveTo>
                <a:lnTo>
                  <a:pt x="31750" y="0"/>
                </a:lnTo>
                <a:lnTo>
                  <a:pt x="31750" y="1555750"/>
                </a:lnTo>
                <a:lnTo>
                  <a:pt x="31750" y="1555750"/>
                </a:lnTo>
                <a:cubicBezTo>
                  <a:pt x="14227" y="1555750"/>
                  <a:pt x="0" y="1541523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04850" y="5223867"/>
            <a:ext cx="1865213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Omniscience is Impossible: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850" y="5509617"/>
            <a:ext cx="6143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world is too complex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is often incomplete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events are unpredictable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Computers have limited resources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31075" y="1082675"/>
            <a:ext cx="4538663" cy="5729288"/>
          </a:xfrm>
          <a:custGeom>
            <a:avLst/>
            <a:gdLst/>
            <a:ahLst/>
            <a:cxnLst/>
            <a:rect l="l" t="t" r="r" b="b"/>
            <a:pathLst>
              <a:path w="4538663" h="5729288">
                <a:moveTo>
                  <a:pt x="95267" y="0"/>
                </a:moveTo>
                <a:lnTo>
                  <a:pt x="4443396" y="0"/>
                </a:lnTo>
                <a:cubicBezTo>
                  <a:pt x="4496010" y="0"/>
                  <a:pt x="4538663" y="42652"/>
                  <a:pt x="4538663" y="95267"/>
                </a:cubicBezTo>
                <a:lnTo>
                  <a:pt x="4538663" y="5634021"/>
                </a:lnTo>
                <a:cubicBezTo>
                  <a:pt x="4538663" y="5686635"/>
                  <a:pt x="4496010" y="5729288"/>
                  <a:pt x="4443396" y="5729288"/>
                </a:cubicBezTo>
                <a:lnTo>
                  <a:pt x="95267" y="5729288"/>
                </a:lnTo>
                <a:cubicBezTo>
                  <a:pt x="42652" y="5729288"/>
                  <a:pt x="0" y="5686635"/>
                  <a:pt x="0" y="5634021"/>
                </a:cubicBezTo>
                <a:lnTo>
                  <a:pt x="0" y="95267"/>
                </a:lnTo>
                <a:cubicBezTo>
                  <a:pt x="0" y="42687"/>
                  <a:pt x="42687" y="0"/>
                  <a:pt x="9526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3000" y="1244606"/>
            <a:ext cx="4310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3000" y="1625498"/>
            <a:ext cx="4214813" cy="2682875"/>
          </a:xfrm>
          <a:custGeom>
            <a:avLst/>
            <a:gdLst/>
            <a:ahLst/>
            <a:cxnLst/>
            <a:rect l="l" t="t" r="r" b="b"/>
            <a:pathLst>
              <a:path w="4214813" h="2682875">
                <a:moveTo>
                  <a:pt x="63504" y="0"/>
                </a:moveTo>
                <a:lnTo>
                  <a:pt x="4151309" y="0"/>
                </a:lnTo>
                <a:cubicBezTo>
                  <a:pt x="4186381" y="0"/>
                  <a:pt x="4214813" y="28432"/>
                  <a:pt x="4214813" y="63504"/>
                </a:cubicBezTo>
                <a:lnTo>
                  <a:pt x="4214813" y="2619371"/>
                </a:lnTo>
                <a:cubicBezTo>
                  <a:pt x="4214813" y="2654443"/>
                  <a:pt x="4186381" y="2682875"/>
                  <a:pt x="4151309" y="2682875"/>
                </a:cubicBezTo>
                <a:lnTo>
                  <a:pt x="63504" y="2682875"/>
                </a:lnTo>
                <a:cubicBezTo>
                  <a:pt x="28432" y="2682875"/>
                  <a:pt x="0" y="2654443"/>
                  <a:pt x="0" y="2619371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23" name="Image 0" descr="https://autovista24.autovistagroup.com/wp-content/uploads/sites/5/2025/01/ces-self-driving-cars-15-2-25-e17369537062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1752498"/>
            <a:ext cx="3960813" cy="1143000"/>
          </a:xfrm>
          <a:prstGeom prst="roundRect">
            <a:avLst>
              <a:gd name="adj" fmla="val 5556"/>
            </a:avLst>
          </a:prstGeom>
        </p:spPr>
      </p:pic>
      <p:sp>
        <p:nvSpPr>
          <p:cNvPr id="24" name="Text 21"/>
          <p:cNvSpPr/>
          <p:nvPr/>
        </p:nvSpPr>
        <p:spPr>
          <a:xfrm>
            <a:off x="7620000" y="2990748"/>
            <a:ext cx="403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GPS Navigation System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20000" y="3276498"/>
            <a:ext cx="4024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GPS is rational, not omniscient: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20000" y="3578123"/>
            <a:ext cx="4016375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5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Rational: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current traffic data to find the best route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5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Omniscient: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Doesn't know about accidents that haven't happened yet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Adapts: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Reroutes when new traffic info becomes available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96175" y="4438548"/>
            <a:ext cx="4213225" cy="831850"/>
          </a:xfrm>
          <a:custGeom>
            <a:avLst/>
            <a:gdLst/>
            <a:ahLst/>
            <a:cxnLst/>
            <a:rect l="l" t="t" r="r" b="b"/>
            <a:pathLst>
              <a:path w="4213225" h="831850">
                <a:moveTo>
                  <a:pt x="63503" y="0"/>
                </a:moveTo>
                <a:lnTo>
                  <a:pt x="4149722" y="0"/>
                </a:lnTo>
                <a:cubicBezTo>
                  <a:pt x="4184770" y="0"/>
                  <a:pt x="4213225" y="28455"/>
                  <a:pt x="4213225" y="63503"/>
                </a:cubicBezTo>
                <a:lnTo>
                  <a:pt x="4213225" y="768347"/>
                </a:lnTo>
                <a:cubicBezTo>
                  <a:pt x="4213225" y="803419"/>
                  <a:pt x="4184794" y="831850"/>
                  <a:pt x="4149722" y="831850"/>
                </a:cubicBezTo>
                <a:lnTo>
                  <a:pt x="63503" y="831850"/>
                </a:lnTo>
                <a:cubicBezTo>
                  <a:pt x="28431" y="831850"/>
                  <a:pt x="0" y="803419"/>
                  <a:pt x="0" y="7683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26350" y="4568729"/>
            <a:ext cx="921841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Difference: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26350" y="4822729"/>
            <a:ext cx="4008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Rationality = Best decision with what you know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Omniscience = Perfect decision with everything known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96175" y="5403760"/>
            <a:ext cx="4213225" cy="831850"/>
          </a:xfrm>
          <a:custGeom>
            <a:avLst/>
            <a:gdLst/>
            <a:ahLst/>
            <a:cxnLst/>
            <a:rect l="l" t="t" r="r" b="b"/>
            <a:pathLst>
              <a:path w="4213225" h="831850">
                <a:moveTo>
                  <a:pt x="63503" y="0"/>
                </a:moveTo>
                <a:lnTo>
                  <a:pt x="4149722" y="0"/>
                </a:lnTo>
                <a:cubicBezTo>
                  <a:pt x="4184770" y="0"/>
                  <a:pt x="4213225" y="28455"/>
                  <a:pt x="4213225" y="63503"/>
                </a:cubicBezTo>
                <a:lnTo>
                  <a:pt x="4213225" y="768347"/>
                </a:lnTo>
                <a:cubicBezTo>
                  <a:pt x="4213225" y="803419"/>
                  <a:pt x="4184794" y="831850"/>
                  <a:pt x="4149722" y="831850"/>
                </a:cubicBezTo>
                <a:lnTo>
                  <a:pt x="63503" y="831850"/>
                </a:lnTo>
                <a:cubicBezTo>
                  <a:pt x="28431" y="831850"/>
                  <a:pt x="0" y="803419"/>
                  <a:pt x="0" y="7683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26350" y="5533926"/>
            <a:ext cx="4016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Rationality is like using a map and weather forecast for a road trip - you plan the best route with available info, but you can't predict every traffic jam!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4656" y="476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93750" y="317500"/>
            <a:ext cx="578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 • TOPIC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508000"/>
            <a:ext cx="58658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Reflex Agents: Reacting to the Present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082675"/>
            <a:ext cx="6816725" cy="2911475"/>
          </a:xfrm>
          <a:custGeom>
            <a:avLst/>
            <a:gdLst/>
            <a:ahLst/>
            <a:cxnLst/>
            <a:rect l="l" t="t" r="r" b="b"/>
            <a:pathLst>
              <a:path w="6816725" h="2911475">
                <a:moveTo>
                  <a:pt x="95263" y="0"/>
                </a:moveTo>
                <a:lnTo>
                  <a:pt x="6721462" y="0"/>
                </a:lnTo>
                <a:cubicBezTo>
                  <a:pt x="6774074" y="0"/>
                  <a:pt x="6816725" y="42651"/>
                  <a:pt x="6816725" y="95263"/>
                </a:cubicBezTo>
                <a:lnTo>
                  <a:pt x="6816725" y="2816212"/>
                </a:lnTo>
                <a:cubicBezTo>
                  <a:pt x="6816725" y="2868824"/>
                  <a:pt x="6774074" y="2911475"/>
                  <a:pt x="6721462" y="2911475"/>
                </a:cubicBezTo>
                <a:lnTo>
                  <a:pt x="95263" y="2911475"/>
                </a:lnTo>
                <a:cubicBezTo>
                  <a:pt x="42651" y="2911475"/>
                  <a:pt x="0" y="2868824"/>
                  <a:pt x="0" y="2816212"/>
                </a:cubicBezTo>
                <a:lnTo>
                  <a:pt x="0" y="95263"/>
                </a:lnTo>
                <a:cubicBezTo>
                  <a:pt x="0" y="42651"/>
                  <a:pt x="42651" y="0"/>
                  <a:pt x="9526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1276356"/>
            <a:ext cx="652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Simplest Type of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4350" y="1657248"/>
            <a:ext cx="6500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r>
              <a:rPr lang="en-US" sz="112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reflex agent</a:t>
            </a:r>
            <a:r>
              <a:rPr lang="en-US" sz="112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reacts only to the current situation using condition-action rules. It doesn't think about the past or future - it just responds!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225" y="2248591"/>
            <a:ext cx="6413500" cy="1555750"/>
          </a:xfrm>
          <a:custGeom>
            <a:avLst/>
            <a:gdLst/>
            <a:ahLst/>
            <a:cxnLst/>
            <a:rect l="l" t="t" r="r" b="b"/>
            <a:pathLst>
              <a:path w="6413500" h="1555750">
                <a:moveTo>
                  <a:pt x="31750" y="0"/>
                </a:moveTo>
                <a:lnTo>
                  <a:pt x="6349994" y="0"/>
                </a:lnTo>
                <a:cubicBezTo>
                  <a:pt x="6385068" y="0"/>
                  <a:pt x="6413500" y="28432"/>
                  <a:pt x="6413500" y="63506"/>
                </a:cubicBezTo>
                <a:lnTo>
                  <a:pt x="6413500" y="1492244"/>
                </a:lnTo>
                <a:cubicBezTo>
                  <a:pt x="6413500" y="1527318"/>
                  <a:pt x="6385068" y="1555750"/>
                  <a:pt x="6349994" y="1555750"/>
                </a:cubicBezTo>
                <a:lnTo>
                  <a:pt x="31750" y="1555750"/>
                </a:lnTo>
                <a:cubicBezTo>
                  <a:pt x="14215" y="1555750"/>
                  <a:pt x="0" y="1541535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30225" y="2248591"/>
            <a:ext cx="31750" cy="1555750"/>
          </a:xfrm>
          <a:custGeom>
            <a:avLst/>
            <a:gdLst/>
            <a:ahLst/>
            <a:cxnLst/>
            <a:rect l="l" t="t" r="r" b="b"/>
            <a:pathLst>
              <a:path w="31750" h="1555750">
                <a:moveTo>
                  <a:pt x="31750" y="0"/>
                </a:moveTo>
                <a:lnTo>
                  <a:pt x="31750" y="0"/>
                </a:lnTo>
                <a:lnTo>
                  <a:pt x="31750" y="1555750"/>
                </a:lnTo>
                <a:lnTo>
                  <a:pt x="31750" y="1555750"/>
                </a:lnTo>
                <a:cubicBezTo>
                  <a:pt x="14227" y="1555750"/>
                  <a:pt x="0" y="1541523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704850" y="2407341"/>
            <a:ext cx="845741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850" y="2693091"/>
            <a:ext cx="6143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Sense the current situation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 up rule for that situation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 the corresponding action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Repeat continuously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675" y="4131373"/>
            <a:ext cx="6816725" cy="3125787"/>
          </a:xfrm>
          <a:custGeom>
            <a:avLst/>
            <a:gdLst/>
            <a:ahLst/>
            <a:cxnLst/>
            <a:rect l="l" t="t" r="r" b="b"/>
            <a:pathLst>
              <a:path w="6816725" h="3125787">
                <a:moveTo>
                  <a:pt x="95243" y="0"/>
                </a:moveTo>
                <a:lnTo>
                  <a:pt x="6721482" y="0"/>
                </a:lnTo>
                <a:cubicBezTo>
                  <a:pt x="6774083" y="0"/>
                  <a:pt x="6816725" y="42642"/>
                  <a:pt x="6816725" y="95243"/>
                </a:cubicBezTo>
                <a:lnTo>
                  <a:pt x="6816725" y="3030545"/>
                </a:lnTo>
                <a:cubicBezTo>
                  <a:pt x="6816725" y="3083146"/>
                  <a:pt x="6774083" y="3125787"/>
                  <a:pt x="6721482" y="3125787"/>
                </a:cubicBezTo>
                <a:lnTo>
                  <a:pt x="95243" y="3125787"/>
                </a:lnTo>
                <a:cubicBezTo>
                  <a:pt x="42642" y="3125787"/>
                  <a:pt x="0" y="3083146"/>
                  <a:pt x="0" y="3030545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350" y="4325054"/>
            <a:ext cx="652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Example: Simple Reflex Agent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7525" y="4709120"/>
            <a:ext cx="6419850" cy="2093912"/>
          </a:xfrm>
          <a:custGeom>
            <a:avLst/>
            <a:gdLst/>
            <a:ahLst/>
            <a:cxnLst/>
            <a:rect l="l" t="t" r="r" b="b"/>
            <a:pathLst>
              <a:path w="6419850" h="2093912">
                <a:moveTo>
                  <a:pt x="63508" y="0"/>
                </a:moveTo>
                <a:lnTo>
                  <a:pt x="6356342" y="0"/>
                </a:lnTo>
                <a:cubicBezTo>
                  <a:pt x="6391416" y="0"/>
                  <a:pt x="6419850" y="28434"/>
                  <a:pt x="6419850" y="63508"/>
                </a:cubicBezTo>
                <a:lnTo>
                  <a:pt x="6419850" y="2030404"/>
                </a:lnTo>
                <a:cubicBezTo>
                  <a:pt x="6419850" y="2065455"/>
                  <a:pt x="6391393" y="2093912"/>
                  <a:pt x="6356342" y="2093912"/>
                </a:cubicBezTo>
                <a:lnTo>
                  <a:pt x="63508" y="2093912"/>
                </a:lnTo>
                <a:cubicBezTo>
                  <a:pt x="28434" y="2093912"/>
                  <a:pt x="0" y="2065479"/>
                  <a:pt x="0" y="2030404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" y="4839302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Simple reflex thermostat 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700" y="5005989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thermostat_agent(percept):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5172677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current_temp = percept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" y="5339364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desired_temp = 22 # degrees Celsius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700" y="5672739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current_temp &lt; desired_temp: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700" y="5839427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"TURN_ON_HEATER"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700" y="6006114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elif current_temp &gt; desired_temp: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" y="6172802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"TURN_ON_AC"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700" y="6339489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7700" y="6506177"/>
            <a:ext cx="621506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"DO_NOTHING"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4350" y="6901455"/>
            <a:ext cx="648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memory - only reacts to current temperature!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31075" y="1082675"/>
            <a:ext cx="4538663" cy="6173788"/>
          </a:xfrm>
          <a:custGeom>
            <a:avLst/>
            <a:gdLst/>
            <a:ahLst/>
            <a:cxnLst/>
            <a:rect l="l" t="t" r="r" b="b"/>
            <a:pathLst>
              <a:path w="4538663" h="6173788">
                <a:moveTo>
                  <a:pt x="95267" y="0"/>
                </a:moveTo>
                <a:lnTo>
                  <a:pt x="4443396" y="0"/>
                </a:lnTo>
                <a:cubicBezTo>
                  <a:pt x="4496010" y="0"/>
                  <a:pt x="4538663" y="42652"/>
                  <a:pt x="4538663" y="95267"/>
                </a:cubicBezTo>
                <a:lnTo>
                  <a:pt x="4538663" y="6078521"/>
                </a:lnTo>
                <a:cubicBezTo>
                  <a:pt x="4538663" y="6131135"/>
                  <a:pt x="4496010" y="6173788"/>
                  <a:pt x="4443396" y="6173788"/>
                </a:cubicBezTo>
                <a:lnTo>
                  <a:pt x="95267" y="6173788"/>
                </a:lnTo>
                <a:cubicBezTo>
                  <a:pt x="42652" y="6173788"/>
                  <a:pt x="0" y="6131135"/>
                  <a:pt x="0" y="6078521"/>
                </a:cubicBezTo>
                <a:lnTo>
                  <a:pt x="0" y="95267"/>
                </a:lnTo>
                <a:cubicBezTo>
                  <a:pt x="0" y="42687"/>
                  <a:pt x="42687" y="0"/>
                  <a:pt x="9526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3000" y="1244606"/>
            <a:ext cx="4310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93000" y="1625498"/>
            <a:ext cx="4214813" cy="1111250"/>
          </a:xfrm>
          <a:custGeom>
            <a:avLst/>
            <a:gdLst/>
            <a:ahLst/>
            <a:cxnLst/>
            <a:rect l="l" t="t" r="r" b="b"/>
            <a:pathLst>
              <a:path w="4214813" h="1111250">
                <a:moveTo>
                  <a:pt x="63497" y="0"/>
                </a:moveTo>
                <a:lnTo>
                  <a:pt x="4151316" y="0"/>
                </a:lnTo>
                <a:cubicBezTo>
                  <a:pt x="4186384" y="0"/>
                  <a:pt x="4214813" y="28428"/>
                  <a:pt x="4214813" y="63497"/>
                </a:cubicBezTo>
                <a:lnTo>
                  <a:pt x="4214813" y="1047753"/>
                </a:lnTo>
                <a:cubicBezTo>
                  <a:pt x="4214813" y="1082822"/>
                  <a:pt x="4186384" y="1111250"/>
                  <a:pt x="4151316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0" y="1752498"/>
            <a:ext cx="403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🌡️ Thermostat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0" y="2038248"/>
            <a:ext cx="402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Rule:</a:t>
            </a: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If cold → turn on heat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0" y="2292248"/>
            <a:ext cx="4016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Simple, fast, reliable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Can't learn, no memory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3000" y="2831998"/>
            <a:ext cx="4214813" cy="1111250"/>
          </a:xfrm>
          <a:custGeom>
            <a:avLst/>
            <a:gdLst/>
            <a:ahLst/>
            <a:cxnLst/>
            <a:rect l="l" t="t" r="r" b="b"/>
            <a:pathLst>
              <a:path w="4214813" h="1111250">
                <a:moveTo>
                  <a:pt x="63497" y="0"/>
                </a:moveTo>
                <a:lnTo>
                  <a:pt x="4151316" y="0"/>
                </a:lnTo>
                <a:cubicBezTo>
                  <a:pt x="4186384" y="0"/>
                  <a:pt x="4214813" y="28428"/>
                  <a:pt x="4214813" y="63497"/>
                </a:cubicBezTo>
                <a:lnTo>
                  <a:pt x="4214813" y="1047753"/>
                </a:lnTo>
                <a:cubicBezTo>
                  <a:pt x="4214813" y="1082822"/>
                  <a:pt x="4186384" y="1111250"/>
                  <a:pt x="4151316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4" name="Text 32"/>
          <p:cNvSpPr/>
          <p:nvPr/>
        </p:nvSpPr>
        <p:spPr>
          <a:xfrm>
            <a:off x="7620000" y="2958998"/>
            <a:ext cx="403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🤖 Vacuum Robot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0" y="3244748"/>
            <a:ext cx="402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Rule:</a:t>
            </a: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If bump wall → turn around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0" y="3498748"/>
            <a:ext cx="4016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Easy to implement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Might clean same spot repeatedly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93000" y="4038498"/>
            <a:ext cx="4214813" cy="1111250"/>
          </a:xfrm>
          <a:custGeom>
            <a:avLst/>
            <a:gdLst/>
            <a:ahLst/>
            <a:cxnLst/>
            <a:rect l="l" t="t" r="r" b="b"/>
            <a:pathLst>
              <a:path w="4214813" h="1111250">
                <a:moveTo>
                  <a:pt x="63497" y="0"/>
                </a:moveTo>
                <a:lnTo>
                  <a:pt x="4151316" y="0"/>
                </a:lnTo>
                <a:cubicBezTo>
                  <a:pt x="4186384" y="0"/>
                  <a:pt x="4214813" y="28428"/>
                  <a:pt x="4214813" y="63497"/>
                </a:cubicBezTo>
                <a:lnTo>
                  <a:pt x="4214813" y="1047753"/>
                </a:lnTo>
                <a:cubicBezTo>
                  <a:pt x="4214813" y="1082822"/>
                  <a:pt x="4186384" y="1111250"/>
                  <a:pt x="4151316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0" y="4165498"/>
            <a:ext cx="403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🚗 Automatic Doors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0" y="4451248"/>
            <a:ext cx="402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Rule:</a:t>
            </a: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If person detected → open door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20000" y="4705248"/>
            <a:ext cx="4016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Works perfectly for simple tasks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Can't handle complex situations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96175" y="5152923"/>
            <a:ext cx="4213225" cy="641350"/>
          </a:xfrm>
          <a:custGeom>
            <a:avLst/>
            <a:gdLst/>
            <a:ahLst/>
            <a:cxnLst/>
            <a:rect l="l" t="t" r="r" b="b"/>
            <a:pathLst>
              <a:path w="4213225" h="641350">
                <a:moveTo>
                  <a:pt x="63500" y="0"/>
                </a:moveTo>
                <a:lnTo>
                  <a:pt x="4149725" y="0"/>
                </a:lnTo>
                <a:cubicBezTo>
                  <a:pt x="4184795" y="0"/>
                  <a:pt x="4213225" y="28430"/>
                  <a:pt x="4213225" y="63500"/>
                </a:cubicBezTo>
                <a:lnTo>
                  <a:pt x="4213225" y="577850"/>
                </a:lnTo>
                <a:cubicBezTo>
                  <a:pt x="4213225" y="612920"/>
                  <a:pt x="4184795" y="641350"/>
                  <a:pt x="414972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6350" y="5283104"/>
            <a:ext cx="4016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Simple reflex agents are like knee-jerk reactions - automatic and fast, but not very smart!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537" y="382244"/>
            <a:ext cx="382244" cy="382244"/>
          </a:xfrm>
          <a:custGeom>
            <a:avLst/>
            <a:gdLst/>
            <a:ahLst/>
            <a:cxnLst/>
            <a:rect l="l" t="t" r="r" b="b"/>
            <a:pathLst>
              <a:path w="382244" h="382244">
                <a:moveTo>
                  <a:pt x="95561" y="0"/>
                </a:moveTo>
                <a:lnTo>
                  <a:pt x="286683" y="0"/>
                </a:lnTo>
                <a:cubicBezTo>
                  <a:pt x="339425" y="0"/>
                  <a:pt x="382244" y="42819"/>
                  <a:pt x="382244" y="95561"/>
                </a:cubicBezTo>
                <a:lnTo>
                  <a:pt x="382244" y="286683"/>
                </a:lnTo>
                <a:cubicBezTo>
                  <a:pt x="382244" y="339460"/>
                  <a:pt x="339460" y="382244"/>
                  <a:pt x="286683" y="382244"/>
                </a:cubicBezTo>
                <a:lnTo>
                  <a:pt x="95561" y="382244"/>
                </a:lnTo>
                <a:cubicBezTo>
                  <a:pt x="42819" y="382244"/>
                  <a:pt x="0" y="339425"/>
                  <a:pt x="0" y="286683"/>
                </a:cubicBezTo>
                <a:lnTo>
                  <a:pt x="0" y="95561"/>
                </a:lnTo>
                <a:cubicBezTo>
                  <a:pt x="0" y="42784"/>
                  <a:pt x="42784" y="0"/>
                  <a:pt x="9556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4098" y="477805"/>
            <a:ext cx="191122" cy="191122"/>
          </a:xfrm>
          <a:custGeom>
            <a:avLst/>
            <a:gdLst/>
            <a:ahLst/>
            <a:cxnLst/>
            <a:rect l="l" t="t" r="r" b="b"/>
            <a:pathLst>
              <a:path w="191122" h="191122">
                <a:moveTo>
                  <a:pt x="44794" y="20904"/>
                </a:moveTo>
                <a:cubicBezTo>
                  <a:pt x="44794" y="9369"/>
                  <a:pt x="54164" y="0"/>
                  <a:pt x="65698" y="0"/>
                </a:cubicBezTo>
                <a:lnTo>
                  <a:pt x="74657" y="0"/>
                </a:lnTo>
                <a:cubicBezTo>
                  <a:pt x="81264" y="0"/>
                  <a:pt x="86602" y="5338"/>
                  <a:pt x="86602" y="11945"/>
                </a:cubicBezTo>
                <a:lnTo>
                  <a:pt x="86602" y="179177"/>
                </a:lnTo>
                <a:cubicBezTo>
                  <a:pt x="86602" y="185784"/>
                  <a:pt x="81264" y="191122"/>
                  <a:pt x="74657" y="191122"/>
                </a:cubicBezTo>
                <a:lnTo>
                  <a:pt x="62712" y="191122"/>
                </a:lnTo>
                <a:cubicBezTo>
                  <a:pt x="51588" y="191122"/>
                  <a:pt x="42219" y="183507"/>
                  <a:pt x="39568" y="173204"/>
                </a:cubicBezTo>
                <a:cubicBezTo>
                  <a:pt x="39307" y="173204"/>
                  <a:pt x="39083" y="173204"/>
                  <a:pt x="38822" y="173204"/>
                </a:cubicBezTo>
                <a:cubicBezTo>
                  <a:pt x="22322" y="173204"/>
                  <a:pt x="8959" y="159841"/>
                  <a:pt x="8959" y="143342"/>
                </a:cubicBezTo>
                <a:cubicBezTo>
                  <a:pt x="8959" y="136622"/>
                  <a:pt x="11199" y="130426"/>
                  <a:pt x="14931" y="125424"/>
                </a:cubicBezTo>
                <a:cubicBezTo>
                  <a:pt x="7690" y="119974"/>
                  <a:pt x="2986" y="111314"/>
                  <a:pt x="2986" y="101534"/>
                </a:cubicBezTo>
                <a:cubicBezTo>
                  <a:pt x="2986" y="89999"/>
                  <a:pt x="9556" y="79958"/>
                  <a:pt x="19112" y="74993"/>
                </a:cubicBezTo>
                <a:cubicBezTo>
                  <a:pt x="16462" y="70514"/>
                  <a:pt x="14931" y="65288"/>
                  <a:pt x="14931" y="59726"/>
                </a:cubicBezTo>
                <a:cubicBezTo>
                  <a:pt x="14931" y="43226"/>
                  <a:pt x="28295" y="29863"/>
                  <a:pt x="44794" y="29863"/>
                </a:cubicBezTo>
                <a:lnTo>
                  <a:pt x="44794" y="20904"/>
                </a:lnTo>
                <a:close/>
                <a:moveTo>
                  <a:pt x="146328" y="20904"/>
                </a:moveTo>
                <a:lnTo>
                  <a:pt x="146328" y="29863"/>
                </a:lnTo>
                <a:cubicBezTo>
                  <a:pt x="162827" y="29863"/>
                  <a:pt x="176191" y="43226"/>
                  <a:pt x="176191" y="59726"/>
                </a:cubicBezTo>
                <a:cubicBezTo>
                  <a:pt x="176191" y="65325"/>
                  <a:pt x="174660" y="70551"/>
                  <a:pt x="172010" y="74993"/>
                </a:cubicBezTo>
                <a:cubicBezTo>
                  <a:pt x="181603" y="79958"/>
                  <a:pt x="188136" y="89962"/>
                  <a:pt x="188136" y="101534"/>
                </a:cubicBezTo>
                <a:cubicBezTo>
                  <a:pt x="188136" y="111314"/>
                  <a:pt x="183432" y="119974"/>
                  <a:pt x="176191" y="125424"/>
                </a:cubicBezTo>
                <a:cubicBezTo>
                  <a:pt x="179924" y="130426"/>
                  <a:pt x="182163" y="136622"/>
                  <a:pt x="182163" y="143342"/>
                </a:cubicBezTo>
                <a:cubicBezTo>
                  <a:pt x="182163" y="159841"/>
                  <a:pt x="168800" y="173204"/>
                  <a:pt x="152300" y="173204"/>
                </a:cubicBezTo>
                <a:cubicBezTo>
                  <a:pt x="152039" y="173204"/>
                  <a:pt x="151815" y="173204"/>
                  <a:pt x="151554" y="173204"/>
                </a:cubicBezTo>
                <a:cubicBezTo>
                  <a:pt x="148904" y="183507"/>
                  <a:pt x="139534" y="191122"/>
                  <a:pt x="128410" y="191122"/>
                </a:cubicBezTo>
                <a:lnTo>
                  <a:pt x="116465" y="191122"/>
                </a:lnTo>
                <a:cubicBezTo>
                  <a:pt x="109858" y="191122"/>
                  <a:pt x="104520" y="185784"/>
                  <a:pt x="104520" y="179177"/>
                </a:cubicBezTo>
                <a:lnTo>
                  <a:pt x="104520" y="11945"/>
                </a:lnTo>
                <a:cubicBezTo>
                  <a:pt x="104520" y="5338"/>
                  <a:pt x="109858" y="0"/>
                  <a:pt x="116465" y="0"/>
                </a:cubicBezTo>
                <a:lnTo>
                  <a:pt x="125424" y="0"/>
                </a:lnTo>
                <a:cubicBezTo>
                  <a:pt x="136958" y="0"/>
                  <a:pt x="146328" y="9369"/>
                  <a:pt x="146328" y="2090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96342" y="318537"/>
            <a:ext cx="6872434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 • TOPIC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6342" y="509659"/>
            <a:ext cx="6952068" cy="31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Model-Based and Goal-Based Agents: Planning Ahead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1722" y="1086211"/>
            <a:ext cx="5676328" cy="5763925"/>
          </a:xfrm>
          <a:custGeom>
            <a:avLst/>
            <a:gdLst/>
            <a:ahLst/>
            <a:cxnLst/>
            <a:rect l="l" t="t" r="r" b="b"/>
            <a:pathLst>
              <a:path w="5676328" h="5763925">
                <a:moveTo>
                  <a:pt x="95589" y="0"/>
                </a:moveTo>
                <a:lnTo>
                  <a:pt x="5580738" y="0"/>
                </a:lnTo>
                <a:cubicBezTo>
                  <a:pt x="5633531" y="0"/>
                  <a:pt x="5676328" y="42797"/>
                  <a:pt x="5676328" y="95589"/>
                </a:cubicBezTo>
                <a:lnTo>
                  <a:pt x="5676328" y="5668336"/>
                </a:lnTo>
                <a:cubicBezTo>
                  <a:pt x="5676328" y="5721128"/>
                  <a:pt x="5633531" y="5763925"/>
                  <a:pt x="5580738" y="5763925"/>
                </a:cubicBezTo>
                <a:lnTo>
                  <a:pt x="95589" y="5763925"/>
                </a:lnTo>
                <a:cubicBezTo>
                  <a:pt x="42797" y="5763925"/>
                  <a:pt x="0" y="5721128"/>
                  <a:pt x="0" y="5668336"/>
                </a:cubicBezTo>
                <a:lnTo>
                  <a:pt x="0" y="95589"/>
                </a:lnTo>
                <a:cubicBezTo>
                  <a:pt x="0" y="42797"/>
                  <a:pt x="42797" y="0"/>
                  <a:pt x="9558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6030" y="1280525"/>
            <a:ext cx="382244" cy="382244"/>
          </a:xfrm>
          <a:custGeom>
            <a:avLst/>
            <a:gdLst/>
            <a:ahLst/>
            <a:cxnLst/>
            <a:rect l="l" t="t" r="r" b="b"/>
            <a:pathLst>
              <a:path w="382244" h="382244">
                <a:moveTo>
                  <a:pt x="95561" y="0"/>
                </a:moveTo>
                <a:lnTo>
                  <a:pt x="286683" y="0"/>
                </a:lnTo>
                <a:cubicBezTo>
                  <a:pt x="339425" y="0"/>
                  <a:pt x="382244" y="42819"/>
                  <a:pt x="382244" y="95561"/>
                </a:cubicBezTo>
                <a:lnTo>
                  <a:pt x="382244" y="286683"/>
                </a:lnTo>
                <a:cubicBezTo>
                  <a:pt x="382244" y="339460"/>
                  <a:pt x="339460" y="382244"/>
                  <a:pt x="286683" y="382244"/>
                </a:cubicBezTo>
                <a:lnTo>
                  <a:pt x="95561" y="382244"/>
                </a:lnTo>
                <a:cubicBezTo>
                  <a:pt x="42819" y="382244"/>
                  <a:pt x="0" y="339425"/>
                  <a:pt x="0" y="286683"/>
                </a:cubicBezTo>
                <a:lnTo>
                  <a:pt x="0" y="95561"/>
                </a:lnTo>
                <a:cubicBezTo>
                  <a:pt x="0" y="42784"/>
                  <a:pt x="42784" y="0"/>
                  <a:pt x="9556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1591" y="1376086"/>
            <a:ext cx="191122" cy="191122"/>
          </a:xfrm>
          <a:custGeom>
            <a:avLst/>
            <a:gdLst/>
            <a:ahLst/>
            <a:cxnLst/>
            <a:rect l="l" t="t" r="r" b="b"/>
            <a:pathLst>
              <a:path w="191122" h="191122">
                <a:moveTo>
                  <a:pt x="23890" y="23890"/>
                </a:moveTo>
                <a:cubicBezTo>
                  <a:pt x="10713" y="23890"/>
                  <a:pt x="0" y="34604"/>
                  <a:pt x="0" y="47781"/>
                </a:cubicBezTo>
                <a:lnTo>
                  <a:pt x="0" y="50543"/>
                </a:lnTo>
                <a:cubicBezTo>
                  <a:pt x="0" y="53081"/>
                  <a:pt x="1642" y="55246"/>
                  <a:pt x="3770" y="56627"/>
                </a:cubicBezTo>
                <a:cubicBezTo>
                  <a:pt x="8698" y="59838"/>
                  <a:pt x="11945" y="65362"/>
                  <a:pt x="11945" y="71671"/>
                </a:cubicBezTo>
                <a:cubicBezTo>
                  <a:pt x="11945" y="77979"/>
                  <a:pt x="8698" y="83504"/>
                  <a:pt x="3770" y="86714"/>
                </a:cubicBezTo>
                <a:cubicBezTo>
                  <a:pt x="1642" y="88095"/>
                  <a:pt x="0" y="90260"/>
                  <a:pt x="0" y="92799"/>
                </a:cubicBezTo>
                <a:lnTo>
                  <a:pt x="0" y="113479"/>
                </a:lnTo>
                <a:lnTo>
                  <a:pt x="191122" y="113479"/>
                </a:lnTo>
                <a:lnTo>
                  <a:pt x="191122" y="92799"/>
                </a:lnTo>
                <a:cubicBezTo>
                  <a:pt x="191122" y="90260"/>
                  <a:pt x="189480" y="88095"/>
                  <a:pt x="187352" y="86714"/>
                </a:cubicBezTo>
                <a:cubicBezTo>
                  <a:pt x="182425" y="83504"/>
                  <a:pt x="179177" y="77979"/>
                  <a:pt x="179177" y="71671"/>
                </a:cubicBezTo>
                <a:cubicBezTo>
                  <a:pt x="179177" y="65362"/>
                  <a:pt x="182425" y="59838"/>
                  <a:pt x="187352" y="56627"/>
                </a:cubicBezTo>
                <a:cubicBezTo>
                  <a:pt x="189480" y="55246"/>
                  <a:pt x="191122" y="53081"/>
                  <a:pt x="191122" y="50543"/>
                </a:cubicBezTo>
                <a:lnTo>
                  <a:pt x="191122" y="47781"/>
                </a:lnTo>
                <a:cubicBezTo>
                  <a:pt x="191122" y="34604"/>
                  <a:pt x="180409" y="23890"/>
                  <a:pt x="167232" y="23890"/>
                </a:cubicBezTo>
                <a:lnTo>
                  <a:pt x="23890" y="23890"/>
                </a:lnTo>
                <a:close/>
                <a:moveTo>
                  <a:pt x="191122" y="155287"/>
                </a:moveTo>
                <a:lnTo>
                  <a:pt x="191122" y="131396"/>
                </a:lnTo>
                <a:lnTo>
                  <a:pt x="0" y="131396"/>
                </a:lnTo>
                <a:lnTo>
                  <a:pt x="0" y="155287"/>
                </a:lnTo>
                <a:cubicBezTo>
                  <a:pt x="0" y="161894"/>
                  <a:pt x="5338" y="167232"/>
                  <a:pt x="11945" y="167232"/>
                </a:cubicBezTo>
                <a:lnTo>
                  <a:pt x="35835" y="167232"/>
                </a:lnTo>
                <a:lnTo>
                  <a:pt x="35835" y="158273"/>
                </a:lnTo>
                <a:cubicBezTo>
                  <a:pt x="35835" y="153308"/>
                  <a:pt x="39830" y="149314"/>
                  <a:pt x="44794" y="149314"/>
                </a:cubicBezTo>
                <a:cubicBezTo>
                  <a:pt x="49759" y="149314"/>
                  <a:pt x="53753" y="153308"/>
                  <a:pt x="53753" y="158273"/>
                </a:cubicBezTo>
                <a:lnTo>
                  <a:pt x="53753" y="167232"/>
                </a:lnTo>
                <a:lnTo>
                  <a:pt x="86602" y="167232"/>
                </a:lnTo>
                <a:lnTo>
                  <a:pt x="86602" y="158273"/>
                </a:lnTo>
                <a:cubicBezTo>
                  <a:pt x="86602" y="153308"/>
                  <a:pt x="90596" y="149314"/>
                  <a:pt x="95561" y="149314"/>
                </a:cubicBezTo>
                <a:cubicBezTo>
                  <a:pt x="100526" y="149314"/>
                  <a:pt x="104520" y="153308"/>
                  <a:pt x="104520" y="158273"/>
                </a:cubicBezTo>
                <a:lnTo>
                  <a:pt x="104520" y="167232"/>
                </a:lnTo>
                <a:lnTo>
                  <a:pt x="137369" y="167232"/>
                </a:lnTo>
                <a:lnTo>
                  <a:pt x="137369" y="158273"/>
                </a:lnTo>
                <a:cubicBezTo>
                  <a:pt x="137369" y="153308"/>
                  <a:pt x="141363" y="149314"/>
                  <a:pt x="146328" y="149314"/>
                </a:cubicBezTo>
                <a:cubicBezTo>
                  <a:pt x="151293" y="149314"/>
                  <a:pt x="155287" y="153308"/>
                  <a:pt x="155287" y="158273"/>
                </a:cubicBezTo>
                <a:lnTo>
                  <a:pt x="155287" y="167232"/>
                </a:lnTo>
                <a:lnTo>
                  <a:pt x="179177" y="167232"/>
                </a:lnTo>
                <a:cubicBezTo>
                  <a:pt x="185784" y="167232"/>
                  <a:pt x="191122" y="161894"/>
                  <a:pt x="191122" y="155287"/>
                </a:cubicBezTo>
                <a:close/>
                <a:moveTo>
                  <a:pt x="59726" y="59726"/>
                </a:moveTo>
                <a:lnTo>
                  <a:pt x="59726" y="83616"/>
                </a:lnTo>
                <a:cubicBezTo>
                  <a:pt x="59726" y="90223"/>
                  <a:pt x="54388" y="95561"/>
                  <a:pt x="47781" y="95561"/>
                </a:cubicBezTo>
                <a:cubicBezTo>
                  <a:pt x="41173" y="95561"/>
                  <a:pt x="35835" y="90223"/>
                  <a:pt x="35835" y="83616"/>
                </a:cubicBezTo>
                <a:lnTo>
                  <a:pt x="35835" y="59726"/>
                </a:lnTo>
                <a:cubicBezTo>
                  <a:pt x="35835" y="53119"/>
                  <a:pt x="41173" y="47781"/>
                  <a:pt x="47781" y="47781"/>
                </a:cubicBezTo>
                <a:cubicBezTo>
                  <a:pt x="54388" y="47781"/>
                  <a:pt x="59726" y="53119"/>
                  <a:pt x="59726" y="59726"/>
                </a:cubicBezTo>
                <a:close/>
                <a:moveTo>
                  <a:pt x="107506" y="59726"/>
                </a:moveTo>
                <a:lnTo>
                  <a:pt x="107506" y="83616"/>
                </a:lnTo>
                <a:cubicBezTo>
                  <a:pt x="107506" y="90223"/>
                  <a:pt x="102168" y="95561"/>
                  <a:pt x="95561" y="95561"/>
                </a:cubicBezTo>
                <a:cubicBezTo>
                  <a:pt x="88954" y="95561"/>
                  <a:pt x="83616" y="90223"/>
                  <a:pt x="83616" y="83616"/>
                </a:cubicBezTo>
                <a:lnTo>
                  <a:pt x="83616" y="59726"/>
                </a:lnTo>
                <a:cubicBezTo>
                  <a:pt x="83616" y="53119"/>
                  <a:pt x="88954" y="47781"/>
                  <a:pt x="95561" y="47781"/>
                </a:cubicBezTo>
                <a:cubicBezTo>
                  <a:pt x="102168" y="47781"/>
                  <a:pt x="107506" y="53119"/>
                  <a:pt x="107506" y="59726"/>
                </a:cubicBezTo>
                <a:close/>
                <a:moveTo>
                  <a:pt x="155287" y="59726"/>
                </a:moveTo>
                <a:lnTo>
                  <a:pt x="155287" y="83616"/>
                </a:lnTo>
                <a:cubicBezTo>
                  <a:pt x="155287" y="90223"/>
                  <a:pt x="149949" y="95561"/>
                  <a:pt x="143342" y="95561"/>
                </a:cubicBezTo>
                <a:cubicBezTo>
                  <a:pt x="136734" y="95561"/>
                  <a:pt x="131396" y="90223"/>
                  <a:pt x="131396" y="83616"/>
                </a:cubicBezTo>
                <a:lnTo>
                  <a:pt x="131396" y="59726"/>
                </a:lnTo>
                <a:cubicBezTo>
                  <a:pt x="131396" y="53119"/>
                  <a:pt x="136734" y="47781"/>
                  <a:pt x="143342" y="47781"/>
                </a:cubicBezTo>
                <a:cubicBezTo>
                  <a:pt x="149949" y="47781"/>
                  <a:pt x="155287" y="53119"/>
                  <a:pt x="155287" y="5972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993835" y="1344232"/>
            <a:ext cx="1871404" cy="25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5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Model-Based Agents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030" y="1790184"/>
            <a:ext cx="5359383" cy="46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agents maintain an </a:t>
            </a:r>
            <a:r>
              <a:rPr lang="en-US" sz="1129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model</a:t>
            </a:r>
            <a:r>
              <a:rPr lang="en-US" sz="112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the world to handle situations where they can't see everything.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6030" y="2383459"/>
            <a:ext cx="5287713" cy="1242294"/>
          </a:xfrm>
          <a:custGeom>
            <a:avLst/>
            <a:gdLst/>
            <a:ahLst/>
            <a:cxnLst/>
            <a:rect l="l" t="t" r="r" b="b"/>
            <a:pathLst>
              <a:path w="5287713" h="1242294">
                <a:moveTo>
                  <a:pt x="63705" y="0"/>
                </a:moveTo>
                <a:lnTo>
                  <a:pt x="5224008" y="0"/>
                </a:lnTo>
                <a:cubicBezTo>
                  <a:pt x="5259191" y="0"/>
                  <a:pt x="5287713" y="28522"/>
                  <a:pt x="5287713" y="63705"/>
                </a:cubicBezTo>
                <a:lnTo>
                  <a:pt x="5287713" y="1178589"/>
                </a:lnTo>
                <a:cubicBezTo>
                  <a:pt x="5287713" y="1213772"/>
                  <a:pt x="5259191" y="1242294"/>
                  <a:pt x="5224008" y="1242294"/>
                </a:cubicBezTo>
                <a:lnTo>
                  <a:pt x="63705" y="1242294"/>
                </a:lnTo>
                <a:cubicBezTo>
                  <a:pt x="28522" y="1242294"/>
                  <a:pt x="0" y="1213772"/>
                  <a:pt x="0" y="1178589"/>
                </a:cubicBezTo>
                <a:lnTo>
                  <a:pt x="0" y="63705"/>
                </a:lnTo>
                <a:cubicBezTo>
                  <a:pt x="0" y="28545"/>
                  <a:pt x="28545" y="0"/>
                  <a:pt x="6370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2" name="Text 10"/>
          <p:cNvSpPr/>
          <p:nvPr/>
        </p:nvSpPr>
        <p:spPr>
          <a:xfrm>
            <a:off x="643445" y="2510873"/>
            <a:ext cx="5096590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They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3445" y="2765703"/>
            <a:ext cx="5088627" cy="732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track of what they've seen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internal world model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model to make better decisions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partial information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6030" y="3753167"/>
            <a:ext cx="5287713" cy="668927"/>
          </a:xfrm>
          <a:custGeom>
            <a:avLst/>
            <a:gdLst/>
            <a:ahLst/>
            <a:cxnLst/>
            <a:rect l="l" t="t" r="r" b="b"/>
            <a:pathLst>
              <a:path w="5287713" h="668927">
                <a:moveTo>
                  <a:pt x="63709" y="0"/>
                </a:moveTo>
                <a:lnTo>
                  <a:pt x="5224004" y="0"/>
                </a:lnTo>
                <a:cubicBezTo>
                  <a:pt x="5259189" y="0"/>
                  <a:pt x="5287713" y="28523"/>
                  <a:pt x="5287713" y="63709"/>
                </a:cubicBezTo>
                <a:lnTo>
                  <a:pt x="5287713" y="605219"/>
                </a:lnTo>
                <a:cubicBezTo>
                  <a:pt x="5287713" y="640404"/>
                  <a:pt x="5259189" y="668927"/>
                  <a:pt x="5224004" y="668927"/>
                </a:cubicBezTo>
                <a:lnTo>
                  <a:pt x="63709" y="668927"/>
                </a:lnTo>
                <a:cubicBezTo>
                  <a:pt x="28523" y="668927"/>
                  <a:pt x="0" y="640404"/>
                  <a:pt x="0" y="605219"/>
                </a:cubicBezTo>
                <a:lnTo>
                  <a:pt x="0" y="63709"/>
                </a:lnTo>
                <a:cubicBezTo>
                  <a:pt x="0" y="28523"/>
                  <a:pt x="28523" y="0"/>
                  <a:pt x="6370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5" name="Text 13"/>
          <p:cNvSpPr/>
          <p:nvPr/>
        </p:nvSpPr>
        <p:spPr>
          <a:xfrm>
            <a:off x="643445" y="3880582"/>
            <a:ext cx="5096590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Smart Vacuum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445" y="4135412"/>
            <a:ext cx="5088627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Remembers which rooms it has cleaned, so it doesn't clean the same room twice!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9215" y="4552695"/>
            <a:ext cx="5278156" cy="2100751"/>
          </a:xfrm>
          <a:custGeom>
            <a:avLst/>
            <a:gdLst/>
            <a:ahLst/>
            <a:cxnLst/>
            <a:rect l="l" t="t" r="r" b="b"/>
            <a:pathLst>
              <a:path w="5278156" h="2100751">
                <a:moveTo>
                  <a:pt x="63716" y="0"/>
                </a:moveTo>
                <a:lnTo>
                  <a:pt x="5214441" y="0"/>
                </a:lnTo>
                <a:cubicBezTo>
                  <a:pt x="5249630" y="0"/>
                  <a:pt x="5278156" y="28527"/>
                  <a:pt x="5278156" y="63716"/>
                </a:cubicBezTo>
                <a:lnTo>
                  <a:pt x="5278156" y="2037035"/>
                </a:lnTo>
                <a:cubicBezTo>
                  <a:pt x="5278156" y="2072224"/>
                  <a:pt x="5249630" y="2100751"/>
                  <a:pt x="5214441" y="2100751"/>
                </a:cubicBezTo>
                <a:lnTo>
                  <a:pt x="63716" y="2100751"/>
                </a:lnTo>
                <a:cubicBezTo>
                  <a:pt x="28527" y="2100751"/>
                  <a:pt x="0" y="2072224"/>
                  <a:pt x="0" y="2037035"/>
                </a:cubicBezTo>
                <a:lnTo>
                  <a:pt x="0" y="63716"/>
                </a:lnTo>
                <a:cubicBezTo>
                  <a:pt x="0" y="28550"/>
                  <a:pt x="28550" y="0"/>
                  <a:pt x="63716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815" y="4683286"/>
            <a:ext cx="5072700" cy="16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Model-based vacuum agent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815" y="4850518"/>
            <a:ext cx="5072700" cy="16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model_based_vacuum(percept):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815" y="5017749"/>
            <a:ext cx="5072700" cy="16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location, status = percept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815" y="5184981"/>
            <a:ext cx="5072700" cy="16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memory[location] = status # Remember!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815" y="5519445"/>
            <a:ext cx="5072700" cy="16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status == "Dirty":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815" y="5686677"/>
            <a:ext cx="5072700" cy="16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"CLEAN"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5" y="5853909"/>
            <a:ext cx="5072700" cy="16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elif "Uncleaned" in memory.values():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815" y="6021141"/>
            <a:ext cx="5072700" cy="16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"GO_TO_UNCLEANED_ROOM"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815" y="6188373"/>
            <a:ext cx="5072700" cy="16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815" y="6355604"/>
            <a:ext cx="5072700" cy="16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8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"STOP"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3353" y="1086211"/>
            <a:ext cx="5676328" cy="5763925"/>
          </a:xfrm>
          <a:custGeom>
            <a:avLst/>
            <a:gdLst/>
            <a:ahLst/>
            <a:cxnLst/>
            <a:rect l="l" t="t" r="r" b="b"/>
            <a:pathLst>
              <a:path w="5676328" h="5763925">
                <a:moveTo>
                  <a:pt x="95589" y="0"/>
                </a:moveTo>
                <a:lnTo>
                  <a:pt x="5580738" y="0"/>
                </a:lnTo>
                <a:cubicBezTo>
                  <a:pt x="5633531" y="0"/>
                  <a:pt x="5676328" y="42797"/>
                  <a:pt x="5676328" y="95589"/>
                </a:cubicBezTo>
                <a:lnTo>
                  <a:pt x="5676328" y="5668336"/>
                </a:lnTo>
                <a:cubicBezTo>
                  <a:pt x="5676328" y="5721128"/>
                  <a:pt x="5633531" y="5763925"/>
                  <a:pt x="5580738" y="5763925"/>
                </a:cubicBezTo>
                <a:lnTo>
                  <a:pt x="95589" y="5763925"/>
                </a:lnTo>
                <a:cubicBezTo>
                  <a:pt x="42797" y="5763925"/>
                  <a:pt x="0" y="5721128"/>
                  <a:pt x="0" y="5668336"/>
                </a:cubicBezTo>
                <a:lnTo>
                  <a:pt x="0" y="95589"/>
                </a:lnTo>
                <a:cubicBezTo>
                  <a:pt x="0" y="42797"/>
                  <a:pt x="42797" y="0"/>
                  <a:pt x="9558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7660" y="1280525"/>
            <a:ext cx="382244" cy="382244"/>
          </a:xfrm>
          <a:custGeom>
            <a:avLst/>
            <a:gdLst/>
            <a:ahLst/>
            <a:cxnLst/>
            <a:rect l="l" t="t" r="r" b="b"/>
            <a:pathLst>
              <a:path w="382244" h="382244">
                <a:moveTo>
                  <a:pt x="95561" y="0"/>
                </a:moveTo>
                <a:lnTo>
                  <a:pt x="286683" y="0"/>
                </a:lnTo>
                <a:cubicBezTo>
                  <a:pt x="339425" y="0"/>
                  <a:pt x="382244" y="42819"/>
                  <a:pt x="382244" y="95561"/>
                </a:cubicBezTo>
                <a:lnTo>
                  <a:pt x="382244" y="286683"/>
                </a:lnTo>
                <a:cubicBezTo>
                  <a:pt x="382244" y="339460"/>
                  <a:pt x="339460" y="382244"/>
                  <a:pt x="286683" y="382244"/>
                </a:cubicBezTo>
                <a:lnTo>
                  <a:pt x="95561" y="382244"/>
                </a:lnTo>
                <a:cubicBezTo>
                  <a:pt x="42819" y="382244"/>
                  <a:pt x="0" y="339425"/>
                  <a:pt x="0" y="286683"/>
                </a:cubicBezTo>
                <a:lnTo>
                  <a:pt x="0" y="95561"/>
                </a:lnTo>
                <a:cubicBezTo>
                  <a:pt x="0" y="42784"/>
                  <a:pt x="42784" y="0"/>
                  <a:pt x="9556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83221" y="1376086"/>
            <a:ext cx="191122" cy="191122"/>
          </a:xfrm>
          <a:custGeom>
            <a:avLst/>
            <a:gdLst/>
            <a:ahLst/>
            <a:cxnLst/>
            <a:rect l="l" t="t" r="r" b="b"/>
            <a:pathLst>
              <a:path w="191122" h="191122">
                <a:moveTo>
                  <a:pt x="167232" y="95561"/>
                </a:moveTo>
                <a:cubicBezTo>
                  <a:pt x="167232" y="56005"/>
                  <a:pt x="135117" y="23890"/>
                  <a:pt x="95561" y="23890"/>
                </a:cubicBezTo>
                <a:cubicBezTo>
                  <a:pt x="56005" y="23890"/>
                  <a:pt x="23890" y="56005"/>
                  <a:pt x="23890" y="95561"/>
                </a:cubicBezTo>
                <a:cubicBezTo>
                  <a:pt x="23890" y="135117"/>
                  <a:pt x="56005" y="167232"/>
                  <a:pt x="95561" y="167232"/>
                </a:cubicBezTo>
                <a:cubicBezTo>
                  <a:pt x="135117" y="167232"/>
                  <a:pt x="167232" y="135117"/>
                  <a:pt x="167232" y="95561"/>
                </a:cubicBezTo>
                <a:close/>
                <a:moveTo>
                  <a:pt x="0" y="95561"/>
                </a:moveTo>
                <a:cubicBezTo>
                  <a:pt x="0" y="42819"/>
                  <a:pt x="42819" y="0"/>
                  <a:pt x="95561" y="0"/>
                </a:cubicBezTo>
                <a:cubicBezTo>
                  <a:pt x="148303" y="0"/>
                  <a:pt x="191122" y="42819"/>
                  <a:pt x="191122" y="95561"/>
                </a:cubicBezTo>
                <a:cubicBezTo>
                  <a:pt x="191122" y="148303"/>
                  <a:pt x="148303" y="191122"/>
                  <a:pt x="95561" y="191122"/>
                </a:cubicBezTo>
                <a:cubicBezTo>
                  <a:pt x="42819" y="191122"/>
                  <a:pt x="0" y="148303"/>
                  <a:pt x="0" y="95561"/>
                </a:cubicBezTo>
                <a:close/>
                <a:moveTo>
                  <a:pt x="95561" y="125424"/>
                </a:moveTo>
                <a:cubicBezTo>
                  <a:pt x="112043" y="125424"/>
                  <a:pt x="125424" y="112043"/>
                  <a:pt x="125424" y="95561"/>
                </a:cubicBezTo>
                <a:cubicBezTo>
                  <a:pt x="125424" y="79079"/>
                  <a:pt x="112043" y="65698"/>
                  <a:pt x="95561" y="65698"/>
                </a:cubicBezTo>
                <a:cubicBezTo>
                  <a:pt x="79079" y="65698"/>
                  <a:pt x="65698" y="79079"/>
                  <a:pt x="65698" y="95561"/>
                </a:cubicBezTo>
                <a:cubicBezTo>
                  <a:pt x="65698" y="112043"/>
                  <a:pt x="79079" y="125424"/>
                  <a:pt x="95561" y="125424"/>
                </a:cubicBezTo>
                <a:close/>
                <a:moveTo>
                  <a:pt x="95561" y="41808"/>
                </a:moveTo>
                <a:cubicBezTo>
                  <a:pt x="125228" y="41808"/>
                  <a:pt x="149314" y="65894"/>
                  <a:pt x="149314" y="95561"/>
                </a:cubicBezTo>
                <a:cubicBezTo>
                  <a:pt x="149314" y="125228"/>
                  <a:pt x="125228" y="149314"/>
                  <a:pt x="95561" y="149314"/>
                </a:cubicBezTo>
                <a:cubicBezTo>
                  <a:pt x="65894" y="149314"/>
                  <a:pt x="41808" y="125228"/>
                  <a:pt x="41808" y="95561"/>
                </a:cubicBezTo>
                <a:cubicBezTo>
                  <a:pt x="41808" y="65894"/>
                  <a:pt x="65894" y="41808"/>
                  <a:pt x="95561" y="41808"/>
                </a:cubicBezTo>
                <a:close/>
                <a:moveTo>
                  <a:pt x="83616" y="95561"/>
                </a:moveTo>
                <a:cubicBezTo>
                  <a:pt x="83616" y="88968"/>
                  <a:pt x="88968" y="83616"/>
                  <a:pt x="95561" y="83616"/>
                </a:cubicBezTo>
                <a:cubicBezTo>
                  <a:pt x="102154" y="83616"/>
                  <a:pt x="107506" y="88968"/>
                  <a:pt x="107506" y="95561"/>
                </a:cubicBezTo>
                <a:cubicBezTo>
                  <a:pt x="107506" y="102154"/>
                  <a:pt x="102154" y="107506"/>
                  <a:pt x="95561" y="107506"/>
                </a:cubicBezTo>
                <a:cubicBezTo>
                  <a:pt x="88968" y="107506"/>
                  <a:pt x="83616" y="102154"/>
                  <a:pt x="83616" y="9556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865466" y="1344232"/>
            <a:ext cx="1720099" cy="25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Goal-Based Agents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7660" y="1790184"/>
            <a:ext cx="5359383" cy="46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agents work toward </a:t>
            </a:r>
            <a:r>
              <a:rPr lang="en-US" sz="112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 goals</a:t>
            </a:r>
            <a:r>
              <a:rPr lang="en-US" sz="112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planning sequences of actions to achieve them.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7660" y="2383459"/>
            <a:ext cx="5287713" cy="1242294"/>
          </a:xfrm>
          <a:custGeom>
            <a:avLst/>
            <a:gdLst/>
            <a:ahLst/>
            <a:cxnLst/>
            <a:rect l="l" t="t" r="r" b="b"/>
            <a:pathLst>
              <a:path w="5287713" h="1242294">
                <a:moveTo>
                  <a:pt x="63705" y="0"/>
                </a:moveTo>
                <a:lnTo>
                  <a:pt x="5224008" y="0"/>
                </a:lnTo>
                <a:cubicBezTo>
                  <a:pt x="5259191" y="0"/>
                  <a:pt x="5287713" y="28522"/>
                  <a:pt x="5287713" y="63705"/>
                </a:cubicBezTo>
                <a:lnTo>
                  <a:pt x="5287713" y="1178589"/>
                </a:lnTo>
                <a:cubicBezTo>
                  <a:pt x="5287713" y="1213772"/>
                  <a:pt x="5259191" y="1242294"/>
                  <a:pt x="5224008" y="1242294"/>
                </a:cubicBezTo>
                <a:lnTo>
                  <a:pt x="63705" y="1242294"/>
                </a:lnTo>
                <a:cubicBezTo>
                  <a:pt x="28522" y="1242294"/>
                  <a:pt x="0" y="1213772"/>
                  <a:pt x="0" y="1178589"/>
                </a:cubicBezTo>
                <a:lnTo>
                  <a:pt x="0" y="63705"/>
                </a:lnTo>
                <a:cubicBezTo>
                  <a:pt x="0" y="28545"/>
                  <a:pt x="28545" y="0"/>
                  <a:pt x="6370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4" name="Text 32"/>
          <p:cNvSpPr/>
          <p:nvPr/>
        </p:nvSpPr>
        <p:spPr>
          <a:xfrm>
            <a:off x="6515075" y="2510873"/>
            <a:ext cx="5096590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They Work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15075" y="2765703"/>
            <a:ext cx="5088627" cy="732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Have clear goals to achieve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future consequences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action sequences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actions that lead to goals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7660" y="3753167"/>
            <a:ext cx="5287713" cy="668927"/>
          </a:xfrm>
          <a:custGeom>
            <a:avLst/>
            <a:gdLst/>
            <a:ahLst/>
            <a:cxnLst/>
            <a:rect l="l" t="t" r="r" b="b"/>
            <a:pathLst>
              <a:path w="5287713" h="668927">
                <a:moveTo>
                  <a:pt x="63709" y="0"/>
                </a:moveTo>
                <a:lnTo>
                  <a:pt x="5224004" y="0"/>
                </a:lnTo>
                <a:cubicBezTo>
                  <a:pt x="5259189" y="0"/>
                  <a:pt x="5287713" y="28523"/>
                  <a:pt x="5287713" y="63709"/>
                </a:cubicBezTo>
                <a:lnTo>
                  <a:pt x="5287713" y="605219"/>
                </a:lnTo>
                <a:cubicBezTo>
                  <a:pt x="5287713" y="640404"/>
                  <a:pt x="5259189" y="668927"/>
                  <a:pt x="5224004" y="668927"/>
                </a:cubicBezTo>
                <a:lnTo>
                  <a:pt x="63709" y="668927"/>
                </a:lnTo>
                <a:cubicBezTo>
                  <a:pt x="28523" y="668927"/>
                  <a:pt x="0" y="640404"/>
                  <a:pt x="0" y="605219"/>
                </a:cubicBezTo>
                <a:lnTo>
                  <a:pt x="0" y="63709"/>
                </a:lnTo>
                <a:cubicBezTo>
                  <a:pt x="0" y="28523"/>
                  <a:pt x="28523" y="0"/>
                  <a:pt x="6370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7" name="Text 35"/>
          <p:cNvSpPr/>
          <p:nvPr/>
        </p:nvSpPr>
        <p:spPr>
          <a:xfrm>
            <a:off x="6515075" y="3880582"/>
            <a:ext cx="5096590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GPS Navigator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15075" y="4135412"/>
            <a:ext cx="5088627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Reach destination. Plans route, considers traffic, finds shortest path!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0846" y="4552695"/>
            <a:ext cx="5278156" cy="834567"/>
          </a:xfrm>
          <a:custGeom>
            <a:avLst/>
            <a:gdLst/>
            <a:ahLst/>
            <a:cxnLst/>
            <a:rect l="l" t="t" r="r" b="b"/>
            <a:pathLst>
              <a:path w="5278156" h="834567">
                <a:moveTo>
                  <a:pt x="63711" y="0"/>
                </a:moveTo>
                <a:lnTo>
                  <a:pt x="5214446" y="0"/>
                </a:lnTo>
                <a:cubicBezTo>
                  <a:pt x="5249632" y="0"/>
                  <a:pt x="5278156" y="28524"/>
                  <a:pt x="5278156" y="63711"/>
                </a:cubicBezTo>
                <a:lnTo>
                  <a:pt x="5278156" y="770856"/>
                </a:lnTo>
                <a:cubicBezTo>
                  <a:pt x="5278156" y="806042"/>
                  <a:pt x="5249632" y="834567"/>
                  <a:pt x="5214446" y="834567"/>
                </a:cubicBezTo>
                <a:lnTo>
                  <a:pt x="63711" y="834567"/>
                </a:lnTo>
                <a:cubicBezTo>
                  <a:pt x="28524" y="834567"/>
                  <a:pt x="0" y="806042"/>
                  <a:pt x="0" y="770856"/>
                </a:cubicBezTo>
                <a:lnTo>
                  <a:pt x="0" y="63711"/>
                </a:lnTo>
                <a:cubicBezTo>
                  <a:pt x="0" y="28548"/>
                  <a:pt x="28548" y="0"/>
                  <a:pt x="6371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1446" y="4683286"/>
            <a:ext cx="924852" cy="184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Difference: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21446" y="4938115"/>
            <a:ext cx="5072700" cy="31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Model-based agents remember the past. Goal-based agents plan for the future. Both are smarter than simple reflex agents!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7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877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 • TOPIC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8867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Utility-Based and Learning Agents: Making Smart Choices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5589270" cy="5341620"/>
          </a:xfrm>
          <a:custGeom>
            <a:avLst/>
            <a:gdLst/>
            <a:ahLst/>
            <a:cxnLst/>
            <a:rect l="l" t="t" r="r" b="b"/>
            <a:pathLst>
              <a:path w="5589270" h="5341620">
                <a:moveTo>
                  <a:pt x="114311" y="0"/>
                </a:moveTo>
                <a:lnTo>
                  <a:pt x="5474959" y="0"/>
                </a:lnTo>
                <a:cubicBezTo>
                  <a:pt x="5538091" y="0"/>
                  <a:pt x="5589270" y="51179"/>
                  <a:pt x="5589270" y="114311"/>
                </a:cubicBezTo>
                <a:lnTo>
                  <a:pt x="5589270" y="5227309"/>
                </a:lnTo>
                <a:cubicBezTo>
                  <a:pt x="5589270" y="5290441"/>
                  <a:pt x="5538091" y="5341620"/>
                  <a:pt x="5474959" y="5341620"/>
                </a:cubicBezTo>
                <a:lnTo>
                  <a:pt x="114311" y="5341620"/>
                </a:lnTo>
                <a:cubicBezTo>
                  <a:pt x="51179" y="5341620"/>
                  <a:pt x="0" y="5290441"/>
                  <a:pt x="0" y="522730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5316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7233" y="164592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607827"/>
            <a:ext cx="2200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Utility-Based Agents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141227"/>
            <a:ext cx="5210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agents choose actions that maximize </a:t>
            </a:r>
            <a:r>
              <a:rPr lang="en-US" sz="135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happiness or benefit</a:t>
            </a: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just reach goals. They weigh trade-offs!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" y="2850840"/>
            <a:ext cx="5124450" cy="1485900"/>
          </a:xfrm>
          <a:custGeom>
            <a:avLst/>
            <a:gdLst/>
            <a:ahLst/>
            <a:cxnLst/>
            <a:rect l="l" t="t" r="r" b="b"/>
            <a:pathLst>
              <a:path w="5124450" h="1485900">
                <a:moveTo>
                  <a:pt x="76197" y="0"/>
                </a:moveTo>
                <a:lnTo>
                  <a:pt x="5048253" y="0"/>
                </a:lnTo>
                <a:cubicBezTo>
                  <a:pt x="5090335" y="0"/>
                  <a:pt x="5124450" y="34115"/>
                  <a:pt x="5124450" y="76197"/>
                </a:cubicBezTo>
                <a:lnTo>
                  <a:pt x="5124450" y="1409703"/>
                </a:lnTo>
                <a:cubicBezTo>
                  <a:pt x="5124450" y="1451785"/>
                  <a:pt x="5090335" y="1485900"/>
                  <a:pt x="504825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2" name="Text 10"/>
          <p:cNvSpPr/>
          <p:nvPr/>
        </p:nvSpPr>
        <p:spPr>
          <a:xfrm>
            <a:off x="769620" y="300324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They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9620" y="3308040"/>
            <a:ext cx="488632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 utility (value) to each outcome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expected utility of actions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action with highest utility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conflicting goals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" y="4489140"/>
            <a:ext cx="5124450" cy="990600"/>
          </a:xfrm>
          <a:custGeom>
            <a:avLst/>
            <a:gdLst/>
            <a:ahLst/>
            <a:cxnLst/>
            <a:rect l="l" t="t" r="r" b="b"/>
            <a:pathLst>
              <a:path w="5124450" h="990600">
                <a:moveTo>
                  <a:pt x="76197" y="0"/>
                </a:moveTo>
                <a:lnTo>
                  <a:pt x="5048253" y="0"/>
                </a:lnTo>
                <a:cubicBezTo>
                  <a:pt x="5090335" y="0"/>
                  <a:pt x="5124450" y="34115"/>
                  <a:pt x="5124450" y="76197"/>
                </a:cubicBezTo>
                <a:lnTo>
                  <a:pt x="5124450" y="914403"/>
                </a:lnTo>
                <a:cubicBezTo>
                  <a:pt x="5124450" y="956485"/>
                  <a:pt x="5090335" y="990600"/>
                  <a:pt x="50482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5" name="Text 13"/>
          <p:cNvSpPr/>
          <p:nvPr/>
        </p:nvSpPr>
        <p:spPr>
          <a:xfrm>
            <a:off x="769620" y="464154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Route Planning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9620" y="4946340"/>
            <a:ext cx="4886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route vs. safe route vs. scenic route. Utility-based agent picks the best balance based on preferences!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030" y="5635950"/>
            <a:ext cx="5122545" cy="769620"/>
          </a:xfrm>
          <a:custGeom>
            <a:avLst/>
            <a:gdLst/>
            <a:ahLst/>
            <a:cxnLst/>
            <a:rect l="l" t="t" r="r" b="b"/>
            <a:pathLst>
              <a:path w="5122545" h="769620">
                <a:moveTo>
                  <a:pt x="76200" y="0"/>
                </a:moveTo>
                <a:lnTo>
                  <a:pt x="5046345" y="0"/>
                </a:lnTo>
                <a:cubicBezTo>
                  <a:pt x="5088429" y="0"/>
                  <a:pt x="5122545" y="34116"/>
                  <a:pt x="5122545" y="76200"/>
                </a:cubicBezTo>
                <a:lnTo>
                  <a:pt x="5122545" y="693420"/>
                </a:lnTo>
                <a:cubicBezTo>
                  <a:pt x="5122545" y="735504"/>
                  <a:pt x="5088429" y="769620"/>
                  <a:pt x="504634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 w="10160">
            <a:solidFill>
              <a:srgbClr val="EC4899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2149"/>
            <a:ext cx="4886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Like choosing a restaurant - you consider food quality, price, distance, and ambiance to maximize overall satisfaction!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4110" y="1299210"/>
            <a:ext cx="5589270" cy="5341620"/>
          </a:xfrm>
          <a:custGeom>
            <a:avLst/>
            <a:gdLst/>
            <a:ahLst/>
            <a:cxnLst/>
            <a:rect l="l" t="t" r="r" b="b"/>
            <a:pathLst>
              <a:path w="5589270" h="5341620">
                <a:moveTo>
                  <a:pt x="114311" y="0"/>
                </a:moveTo>
                <a:lnTo>
                  <a:pt x="5474959" y="0"/>
                </a:lnTo>
                <a:cubicBezTo>
                  <a:pt x="5538091" y="0"/>
                  <a:pt x="5589270" y="51179"/>
                  <a:pt x="5589270" y="114311"/>
                </a:cubicBezTo>
                <a:lnTo>
                  <a:pt x="5589270" y="5227309"/>
                </a:lnTo>
                <a:cubicBezTo>
                  <a:pt x="5589270" y="5290441"/>
                  <a:pt x="5538091" y="5341620"/>
                  <a:pt x="5474959" y="5341620"/>
                </a:cubicBezTo>
                <a:lnTo>
                  <a:pt x="114311" y="5341620"/>
                </a:lnTo>
                <a:cubicBezTo>
                  <a:pt x="51179" y="5341620"/>
                  <a:pt x="0" y="5290441"/>
                  <a:pt x="0" y="522730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5316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46532" y="164592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7018020" y="1607827"/>
            <a:ext cx="176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Agents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2141227"/>
            <a:ext cx="5210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agents </a:t>
            </a: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over time</a:t>
            </a: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learning from experience and feedback. They get smarter!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2850840"/>
            <a:ext cx="5124450" cy="1485900"/>
          </a:xfrm>
          <a:custGeom>
            <a:avLst/>
            <a:gdLst/>
            <a:ahLst/>
            <a:cxnLst/>
            <a:rect l="l" t="t" r="r" b="b"/>
            <a:pathLst>
              <a:path w="5124450" h="1485900">
                <a:moveTo>
                  <a:pt x="76197" y="0"/>
                </a:moveTo>
                <a:lnTo>
                  <a:pt x="5048253" y="0"/>
                </a:lnTo>
                <a:cubicBezTo>
                  <a:pt x="5090335" y="0"/>
                  <a:pt x="5124450" y="34115"/>
                  <a:pt x="5124450" y="76197"/>
                </a:cubicBezTo>
                <a:lnTo>
                  <a:pt x="5124450" y="1409703"/>
                </a:lnTo>
                <a:cubicBezTo>
                  <a:pt x="5124450" y="1451785"/>
                  <a:pt x="5090335" y="1485900"/>
                  <a:pt x="504825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5" name="Text 23"/>
          <p:cNvSpPr/>
          <p:nvPr/>
        </p:nvSpPr>
        <p:spPr>
          <a:xfrm>
            <a:off x="6598920" y="300324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They Work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98920" y="3308040"/>
            <a:ext cx="488632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 different actions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Observe results and get feedback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what works and what doesn't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performance over time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6520" y="4489140"/>
            <a:ext cx="5124450" cy="990600"/>
          </a:xfrm>
          <a:custGeom>
            <a:avLst/>
            <a:gdLst/>
            <a:ahLst/>
            <a:cxnLst/>
            <a:rect l="l" t="t" r="r" b="b"/>
            <a:pathLst>
              <a:path w="5124450" h="990600">
                <a:moveTo>
                  <a:pt x="76197" y="0"/>
                </a:moveTo>
                <a:lnTo>
                  <a:pt x="5048253" y="0"/>
                </a:lnTo>
                <a:cubicBezTo>
                  <a:pt x="5090335" y="0"/>
                  <a:pt x="5124450" y="34115"/>
                  <a:pt x="5124450" y="76197"/>
                </a:cubicBezTo>
                <a:lnTo>
                  <a:pt x="5124450" y="914403"/>
                </a:lnTo>
                <a:cubicBezTo>
                  <a:pt x="5124450" y="956485"/>
                  <a:pt x="5090335" y="990600"/>
                  <a:pt x="50482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8" name="Text 26"/>
          <p:cNvSpPr/>
          <p:nvPr/>
        </p:nvSpPr>
        <p:spPr>
          <a:xfrm>
            <a:off x="6598920" y="464154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Netflix Recommendations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98920" y="4946340"/>
            <a:ext cx="4886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Learns your preferences from what you watch, clicks, and ratings. Gets better at suggesting shows you'll love!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50330" y="5635950"/>
            <a:ext cx="5122545" cy="769620"/>
          </a:xfrm>
          <a:custGeom>
            <a:avLst/>
            <a:gdLst/>
            <a:ahLst/>
            <a:cxnLst/>
            <a:rect l="l" t="t" r="r" b="b"/>
            <a:pathLst>
              <a:path w="5122545" h="769620">
                <a:moveTo>
                  <a:pt x="76200" y="0"/>
                </a:moveTo>
                <a:lnTo>
                  <a:pt x="5046345" y="0"/>
                </a:lnTo>
                <a:cubicBezTo>
                  <a:pt x="5088429" y="0"/>
                  <a:pt x="5122545" y="34116"/>
                  <a:pt x="5122545" y="76200"/>
                </a:cubicBezTo>
                <a:lnTo>
                  <a:pt x="5122545" y="693420"/>
                </a:lnTo>
                <a:cubicBezTo>
                  <a:pt x="5122545" y="735504"/>
                  <a:pt x="5088429" y="769620"/>
                  <a:pt x="504634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6540" y="5792149"/>
            <a:ext cx="4886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Like a student who gets better at math by practicing - learning agents improve through experience!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humbs.dreamstime.com/b/ai-technology-black-background-futuristic-blue-glowing-hologram-empty-space-dark-artificial-intelligence-concept-text-390300703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00" r="100"/>
          <a:stretch/>
        </p:blipFill>
        <p:spPr>
          <a:xfrm>
            <a:off x="0" y="0"/>
            <a:ext cx="12192000" cy="685642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425"/>
          </a:xfrm>
          <a:custGeom>
            <a:avLst/>
            <a:gdLst/>
            <a:ahLst/>
            <a:cxnLst/>
            <a:rect l="l" t="t" r="r" b="b"/>
            <a:pathLst>
              <a:path w="12192000" h="6856425">
                <a:moveTo>
                  <a:pt x="0" y="0"/>
                </a:moveTo>
                <a:lnTo>
                  <a:pt x="12192000" y="0"/>
                </a:lnTo>
                <a:lnTo>
                  <a:pt x="12192000" y="6856425"/>
                </a:lnTo>
                <a:lnTo>
                  <a:pt x="0" y="685642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39460" y="339460"/>
            <a:ext cx="1804853" cy="342821"/>
          </a:xfrm>
          <a:custGeom>
            <a:avLst/>
            <a:gdLst/>
            <a:ahLst/>
            <a:cxnLst/>
            <a:rect l="l" t="t" r="r" b="b"/>
            <a:pathLst>
              <a:path w="1804853" h="342821">
                <a:moveTo>
                  <a:pt x="171411" y="0"/>
                </a:moveTo>
                <a:lnTo>
                  <a:pt x="1633442" y="0"/>
                </a:lnTo>
                <a:cubicBezTo>
                  <a:pt x="1728110" y="0"/>
                  <a:pt x="1804853" y="76743"/>
                  <a:pt x="1804853" y="171411"/>
                </a:cubicBezTo>
                <a:lnTo>
                  <a:pt x="1804853" y="171411"/>
                </a:lnTo>
                <a:cubicBezTo>
                  <a:pt x="1804853" y="266078"/>
                  <a:pt x="1728110" y="342821"/>
                  <a:pt x="1633442" y="342821"/>
                </a:cubicBezTo>
                <a:lnTo>
                  <a:pt x="171411" y="342821"/>
                </a:lnTo>
                <a:cubicBezTo>
                  <a:pt x="76743" y="342821"/>
                  <a:pt x="0" y="266078"/>
                  <a:pt x="0" y="171411"/>
                </a:cubicBezTo>
                <a:lnTo>
                  <a:pt x="0" y="171411"/>
                </a:lnTo>
                <a:cubicBezTo>
                  <a:pt x="0" y="76743"/>
                  <a:pt x="76743" y="0"/>
                  <a:pt x="17141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7261" y="410048"/>
            <a:ext cx="159647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COMPLETION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6099" y="820079"/>
            <a:ext cx="11721461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7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We've Learned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6099" y="1324228"/>
            <a:ext cx="1160382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 from Introduction to Artificial Intelligence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9460" y="1764518"/>
            <a:ext cx="5686799" cy="1183069"/>
          </a:xfrm>
          <a:custGeom>
            <a:avLst/>
            <a:gdLst/>
            <a:ahLst/>
            <a:cxnLst/>
            <a:rect l="l" t="t" r="r" b="b"/>
            <a:pathLst>
              <a:path w="5686799" h="1183069">
                <a:moveTo>
                  <a:pt x="100833" y="0"/>
                </a:moveTo>
                <a:lnTo>
                  <a:pt x="5585966" y="0"/>
                </a:lnTo>
                <a:cubicBezTo>
                  <a:pt x="5641655" y="0"/>
                  <a:pt x="5686799" y="45144"/>
                  <a:pt x="5686799" y="100833"/>
                </a:cubicBezTo>
                <a:lnTo>
                  <a:pt x="5686799" y="1082236"/>
                </a:lnTo>
                <a:cubicBezTo>
                  <a:pt x="5686799" y="1137925"/>
                  <a:pt x="5641655" y="1183069"/>
                  <a:pt x="5585966" y="1183069"/>
                </a:cubicBezTo>
                <a:lnTo>
                  <a:pt x="100833" y="1183069"/>
                </a:lnTo>
                <a:cubicBezTo>
                  <a:pt x="45144" y="1183069"/>
                  <a:pt x="0" y="1137925"/>
                  <a:pt x="0" y="1082236"/>
                </a:cubicBezTo>
                <a:lnTo>
                  <a:pt x="0" y="100833"/>
                </a:lnTo>
                <a:cubicBezTo>
                  <a:pt x="0" y="45182"/>
                  <a:pt x="45182" y="0"/>
                  <a:pt x="10083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0871" y="1935935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5311" y="1986350"/>
            <a:ext cx="15124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47800" y="1986350"/>
            <a:ext cx="915870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AI?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0871" y="2372864"/>
            <a:ext cx="541119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is when machines perform tasks requiring human intelligence - learning, reasoning, perception, and decision-making.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65111" y="1764518"/>
            <a:ext cx="5686799" cy="1183069"/>
          </a:xfrm>
          <a:custGeom>
            <a:avLst/>
            <a:gdLst/>
            <a:ahLst/>
            <a:cxnLst/>
            <a:rect l="l" t="t" r="r" b="b"/>
            <a:pathLst>
              <a:path w="5686799" h="1183069">
                <a:moveTo>
                  <a:pt x="100833" y="0"/>
                </a:moveTo>
                <a:lnTo>
                  <a:pt x="5585966" y="0"/>
                </a:lnTo>
                <a:cubicBezTo>
                  <a:pt x="5641655" y="0"/>
                  <a:pt x="5686799" y="45144"/>
                  <a:pt x="5686799" y="100833"/>
                </a:cubicBezTo>
                <a:lnTo>
                  <a:pt x="5686799" y="1082236"/>
                </a:lnTo>
                <a:cubicBezTo>
                  <a:pt x="5686799" y="1137925"/>
                  <a:pt x="5641655" y="1183069"/>
                  <a:pt x="5585966" y="1183069"/>
                </a:cubicBezTo>
                <a:lnTo>
                  <a:pt x="100833" y="1183069"/>
                </a:lnTo>
                <a:cubicBezTo>
                  <a:pt x="45144" y="1183069"/>
                  <a:pt x="0" y="1137925"/>
                  <a:pt x="0" y="1082236"/>
                </a:cubicBezTo>
                <a:lnTo>
                  <a:pt x="0" y="100833"/>
                </a:lnTo>
                <a:cubicBezTo>
                  <a:pt x="0" y="45182"/>
                  <a:pt x="45182" y="0"/>
                  <a:pt x="10083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36521" y="1935935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55731" y="1986350"/>
            <a:ext cx="18485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73450" y="1986350"/>
            <a:ext cx="1352799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Approaches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36521" y="2372864"/>
            <a:ext cx="541119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Acting Humanly (Turing Test), Thinking Humanly (Cognitive Modeling), Thinking Rationally (Logic), Acting Rationally (Rational Agent).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39460" y="3088762"/>
            <a:ext cx="5686799" cy="1183069"/>
          </a:xfrm>
          <a:custGeom>
            <a:avLst/>
            <a:gdLst/>
            <a:ahLst/>
            <a:cxnLst/>
            <a:rect l="l" t="t" r="r" b="b"/>
            <a:pathLst>
              <a:path w="5686799" h="1183069">
                <a:moveTo>
                  <a:pt x="100833" y="0"/>
                </a:moveTo>
                <a:lnTo>
                  <a:pt x="5585966" y="0"/>
                </a:lnTo>
                <a:cubicBezTo>
                  <a:pt x="5641655" y="0"/>
                  <a:pt x="5686799" y="45144"/>
                  <a:pt x="5686799" y="100833"/>
                </a:cubicBezTo>
                <a:lnTo>
                  <a:pt x="5686799" y="1082236"/>
                </a:lnTo>
                <a:cubicBezTo>
                  <a:pt x="5686799" y="1137925"/>
                  <a:pt x="5641655" y="1183069"/>
                  <a:pt x="5585966" y="1183069"/>
                </a:cubicBezTo>
                <a:lnTo>
                  <a:pt x="100833" y="1183069"/>
                </a:lnTo>
                <a:cubicBezTo>
                  <a:pt x="45144" y="1183069"/>
                  <a:pt x="0" y="1137925"/>
                  <a:pt x="0" y="1082236"/>
                </a:cubicBezTo>
                <a:lnTo>
                  <a:pt x="0" y="100833"/>
                </a:lnTo>
                <a:cubicBezTo>
                  <a:pt x="0" y="45182"/>
                  <a:pt x="45182" y="0"/>
                  <a:pt x="10083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0871" y="3260163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29346" y="3310578"/>
            <a:ext cx="18485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47800" y="3310578"/>
            <a:ext cx="100829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0871" y="3697092"/>
            <a:ext cx="541119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builds on Philosophy (questions), Mathematics (tools), Psychology (human mind), and Computer Engineering (hardware/software).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65111" y="3088762"/>
            <a:ext cx="5686799" cy="1183069"/>
          </a:xfrm>
          <a:custGeom>
            <a:avLst/>
            <a:gdLst/>
            <a:ahLst/>
            <a:cxnLst/>
            <a:rect l="l" t="t" r="r" b="b"/>
            <a:pathLst>
              <a:path w="5686799" h="1183069">
                <a:moveTo>
                  <a:pt x="100833" y="0"/>
                </a:moveTo>
                <a:lnTo>
                  <a:pt x="5585966" y="0"/>
                </a:lnTo>
                <a:cubicBezTo>
                  <a:pt x="5641655" y="0"/>
                  <a:pt x="5686799" y="45144"/>
                  <a:pt x="5686799" y="100833"/>
                </a:cubicBezTo>
                <a:lnTo>
                  <a:pt x="5686799" y="1082236"/>
                </a:lnTo>
                <a:cubicBezTo>
                  <a:pt x="5686799" y="1137925"/>
                  <a:pt x="5641655" y="1183069"/>
                  <a:pt x="5585966" y="1183069"/>
                </a:cubicBezTo>
                <a:lnTo>
                  <a:pt x="100833" y="1183069"/>
                </a:lnTo>
                <a:cubicBezTo>
                  <a:pt x="45144" y="1183069"/>
                  <a:pt x="0" y="1137925"/>
                  <a:pt x="0" y="1082236"/>
                </a:cubicBezTo>
                <a:lnTo>
                  <a:pt x="0" y="100833"/>
                </a:lnTo>
                <a:cubicBezTo>
                  <a:pt x="0" y="45182"/>
                  <a:pt x="45182" y="0"/>
                  <a:pt x="10083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36521" y="3260163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454996" y="3310578"/>
            <a:ext cx="18485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73450" y="3310578"/>
            <a:ext cx="100829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36521" y="3697092"/>
            <a:ext cx="541119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Gaming, Natural Language Processing, Expert Systems, Computer Vision, and Robotics - AI is everywhere!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39460" y="4412990"/>
            <a:ext cx="5686799" cy="1183069"/>
          </a:xfrm>
          <a:custGeom>
            <a:avLst/>
            <a:gdLst/>
            <a:ahLst/>
            <a:cxnLst/>
            <a:rect l="l" t="t" r="r" b="b"/>
            <a:pathLst>
              <a:path w="5686799" h="1183069">
                <a:moveTo>
                  <a:pt x="100833" y="0"/>
                </a:moveTo>
                <a:lnTo>
                  <a:pt x="5585966" y="0"/>
                </a:lnTo>
                <a:cubicBezTo>
                  <a:pt x="5641655" y="0"/>
                  <a:pt x="5686799" y="45144"/>
                  <a:pt x="5686799" y="100833"/>
                </a:cubicBezTo>
                <a:lnTo>
                  <a:pt x="5686799" y="1082236"/>
                </a:lnTo>
                <a:cubicBezTo>
                  <a:pt x="5686799" y="1137925"/>
                  <a:pt x="5641655" y="1183069"/>
                  <a:pt x="5585966" y="1183069"/>
                </a:cubicBezTo>
                <a:lnTo>
                  <a:pt x="100833" y="1183069"/>
                </a:lnTo>
                <a:cubicBezTo>
                  <a:pt x="45144" y="1183069"/>
                  <a:pt x="0" y="1137925"/>
                  <a:pt x="0" y="1082236"/>
                </a:cubicBezTo>
                <a:lnTo>
                  <a:pt x="0" y="100833"/>
                </a:lnTo>
                <a:cubicBezTo>
                  <a:pt x="0" y="45182"/>
                  <a:pt x="45182" y="0"/>
                  <a:pt x="10083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10871" y="4584390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30501" y="4634805"/>
            <a:ext cx="18485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47800" y="4634805"/>
            <a:ext cx="1386409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Agents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0871" y="5021319"/>
            <a:ext cx="541119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Agents perceive through sensors, act through actuators, and use the PEAS framework. Types include simple reflex, model-based, goal-based, utility-based, and learning agents.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165111" y="4412990"/>
            <a:ext cx="5686799" cy="1183069"/>
          </a:xfrm>
          <a:custGeom>
            <a:avLst/>
            <a:gdLst/>
            <a:ahLst/>
            <a:cxnLst/>
            <a:rect l="l" t="t" r="r" b="b"/>
            <a:pathLst>
              <a:path w="5686799" h="1183069">
                <a:moveTo>
                  <a:pt x="100833" y="0"/>
                </a:moveTo>
                <a:lnTo>
                  <a:pt x="5585966" y="0"/>
                </a:lnTo>
                <a:cubicBezTo>
                  <a:pt x="5641655" y="0"/>
                  <a:pt x="5686799" y="45144"/>
                  <a:pt x="5686799" y="100833"/>
                </a:cubicBezTo>
                <a:lnTo>
                  <a:pt x="5686799" y="1082236"/>
                </a:lnTo>
                <a:cubicBezTo>
                  <a:pt x="5686799" y="1137925"/>
                  <a:pt x="5641655" y="1183069"/>
                  <a:pt x="5585966" y="1183069"/>
                </a:cubicBezTo>
                <a:lnTo>
                  <a:pt x="100833" y="1183069"/>
                </a:lnTo>
                <a:cubicBezTo>
                  <a:pt x="45144" y="1183069"/>
                  <a:pt x="0" y="1137925"/>
                  <a:pt x="0" y="1082236"/>
                </a:cubicBezTo>
                <a:lnTo>
                  <a:pt x="0" y="100833"/>
                </a:lnTo>
                <a:cubicBezTo>
                  <a:pt x="0" y="45182"/>
                  <a:pt x="45182" y="0"/>
                  <a:pt x="10083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36521" y="4584390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454261" y="4634805"/>
            <a:ext cx="18485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73450" y="4634805"/>
            <a:ext cx="86545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Rationality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36521" y="5021319"/>
            <a:ext cx="541119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Rational agents make the best decisions with available information. Rationality ≠ omniscience - it's about being optimal, not perfect.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39460" y="5737217"/>
            <a:ext cx="11509719" cy="914190"/>
          </a:xfrm>
          <a:custGeom>
            <a:avLst/>
            <a:gdLst/>
            <a:ahLst/>
            <a:cxnLst/>
            <a:rect l="l" t="t" r="r" b="b"/>
            <a:pathLst>
              <a:path w="11509719" h="914190">
                <a:moveTo>
                  <a:pt x="100826" y="0"/>
                </a:moveTo>
                <a:lnTo>
                  <a:pt x="11408893" y="0"/>
                </a:lnTo>
                <a:cubicBezTo>
                  <a:pt x="11464577" y="0"/>
                  <a:pt x="11509719" y="45141"/>
                  <a:pt x="11509719" y="100826"/>
                </a:cubicBezTo>
                <a:lnTo>
                  <a:pt x="11509719" y="813364"/>
                </a:lnTo>
                <a:cubicBezTo>
                  <a:pt x="11509719" y="869049"/>
                  <a:pt x="11464577" y="914190"/>
                  <a:pt x="11408893" y="914190"/>
                </a:cubicBezTo>
                <a:lnTo>
                  <a:pt x="100826" y="914190"/>
                </a:lnTo>
                <a:cubicBezTo>
                  <a:pt x="45141" y="914190"/>
                  <a:pt x="0" y="869049"/>
                  <a:pt x="0" y="813364"/>
                </a:cubicBezTo>
                <a:lnTo>
                  <a:pt x="0" y="100826"/>
                </a:lnTo>
                <a:cubicBezTo>
                  <a:pt x="0" y="45179"/>
                  <a:pt x="45179" y="0"/>
                  <a:pt x="10082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48682" y="6042959"/>
            <a:ext cx="302489" cy="302489"/>
          </a:xfrm>
          <a:custGeom>
            <a:avLst/>
            <a:gdLst/>
            <a:ahLst/>
            <a:cxnLst/>
            <a:rect l="l" t="t" r="r" b="b"/>
            <a:pathLst>
              <a:path w="302489" h="302489">
                <a:moveTo>
                  <a:pt x="75622" y="189056"/>
                </a:moveTo>
                <a:lnTo>
                  <a:pt x="14475" y="189056"/>
                </a:lnTo>
                <a:cubicBezTo>
                  <a:pt x="-236" y="189056"/>
                  <a:pt x="-9276" y="173045"/>
                  <a:pt x="-1713" y="160402"/>
                </a:cubicBezTo>
                <a:lnTo>
                  <a:pt x="29540" y="108294"/>
                </a:lnTo>
                <a:cubicBezTo>
                  <a:pt x="34680" y="99727"/>
                  <a:pt x="43896" y="94528"/>
                  <a:pt x="53881" y="94528"/>
                </a:cubicBezTo>
                <a:lnTo>
                  <a:pt x="110007" y="94528"/>
                </a:lnTo>
                <a:cubicBezTo>
                  <a:pt x="154967" y="18374"/>
                  <a:pt x="222022" y="14534"/>
                  <a:pt x="266864" y="21092"/>
                </a:cubicBezTo>
                <a:cubicBezTo>
                  <a:pt x="274426" y="22214"/>
                  <a:pt x="280334" y="28122"/>
                  <a:pt x="281398" y="35625"/>
                </a:cubicBezTo>
                <a:cubicBezTo>
                  <a:pt x="287956" y="80467"/>
                  <a:pt x="284115" y="147523"/>
                  <a:pt x="207961" y="192482"/>
                </a:cubicBezTo>
                <a:lnTo>
                  <a:pt x="207961" y="248608"/>
                </a:lnTo>
                <a:cubicBezTo>
                  <a:pt x="207961" y="258593"/>
                  <a:pt x="202762" y="267809"/>
                  <a:pt x="194196" y="272949"/>
                </a:cubicBezTo>
                <a:lnTo>
                  <a:pt x="142087" y="304203"/>
                </a:lnTo>
                <a:cubicBezTo>
                  <a:pt x="129503" y="311765"/>
                  <a:pt x="113433" y="302667"/>
                  <a:pt x="113433" y="288015"/>
                </a:cubicBezTo>
                <a:lnTo>
                  <a:pt x="113433" y="226867"/>
                </a:lnTo>
                <a:cubicBezTo>
                  <a:pt x="113433" y="206012"/>
                  <a:pt x="96478" y="189056"/>
                  <a:pt x="75622" y="189056"/>
                </a:cubicBezTo>
                <a:lnTo>
                  <a:pt x="75563" y="189056"/>
                </a:lnTo>
                <a:close/>
                <a:moveTo>
                  <a:pt x="236320" y="94528"/>
                </a:moveTo>
                <a:cubicBezTo>
                  <a:pt x="236320" y="78876"/>
                  <a:pt x="223613" y="66170"/>
                  <a:pt x="207961" y="66170"/>
                </a:cubicBezTo>
                <a:cubicBezTo>
                  <a:pt x="192310" y="66170"/>
                  <a:pt x="179603" y="78876"/>
                  <a:pt x="179603" y="94528"/>
                </a:cubicBezTo>
                <a:cubicBezTo>
                  <a:pt x="179603" y="110179"/>
                  <a:pt x="192310" y="122886"/>
                  <a:pt x="207961" y="122886"/>
                </a:cubicBezTo>
                <a:cubicBezTo>
                  <a:pt x="223613" y="122886"/>
                  <a:pt x="236320" y="110179"/>
                  <a:pt x="236320" y="9452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7"/>
          <p:cNvSpPr/>
          <p:nvPr/>
        </p:nvSpPr>
        <p:spPr>
          <a:xfrm>
            <a:off x="1023422" y="5908635"/>
            <a:ext cx="779750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AI Journey Continues!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23422" y="6244619"/>
            <a:ext cx="777229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You've mastered the fundamentals. Keep exploring - AI is transforming our world, and you're now part of that journey!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4491</Words>
  <Application>Microsoft Office PowerPoint</Application>
  <PresentationFormat>Widescreen</PresentationFormat>
  <Paragraphs>703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MiSans</vt:lpstr>
      <vt:lpstr>Calibri</vt:lpstr>
      <vt:lpstr>微软雅黑</vt:lpstr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</dc:title>
  <dc:subject>Introduction to Artificial Intelligence</dc:subject>
  <dc:creator>Kimi</dc:creator>
  <cp:lastModifiedBy>Lenovo</cp:lastModifiedBy>
  <cp:revision>2</cp:revision>
  <dcterms:created xsi:type="dcterms:W3CDTF">2026-04-19T04:02:36Z</dcterms:created>
  <dcterms:modified xsi:type="dcterms:W3CDTF">2026-04-19T04:08:37Z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{"Label":"Introduction to Artificial Intelligence","ContentProducer":"001191110108MACG2KBH8F10000","ProduceID":"19da3de0-9472-8580-8000-00001c4b6073","ReservedCode1":"","ContentPropagator":"001191110108MACG2KBH8F20000","PropagateID":"19da3de0-9472-8580-80</vt:lpwstr>
  </property>
</Properties>
</file>