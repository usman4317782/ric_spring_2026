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6256000" cy="9144000"/>
  <p:notesSz cx="9144000" cy="16256000"/>
  <p:embeddedFontLst>
    <p:embeddedFont>
      <p:font typeface="Quattrocento Sans" charset="-122" pitchFamily="34"/>
      <p:regular r:id="rId37"/>
    </p:embeddedFont>
    <p:embeddedFont>
      <p:font typeface="Liter" charset="-122" pitchFamily="34"/>
      <p:regular r:id="rId3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font" Target="fonts/font1.fntdata"/><Relationship Id="rId3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l62xu63prt7y4/mnt/agents/output/ai-course/images/1_Abstract_Neural_Network_Web_on_Dark.png">    </p:cNvPr>
          <p:cNvPicPr>
            <a:picLocks noChangeAspect="1"/>
          </p:cNvPicPr>
          <p:nvPr/>
        </p:nvPicPr>
        <p:blipFill>
          <a:blip r:embed="rId1"/>
          <a:srcRect l="0" r="0" t="21875" b="21875"/>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2D3436">
                  <a:alpha val="90000"/>
                </a:srgbClr>
              </a:gs>
              <a:gs pos="50000">
                <a:srgbClr val="2D3436">
                  <a:alpha val="80000"/>
                </a:srgbClr>
              </a:gs>
              <a:gs pos="100000">
                <a:srgbClr val="2D3436">
                  <a:alpha val="90000"/>
                </a:srgbClr>
              </a:gs>
            </a:gsLst>
            <a:lin ang="5400000" scaled="1"/>
          </a:gradFill>
          <a:ln w="12700">
            <a:solidFill>
              <a:srgbClr val="333333"/>
            </a:solidFill>
            <a:prstDash val="solid"/>
          </a:ln>
        </p:spPr>
      </p:sp>
      <p:sp>
        <p:nvSpPr>
          <p:cNvPr id="4" name="Text 1"/>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D4A574"/>
                </a:solidFill>
                <a:latin typeface="Liter" pitchFamily="34" charset="0"/>
                <a:ea typeface="Liter" pitchFamily="34" charset="-122"/>
                <a:cs typeface="Liter" pitchFamily="34" charset="-120"/>
              </a:rPr>
              <a:t>AI COURSE — WEEK 1</a:t>
            </a:r>
            <a:endParaRPr lang="en-US" sz="1200" dirty="0"/>
          </a:p>
        </p:txBody>
      </p:sp>
      <p:sp>
        <p:nvSpPr>
          <p:cNvPr id="5" name="Text 2"/>
          <p:cNvSpPr/>
          <p:nvPr/>
        </p:nvSpPr>
        <p:spPr>
          <a:xfrm>
            <a:off x="1778000" y="3048000"/>
            <a:ext cx="12700000" cy="1143000"/>
          </a:xfrm>
          <a:prstGeom prst="rect">
            <a:avLst/>
          </a:prstGeom>
          <a:noFill/>
          <a:ln/>
        </p:spPr>
        <p:txBody>
          <a:bodyPr wrap="none" lIns="0" tIns="0" rIns="0" bIns="0" rtlCol="0" anchor="ctr"/>
          <a:lstStyle/>
          <a:p>
            <a:pPr algn="ctr">
              <a:lnSpc>
                <a:spcPct val="100000"/>
              </a:lnSpc>
            </a:pPr>
            <a:r>
              <a:rPr lang="en-US" sz="6400" spc="400" kern="0" dirty="0">
                <a:solidFill>
                  <a:srgbClr val="F5F1EC"/>
                </a:solidFill>
                <a:latin typeface="Liter" pitchFamily="34" charset="0"/>
                <a:ea typeface="Liter" pitchFamily="34" charset="-122"/>
                <a:cs typeface="Liter" pitchFamily="34" charset="-120"/>
              </a:rPr>
              <a:t>ARTIFICIAL INTELLIGENCE</a:t>
            </a:r>
            <a:endParaRPr lang="en-US" sz="6400" dirty="0"/>
          </a:p>
        </p:txBody>
      </p:sp>
      <p:sp>
        <p:nvSpPr>
          <p:cNvPr id="6" name="Shape 3"/>
          <p:cNvSpPr/>
          <p:nvPr/>
        </p:nvSpPr>
        <p:spPr>
          <a:xfrm>
            <a:off x="6858000" y="4445000"/>
            <a:ext cx="2540000" cy="38100"/>
          </a:xfrm>
          <a:prstGeom prst="rect">
            <a:avLst/>
          </a:prstGeom>
          <a:solidFill>
            <a:srgbClr val="D4A574"/>
          </a:solidFill>
          <a:ln/>
        </p:spPr>
      </p:sp>
      <p:sp>
        <p:nvSpPr>
          <p:cNvPr id="7" name="Text 4"/>
          <p:cNvSpPr/>
          <p:nvPr/>
        </p:nvSpPr>
        <p:spPr>
          <a:xfrm>
            <a:off x="3048000" y="4826000"/>
            <a:ext cx="10160000" cy="508000"/>
          </a:xfrm>
          <a:prstGeom prst="rect">
            <a:avLst/>
          </a:prstGeom>
          <a:noFill/>
          <a:ln/>
        </p:spPr>
        <p:txBody>
          <a:bodyPr wrap="none" lIns="0" tIns="0" rIns="0" bIns="0" rtlCol="0" anchor="ctr"/>
          <a:lstStyle/>
          <a:p>
            <a:pPr algn="ctr">
              <a:lnSpc>
                <a:spcPct val="100000"/>
              </a:lnSpc>
            </a:pPr>
            <a:r>
              <a:rPr lang="en-US" sz="2200" dirty="0">
                <a:solidFill>
                  <a:srgbClr val="F5F1EC"/>
                </a:solidFill>
                <a:latin typeface="Quattrocento Sans" pitchFamily="34" charset="0"/>
                <a:ea typeface="Quattrocento Sans" pitchFamily="34" charset="-122"/>
                <a:cs typeface="Quattrocento Sans" pitchFamily="34" charset="-120"/>
              </a:rPr>
              <a:t>Introduction &amp; Foundations</a:t>
            </a:r>
            <a:endParaRPr lang="en-US" sz="1600" dirty="0"/>
          </a:p>
        </p:txBody>
      </p:sp>
      <p:sp>
        <p:nvSpPr>
          <p:cNvPr id="8" name="Text 5"/>
          <p:cNvSpPr/>
          <p:nvPr/>
        </p:nvSpPr>
        <p:spPr>
          <a:xfrm>
            <a:off x="4318000" y="8128000"/>
            <a:ext cx="7620000" cy="381000"/>
          </a:xfrm>
          <a:prstGeom prst="rect">
            <a:avLst/>
          </a:prstGeom>
          <a:noFill/>
          <a:ln/>
        </p:spPr>
        <p:txBody>
          <a:bodyPr wrap="none" lIns="0" tIns="0" rIns="0" bIns="0" rtlCol="0" anchor="ctr"/>
          <a:lstStyle/>
          <a:p>
            <a:pPr algn="ctr">
              <a:lnSpc>
                <a:spcPct val="100000"/>
              </a:lnSpc>
            </a:pPr>
            <a:r>
              <a:rPr lang="en-US" sz="1400" dirty="0">
                <a:solidFill>
                  <a:srgbClr val="F5F1EC">
                    <a:alpha val="60000"/>
                  </a:srgbClr>
                </a:solidFill>
                <a:latin typeface="Quattrocento Sans" pitchFamily="34" charset="0"/>
                <a:ea typeface="Quattrocento Sans" pitchFamily="34" charset="-122"/>
                <a:cs typeface="Quattrocento Sans" pitchFamily="34" charset="-120"/>
              </a:rPr>
              <a:t>University Course • Academic Year 2025-2026</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2540000"/>
            <a:ext cx="5080000" cy="1016000"/>
          </a:xfrm>
          <a:prstGeom prst="rect">
            <a:avLst/>
          </a:prstGeom>
          <a:noFill/>
          <a:ln/>
        </p:spPr>
        <p:txBody>
          <a:bodyPr wrap="none" lIns="0" tIns="0" rIns="0" bIns="0" rtlCol="0" anchor="ctr"/>
          <a:lstStyle/>
          <a:p>
            <a:pPr>
              <a:lnSpc>
                <a:spcPct val="100000"/>
              </a:lnSpc>
            </a:pPr>
            <a:r>
              <a:rPr lang="en-US" sz="6400" spc="400" kern="0" dirty="0">
                <a:solidFill>
                  <a:srgbClr val="2D3436"/>
                </a:solidFill>
                <a:latin typeface="Liter" pitchFamily="34" charset="0"/>
                <a:ea typeface="Liter" pitchFamily="34" charset="-122"/>
                <a:cs typeface="Liter" pitchFamily="34" charset="-120"/>
              </a:rPr>
              <a:t>CONTENTS</a:t>
            </a:r>
            <a:endParaRPr lang="en-US" sz="1600" dirty="0"/>
          </a:p>
        </p:txBody>
      </p:sp>
      <p:sp>
        <p:nvSpPr>
          <p:cNvPr id="4" name="Shape 2"/>
          <p:cNvSpPr/>
          <p:nvPr/>
        </p:nvSpPr>
        <p:spPr>
          <a:xfrm>
            <a:off x="762000" y="3810000"/>
            <a:ext cx="1016000" cy="50800"/>
          </a:xfrm>
          <a:prstGeom prst="rect">
            <a:avLst/>
          </a:prstGeom>
          <a:solidFill>
            <a:srgbClr val="D4A574"/>
          </a:solidFill>
          <a:ln/>
        </p:spPr>
      </p:sp>
      <p:sp>
        <p:nvSpPr>
          <p:cNvPr id="5" name="Text 3"/>
          <p:cNvSpPr/>
          <p:nvPr/>
        </p:nvSpPr>
        <p:spPr>
          <a:xfrm>
            <a:off x="6350000" y="2540000"/>
            <a:ext cx="1016000" cy="635000"/>
          </a:xfrm>
          <a:prstGeom prst="rect">
            <a:avLst/>
          </a:prstGeom>
          <a:noFill/>
          <a:ln/>
        </p:spPr>
        <p:txBody>
          <a:bodyPr wrap="none" lIns="0" tIns="0" rIns="0" bIns="0" rtlCol="0" anchor="ctr"/>
          <a:lstStyle/>
          <a:p>
            <a:pPr>
              <a:lnSpc>
                <a:spcPct val="100000"/>
              </a:lnSpc>
            </a:pPr>
            <a:r>
              <a:rPr lang="en-US" sz="3600" dirty="0">
                <a:solidFill>
                  <a:srgbClr val="D4A574"/>
                </a:solidFill>
                <a:latin typeface="Liter" pitchFamily="34" charset="0"/>
                <a:ea typeface="Liter" pitchFamily="34" charset="-122"/>
                <a:cs typeface="Liter" pitchFamily="34" charset="-120"/>
              </a:rPr>
              <a:t>01</a:t>
            </a:r>
            <a:endParaRPr lang="en-US" sz="1600" dirty="0"/>
          </a:p>
        </p:txBody>
      </p:sp>
      <p:sp>
        <p:nvSpPr>
          <p:cNvPr id="6" name="Text 4"/>
          <p:cNvSpPr/>
          <p:nvPr/>
        </p:nvSpPr>
        <p:spPr>
          <a:xfrm>
            <a:off x="7366000" y="2540000"/>
            <a:ext cx="8128000" cy="444500"/>
          </a:xfrm>
          <a:prstGeom prst="rect">
            <a:avLst/>
          </a:prstGeom>
          <a:noFill/>
          <a:ln/>
        </p:spPr>
        <p:txBody>
          <a:bodyPr wrap="none" lIns="0" tIns="0" rIns="0" bIns="0" rtlCol="0" anchor="ctr"/>
          <a:lstStyle/>
          <a:p>
            <a:pPr>
              <a:lnSpc>
                <a:spcPct val="100000"/>
              </a:lnSpc>
            </a:pPr>
            <a:r>
              <a:rPr lang="en-US" sz="2400" dirty="0">
                <a:solidFill>
                  <a:srgbClr val="2D3436"/>
                </a:solidFill>
                <a:latin typeface="Liter" pitchFamily="34" charset="0"/>
                <a:ea typeface="Liter" pitchFamily="34" charset="-122"/>
                <a:cs typeface="Liter" pitchFamily="34" charset="-120"/>
              </a:rPr>
              <a:t>Introduction to Artificial Intelligence</a:t>
            </a:r>
            <a:endParaRPr lang="en-US" sz="1600" dirty="0"/>
          </a:p>
        </p:txBody>
      </p:sp>
      <p:sp>
        <p:nvSpPr>
          <p:cNvPr id="7" name="Text 5"/>
          <p:cNvSpPr/>
          <p:nvPr/>
        </p:nvSpPr>
        <p:spPr>
          <a:xfrm>
            <a:off x="7366000" y="3048000"/>
            <a:ext cx="8128000" cy="381000"/>
          </a:xfrm>
          <a:prstGeom prst="rect">
            <a:avLst/>
          </a:prstGeom>
          <a:noFill/>
          <a:ln/>
        </p:spPr>
        <p:txBody>
          <a:bodyPr wrap="none" lIns="0" tIns="0" rIns="0" bIns="0" rtlCol="0" anchor="ctr"/>
          <a:lstStyle/>
          <a:p>
            <a:pPr>
              <a:lnSpc>
                <a:spcPct val="100000"/>
              </a:lnSpc>
            </a:pPr>
            <a:r>
              <a:rPr lang="en-US" sz="1600" dirty="0">
                <a:solidFill>
                  <a:srgbClr val="636E72"/>
                </a:solidFill>
                <a:latin typeface="Quattrocento Sans" pitchFamily="34" charset="0"/>
                <a:ea typeface="Quattrocento Sans" pitchFamily="34" charset="-122"/>
                <a:cs typeface="Quattrocento Sans" pitchFamily="34" charset="-120"/>
              </a:rPr>
              <a:t>History, goals, and real-world impact of AI</a:t>
            </a:r>
            <a:endParaRPr lang="en-US" sz="1600" dirty="0"/>
          </a:p>
        </p:txBody>
      </p:sp>
      <p:sp>
        <p:nvSpPr>
          <p:cNvPr id="8" name="Shape 6"/>
          <p:cNvSpPr/>
          <p:nvPr/>
        </p:nvSpPr>
        <p:spPr>
          <a:xfrm>
            <a:off x="6350000" y="3810000"/>
            <a:ext cx="9144000" cy="12700"/>
          </a:xfrm>
          <a:prstGeom prst="rect">
            <a:avLst/>
          </a:prstGeom>
          <a:solidFill>
            <a:srgbClr val="D5D0C8"/>
          </a:solidFill>
          <a:ln/>
        </p:spPr>
      </p:sp>
      <p:sp>
        <p:nvSpPr>
          <p:cNvPr id="9" name="Text 7"/>
          <p:cNvSpPr/>
          <p:nvPr/>
        </p:nvSpPr>
        <p:spPr>
          <a:xfrm>
            <a:off x="6350000" y="4318000"/>
            <a:ext cx="1016000" cy="635000"/>
          </a:xfrm>
          <a:prstGeom prst="rect">
            <a:avLst/>
          </a:prstGeom>
          <a:noFill/>
          <a:ln/>
        </p:spPr>
        <p:txBody>
          <a:bodyPr wrap="none" lIns="0" tIns="0" rIns="0" bIns="0" rtlCol="0" anchor="ctr"/>
          <a:lstStyle/>
          <a:p>
            <a:pPr>
              <a:lnSpc>
                <a:spcPct val="100000"/>
              </a:lnSpc>
            </a:pPr>
            <a:r>
              <a:rPr lang="en-US" sz="3600" dirty="0">
                <a:solidFill>
                  <a:srgbClr val="D4A574"/>
                </a:solidFill>
                <a:latin typeface="Liter" pitchFamily="34" charset="0"/>
                <a:ea typeface="Liter" pitchFamily="34" charset="-122"/>
                <a:cs typeface="Liter" pitchFamily="34" charset="-120"/>
              </a:rPr>
              <a:t>02</a:t>
            </a:r>
            <a:endParaRPr lang="en-US" sz="1600" dirty="0"/>
          </a:p>
        </p:txBody>
      </p:sp>
      <p:sp>
        <p:nvSpPr>
          <p:cNvPr id="10" name="Text 8"/>
          <p:cNvSpPr/>
          <p:nvPr/>
        </p:nvSpPr>
        <p:spPr>
          <a:xfrm>
            <a:off x="7366000" y="4318000"/>
            <a:ext cx="8128000" cy="444500"/>
          </a:xfrm>
          <a:prstGeom prst="rect">
            <a:avLst/>
          </a:prstGeom>
          <a:noFill/>
          <a:ln/>
        </p:spPr>
        <p:txBody>
          <a:bodyPr wrap="none" lIns="0" tIns="0" rIns="0" bIns="0" rtlCol="0" anchor="ctr"/>
          <a:lstStyle/>
          <a:p>
            <a:pPr>
              <a:lnSpc>
                <a:spcPct val="100000"/>
              </a:lnSpc>
            </a:pPr>
            <a:r>
              <a:rPr lang="en-US" sz="2400" dirty="0">
                <a:solidFill>
                  <a:srgbClr val="2D3436"/>
                </a:solidFill>
                <a:latin typeface="Liter" pitchFamily="34" charset="0"/>
                <a:ea typeface="Liter" pitchFamily="34" charset="-122"/>
                <a:cs typeface="Liter" pitchFamily="34" charset="-120"/>
              </a:rPr>
              <a:t>The Four Approaches to AI</a:t>
            </a:r>
            <a:endParaRPr lang="en-US" sz="1600" dirty="0"/>
          </a:p>
        </p:txBody>
      </p:sp>
      <p:sp>
        <p:nvSpPr>
          <p:cNvPr id="11" name="Text 9"/>
          <p:cNvSpPr/>
          <p:nvPr/>
        </p:nvSpPr>
        <p:spPr>
          <a:xfrm>
            <a:off x="7366000" y="4826000"/>
            <a:ext cx="8128000" cy="381000"/>
          </a:xfrm>
          <a:prstGeom prst="rect">
            <a:avLst/>
          </a:prstGeom>
          <a:noFill/>
          <a:ln/>
        </p:spPr>
        <p:txBody>
          <a:bodyPr wrap="none" lIns="0" tIns="0" rIns="0" bIns="0" rtlCol="0" anchor="ctr"/>
          <a:lstStyle/>
          <a:p>
            <a:pPr>
              <a:lnSpc>
                <a:spcPct val="100000"/>
              </a:lnSpc>
            </a:pPr>
            <a:r>
              <a:rPr lang="en-US" sz="1600" dirty="0">
                <a:solidFill>
                  <a:srgbClr val="636E72"/>
                </a:solidFill>
                <a:latin typeface="Quattrocento Sans" pitchFamily="34" charset="0"/>
                <a:ea typeface="Quattrocento Sans" pitchFamily="34" charset="-122"/>
                <a:cs typeface="Quattrocento Sans" pitchFamily="34" charset="-120"/>
              </a:rPr>
              <a:t>Acting Humanly, Thinking Humanly, Thinking Rationally, Acting Rationally</a:t>
            </a:r>
            <a:endParaRPr lang="en-US" sz="1600" dirty="0"/>
          </a:p>
        </p:txBody>
      </p:sp>
      <p:sp>
        <p:nvSpPr>
          <p:cNvPr id="12" name="Text 10"/>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02</a:t>
            </a:r>
            <a:endParaRPr lang="en-US" sz="14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ttps://kimi-img.moonshot.cn/pub/slides/okc/l62xu63prt7y4/mnt/agents/output/ai-course/images/10_Abstract_representation_of_artificial.png">    </p:cNvPr>
          <p:cNvPicPr>
            <a:picLocks noChangeAspect="1"/>
          </p:cNvPicPr>
          <p:nvPr/>
        </p:nvPicPr>
        <p:blipFill>
          <a:blip r:embed="rId1"/>
          <a:srcRect l="160" r="160"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2D3436">
                  <a:alpha val="94000"/>
                </a:srgbClr>
              </a:gs>
              <a:gs pos="60000">
                <a:srgbClr val="2D3436">
                  <a:alpha val="87000"/>
                </a:srgbClr>
              </a:gs>
              <a:gs pos="100000">
                <a:srgbClr val="2D3436">
                  <a:alpha val="67000"/>
                </a:srgbClr>
              </a:gs>
            </a:gsLst>
            <a:lin ang="0" scaled="1"/>
          </a:gradFill>
          <a:ln w="12700">
            <a:solidFill>
              <a:srgbClr val="333333"/>
            </a:solidFill>
            <a:prstDash val="solid"/>
          </a:ln>
        </p:spPr>
      </p:sp>
      <p:sp>
        <p:nvSpPr>
          <p:cNvPr id="4" name="Text 1"/>
          <p:cNvSpPr/>
          <p:nvPr/>
        </p:nvSpPr>
        <p:spPr>
          <a:xfrm>
            <a:off x="762000" y="1524000"/>
            <a:ext cx="5080000" cy="2540000"/>
          </a:xfrm>
          <a:prstGeom prst="rect">
            <a:avLst/>
          </a:prstGeom>
          <a:noFill/>
          <a:ln/>
        </p:spPr>
        <p:txBody>
          <a:bodyPr wrap="none" lIns="0" tIns="0" rIns="0" bIns="0" rtlCol="0" anchor="ctr"/>
          <a:lstStyle/>
          <a:p>
            <a:pPr>
              <a:lnSpc>
                <a:spcPct val="100000"/>
              </a:lnSpc>
            </a:pPr>
            <a:r>
              <a:rPr lang="en-US" sz="18000" dirty="0">
                <a:solidFill>
                  <a:srgbClr val="F5F1EC">
                    <a:alpha val="8000"/>
                  </a:srgbClr>
                </a:solidFill>
                <a:latin typeface="Liter" pitchFamily="34" charset="0"/>
                <a:ea typeface="Liter" pitchFamily="34" charset="-122"/>
                <a:cs typeface="Liter" pitchFamily="34" charset="-120"/>
              </a:rPr>
              <a:t>01</a:t>
            </a:r>
            <a:endParaRPr lang="en-US" sz="1600" dirty="0"/>
          </a:p>
        </p:txBody>
      </p:sp>
      <p:sp>
        <p:nvSpPr>
          <p:cNvPr id="5" name="Shape 2"/>
          <p:cNvSpPr/>
          <p:nvPr/>
        </p:nvSpPr>
        <p:spPr>
          <a:xfrm>
            <a:off x="762000" y="4318000"/>
            <a:ext cx="1016000" cy="50800"/>
          </a:xfrm>
          <a:prstGeom prst="rect">
            <a:avLst/>
          </a:prstGeom>
          <a:solidFill>
            <a:srgbClr val="D4A574"/>
          </a:solidFill>
          <a:ln/>
        </p:spPr>
      </p:sp>
      <p:sp>
        <p:nvSpPr>
          <p:cNvPr id="6" name="Text 3"/>
          <p:cNvSpPr/>
          <p:nvPr/>
        </p:nvSpPr>
        <p:spPr>
          <a:xfrm>
            <a:off x="762000" y="4572000"/>
            <a:ext cx="3810000" cy="254000"/>
          </a:xfrm>
          <a:prstGeom prst="rect">
            <a:avLst/>
          </a:prstGeom>
          <a:noFill/>
          <a:ln/>
        </p:spPr>
        <p:txBody>
          <a:bodyPr wrap="none" lIns="0" tIns="0" rIns="0" bIns="0" rtlCol="0" anchor="ctr"/>
          <a:lstStyle/>
          <a:p>
            <a:pPr>
              <a:lnSpc>
                <a:spcPct val="100000"/>
              </a:lnSpc>
            </a:pPr>
            <a:r>
              <a:rPr lang="en-US" sz="1200" spc="200" kern="0" dirty="0">
                <a:solidFill>
                  <a:srgbClr val="D4A574"/>
                </a:solidFill>
                <a:latin typeface="Liter" pitchFamily="34" charset="0"/>
                <a:ea typeface="Liter" pitchFamily="34" charset="-122"/>
                <a:cs typeface="Liter" pitchFamily="34" charset="-120"/>
              </a:rPr>
              <a:t>CHAPTER ONE</a:t>
            </a:r>
            <a:endParaRPr lang="en-US" sz="1200" dirty="0"/>
          </a:p>
        </p:txBody>
      </p:sp>
      <p:sp>
        <p:nvSpPr>
          <p:cNvPr id="7" name="Text 4"/>
          <p:cNvSpPr/>
          <p:nvPr/>
        </p:nvSpPr>
        <p:spPr>
          <a:xfrm>
            <a:off x="762000" y="5016500"/>
            <a:ext cx="8890000" cy="889000"/>
          </a:xfrm>
          <a:prstGeom prst="rect">
            <a:avLst/>
          </a:prstGeom>
          <a:noFill/>
          <a:ln/>
        </p:spPr>
        <p:txBody>
          <a:bodyPr wrap="none" lIns="0" tIns="0" rIns="0" bIns="0" rtlCol="0" anchor="ctr"/>
          <a:lstStyle/>
          <a:p>
            <a:pPr>
              <a:lnSpc>
                <a:spcPct val="100000"/>
              </a:lnSpc>
            </a:pPr>
            <a:r>
              <a:rPr lang="en-US" sz="4800" spc="300" kern="0" dirty="0">
                <a:solidFill>
                  <a:srgbClr val="F5F1EC"/>
                </a:solidFill>
                <a:latin typeface="Liter" pitchFamily="34" charset="0"/>
                <a:ea typeface="Liter" pitchFamily="34" charset="-122"/>
                <a:cs typeface="Liter" pitchFamily="34" charset="-120"/>
              </a:rPr>
              <a:t>INTRODUCTION TO AI</a:t>
            </a:r>
            <a:endParaRPr lang="en-US" sz="4800" dirty="0"/>
          </a:p>
        </p:txBody>
      </p:sp>
      <p:sp>
        <p:nvSpPr>
          <p:cNvPr id="8" name="Text 5"/>
          <p:cNvSpPr/>
          <p:nvPr/>
        </p:nvSpPr>
        <p:spPr>
          <a:xfrm>
            <a:off x="762000" y="6032500"/>
            <a:ext cx="8890000" cy="444500"/>
          </a:xfrm>
          <a:prstGeom prst="rect">
            <a:avLst/>
          </a:prstGeom>
          <a:noFill/>
          <a:ln/>
        </p:spPr>
        <p:txBody>
          <a:bodyPr wrap="none" lIns="0" tIns="0" rIns="0" bIns="0" rtlCol="0" anchor="ctr"/>
          <a:lstStyle/>
          <a:p>
            <a:pPr>
              <a:lnSpc>
                <a:spcPct val="100000"/>
              </a:lnSpc>
            </a:pPr>
            <a:r>
              <a:rPr lang="en-US" sz="2000" dirty="0">
                <a:solidFill>
                  <a:srgbClr val="F5F1EC">
                    <a:alpha val="73333"/>
                  </a:srgbClr>
                </a:solidFill>
                <a:latin typeface="Quattrocento Sans" pitchFamily="34" charset="0"/>
                <a:ea typeface="Quattrocento Sans" pitchFamily="34" charset="-122"/>
                <a:cs typeface="Quattrocento Sans" pitchFamily="34" charset="-120"/>
              </a:rPr>
              <a:t>Understanding AI, its history, goals, and real-world impact</a:t>
            </a:r>
            <a:endParaRPr lang="en-US" sz="1600" dirty="0"/>
          </a:p>
        </p:txBody>
      </p:sp>
      <p:sp>
        <p:nvSpPr>
          <p:cNvPr id="9" name="Text 6"/>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200" dirty="0">
                <a:solidFill>
                  <a:srgbClr val="F5F1EC">
                    <a:alpha val="40000"/>
                  </a:srgbClr>
                </a:solidFill>
                <a:latin typeface="Liter" pitchFamily="34" charset="0"/>
                <a:ea typeface="Liter" pitchFamily="34" charset="-122"/>
                <a:cs typeface="Liter" pitchFamily="34" charset="-120"/>
              </a:rPr>
              <a:t>03</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016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What is Artificial Intelligence?</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Shape 3"/>
          <p:cNvSpPr/>
          <p:nvPr/>
        </p:nvSpPr>
        <p:spPr>
          <a:xfrm>
            <a:off x="762000" y="2159000"/>
            <a:ext cx="14732000" cy="1524000"/>
          </a:xfrm>
          <a:prstGeom prst="rect">
            <a:avLst/>
          </a:prstGeom>
          <a:solidFill>
            <a:srgbClr val="EDE8E1"/>
          </a:solidFill>
          <a:ln/>
        </p:spPr>
      </p:sp>
      <p:sp>
        <p:nvSpPr>
          <p:cNvPr id="6" name="Shape 4"/>
          <p:cNvSpPr/>
          <p:nvPr/>
        </p:nvSpPr>
        <p:spPr>
          <a:xfrm>
            <a:off x="1136650" y="2540000"/>
            <a:ext cx="342900" cy="457200"/>
          </a:xfrm>
          <a:custGeom>
            <a:avLst/>
            <a:gdLst/>
            <a:ahLst/>
            <a:cxnLst/>
            <a:rect l="l" t="t" r="r" b="b"/>
            <a:pathLst>
              <a:path w="342900" h="457200">
                <a:moveTo>
                  <a:pt x="261551" y="342900"/>
                </a:moveTo>
                <a:cubicBezTo>
                  <a:pt x="268069" y="322987"/>
                  <a:pt x="281107" y="304949"/>
                  <a:pt x="295841" y="289411"/>
                </a:cubicBezTo>
                <a:cubicBezTo>
                  <a:pt x="325041" y="258693"/>
                  <a:pt x="342900" y="217170"/>
                  <a:pt x="342900" y="171450"/>
                </a:cubicBezTo>
                <a:cubicBezTo>
                  <a:pt x="342900" y="76795"/>
                  <a:pt x="266105" y="0"/>
                  <a:pt x="171450" y="0"/>
                </a:cubicBezTo>
                <a:cubicBezTo>
                  <a:pt x="76795" y="0"/>
                  <a:pt x="0" y="76795"/>
                  <a:pt x="0" y="171450"/>
                </a:cubicBezTo>
                <a:cubicBezTo>
                  <a:pt x="0" y="217170"/>
                  <a:pt x="17859" y="258693"/>
                  <a:pt x="47059" y="289411"/>
                </a:cubicBezTo>
                <a:cubicBezTo>
                  <a:pt x="61793" y="304949"/>
                  <a:pt x="74920" y="322987"/>
                  <a:pt x="81349" y="342900"/>
                </a:cubicBezTo>
                <a:lnTo>
                  <a:pt x="261461" y="342900"/>
                </a:lnTo>
                <a:close/>
                <a:moveTo>
                  <a:pt x="257175" y="385763"/>
                </a:moveTo>
                <a:lnTo>
                  <a:pt x="85725" y="385763"/>
                </a:lnTo>
                <a:lnTo>
                  <a:pt x="85725" y="400050"/>
                </a:lnTo>
                <a:cubicBezTo>
                  <a:pt x="85725" y="439519"/>
                  <a:pt x="117693" y="471488"/>
                  <a:pt x="157163" y="471488"/>
                </a:cubicBezTo>
                <a:lnTo>
                  <a:pt x="185738" y="471488"/>
                </a:lnTo>
                <a:cubicBezTo>
                  <a:pt x="225207" y="471488"/>
                  <a:pt x="257175" y="439519"/>
                  <a:pt x="257175" y="400050"/>
                </a:cubicBezTo>
                <a:lnTo>
                  <a:pt x="257175" y="385763"/>
                </a:lnTo>
                <a:close/>
                <a:moveTo>
                  <a:pt x="164306" y="100013"/>
                </a:moveTo>
                <a:cubicBezTo>
                  <a:pt x="128766" y="100013"/>
                  <a:pt x="100013" y="128766"/>
                  <a:pt x="100013" y="164306"/>
                </a:cubicBezTo>
                <a:cubicBezTo>
                  <a:pt x="100013" y="176183"/>
                  <a:pt x="90458" y="185738"/>
                  <a:pt x="78581" y="185738"/>
                </a:cubicBezTo>
                <a:cubicBezTo>
                  <a:pt x="66705" y="185738"/>
                  <a:pt x="57150" y="176183"/>
                  <a:pt x="57150" y="164306"/>
                </a:cubicBezTo>
                <a:cubicBezTo>
                  <a:pt x="57150" y="105102"/>
                  <a:pt x="105102" y="57150"/>
                  <a:pt x="164306" y="57150"/>
                </a:cubicBezTo>
                <a:cubicBezTo>
                  <a:pt x="176183" y="57150"/>
                  <a:pt x="185738" y="66705"/>
                  <a:pt x="185738" y="78581"/>
                </a:cubicBezTo>
                <a:cubicBezTo>
                  <a:pt x="185738" y="90458"/>
                  <a:pt x="176183" y="100013"/>
                  <a:pt x="164306" y="100013"/>
                </a:cubicBezTo>
                <a:close/>
              </a:path>
            </a:pathLst>
          </a:custGeom>
          <a:solidFill>
            <a:srgbClr val="D4A574"/>
          </a:solidFill>
          <a:ln/>
        </p:spPr>
      </p:sp>
      <p:sp>
        <p:nvSpPr>
          <p:cNvPr id="7" name="Text 5"/>
          <p:cNvSpPr/>
          <p:nvPr/>
        </p:nvSpPr>
        <p:spPr>
          <a:xfrm>
            <a:off x="1778000" y="2349500"/>
            <a:ext cx="13335000" cy="1143000"/>
          </a:xfrm>
          <a:prstGeom prst="rect">
            <a:avLst/>
          </a:prstGeom>
          <a:noFill/>
          <a:ln/>
        </p:spPr>
        <p:txBody>
          <a:bodyPr wrap="square" lIns="0" tIns="0" rIns="0" bIns="0" rtlCol="0" anchor="ctr"/>
          <a:lstStyle/>
          <a:p>
            <a:pPr>
              <a:lnSpc>
                <a:spcPct val="160000"/>
              </a:lnSpc>
            </a:pPr>
            <a:r>
              <a:rPr lang="en-US" sz="1800" b="1" dirty="0">
                <a:solidFill>
                  <a:srgbClr val="2D3436"/>
                </a:solidFill>
                <a:latin typeface="Quattrocento Sans" pitchFamily="34" charset="0"/>
                <a:ea typeface="Quattrocento Sans" pitchFamily="34" charset="-122"/>
                <a:cs typeface="Quattrocento Sans" pitchFamily="34" charset="-120"/>
              </a:rPr>
              <a:t>Artificial Intelligence (AI)</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is the field of computer science focused on creating systems capable of performing tasks that typically require </a:t>
            </a:r>
            <a:pPr>
              <a:lnSpc>
                <a:spcPct val="160000"/>
              </a:lnSpc>
            </a:pPr>
            <a:r>
              <a:rPr lang="en-US" sz="1800" dirty="0">
                <a:solidFill>
                  <a:srgbClr val="D4A574"/>
                </a:solidFill>
                <a:latin typeface="Quattrocento Sans" pitchFamily="34" charset="0"/>
                <a:ea typeface="Quattrocento Sans" pitchFamily="34" charset="-122"/>
                <a:cs typeface="Quattrocento Sans" pitchFamily="34" charset="-120"/>
              </a:rPr>
              <a:t>human intelligence</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 reasoning, learning, problem-solving, perception, language understanding, and decision-making.</a:t>
            </a:r>
            <a:endParaRPr lang="en-US" sz="1600" dirty="0"/>
          </a:p>
        </p:txBody>
      </p:sp>
      <p:sp>
        <p:nvSpPr>
          <p:cNvPr id="8" name="Text 6"/>
          <p:cNvSpPr/>
          <p:nvPr/>
        </p:nvSpPr>
        <p:spPr>
          <a:xfrm>
            <a:off x="762000" y="4064000"/>
            <a:ext cx="6858000" cy="381000"/>
          </a:xfrm>
          <a:prstGeom prst="rect">
            <a:avLst/>
          </a:prstGeom>
          <a:noFill/>
          <a:ln/>
        </p:spPr>
        <p:txBody>
          <a:bodyPr wrap="none" lIns="0" tIns="0" rIns="0" bIns="0" rtlCol="0" anchor="ctr"/>
          <a:lstStyle/>
          <a:p>
            <a:pPr>
              <a:lnSpc>
                <a:spcPct val="100000"/>
              </a:lnSpc>
            </a:pPr>
            <a:r>
              <a:rPr lang="en-US" sz="2000" dirty="0">
                <a:solidFill>
                  <a:srgbClr val="636E72"/>
                </a:solidFill>
                <a:latin typeface="QuattrocentoSans" pitchFamily="34" charset="0"/>
                <a:ea typeface="QuattrocentoSans" pitchFamily="34" charset="-122"/>
                <a:cs typeface="QuattrocentoSans" pitchFamily="34" charset="-120"/>
              </a:rPr>
              <a:t>Key Characteristics</a:t>
            </a:r>
            <a:endParaRPr lang="en-US" sz="2000" dirty="0"/>
          </a:p>
        </p:txBody>
      </p:sp>
      <p:sp>
        <p:nvSpPr>
          <p:cNvPr id="9" name="Text 7"/>
          <p:cNvSpPr/>
          <p:nvPr/>
        </p:nvSpPr>
        <p:spPr>
          <a:xfrm>
            <a:off x="762000" y="4572000"/>
            <a:ext cx="6858000" cy="3556000"/>
          </a:xfrm>
          <a:prstGeom prst="rect">
            <a:avLst/>
          </a:prstGeom>
          <a:noFill/>
          <a:ln/>
        </p:spPr>
        <p:txBody>
          <a:bodyPr wrap="square" lIns="0" tIns="0" rIns="0" bIns="0" rtlCol="0" anchor="ctr"/>
          <a:lstStyle/>
          <a:p>
            <a:pPr marL="285750" indent="-285750">
              <a:lnSpc>
                <a:spcPct val="160000"/>
              </a:lnSpc>
              <a:spcBef>
                <a:spcPts val="10"/>
              </a:spcBef>
              <a:buSzPct val="100000"/>
              <a:buChar char="•"/>
            </a:pPr>
            <a:r>
              <a:rPr lang="en-US" sz="1800" dirty="0">
                <a:solidFill>
                  <a:srgbClr val="2D3436"/>
                </a:solidFill>
                <a:latin typeface="QuattrocentoSans" pitchFamily="34" charset="0"/>
                <a:ea typeface="QuattrocentoSans" pitchFamily="34" charset="-122"/>
                <a:cs typeface="QuattrocentoSans" pitchFamily="34" charset="-120"/>
              </a:rPr>
              <a:t>AI systems can be </a:t>
            </a:r>
            <a:pPr>
              <a:lnSpc>
                <a:spcPct val="160000"/>
              </a:lnSpc>
              <a:spcBef>
                <a:spcPts val="10"/>
              </a:spcBef>
            </a:pPr>
            <a:r>
              <a:rPr lang="en-US" sz="1800" b="1" dirty="0">
                <a:solidFill>
                  <a:srgbClr val="2D3436"/>
                </a:solidFill>
                <a:latin typeface="QuattrocentoSans" pitchFamily="34" charset="0"/>
                <a:ea typeface="QuattrocentoSans" pitchFamily="34" charset="-122"/>
                <a:cs typeface="QuattrocentoSans" pitchFamily="34" charset="-120"/>
              </a:rPr>
              <a:t>software-based</a:t>
            </a:r>
            <a:pPr>
              <a:lnSpc>
                <a:spcPct val="160000"/>
              </a:lnSpc>
              <a:spcBef>
                <a:spcPts val="10"/>
              </a:spcBef>
            </a:pPr>
            <a:r>
              <a:rPr lang="en-US" sz="1800" dirty="0">
                <a:solidFill>
                  <a:srgbClr val="2D3436"/>
                </a:solidFill>
                <a:latin typeface="QuattrocentoSans" pitchFamily="34" charset="0"/>
                <a:ea typeface="QuattrocentoSans" pitchFamily="34" charset="-122"/>
                <a:cs typeface="QuattrocentoSans" pitchFamily="34" charset="-120"/>
              </a:rPr>
              <a:t> (virtual assistants, image analysis) or </a:t>
            </a:r>
            <a:pPr>
              <a:lnSpc>
                <a:spcPct val="160000"/>
              </a:lnSpc>
              <a:spcBef>
                <a:spcPts val="10"/>
              </a:spcBef>
            </a:pPr>
            <a:r>
              <a:rPr lang="en-US" sz="1800" b="1" dirty="0">
                <a:solidFill>
                  <a:srgbClr val="2D3436"/>
                </a:solidFill>
                <a:latin typeface="QuattrocentoSans" pitchFamily="34" charset="0"/>
                <a:ea typeface="QuattrocentoSans" pitchFamily="34" charset="-122"/>
                <a:cs typeface="QuattrocentoSans" pitchFamily="34" charset="-120"/>
              </a:rPr>
              <a:t>embedded in hardware</a:t>
            </a:r>
            <a:pPr>
              <a:lnSpc>
                <a:spcPct val="160000"/>
              </a:lnSpc>
              <a:spcBef>
                <a:spcPts val="10"/>
              </a:spcBef>
            </a:pPr>
            <a:r>
              <a:rPr lang="en-US" sz="1800" dirty="0">
                <a:solidFill>
                  <a:srgbClr val="2D3436"/>
                </a:solidFill>
                <a:latin typeface="QuattrocentoSans" pitchFamily="34" charset="0"/>
                <a:ea typeface="QuattrocentoSans" pitchFamily="34" charset="-122"/>
                <a:cs typeface="QuattrocentoSans" pitchFamily="34" charset="-120"/>
              </a:rPr>
              <a:t> (robots, autonomous vehicles)</a:t>
            </a:r>
            <a:endParaRPr lang="en-US" sz="1800" dirty="0"/>
          </a:p>
          <a:p>
            <a:pPr marL="285750" indent="-285750">
              <a:lnSpc>
                <a:spcPct val="160000"/>
              </a:lnSpc>
              <a:spcBef>
                <a:spcPts val="10"/>
              </a:spcBef>
              <a:buSzPct val="100000"/>
              <a:buChar char="•"/>
            </a:pPr>
            <a:r>
              <a:rPr lang="en-US" sz="1800" dirty="0">
                <a:solidFill>
                  <a:srgbClr val="2D3436"/>
                </a:solidFill>
                <a:latin typeface="QuattrocentoSans" pitchFamily="34" charset="0"/>
                <a:ea typeface="QuattrocentoSans" pitchFamily="34" charset="-122"/>
                <a:cs typeface="QuattrocentoSans" pitchFamily="34" charset="-120"/>
              </a:rPr>
              <a:t>Modern AI ranges from narrow systems (specific tasks) to aspirations of </a:t>
            </a:r>
            <a:pPr>
              <a:lnSpc>
                <a:spcPct val="160000"/>
              </a:lnSpc>
              <a:spcBef>
                <a:spcPts val="10"/>
              </a:spcBef>
            </a:pPr>
            <a:r>
              <a:rPr lang="en-US" sz="1800" b="1" dirty="0">
                <a:solidFill>
                  <a:srgbClr val="2D3436"/>
                </a:solidFill>
                <a:latin typeface="QuattrocentoSans" pitchFamily="34" charset="0"/>
                <a:ea typeface="QuattrocentoSans" pitchFamily="34" charset="-122"/>
                <a:cs typeface="QuattrocentoSans" pitchFamily="34" charset="-120"/>
              </a:rPr>
              <a:t>Artificial General Intelligence</a:t>
            </a:r>
            <a:pPr>
              <a:lnSpc>
                <a:spcPct val="160000"/>
              </a:lnSpc>
              <a:spcBef>
                <a:spcPts val="10"/>
              </a:spcBef>
            </a:pPr>
            <a:r>
              <a:rPr lang="en-US" sz="1800" dirty="0">
                <a:solidFill>
                  <a:srgbClr val="2D3436"/>
                </a:solidFill>
                <a:latin typeface="QuattrocentoSans" pitchFamily="34" charset="0"/>
                <a:ea typeface="QuattrocentoSans" pitchFamily="34" charset="-122"/>
                <a:cs typeface="QuattrocentoSans" pitchFamily="34" charset="-120"/>
              </a:rPr>
              <a:t> (human-level cognition)</a:t>
            </a:r>
            <a:endParaRPr lang="en-US" sz="1800" dirty="0"/>
          </a:p>
          <a:p>
            <a:pPr marL="285750" indent="-285750">
              <a:lnSpc>
                <a:spcPct val="160000"/>
              </a:lnSpc>
              <a:spcBef>
                <a:spcPts val="10"/>
              </a:spcBef>
              <a:buSzPct val="100000"/>
              <a:buChar char="•"/>
            </a:pPr>
            <a:r>
              <a:rPr lang="en-US" sz="1800" dirty="0">
                <a:solidFill>
                  <a:srgbClr val="2D3436"/>
                </a:solidFill>
                <a:latin typeface="QuattrocentoSans" pitchFamily="34" charset="0"/>
                <a:ea typeface="QuattrocentoSans" pitchFamily="34" charset="-122"/>
                <a:cs typeface="QuattrocentoSans" pitchFamily="34" charset="-120"/>
              </a:rPr>
              <a:t>AI is not a single technology but a </a:t>
            </a:r>
            <a:pPr>
              <a:lnSpc>
                <a:spcPct val="160000"/>
              </a:lnSpc>
              <a:spcBef>
                <a:spcPts val="10"/>
              </a:spcBef>
            </a:pPr>
            <a:r>
              <a:rPr lang="en-US" sz="1800" b="1" dirty="0">
                <a:solidFill>
                  <a:srgbClr val="2D3436"/>
                </a:solidFill>
                <a:latin typeface="QuattrocentoSans" pitchFamily="34" charset="0"/>
                <a:ea typeface="QuattrocentoSans" pitchFamily="34" charset="-122"/>
                <a:cs typeface="QuattrocentoSans" pitchFamily="34" charset="-120"/>
              </a:rPr>
              <a:t>broad field</a:t>
            </a:r>
            <a:pPr>
              <a:lnSpc>
                <a:spcPct val="160000"/>
              </a:lnSpc>
              <a:spcBef>
                <a:spcPts val="10"/>
              </a:spcBef>
            </a:pPr>
            <a:r>
              <a:rPr lang="en-US" sz="1800" dirty="0">
                <a:solidFill>
                  <a:srgbClr val="2D3436"/>
                </a:solidFill>
                <a:latin typeface="QuattrocentoSans" pitchFamily="34" charset="0"/>
                <a:ea typeface="QuattrocentoSans" pitchFamily="34" charset="-122"/>
                <a:cs typeface="QuattrocentoSans" pitchFamily="34" charset="-120"/>
              </a:rPr>
              <a:t> encompassing many techniques and approaches</a:t>
            </a:r>
            <a:endParaRPr lang="en-US" sz="1800" dirty="0"/>
          </a:p>
        </p:txBody>
      </p:sp>
      <p:sp>
        <p:nvSpPr>
          <p:cNvPr id="10" name="Text 8"/>
          <p:cNvSpPr/>
          <p:nvPr/>
        </p:nvSpPr>
        <p:spPr>
          <a:xfrm>
            <a:off x="8382000" y="4064000"/>
            <a:ext cx="7112000" cy="381000"/>
          </a:xfrm>
          <a:prstGeom prst="rect">
            <a:avLst/>
          </a:prstGeom>
          <a:noFill/>
          <a:ln/>
        </p:spPr>
        <p:txBody>
          <a:bodyPr wrap="none" lIns="0" tIns="0" rIns="0" bIns="0" rtlCol="0" anchor="ctr"/>
          <a:lstStyle/>
          <a:p>
            <a:pPr>
              <a:lnSpc>
                <a:spcPct val="100000"/>
              </a:lnSpc>
            </a:pPr>
            <a:r>
              <a:rPr lang="en-US" sz="2000" dirty="0">
                <a:solidFill>
                  <a:srgbClr val="636E72"/>
                </a:solidFill>
                <a:latin typeface="QuattrocentoSans" pitchFamily="34" charset="0"/>
                <a:ea typeface="QuattrocentoSans" pitchFamily="34" charset="-122"/>
                <a:cs typeface="QuattrocentoSans" pitchFamily="34" charset="-120"/>
              </a:rPr>
              <a:t>Interdisciplinary Foundations</a:t>
            </a:r>
            <a:endParaRPr lang="en-US" sz="2000" dirty="0"/>
          </a:p>
        </p:txBody>
      </p:sp>
      <p:sp>
        <p:nvSpPr>
          <p:cNvPr id="11" name="Text 9"/>
          <p:cNvSpPr/>
          <p:nvPr/>
        </p:nvSpPr>
        <p:spPr>
          <a:xfrm>
            <a:off x="8382000" y="4572000"/>
            <a:ext cx="7112000" cy="3302000"/>
          </a:xfrm>
          <a:prstGeom prst="rect">
            <a:avLst/>
          </a:prstGeom>
          <a:noFill/>
          <a:ln/>
        </p:spPr>
        <p:txBody>
          <a:bodyPr wrap="square" lIns="0" tIns="0" rIns="0" bIns="0" rtlCol="0" anchor="ctr"/>
          <a:lstStyle/>
          <a:p>
            <a:pPr marL="285750" indent="-285750">
              <a:lnSpc>
                <a:spcPct val="160000"/>
              </a:lnSpc>
              <a:spcBef>
                <a:spcPts val="10"/>
              </a:spcBef>
              <a:buSzPct val="100000"/>
              <a:buChar char="•"/>
            </a:pPr>
            <a:r>
              <a:rPr lang="en-US" sz="1800" b="1" dirty="0">
                <a:solidFill>
                  <a:srgbClr val="D4A574"/>
                </a:solidFill>
                <a:latin typeface="QuattrocentoSans" pitchFamily="34" charset="0"/>
                <a:ea typeface="QuattrocentoSans" pitchFamily="34" charset="-122"/>
                <a:cs typeface="QuattrocentoSans" pitchFamily="34" charset="-120"/>
              </a:rPr>
              <a:t>Computer Science</a:t>
            </a:r>
            <a:pPr>
              <a:lnSpc>
                <a:spcPct val="160000"/>
              </a:lnSpc>
              <a:spcBef>
                <a:spcPts val="10"/>
              </a:spcBef>
            </a:pPr>
            <a:r>
              <a:rPr lang="en-US" sz="1800" dirty="0">
                <a:solidFill>
                  <a:srgbClr val="2D3436"/>
                </a:solidFill>
                <a:latin typeface="QuattrocentoSans" pitchFamily="34" charset="0"/>
                <a:ea typeface="QuattrocentoSans" pitchFamily="34" charset="-122"/>
                <a:cs typeface="QuattrocentoSans" pitchFamily="34" charset="-120"/>
              </a:rPr>
              <a:t> — algorithms, data structures, computation</a:t>
            </a:r>
            <a:endParaRPr lang="en-US" sz="1800" dirty="0"/>
          </a:p>
          <a:p>
            <a:pPr marL="285750" indent="-285750">
              <a:lnSpc>
                <a:spcPct val="160000"/>
              </a:lnSpc>
              <a:spcBef>
                <a:spcPts val="10"/>
              </a:spcBef>
              <a:buSzPct val="100000"/>
              <a:buChar char="•"/>
            </a:pPr>
            <a:r>
              <a:rPr lang="en-US" sz="1800" b="1" dirty="0">
                <a:solidFill>
                  <a:srgbClr val="D4A574"/>
                </a:solidFill>
                <a:latin typeface="QuattrocentoSans" pitchFamily="34" charset="0"/>
                <a:ea typeface="QuattrocentoSans" pitchFamily="34" charset="-122"/>
                <a:cs typeface="QuattrocentoSans" pitchFamily="34" charset="-120"/>
              </a:rPr>
              <a:t>Mathematics</a:t>
            </a:r>
            <a:pPr>
              <a:lnSpc>
                <a:spcPct val="160000"/>
              </a:lnSpc>
              <a:spcBef>
                <a:spcPts val="10"/>
              </a:spcBef>
            </a:pPr>
            <a:r>
              <a:rPr lang="en-US" sz="1800" dirty="0">
                <a:solidFill>
                  <a:srgbClr val="2D3436"/>
                </a:solidFill>
                <a:latin typeface="QuattrocentoSans" pitchFamily="34" charset="0"/>
                <a:ea typeface="QuattrocentoSans" pitchFamily="34" charset="-122"/>
                <a:cs typeface="QuattrocentoSans" pitchFamily="34" charset="-120"/>
              </a:rPr>
              <a:t> — logic, probability, optimization, linear algebra</a:t>
            </a:r>
            <a:endParaRPr lang="en-US" sz="1800" dirty="0"/>
          </a:p>
          <a:p>
            <a:pPr marL="285750" indent="-285750">
              <a:lnSpc>
                <a:spcPct val="160000"/>
              </a:lnSpc>
              <a:spcBef>
                <a:spcPts val="10"/>
              </a:spcBef>
              <a:buSzPct val="100000"/>
              <a:buChar char="•"/>
            </a:pPr>
            <a:r>
              <a:rPr lang="en-US" sz="1800" b="1" dirty="0">
                <a:solidFill>
                  <a:srgbClr val="D4A574"/>
                </a:solidFill>
                <a:latin typeface="QuattrocentoSans" pitchFamily="34" charset="0"/>
                <a:ea typeface="QuattrocentoSans" pitchFamily="34" charset="-122"/>
                <a:cs typeface="QuattrocentoSans" pitchFamily="34" charset="-120"/>
              </a:rPr>
              <a:t>Psychology &amp; Neuroscience</a:t>
            </a:r>
            <a:pPr>
              <a:lnSpc>
                <a:spcPct val="160000"/>
              </a:lnSpc>
              <a:spcBef>
                <a:spcPts val="10"/>
              </a:spcBef>
            </a:pPr>
            <a:r>
              <a:rPr lang="en-US" sz="1800" dirty="0">
                <a:solidFill>
                  <a:srgbClr val="2D3436"/>
                </a:solidFill>
                <a:latin typeface="QuattrocentoSans" pitchFamily="34" charset="0"/>
                <a:ea typeface="QuattrocentoSans" pitchFamily="34" charset="-122"/>
                <a:cs typeface="QuattrocentoSans" pitchFamily="34" charset="-120"/>
              </a:rPr>
              <a:t> — understanding human cognition</a:t>
            </a:r>
            <a:endParaRPr lang="en-US" sz="1800" dirty="0"/>
          </a:p>
          <a:p>
            <a:pPr marL="285750" indent="-285750">
              <a:lnSpc>
                <a:spcPct val="160000"/>
              </a:lnSpc>
              <a:spcBef>
                <a:spcPts val="10"/>
              </a:spcBef>
              <a:buSzPct val="100000"/>
              <a:buChar char="•"/>
            </a:pPr>
            <a:r>
              <a:rPr lang="en-US" sz="1800" b="1" dirty="0">
                <a:solidFill>
                  <a:srgbClr val="D4A574"/>
                </a:solidFill>
                <a:latin typeface="QuattrocentoSans" pitchFamily="34" charset="0"/>
                <a:ea typeface="QuattrocentoSans" pitchFamily="34" charset="-122"/>
                <a:cs typeface="QuattrocentoSans" pitchFamily="34" charset="-120"/>
              </a:rPr>
              <a:t>Linguistics</a:t>
            </a:r>
            <a:pPr>
              <a:lnSpc>
                <a:spcPct val="160000"/>
              </a:lnSpc>
              <a:spcBef>
                <a:spcPts val="10"/>
              </a:spcBef>
            </a:pPr>
            <a:r>
              <a:rPr lang="en-US" sz="1800" dirty="0">
                <a:solidFill>
                  <a:srgbClr val="2D3436"/>
                </a:solidFill>
                <a:latin typeface="QuattrocentoSans" pitchFamily="34" charset="0"/>
                <a:ea typeface="QuattrocentoSans" pitchFamily="34" charset="-122"/>
                <a:cs typeface="QuattrocentoSans" pitchFamily="34" charset="-120"/>
              </a:rPr>
              <a:t> — language structure and meaning</a:t>
            </a:r>
            <a:endParaRPr lang="en-US" sz="1800" dirty="0"/>
          </a:p>
          <a:p>
            <a:pPr marL="285750" indent="-285750">
              <a:lnSpc>
                <a:spcPct val="160000"/>
              </a:lnSpc>
              <a:spcBef>
                <a:spcPts val="10"/>
              </a:spcBef>
              <a:buSzPct val="100000"/>
              <a:buChar char="•"/>
            </a:pPr>
            <a:r>
              <a:rPr lang="en-US" sz="1800" b="1" dirty="0">
                <a:solidFill>
                  <a:srgbClr val="D4A574"/>
                </a:solidFill>
                <a:latin typeface="QuattrocentoSans" pitchFamily="34" charset="0"/>
                <a:ea typeface="QuattrocentoSans" pitchFamily="34" charset="-122"/>
                <a:cs typeface="QuattrocentoSans" pitchFamily="34" charset="-120"/>
              </a:rPr>
              <a:t>Philosophy</a:t>
            </a:r>
            <a:pPr>
              <a:lnSpc>
                <a:spcPct val="160000"/>
              </a:lnSpc>
              <a:spcBef>
                <a:spcPts val="10"/>
              </a:spcBef>
            </a:pPr>
            <a:r>
              <a:rPr lang="en-US" sz="1800" dirty="0">
                <a:solidFill>
                  <a:srgbClr val="2D3436"/>
                </a:solidFill>
                <a:latin typeface="QuattrocentoSans" pitchFamily="34" charset="0"/>
                <a:ea typeface="QuattrocentoSans" pitchFamily="34" charset="-122"/>
                <a:cs typeface="QuattrocentoSans" pitchFamily="34" charset="-120"/>
              </a:rPr>
              <a:t> — ethics, reasoning, mind and consciousness</a:t>
            </a:r>
            <a:endParaRPr lang="en-US" sz="1800" dirty="0"/>
          </a:p>
        </p:txBody>
      </p:sp>
      <p:sp>
        <p:nvSpPr>
          <p:cNvPr id="12" name="Text 10"/>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04</a:t>
            </a:r>
            <a:endParaRPr lang="en-US" sz="14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The Many Definitions of AI</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Text 3"/>
          <p:cNvSpPr/>
          <p:nvPr/>
        </p:nvSpPr>
        <p:spPr>
          <a:xfrm>
            <a:off x="762000" y="2095500"/>
            <a:ext cx="14732000" cy="889000"/>
          </a:xfrm>
          <a:prstGeom prst="rect">
            <a:avLst/>
          </a:prstGeom>
          <a:noFill/>
          <a:ln/>
        </p:spPr>
        <p:txBody>
          <a:bodyPr wrap="square" lIns="0" tIns="0" rIns="0" bIns="0" rtlCol="0" anchor="ctr"/>
          <a:lstStyle/>
          <a:p>
            <a:pPr>
              <a:lnSpc>
                <a:spcPct val="150000"/>
              </a:lnSpc>
            </a:pPr>
            <a:r>
              <a:rPr lang="en-US" sz="1800" dirty="0">
                <a:solidFill>
                  <a:srgbClr val="636E72"/>
                </a:solidFill>
                <a:latin typeface="Quattrocento Sans" pitchFamily="34" charset="0"/>
                <a:ea typeface="Quattrocento Sans" pitchFamily="34" charset="-122"/>
                <a:cs typeface="Quattrocento Sans" pitchFamily="34" charset="-120"/>
              </a:rPr>
              <a:t>AI has been defined in many ways — there is no single universally accepted definition. The definition you choose depends on which approach to AI you favor.</a:t>
            </a:r>
            <a:endParaRPr lang="en-US" sz="1600" dirty="0"/>
          </a:p>
        </p:txBody>
      </p:sp>
      <p:sp>
        <p:nvSpPr>
          <p:cNvPr id="6" name="Shape 4"/>
          <p:cNvSpPr/>
          <p:nvPr/>
        </p:nvSpPr>
        <p:spPr>
          <a:xfrm>
            <a:off x="762000" y="3175000"/>
            <a:ext cx="7048500" cy="2286000"/>
          </a:xfrm>
          <a:prstGeom prst="rect">
            <a:avLst/>
          </a:prstGeom>
          <a:solidFill>
            <a:srgbClr val="EDE8E1"/>
          </a:solidFill>
          <a:ln/>
        </p:spPr>
      </p:sp>
      <p:sp>
        <p:nvSpPr>
          <p:cNvPr id="7" name="Shape 5"/>
          <p:cNvSpPr/>
          <p:nvPr/>
        </p:nvSpPr>
        <p:spPr>
          <a:xfrm>
            <a:off x="762000" y="3175000"/>
            <a:ext cx="50800" cy="2286000"/>
          </a:xfrm>
          <a:prstGeom prst="rect">
            <a:avLst/>
          </a:prstGeom>
          <a:solidFill>
            <a:srgbClr val="D4A574"/>
          </a:solidFill>
          <a:ln/>
        </p:spPr>
      </p:sp>
      <p:sp>
        <p:nvSpPr>
          <p:cNvPr id="8" name="Text 6"/>
          <p:cNvSpPr/>
          <p:nvPr/>
        </p:nvSpPr>
        <p:spPr>
          <a:xfrm>
            <a:off x="1079500" y="3365500"/>
            <a:ext cx="6477000" cy="355600"/>
          </a:xfrm>
          <a:prstGeom prst="rect">
            <a:avLst/>
          </a:prstGeom>
          <a:noFill/>
          <a:ln/>
        </p:spPr>
        <p:txBody>
          <a:bodyPr wrap="none" lIns="0" tIns="0" rIns="0" bIns="0" rtlCol="0" anchor="ctr"/>
          <a:lstStyle/>
          <a:p>
            <a:pPr>
              <a:lnSpc>
                <a:spcPct val="100000"/>
              </a:lnSpc>
            </a:pPr>
            <a:r>
              <a:rPr lang="en-US" sz="1800" b="1" dirty="0">
                <a:solidFill>
                  <a:srgbClr val="2D3436"/>
                </a:solidFill>
                <a:latin typeface="Liter" pitchFamily="34" charset="0"/>
                <a:ea typeface="Liter" pitchFamily="34" charset="-122"/>
                <a:cs typeface="Liter" pitchFamily="34" charset="-120"/>
              </a:rPr>
              <a:t>"The Science of Making Machines Smart"</a:t>
            </a:r>
            <a:endParaRPr lang="en-US" sz="1600" dirty="0"/>
          </a:p>
        </p:txBody>
      </p:sp>
      <p:sp>
        <p:nvSpPr>
          <p:cNvPr id="9" name="Text 7"/>
          <p:cNvSpPr/>
          <p:nvPr/>
        </p:nvSpPr>
        <p:spPr>
          <a:xfrm>
            <a:off x="1079500" y="3810000"/>
            <a:ext cx="6477000" cy="1397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A broad, practical definition focusing on outcomes. Any system that demonstrates smart behavior — learning, adapting, solving problems — qualifies as AI.</a:t>
            </a:r>
            <a:endParaRPr lang="en-US" sz="1600" dirty="0"/>
          </a:p>
        </p:txBody>
      </p:sp>
      <p:sp>
        <p:nvSpPr>
          <p:cNvPr id="10" name="Shape 8"/>
          <p:cNvSpPr/>
          <p:nvPr/>
        </p:nvSpPr>
        <p:spPr>
          <a:xfrm>
            <a:off x="8445500" y="3175000"/>
            <a:ext cx="7048500" cy="2286000"/>
          </a:xfrm>
          <a:prstGeom prst="rect">
            <a:avLst/>
          </a:prstGeom>
          <a:solidFill>
            <a:srgbClr val="EDE8E1"/>
          </a:solidFill>
          <a:ln/>
        </p:spPr>
      </p:sp>
      <p:sp>
        <p:nvSpPr>
          <p:cNvPr id="11" name="Shape 9"/>
          <p:cNvSpPr/>
          <p:nvPr/>
        </p:nvSpPr>
        <p:spPr>
          <a:xfrm>
            <a:off x="8445500" y="3175000"/>
            <a:ext cx="50800" cy="2286000"/>
          </a:xfrm>
          <a:prstGeom prst="rect">
            <a:avLst/>
          </a:prstGeom>
          <a:solidFill>
            <a:srgbClr val="D4A574"/>
          </a:solidFill>
          <a:ln/>
        </p:spPr>
      </p:sp>
      <p:sp>
        <p:nvSpPr>
          <p:cNvPr id="12" name="Text 10"/>
          <p:cNvSpPr/>
          <p:nvPr/>
        </p:nvSpPr>
        <p:spPr>
          <a:xfrm>
            <a:off x="8763000" y="3365500"/>
            <a:ext cx="6477000" cy="355600"/>
          </a:xfrm>
          <a:prstGeom prst="rect">
            <a:avLst/>
          </a:prstGeom>
          <a:noFill/>
          <a:ln/>
        </p:spPr>
        <p:txBody>
          <a:bodyPr wrap="none" lIns="0" tIns="0" rIns="0" bIns="0" rtlCol="0" anchor="ctr"/>
          <a:lstStyle/>
          <a:p>
            <a:pPr>
              <a:lnSpc>
                <a:spcPct val="100000"/>
              </a:lnSpc>
            </a:pPr>
            <a:r>
              <a:rPr lang="en-US" sz="1800" b="1" dirty="0">
                <a:solidFill>
                  <a:srgbClr val="2D3436"/>
                </a:solidFill>
                <a:latin typeface="Liter" pitchFamily="34" charset="0"/>
                <a:ea typeface="Liter" pitchFamily="34" charset="-122"/>
                <a:cs typeface="Liter" pitchFamily="34" charset="-120"/>
              </a:rPr>
              <a:t>"Systems That Think and Act Like Humans"</a:t>
            </a:r>
            <a:endParaRPr lang="en-US" sz="1600" dirty="0"/>
          </a:p>
        </p:txBody>
      </p:sp>
      <p:sp>
        <p:nvSpPr>
          <p:cNvPr id="13" name="Text 11"/>
          <p:cNvSpPr/>
          <p:nvPr/>
        </p:nvSpPr>
        <p:spPr>
          <a:xfrm>
            <a:off x="8763000" y="3810000"/>
            <a:ext cx="6477000" cy="1397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Focuses on human-like intelligence as the benchmark. Includes both internal thought processes and external behavior — the Turing Test and cognitive modeling approaches.</a:t>
            </a:r>
            <a:endParaRPr lang="en-US" sz="1600" dirty="0"/>
          </a:p>
        </p:txBody>
      </p:sp>
      <p:sp>
        <p:nvSpPr>
          <p:cNvPr id="14" name="Shape 12"/>
          <p:cNvSpPr/>
          <p:nvPr/>
        </p:nvSpPr>
        <p:spPr>
          <a:xfrm>
            <a:off x="762000" y="5842000"/>
            <a:ext cx="7048500" cy="2286000"/>
          </a:xfrm>
          <a:prstGeom prst="rect">
            <a:avLst/>
          </a:prstGeom>
          <a:solidFill>
            <a:srgbClr val="EDE8E1"/>
          </a:solidFill>
          <a:ln/>
        </p:spPr>
      </p:sp>
      <p:sp>
        <p:nvSpPr>
          <p:cNvPr id="15" name="Shape 13"/>
          <p:cNvSpPr/>
          <p:nvPr/>
        </p:nvSpPr>
        <p:spPr>
          <a:xfrm>
            <a:off x="762000" y="5842000"/>
            <a:ext cx="50800" cy="2286000"/>
          </a:xfrm>
          <a:prstGeom prst="rect">
            <a:avLst/>
          </a:prstGeom>
          <a:solidFill>
            <a:srgbClr val="D4A574"/>
          </a:solidFill>
          <a:ln/>
        </p:spPr>
      </p:sp>
      <p:sp>
        <p:nvSpPr>
          <p:cNvPr id="16" name="Text 14"/>
          <p:cNvSpPr/>
          <p:nvPr/>
        </p:nvSpPr>
        <p:spPr>
          <a:xfrm>
            <a:off x="1079500" y="6032500"/>
            <a:ext cx="6477000" cy="355600"/>
          </a:xfrm>
          <a:prstGeom prst="rect">
            <a:avLst/>
          </a:prstGeom>
          <a:noFill/>
          <a:ln/>
        </p:spPr>
        <p:txBody>
          <a:bodyPr wrap="none" lIns="0" tIns="0" rIns="0" bIns="0" rtlCol="0" anchor="ctr"/>
          <a:lstStyle/>
          <a:p>
            <a:pPr>
              <a:lnSpc>
                <a:spcPct val="100000"/>
              </a:lnSpc>
            </a:pPr>
            <a:r>
              <a:rPr lang="en-US" sz="1800" b="1" dirty="0">
                <a:solidFill>
                  <a:srgbClr val="2D3436"/>
                </a:solidFill>
                <a:latin typeface="Liter" pitchFamily="34" charset="0"/>
                <a:ea typeface="Liter" pitchFamily="34" charset="-122"/>
                <a:cs typeface="Liter" pitchFamily="34" charset="-120"/>
              </a:rPr>
              <a:t>"Systems That Think and Act Rationally"</a:t>
            </a:r>
            <a:endParaRPr lang="en-US" sz="1600" dirty="0"/>
          </a:p>
        </p:txBody>
      </p:sp>
      <p:sp>
        <p:nvSpPr>
          <p:cNvPr id="17" name="Text 15"/>
          <p:cNvSpPr/>
          <p:nvPr/>
        </p:nvSpPr>
        <p:spPr>
          <a:xfrm>
            <a:off x="1079500" y="6477000"/>
            <a:ext cx="6477000" cy="1397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Focuses on optimal behavior rather than human-like behavior. A rational agent acts to achieve the best expected outcome — the dominant approach in modern AI.</a:t>
            </a:r>
            <a:endParaRPr lang="en-US" sz="1600" dirty="0"/>
          </a:p>
        </p:txBody>
      </p:sp>
      <p:sp>
        <p:nvSpPr>
          <p:cNvPr id="18" name="Shape 16"/>
          <p:cNvSpPr/>
          <p:nvPr/>
        </p:nvSpPr>
        <p:spPr>
          <a:xfrm>
            <a:off x="8445500" y="5842000"/>
            <a:ext cx="7048500" cy="2286000"/>
          </a:xfrm>
          <a:prstGeom prst="rect">
            <a:avLst/>
          </a:prstGeom>
          <a:solidFill>
            <a:srgbClr val="EDE8E1"/>
          </a:solidFill>
          <a:ln/>
        </p:spPr>
      </p:sp>
      <p:sp>
        <p:nvSpPr>
          <p:cNvPr id="19" name="Shape 17"/>
          <p:cNvSpPr/>
          <p:nvPr/>
        </p:nvSpPr>
        <p:spPr>
          <a:xfrm>
            <a:off x="8445500" y="5842000"/>
            <a:ext cx="50800" cy="2286000"/>
          </a:xfrm>
          <a:prstGeom prst="rect">
            <a:avLst/>
          </a:prstGeom>
          <a:solidFill>
            <a:srgbClr val="D4A574"/>
          </a:solidFill>
          <a:ln/>
        </p:spPr>
      </p:sp>
      <p:sp>
        <p:nvSpPr>
          <p:cNvPr id="20" name="Text 18"/>
          <p:cNvSpPr/>
          <p:nvPr/>
        </p:nvSpPr>
        <p:spPr>
          <a:xfrm>
            <a:off x="8763000" y="6032500"/>
            <a:ext cx="6477000" cy="355600"/>
          </a:xfrm>
          <a:prstGeom prst="rect">
            <a:avLst/>
          </a:prstGeom>
          <a:noFill/>
          <a:ln/>
        </p:spPr>
        <p:txBody>
          <a:bodyPr wrap="none" lIns="0" tIns="0" rIns="0" bIns="0" rtlCol="0" anchor="ctr"/>
          <a:lstStyle/>
          <a:p>
            <a:pPr>
              <a:lnSpc>
                <a:spcPct val="100000"/>
              </a:lnSpc>
            </a:pPr>
            <a:r>
              <a:rPr lang="en-US" sz="1800" b="1" dirty="0">
                <a:solidFill>
                  <a:srgbClr val="2D3436"/>
                </a:solidFill>
                <a:latin typeface="Liter" pitchFamily="34" charset="0"/>
                <a:ea typeface="Liter" pitchFamily="34" charset="-122"/>
                <a:cs typeface="Liter" pitchFamily="34" charset="-120"/>
              </a:rPr>
              <a:t>"Pattern Recognition and Prediction"</a:t>
            </a:r>
            <a:endParaRPr lang="en-US" sz="1600" dirty="0"/>
          </a:p>
        </p:txBody>
      </p:sp>
      <p:sp>
        <p:nvSpPr>
          <p:cNvPr id="21" name="Text 19"/>
          <p:cNvSpPr/>
          <p:nvPr/>
        </p:nvSpPr>
        <p:spPr>
          <a:xfrm>
            <a:off x="8763000" y="6477000"/>
            <a:ext cx="6477000" cy="1397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A practical, machine-learning-centric view. AI systems recognize patterns in data, make predictions, and improve performance through experience without explicit programming.</a:t>
            </a:r>
            <a:endParaRPr lang="en-US" sz="1600" dirty="0"/>
          </a:p>
        </p:txBody>
      </p:sp>
      <p:sp>
        <p:nvSpPr>
          <p:cNvPr id="22" name="Text 20"/>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05</a:t>
            </a:r>
            <a:endParaRPr lang="en-US" sz="14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A Brief History of AI — The Early Years</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Shape 3"/>
          <p:cNvSpPr/>
          <p:nvPr/>
        </p:nvSpPr>
        <p:spPr>
          <a:xfrm>
            <a:off x="2032000" y="2413000"/>
            <a:ext cx="0" cy="5588000"/>
          </a:xfrm>
          <a:prstGeom prst="straightConnector1">
            <a:avLst/>
          </a:prstGeom>
          <a:noFill/>
          <a:ln w="25400">
            <a:solidFill>
              <a:srgbClr val="D5D0C8"/>
            </a:solidFill>
            <a:prstDash val="solid"/>
            <a:headEnd type="none"/>
            <a:tailEnd type="none"/>
          </a:ln>
        </p:spPr>
      </p:sp>
      <p:sp>
        <p:nvSpPr>
          <p:cNvPr id="6" name="Shape 4"/>
          <p:cNvSpPr/>
          <p:nvPr/>
        </p:nvSpPr>
        <p:spPr>
          <a:xfrm>
            <a:off x="1930400" y="2540000"/>
            <a:ext cx="203200" cy="203200"/>
          </a:xfrm>
          <a:prstGeom prst="ellipse">
            <a:avLst/>
          </a:prstGeom>
          <a:solidFill>
            <a:srgbClr val="D4A574"/>
          </a:solidFill>
          <a:ln/>
        </p:spPr>
      </p:sp>
      <p:sp>
        <p:nvSpPr>
          <p:cNvPr id="7" name="Text 5"/>
          <p:cNvSpPr/>
          <p:nvPr/>
        </p:nvSpPr>
        <p:spPr>
          <a:xfrm>
            <a:off x="762000" y="2514600"/>
            <a:ext cx="1016000" cy="279400"/>
          </a:xfrm>
          <a:prstGeom prst="rect">
            <a:avLst/>
          </a:prstGeom>
          <a:noFill/>
          <a:ln/>
        </p:spPr>
        <p:txBody>
          <a:bodyPr wrap="none" lIns="0" tIns="0" rIns="0" bIns="0" rtlCol="0" anchor="ctr"/>
          <a:lstStyle/>
          <a:p>
            <a:pPr algn="r">
              <a:lnSpc>
                <a:spcPct val="100000"/>
              </a:lnSpc>
            </a:pPr>
            <a:r>
              <a:rPr lang="en-US" sz="1600" dirty="0">
                <a:solidFill>
                  <a:srgbClr val="D4A574"/>
                </a:solidFill>
                <a:latin typeface="Liter" pitchFamily="34" charset="0"/>
                <a:ea typeface="Liter" pitchFamily="34" charset="-122"/>
                <a:cs typeface="Liter" pitchFamily="34" charset="-120"/>
              </a:rPr>
              <a:t>1943</a:t>
            </a:r>
            <a:endParaRPr lang="en-US" sz="1600" dirty="0"/>
          </a:p>
        </p:txBody>
      </p:sp>
      <p:sp>
        <p:nvSpPr>
          <p:cNvPr id="8" name="Text 6"/>
          <p:cNvSpPr/>
          <p:nvPr/>
        </p:nvSpPr>
        <p:spPr>
          <a:xfrm>
            <a:off x="2413000" y="2476500"/>
            <a:ext cx="13081000" cy="762000"/>
          </a:xfrm>
          <a:prstGeom prst="rect">
            <a:avLst/>
          </a:prstGeom>
          <a:noFill/>
          <a:ln/>
        </p:spPr>
        <p:txBody>
          <a:bodyPr wrap="square" lIns="0" tIns="0" rIns="0" bIns="0" rtlCol="0" anchor="ctr"/>
          <a:lstStyle/>
          <a:p>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McCulloch &amp; Pitts</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created the first mathematical model of an artificial neuron, planting the seed for neural networks.</a:t>
            </a:r>
            <a:endParaRPr lang="en-US" sz="1600" dirty="0"/>
          </a:p>
        </p:txBody>
      </p:sp>
      <p:sp>
        <p:nvSpPr>
          <p:cNvPr id="9" name="Shape 7"/>
          <p:cNvSpPr/>
          <p:nvPr/>
        </p:nvSpPr>
        <p:spPr>
          <a:xfrm>
            <a:off x="1930400" y="3683000"/>
            <a:ext cx="203200" cy="203200"/>
          </a:xfrm>
          <a:prstGeom prst="ellipse">
            <a:avLst/>
          </a:prstGeom>
          <a:solidFill>
            <a:srgbClr val="D4A574"/>
          </a:solidFill>
          <a:ln/>
        </p:spPr>
      </p:sp>
      <p:sp>
        <p:nvSpPr>
          <p:cNvPr id="10" name="Text 8"/>
          <p:cNvSpPr/>
          <p:nvPr/>
        </p:nvSpPr>
        <p:spPr>
          <a:xfrm>
            <a:off x="762000" y="3657600"/>
            <a:ext cx="1016000" cy="279400"/>
          </a:xfrm>
          <a:prstGeom prst="rect">
            <a:avLst/>
          </a:prstGeom>
          <a:noFill/>
          <a:ln/>
        </p:spPr>
        <p:txBody>
          <a:bodyPr wrap="none" lIns="0" tIns="0" rIns="0" bIns="0" rtlCol="0" anchor="ctr"/>
          <a:lstStyle/>
          <a:p>
            <a:pPr algn="r">
              <a:lnSpc>
                <a:spcPct val="100000"/>
              </a:lnSpc>
            </a:pPr>
            <a:r>
              <a:rPr lang="en-US" sz="1600" dirty="0">
                <a:solidFill>
                  <a:srgbClr val="D4A574"/>
                </a:solidFill>
                <a:latin typeface="Liter" pitchFamily="34" charset="0"/>
                <a:ea typeface="Liter" pitchFamily="34" charset="-122"/>
                <a:cs typeface="Liter" pitchFamily="34" charset="-120"/>
              </a:rPr>
              <a:t>1950</a:t>
            </a:r>
            <a:endParaRPr lang="en-US" sz="1600" dirty="0"/>
          </a:p>
        </p:txBody>
      </p:sp>
      <p:sp>
        <p:nvSpPr>
          <p:cNvPr id="11" name="Text 9"/>
          <p:cNvSpPr/>
          <p:nvPr/>
        </p:nvSpPr>
        <p:spPr>
          <a:xfrm>
            <a:off x="2413000" y="3619500"/>
            <a:ext cx="13081000" cy="762000"/>
          </a:xfrm>
          <a:prstGeom prst="rect">
            <a:avLst/>
          </a:prstGeom>
          <a:noFill/>
          <a:ln/>
        </p:spPr>
        <p:txBody>
          <a:bodyPr wrap="square" lIns="0" tIns="0" rIns="0" bIns="0" rtlCol="0" anchor="ctr"/>
          <a:lstStyle/>
          <a:p>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Alan Turing</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published </a:t>
            </a:r>
            <a:pPr>
              <a:lnSpc>
                <a:spcPct val="150000"/>
              </a:lnSpc>
            </a:pPr>
            <a:r>
              <a:rPr lang="en-US" sz="1800" i="1" dirty="0">
                <a:solidFill>
                  <a:srgbClr val="2D3436"/>
                </a:solidFill>
                <a:latin typeface="Quattrocento Sans" pitchFamily="34" charset="0"/>
                <a:ea typeface="Quattrocento Sans" pitchFamily="34" charset="-122"/>
                <a:cs typeface="Quattrocento Sans" pitchFamily="34" charset="-120"/>
              </a:rPr>
              <a:t>"Computing Machinery and Intelligence,"</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proposing the Turing Test and asking: </a:t>
            </a:r>
            <a:pPr>
              <a:lnSpc>
                <a:spcPct val="150000"/>
              </a:lnSpc>
            </a:pPr>
            <a:r>
              <a:rPr lang="en-US" sz="1800" i="1" dirty="0">
                <a:solidFill>
                  <a:srgbClr val="2D3436"/>
                </a:solidFill>
                <a:latin typeface="Quattrocento Sans" pitchFamily="34" charset="0"/>
                <a:ea typeface="Quattrocento Sans" pitchFamily="34" charset="-122"/>
                <a:cs typeface="Quattrocento Sans" pitchFamily="34" charset="-120"/>
              </a:rPr>
              <a:t>"Can machines think?"</a:t>
            </a:r>
            <a:endParaRPr lang="en-US" sz="1600" dirty="0"/>
          </a:p>
        </p:txBody>
      </p:sp>
      <p:sp>
        <p:nvSpPr>
          <p:cNvPr id="12" name="Shape 10"/>
          <p:cNvSpPr/>
          <p:nvPr/>
        </p:nvSpPr>
        <p:spPr>
          <a:xfrm>
            <a:off x="1930400" y="4826000"/>
            <a:ext cx="203200" cy="203200"/>
          </a:xfrm>
          <a:prstGeom prst="ellipse">
            <a:avLst/>
          </a:prstGeom>
          <a:solidFill>
            <a:srgbClr val="D4A574"/>
          </a:solidFill>
          <a:ln/>
        </p:spPr>
      </p:sp>
      <p:sp>
        <p:nvSpPr>
          <p:cNvPr id="13" name="Text 11"/>
          <p:cNvSpPr/>
          <p:nvPr/>
        </p:nvSpPr>
        <p:spPr>
          <a:xfrm>
            <a:off x="762000" y="4800600"/>
            <a:ext cx="1016000" cy="279400"/>
          </a:xfrm>
          <a:prstGeom prst="rect">
            <a:avLst/>
          </a:prstGeom>
          <a:noFill/>
          <a:ln/>
        </p:spPr>
        <p:txBody>
          <a:bodyPr wrap="none" lIns="0" tIns="0" rIns="0" bIns="0" rtlCol="0" anchor="ctr"/>
          <a:lstStyle/>
          <a:p>
            <a:pPr algn="r">
              <a:lnSpc>
                <a:spcPct val="100000"/>
              </a:lnSpc>
            </a:pPr>
            <a:r>
              <a:rPr lang="en-US" sz="1600" dirty="0">
                <a:solidFill>
                  <a:srgbClr val="D4A574"/>
                </a:solidFill>
                <a:latin typeface="Liter" pitchFamily="34" charset="0"/>
                <a:ea typeface="Liter" pitchFamily="34" charset="-122"/>
                <a:cs typeface="Liter" pitchFamily="34" charset="-120"/>
              </a:rPr>
              <a:t>1956</a:t>
            </a:r>
            <a:endParaRPr lang="en-US" sz="1600" dirty="0"/>
          </a:p>
        </p:txBody>
      </p:sp>
      <p:sp>
        <p:nvSpPr>
          <p:cNvPr id="14" name="Text 12"/>
          <p:cNvSpPr/>
          <p:nvPr/>
        </p:nvSpPr>
        <p:spPr>
          <a:xfrm>
            <a:off x="2413000" y="4762500"/>
            <a:ext cx="13081000" cy="889000"/>
          </a:xfrm>
          <a:prstGeom prst="rect">
            <a:avLst/>
          </a:prstGeom>
          <a:noFill/>
          <a:ln/>
        </p:spPr>
        <p:txBody>
          <a:bodyPr wrap="square" lIns="0" tIns="0" rIns="0" bIns="0" rtlCol="0" anchor="ctr"/>
          <a:lstStyle/>
          <a:p>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The Dartmouth Conference</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 John McCarthy coined </a:t>
            </a:r>
            <a:pPr>
              <a:lnSpc>
                <a:spcPct val="150000"/>
              </a:lnSpc>
            </a:pPr>
            <a:r>
              <a:rPr lang="en-US" sz="1800" i="1" dirty="0">
                <a:solidFill>
                  <a:srgbClr val="2D3436"/>
                </a:solidFill>
                <a:latin typeface="Quattrocento Sans" pitchFamily="34" charset="0"/>
                <a:ea typeface="Quattrocento Sans" pitchFamily="34" charset="-122"/>
                <a:cs typeface="Quattrocento Sans" pitchFamily="34" charset="-120"/>
              </a:rPr>
              <a:t>"artificial intelligence,"</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officially founding the field. Attended by Minsky, Shannon, and Rochester.</a:t>
            </a:r>
            <a:endParaRPr lang="en-US" sz="1600" dirty="0"/>
          </a:p>
        </p:txBody>
      </p:sp>
      <p:sp>
        <p:nvSpPr>
          <p:cNvPr id="15" name="Shape 13"/>
          <p:cNvSpPr/>
          <p:nvPr/>
        </p:nvSpPr>
        <p:spPr>
          <a:xfrm>
            <a:off x="1930400" y="5969000"/>
            <a:ext cx="203200" cy="203200"/>
          </a:xfrm>
          <a:prstGeom prst="ellipse">
            <a:avLst/>
          </a:prstGeom>
          <a:solidFill>
            <a:srgbClr val="D4A574"/>
          </a:solidFill>
          <a:ln/>
        </p:spPr>
      </p:sp>
      <p:sp>
        <p:nvSpPr>
          <p:cNvPr id="16" name="Text 14"/>
          <p:cNvSpPr/>
          <p:nvPr/>
        </p:nvSpPr>
        <p:spPr>
          <a:xfrm>
            <a:off x="762000" y="5943600"/>
            <a:ext cx="1016000" cy="279400"/>
          </a:xfrm>
          <a:prstGeom prst="rect">
            <a:avLst/>
          </a:prstGeom>
          <a:noFill/>
          <a:ln/>
        </p:spPr>
        <p:txBody>
          <a:bodyPr wrap="none" lIns="0" tIns="0" rIns="0" bIns="0" rtlCol="0" anchor="ctr"/>
          <a:lstStyle/>
          <a:p>
            <a:pPr algn="r">
              <a:lnSpc>
                <a:spcPct val="100000"/>
              </a:lnSpc>
            </a:pPr>
            <a:r>
              <a:rPr lang="en-US" sz="1600" dirty="0">
                <a:solidFill>
                  <a:srgbClr val="D4A574"/>
                </a:solidFill>
                <a:latin typeface="Liter" pitchFamily="34" charset="0"/>
                <a:ea typeface="Liter" pitchFamily="34" charset="-122"/>
                <a:cs typeface="Liter" pitchFamily="34" charset="-120"/>
              </a:rPr>
              <a:t>1958</a:t>
            </a:r>
            <a:endParaRPr lang="en-US" sz="1600" dirty="0"/>
          </a:p>
        </p:txBody>
      </p:sp>
      <p:sp>
        <p:nvSpPr>
          <p:cNvPr id="17" name="Text 15"/>
          <p:cNvSpPr/>
          <p:nvPr/>
        </p:nvSpPr>
        <p:spPr>
          <a:xfrm>
            <a:off x="2413000" y="5905500"/>
            <a:ext cx="13081000" cy="762000"/>
          </a:xfrm>
          <a:prstGeom prst="rect">
            <a:avLst/>
          </a:prstGeom>
          <a:noFill/>
          <a:ln/>
        </p:spPr>
        <p:txBody>
          <a:bodyPr wrap="square" lIns="0" tIns="0" rIns="0" bIns="0" rtlCol="0" anchor="ctr"/>
          <a:lstStyle/>
          <a:p>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John McCarthy</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developed </a:t>
            </a:r>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LISP</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which became the standard programming language for AI research for decades.</a:t>
            </a:r>
            <a:endParaRPr lang="en-US" sz="1600" dirty="0"/>
          </a:p>
        </p:txBody>
      </p:sp>
      <p:sp>
        <p:nvSpPr>
          <p:cNvPr id="18" name="Shape 16"/>
          <p:cNvSpPr/>
          <p:nvPr/>
        </p:nvSpPr>
        <p:spPr>
          <a:xfrm>
            <a:off x="1930400" y="7112000"/>
            <a:ext cx="203200" cy="203200"/>
          </a:xfrm>
          <a:prstGeom prst="ellipse">
            <a:avLst/>
          </a:prstGeom>
          <a:solidFill>
            <a:srgbClr val="D4A574"/>
          </a:solidFill>
          <a:ln/>
        </p:spPr>
      </p:sp>
      <p:sp>
        <p:nvSpPr>
          <p:cNvPr id="19" name="Text 17"/>
          <p:cNvSpPr/>
          <p:nvPr/>
        </p:nvSpPr>
        <p:spPr>
          <a:xfrm>
            <a:off x="762000" y="7086600"/>
            <a:ext cx="1016000" cy="279400"/>
          </a:xfrm>
          <a:prstGeom prst="rect">
            <a:avLst/>
          </a:prstGeom>
          <a:noFill/>
          <a:ln/>
        </p:spPr>
        <p:txBody>
          <a:bodyPr wrap="none" lIns="0" tIns="0" rIns="0" bIns="0" rtlCol="0" anchor="ctr"/>
          <a:lstStyle/>
          <a:p>
            <a:pPr algn="r">
              <a:lnSpc>
                <a:spcPct val="100000"/>
              </a:lnSpc>
            </a:pPr>
            <a:r>
              <a:rPr lang="en-US" sz="1600" dirty="0">
                <a:solidFill>
                  <a:srgbClr val="D4A574"/>
                </a:solidFill>
                <a:latin typeface="Liter" pitchFamily="34" charset="0"/>
                <a:ea typeface="Liter" pitchFamily="34" charset="-122"/>
                <a:cs typeface="Liter" pitchFamily="34" charset="-120"/>
              </a:rPr>
              <a:t>1966</a:t>
            </a:r>
            <a:endParaRPr lang="en-US" sz="1600" dirty="0"/>
          </a:p>
        </p:txBody>
      </p:sp>
      <p:sp>
        <p:nvSpPr>
          <p:cNvPr id="20" name="Text 18"/>
          <p:cNvSpPr/>
          <p:nvPr/>
        </p:nvSpPr>
        <p:spPr>
          <a:xfrm>
            <a:off x="2413000" y="7048500"/>
            <a:ext cx="13081000" cy="889000"/>
          </a:xfrm>
          <a:prstGeom prst="rect">
            <a:avLst/>
          </a:prstGeom>
          <a:noFill/>
          <a:ln/>
        </p:spPr>
        <p:txBody>
          <a:bodyPr wrap="square" lIns="0" tIns="0" rIns="0" bIns="0" rtlCol="0" anchor="ctr"/>
          <a:lstStyle/>
          <a:p>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ELIZA</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 Joseph Weizenbaum at MIT created the first chatbot, simulating a Rogerian psychotherapist and surprising users with its human-like conversation.</a:t>
            </a:r>
            <a:endParaRPr lang="en-US" sz="1600" dirty="0"/>
          </a:p>
        </p:txBody>
      </p:sp>
      <p:sp>
        <p:nvSpPr>
          <p:cNvPr id="21" name="Text 19"/>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06</a:t>
            </a:r>
            <a:endParaRPr lang="en-US" sz="14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270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AI Through the Decades — Progress &amp; Setbacks</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Shape 3"/>
          <p:cNvSpPr/>
          <p:nvPr/>
        </p:nvSpPr>
        <p:spPr>
          <a:xfrm>
            <a:off x="762000" y="2095500"/>
            <a:ext cx="50800" cy="1206500"/>
          </a:xfrm>
          <a:prstGeom prst="rect">
            <a:avLst/>
          </a:prstGeom>
          <a:solidFill>
            <a:srgbClr val="D4A574"/>
          </a:solidFill>
          <a:ln/>
        </p:spPr>
      </p:sp>
      <p:sp>
        <p:nvSpPr>
          <p:cNvPr id="6" name="Text 4"/>
          <p:cNvSpPr/>
          <p:nvPr/>
        </p:nvSpPr>
        <p:spPr>
          <a:xfrm>
            <a:off x="1016000" y="2095500"/>
            <a:ext cx="3810000" cy="330200"/>
          </a:xfrm>
          <a:prstGeom prst="rect">
            <a:avLst/>
          </a:prstGeom>
          <a:noFill/>
          <a:ln/>
        </p:spPr>
        <p:txBody>
          <a:bodyPr wrap="none" lIns="0" tIns="0" rIns="0" bIns="0" rtlCol="0" anchor="ctr"/>
          <a:lstStyle/>
          <a:p>
            <a:pPr>
              <a:lnSpc>
                <a:spcPct val="100000"/>
              </a:lnSpc>
            </a:pPr>
            <a:r>
              <a:rPr lang="en-US" sz="1800" b="1" dirty="0">
                <a:solidFill>
                  <a:srgbClr val="2D3436"/>
                </a:solidFill>
                <a:latin typeface="Liter" pitchFamily="34" charset="0"/>
                <a:ea typeface="Liter" pitchFamily="34" charset="-122"/>
                <a:cs typeface="Liter" pitchFamily="34" charset="-120"/>
              </a:rPr>
              <a:t>1960s–1970s: Early Optimism</a:t>
            </a:r>
            <a:endParaRPr lang="en-US" sz="1600" dirty="0"/>
          </a:p>
        </p:txBody>
      </p:sp>
      <p:sp>
        <p:nvSpPr>
          <p:cNvPr id="7" name="Text 5"/>
          <p:cNvSpPr/>
          <p:nvPr/>
        </p:nvSpPr>
        <p:spPr>
          <a:xfrm>
            <a:off x="1016000" y="2476500"/>
            <a:ext cx="14224000" cy="762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Symbolic AI and rule-based systems dominated. Key achievements: </a:t>
            </a:r>
            <a:pPr>
              <a:lnSpc>
                <a:spcPct val="150000"/>
              </a:lnSpc>
            </a:pPr>
            <a:r>
              <a:rPr lang="en-US" sz="1600" b="1" dirty="0">
                <a:solidFill>
                  <a:srgbClr val="2D3436"/>
                </a:solidFill>
                <a:latin typeface="Quattrocento Sans" pitchFamily="34" charset="0"/>
                <a:ea typeface="Quattrocento Sans" pitchFamily="34" charset="-122"/>
                <a:cs typeface="Quattrocento Sans" pitchFamily="34" charset="-120"/>
              </a:rPr>
              <a:t>ELIZA</a:t>
            </a:r>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 (1966), </a:t>
            </a:r>
            <a:pPr>
              <a:lnSpc>
                <a:spcPct val="150000"/>
              </a:lnSpc>
            </a:pPr>
            <a:r>
              <a:rPr lang="en-US" sz="1600" b="1" dirty="0">
                <a:solidFill>
                  <a:srgbClr val="2D3436"/>
                </a:solidFill>
                <a:latin typeface="Quattrocento Sans" pitchFamily="34" charset="0"/>
                <a:ea typeface="Quattrocento Sans" pitchFamily="34" charset="-122"/>
                <a:cs typeface="Quattrocento Sans" pitchFamily="34" charset="-120"/>
              </a:rPr>
              <a:t>Shakey</a:t>
            </a:r>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 (1969). Researchers were optimistic that human-level AI was near.</a:t>
            </a:r>
            <a:endParaRPr lang="en-US" sz="1600" dirty="0"/>
          </a:p>
        </p:txBody>
      </p:sp>
      <p:sp>
        <p:nvSpPr>
          <p:cNvPr id="8" name="Shape 6"/>
          <p:cNvSpPr/>
          <p:nvPr/>
        </p:nvSpPr>
        <p:spPr>
          <a:xfrm>
            <a:off x="762000" y="3492500"/>
            <a:ext cx="50800" cy="1206500"/>
          </a:xfrm>
          <a:prstGeom prst="rect">
            <a:avLst/>
          </a:prstGeom>
          <a:solidFill>
            <a:srgbClr val="636E72"/>
          </a:solidFill>
          <a:ln/>
        </p:spPr>
      </p:sp>
      <p:sp>
        <p:nvSpPr>
          <p:cNvPr id="9" name="Text 7"/>
          <p:cNvSpPr/>
          <p:nvPr/>
        </p:nvSpPr>
        <p:spPr>
          <a:xfrm>
            <a:off x="1016000" y="3492500"/>
            <a:ext cx="3810000" cy="330200"/>
          </a:xfrm>
          <a:prstGeom prst="rect">
            <a:avLst/>
          </a:prstGeom>
          <a:noFill/>
          <a:ln/>
        </p:spPr>
        <p:txBody>
          <a:bodyPr wrap="none" lIns="0" tIns="0" rIns="0" bIns="0" rtlCol="0" anchor="ctr"/>
          <a:lstStyle/>
          <a:p>
            <a:pPr>
              <a:lnSpc>
                <a:spcPct val="100000"/>
              </a:lnSpc>
            </a:pPr>
            <a:r>
              <a:rPr lang="en-US" sz="1800" b="1" dirty="0">
                <a:solidFill>
                  <a:srgbClr val="2D3436"/>
                </a:solidFill>
                <a:latin typeface="Liter" pitchFamily="34" charset="0"/>
                <a:ea typeface="Liter" pitchFamily="34" charset="-122"/>
                <a:cs typeface="Liter" pitchFamily="34" charset="-120"/>
              </a:rPr>
              <a:t>1970s–1980s: AI Winter</a:t>
            </a:r>
            <a:endParaRPr lang="en-US" sz="1600" dirty="0"/>
          </a:p>
        </p:txBody>
      </p:sp>
      <p:sp>
        <p:nvSpPr>
          <p:cNvPr id="10" name="Text 8"/>
          <p:cNvSpPr/>
          <p:nvPr/>
        </p:nvSpPr>
        <p:spPr>
          <a:xfrm>
            <a:off x="1016000" y="3873500"/>
            <a:ext cx="14224000" cy="762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Funding dropped as expectations outpaced reality. Expert systems like </a:t>
            </a:r>
            <a:pPr>
              <a:lnSpc>
                <a:spcPct val="150000"/>
              </a:lnSpc>
            </a:pPr>
            <a:r>
              <a:rPr lang="en-US" sz="1600" b="1" dirty="0">
                <a:solidFill>
                  <a:srgbClr val="2D3436"/>
                </a:solidFill>
                <a:latin typeface="Quattrocento Sans" pitchFamily="34" charset="0"/>
                <a:ea typeface="Quattrocento Sans" pitchFamily="34" charset="-122"/>
                <a:cs typeface="Quattrocento Sans" pitchFamily="34" charset="-120"/>
              </a:rPr>
              <a:t>MYCIN</a:t>
            </a:r>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 showed promise but were too brittle. Encoding all knowledge as rules proved difficult.</a:t>
            </a:r>
            <a:endParaRPr lang="en-US" sz="1600" dirty="0"/>
          </a:p>
        </p:txBody>
      </p:sp>
      <p:sp>
        <p:nvSpPr>
          <p:cNvPr id="11" name="Shape 9"/>
          <p:cNvSpPr/>
          <p:nvPr/>
        </p:nvSpPr>
        <p:spPr>
          <a:xfrm>
            <a:off x="762000" y="4889500"/>
            <a:ext cx="50800" cy="1206500"/>
          </a:xfrm>
          <a:prstGeom prst="rect">
            <a:avLst/>
          </a:prstGeom>
          <a:solidFill>
            <a:srgbClr val="D4A574"/>
          </a:solidFill>
          <a:ln/>
        </p:spPr>
      </p:sp>
      <p:sp>
        <p:nvSpPr>
          <p:cNvPr id="12" name="Text 10"/>
          <p:cNvSpPr/>
          <p:nvPr/>
        </p:nvSpPr>
        <p:spPr>
          <a:xfrm>
            <a:off x="1016000" y="4889500"/>
            <a:ext cx="5080000" cy="330200"/>
          </a:xfrm>
          <a:prstGeom prst="rect">
            <a:avLst/>
          </a:prstGeom>
          <a:noFill/>
          <a:ln/>
        </p:spPr>
        <p:txBody>
          <a:bodyPr wrap="none" lIns="0" tIns="0" rIns="0" bIns="0" rtlCol="0" anchor="ctr"/>
          <a:lstStyle/>
          <a:p>
            <a:pPr>
              <a:lnSpc>
                <a:spcPct val="100000"/>
              </a:lnSpc>
            </a:pPr>
            <a:r>
              <a:rPr lang="en-US" sz="1800" b="1" dirty="0">
                <a:solidFill>
                  <a:srgbClr val="2D3436"/>
                </a:solidFill>
                <a:latin typeface="Liter" pitchFamily="34" charset="0"/>
                <a:ea typeface="Liter" pitchFamily="34" charset="-122"/>
                <a:cs typeface="Liter" pitchFamily="34" charset="-120"/>
              </a:rPr>
              <a:t>1990s–2000s: Machine Learning Emerges</a:t>
            </a:r>
            <a:endParaRPr lang="en-US" sz="1600" dirty="0"/>
          </a:p>
        </p:txBody>
      </p:sp>
      <p:sp>
        <p:nvSpPr>
          <p:cNvPr id="13" name="Text 11"/>
          <p:cNvSpPr/>
          <p:nvPr/>
        </p:nvSpPr>
        <p:spPr>
          <a:xfrm>
            <a:off x="1016000" y="5270500"/>
            <a:ext cx="14224000" cy="762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Shift from rule-based to data-driven. </a:t>
            </a:r>
            <a:pPr>
              <a:lnSpc>
                <a:spcPct val="150000"/>
              </a:lnSpc>
            </a:pPr>
            <a:r>
              <a:rPr lang="en-US" sz="1600" b="1" dirty="0">
                <a:solidFill>
                  <a:srgbClr val="2D3436"/>
                </a:solidFill>
                <a:latin typeface="Quattrocento Sans" pitchFamily="34" charset="0"/>
                <a:ea typeface="Quattrocento Sans" pitchFamily="34" charset="-122"/>
                <a:cs typeface="Quattrocento Sans" pitchFamily="34" charset="-120"/>
              </a:rPr>
              <a:t>Deep Blue</a:t>
            </a:r>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 defeated Kasparov (1997). Backpropagation enabled neural network training. Bayesian networks handled uncertainty.</a:t>
            </a:r>
            <a:endParaRPr lang="en-US" sz="1600" dirty="0"/>
          </a:p>
        </p:txBody>
      </p:sp>
      <p:sp>
        <p:nvSpPr>
          <p:cNvPr id="14" name="Shape 12"/>
          <p:cNvSpPr/>
          <p:nvPr/>
        </p:nvSpPr>
        <p:spPr>
          <a:xfrm>
            <a:off x="762000" y="6286500"/>
            <a:ext cx="14732000" cy="2032000"/>
          </a:xfrm>
          <a:prstGeom prst="rect">
            <a:avLst/>
          </a:prstGeom>
          <a:solidFill>
            <a:srgbClr val="2D3436"/>
          </a:solidFill>
          <a:ln/>
        </p:spPr>
      </p:sp>
      <p:sp>
        <p:nvSpPr>
          <p:cNvPr id="15" name="Shape 13"/>
          <p:cNvSpPr/>
          <p:nvPr/>
        </p:nvSpPr>
        <p:spPr>
          <a:xfrm>
            <a:off x="762000" y="6286500"/>
            <a:ext cx="50800" cy="2032000"/>
          </a:xfrm>
          <a:prstGeom prst="rect">
            <a:avLst/>
          </a:prstGeom>
          <a:solidFill>
            <a:srgbClr val="D4A574"/>
          </a:solidFill>
          <a:ln/>
        </p:spPr>
      </p:sp>
      <p:sp>
        <p:nvSpPr>
          <p:cNvPr id="16" name="Text 14"/>
          <p:cNvSpPr/>
          <p:nvPr/>
        </p:nvSpPr>
        <p:spPr>
          <a:xfrm>
            <a:off x="1016000" y="6413500"/>
            <a:ext cx="6350000" cy="330200"/>
          </a:xfrm>
          <a:prstGeom prst="rect">
            <a:avLst/>
          </a:prstGeom>
          <a:noFill/>
          <a:ln/>
        </p:spPr>
        <p:txBody>
          <a:bodyPr wrap="none" lIns="0" tIns="0" rIns="0" bIns="0" rtlCol="0" anchor="ctr"/>
          <a:lstStyle/>
          <a:p>
            <a:pPr>
              <a:lnSpc>
                <a:spcPct val="100000"/>
              </a:lnSpc>
            </a:pPr>
            <a:r>
              <a:rPr lang="en-US" sz="1800" b="1" dirty="0">
                <a:solidFill>
                  <a:srgbClr val="D4A574"/>
                </a:solidFill>
                <a:latin typeface="Liter" pitchFamily="34" charset="0"/>
                <a:ea typeface="Liter" pitchFamily="34" charset="-122"/>
                <a:cs typeface="Liter" pitchFamily="34" charset="-120"/>
              </a:rPr>
              <a:t>2010s–Present: Deep Learning Revolution</a:t>
            </a:r>
            <a:endParaRPr lang="en-US" sz="1600" dirty="0"/>
          </a:p>
        </p:txBody>
      </p:sp>
      <p:sp>
        <p:nvSpPr>
          <p:cNvPr id="17" name="Text 15"/>
          <p:cNvSpPr/>
          <p:nvPr/>
        </p:nvSpPr>
        <p:spPr>
          <a:xfrm>
            <a:off x="1016000" y="6794500"/>
            <a:ext cx="14224000" cy="635000"/>
          </a:xfrm>
          <a:prstGeom prst="rect">
            <a:avLst/>
          </a:prstGeom>
          <a:noFill/>
          <a:ln/>
        </p:spPr>
        <p:txBody>
          <a:bodyPr wrap="square" lIns="0" tIns="0" rIns="0" bIns="0" rtlCol="0" anchor="ctr"/>
          <a:lstStyle/>
          <a:p>
            <a:pPr>
              <a:lnSpc>
                <a:spcPct val="150000"/>
              </a:lnSpc>
            </a:pPr>
            <a:r>
              <a:rPr lang="en-US" sz="1600" dirty="0">
                <a:solidFill>
                  <a:srgbClr val="F5F1EC"/>
                </a:solidFill>
                <a:latin typeface="Quattrocento Sans" pitchFamily="34" charset="0"/>
                <a:ea typeface="Quattrocento Sans" pitchFamily="34" charset="-122"/>
                <a:cs typeface="Quattrocento Sans" pitchFamily="34" charset="-120"/>
              </a:rPr>
              <a:t>Three factors: </a:t>
            </a:r>
            <a:pPr>
              <a:lnSpc>
                <a:spcPct val="150000"/>
              </a:lnSpc>
            </a:pPr>
            <a:r>
              <a:rPr lang="en-US" sz="1600" b="1" dirty="0">
                <a:solidFill>
                  <a:srgbClr val="F5F1EC"/>
                </a:solidFill>
                <a:latin typeface="Quattrocento Sans" pitchFamily="34" charset="0"/>
                <a:ea typeface="Quattrocento Sans" pitchFamily="34" charset="-122"/>
                <a:cs typeface="Quattrocento Sans" pitchFamily="34" charset="-120"/>
              </a:rPr>
              <a:t>massive data</a:t>
            </a:r>
            <a:pPr>
              <a:lnSpc>
                <a:spcPct val="150000"/>
              </a:lnSpc>
            </a:pPr>
            <a:r>
              <a:rPr lang="en-US" sz="1600" dirty="0">
                <a:solidFill>
                  <a:srgbClr val="F5F1EC"/>
                </a:solidFill>
                <a:latin typeface="Quattrocento Sans" pitchFamily="34" charset="0"/>
                <a:ea typeface="Quattrocento Sans" pitchFamily="34" charset="-122"/>
                <a:cs typeface="Quattrocento Sans" pitchFamily="34" charset="-120"/>
              </a:rPr>
              <a:t>, </a:t>
            </a:r>
            <a:pPr>
              <a:lnSpc>
                <a:spcPct val="150000"/>
              </a:lnSpc>
            </a:pPr>
            <a:r>
              <a:rPr lang="en-US" sz="1600" b="1" dirty="0">
                <a:solidFill>
                  <a:srgbClr val="F5F1EC"/>
                </a:solidFill>
                <a:latin typeface="Quattrocento Sans" pitchFamily="34" charset="0"/>
                <a:ea typeface="Quattrocento Sans" pitchFamily="34" charset="-122"/>
                <a:cs typeface="Quattrocento Sans" pitchFamily="34" charset="-120"/>
              </a:rPr>
              <a:t>powerful GPUs</a:t>
            </a:r>
            <a:pPr>
              <a:lnSpc>
                <a:spcPct val="150000"/>
              </a:lnSpc>
            </a:pPr>
            <a:r>
              <a:rPr lang="en-US" sz="1600" dirty="0">
                <a:solidFill>
                  <a:srgbClr val="F5F1EC"/>
                </a:solidFill>
                <a:latin typeface="Quattrocento Sans" pitchFamily="34" charset="0"/>
                <a:ea typeface="Quattrocento Sans" pitchFamily="34" charset="-122"/>
                <a:cs typeface="Quattrocento Sans" pitchFamily="34" charset="-120"/>
              </a:rPr>
              <a:t>, </a:t>
            </a:r>
            <a:pPr>
              <a:lnSpc>
                <a:spcPct val="150000"/>
              </a:lnSpc>
            </a:pPr>
            <a:r>
              <a:rPr lang="en-US" sz="1600" b="1" dirty="0">
                <a:solidFill>
                  <a:srgbClr val="F5F1EC"/>
                </a:solidFill>
                <a:latin typeface="Quattrocento Sans" pitchFamily="34" charset="0"/>
                <a:ea typeface="Quattrocento Sans" pitchFamily="34" charset="-122"/>
                <a:cs typeface="Quattrocento Sans" pitchFamily="34" charset="-120"/>
              </a:rPr>
              <a:t>better algorithms</a:t>
            </a:r>
            <a:pPr>
              <a:lnSpc>
                <a:spcPct val="150000"/>
              </a:lnSpc>
            </a:pPr>
            <a:r>
              <a:rPr lang="en-US" sz="1600" dirty="0">
                <a:solidFill>
                  <a:srgbClr val="F5F1EC"/>
                </a:solidFill>
                <a:latin typeface="Quattrocento Sans" pitchFamily="34" charset="0"/>
                <a:ea typeface="Quattrocento Sans" pitchFamily="34" charset="-122"/>
                <a:cs typeface="Quattrocento Sans" pitchFamily="34" charset="-120"/>
              </a:rPr>
              <a:t>. AlexNet (2012), AlphaGo (2016), Transformers (2017), GPT &amp; Generative AI.</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016000" y="7493000"/>
          <a:ext cx="14224000" cy="698500"/>
        </p:xfrm>
        <a:graphic>
          <a:graphicData uri="http://schemas.openxmlformats.org/drawingml/2006/table">
            <a:tbl>
              <a:tblPr/>
              <a:tblGrid>
                <a:gridCol w="2133600"/>
                <a:gridCol w="5974080"/>
                <a:gridCol w="6116320"/>
              </a:tblGrid>
              <a:tr h="349250">
                <a:tc>
                  <a:txBody>
                    <a:bodyPr/>
                    <a:lstStyle/>
                    <a:p>
                      <a:pPr algn="l"/>
                      <a:r>
                        <a:rPr lang="en-US" sz="1600" b="1" u="none" dirty="0">
                          <a:solidFill>
                            <a:srgbClr val="F5F1EC"/>
                          </a:solidFill>
                          <a:latin typeface="QuattrocentoSans" pitchFamily="34" charset="0"/>
                          <a:ea typeface="QuattrocentoSans" pitchFamily="34" charset="-122"/>
                          <a:cs typeface="QuattrocentoSans" pitchFamily="34" charset="-120"/>
                        </a:rPr>
                        <a:t>Year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3436"/>
                    </a:solidFill>
                  </a:tcPr>
                </a:tc>
                <a:tc>
                  <a:txBody>
                    <a:bodyPr/>
                    <a:lstStyle/>
                    <a:p>
                      <a:pPr algn="l"/>
                      <a:r>
                        <a:rPr lang="en-US" sz="1600" b="1" u="none" dirty="0">
                          <a:solidFill>
                            <a:srgbClr val="F5F1EC"/>
                          </a:solidFill>
                          <a:latin typeface="QuattrocentoSans" pitchFamily="34" charset="0"/>
                          <a:ea typeface="QuattrocentoSans" pitchFamily="34" charset="-122"/>
                          <a:cs typeface="QuattrocentoSans" pitchFamily="34" charset="-120"/>
                        </a:rPr>
                        <a:t>Milestone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3436"/>
                    </a:solidFill>
                  </a:tcPr>
                </a:tc>
                <a:tc>
                  <a:txBody>
                    <a:bodyPr/>
                    <a:lstStyle/>
                    <a:p>
                      <a:pPr algn="l"/>
                      <a:r>
                        <a:rPr lang="en-US" sz="1600" b="1" u="none" dirty="0">
                          <a:solidFill>
                            <a:srgbClr val="F5F1EC"/>
                          </a:solidFill>
                          <a:latin typeface="QuattrocentoSans" pitchFamily="34" charset="0"/>
                          <a:ea typeface="QuattrocentoSans" pitchFamily="34" charset="-122"/>
                          <a:cs typeface="QuattrocentoSans" pitchFamily="34" charset="-120"/>
                        </a:rPr>
                        <a:t>Significance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3436"/>
                    </a:solidFill>
                  </a:tcPr>
                </a:tc>
              </a:tr>
              <a:tr h="349250">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2012-2020s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AlexNet, AlphaGo, Transformers, GPT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Deep learning goes mainstream</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r>
            </a:tbl>
          </a:graphicData>
        </a:graphic>
      </p:graphicFrame>
      <p:sp>
        <p:nvSpPr>
          <p:cNvPr id="19" name="Text 16"/>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07</a:t>
            </a:r>
            <a:endParaRPr lang="en-US" sz="14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The Goals of Artificial Intelligence</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Text 3"/>
          <p:cNvSpPr/>
          <p:nvPr/>
        </p:nvSpPr>
        <p:spPr>
          <a:xfrm>
            <a:off x="762000" y="2095500"/>
            <a:ext cx="14732000" cy="889000"/>
          </a:xfrm>
          <a:prstGeom prst="rect">
            <a:avLst/>
          </a:prstGeom>
          <a:noFill/>
          <a:ln/>
        </p:spPr>
        <p:txBody>
          <a:bodyPr wrap="square" lIns="0" tIns="0" rIns="0" bIns="0" rtlCol="0" anchor="ctr"/>
          <a:lstStyle/>
          <a:p>
            <a:pPr>
              <a:lnSpc>
                <a:spcPct val="150000"/>
              </a:lnSpc>
            </a:pPr>
            <a:r>
              <a:rPr lang="en-US" sz="1800" dirty="0">
                <a:solidFill>
                  <a:srgbClr val="636E72"/>
                </a:solidFill>
                <a:latin typeface="Quattrocento Sans" pitchFamily="34" charset="0"/>
                <a:ea typeface="Quattrocento Sans" pitchFamily="34" charset="-122"/>
                <a:cs typeface="Quattrocento Sans" pitchFamily="34" charset="-120"/>
              </a:rPr>
              <a:t>The goals of AI serve as guiding principles that drive research, development, and practical applications. At its core, AI strives to create systems that can reason, learn, perceive, and make decisions.</a:t>
            </a:r>
            <a:endParaRPr lang="en-US" sz="1600" dirty="0"/>
          </a:p>
        </p:txBody>
      </p:sp>
      <p:sp>
        <p:nvSpPr>
          <p:cNvPr id="6" name="Shape 4"/>
          <p:cNvSpPr/>
          <p:nvPr/>
        </p:nvSpPr>
        <p:spPr>
          <a:xfrm>
            <a:off x="762000" y="3302000"/>
            <a:ext cx="7048500" cy="2222500"/>
          </a:xfrm>
          <a:prstGeom prst="rect">
            <a:avLst/>
          </a:prstGeom>
          <a:solidFill>
            <a:srgbClr val="EDE8E1"/>
          </a:solidFill>
          <a:ln/>
        </p:spPr>
      </p:sp>
      <p:sp>
        <p:nvSpPr>
          <p:cNvPr id="7" name="Text 5"/>
          <p:cNvSpPr/>
          <p:nvPr/>
        </p:nvSpPr>
        <p:spPr>
          <a:xfrm>
            <a:off x="952500" y="3429000"/>
            <a:ext cx="698500" cy="508000"/>
          </a:xfrm>
          <a:prstGeom prst="rect">
            <a:avLst/>
          </a:prstGeom>
          <a:noFill/>
          <a:ln/>
        </p:spPr>
        <p:txBody>
          <a:bodyPr wrap="none" lIns="0" tIns="0" rIns="0" bIns="0" rtlCol="0" anchor="ctr"/>
          <a:lstStyle/>
          <a:p>
            <a:pPr algn="ctr">
              <a:lnSpc>
                <a:spcPct val="100000"/>
              </a:lnSpc>
            </a:pPr>
            <a:r>
              <a:rPr lang="en-US" sz="3200" dirty="0">
                <a:solidFill>
                  <a:srgbClr val="D4A574"/>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1714500" y="3492500"/>
            <a:ext cx="5842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Replicating Human Intelligence</a:t>
            </a:r>
            <a:endParaRPr lang="en-US" sz="1600" dirty="0"/>
          </a:p>
        </p:txBody>
      </p:sp>
      <p:sp>
        <p:nvSpPr>
          <p:cNvPr id="9" name="Text 7"/>
          <p:cNvSpPr/>
          <p:nvPr/>
        </p:nvSpPr>
        <p:spPr>
          <a:xfrm>
            <a:off x="952500" y="4000500"/>
            <a:ext cx="6604000" cy="1270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Creating systems with human-level intelligence across all domains — Artificial General Intelligence (AGI). The most ambitious and long-term goal of AI research.</a:t>
            </a:r>
            <a:endParaRPr lang="en-US" sz="1600" dirty="0"/>
          </a:p>
        </p:txBody>
      </p:sp>
      <p:sp>
        <p:nvSpPr>
          <p:cNvPr id="10" name="Shape 8"/>
          <p:cNvSpPr/>
          <p:nvPr/>
        </p:nvSpPr>
        <p:spPr>
          <a:xfrm>
            <a:off x="8445500" y="3302000"/>
            <a:ext cx="7048500" cy="2222500"/>
          </a:xfrm>
          <a:prstGeom prst="rect">
            <a:avLst/>
          </a:prstGeom>
          <a:solidFill>
            <a:srgbClr val="EDE8E1"/>
          </a:solidFill>
          <a:ln/>
        </p:spPr>
      </p:sp>
      <p:sp>
        <p:nvSpPr>
          <p:cNvPr id="11" name="Text 9"/>
          <p:cNvSpPr/>
          <p:nvPr/>
        </p:nvSpPr>
        <p:spPr>
          <a:xfrm>
            <a:off x="8636000" y="3429000"/>
            <a:ext cx="698500" cy="508000"/>
          </a:xfrm>
          <a:prstGeom prst="rect">
            <a:avLst/>
          </a:prstGeom>
          <a:noFill/>
          <a:ln/>
        </p:spPr>
        <p:txBody>
          <a:bodyPr wrap="none" lIns="0" tIns="0" rIns="0" bIns="0" rtlCol="0" anchor="ctr"/>
          <a:lstStyle/>
          <a:p>
            <a:pPr algn="ctr">
              <a:lnSpc>
                <a:spcPct val="100000"/>
              </a:lnSpc>
            </a:pPr>
            <a:r>
              <a:rPr lang="en-US" sz="3200" dirty="0">
                <a:solidFill>
                  <a:srgbClr val="D4A574"/>
                </a:solidFill>
                <a:latin typeface="Liter" pitchFamily="34" charset="0"/>
                <a:ea typeface="Liter" pitchFamily="34" charset="-122"/>
                <a:cs typeface="Liter" pitchFamily="34" charset="-120"/>
              </a:rPr>
              <a:t>2</a:t>
            </a:r>
            <a:endParaRPr lang="en-US" sz="1600" dirty="0"/>
          </a:p>
        </p:txBody>
      </p:sp>
      <p:sp>
        <p:nvSpPr>
          <p:cNvPr id="12" name="Text 10"/>
          <p:cNvSpPr/>
          <p:nvPr/>
        </p:nvSpPr>
        <p:spPr>
          <a:xfrm>
            <a:off x="9398000" y="3492500"/>
            <a:ext cx="5842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Building Intelligent Systems</a:t>
            </a:r>
            <a:endParaRPr lang="en-US" sz="1600" dirty="0"/>
          </a:p>
        </p:txBody>
      </p:sp>
      <p:sp>
        <p:nvSpPr>
          <p:cNvPr id="13" name="Text 11"/>
          <p:cNvSpPr/>
          <p:nvPr/>
        </p:nvSpPr>
        <p:spPr>
          <a:xfrm>
            <a:off x="8636000" y="4000500"/>
            <a:ext cx="6604000" cy="1270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Developing practical systems that perform specific intelligent tasks efficiently — medical diagnosis, fraud detection, autonomous driving, and more.</a:t>
            </a:r>
            <a:endParaRPr lang="en-US" sz="1600" dirty="0"/>
          </a:p>
        </p:txBody>
      </p:sp>
      <p:sp>
        <p:nvSpPr>
          <p:cNvPr id="14" name="Shape 12"/>
          <p:cNvSpPr/>
          <p:nvPr/>
        </p:nvSpPr>
        <p:spPr>
          <a:xfrm>
            <a:off x="762000" y="5905500"/>
            <a:ext cx="7048500" cy="2222500"/>
          </a:xfrm>
          <a:prstGeom prst="rect">
            <a:avLst/>
          </a:prstGeom>
          <a:solidFill>
            <a:srgbClr val="EDE8E1"/>
          </a:solidFill>
          <a:ln/>
        </p:spPr>
      </p:sp>
      <p:sp>
        <p:nvSpPr>
          <p:cNvPr id="15" name="Text 13"/>
          <p:cNvSpPr/>
          <p:nvPr/>
        </p:nvSpPr>
        <p:spPr>
          <a:xfrm>
            <a:off x="952500" y="6032500"/>
            <a:ext cx="698500" cy="508000"/>
          </a:xfrm>
          <a:prstGeom prst="rect">
            <a:avLst/>
          </a:prstGeom>
          <a:noFill/>
          <a:ln/>
        </p:spPr>
        <p:txBody>
          <a:bodyPr wrap="none" lIns="0" tIns="0" rIns="0" bIns="0" rtlCol="0" anchor="ctr"/>
          <a:lstStyle/>
          <a:p>
            <a:pPr algn="ctr">
              <a:lnSpc>
                <a:spcPct val="100000"/>
              </a:lnSpc>
            </a:pPr>
            <a:r>
              <a:rPr lang="en-US" sz="3200" dirty="0">
                <a:solidFill>
                  <a:srgbClr val="D4A574"/>
                </a:solidFill>
                <a:latin typeface="Liter" pitchFamily="34" charset="0"/>
                <a:ea typeface="Liter" pitchFamily="34" charset="-122"/>
                <a:cs typeface="Liter" pitchFamily="34" charset="-120"/>
              </a:rPr>
              <a:t>3</a:t>
            </a:r>
            <a:endParaRPr lang="en-US" sz="1600" dirty="0"/>
          </a:p>
        </p:txBody>
      </p:sp>
      <p:sp>
        <p:nvSpPr>
          <p:cNvPr id="16" name="Text 14"/>
          <p:cNvSpPr/>
          <p:nvPr/>
        </p:nvSpPr>
        <p:spPr>
          <a:xfrm>
            <a:off x="1714500" y="6096000"/>
            <a:ext cx="5842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Understanding Human Cognition</a:t>
            </a:r>
            <a:endParaRPr lang="en-US" sz="1600" dirty="0"/>
          </a:p>
        </p:txBody>
      </p:sp>
      <p:sp>
        <p:nvSpPr>
          <p:cNvPr id="17" name="Text 15"/>
          <p:cNvSpPr/>
          <p:nvPr/>
        </p:nvSpPr>
        <p:spPr>
          <a:xfrm>
            <a:off x="952500" y="6604000"/>
            <a:ext cx="6604000" cy="1270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Using AI as a tool to understand how the human mind works — the interdisciplinary field of cognitive science combines AI, psychology, and neuroscience.</a:t>
            </a:r>
            <a:endParaRPr lang="en-US" sz="1600" dirty="0"/>
          </a:p>
        </p:txBody>
      </p:sp>
      <p:sp>
        <p:nvSpPr>
          <p:cNvPr id="18" name="Shape 16"/>
          <p:cNvSpPr/>
          <p:nvPr/>
        </p:nvSpPr>
        <p:spPr>
          <a:xfrm>
            <a:off x="8445500" y="5905500"/>
            <a:ext cx="7048500" cy="2222500"/>
          </a:xfrm>
          <a:prstGeom prst="rect">
            <a:avLst/>
          </a:prstGeom>
          <a:solidFill>
            <a:srgbClr val="EDE8E1"/>
          </a:solidFill>
          <a:ln/>
        </p:spPr>
      </p:sp>
      <p:sp>
        <p:nvSpPr>
          <p:cNvPr id="19" name="Text 17"/>
          <p:cNvSpPr/>
          <p:nvPr/>
        </p:nvSpPr>
        <p:spPr>
          <a:xfrm>
            <a:off x="8636000" y="6032500"/>
            <a:ext cx="698500" cy="508000"/>
          </a:xfrm>
          <a:prstGeom prst="rect">
            <a:avLst/>
          </a:prstGeom>
          <a:noFill/>
          <a:ln/>
        </p:spPr>
        <p:txBody>
          <a:bodyPr wrap="none" lIns="0" tIns="0" rIns="0" bIns="0" rtlCol="0" anchor="ctr"/>
          <a:lstStyle/>
          <a:p>
            <a:pPr algn="ctr">
              <a:lnSpc>
                <a:spcPct val="100000"/>
              </a:lnSpc>
            </a:pPr>
            <a:r>
              <a:rPr lang="en-US" sz="3200" dirty="0">
                <a:solidFill>
                  <a:srgbClr val="D4A574"/>
                </a:solidFill>
                <a:latin typeface="Liter" pitchFamily="34" charset="0"/>
                <a:ea typeface="Liter" pitchFamily="34" charset="-122"/>
                <a:cs typeface="Liter" pitchFamily="34" charset="-120"/>
              </a:rPr>
              <a:t>4</a:t>
            </a:r>
            <a:endParaRPr lang="en-US" sz="1600" dirty="0"/>
          </a:p>
        </p:txBody>
      </p:sp>
      <p:sp>
        <p:nvSpPr>
          <p:cNvPr id="20" name="Text 18"/>
          <p:cNvSpPr/>
          <p:nvPr/>
        </p:nvSpPr>
        <p:spPr>
          <a:xfrm>
            <a:off x="9398000" y="6096000"/>
            <a:ext cx="5842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Creating Beneficial AI</a:t>
            </a:r>
            <a:endParaRPr lang="en-US" sz="1600" dirty="0"/>
          </a:p>
        </p:txBody>
      </p:sp>
      <p:sp>
        <p:nvSpPr>
          <p:cNvPr id="21" name="Text 19"/>
          <p:cNvSpPr/>
          <p:nvPr/>
        </p:nvSpPr>
        <p:spPr>
          <a:xfrm>
            <a:off x="8636000" y="6604000"/>
            <a:ext cx="6604000" cy="1270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Ensuring AI benefits humanity through safety, ethics, fairness, transparency, and human-AI collaboration. Managing risks of bias, privacy, and misuse.</a:t>
            </a:r>
            <a:endParaRPr lang="en-US" sz="1600" dirty="0"/>
          </a:p>
        </p:txBody>
      </p:sp>
      <p:sp>
        <p:nvSpPr>
          <p:cNvPr id="22" name="Text 20"/>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08</a:t>
            </a:r>
            <a:endParaRPr lang="en-US" sz="14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Goal 1 — Replicating Human Intelligence</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Shape 3"/>
          <p:cNvSpPr/>
          <p:nvPr/>
        </p:nvSpPr>
        <p:spPr>
          <a:xfrm>
            <a:off x="762000" y="2159000"/>
            <a:ext cx="2540000" cy="406400"/>
          </a:xfrm>
          <a:prstGeom prst="rect">
            <a:avLst/>
          </a:prstGeom>
          <a:solidFill>
            <a:srgbClr val="D4A574"/>
          </a:solidFill>
          <a:ln/>
        </p:spPr>
      </p:sp>
      <p:sp>
        <p:nvSpPr>
          <p:cNvPr id="6" name="Text 4"/>
          <p:cNvSpPr/>
          <p:nvPr/>
        </p:nvSpPr>
        <p:spPr>
          <a:xfrm>
            <a:off x="762000" y="2159000"/>
            <a:ext cx="2540000" cy="406400"/>
          </a:xfrm>
          <a:prstGeom prst="rect">
            <a:avLst/>
          </a:prstGeom>
          <a:noFill/>
          <a:ln/>
        </p:spPr>
        <p:txBody>
          <a:bodyPr wrap="none" lIns="0" tIns="0" rIns="0" bIns="0" rtlCol="0" anchor="ctr"/>
          <a:lstStyle/>
          <a:p>
            <a:pPr algn="ctr">
              <a:lnSpc>
                <a:spcPct val="100000"/>
              </a:lnSpc>
            </a:pPr>
            <a:r>
              <a:rPr lang="en-US" sz="1200" spc="100" kern="0" dirty="0">
                <a:solidFill>
                  <a:srgbClr val="F5F1EC"/>
                </a:solidFill>
                <a:latin typeface="Liter" pitchFamily="34" charset="0"/>
                <a:ea typeface="Liter" pitchFamily="34" charset="-122"/>
                <a:cs typeface="Liter" pitchFamily="34" charset="-120"/>
              </a:rPr>
              <a:t>ARTIFICIAL GENERAL AI</a:t>
            </a:r>
            <a:endParaRPr lang="en-US" sz="1600" dirty="0"/>
          </a:p>
        </p:txBody>
      </p:sp>
      <p:sp>
        <p:nvSpPr>
          <p:cNvPr id="7" name="Text 5"/>
          <p:cNvSpPr/>
          <p:nvPr/>
        </p:nvSpPr>
        <p:spPr>
          <a:xfrm>
            <a:off x="762000" y="2921000"/>
            <a:ext cx="8890000" cy="2540000"/>
          </a:xfrm>
          <a:prstGeom prst="rect">
            <a:avLst/>
          </a:prstGeom>
          <a:noFill/>
          <a:ln/>
        </p:spPr>
        <p:txBody>
          <a:bodyPr wrap="square" lIns="0" tIns="0" rIns="0" bIns="0" rtlCol="0" anchor="ctr"/>
          <a:lstStyle/>
          <a:p>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One of the most ambitious goals of AI is to create systems that can replicate </a:t>
            </a:r>
            <a:pPr>
              <a:lnSpc>
                <a:spcPct val="160000"/>
              </a:lnSpc>
            </a:pPr>
            <a:r>
              <a:rPr lang="en-US" sz="1800" b="1" dirty="0">
                <a:solidFill>
                  <a:srgbClr val="2D3436"/>
                </a:solidFill>
                <a:latin typeface="Quattrocento Sans" pitchFamily="34" charset="0"/>
                <a:ea typeface="Quattrocento Sans" pitchFamily="34" charset="-122"/>
                <a:cs typeface="Quattrocento Sans" pitchFamily="34" charset="-120"/>
              </a:rPr>
              <a:t>human-level intelligence</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 often called </a:t>
            </a:r>
            <a:pPr>
              <a:lnSpc>
                <a:spcPct val="160000"/>
              </a:lnSpc>
            </a:pPr>
            <a:r>
              <a:rPr lang="en-US" sz="1800" b="1" dirty="0">
                <a:solidFill>
                  <a:srgbClr val="D4A574"/>
                </a:solidFill>
                <a:latin typeface="Quattrocento Sans" pitchFamily="34" charset="0"/>
                <a:ea typeface="Quattrocento Sans" pitchFamily="34" charset="-122"/>
                <a:cs typeface="Quattrocento Sans" pitchFamily="34" charset="-120"/>
              </a:rPr>
              <a:t>Artificial General Intelligence (AGI)</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a:t>
            </a:r>
            <a:endParaRPr lang="en-US" sz="1600" dirty="0"/>
          </a:p>
          <a:p>
            <a:pPr>
              <a:lnSpc>
                <a:spcPct val="160000"/>
              </a:lnSpc>
              <a:spcBef>
                <a:spcPts val="1000"/>
              </a:spcBef>
            </a:pPr>
            <a:r>
              <a:rPr lang="en-US" sz="1800" dirty="0">
                <a:solidFill>
                  <a:srgbClr val="2D3436"/>
                </a:solidFill>
                <a:latin typeface="Quattrocento Sans" pitchFamily="34" charset="0"/>
                <a:ea typeface="Quattrocento Sans" pitchFamily="34" charset="-122"/>
                <a:cs typeface="Quattrocento Sans" pitchFamily="34" charset="-120"/>
              </a:rPr>
              <a:t>This involves building machines that can </a:t>
            </a:r>
            <a:pPr>
              <a:lnSpc>
                <a:spcPct val="160000"/>
              </a:lnSpc>
              <a:spcBef>
                <a:spcPts val="1000"/>
              </a:spcBef>
            </a:pPr>
            <a:r>
              <a:rPr lang="en-US" sz="1800" b="1" dirty="0">
                <a:solidFill>
                  <a:srgbClr val="2D3436"/>
                </a:solidFill>
                <a:latin typeface="Quattrocento Sans" pitchFamily="34" charset="0"/>
                <a:ea typeface="Quattrocento Sans" pitchFamily="34" charset="-122"/>
                <a:cs typeface="Quattrocento Sans" pitchFamily="34" charset="-120"/>
              </a:rPr>
              <a:t>understand, learn, and apply knowledge across any domain</a:t>
            </a:r>
            <a:pPr>
              <a:lnSpc>
                <a:spcPct val="160000"/>
              </a:lnSpc>
              <a:spcBef>
                <a:spcPts val="1000"/>
              </a:spcBef>
            </a:pPr>
            <a:r>
              <a:rPr lang="en-US" sz="1800" dirty="0">
                <a:solidFill>
                  <a:srgbClr val="2D3436"/>
                </a:solidFill>
                <a:latin typeface="Quattrocento Sans" pitchFamily="34" charset="0"/>
                <a:ea typeface="Quattrocento Sans" pitchFamily="34" charset="-122"/>
                <a:cs typeface="Quattrocento Sans" pitchFamily="34" charset="-120"/>
              </a:rPr>
              <a:t>, just as humans do. The system would transfer skills from one area to another, reason about novel situations, and exhibit common sense.</a:t>
            </a:r>
            <a:endParaRPr lang="en-US" sz="1600" dirty="0"/>
          </a:p>
        </p:txBody>
      </p:sp>
      <p:sp>
        <p:nvSpPr>
          <p:cNvPr id="8" name="Shape 6"/>
          <p:cNvSpPr/>
          <p:nvPr/>
        </p:nvSpPr>
        <p:spPr>
          <a:xfrm>
            <a:off x="10160000" y="2159000"/>
            <a:ext cx="5334000" cy="3683000"/>
          </a:xfrm>
          <a:prstGeom prst="rect">
            <a:avLst/>
          </a:prstGeom>
          <a:solidFill>
            <a:srgbClr val="EDE8E1"/>
          </a:solidFill>
          <a:ln/>
        </p:spPr>
      </p:sp>
      <p:sp>
        <p:nvSpPr>
          <p:cNvPr id="9" name="Text 7"/>
          <p:cNvSpPr/>
          <p:nvPr/>
        </p:nvSpPr>
        <p:spPr>
          <a:xfrm>
            <a:off x="10477500" y="2349500"/>
            <a:ext cx="4699000" cy="355600"/>
          </a:xfrm>
          <a:prstGeom prst="rect">
            <a:avLst/>
          </a:prstGeom>
          <a:noFill/>
          <a:ln/>
        </p:spPr>
        <p:txBody>
          <a:bodyPr wrap="none" lIns="0" tIns="0" rIns="0" bIns="0" rtlCol="0" anchor="ctr"/>
          <a:lstStyle/>
          <a:p>
            <a:pPr>
              <a:lnSpc>
                <a:spcPct val="100000"/>
              </a:lnSpc>
            </a:pPr>
            <a:r>
              <a:rPr lang="en-US" sz="1800" b="1" dirty="0">
                <a:solidFill>
                  <a:srgbClr val="2D3436"/>
                </a:solidFill>
                <a:latin typeface="Liter" pitchFamily="34" charset="0"/>
                <a:ea typeface="Liter" pitchFamily="34" charset="-122"/>
                <a:cs typeface="Liter" pitchFamily="34" charset="-120"/>
              </a:rPr>
              <a:t>Narrow AI vs. AGI</a:t>
            </a:r>
            <a:endParaRPr lang="en-US" sz="1600" dirty="0"/>
          </a:p>
        </p:txBody>
      </p:sp>
      <p:sp>
        <p:nvSpPr>
          <p:cNvPr id="10" name="Text 8"/>
          <p:cNvSpPr/>
          <p:nvPr/>
        </p:nvSpPr>
        <p:spPr>
          <a:xfrm>
            <a:off x="10477500" y="2794000"/>
            <a:ext cx="4699000" cy="2921000"/>
          </a:xfrm>
          <a:prstGeom prst="rect">
            <a:avLst/>
          </a:prstGeom>
          <a:noFill/>
          <a:ln/>
        </p:spPr>
        <p:txBody>
          <a:bodyPr wrap="square" lIns="0" tIns="0" rIns="0" bIns="0" rtlCol="0" anchor="ctr"/>
          <a:lstStyle/>
          <a:p>
            <a:pPr>
              <a:lnSpc>
                <a:spcPct val="150000"/>
              </a:lnSpc>
            </a:pPr>
            <a:r>
              <a:rPr lang="en-US" sz="1500" b="1" dirty="0">
                <a:solidFill>
                  <a:srgbClr val="D4A574"/>
                </a:solidFill>
                <a:latin typeface="Quattrocento Sans" pitchFamily="34" charset="0"/>
                <a:ea typeface="Quattrocento Sans" pitchFamily="34" charset="-122"/>
                <a:cs typeface="Quattrocento Sans" pitchFamily="34" charset="-120"/>
              </a:rPr>
              <a:t>Narrow AI (Current)</a:t>
            </a:r>
            <a:endParaRPr lang="en-US" sz="1600" dirty="0"/>
          </a:p>
          <a:p>
            <a:pPr marL="254000" indent="-254000">
              <a:lnSpc>
                <a:spcPct val="150000"/>
              </a:lnSpc>
              <a:spcBef>
                <a:spcPts val="10"/>
              </a:spcBef>
              <a:buSzPct val="100000"/>
              <a:buChar char="•"/>
            </a:pPr>
            <a:r>
              <a:rPr lang="en-US" sz="1500" dirty="0">
                <a:solidFill>
                  <a:srgbClr val="2D3436"/>
                </a:solidFill>
                <a:latin typeface="Quattrocento Sans" pitchFamily="34" charset="0"/>
                <a:ea typeface="Quattrocento Sans" pitchFamily="34" charset="-122"/>
                <a:cs typeface="Quattrocento Sans" pitchFamily="34" charset="-120"/>
              </a:rPr>
              <a:t>Excels at specific tasks</a:t>
            </a:r>
            <a:endParaRPr lang="en-US" sz="1600" dirty="0"/>
          </a:p>
          <a:p>
            <a:pPr marL="254000" indent="-254000">
              <a:lnSpc>
                <a:spcPct val="150000"/>
              </a:lnSpc>
              <a:spcBef>
                <a:spcPts val="10"/>
              </a:spcBef>
              <a:buSzPct val="100000"/>
              <a:buChar char="•"/>
            </a:pPr>
            <a:r>
              <a:rPr lang="en-US" sz="1500" dirty="0">
                <a:solidFill>
                  <a:srgbClr val="2D3436"/>
                </a:solidFill>
                <a:latin typeface="Quattrocento Sans" pitchFamily="34" charset="0"/>
                <a:ea typeface="Quattrocento Sans" pitchFamily="34" charset="-122"/>
                <a:cs typeface="Quattrocento Sans" pitchFamily="34" charset="-120"/>
              </a:rPr>
              <a:t>Chess, image recognition, translation</a:t>
            </a:r>
            <a:endParaRPr lang="en-US" sz="1600" dirty="0"/>
          </a:p>
          <a:p>
            <a:pPr marL="254000" indent="-254000">
              <a:lnSpc>
                <a:spcPct val="150000"/>
              </a:lnSpc>
              <a:spcBef>
                <a:spcPts val="10"/>
              </a:spcBef>
              <a:buSzPct val="100000"/>
              <a:buChar char="•"/>
            </a:pPr>
            <a:r>
              <a:rPr lang="en-US" sz="1500" dirty="0">
                <a:solidFill>
                  <a:srgbClr val="2D3436"/>
                </a:solidFill>
                <a:latin typeface="Quattrocento Sans" pitchFamily="34" charset="0"/>
                <a:ea typeface="Quattrocento Sans" pitchFamily="34" charset="-122"/>
                <a:cs typeface="Quattrocento Sans" pitchFamily="34" charset="-120"/>
              </a:rPr>
              <a:t>Cannot generalize across domains</a:t>
            </a:r>
            <a:endParaRPr lang="en-US" sz="1600" dirty="0"/>
          </a:p>
          <a:p>
            <a:pPr>
              <a:lnSpc>
                <a:spcPct val="150000"/>
              </a:lnSpc>
              <a:spcBef>
                <a:spcPts val="600"/>
              </a:spcBef>
            </a:pPr>
            <a:r>
              <a:rPr lang="en-US" sz="1500" b="1" dirty="0">
                <a:solidFill>
                  <a:srgbClr val="D4A574"/>
                </a:solidFill>
                <a:latin typeface="Quattrocento Sans" pitchFamily="34" charset="0"/>
                <a:ea typeface="Quattrocento Sans" pitchFamily="34" charset="-122"/>
                <a:cs typeface="Quattrocento Sans" pitchFamily="34" charset="-120"/>
              </a:rPr>
              <a:t>AGI (Aspiration)</a:t>
            </a:r>
            <a:endParaRPr lang="en-US" sz="1600" dirty="0"/>
          </a:p>
          <a:p>
            <a:pPr marL="254000" indent="-254000">
              <a:lnSpc>
                <a:spcPct val="150000"/>
              </a:lnSpc>
              <a:spcBef>
                <a:spcPts val="10"/>
              </a:spcBef>
              <a:buSzPct val="100000"/>
              <a:buChar char="•"/>
            </a:pPr>
            <a:r>
              <a:rPr lang="en-US" sz="1500" dirty="0">
                <a:solidFill>
                  <a:srgbClr val="2D3436"/>
                </a:solidFill>
                <a:latin typeface="Quattrocento Sans" pitchFamily="34" charset="0"/>
                <a:ea typeface="Quattrocento Sans" pitchFamily="34" charset="-122"/>
                <a:cs typeface="Quattrocento Sans" pitchFamily="34" charset="-120"/>
              </a:rPr>
              <a:t>Human-level cognition everywhere</a:t>
            </a:r>
            <a:endParaRPr lang="en-US" sz="1600" dirty="0"/>
          </a:p>
          <a:p>
            <a:pPr marL="254000" indent="-254000">
              <a:lnSpc>
                <a:spcPct val="150000"/>
              </a:lnSpc>
              <a:spcBef>
                <a:spcPts val="10"/>
              </a:spcBef>
              <a:buSzPct val="100000"/>
              <a:buChar char="•"/>
            </a:pPr>
            <a:r>
              <a:rPr lang="en-US" sz="1500" dirty="0">
                <a:solidFill>
                  <a:srgbClr val="2D3436"/>
                </a:solidFill>
                <a:latin typeface="Quattrocento Sans" pitchFamily="34" charset="0"/>
                <a:ea typeface="Quattrocento Sans" pitchFamily="34" charset="-122"/>
                <a:cs typeface="Quattrocento Sans" pitchFamily="34" charset="-120"/>
              </a:rPr>
              <a:t>Transfer learning across domains</a:t>
            </a:r>
            <a:endParaRPr lang="en-US" sz="1600" dirty="0"/>
          </a:p>
          <a:p>
            <a:pPr marL="254000" indent="-254000">
              <a:lnSpc>
                <a:spcPct val="150000"/>
              </a:lnSpc>
              <a:spcBef>
                <a:spcPts val="10"/>
              </a:spcBef>
              <a:buSzPct val="100000"/>
              <a:buChar char="•"/>
            </a:pPr>
            <a:r>
              <a:rPr lang="en-US" sz="1500" dirty="0">
                <a:solidFill>
                  <a:srgbClr val="2D3436"/>
                </a:solidFill>
                <a:latin typeface="Quattrocento Sans" pitchFamily="34" charset="0"/>
                <a:ea typeface="Quattrocento Sans" pitchFamily="34" charset="-122"/>
                <a:cs typeface="Quattrocento Sans" pitchFamily="34" charset="-120"/>
              </a:rPr>
              <a:t>Common sense reasoning</a:t>
            </a:r>
            <a:endParaRPr lang="en-US" sz="1600" dirty="0"/>
          </a:p>
        </p:txBody>
      </p:sp>
      <p:sp>
        <p:nvSpPr>
          <p:cNvPr id="11" name="Text 9"/>
          <p:cNvSpPr/>
          <p:nvPr/>
        </p:nvSpPr>
        <p:spPr>
          <a:xfrm>
            <a:off x="762000" y="5969000"/>
            <a:ext cx="635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Research Areas Driving AGI</a:t>
            </a:r>
            <a:endParaRPr lang="en-US" sz="1600" dirty="0"/>
          </a:p>
        </p:txBody>
      </p:sp>
      <p:sp>
        <p:nvSpPr>
          <p:cNvPr id="12" name="Text 10"/>
          <p:cNvSpPr/>
          <p:nvPr/>
        </p:nvSpPr>
        <p:spPr>
          <a:xfrm>
            <a:off x="762000" y="6477000"/>
            <a:ext cx="14732000" cy="1778000"/>
          </a:xfrm>
          <a:prstGeom prst="rect">
            <a:avLst/>
          </a:prstGeom>
          <a:noFill/>
          <a:ln/>
        </p:spPr>
        <p:txBody>
          <a:bodyPr wrap="square" lIns="0" tIns="0" rIns="0" bIns="0" rtlCol="0" anchor="ctr"/>
          <a:lstStyle/>
          <a:p>
            <a:pPr marL="254000" indent="-254000">
              <a:lnSpc>
                <a:spcPct val="160000"/>
              </a:lnSpc>
              <a:spcBef>
                <a:spcPts val="10"/>
              </a:spcBef>
              <a:buSzPct val="100000"/>
              <a:buChar char="•"/>
            </a:pPr>
            <a:r>
              <a:rPr lang="en-US" sz="1800" b="1" dirty="0">
                <a:solidFill>
                  <a:srgbClr val="2D3436"/>
                </a:solidFill>
                <a:latin typeface="Quattrocento Sans" pitchFamily="34" charset="0"/>
                <a:ea typeface="Quattrocento Sans" pitchFamily="34" charset="-122"/>
                <a:cs typeface="Quattrocento Sans" pitchFamily="34" charset="-120"/>
              </a:rPr>
              <a:t>Reasoning</a:t>
            </a:r>
            <a:pPr>
              <a:lnSpc>
                <a:spcPct val="160000"/>
              </a:lnSpc>
              <a:spcBef>
                <a:spcPts val="10"/>
              </a:spcBef>
            </a:pPr>
            <a:r>
              <a:rPr lang="en-US" sz="1800" dirty="0">
                <a:solidFill>
                  <a:srgbClr val="2D3436"/>
                </a:solidFill>
                <a:latin typeface="Quattrocento Sans" pitchFamily="34" charset="0"/>
                <a:ea typeface="Quattrocento Sans" pitchFamily="34" charset="-122"/>
                <a:cs typeface="Quattrocento Sans" pitchFamily="34" charset="-120"/>
              </a:rPr>
              <a:t> — Drawing inferences, solving problems, making decisions under uncertainty</a:t>
            </a:r>
            <a:endParaRPr lang="en-US" sz="1600" dirty="0"/>
          </a:p>
          <a:p>
            <a:pPr marL="254000" indent="-254000">
              <a:lnSpc>
                <a:spcPct val="160000"/>
              </a:lnSpc>
              <a:spcBef>
                <a:spcPts val="10"/>
              </a:spcBef>
              <a:buSzPct val="100000"/>
              <a:buChar char="•"/>
            </a:pPr>
            <a:r>
              <a:rPr lang="en-US" sz="1800" b="1" dirty="0">
                <a:solidFill>
                  <a:srgbClr val="2D3436"/>
                </a:solidFill>
                <a:latin typeface="Quattrocento Sans" pitchFamily="34" charset="0"/>
                <a:ea typeface="Quattrocento Sans" pitchFamily="34" charset="-122"/>
                <a:cs typeface="Quattrocento Sans" pitchFamily="34" charset="-120"/>
              </a:rPr>
              <a:t>Knowledge Representation</a:t>
            </a:r>
            <a:pPr>
              <a:lnSpc>
                <a:spcPct val="160000"/>
              </a:lnSpc>
              <a:spcBef>
                <a:spcPts val="10"/>
              </a:spcBef>
            </a:pPr>
            <a:r>
              <a:rPr lang="en-US" sz="1800" dirty="0">
                <a:solidFill>
                  <a:srgbClr val="2D3436"/>
                </a:solidFill>
                <a:latin typeface="Quattrocento Sans" pitchFamily="34" charset="0"/>
                <a:ea typeface="Quattrocento Sans" pitchFamily="34" charset="-122"/>
                <a:cs typeface="Quattrocento Sans" pitchFamily="34" charset="-120"/>
              </a:rPr>
              <a:t> — Storing and organizing information about the world</a:t>
            </a:r>
            <a:endParaRPr lang="en-US" sz="1600" dirty="0"/>
          </a:p>
          <a:p>
            <a:pPr marL="254000" indent="-254000">
              <a:lnSpc>
                <a:spcPct val="160000"/>
              </a:lnSpc>
              <a:spcBef>
                <a:spcPts val="10"/>
              </a:spcBef>
              <a:buSzPct val="100000"/>
              <a:buChar char="•"/>
            </a:pPr>
            <a:r>
              <a:rPr lang="en-US" sz="1800" b="1" dirty="0">
                <a:solidFill>
                  <a:srgbClr val="2D3436"/>
                </a:solidFill>
                <a:latin typeface="Quattrocento Sans" pitchFamily="34" charset="0"/>
                <a:ea typeface="Quattrocento Sans" pitchFamily="34" charset="-122"/>
                <a:cs typeface="Quattrocento Sans" pitchFamily="34" charset="-120"/>
              </a:rPr>
              <a:t>Learning</a:t>
            </a:r>
            <a:pPr>
              <a:lnSpc>
                <a:spcPct val="160000"/>
              </a:lnSpc>
              <a:spcBef>
                <a:spcPts val="10"/>
              </a:spcBef>
            </a:pPr>
            <a:r>
              <a:rPr lang="en-US" sz="1800" dirty="0">
                <a:solidFill>
                  <a:srgbClr val="2D3436"/>
                </a:solidFill>
                <a:latin typeface="Quattrocento Sans" pitchFamily="34" charset="0"/>
                <a:ea typeface="Quattrocento Sans" pitchFamily="34" charset="-122"/>
                <a:cs typeface="Quattrocento Sans" pitchFamily="34" charset="-120"/>
              </a:rPr>
              <a:t> — Acquiring new skills and knowledge from experience and data</a:t>
            </a:r>
            <a:endParaRPr lang="en-US" sz="1600" dirty="0"/>
          </a:p>
          <a:p>
            <a:pPr marL="254000" indent="-254000">
              <a:lnSpc>
                <a:spcPct val="160000"/>
              </a:lnSpc>
              <a:spcBef>
                <a:spcPts val="10"/>
              </a:spcBef>
              <a:buSzPct val="100000"/>
              <a:buChar char="•"/>
            </a:pPr>
            <a:r>
              <a:rPr lang="en-US" sz="1800" b="1" dirty="0">
                <a:solidFill>
                  <a:srgbClr val="2D3436"/>
                </a:solidFill>
                <a:latin typeface="Quattrocento Sans" pitchFamily="34" charset="0"/>
                <a:ea typeface="Quattrocento Sans" pitchFamily="34" charset="-122"/>
                <a:cs typeface="Quattrocento Sans" pitchFamily="34" charset="-120"/>
              </a:rPr>
              <a:t>Natural Language Understanding</a:t>
            </a:r>
            <a:pPr>
              <a:lnSpc>
                <a:spcPct val="160000"/>
              </a:lnSpc>
              <a:spcBef>
                <a:spcPts val="10"/>
              </a:spcBef>
            </a:pPr>
            <a:r>
              <a:rPr lang="en-US" sz="1800" dirty="0">
                <a:solidFill>
                  <a:srgbClr val="2D3436"/>
                </a:solidFill>
                <a:latin typeface="Quattrocento Sans" pitchFamily="34" charset="0"/>
                <a:ea typeface="Quattrocento Sans" pitchFamily="34" charset="-122"/>
                <a:cs typeface="Quattrocento Sans" pitchFamily="34" charset="-120"/>
              </a:rPr>
              <a:t> — Comprehending and generating human language</a:t>
            </a:r>
            <a:endParaRPr lang="en-US" sz="1600" dirty="0"/>
          </a:p>
        </p:txBody>
      </p:sp>
      <p:sp>
        <p:nvSpPr>
          <p:cNvPr id="13" name="Text 11"/>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09</a:t>
            </a:r>
            <a:endParaRPr lang="en-US" sz="14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Goal 2 — Building Intelligent Systems</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Text 3"/>
          <p:cNvSpPr/>
          <p:nvPr/>
        </p:nvSpPr>
        <p:spPr>
          <a:xfrm>
            <a:off x="762000" y="2095500"/>
            <a:ext cx="14732000" cy="762000"/>
          </a:xfrm>
          <a:prstGeom prst="rect">
            <a:avLst/>
          </a:prstGeom>
          <a:noFill/>
          <a:ln/>
        </p:spPr>
        <p:txBody>
          <a:bodyPr wrap="square" lIns="0" tIns="0" rIns="0" bIns="0" rtlCol="0" anchor="ctr"/>
          <a:lstStyle/>
          <a:p>
            <a:pPr>
              <a:lnSpc>
                <a:spcPct val="150000"/>
              </a:lnSpc>
            </a:pPr>
            <a:r>
              <a:rPr lang="en-US" sz="1800" dirty="0">
                <a:solidFill>
                  <a:srgbClr val="636E72"/>
                </a:solidFill>
                <a:latin typeface="Quattrocento Sans" pitchFamily="34" charset="0"/>
                <a:ea typeface="Quattrocento Sans" pitchFamily="34" charset="-122"/>
                <a:cs typeface="Quattrocento Sans" pitchFamily="34" charset="-120"/>
              </a:rPr>
              <a:t>A practical goal of AI is to develop systems that perform specific intelligent tasks more efficiently and accurately than humans.</a:t>
            </a:r>
            <a:endParaRPr lang="en-US" sz="1600" dirty="0"/>
          </a:p>
        </p:txBody>
      </p:sp>
      <p:sp>
        <p:nvSpPr>
          <p:cNvPr id="6" name="Text 4"/>
          <p:cNvSpPr/>
          <p:nvPr/>
        </p:nvSpPr>
        <p:spPr>
          <a:xfrm>
            <a:off x="762000" y="3175000"/>
            <a:ext cx="4572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Automating Decisions</a:t>
            </a:r>
            <a:endParaRPr lang="en-US" sz="1600" dirty="0"/>
          </a:p>
        </p:txBody>
      </p:sp>
      <p:sp>
        <p:nvSpPr>
          <p:cNvPr id="7" name="Shape 5"/>
          <p:cNvSpPr/>
          <p:nvPr/>
        </p:nvSpPr>
        <p:spPr>
          <a:xfrm>
            <a:off x="711200" y="3683000"/>
            <a:ext cx="508000" cy="406400"/>
          </a:xfrm>
          <a:custGeom>
            <a:avLst/>
            <a:gdLst/>
            <a:ahLst/>
            <a:cxnLst/>
            <a:rect l="l" t="t" r="r" b="b"/>
            <a:pathLst>
              <a:path w="508000" h="406400">
                <a:moveTo>
                  <a:pt x="279400" y="0"/>
                </a:moveTo>
                <a:cubicBezTo>
                  <a:pt x="279400" y="-14049"/>
                  <a:pt x="268049" y="-25400"/>
                  <a:pt x="254000" y="-25400"/>
                </a:cubicBezTo>
                <a:cubicBezTo>
                  <a:pt x="239951" y="-25400"/>
                  <a:pt x="228600" y="-14049"/>
                  <a:pt x="228600" y="0"/>
                </a:cubicBezTo>
                <a:lnTo>
                  <a:pt x="228600" y="50800"/>
                </a:lnTo>
                <a:lnTo>
                  <a:pt x="152400" y="50800"/>
                </a:lnTo>
                <a:cubicBezTo>
                  <a:pt x="110331" y="50800"/>
                  <a:pt x="76200" y="84931"/>
                  <a:pt x="76200" y="127000"/>
                </a:cubicBezTo>
                <a:lnTo>
                  <a:pt x="76200" y="304800"/>
                </a:lnTo>
                <a:cubicBezTo>
                  <a:pt x="76200" y="346869"/>
                  <a:pt x="110331" y="381000"/>
                  <a:pt x="152400" y="381000"/>
                </a:cubicBezTo>
                <a:lnTo>
                  <a:pt x="355600" y="381000"/>
                </a:lnTo>
                <a:cubicBezTo>
                  <a:pt x="397669" y="381000"/>
                  <a:pt x="431800" y="346869"/>
                  <a:pt x="431800" y="304800"/>
                </a:cubicBezTo>
                <a:lnTo>
                  <a:pt x="431800" y="127000"/>
                </a:lnTo>
                <a:cubicBezTo>
                  <a:pt x="431800" y="84931"/>
                  <a:pt x="397669" y="50800"/>
                  <a:pt x="355600" y="50800"/>
                </a:cubicBezTo>
                <a:lnTo>
                  <a:pt x="279400" y="50800"/>
                </a:lnTo>
                <a:lnTo>
                  <a:pt x="279400" y="0"/>
                </a:lnTo>
                <a:close/>
                <a:moveTo>
                  <a:pt x="127000" y="292100"/>
                </a:moveTo>
                <a:cubicBezTo>
                  <a:pt x="127000" y="281543"/>
                  <a:pt x="135493" y="273050"/>
                  <a:pt x="146050" y="273050"/>
                </a:cubicBezTo>
                <a:lnTo>
                  <a:pt x="171450" y="273050"/>
                </a:lnTo>
                <a:cubicBezTo>
                  <a:pt x="182007" y="273050"/>
                  <a:pt x="190500" y="281543"/>
                  <a:pt x="190500" y="292100"/>
                </a:cubicBezTo>
                <a:cubicBezTo>
                  <a:pt x="190500" y="302657"/>
                  <a:pt x="182007" y="311150"/>
                  <a:pt x="171450" y="311150"/>
                </a:cubicBezTo>
                <a:lnTo>
                  <a:pt x="146050" y="311150"/>
                </a:lnTo>
                <a:cubicBezTo>
                  <a:pt x="135493" y="311150"/>
                  <a:pt x="127000" y="302657"/>
                  <a:pt x="127000" y="292100"/>
                </a:cubicBezTo>
                <a:close/>
                <a:moveTo>
                  <a:pt x="222250" y="292100"/>
                </a:moveTo>
                <a:cubicBezTo>
                  <a:pt x="222250" y="281543"/>
                  <a:pt x="230743" y="273050"/>
                  <a:pt x="241300" y="273050"/>
                </a:cubicBezTo>
                <a:lnTo>
                  <a:pt x="266700" y="273050"/>
                </a:lnTo>
                <a:cubicBezTo>
                  <a:pt x="277257" y="273050"/>
                  <a:pt x="285750" y="281543"/>
                  <a:pt x="285750" y="292100"/>
                </a:cubicBezTo>
                <a:cubicBezTo>
                  <a:pt x="285750" y="302657"/>
                  <a:pt x="277257" y="311150"/>
                  <a:pt x="266700" y="311150"/>
                </a:cubicBezTo>
                <a:lnTo>
                  <a:pt x="241300" y="311150"/>
                </a:lnTo>
                <a:cubicBezTo>
                  <a:pt x="230743" y="311150"/>
                  <a:pt x="222250" y="302657"/>
                  <a:pt x="222250" y="292100"/>
                </a:cubicBezTo>
                <a:close/>
                <a:moveTo>
                  <a:pt x="317500" y="292100"/>
                </a:moveTo>
                <a:cubicBezTo>
                  <a:pt x="317500" y="281543"/>
                  <a:pt x="325993" y="273050"/>
                  <a:pt x="336550" y="273050"/>
                </a:cubicBezTo>
                <a:lnTo>
                  <a:pt x="361950" y="273050"/>
                </a:lnTo>
                <a:cubicBezTo>
                  <a:pt x="372507" y="273050"/>
                  <a:pt x="381000" y="281543"/>
                  <a:pt x="381000" y="292100"/>
                </a:cubicBezTo>
                <a:cubicBezTo>
                  <a:pt x="381000" y="302657"/>
                  <a:pt x="372507" y="311150"/>
                  <a:pt x="361950" y="311150"/>
                </a:cubicBezTo>
                <a:lnTo>
                  <a:pt x="336550" y="311150"/>
                </a:lnTo>
                <a:cubicBezTo>
                  <a:pt x="325993" y="311150"/>
                  <a:pt x="317500" y="302657"/>
                  <a:pt x="317500" y="292100"/>
                </a:cubicBezTo>
                <a:close/>
                <a:moveTo>
                  <a:pt x="177800" y="139700"/>
                </a:moveTo>
                <a:cubicBezTo>
                  <a:pt x="198828" y="139700"/>
                  <a:pt x="215900" y="156772"/>
                  <a:pt x="215900" y="177800"/>
                </a:cubicBezTo>
                <a:cubicBezTo>
                  <a:pt x="215900" y="198828"/>
                  <a:pt x="198828" y="215900"/>
                  <a:pt x="177800" y="215900"/>
                </a:cubicBezTo>
                <a:cubicBezTo>
                  <a:pt x="156772" y="215900"/>
                  <a:pt x="139700" y="198828"/>
                  <a:pt x="139700" y="177800"/>
                </a:cubicBezTo>
                <a:cubicBezTo>
                  <a:pt x="139700" y="156772"/>
                  <a:pt x="156772" y="139700"/>
                  <a:pt x="177800" y="139700"/>
                </a:cubicBezTo>
                <a:close/>
                <a:moveTo>
                  <a:pt x="292100" y="177800"/>
                </a:moveTo>
                <a:cubicBezTo>
                  <a:pt x="292100" y="156772"/>
                  <a:pt x="309172" y="139700"/>
                  <a:pt x="330200" y="139700"/>
                </a:cubicBezTo>
                <a:cubicBezTo>
                  <a:pt x="351228" y="139700"/>
                  <a:pt x="368300" y="156772"/>
                  <a:pt x="368300" y="177800"/>
                </a:cubicBezTo>
                <a:cubicBezTo>
                  <a:pt x="368300" y="198828"/>
                  <a:pt x="351228" y="215900"/>
                  <a:pt x="330200" y="215900"/>
                </a:cubicBezTo>
                <a:cubicBezTo>
                  <a:pt x="309172" y="215900"/>
                  <a:pt x="292100" y="198828"/>
                  <a:pt x="292100" y="177800"/>
                </a:cubicBezTo>
                <a:close/>
                <a:moveTo>
                  <a:pt x="50800" y="177800"/>
                </a:moveTo>
                <a:cubicBezTo>
                  <a:pt x="50800" y="163751"/>
                  <a:pt x="39449" y="152400"/>
                  <a:pt x="25400" y="152400"/>
                </a:cubicBezTo>
                <a:cubicBezTo>
                  <a:pt x="11351" y="152400"/>
                  <a:pt x="0" y="163751"/>
                  <a:pt x="0" y="177800"/>
                </a:cubicBezTo>
                <a:lnTo>
                  <a:pt x="0" y="254000"/>
                </a:lnTo>
                <a:cubicBezTo>
                  <a:pt x="0" y="268049"/>
                  <a:pt x="11351" y="279400"/>
                  <a:pt x="25400" y="279400"/>
                </a:cubicBezTo>
                <a:cubicBezTo>
                  <a:pt x="39449" y="279400"/>
                  <a:pt x="50800" y="268049"/>
                  <a:pt x="50800" y="254000"/>
                </a:cubicBezTo>
                <a:lnTo>
                  <a:pt x="50800" y="177800"/>
                </a:lnTo>
                <a:close/>
                <a:moveTo>
                  <a:pt x="482600" y="152400"/>
                </a:moveTo>
                <a:cubicBezTo>
                  <a:pt x="468551" y="152400"/>
                  <a:pt x="457200" y="163751"/>
                  <a:pt x="457200" y="177800"/>
                </a:cubicBezTo>
                <a:lnTo>
                  <a:pt x="457200" y="254000"/>
                </a:lnTo>
                <a:cubicBezTo>
                  <a:pt x="457200" y="268049"/>
                  <a:pt x="468551" y="279400"/>
                  <a:pt x="482600" y="279400"/>
                </a:cubicBezTo>
                <a:cubicBezTo>
                  <a:pt x="496649" y="279400"/>
                  <a:pt x="508000" y="268049"/>
                  <a:pt x="508000" y="254000"/>
                </a:cubicBezTo>
                <a:lnTo>
                  <a:pt x="508000" y="177800"/>
                </a:lnTo>
                <a:cubicBezTo>
                  <a:pt x="508000" y="163751"/>
                  <a:pt x="496649" y="152400"/>
                  <a:pt x="482600" y="152400"/>
                </a:cubicBezTo>
                <a:close/>
              </a:path>
            </a:pathLst>
          </a:custGeom>
          <a:solidFill>
            <a:srgbClr val="D4A574"/>
          </a:solidFill>
          <a:ln/>
        </p:spPr>
      </p:sp>
      <p:sp>
        <p:nvSpPr>
          <p:cNvPr id="8" name="Text 6"/>
          <p:cNvSpPr/>
          <p:nvPr/>
        </p:nvSpPr>
        <p:spPr>
          <a:xfrm>
            <a:off x="762000" y="4254500"/>
            <a:ext cx="4572000" cy="1524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Automating complex decision-making processes that traditionally require human expertise and judgment.</a:t>
            </a:r>
            <a:endParaRPr lang="en-US" sz="1600" dirty="0"/>
          </a:p>
        </p:txBody>
      </p:sp>
      <p:sp>
        <p:nvSpPr>
          <p:cNvPr id="9" name="Text 7"/>
          <p:cNvSpPr/>
          <p:nvPr/>
        </p:nvSpPr>
        <p:spPr>
          <a:xfrm>
            <a:off x="5842000" y="3175000"/>
            <a:ext cx="4572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Data Analysis</a:t>
            </a:r>
            <a:endParaRPr lang="en-US" sz="1600" dirty="0"/>
          </a:p>
        </p:txBody>
      </p:sp>
      <p:sp>
        <p:nvSpPr>
          <p:cNvPr id="10" name="Shape 8"/>
          <p:cNvSpPr/>
          <p:nvPr/>
        </p:nvSpPr>
        <p:spPr>
          <a:xfrm>
            <a:off x="5842000" y="3683000"/>
            <a:ext cx="406400" cy="406400"/>
          </a:xfrm>
          <a:custGeom>
            <a:avLst/>
            <a:gdLst/>
            <a:ahLst/>
            <a:cxnLst/>
            <a:rect l="l" t="t" r="r" b="b"/>
            <a:pathLst>
              <a:path w="406400" h="406400">
                <a:moveTo>
                  <a:pt x="50800" y="50800"/>
                </a:moveTo>
                <a:cubicBezTo>
                  <a:pt x="50800" y="36751"/>
                  <a:pt x="39449" y="25400"/>
                  <a:pt x="25400" y="25400"/>
                </a:cubicBezTo>
                <a:cubicBezTo>
                  <a:pt x="11351" y="25400"/>
                  <a:pt x="0" y="36751"/>
                  <a:pt x="0" y="50800"/>
                </a:cubicBezTo>
                <a:lnTo>
                  <a:pt x="0" y="317500"/>
                </a:lnTo>
                <a:cubicBezTo>
                  <a:pt x="0" y="352584"/>
                  <a:pt x="28416" y="381000"/>
                  <a:pt x="63500" y="381000"/>
                </a:cubicBezTo>
                <a:lnTo>
                  <a:pt x="381000" y="381000"/>
                </a:lnTo>
                <a:cubicBezTo>
                  <a:pt x="395049" y="381000"/>
                  <a:pt x="406400" y="369649"/>
                  <a:pt x="406400" y="355600"/>
                </a:cubicBezTo>
                <a:cubicBezTo>
                  <a:pt x="406400" y="341551"/>
                  <a:pt x="395049" y="330200"/>
                  <a:pt x="381000" y="330200"/>
                </a:cubicBezTo>
                <a:lnTo>
                  <a:pt x="63500" y="330200"/>
                </a:lnTo>
                <a:cubicBezTo>
                  <a:pt x="56515" y="330200"/>
                  <a:pt x="50800" y="324485"/>
                  <a:pt x="50800" y="317500"/>
                </a:cubicBezTo>
                <a:lnTo>
                  <a:pt x="50800" y="50800"/>
                </a:lnTo>
                <a:close/>
                <a:moveTo>
                  <a:pt x="373539" y="119539"/>
                </a:moveTo>
                <a:cubicBezTo>
                  <a:pt x="383461" y="109617"/>
                  <a:pt x="383461" y="93504"/>
                  <a:pt x="373539" y="83582"/>
                </a:cubicBezTo>
                <a:cubicBezTo>
                  <a:pt x="363617" y="73660"/>
                  <a:pt x="347504" y="73660"/>
                  <a:pt x="337582" y="83582"/>
                </a:cubicBezTo>
                <a:lnTo>
                  <a:pt x="254000" y="167243"/>
                </a:lnTo>
                <a:lnTo>
                  <a:pt x="208439" y="121761"/>
                </a:lnTo>
                <a:cubicBezTo>
                  <a:pt x="198517" y="111839"/>
                  <a:pt x="182404" y="111839"/>
                  <a:pt x="172482" y="121761"/>
                </a:cubicBezTo>
                <a:lnTo>
                  <a:pt x="96282" y="197961"/>
                </a:lnTo>
                <a:cubicBezTo>
                  <a:pt x="86360" y="207883"/>
                  <a:pt x="86360" y="223996"/>
                  <a:pt x="96282" y="233918"/>
                </a:cubicBezTo>
                <a:cubicBezTo>
                  <a:pt x="106204" y="243840"/>
                  <a:pt x="122317" y="243840"/>
                  <a:pt x="132239" y="233918"/>
                </a:cubicBezTo>
                <a:lnTo>
                  <a:pt x="190500" y="175657"/>
                </a:lnTo>
                <a:lnTo>
                  <a:pt x="236061" y="221218"/>
                </a:lnTo>
                <a:cubicBezTo>
                  <a:pt x="245983" y="231140"/>
                  <a:pt x="262096" y="231140"/>
                  <a:pt x="272018" y="221218"/>
                </a:cubicBezTo>
                <a:lnTo>
                  <a:pt x="373618" y="119618"/>
                </a:lnTo>
                <a:close/>
              </a:path>
            </a:pathLst>
          </a:custGeom>
          <a:solidFill>
            <a:srgbClr val="D4A574"/>
          </a:solidFill>
          <a:ln/>
        </p:spPr>
      </p:sp>
      <p:sp>
        <p:nvSpPr>
          <p:cNvPr id="11" name="Text 9"/>
          <p:cNvSpPr/>
          <p:nvPr/>
        </p:nvSpPr>
        <p:spPr>
          <a:xfrm>
            <a:off x="5842000" y="4254500"/>
            <a:ext cx="4572000" cy="1524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Analyzing vast datasets to discover hidden patterns, trends, and insights that humans might miss.</a:t>
            </a:r>
            <a:endParaRPr lang="en-US" sz="1600" dirty="0"/>
          </a:p>
        </p:txBody>
      </p:sp>
      <p:sp>
        <p:nvSpPr>
          <p:cNvPr id="12" name="Text 10"/>
          <p:cNvSpPr/>
          <p:nvPr/>
        </p:nvSpPr>
        <p:spPr>
          <a:xfrm>
            <a:off x="10922000" y="3175000"/>
            <a:ext cx="4572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Adaptive Learning</a:t>
            </a:r>
            <a:endParaRPr lang="en-US" sz="1600" dirty="0"/>
          </a:p>
        </p:txBody>
      </p:sp>
      <p:sp>
        <p:nvSpPr>
          <p:cNvPr id="13" name="Shape 11"/>
          <p:cNvSpPr/>
          <p:nvPr/>
        </p:nvSpPr>
        <p:spPr>
          <a:xfrm>
            <a:off x="10922000" y="3683000"/>
            <a:ext cx="406400" cy="406400"/>
          </a:xfrm>
          <a:custGeom>
            <a:avLst/>
            <a:gdLst/>
            <a:ahLst/>
            <a:cxnLst/>
            <a:rect l="l" t="t" r="r" b="b"/>
            <a:pathLst>
              <a:path w="406400" h="406400">
                <a:moveTo>
                  <a:pt x="95250" y="44450"/>
                </a:moveTo>
                <a:cubicBezTo>
                  <a:pt x="95250" y="19923"/>
                  <a:pt x="115173" y="0"/>
                  <a:pt x="139700" y="0"/>
                </a:cubicBezTo>
                <a:lnTo>
                  <a:pt x="158750" y="0"/>
                </a:lnTo>
                <a:cubicBezTo>
                  <a:pt x="172799" y="0"/>
                  <a:pt x="184150" y="11351"/>
                  <a:pt x="184150" y="25400"/>
                </a:cubicBezTo>
                <a:lnTo>
                  <a:pt x="184150" y="381000"/>
                </a:lnTo>
                <a:cubicBezTo>
                  <a:pt x="184150" y="395049"/>
                  <a:pt x="172799" y="406400"/>
                  <a:pt x="158750" y="406400"/>
                </a:cubicBezTo>
                <a:lnTo>
                  <a:pt x="133350" y="406400"/>
                </a:lnTo>
                <a:cubicBezTo>
                  <a:pt x="109696" y="406400"/>
                  <a:pt x="89773" y="390208"/>
                  <a:pt x="84138" y="368300"/>
                </a:cubicBezTo>
                <a:cubicBezTo>
                  <a:pt x="83582" y="368300"/>
                  <a:pt x="83106" y="368300"/>
                  <a:pt x="82550" y="368300"/>
                </a:cubicBezTo>
                <a:cubicBezTo>
                  <a:pt x="47466" y="368300"/>
                  <a:pt x="19050" y="339884"/>
                  <a:pt x="19050" y="304800"/>
                </a:cubicBezTo>
                <a:cubicBezTo>
                  <a:pt x="19050" y="290513"/>
                  <a:pt x="23813" y="277336"/>
                  <a:pt x="31750" y="266700"/>
                </a:cubicBezTo>
                <a:cubicBezTo>
                  <a:pt x="16351" y="255111"/>
                  <a:pt x="6350" y="236696"/>
                  <a:pt x="6350" y="215900"/>
                </a:cubicBezTo>
                <a:cubicBezTo>
                  <a:pt x="6350" y="191373"/>
                  <a:pt x="20320" y="170021"/>
                  <a:pt x="40640" y="159464"/>
                </a:cubicBezTo>
                <a:cubicBezTo>
                  <a:pt x="35004" y="149939"/>
                  <a:pt x="31750" y="138827"/>
                  <a:pt x="31750" y="127000"/>
                </a:cubicBezTo>
                <a:cubicBezTo>
                  <a:pt x="31750" y="91916"/>
                  <a:pt x="60166" y="63500"/>
                  <a:pt x="95250" y="63500"/>
                </a:cubicBezTo>
                <a:lnTo>
                  <a:pt x="95250" y="44450"/>
                </a:lnTo>
                <a:close/>
                <a:moveTo>
                  <a:pt x="311150" y="44450"/>
                </a:moveTo>
                <a:lnTo>
                  <a:pt x="311150" y="63500"/>
                </a:lnTo>
                <a:cubicBezTo>
                  <a:pt x="346234" y="63500"/>
                  <a:pt x="374650" y="91916"/>
                  <a:pt x="374650" y="127000"/>
                </a:cubicBezTo>
                <a:cubicBezTo>
                  <a:pt x="374650" y="138906"/>
                  <a:pt x="371396" y="150019"/>
                  <a:pt x="365760" y="159464"/>
                </a:cubicBezTo>
                <a:cubicBezTo>
                  <a:pt x="386159" y="170021"/>
                  <a:pt x="400050" y="191294"/>
                  <a:pt x="400050" y="215900"/>
                </a:cubicBezTo>
                <a:cubicBezTo>
                  <a:pt x="400050" y="236696"/>
                  <a:pt x="390049" y="255111"/>
                  <a:pt x="374650" y="266700"/>
                </a:cubicBezTo>
                <a:cubicBezTo>
                  <a:pt x="382588" y="277336"/>
                  <a:pt x="387350" y="290513"/>
                  <a:pt x="387350" y="304800"/>
                </a:cubicBezTo>
                <a:cubicBezTo>
                  <a:pt x="387350" y="339884"/>
                  <a:pt x="358934" y="368300"/>
                  <a:pt x="323850" y="368300"/>
                </a:cubicBezTo>
                <a:cubicBezTo>
                  <a:pt x="323294" y="368300"/>
                  <a:pt x="322818" y="368300"/>
                  <a:pt x="322263" y="368300"/>
                </a:cubicBezTo>
                <a:cubicBezTo>
                  <a:pt x="316627" y="390208"/>
                  <a:pt x="296704" y="406400"/>
                  <a:pt x="273050" y="406400"/>
                </a:cubicBezTo>
                <a:lnTo>
                  <a:pt x="247650" y="406400"/>
                </a:lnTo>
                <a:cubicBezTo>
                  <a:pt x="233601" y="406400"/>
                  <a:pt x="222250" y="395049"/>
                  <a:pt x="222250" y="381000"/>
                </a:cubicBezTo>
                <a:lnTo>
                  <a:pt x="222250" y="25400"/>
                </a:lnTo>
                <a:cubicBezTo>
                  <a:pt x="222250" y="11351"/>
                  <a:pt x="233601" y="0"/>
                  <a:pt x="247650" y="0"/>
                </a:cubicBezTo>
                <a:lnTo>
                  <a:pt x="266700" y="0"/>
                </a:lnTo>
                <a:cubicBezTo>
                  <a:pt x="291227" y="0"/>
                  <a:pt x="311150" y="19923"/>
                  <a:pt x="311150" y="44450"/>
                </a:cubicBezTo>
                <a:close/>
              </a:path>
            </a:pathLst>
          </a:custGeom>
          <a:solidFill>
            <a:srgbClr val="D4A574"/>
          </a:solidFill>
          <a:ln/>
        </p:spPr>
      </p:sp>
      <p:sp>
        <p:nvSpPr>
          <p:cNvPr id="14" name="Text 12"/>
          <p:cNvSpPr/>
          <p:nvPr/>
        </p:nvSpPr>
        <p:spPr>
          <a:xfrm>
            <a:off x="10922000" y="4254500"/>
            <a:ext cx="4572000" cy="1524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Enabling machines to learn and adapt from experience, improving performance over time without reprogramming.</a:t>
            </a:r>
            <a:endParaRPr lang="en-US" sz="1600" dirty="0"/>
          </a:p>
        </p:txBody>
      </p:sp>
      <p:sp>
        <p:nvSpPr>
          <p:cNvPr id="15" name="Text 13"/>
          <p:cNvSpPr/>
          <p:nvPr/>
        </p:nvSpPr>
        <p:spPr>
          <a:xfrm>
            <a:off x="762000" y="6096000"/>
            <a:ext cx="508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Real-World Examples</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62000" y="6604000"/>
          <a:ext cx="14732000" cy="1651000"/>
        </p:xfrm>
        <a:graphic>
          <a:graphicData uri="http://schemas.openxmlformats.org/drawingml/2006/table">
            <a:tbl>
              <a:tblPr/>
              <a:tblGrid>
                <a:gridCol w="3683000"/>
                <a:gridCol w="11049000"/>
              </a:tblGrid>
              <a:tr h="412750">
                <a:tc>
                  <a:txBody>
                    <a:bodyPr/>
                    <a:lstStyle/>
                    <a:p>
                      <a:pPr algn="l"/>
                      <a:r>
                        <a:rPr lang="en-US" sz="1600" b="1" u="none" dirty="0">
                          <a:solidFill>
                            <a:srgbClr val="F5F1EC"/>
                          </a:solidFill>
                          <a:latin typeface="QuattrocentoSans" pitchFamily="34" charset="0"/>
                          <a:ea typeface="QuattrocentoSans" pitchFamily="34" charset="-122"/>
                          <a:cs typeface="QuattrocentoSans" pitchFamily="34" charset="-120"/>
                        </a:rPr>
                        <a:t>Domain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3436"/>
                    </a:solidFill>
                  </a:tcPr>
                </a:tc>
                <a:tc>
                  <a:txBody>
                    <a:bodyPr/>
                    <a:lstStyle/>
                    <a:p>
                      <a:pPr algn="l"/>
                      <a:r>
                        <a:rPr lang="en-US" sz="1600" b="1" u="none" dirty="0">
                          <a:solidFill>
                            <a:srgbClr val="F5F1EC"/>
                          </a:solidFill>
                          <a:latin typeface="QuattrocentoSans" pitchFamily="34" charset="0"/>
                          <a:ea typeface="QuattrocentoSans" pitchFamily="34" charset="-122"/>
                          <a:cs typeface="QuattrocentoSans" pitchFamily="34" charset="-120"/>
                        </a:rPr>
                        <a:t>Application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3436"/>
                    </a:solidFill>
                  </a:tcPr>
                </a:tc>
              </a:tr>
              <a:tr h="412750">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Healthcare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Medical imaging analysis, disease detection from scans, drug discovery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r>
              <a:tr h="412750">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Finance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Fraud detection, algorithmic trading, credit scoring, risk assessment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r>
              <a:tr h="412750">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Transportation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Autonomous vehicles, route optimization, traffic management systems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r>
            </a:tbl>
          </a:graphicData>
        </a:graphic>
      </p:graphicFrame>
      <p:sp>
        <p:nvSpPr>
          <p:cNvPr id="17" name="Text 14"/>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10</a:t>
            </a:r>
            <a:endParaRPr lang="en-US" sz="14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Goal 3 — Understanding Human Cognition</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Text 3"/>
          <p:cNvSpPr/>
          <p:nvPr/>
        </p:nvSpPr>
        <p:spPr>
          <a:xfrm>
            <a:off x="762000" y="2159000"/>
            <a:ext cx="7620000" cy="2794000"/>
          </a:xfrm>
          <a:prstGeom prst="rect">
            <a:avLst/>
          </a:prstGeom>
          <a:noFill/>
          <a:ln/>
        </p:spPr>
        <p:txBody>
          <a:bodyPr wrap="square" lIns="0" tIns="0" rIns="0" bIns="0" rtlCol="0" anchor="ctr"/>
          <a:lstStyle/>
          <a:p>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AI serves as a powerful tool for </a:t>
            </a:r>
            <a:pPr>
              <a:lnSpc>
                <a:spcPct val="160000"/>
              </a:lnSpc>
            </a:pPr>
            <a:r>
              <a:rPr lang="en-US" sz="1800" b="1" dirty="0">
                <a:solidFill>
                  <a:srgbClr val="2D3436"/>
                </a:solidFill>
                <a:latin typeface="Quattrocento Sans" pitchFamily="34" charset="0"/>
                <a:ea typeface="Quattrocento Sans" pitchFamily="34" charset="-122"/>
                <a:cs typeface="Quattrocento Sans" pitchFamily="34" charset="-120"/>
              </a:rPr>
              <a:t>understanding how the human mind works</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By attempting to build systems that think, researchers gain insights into human cognition.</a:t>
            </a:r>
            <a:endParaRPr lang="en-US" sz="1600" dirty="0"/>
          </a:p>
          <a:p>
            <a:pPr>
              <a:lnSpc>
                <a:spcPct val="160000"/>
              </a:lnSpc>
              <a:spcBef>
                <a:spcPts val="800"/>
              </a:spcBef>
            </a:pPr>
            <a:r>
              <a:rPr lang="en-US" sz="1800" dirty="0">
                <a:solidFill>
                  <a:srgbClr val="2D3436"/>
                </a:solidFill>
                <a:latin typeface="Quattrocento Sans" pitchFamily="34" charset="0"/>
                <a:ea typeface="Quattrocento Sans" pitchFamily="34" charset="-122"/>
                <a:cs typeface="Quattrocento Sans" pitchFamily="34" charset="-120"/>
              </a:rPr>
              <a:t>This interdisciplinary approach — called </a:t>
            </a:r>
            <a:pPr>
              <a:lnSpc>
                <a:spcPct val="160000"/>
              </a:lnSpc>
              <a:spcBef>
                <a:spcPts val="800"/>
              </a:spcBef>
            </a:pPr>
            <a:r>
              <a:rPr lang="en-US" sz="1800" b="1" dirty="0">
                <a:solidFill>
                  <a:srgbClr val="D4A574"/>
                </a:solidFill>
                <a:latin typeface="Quattrocento Sans" pitchFamily="34" charset="0"/>
                <a:ea typeface="Quattrocento Sans" pitchFamily="34" charset="-122"/>
                <a:cs typeface="Quattrocento Sans" pitchFamily="34" charset="-120"/>
              </a:rPr>
              <a:t>Cognitive Science</a:t>
            </a:r>
            <a:pPr>
              <a:lnSpc>
                <a:spcPct val="160000"/>
              </a:lnSpc>
              <a:spcBef>
                <a:spcPts val="800"/>
              </a:spcBef>
            </a:pPr>
            <a:r>
              <a:rPr lang="en-US" sz="1800" dirty="0">
                <a:solidFill>
                  <a:srgbClr val="2D3436"/>
                </a:solidFill>
                <a:latin typeface="Quattrocento Sans" pitchFamily="34" charset="0"/>
                <a:ea typeface="Quattrocento Sans" pitchFamily="34" charset="-122"/>
                <a:cs typeface="Quattrocento Sans" pitchFamily="34" charset="-120"/>
              </a:rPr>
              <a:t> — combines AI, psychology, linguistics, philosophy, and neuroscience into a unified framework for studying the mind.</a:t>
            </a:r>
            <a:endParaRPr lang="en-US" sz="1600" dirty="0"/>
          </a:p>
        </p:txBody>
      </p:sp>
      <p:sp>
        <p:nvSpPr>
          <p:cNvPr id="6" name="Shape 4"/>
          <p:cNvSpPr/>
          <p:nvPr/>
        </p:nvSpPr>
        <p:spPr>
          <a:xfrm>
            <a:off x="8890000" y="2159000"/>
            <a:ext cx="6604000" cy="2540000"/>
          </a:xfrm>
          <a:prstGeom prst="rect">
            <a:avLst/>
          </a:prstGeom>
          <a:solidFill>
            <a:srgbClr val="EDE8E1"/>
          </a:solidFill>
          <a:ln/>
        </p:spPr>
      </p:sp>
      <p:sp>
        <p:nvSpPr>
          <p:cNvPr id="7" name="Text 5"/>
          <p:cNvSpPr/>
          <p:nvPr/>
        </p:nvSpPr>
        <p:spPr>
          <a:xfrm>
            <a:off x="9207500" y="2349500"/>
            <a:ext cx="5969000" cy="355600"/>
          </a:xfrm>
          <a:prstGeom prst="rect">
            <a:avLst/>
          </a:prstGeom>
          <a:noFill/>
          <a:ln/>
        </p:spPr>
        <p:txBody>
          <a:bodyPr wrap="none" lIns="0" tIns="0" rIns="0" bIns="0" rtlCol="0" anchor="ctr"/>
          <a:lstStyle/>
          <a:p>
            <a:pPr>
              <a:lnSpc>
                <a:spcPct val="100000"/>
              </a:lnSpc>
            </a:pPr>
            <a:r>
              <a:rPr lang="en-US" sz="1800" b="1" dirty="0">
                <a:solidFill>
                  <a:srgbClr val="2D3436"/>
                </a:solidFill>
                <a:latin typeface="Liter" pitchFamily="34" charset="0"/>
                <a:ea typeface="Liter" pitchFamily="34" charset="-122"/>
                <a:cs typeface="Liter" pitchFamily="34" charset="-120"/>
              </a:rPr>
              <a:t>Key Research Questions</a:t>
            </a:r>
            <a:endParaRPr lang="en-US" sz="1600" dirty="0"/>
          </a:p>
        </p:txBody>
      </p:sp>
      <p:sp>
        <p:nvSpPr>
          <p:cNvPr id="8" name="Text 6"/>
          <p:cNvSpPr/>
          <p:nvPr/>
        </p:nvSpPr>
        <p:spPr>
          <a:xfrm>
            <a:off x="9207500" y="2794000"/>
            <a:ext cx="5969000" cy="1651000"/>
          </a:xfrm>
          <a:prstGeom prst="rect">
            <a:avLst/>
          </a:prstGeom>
          <a:noFill/>
          <a:ln/>
        </p:spPr>
        <p:txBody>
          <a:bodyPr wrap="square" lIns="0" tIns="0" rIns="0" bIns="0" rtlCol="0" anchor="ctr"/>
          <a:lstStyle/>
          <a:p>
            <a:pPr marL="254000" indent="-254000">
              <a:lnSpc>
                <a:spcPct val="160000"/>
              </a:lnSpc>
              <a:spcBef>
                <a:spcPts val="10"/>
              </a:spcBef>
              <a:buSzPct val="100000"/>
              <a:buChar char="•"/>
            </a:pPr>
            <a:r>
              <a:rPr lang="en-US" sz="1600" dirty="0">
                <a:solidFill>
                  <a:srgbClr val="2D3436"/>
                </a:solidFill>
                <a:latin typeface="Quattrocento Sans" pitchFamily="34" charset="0"/>
                <a:ea typeface="Quattrocento Sans" pitchFamily="34" charset="-122"/>
                <a:cs typeface="Quattrocento Sans" pitchFamily="34" charset="-120"/>
              </a:rPr>
              <a:t>How do humans reason and solve problems?</a:t>
            </a:r>
            <a:endParaRPr lang="en-US" sz="1600" dirty="0"/>
          </a:p>
          <a:p>
            <a:pPr marL="254000" indent="-254000">
              <a:lnSpc>
                <a:spcPct val="160000"/>
              </a:lnSpc>
              <a:spcBef>
                <a:spcPts val="10"/>
              </a:spcBef>
              <a:buSzPct val="100000"/>
              <a:buChar char="•"/>
            </a:pPr>
            <a:r>
              <a:rPr lang="en-US" sz="1600" dirty="0">
                <a:solidFill>
                  <a:srgbClr val="2D3436"/>
                </a:solidFill>
                <a:latin typeface="Quattrocento Sans" pitchFamily="34" charset="0"/>
                <a:ea typeface="Quattrocento Sans" pitchFamily="34" charset="-122"/>
                <a:cs typeface="Quattrocento Sans" pitchFamily="34" charset="-120"/>
              </a:rPr>
              <a:t>What is the nature of learning and memory?</a:t>
            </a:r>
            <a:endParaRPr lang="en-US" sz="1600" dirty="0"/>
          </a:p>
          <a:p>
            <a:pPr marL="254000" indent="-254000">
              <a:lnSpc>
                <a:spcPct val="160000"/>
              </a:lnSpc>
              <a:spcBef>
                <a:spcPts val="10"/>
              </a:spcBef>
              <a:buSzPct val="100000"/>
              <a:buChar char="•"/>
            </a:pPr>
            <a:r>
              <a:rPr lang="en-US" sz="1600" dirty="0">
                <a:solidFill>
                  <a:srgbClr val="2D3436"/>
                </a:solidFill>
                <a:latin typeface="Quattrocento Sans" pitchFamily="34" charset="0"/>
                <a:ea typeface="Quattrocento Sans" pitchFamily="34" charset="-122"/>
                <a:cs typeface="Quattrocento Sans" pitchFamily="34" charset="-120"/>
              </a:rPr>
              <a:t>How does the brain process language?</a:t>
            </a:r>
            <a:endParaRPr lang="en-US" sz="1600" dirty="0"/>
          </a:p>
          <a:p>
            <a:pPr marL="254000" indent="-254000">
              <a:lnSpc>
                <a:spcPct val="160000"/>
              </a:lnSpc>
              <a:spcBef>
                <a:spcPts val="10"/>
              </a:spcBef>
              <a:buSzPct val="100000"/>
              <a:buChar char="•"/>
            </a:pPr>
            <a:r>
              <a:rPr lang="en-US" sz="1600" dirty="0">
                <a:solidFill>
                  <a:srgbClr val="2D3436"/>
                </a:solidFill>
                <a:latin typeface="Quattrocento Sans" pitchFamily="34" charset="0"/>
                <a:ea typeface="Quattrocento Sans" pitchFamily="34" charset="-122"/>
                <a:cs typeface="Quattrocento Sans" pitchFamily="34" charset="-120"/>
              </a:rPr>
              <a:t>How do we perceive visual information?</a:t>
            </a:r>
            <a:endParaRPr lang="en-US" sz="1600" dirty="0"/>
          </a:p>
        </p:txBody>
      </p:sp>
      <p:sp>
        <p:nvSpPr>
          <p:cNvPr id="9" name="Text 7"/>
          <p:cNvSpPr/>
          <p:nvPr/>
        </p:nvSpPr>
        <p:spPr>
          <a:xfrm>
            <a:off x="762000" y="5080000"/>
            <a:ext cx="635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The Cognitive Science Intersection</a:t>
            </a:r>
            <a:endParaRPr lang="en-US" sz="1600" dirty="0"/>
          </a:p>
        </p:txBody>
      </p:sp>
      <p:sp>
        <p:nvSpPr>
          <p:cNvPr id="10" name="Shape 8"/>
          <p:cNvSpPr/>
          <p:nvPr/>
        </p:nvSpPr>
        <p:spPr>
          <a:xfrm>
            <a:off x="762000" y="5715000"/>
            <a:ext cx="2743200" cy="1270000"/>
          </a:xfrm>
          <a:prstGeom prst="rect">
            <a:avLst/>
          </a:prstGeom>
          <a:solidFill>
            <a:srgbClr val="2D3436"/>
          </a:solidFill>
          <a:ln/>
        </p:spPr>
      </p:sp>
      <p:sp>
        <p:nvSpPr>
          <p:cNvPr id="11" name="Text 9"/>
          <p:cNvSpPr/>
          <p:nvPr/>
        </p:nvSpPr>
        <p:spPr>
          <a:xfrm>
            <a:off x="762000" y="5715000"/>
            <a:ext cx="2743200" cy="1270000"/>
          </a:xfrm>
          <a:prstGeom prst="rect">
            <a:avLst/>
          </a:prstGeom>
          <a:noFill/>
          <a:ln/>
        </p:spPr>
        <p:txBody>
          <a:bodyPr wrap="none" lIns="0" tIns="0" rIns="0" bIns="0" rtlCol="0" anchor="ctr"/>
          <a:lstStyle/>
          <a:p>
            <a:pPr algn="ctr">
              <a:lnSpc>
                <a:spcPct val="100000"/>
              </a:lnSpc>
            </a:pPr>
            <a:r>
              <a:rPr lang="en-US" sz="1600" b="1" dirty="0">
                <a:solidFill>
                  <a:srgbClr val="F5F1EC"/>
                </a:solidFill>
                <a:latin typeface="Quattrocento Sans" pitchFamily="34" charset="0"/>
                <a:ea typeface="Quattrocento Sans" pitchFamily="34" charset="-122"/>
                <a:cs typeface="Quattrocento Sans" pitchFamily="34" charset="-120"/>
              </a:rPr>
              <a:t>Artificial</a:t>
            </a:r>
            <a:endParaRPr lang="en-US" sz="1600" dirty="0"/>
          </a:p>
          <a:p>
            <a:pPr algn="ctr">
              <a:lnSpc>
                <a:spcPct val="100000"/>
              </a:lnSpc>
            </a:pPr>
            <a:r>
              <a:rPr lang="en-US" sz="1600" b="1" dirty="0">
                <a:solidFill>
                  <a:srgbClr val="F5F1EC"/>
                </a:solidFill>
                <a:latin typeface="Quattrocento Sans" pitchFamily="34" charset="0"/>
                <a:ea typeface="Quattrocento Sans" pitchFamily="34" charset="-122"/>
                <a:cs typeface="Quattrocento Sans" pitchFamily="34" charset="-120"/>
              </a:rPr>
              <a:t>Intelligence</a:t>
            </a:r>
            <a:endParaRPr lang="en-US" sz="1600" dirty="0"/>
          </a:p>
        </p:txBody>
      </p:sp>
      <p:sp>
        <p:nvSpPr>
          <p:cNvPr id="12" name="Shape 10"/>
          <p:cNvSpPr/>
          <p:nvPr/>
        </p:nvSpPr>
        <p:spPr>
          <a:xfrm>
            <a:off x="3759200" y="5715000"/>
            <a:ext cx="2743200" cy="1270000"/>
          </a:xfrm>
          <a:prstGeom prst="rect">
            <a:avLst/>
          </a:prstGeom>
          <a:solidFill>
            <a:srgbClr val="D4A574"/>
          </a:solidFill>
          <a:ln/>
        </p:spPr>
      </p:sp>
      <p:sp>
        <p:nvSpPr>
          <p:cNvPr id="13" name="Text 11"/>
          <p:cNvSpPr/>
          <p:nvPr/>
        </p:nvSpPr>
        <p:spPr>
          <a:xfrm>
            <a:off x="3759200" y="5715000"/>
            <a:ext cx="2743200" cy="1270000"/>
          </a:xfrm>
          <a:prstGeom prst="rect">
            <a:avLst/>
          </a:prstGeom>
          <a:noFill/>
          <a:ln/>
        </p:spPr>
        <p:txBody>
          <a:bodyPr wrap="none" lIns="0" tIns="0" rIns="0" bIns="0" rtlCol="0" anchor="ctr"/>
          <a:lstStyle/>
          <a:p>
            <a:pPr algn="ctr">
              <a:lnSpc>
                <a:spcPct val="100000"/>
              </a:lnSpc>
            </a:pPr>
            <a:r>
              <a:rPr lang="en-US" sz="1600" b="1" dirty="0">
                <a:solidFill>
                  <a:srgbClr val="F5F1EC"/>
                </a:solidFill>
                <a:latin typeface="Quattrocento Sans" pitchFamily="34" charset="0"/>
                <a:ea typeface="Quattrocento Sans" pitchFamily="34" charset="-122"/>
                <a:cs typeface="Quattrocento Sans" pitchFamily="34" charset="-120"/>
              </a:rPr>
              <a:t>Psychology</a:t>
            </a:r>
            <a:endParaRPr lang="en-US" sz="1600" dirty="0"/>
          </a:p>
        </p:txBody>
      </p:sp>
      <p:sp>
        <p:nvSpPr>
          <p:cNvPr id="14" name="Shape 12"/>
          <p:cNvSpPr/>
          <p:nvPr/>
        </p:nvSpPr>
        <p:spPr>
          <a:xfrm>
            <a:off x="6756400" y="5715000"/>
            <a:ext cx="2743200" cy="1270000"/>
          </a:xfrm>
          <a:prstGeom prst="rect">
            <a:avLst/>
          </a:prstGeom>
          <a:solidFill>
            <a:srgbClr val="636E72"/>
          </a:solidFill>
          <a:ln/>
        </p:spPr>
      </p:sp>
      <p:sp>
        <p:nvSpPr>
          <p:cNvPr id="15" name="Text 13"/>
          <p:cNvSpPr/>
          <p:nvPr/>
        </p:nvSpPr>
        <p:spPr>
          <a:xfrm>
            <a:off x="6756400" y="5715000"/>
            <a:ext cx="2743200" cy="1270000"/>
          </a:xfrm>
          <a:prstGeom prst="rect">
            <a:avLst/>
          </a:prstGeom>
          <a:noFill/>
          <a:ln/>
        </p:spPr>
        <p:txBody>
          <a:bodyPr wrap="none" lIns="0" tIns="0" rIns="0" bIns="0" rtlCol="0" anchor="ctr"/>
          <a:lstStyle/>
          <a:p>
            <a:pPr algn="ctr">
              <a:lnSpc>
                <a:spcPct val="100000"/>
              </a:lnSpc>
            </a:pPr>
            <a:r>
              <a:rPr lang="en-US" sz="1600" b="1" dirty="0">
                <a:solidFill>
                  <a:srgbClr val="F5F1EC"/>
                </a:solidFill>
                <a:latin typeface="Quattrocento Sans" pitchFamily="34" charset="0"/>
                <a:ea typeface="Quattrocento Sans" pitchFamily="34" charset="-122"/>
                <a:cs typeface="Quattrocento Sans" pitchFamily="34" charset="-120"/>
              </a:rPr>
              <a:t>Neuroscience</a:t>
            </a:r>
            <a:endParaRPr lang="en-US" sz="1600" dirty="0"/>
          </a:p>
        </p:txBody>
      </p:sp>
      <p:sp>
        <p:nvSpPr>
          <p:cNvPr id="16" name="Shape 14"/>
          <p:cNvSpPr/>
          <p:nvPr/>
        </p:nvSpPr>
        <p:spPr>
          <a:xfrm>
            <a:off x="9753600" y="5715000"/>
            <a:ext cx="2743200" cy="1270000"/>
          </a:xfrm>
          <a:prstGeom prst="rect">
            <a:avLst/>
          </a:prstGeom>
          <a:solidFill>
            <a:srgbClr val="2D3436"/>
          </a:solidFill>
          <a:ln/>
        </p:spPr>
      </p:sp>
      <p:sp>
        <p:nvSpPr>
          <p:cNvPr id="17" name="Text 15"/>
          <p:cNvSpPr/>
          <p:nvPr/>
        </p:nvSpPr>
        <p:spPr>
          <a:xfrm>
            <a:off x="9753600" y="5715000"/>
            <a:ext cx="2743200" cy="1270000"/>
          </a:xfrm>
          <a:prstGeom prst="rect">
            <a:avLst/>
          </a:prstGeom>
          <a:noFill/>
          <a:ln/>
        </p:spPr>
        <p:txBody>
          <a:bodyPr wrap="none" lIns="0" tIns="0" rIns="0" bIns="0" rtlCol="0" anchor="ctr"/>
          <a:lstStyle/>
          <a:p>
            <a:pPr algn="ctr">
              <a:lnSpc>
                <a:spcPct val="100000"/>
              </a:lnSpc>
            </a:pPr>
            <a:r>
              <a:rPr lang="en-US" sz="1600" b="1" dirty="0">
                <a:solidFill>
                  <a:srgbClr val="F5F1EC"/>
                </a:solidFill>
                <a:latin typeface="Quattrocento Sans" pitchFamily="34" charset="0"/>
                <a:ea typeface="Quattrocento Sans" pitchFamily="34" charset="-122"/>
                <a:cs typeface="Quattrocento Sans" pitchFamily="34" charset="-120"/>
              </a:rPr>
              <a:t>Linguistics</a:t>
            </a:r>
            <a:endParaRPr lang="en-US" sz="1600" dirty="0"/>
          </a:p>
        </p:txBody>
      </p:sp>
      <p:sp>
        <p:nvSpPr>
          <p:cNvPr id="18" name="Shape 16"/>
          <p:cNvSpPr/>
          <p:nvPr/>
        </p:nvSpPr>
        <p:spPr>
          <a:xfrm>
            <a:off x="12750800" y="5715000"/>
            <a:ext cx="2743200" cy="1270000"/>
          </a:xfrm>
          <a:prstGeom prst="rect">
            <a:avLst/>
          </a:prstGeom>
          <a:solidFill>
            <a:srgbClr val="D4A574"/>
          </a:solidFill>
          <a:ln/>
        </p:spPr>
      </p:sp>
      <p:sp>
        <p:nvSpPr>
          <p:cNvPr id="19" name="Text 17"/>
          <p:cNvSpPr/>
          <p:nvPr/>
        </p:nvSpPr>
        <p:spPr>
          <a:xfrm>
            <a:off x="12750800" y="5715000"/>
            <a:ext cx="2743200" cy="1270000"/>
          </a:xfrm>
          <a:prstGeom prst="rect">
            <a:avLst/>
          </a:prstGeom>
          <a:noFill/>
          <a:ln/>
        </p:spPr>
        <p:txBody>
          <a:bodyPr wrap="none" lIns="0" tIns="0" rIns="0" bIns="0" rtlCol="0" anchor="ctr"/>
          <a:lstStyle/>
          <a:p>
            <a:pPr algn="ctr">
              <a:lnSpc>
                <a:spcPct val="100000"/>
              </a:lnSpc>
            </a:pPr>
            <a:r>
              <a:rPr lang="en-US" sz="1600" b="1" dirty="0">
                <a:solidFill>
                  <a:srgbClr val="F5F1EC"/>
                </a:solidFill>
                <a:latin typeface="Quattrocento Sans" pitchFamily="34" charset="0"/>
                <a:ea typeface="Quattrocento Sans" pitchFamily="34" charset="-122"/>
                <a:cs typeface="Quattrocento Sans" pitchFamily="34" charset="-120"/>
              </a:rPr>
              <a:t>Philosophy</a:t>
            </a:r>
            <a:endParaRPr lang="en-US" sz="1600" dirty="0"/>
          </a:p>
        </p:txBody>
      </p:sp>
      <p:sp>
        <p:nvSpPr>
          <p:cNvPr id="20" name="Text 18"/>
          <p:cNvSpPr/>
          <p:nvPr/>
        </p:nvSpPr>
        <p:spPr>
          <a:xfrm>
            <a:off x="762000" y="7366000"/>
            <a:ext cx="14732000" cy="889000"/>
          </a:xfrm>
          <a:prstGeom prst="rect">
            <a:avLst/>
          </a:prstGeom>
          <a:noFill/>
          <a:ln/>
        </p:spPr>
        <p:txBody>
          <a:bodyPr wrap="square" lIns="0" tIns="0" rIns="0" bIns="0" rtlCol="0" anchor="ctr"/>
          <a:lstStyle/>
          <a:p>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The feedback loop:</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AI models of cognition can be tested against human behavior, providing insights that improve both artificial and natural intelligence research.</a:t>
            </a:r>
            <a:endParaRPr lang="en-US" sz="1600" dirty="0"/>
          </a:p>
        </p:txBody>
      </p:sp>
      <p:sp>
        <p:nvSpPr>
          <p:cNvPr id="21" name="Text 19"/>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11</a:t>
            </a:r>
            <a:endParaRPr lang="en-US" sz="14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Goal 4 — Creating Beneficial AI</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Text 3"/>
          <p:cNvSpPr/>
          <p:nvPr/>
        </p:nvSpPr>
        <p:spPr>
          <a:xfrm>
            <a:off x="762000" y="2095500"/>
            <a:ext cx="14732000" cy="762000"/>
          </a:xfrm>
          <a:prstGeom prst="rect">
            <a:avLst/>
          </a:prstGeom>
          <a:noFill/>
          <a:ln/>
        </p:spPr>
        <p:txBody>
          <a:bodyPr wrap="square" lIns="0" tIns="0" rIns="0" bIns="0" rtlCol="0" anchor="ctr"/>
          <a:lstStyle/>
          <a:p>
            <a:pPr>
              <a:lnSpc>
                <a:spcPct val="150000"/>
              </a:lnSpc>
            </a:pPr>
            <a:r>
              <a:rPr lang="en-US" sz="1800" dirty="0">
                <a:solidFill>
                  <a:srgbClr val="636E72"/>
                </a:solidFill>
                <a:latin typeface="Quattrocento Sans" pitchFamily="34" charset="0"/>
                <a:ea typeface="Quattrocento Sans" pitchFamily="34" charset="-122"/>
                <a:cs typeface="Quattrocento Sans" pitchFamily="34" charset="-120"/>
              </a:rPr>
              <a:t>As AI becomes more powerful, ensuring it benefits humanity becomes paramount. This goal encompasses four critical dimensions:</a:t>
            </a:r>
            <a:endParaRPr lang="en-US" sz="1600" dirty="0"/>
          </a:p>
        </p:txBody>
      </p:sp>
      <p:sp>
        <p:nvSpPr>
          <p:cNvPr id="6" name="Shape 4"/>
          <p:cNvSpPr/>
          <p:nvPr/>
        </p:nvSpPr>
        <p:spPr>
          <a:xfrm>
            <a:off x="762000" y="3175000"/>
            <a:ext cx="7048500" cy="2413000"/>
          </a:xfrm>
          <a:prstGeom prst="rect">
            <a:avLst/>
          </a:prstGeom>
          <a:solidFill>
            <a:srgbClr val="EDE8E1"/>
          </a:solidFill>
          <a:ln/>
        </p:spPr>
      </p:sp>
      <p:sp>
        <p:nvSpPr>
          <p:cNvPr id="7" name="Shape 5"/>
          <p:cNvSpPr/>
          <p:nvPr/>
        </p:nvSpPr>
        <p:spPr>
          <a:xfrm>
            <a:off x="1016000" y="3429000"/>
            <a:ext cx="457200" cy="457200"/>
          </a:xfrm>
          <a:custGeom>
            <a:avLst/>
            <a:gdLst/>
            <a:ahLst/>
            <a:cxnLst/>
            <a:rect l="l" t="t" r="r" b="b"/>
            <a:pathLst>
              <a:path w="457200" h="457200">
                <a:moveTo>
                  <a:pt x="228600" y="0"/>
                </a:moveTo>
                <a:cubicBezTo>
                  <a:pt x="232708" y="0"/>
                  <a:pt x="236815" y="893"/>
                  <a:pt x="240566" y="2590"/>
                </a:cubicBezTo>
                <a:lnTo>
                  <a:pt x="408801" y="73938"/>
                </a:lnTo>
                <a:cubicBezTo>
                  <a:pt x="428446" y="82242"/>
                  <a:pt x="443091" y="101620"/>
                  <a:pt x="443002" y="125016"/>
                </a:cubicBezTo>
                <a:cubicBezTo>
                  <a:pt x="442555" y="213598"/>
                  <a:pt x="406122" y="375672"/>
                  <a:pt x="252264" y="449342"/>
                </a:cubicBezTo>
                <a:cubicBezTo>
                  <a:pt x="237351" y="456486"/>
                  <a:pt x="220028" y="456486"/>
                  <a:pt x="205115" y="449342"/>
                </a:cubicBezTo>
                <a:cubicBezTo>
                  <a:pt x="51167" y="375672"/>
                  <a:pt x="14823" y="213598"/>
                  <a:pt x="14377" y="125016"/>
                </a:cubicBezTo>
                <a:cubicBezTo>
                  <a:pt x="14287" y="101620"/>
                  <a:pt x="28932" y="82242"/>
                  <a:pt x="48577" y="73938"/>
                </a:cubicBezTo>
                <a:lnTo>
                  <a:pt x="216724" y="2590"/>
                </a:lnTo>
                <a:cubicBezTo>
                  <a:pt x="220474" y="893"/>
                  <a:pt x="224492" y="0"/>
                  <a:pt x="228600" y="0"/>
                </a:cubicBezTo>
                <a:close/>
                <a:moveTo>
                  <a:pt x="228600" y="59650"/>
                </a:moveTo>
                <a:lnTo>
                  <a:pt x="228600" y="397282"/>
                </a:lnTo>
                <a:cubicBezTo>
                  <a:pt x="351830" y="337631"/>
                  <a:pt x="384959" y="205472"/>
                  <a:pt x="385763" y="126355"/>
                </a:cubicBezTo>
                <a:lnTo>
                  <a:pt x="228600" y="59740"/>
                </a:lnTo>
                <a:lnTo>
                  <a:pt x="228600" y="59740"/>
                </a:lnTo>
                <a:close/>
              </a:path>
            </a:pathLst>
          </a:custGeom>
          <a:solidFill>
            <a:srgbClr val="D4A574"/>
          </a:solidFill>
          <a:ln/>
        </p:spPr>
      </p:sp>
      <p:sp>
        <p:nvSpPr>
          <p:cNvPr id="8" name="Text 6"/>
          <p:cNvSpPr/>
          <p:nvPr/>
        </p:nvSpPr>
        <p:spPr>
          <a:xfrm>
            <a:off x="1651000" y="3467100"/>
            <a:ext cx="5842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AI Safety</a:t>
            </a:r>
            <a:endParaRPr lang="en-US" sz="1600" dirty="0"/>
          </a:p>
        </p:txBody>
      </p:sp>
      <p:sp>
        <p:nvSpPr>
          <p:cNvPr id="9" name="Text 7"/>
          <p:cNvSpPr/>
          <p:nvPr/>
        </p:nvSpPr>
        <p:spPr>
          <a:xfrm>
            <a:off x="1016000" y="4000500"/>
            <a:ext cx="6540500" cy="13335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Preventing unintended harmful behaviors in AI systems. Ensuring systems remain robust, reliable, and aligned with human intentions even as capabilities grow.</a:t>
            </a:r>
            <a:endParaRPr lang="en-US" sz="1600" dirty="0"/>
          </a:p>
        </p:txBody>
      </p:sp>
      <p:sp>
        <p:nvSpPr>
          <p:cNvPr id="10" name="Shape 8"/>
          <p:cNvSpPr/>
          <p:nvPr/>
        </p:nvSpPr>
        <p:spPr>
          <a:xfrm>
            <a:off x="8445500" y="3175000"/>
            <a:ext cx="7048500" cy="2413000"/>
          </a:xfrm>
          <a:prstGeom prst="rect">
            <a:avLst/>
          </a:prstGeom>
          <a:solidFill>
            <a:srgbClr val="EDE8E1"/>
          </a:solidFill>
          <a:ln/>
        </p:spPr>
      </p:sp>
      <p:sp>
        <p:nvSpPr>
          <p:cNvPr id="11" name="Shape 9"/>
          <p:cNvSpPr/>
          <p:nvPr/>
        </p:nvSpPr>
        <p:spPr>
          <a:xfrm>
            <a:off x="8642350" y="3429000"/>
            <a:ext cx="571500" cy="457200"/>
          </a:xfrm>
          <a:custGeom>
            <a:avLst/>
            <a:gdLst/>
            <a:ahLst/>
            <a:cxnLst/>
            <a:rect l="l" t="t" r="r" b="b"/>
            <a:pathLst>
              <a:path w="571500" h="457200">
                <a:moveTo>
                  <a:pt x="342900" y="28575"/>
                </a:moveTo>
                <a:lnTo>
                  <a:pt x="457200" y="28575"/>
                </a:lnTo>
                <a:cubicBezTo>
                  <a:pt x="473006" y="28575"/>
                  <a:pt x="485775" y="41344"/>
                  <a:pt x="485775" y="57150"/>
                </a:cubicBezTo>
                <a:cubicBezTo>
                  <a:pt x="485775" y="72956"/>
                  <a:pt x="473006" y="85725"/>
                  <a:pt x="457200" y="85725"/>
                </a:cubicBezTo>
                <a:lnTo>
                  <a:pt x="355759" y="85725"/>
                </a:lnTo>
                <a:cubicBezTo>
                  <a:pt x="351115" y="108764"/>
                  <a:pt x="335310" y="127784"/>
                  <a:pt x="314325" y="136892"/>
                </a:cubicBezTo>
                <a:lnTo>
                  <a:pt x="314325" y="400050"/>
                </a:lnTo>
                <a:lnTo>
                  <a:pt x="457200" y="400050"/>
                </a:lnTo>
                <a:cubicBezTo>
                  <a:pt x="473006" y="400050"/>
                  <a:pt x="485775" y="412819"/>
                  <a:pt x="485775" y="428625"/>
                </a:cubicBezTo>
                <a:cubicBezTo>
                  <a:pt x="485775" y="444431"/>
                  <a:pt x="473006" y="457200"/>
                  <a:pt x="457200" y="457200"/>
                </a:cubicBezTo>
                <a:lnTo>
                  <a:pt x="114300" y="457200"/>
                </a:lnTo>
                <a:cubicBezTo>
                  <a:pt x="98494" y="457200"/>
                  <a:pt x="85725" y="444431"/>
                  <a:pt x="85725" y="428625"/>
                </a:cubicBezTo>
                <a:cubicBezTo>
                  <a:pt x="85725" y="412819"/>
                  <a:pt x="98494" y="400050"/>
                  <a:pt x="114300" y="400050"/>
                </a:cubicBezTo>
                <a:lnTo>
                  <a:pt x="257175" y="400050"/>
                </a:lnTo>
                <a:lnTo>
                  <a:pt x="257175" y="136892"/>
                </a:lnTo>
                <a:cubicBezTo>
                  <a:pt x="236190" y="127695"/>
                  <a:pt x="220385" y="108674"/>
                  <a:pt x="215741" y="85725"/>
                </a:cubicBezTo>
                <a:lnTo>
                  <a:pt x="114300" y="85725"/>
                </a:lnTo>
                <a:cubicBezTo>
                  <a:pt x="98494" y="85725"/>
                  <a:pt x="85725" y="72956"/>
                  <a:pt x="85725" y="57150"/>
                </a:cubicBezTo>
                <a:cubicBezTo>
                  <a:pt x="85725" y="41344"/>
                  <a:pt x="98494" y="28575"/>
                  <a:pt x="114300" y="28575"/>
                </a:cubicBezTo>
                <a:lnTo>
                  <a:pt x="228600" y="28575"/>
                </a:lnTo>
                <a:cubicBezTo>
                  <a:pt x="241637" y="11251"/>
                  <a:pt x="262354" y="0"/>
                  <a:pt x="285750" y="0"/>
                </a:cubicBezTo>
                <a:cubicBezTo>
                  <a:pt x="309146" y="0"/>
                  <a:pt x="329863" y="11251"/>
                  <a:pt x="342900" y="28575"/>
                </a:cubicBezTo>
                <a:close/>
                <a:moveTo>
                  <a:pt x="392549" y="285750"/>
                </a:moveTo>
                <a:lnTo>
                  <a:pt x="521851" y="285750"/>
                </a:lnTo>
                <a:lnTo>
                  <a:pt x="457200" y="174843"/>
                </a:lnTo>
                <a:lnTo>
                  <a:pt x="392549" y="285750"/>
                </a:lnTo>
                <a:close/>
                <a:moveTo>
                  <a:pt x="457200" y="371475"/>
                </a:moveTo>
                <a:cubicBezTo>
                  <a:pt x="401032" y="371475"/>
                  <a:pt x="354330" y="341114"/>
                  <a:pt x="344686" y="301020"/>
                </a:cubicBezTo>
                <a:cubicBezTo>
                  <a:pt x="342364" y="291197"/>
                  <a:pt x="345579" y="281107"/>
                  <a:pt x="350669" y="272355"/>
                </a:cubicBezTo>
                <a:lnTo>
                  <a:pt x="435679" y="126623"/>
                </a:lnTo>
                <a:cubicBezTo>
                  <a:pt x="440144" y="118943"/>
                  <a:pt x="448360" y="114300"/>
                  <a:pt x="457200" y="114300"/>
                </a:cubicBezTo>
                <a:cubicBezTo>
                  <a:pt x="466040" y="114300"/>
                  <a:pt x="474256" y="119033"/>
                  <a:pt x="478721" y="126623"/>
                </a:cubicBezTo>
                <a:lnTo>
                  <a:pt x="563731" y="272355"/>
                </a:lnTo>
                <a:cubicBezTo>
                  <a:pt x="568821" y="281107"/>
                  <a:pt x="572036" y="291197"/>
                  <a:pt x="569714" y="301020"/>
                </a:cubicBezTo>
                <a:cubicBezTo>
                  <a:pt x="560070" y="341025"/>
                  <a:pt x="513368" y="371475"/>
                  <a:pt x="457200" y="371475"/>
                </a:cubicBezTo>
                <a:close/>
                <a:moveTo>
                  <a:pt x="113228" y="174843"/>
                </a:moveTo>
                <a:lnTo>
                  <a:pt x="48578" y="285750"/>
                </a:lnTo>
                <a:lnTo>
                  <a:pt x="177969" y="285750"/>
                </a:lnTo>
                <a:lnTo>
                  <a:pt x="113228" y="174843"/>
                </a:lnTo>
                <a:close/>
                <a:moveTo>
                  <a:pt x="804" y="301020"/>
                </a:moveTo>
                <a:cubicBezTo>
                  <a:pt x="-1518" y="291197"/>
                  <a:pt x="1697" y="281107"/>
                  <a:pt x="6787" y="272355"/>
                </a:cubicBezTo>
                <a:lnTo>
                  <a:pt x="91797" y="126623"/>
                </a:lnTo>
                <a:cubicBezTo>
                  <a:pt x="96262" y="118943"/>
                  <a:pt x="104477" y="114300"/>
                  <a:pt x="113318" y="114300"/>
                </a:cubicBezTo>
                <a:cubicBezTo>
                  <a:pt x="122158" y="114300"/>
                  <a:pt x="130373" y="119033"/>
                  <a:pt x="134838" y="126623"/>
                </a:cubicBezTo>
                <a:lnTo>
                  <a:pt x="219849" y="272355"/>
                </a:lnTo>
                <a:cubicBezTo>
                  <a:pt x="224939" y="281107"/>
                  <a:pt x="228154" y="291197"/>
                  <a:pt x="225832" y="301020"/>
                </a:cubicBezTo>
                <a:cubicBezTo>
                  <a:pt x="216188" y="341025"/>
                  <a:pt x="169485" y="371475"/>
                  <a:pt x="113318" y="371475"/>
                </a:cubicBezTo>
                <a:cubicBezTo>
                  <a:pt x="57150" y="371475"/>
                  <a:pt x="10448" y="341114"/>
                  <a:pt x="804" y="301020"/>
                </a:cubicBezTo>
                <a:close/>
              </a:path>
            </a:pathLst>
          </a:custGeom>
          <a:solidFill>
            <a:srgbClr val="D4A574"/>
          </a:solidFill>
          <a:ln/>
        </p:spPr>
      </p:sp>
      <p:sp>
        <p:nvSpPr>
          <p:cNvPr id="12" name="Text 10"/>
          <p:cNvSpPr/>
          <p:nvPr/>
        </p:nvSpPr>
        <p:spPr>
          <a:xfrm>
            <a:off x="9334500" y="3467100"/>
            <a:ext cx="5842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AI Ethics</a:t>
            </a:r>
            <a:endParaRPr lang="en-US" sz="1600" dirty="0"/>
          </a:p>
        </p:txBody>
      </p:sp>
      <p:sp>
        <p:nvSpPr>
          <p:cNvPr id="13" name="Text 11"/>
          <p:cNvSpPr/>
          <p:nvPr/>
        </p:nvSpPr>
        <p:spPr>
          <a:xfrm>
            <a:off x="8699500" y="4000500"/>
            <a:ext cx="6540500" cy="13335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Ensuring fairness, transparency, and accountability. Addressing bias in training data and algorithms. Making AI decisions explainable and auditable.</a:t>
            </a:r>
            <a:endParaRPr lang="en-US" sz="1600" dirty="0"/>
          </a:p>
        </p:txBody>
      </p:sp>
      <p:sp>
        <p:nvSpPr>
          <p:cNvPr id="14" name="Shape 12"/>
          <p:cNvSpPr/>
          <p:nvPr/>
        </p:nvSpPr>
        <p:spPr>
          <a:xfrm>
            <a:off x="762000" y="5969000"/>
            <a:ext cx="7048500" cy="2413000"/>
          </a:xfrm>
          <a:prstGeom prst="rect">
            <a:avLst/>
          </a:prstGeom>
          <a:solidFill>
            <a:srgbClr val="EDE8E1"/>
          </a:solidFill>
          <a:ln/>
        </p:spPr>
      </p:sp>
      <p:sp>
        <p:nvSpPr>
          <p:cNvPr id="15" name="Shape 13"/>
          <p:cNvSpPr/>
          <p:nvPr/>
        </p:nvSpPr>
        <p:spPr>
          <a:xfrm>
            <a:off x="1016000" y="6223000"/>
            <a:ext cx="457200" cy="457200"/>
          </a:xfrm>
          <a:custGeom>
            <a:avLst/>
            <a:gdLst/>
            <a:ahLst/>
            <a:cxnLst/>
            <a:rect l="l" t="t" r="r" b="b"/>
            <a:pathLst>
              <a:path w="457200" h="457200">
                <a:moveTo>
                  <a:pt x="213152" y="4554"/>
                </a:moveTo>
                <a:cubicBezTo>
                  <a:pt x="222528" y="-1518"/>
                  <a:pt x="234672" y="-1518"/>
                  <a:pt x="244048" y="4554"/>
                </a:cubicBezTo>
                <a:lnTo>
                  <a:pt x="444073" y="133142"/>
                </a:lnTo>
                <a:cubicBezTo>
                  <a:pt x="454700" y="140017"/>
                  <a:pt x="459611" y="153055"/>
                  <a:pt x="456039" y="165199"/>
                </a:cubicBezTo>
                <a:cubicBezTo>
                  <a:pt x="452467" y="177344"/>
                  <a:pt x="441305" y="185738"/>
                  <a:pt x="428625" y="185738"/>
                </a:cubicBezTo>
                <a:lnTo>
                  <a:pt x="400050" y="185738"/>
                </a:lnTo>
                <a:lnTo>
                  <a:pt x="400050" y="371475"/>
                </a:lnTo>
                <a:lnTo>
                  <a:pt x="445770" y="405765"/>
                </a:lnTo>
                <a:cubicBezTo>
                  <a:pt x="453003" y="411123"/>
                  <a:pt x="457200" y="419606"/>
                  <a:pt x="457200" y="428625"/>
                </a:cubicBezTo>
                <a:cubicBezTo>
                  <a:pt x="457200" y="444431"/>
                  <a:pt x="444431" y="457200"/>
                  <a:pt x="428625" y="457200"/>
                </a:cubicBezTo>
                <a:lnTo>
                  <a:pt x="28575" y="457200"/>
                </a:lnTo>
                <a:cubicBezTo>
                  <a:pt x="12769" y="457200"/>
                  <a:pt x="0" y="444431"/>
                  <a:pt x="0" y="428625"/>
                </a:cubicBezTo>
                <a:cubicBezTo>
                  <a:pt x="0" y="419606"/>
                  <a:pt x="4197" y="411123"/>
                  <a:pt x="11430" y="405765"/>
                </a:cubicBezTo>
                <a:lnTo>
                  <a:pt x="57150" y="371475"/>
                </a:lnTo>
                <a:lnTo>
                  <a:pt x="57150" y="371475"/>
                </a:lnTo>
                <a:lnTo>
                  <a:pt x="57150" y="185738"/>
                </a:lnTo>
                <a:lnTo>
                  <a:pt x="28575" y="185738"/>
                </a:lnTo>
                <a:cubicBezTo>
                  <a:pt x="15895" y="185738"/>
                  <a:pt x="4733" y="177344"/>
                  <a:pt x="1161" y="165199"/>
                </a:cubicBezTo>
                <a:cubicBezTo>
                  <a:pt x="-2411" y="153055"/>
                  <a:pt x="2500" y="139928"/>
                  <a:pt x="13127" y="133142"/>
                </a:cubicBezTo>
                <a:lnTo>
                  <a:pt x="213152" y="4554"/>
                </a:lnTo>
                <a:close/>
                <a:moveTo>
                  <a:pt x="300038" y="185738"/>
                </a:moveTo>
                <a:lnTo>
                  <a:pt x="300038" y="371475"/>
                </a:lnTo>
                <a:lnTo>
                  <a:pt x="357188" y="371475"/>
                </a:lnTo>
                <a:lnTo>
                  <a:pt x="357188" y="185738"/>
                </a:lnTo>
                <a:lnTo>
                  <a:pt x="300038" y="185738"/>
                </a:lnTo>
                <a:close/>
                <a:moveTo>
                  <a:pt x="200025" y="371475"/>
                </a:moveTo>
                <a:lnTo>
                  <a:pt x="257175" y="371475"/>
                </a:lnTo>
                <a:lnTo>
                  <a:pt x="257175" y="185738"/>
                </a:lnTo>
                <a:lnTo>
                  <a:pt x="200025" y="185738"/>
                </a:lnTo>
                <a:lnTo>
                  <a:pt x="200025" y="371475"/>
                </a:lnTo>
                <a:close/>
                <a:moveTo>
                  <a:pt x="100013" y="185738"/>
                </a:moveTo>
                <a:lnTo>
                  <a:pt x="100013" y="371475"/>
                </a:lnTo>
                <a:lnTo>
                  <a:pt x="157163" y="371475"/>
                </a:lnTo>
                <a:lnTo>
                  <a:pt x="157163" y="185738"/>
                </a:lnTo>
                <a:lnTo>
                  <a:pt x="100013" y="185738"/>
                </a:lnTo>
                <a:close/>
              </a:path>
            </a:pathLst>
          </a:custGeom>
          <a:solidFill>
            <a:srgbClr val="D4A574"/>
          </a:solidFill>
          <a:ln/>
        </p:spPr>
      </p:sp>
      <p:sp>
        <p:nvSpPr>
          <p:cNvPr id="16" name="Text 14"/>
          <p:cNvSpPr/>
          <p:nvPr/>
        </p:nvSpPr>
        <p:spPr>
          <a:xfrm>
            <a:off x="1651000" y="6261100"/>
            <a:ext cx="5842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AI Governance</a:t>
            </a:r>
            <a:endParaRPr lang="en-US" sz="1600" dirty="0"/>
          </a:p>
        </p:txBody>
      </p:sp>
      <p:sp>
        <p:nvSpPr>
          <p:cNvPr id="17" name="Text 15"/>
          <p:cNvSpPr/>
          <p:nvPr/>
        </p:nvSpPr>
        <p:spPr>
          <a:xfrm>
            <a:off x="1016000" y="6794500"/>
            <a:ext cx="6540500" cy="13335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Establishing frameworks for responsible development and deployment. Creating regulations, standards, and oversight mechanisms for AI technologies.</a:t>
            </a:r>
            <a:endParaRPr lang="en-US" sz="1600" dirty="0"/>
          </a:p>
        </p:txBody>
      </p:sp>
      <p:sp>
        <p:nvSpPr>
          <p:cNvPr id="18" name="Shape 16"/>
          <p:cNvSpPr/>
          <p:nvPr/>
        </p:nvSpPr>
        <p:spPr>
          <a:xfrm>
            <a:off x="8445500" y="5969000"/>
            <a:ext cx="7048500" cy="2413000"/>
          </a:xfrm>
          <a:prstGeom prst="rect">
            <a:avLst/>
          </a:prstGeom>
          <a:solidFill>
            <a:srgbClr val="EDE8E1"/>
          </a:solidFill>
          <a:ln/>
        </p:spPr>
      </p:sp>
      <p:sp>
        <p:nvSpPr>
          <p:cNvPr id="19" name="Shape 17"/>
          <p:cNvSpPr/>
          <p:nvPr/>
        </p:nvSpPr>
        <p:spPr>
          <a:xfrm>
            <a:off x="8670925" y="6223000"/>
            <a:ext cx="514350" cy="457200"/>
          </a:xfrm>
          <a:custGeom>
            <a:avLst/>
            <a:gdLst/>
            <a:ahLst/>
            <a:cxnLst/>
            <a:rect l="l" t="t" r="r" b="b"/>
            <a:pathLst>
              <a:path w="514350" h="457200">
                <a:moveTo>
                  <a:pt x="240119" y="76081"/>
                </a:moveTo>
                <a:lnTo>
                  <a:pt x="135999" y="191810"/>
                </a:lnTo>
                <a:cubicBezTo>
                  <a:pt x="131891" y="196364"/>
                  <a:pt x="132070" y="203418"/>
                  <a:pt x="136446" y="207794"/>
                </a:cubicBezTo>
                <a:cubicBezTo>
                  <a:pt x="163681" y="235029"/>
                  <a:pt x="207883" y="235029"/>
                  <a:pt x="235119" y="207794"/>
                </a:cubicBezTo>
                <a:lnTo>
                  <a:pt x="263515" y="179397"/>
                </a:lnTo>
                <a:cubicBezTo>
                  <a:pt x="267266" y="175647"/>
                  <a:pt x="271998" y="173593"/>
                  <a:pt x="276820" y="173236"/>
                </a:cubicBezTo>
                <a:cubicBezTo>
                  <a:pt x="282893" y="172700"/>
                  <a:pt x="289143" y="174754"/>
                  <a:pt x="293787" y="179397"/>
                </a:cubicBezTo>
                <a:lnTo>
                  <a:pt x="451485" y="335756"/>
                </a:lnTo>
                <a:lnTo>
                  <a:pt x="514350" y="285750"/>
                </a:lnTo>
                <a:lnTo>
                  <a:pt x="514350" y="28575"/>
                </a:lnTo>
                <a:lnTo>
                  <a:pt x="414338" y="85725"/>
                </a:lnTo>
                <a:lnTo>
                  <a:pt x="393085" y="71527"/>
                </a:lnTo>
                <a:cubicBezTo>
                  <a:pt x="378976" y="62151"/>
                  <a:pt x="362456" y="57150"/>
                  <a:pt x="345490" y="57150"/>
                </a:cubicBezTo>
                <a:lnTo>
                  <a:pt x="282625" y="57150"/>
                </a:lnTo>
                <a:cubicBezTo>
                  <a:pt x="281642" y="57150"/>
                  <a:pt x="280571" y="57150"/>
                  <a:pt x="279589" y="57239"/>
                </a:cubicBezTo>
                <a:cubicBezTo>
                  <a:pt x="264497" y="58043"/>
                  <a:pt x="250299" y="64830"/>
                  <a:pt x="240119" y="76081"/>
                </a:cubicBezTo>
                <a:close/>
                <a:moveTo>
                  <a:pt x="104120" y="163145"/>
                </a:moveTo>
                <a:lnTo>
                  <a:pt x="199489" y="57150"/>
                </a:lnTo>
                <a:lnTo>
                  <a:pt x="164128" y="57150"/>
                </a:lnTo>
                <a:cubicBezTo>
                  <a:pt x="141357" y="57150"/>
                  <a:pt x="119569" y="66169"/>
                  <a:pt x="103495" y="82242"/>
                </a:cubicBezTo>
                <a:lnTo>
                  <a:pt x="100013" y="85725"/>
                </a:lnTo>
                <a:lnTo>
                  <a:pt x="0" y="28575"/>
                </a:lnTo>
                <a:lnTo>
                  <a:pt x="0" y="285750"/>
                </a:lnTo>
                <a:lnTo>
                  <a:pt x="139660" y="402104"/>
                </a:lnTo>
                <a:cubicBezTo>
                  <a:pt x="160199" y="419249"/>
                  <a:pt x="186095" y="428625"/>
                  <a:pt x="212794" y="428625"/>
                </a:cubicBezTo>
                <a:lnTo>
                  <a:pt x="226814" y="428625"/>
                </a:lnTo>
                <a:lnTo>
                  <a:pt x="220563" y="422374"/>
                </a:lnTo>
                <a:cubicBezTo>
                  <a:pt x="212169" y="413980"/>
                  <a:pt x="212169" y="400407"/>
                  <a:pt x="220563" y="392103"/>
                </a:cubicBezTo>
                <a:cubicBezTo>
                  <a:pt x="228957" y="383798"/>
                  <a:pt x="242530" y="383709"/>
                  <a:pt x="250835" y="392103"/>
                </a:cubicBezTo>
                <a:lnTo>
                  <a:pt x="287447" y="428714"/>
                </a:lnTo>
                <a:lnTo>
                  <a:pt x="295483" y="428714"/>
                </a:lnTo>
                <a:cubicBezTo>
                  <a:pt x="312539" y="428714"/>
                  <a:pt x="329238" y="424875"/>
                  <a:pt x="344418" y="417731"/>
                </a:cubicBezTo>
                <a:lnTo>
                  <a:pt x="320576" y="393799"/>
                </a:lnTo>
                <a:cubicBezTo>
                  <a:pt x="312182" y="385405"/>
                  <a:pt x="312182" y="371832"/>
                  <a:pt x="320576" y="363528"/>
                </a:cubicBezTo>
                <a:cubicBezTo>
                  <a:pt x="328970" y="355223"/>
                  <a:pt x="342543" y="355134"/>
                  <a:pt x="350847" y="363528"/>
                </a:cubicBezTo>
                <a:lnTo>
                  <a:pt x="379422" y="392103"/>
                </a:lnTo>
                <a:lnTo>
                  <a:pt x="395049" y="376476"/>
                </a:lnTo>
                <a:cubicBezTo>
                  <a:pt x="402997" y="368528"/>
                  <a:pt x="405319" y="357009"/>
                  <a:pt x="401836" y="346918"/>
                </a:cubicBezTo>
                <a:lnTo>
                  <a:pt x="278696" y="224760"/>
                </a:lnTo>
                <a:lnTo>
                  <a:pt x="265390" y="238065"/>
                </a:lnTo>
                <a:cubicBezTo>
                  <a:pt x="221367" y="282089"/>
                  <a:pt x="150108" y="282089"/>
                  <a:pt x="106085" y="238065"/>
                </a:cubicBezTo>
                <a:cubicBezTo>
                  <a:pt x="85546" y="217527"/>
                  <a:pt x="84743" y="184577"/>
                  <a:pt x="104120" y="163056"/>
                </a:cubicBezTo>
                <a:close/>
              </a:path>
            </a:pathLst>
          </a:custGeom>
          <a:solidFill>
            <a:srgbClr val="D4A574"/>
          </a:solidFill>
          <a:ln/>
        </p:spPr>
      </p:sp>
      <p:sp>
        <p:nvSpPr>
          <p:cNvPr id="20" name="Text 18"/>
          <p:cNvSpPr/>
          <p:nvPr/>
        </p:nvSpPr>
        <p:spPr>
          <a:xfrm>
            <a:off x="9334500" y="6261100"/>
            <a:ext cx="5842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Human-AI Collaboration</a:t>
            </a:r>
            <a:endParaRPr lang="en-US" sz="1600" dirty="0"/>
          </a:p>
        </p:txBody>
      </p:sp>
      <p:sp>
        <p:nvSpPr>
          <p:cNvPr id="21" name="Text 19"/>
          <p:cNvSpPr/>
          <p:nvPr/>
        </p:nvSpPr>
        <p:spPr>
          <a:xfrm>
            <a:off x="8699500" y="6794500"/>
            <a:ext cx="6540500" cy="13335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Designing systems that augment rather than replace human capabilities. Creating productive partnerships between humans and AI for better outcomes.</a:t>
            </a:r>
            <a:endParaRPr lang="en-US" sz="1600" dirty="0"/>
          </a:p>
        </p:txBody>
      </p:sp>
      <p:sp>
        <p:nvSpPr>
          <p:cNvPr id="22" name="Text 20"/>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12</a:t>
            </a:r>
            <a:endParaRPr lang="en-US" sz="14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AI Applications — Transforming Industries</a:t>
            </a:r>
            <a:endParaRPr lang="en-US" sz="2800" dirty="0"/>
          </a:p>
        </p:txBody>
      </p:sp>
      <p:sp>
        <p:nvSpPr>
          <p:cNvPr id="4" name="Shape 2"/>
          <p:cNvSpPr/>
          <p:nvPr/>
        </p:nvSpPr>
        <p:spPr>
          <a:xfrm>
            <a:off x="762000" y="1752600"/>
            <a:ext cx="762000" cy="38100"/>
          </a:xfrm>
          <a:prstGeom prst="rect">
            <a:avLst/>
          </a:prstGeom>
          <a:solidFill>
            <a:srgbClr val="D4A574"/>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62000" y="2222500"/>
          <a:ext cx="14732000" cy="6096000"/>
        </p:xfrm>
        <a:graphic>
          <a:graphicData uri="http://schemas.openxmlformats.org/drawingml/2006/table">
            <a:tbl>
              <a:tblPr/>
              <a:tblGrid>
                <a:gridCol w="3241040"/>
                <a:gridCol w="5745480"/>
                <a:gridCol w="5745480"/>
              </a:tblGrid>
              <a:tr h="607071">
                <a:tc>
                  <a:txBody>
                    <a:bodyPr/>
                    <a:lstStyle/>
                    <a:p>
                      <a:pPr algn="l"/>
                      <a:r>
                        <a:rPr lang="en-US" sz="1600" b="1" u="none" dirty="0">
                          <a:solidFill>
                            <a:srgbClr val="F5F1EC"/>
                          </a:solidFill>
                          <a:latin typeface="QuattrocentoSans" pitchFamily="34" charset="0"/>
                          <a:ea typeface="QuattrocentoSans" pitchFamily="34" charset="-122"/>
                          <a:cs typeface="QuattrocentoSans" pitchFamily="34" charset="-120"/>
                        </a:rPr>
                        <a:t>Industry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3436"/>
                    </a:solidFill>
                  </a:tcPr>
                </a:tc>
                <a:tc>
                  <a:txBody>
                    <a:bodyPr/>
                    <a:lstStyle/>
                    <a:p>
                      <a:pPr algn="l"/>
                      <a:r>
                        <a:rPr lang="en-US" sz="1600" b="1" u="none" dirty="0">
                          <a:solidFill>
                            <a:srgbClr val="F5F1EC"/>
                          </a:solidFill>
                          <a:latin typeface="QuattrocentoSans" pitchFamily="34" charset="0"/>
                          <a:ea typeface="QuattrocentoSans" pitchFamily="34" charset="-122"/>
                          <a:cs typeface="QuattrocentoSans" pitchFamily="34" charset="-120"/>
                        </a:rPr>
                        <a:t>Applications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3436"/>
                    </a:solidFill>
                  </a:tcPr>
                </a:tc>
                <a:tc>
                  <a:txBody>
                    <a:bodyPr/>
                    <a:lstStyle/>
                    <a:p>
                      <a:pPr algn="l"/>
                      <a:r>
                        <a:rPr lang="en-US" sz="1600" b="1" u="none" dirty="0">
                          <a:solidFill>
                            <a:srgbClr val="F5F1EC"/>
                          </a:solidFill>
                          <a:latin typeface="QuattrocentoSans" pitchFamily="34" charset="0"/>
                          <a:ea typeface="QuattrocentoSans" pitchFamily="34" charset="-122"/>
                          <a:cs typeface="QuattrocentoSans" pitchFamily="34" charset="-120"/>
                        </a:rPr>
                        <a:t>Impact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3436"/>
                    </a:solidFill>
                  </a:tcPr>
                </a:tc>
              </a:tr>
              <a:tr h="784133">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Healthcare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Medical imaging, drug discovery, personalized treatment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Faster diagnosis, new therapies, improved patient outcomes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r>
              <a:tr h="784133">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Finance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Fraud detection, algorithmic trading, risk assessment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Reduced fraud, optimized investments, real-time decisions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r>
              <a:tr h="784133">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Transportation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Autonomous vehicles, route optimization, traffic management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Safer roads, reduced congestion, lower emissions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r>
              <a:tr h="784133">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Education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Personalized learning, intelligent tutoring, auto-grading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Adaptive curricula, accessible education, teacher support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r>
              <a:tr h="784133">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Manufacturing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Predictive maintenance, quality control, supply chain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Reduced downtime, higher quality, efficient operations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r>
              <a:tr h="784133">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Entertainment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Content recommendation, game AI, generative art/music</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Personalized experiences, creative tools, new media</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r>
              <a:tr h="784133">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NLP</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Translation, sentiment analysis, chatbots, content generation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Global communication, customer service, content creation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r>
            </a:tbl>
          </a:graphicData>
        </a:graphic>
      </p:graphicFrame>
      <p:sp>
        <p:nvSpPr>
          <p:cNvPr id="6" name="Text 3"/>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13</a:t>
            </a:r>
            <a:endParaRPr lang="en-US" sz="14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016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Lecture 1 — Key Takeaways</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Shape 3"/>
          <p:cNvSpPr/>
          <p:nvPr/>
        </p:nvSpPr>
        <p:spPr>
          <a:xfrm>
            <a:off x="762000" y="2286000"/>
            <a:ext cx="457200" cy="457200"/>
          </a:xfrm>
          <a:prstGeom prst="ellipse">
            <a:avLst/>
          </a:prstGeom>
          <a:solidFill>
            <a:srgbClr val="D4A574"/>
          </a:solidFill>
          <a:ln/>
        </p:spPr>
      </p:sp>
      <p:sp>
        <p:nvSpPr>
          <p:cNvPr id="6" name="Text 4"/>
          <p:cNvSpPr/>
          <p:nvPr/>
        </p:nvSpPr>
        <p:spPr>
          <a:xfrm>
            <a:off x="762000" y="2286000"/>
            <a:ext cx="457200" cy="457200"/>
          </a:xfrm>
          <a:prstGeom prst="rect">
            <a:avLst/>
          </a:prstGeom>
          <a:noFill/>
          <a:ln/>
        </p:spPr>
        <p:txBody>
          <a:bodyPr wrap="none" lIns="0" tIns="0" rIns="0" bIns="0" rtlCol="0" anchor="ctr"/>
          <a:lstStyle/>
          <a:p>
            <a:pPr algn="ctr">
              <a:lnSpc>
                <a:spcPct val="100000"/>
              </a:lnSpc>
            </a:pPr>
            <a:r>
              <a:rPr lang="en-US" sz="1800" dirty="0">
                <a:solidFill>
                  <a:srgbClr val="F5F1EC"/>
                </a:solidFill>
                <a:latin typeface="Liter" pitchFamily="34" charset="0"/>
                <a:ea typeface="Liter" pitchFamily="34" charset="-122"/>
                <a:cs typeface="Liter" pitchFamily="34" charset="-120"/>
              </a:rPr>
              <a:t>1</a:t>
            </a:r>
            <a:endParaRPr lang="en-US" sz="1600" dirty="0"/>
          </a:p>
        </p:txBody>
      </p:sp>
      <p:sp>
        <p:nvSpPr>
          <p:cNvPr id="7" name="Text 5"/>
          <p:cNvSpPr/>
          <p:nvPr/>
        </p:nvSpPr>
        <p:spPr>
          <a:xfrm>
            <a:off x="1460500" y="2222500"/>
            <a:ext cx="13970000" cy="889000"/>
          </a:xfrm>
          <a:prstGeom prst="rect">
            <a:avLst/>
          </a:prstGeom>
          <a:noFill/>
          <a:ln/>
        </p:spPr>
        <p:txBody>
          <a:bodyPr wrap="square" lIns="0" tIns="0" rIns="0" bIns="0" rtlCol="0" anchor="ctr"/>
          <a:lstStyle/>
          <a:p>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Artificial Intelligence</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is the field focused on creating systems that perform tasks requiring human intelligence — reasoning, learning, perception, and decision-making.</a:t>
            </a:r>
            <a:endParaRPr lang="en-US" sz="1600" dirty="0"/>
          </a:p>
        </p:txBody>
      </p:sp>
      <p:sp>
        <p:nvSpPr>
          <p:cNvPr id="8" name="Shape 6"/>
          <p:cNvSpPr/>
          <p:nvPr/>
        </p:nvSpPr>
        <p:spPr>
          <a:xfrm>
            <a:off x="762000" y="3429000"/>
            <a:ext cx="457200" cy="457200"/>
          </a:xfrm>
          <a:prstGeom prst="ellipse">
            <a:avLst/>
          </a:prstGeom>
          <a:solidFill>
            <a:srgbClr val="D4A574"/>
          </a:solidFill>
          <a:ln/>
        </p:spPr>
      </p:sp>
      <p:sp>
        <p:nvSpPr>
          <p:cNvPr id="9" name="Text 7"/>
          <p:cNvSpPr/>
          <p:nvPr/>
        </p:nvSpPr>
        <p:spPr>
          <a:xfrm>
            <a:off x="762000" y="3429000"/>
            <a:ext cx="457200" cy="457200"/>
          </a:xfrm>
          <a:prstGeom prst="rect">
            <a:avLst/>
          </a:prstGeom>
          <a:noFill/>
          <a:ln/>
        </p:spPr>
        <p:txBody>
          <a:bodyPr wrap="none" lIns="0" tIns="0" rIns="0" bIns="0" rtlCol="0" anchor="ctr"/>
          <a:lstStyle/>
          <a:p>
            <a:pPr algn="ctr">
              <a:lnSpc>
                <a:spcPct val="100000"/>
              </a:lnSpc>
            </a:pPr>
            <a:r>
              <a:rPr lang="en-US" sz="1800" dirty="0">
                <a:solidFill>
                  <a:srgbClr val="F5F1EC"/>
                </a:solidFill>
                <a:latin typeface="Liter" pitchFamily="34" charset="0"/>
                <a:ea typeface="Liter" pitchFamily="34" charset="-122"/>
                <a:cs typeface="Liter" pitchFamily="34" charset="-120"/>
              </a:rPr>
              <a:t>2</a:t>
            </a:r>
            <a:endParaRPr lang="en-US" sz="1600" dirty="0"/>
          </a:p>
        </p:txBody>
      </p:sp>
      <p:sp>
        <p:nvSpPr>
          <p:cNvPr id="10" name="Text 8"/>
          <p:cNvSpPr/>
          <p:nvPr/>
        </p:nvSpPr>
        <p:spPr>
          <a:xfrm>
            <a:off x="1460500" y="3365500"/>
            <a:ext cx="13970000" cy="889000"/>
          </a:xfrm>
          <a:prstGeom prst="rect">
            <a:avLst/>
          </a:prstGeom>
          <a:noFill/>
          <a:ln/>
        </p:spPr>
        <p:txBody>
          <a:bodyPr wrap="square" lIns="0" tIns="0" rIns="0" bIns="0" rtlCol="0" anchor="ctr"/>
          <a:lstStyle/>
          <a:p>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The field was officially founded in </a:t>
            </a:r>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1956</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at the Dartmouth Conference by </a:t>
            </a:r>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John McCarthy</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and colleagues — a landmark moment in computing history.</a:t>
            </a:r>
            <a:endParaRPr lang="en-US" sz="1600" dirty="0"/>
          </a:p>
        </p:txBody>
      </p:sp>
      <p:sp>
        <p:nvSpPr>
          <p:cNvPr id="11" name="Shape 9"/>
          <p:cNvSpPr/>
          <p:nvPr/>
        </p:nvSpPr>
        <p:spPr>
          <a:xfrm>
            <a:off x="762000" y="4572000"/>
            <a:ext cx="457200" cy="457200"/>
          </a:xfrm>
          <a:prstGeom prst="ellipse">
            <a:avLst/>
          </a:prstGeom>
          <a:solidFill>
            <a:srgbClr val="D4A574"/>
          </a:solidFill>
          <a:ln/>
        </p:spPr>
      </p:sp>
      <p:sp>
        <p:nvSpPr>
          <p:cNvPr id="12" name="Text 10"/>
          <p:cNvSpPr/>
          <p:nvPr/>
        </p:nvSpPr>
        <p:spPr>
          <a:xfrm>
            <a:off x="762000" y="4572000"/>
            <a:ext cx="457200" cy="457200"/>
          </a:xfrm>
          <a:prstGeom prst="rect">
            <a:avLst/>
          </a:prstGeom>
          <a:noFill/>
          <a:ln/>
        </p:spPr>
        <p:txBody>
          <a:bodyPr wrap="none" lIns="0" tIns="0" rIns="0" bIns="0" rtlCol="0" anchor="ctr"/>
          <a:lstStyle/>
          <a:p>
            <a:pPr algn="ctr">
              <a:lnSpc>
                <a:spcPct val="100000"/>
              </a:lnSpc>
            </a:pPr>
            <a:r>
              <a:rPr lang="en-US" sz="1800" dirty="0">
                <a:solidFill>
                  <a:srgbClr val="F5F1EC"/>
                </a:solidFill>
                <a:latin typeface="Liter" pitchFamily="34" charset="0"/>
                <a:ea typeface="Liter" pitchFamily="34" charset="-122"/>
                <a:cs typeface="Liter" pitchFamily="34" charset="-120"/>
              </a:rPr>
              <a:t>3</a:t>
            </a:r>
            <a:endParaRPr lang="en-US" sz="1600" dirty="0"/>
          </a:p>
        </p:txBody>
      </p:sp>
      <p:sp>
        <p:nvSpPr>
          <p:cNvPr id="13" name="Text 11"/>
          <p:cNvSpPr/>
          <p:nvPr/>
        </p:nvSpPr>
        <p:spPr>
          <a:xfrm>
            <a:off x="1460500" y="4508500"/>
            <a:ext cx="13970000" cy="889000"/>
          </a:xfrm>
          <a:prstGeom prst="rect">
            <a:avLst/>
          </a:prstGeom>
          <a:noFill/>
          <a:ln/>
        </p:spPr>
        <p:txBody>
          <a:bodyPr wrap="square" lIns="0" tIns="0" rIns="0" bIns="0" rtlCol="0" anchor="ctr"/>
          <a:lstStyle/>
          <a:p>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AI has evolved through phases of </a:t>
            </a:r>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early optimism</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a:t>
            </a:r>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AI winters</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(periods of reduced funding and interest), and the current </a:t>
            </a:r>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deep learning revolution</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a:t>
            </a:r>
            <a:endParaRPr lang="en-US" sz="1600" dirty="0"/>
          </a:p>
        </p:txBody>
      </p:sp>
      <p:sp>
        <p:nvSpPr>
          <p:cNvPr id="14" name="Shape 12"/>
          <p:cNvSpPr/>
          <p:nvPr/>
        </p:nvSpPr>
        <p:spPr>
          <a:xfrm>
            <a:off x="762000" y="5715000"/>
            <a:ext cx="457200" cy="457200"/>
          </a:xfrm>
          <a:prstGeom prst="ellipse">
            <a:avLst/>
          </a:prstGeom>
          <a:solidFill>
            <a:srgbClr val="D4A574"/>
          </a:solidFill>
          <a:ln/>
        </p:spPr>
      </p:sp>
      <p:sp>
        <p:nvSpPr>
          <p:cNvPr id="15" name="Text 13"/>
          <p:cNvSpPr/>
          <p:nvPr/>
        </p:nvSpPr>
        <p:spPr>
          <a:xfrm>
            <a:off x="762000" y="5715000"/>
            <a:ext cx="457200" cy="457200"/>
          </a:xfrm>
          <a:prstGeom prst="rect">
            <a:avLst/>
          </a:prstGeom>
          <a:noFill/>
          <a:ln/>
        </p:spPr>
        <p:txBody>
          <a:bodyPr wrap="none" lIns="0" tIns="0" rIns="0" bIns="0" rtlCol="0" anchor="ctr"/>
          <a:lstStyle/>
          <a:p>
            <a:pPr algn="ctr">
              <a:lnSpc>
                <a:spcPct val="100000"/>
              </a:lnSpc>
            </a:pPr>
            <a:r>
              <a:rPr lang="en-US" sz="1800" dirty="0">
                <a:solidFill>
                  <a:srgbClr val="F5F1EC"/>
                </a:solidFill>
                <a:latin typeface="Liter" pitchFamily="34" charset="0"/>
                <a:ea typeface="Liter" pitchFamily="34" charset="-122"/>
                <a:cs typeface="Liter" pitchFamily="34" charset="-120"/>
              </a:rPr>
              <a:t>4</a:t>
            </a:r>
            <a:endParaRPr lang="en-US" sz="1600" dirty="0"/>
          </a:p>
        </p:txBody>
      </p:sp>
      <p:sp>
        <p:nvSpPr>
          <p:cNvPr id="16" name="Text 14"/>
          <p:cNvSpPr/>
          <p:nvPr/>
        </p:nvSpPr>
        <p:spPr>
          <a:xfrm>
            <a:off x="1460500" y="5651500"/>
            <a:ext cx="13970000" cy="889000"/>
          </a:xfrm>
          <a:prstGeom prst="rect">
            <a:avLst/>
          </a:prstGeom>
          <a:noFill/>
          <a:ln/>
        </p:spPr>
        <p:txBody>
          <a:bodyPr wrap="square" lIns="0" tIns="0" rIns="0" bIns="0" rtlCol="0" anchor="ctr"/>
          <a:lstStyle/>
          <a:p>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The </a:t>
            </a:r>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four key goals</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of AI are: replicating human intelligence, building intelligent systems, understanding human cognition, and creating beneficial AI.</a:t>
            </a:r>
            <a:endParaRPr lang="en-US" sz="1600" dirty="0"/>
          </a:p>
        </p:txBody>
      </p:sp>
      <p:sp>
        <p:nvSpPr>
          <p:cNvPr id="17" name="Shape 15"/>
          <p:cNvSpPr/>
          <p:nvPr/>
        </p:nvSpPr>
        <p:spPr>
          <a:xfrm>
            <a:off x="762000" y="6858000"/>
            <a:ext cx="457200" cy="457200"/>
          </a:xfrm>
          <a:prstGeom prst="ellipse">
            <a:avLst/>
          </a:prstGeom>
          <a:solidFill>
            <a:srgbClr val="D4A574"/>
          </a:solidFill>
          <a:ln/>
        </p:spPr>
      </p:sp>
      <p:sp>
        <p:nvSpPr>
          <p:cNvPr id="18" name="Text 16"/>
          <p:cNvSpPr/>
          <p:nvPr/>
        </p:nvSpPr>
        <p:spPr>
          <a:xfrm>
            <a:off x="762000" y="6858000"/>
            <a:ext cx="457200" cy="457200"/>
          </a:xfrm>
          <a:prstGeom prst="rect">
            <a:avLst/>
          </a:prstGeom>
          <a:noFill/>
          <a:ln/>
        </p:spPr>
        <p:txBody>
          <a:bodyPr wrap="none" lIns="0" tIns="0" rIns="0" bIns="0" rtlCol="0" anchor="ctr"/>
          <a:lstStyle/>
          <a:p>
            <a:pPr algn="ctr">
              <a:lnSpc>
                <a:spcPct val="100000"/>
              </a:lnSpc>
            </a:pPr>
            <a:r>
              <a:rPr lang="en-US" sz="1800" dirty="0">
                <a:solidFill>
                  <a:srgbClr val="F5F1EC"/>
                </a:solidFill>
                <a:latin typeface="Liter" pitchFamily="34" charset="0"/>
                <a:ea typeface="Liter" pitchFamily="34" charset="-122"/>
                <a:cs typeface="Liter" pitchFamily="34" charset="-120"/>
              </a:rPr>
              <a:t>5</a:t>
            </a:r>
            <a:endParaRPr lang="en-US" sz="1600" dirty="0"/>
          </a:p>
        </p:txBody>
      </p:sp>
      <p:sp>
        <p:nvSpPr>
          <p:cNvPr id="19" name="Text 17"/>
          <p:cNvSpPr/>
          <p:nvPr/>
        </p:nvSpPr>
        <p:spPr>
          <a:xfrm>
            <a:off x="1460500" y="6794500"/>
            <a:ext cx="13970000" cy="889000"/>
          </a:xfrm>
          <a:prstGeom prst="rect">
            <a:avLst/>
          </a:prstGeom>
          <a:noFill/>
          <a:ln/>
        </p:spPr>
        <p:txBody>
          <a:bodyPr wrap="square" lIns="0" tIns="0" rIns="0" bIns="0" rtlCol="0" anchor="ctr"/>
          <a:lstStyle/>
          <a:p>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AI is transforming virtually </a:t>
            </a:r>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every industry and aspect of modern life</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 from healthcare and finance to education and entertainment.</a:t>
            </a:r>
            <a:endParaRPr lang="en-US" sz="1600" dirty="0"/>
          </a:p>
        </p:txBody>
      </p:sp>
      <p:sp>
        <p:nvSpPr>
          <p:cNvPr id="20" name="Text 18"/>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14</a:t>
            </a:r>
            <a:endParaRPr lang="en-US" sz="14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ttps://kimi-img.moonshot.cn/pub/slides/okc/l62xu63prt7y4/mnt/agents/output/ai-course/images/5_Abstract_futuristic_digital_and_technology.png">    </p:cNvPr>
          <p:cNvPicPr>
            <a:picLocks noChangeAspect="1"/>
          </p:cNvPicPr>
          <p:nvPr/>
        </p:nvPicPr>
        <p:blipFill>
          <a:blip r:embed="rId1"/>
          <a:srcRect l="586" r="586"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2D3436">
                  <a:alpha val="94000"/>
                </a:srgbClr>
              </a:gs>
              <a:gs pos="60000">
                <a:srgbClr val="2D3436">
                  <a:alpha val="87000"/>
                </a:srgbClr>
              </a:gs>
              <a:gs pos="100000">
                <a:srgbClr val="2D3436">
                  <a:alpha val="67000"/>
                </a:srgbClr>
              </a:gs>
            </a:gsLst>
            <a:lin ang="0" scaled="1"/>
          </a:gradFill>
          <a:ln w="12700">
            <a:solidFill>
              <a:srgbClr val="333333"/>
            </a:solidFill>
            <a:prstDash val="solid"/>
          </a:ln>
        </p:spPr>
      </p:sp>
      <p:sp>
        <p:nvSpPr>
          <p:cNvPr id="4" name="Text 1"/>
          <p:cNvSpPr/>
          <p:nvPr/>
        </p:nvSpPr>
        <p:spPr>
          <a:xfrm>
            <a:off x="762000" y="1524000"/>
            <a:ext cx="5080000" cy="2540000"/>
          </a:xfrm>
          <a:prstGeom prst="rect">
            <a:avLst/>
          </a:prstGeom>
          <a:noFill/>
          <a:ln/>
        </p:spPr>
        <p:txBody>
          <a:bodyPr wrap="none" lIns="0" tIns="0" rIns="0" bIns="0" rtlCol="0" anchor="ctr"/>
          <a:lstStyle/>
          <a:p>
            <a:pPr>
              <a:lnSpc>
                <a:spcPct val="100000"/>
              </a:lnSpc>
            </a:pPr>
            <a:r>
              <a:rPr lang="en-US" sz="18000" dirty="0">
                <a:solidFill>
                  <a:srgbClr val="F5F1EC">
                    <a:alpha val="8000"/>
                  </a:srgbClr>
                </a:solidFill>
                <a:latin typeface="Liter" pitchFamily="34" charset="0"/>
                <a:ea typeface="Liter" pitchFamily="34" charset="-122"/>
                <a:cs typeface="Liter" pitchFamily="34" charset="-120"/>
              </a:rPr>
              <a:t>02</a:t>
            </a:r>
            <a:endParaRPr lang="en-US" sz="1600" dirty="0"/>
          </a:p>
        </p:txBody>
      </p:sp>
      <p:sp>
        <p:nvSpPr>
          <p:cNvPr id="5" name="Shape 2"/>
          <p:cNvSpPr/>
          <p:nvPr/>
        </p:nvSpPr>
        <p:spPr>
          <a:xfrm>
            <a:off x="762000" y="4318000"/>
            <a:ext cx="1016000" cy="50800"/>
          </a:xfrm>
          <a:prstGeom prst="rect">
            <a:avLst/>
          </a:prstGeom>
          <a:solidFill>
            <a:srgbClr val="D4A574"/>
          </a:solidFill>
          <a:ln/>
        </p:spPr>
      </p:sp>
      <p:sp>
        <p:nvSpPr>
          <p:cNvPr id="6" name="Text 3"/>
          <p:cNvSpPr/>
          <p:nvPr/>
        </p:nvSpPr>
        <p:spPr>
          <a:xfrm>
            <a:off x="762000" y="4572000"/>
            <a:ext cx="3810000" cy="254000"/>
          </a:xfrm>
          <a:prstGeom prst="rect">
            <a:avLst/>
          </a:prstGeom>
          <a:noFill/>
          <a:ln/>
        </p:spPr>
        <p:txBody>
          <a:bodyPr wrap="none" lIns="0" tIns="0" rIns="0" bIns="0" rtlCol="0" anchor="ctr"/>
          <a:lstStyle/>
          <a:p>
            <a:pPr>
              <a:lnSpc>
                <a:spcPct val="100000"/>
              </a:lnSpc>
            </a:pPr>
            <a:r>
              <a:rPr lang="en-US" sz="1200" spc="200" kern="0" dirty="0">
                <a:solidFill>
                  <a:srgbClr val="D4A574"/>
                </a:solidFill>
                <a:latin typeface="Liter" pitchFamily="34" charset="0"/>
                <a:ea typeface="Liter" pitchFamily="34" charset="-122"/>
                <a:cs typeface="Liter" pitchFamily="34" charset="-120"/>
              </a:rPr>
              <a:t>CHAPTER TWO</a:t>
            </a:r>
            <a:endParaRPr lang="en-US" sz="1200" dirty="0"/>
          </a:p>
        </p:txBody>
      </p:sp>
      <p:sp>
        <p:nvSpPr>
          <p:cNvPr id="7" name="Text 4"/>
          <p:cNvSpPr/>
          <p:nvPr/>
        </p:nvSpPr>
        <p:spPr>
          <a:xfrm>
            <a:off x="762000" y="5016500"/>
            <a:ext cx="10160000" cy="889000"/>
          </a:xfrm>
          <a:prstGeom prst="rect">
            <a:avLst/>
          </a:prstGeom>
          <a:noFill/>
          <a:ln/>
        </p:spPr>
        <p:txBody>
          <a:bodyPr wrap="none" lIns="0" tIns="0" rIns="0" bIns="0" rtlCol="0" anchor="ctr"/>
          <a:lstStyle/>
          <a:p>
            <a:pPr>
              <a:lnSpc>
                <a:spcPct val="100000"/>
              </a:lnSpc>
            </a:pPr>
            <a:r>
              <a:rPr lang="en-US" sz="4800" spc="300" kern="0" dirty="0">
                <a:solidFill>
                  <a:srgbClr val="F5F1EC"/>
                </a:solidFill>
                <a:latin typeface="Liter" pitchFamily="34" charset="0"/>
                <a:ea typeface="Liter" pitchFamily="34" charset="-122"/>
                <a:cs typeface="Liter" pitchFamily="34" charset="-120"/>
              </a:rPr>
              <a:t>THE FOUR APPROACHES TO AI</a:t>
            </a:r>
            <a:endParaRPr lang="en-US" sz="4800" dirty="0"/>
          </a:p>
        </p:txBody>
      </p:sp>
      <p:sp>
        <p:nvSpPr>
          <p:cNvPr id="8" name="Text 5"/>
          <p:cNvSpPr/>
          <p:nvPr/>
        </p:nvSpPr>
        <p:spPr>
          <a:xfrm>
            <a:off x="762000" y="6032500"/>
            <a:ext cx="10160000" cy="444500"/>
          </a:xfrm>
          <a:prstGeom prst="rect">
            <a:avLst/>
          </a:prstGeom>
          <a:noFill/>
          <a:ln/>
        </p:spPr>
        <p:txBody>
          <a:bodyPr wrap="none" lIns="0" tIns="0" rIns="0" bIns="0" rtlCol="0" anchor="ctr"/>
          <a:lstStyle/>
          <a:p>
            <a:pPr>
              <a:lnSpc>
                <a:spcPct val="100000"/>
              </a:lnSpc>
            </a:pPr>
            <a:r>
              <a:rPr lang="en-US" sz="2000" dirty="0">
                <a:solidFill>
                  <a:srgbClr val="F5F1EC">
                    <a:alpha val="73333"/>
                  </a:srgbClr>
                </a:solidFill>
                <a:latin typeface="Quattrocento Sans" pitchFamily="34" charset="0"/>
                <a:ea typeface="Quattrocento Sans" pitchFamily="34" charset="-122"/>
                <a:cs typeface="Quattrocento Sans" pitchFamily="34" charset="-120"/>
              </a:rPr>
              <a:t>Acting Humanly, Thinking Humanly, Thinking Rationally, Acting Rationally</a:t>
            </a:r>
            <a:endParaRPr lang="en-US" sz="1600" dirty="0"/>
          </a:p>
        </p:txBody>
      </p:sp>
      <p:sp>
        <p:nvSpPr>
          <p:cNvPr id="9" name="Text 6"/>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200" dirty="0">
                <a:solidFill>
                  <a:srgbClr val="F5F1EC">
                    <a:alpha val="40000"/>
                  </a:srgbClr>
                </a:solidFill>
                <a:latin typeface="Liter" pitchFamily="34" charset="0"/>
                <a:ea typeface="Liter" pitchFamily="34" charset="-122"/>
                <a:cs typeface="Liter" pitchFamily="34" charset="-120"/>
              </a:rPr>
              <a:t>15</a:t>
            </a:r>
            <a:endParaRPr lang="en-US" sz="16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The Four Approaches — A Framework for AI</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Text 3"/>
          <p:cNvSpPr/>
          <p:nvPr/>
        </p:nvSpPr>
        <p:spPr>
          <a:xfrm>
            <a:off x="762000" y="2095500"/>
            <a:ext cx="14732000" cy="762000"/>
          </a:xfrm>
          <a:prstGeom prst="rect">
            <a:avLst/>
          </a:prstGeom>
          <a:noFill/>
          <a:ln/>
        </p:spPr>
        <p:txBody>
          <a:bodyPr wrap="square" lIns="0" tIns="0" rIns="0" bIns="0" rtlCol="0" anchor="ctr"/>
          <a:lstStyle/>
          <a:p>
            <a:pPr>
              <a:lnSpc>
                <a:spcPct val="150000"/>
              </a:lnSpc>
            </a:pPr>
            <a:r>
              <a:rPr lang="en-US" sz="1800" dirty="0">
                <a:solidFill>
                  <a:srgbClr val="636E72"/>
                </a:solidFill>
                <a:latin typeface="Quattrocento Sans" pitchFamily="34" charset="0"/>
                <a:ea typeface="Quattrocento Sans" pitchFamily="34" charset="-122"/>
                <a:cs typeface="Quattrocento Sans" pitchFamily="34" charset="-120"/>
              </a:rPr>
              <a:t>The field of AI can be understood through four fundamental approaches, organized along two key dimensions:</a:t>
            </a:r>
            <a:endParaRPr lang="en-US" sz="1600" dirty="0"/>
          </a:p>
        </p:txBody>
      </p:sp>
      <p:sp>
        <p:nvSpPr>
          <p:cNvPr id="6" name="Text 4"/>
          <p:cNvSpPr/>
          <p:nvPr/>
        </p:nvSpPr>
        <p:spPr>
          <a:xfrm>
            <a:off x="4318000" y="3048000"/>
            <a:ext cx="7620000" cy="304800"/>
          </a:xfrm>
          <a:prstGeom prst="rect">
            <a:avLst/>
          </a:prstGeom>
          <a:noFill/>
          <a:ln/>
        </p:spPr>
        <p:txBody>
          <a:bodyPr wrap="none" lIns="0" tIns="0" rIns="0" bIns="0" rtlCol="0" anchor="ctr"/>
          <a:lstStyle/>
          <a:p>
            <a:pPr algn="ctr">
              <a:lnSpc>
                <a:spcPct val="100000"/>
              </a:lnSpc>
            </a:pPr>
            <a:r>
              <a:rPr lang="en-US" sz="1400" spc="200" kern="0" dirty="0">
                <a:solidFill>
                  <a:srgbClr val="636E72"/>
                </a:solidFill>
                <a:latin typeface="Liter" pitchFamily="34" charset="0"/>
                <a:ea typeface="Liter" pitchFamily="34" charset="-122"/>
                <a:cs typeface="Liter" pitchFamily="34" charset="-120"/>
              </a:rPr>
              <a:t>HUMAN-LIKE ←————————————————→ IDEAL / RATIONAL</a:t>
            </a:r>
            <a:endParaRPr lang="en-US" sz="1600" dirty="0"/>
          </a:p>
        </p:txBody>
      </p:sp>
      <p:sp>
        <p:nvSpPr>
          <p:cNvPr id="7" name="Text 5"/>
          <p:cNvSpPr/>
          <p:nvPr/>
        </p:nvSpPr>
        <p:spPr>
          <a:xfrm rot="-5400000">
            <a:off x="254000" y="4826000"/>
            <a:ext cx="3302000" cy="304800"/>
          </a:xfrm>
          <a:prstGeom prst="rect">
            <a:avLst/>
          </a:prstGeom>
          <a:noFill/>
          <a:ln/>
        </p:spPr>
        <p:txBody>
          <a:bodyPr wrap="none" lIns="0" tIns="0" rIns="0" bIns="0" rtlCol="0" anchor="ctr"/>
          <a:lstStyle/>
          <a:p>
            <a:pPr algn="ctr">
              <a:lnSpc>
                <a:spcPct val="100000"/>
              </a:lnSpc>
            </a:pPr>
            <a:r>
              <a:rPr lang="en-US" sz="1200" spc="100" kern="0" dirty="0">
                <a:solidFill>
                  <a:srgbClr val="636E72"/>
                </a:solidFill>
                <a:latin typeface="Liter" pitchFamily="34" charset="0"/>
                <a:ea typeface="Liter" pitchFamily="34" charset="-122"/>
                <a:cs typeface="Liter" pitchFamily="34" charset="-120"/>
              </a:rPr>
              <a:t>THOUGHT ←——————→ ACTION</a:t>
            </a:r>
            <a:endParaRPr lang="en-US" sz="1600" dirty="0"/>
          </a:p>
        </p:txBody>
      </p:sp>
      <p:sp>
        <p:nvSpPr>
          <p:cNvPr id="8" name="Shape 6"/>
          <p:cNvSpPr/>
          <p:nvPr/>
        </p:nvSpPr>
        <p:spPr>
          <a:xfrm>
            <a:off x="3556000" y="3556000"/>
            <a:ext cx="5969000" cy="2159000"/>
          </a:xfrm>
          <a:prstGeom prst="rect">
            <a:avLst/>
          </a:prstGeom>
          <a:solidFill>
            <a:srgbClr val="EDE8E1"/>
          </a:solidFill>
          <a:ln/>
        </p:spPr>
      </p:sp>
      <p:sp>
        <p:nvSpPr>
          <p:cNvPr id="9" name="Shape 7"/>
          <p:cNvSpPr/>
          <p:nvPr/>
        </p:nvSpPr>
        <p:spPr>
          <a:xfrm>
            <a:off x="3556000" y="3556000"/>
            <a:ext cx="5969000" cy="50800"/>
          </a:xfrm>
          <a:prstGeom prst="rect">
            <a:avLst/>
          </a:prstGeom>
          <a:solidFill>
            <a:srgbClr val="D4A574"/>
          </a:solidFill>
          <a:ln/>
        </p:spPr>
      </p:sp>
      <p:sp>
        <p:nvSpPr>
          <p:cNvPr id="10" name="Text 8"/>
          <p:cNvSpPr/>
          <p:nvPr/>
        </p:nvSpPr>
        <p:spPr>
          <a:xfrm>
            <a:off x="3810000" y="3746500"/>
            <a:ext cx="5461000" cy="330200"/>
          </a:xfrm>
          <a:prstGeom prst="rect">
            <a:avLst/>
          </a:prstGeom>
          <a:noFill/>
          <a:ln/>
        </p:spPr>
        <p:txBody>
          <a:bodyPr wrap="none" lIns="0" tIns="0" rIns="0" bIns="0" rtlCol="0" anchor="ctr"/>
          <a:lstStyle/>
          <a:p>
            <a:pPr>
              <a:lnSpc>
                <a:spcPct val="100000"/>
              </a:lnSpc>
            </a:pPr>
            <a:r>
              <a:rPr lang="en-US" sz="1800" b="1" dirty="0">
                <a:solidFill>
                  <a:srgbClr val="2D3436"/>
                </a:solidFill>
                <a:latin typeface="Liter" pitchFamily="34" charset="0"/>
                <a:ea typeface="Liter" pitchFamily="34" charset="-122"/>
                <a:cs typeface="Liter" pitchFamily="34" charset="-120"/>
              </a:rPr>
              <a:t>Thinking Humanly</a:t>
            </a:r>
            <a:endParaRPr lang="en-US" sz="1600" dirty="0"/>
          </a:p>
        </p:txBody>
      </p:sp>
      <p:sp>
        <p:nvSpPr>
          <p:cNvPr id="11" name="Text 9"/>
          <p:cNvSpPr/>
          <p:nvPr/>
        </p:nvSpPr>
        <p:spPr>
          <a:xfrm>
            <a:off x="3810000" y="4089400"/>
            <a:ext cx="5461000" cy="279400"/>
          </a:xfrm>
          <a:prstGeom prst="rect">
            <a:avLst/>
          </a:prstGeom>
          <a:noFill/>
          <a:ln/>
        </p:spPr>
        <p:txBody>
          <a:bodyPr wrap="none" lIns="0" tIns="0" rIns="0" bIns="0" rtlCol="0" anchor="ctr"/>
          <a:lstStyle/>
          <a:p>
            <a:pPr>
              <a:lnSpc>
                <a:spcPct val="100000"/>
              </a:lnSpc>
            </a:pPr>
            <a:r>
              <a:rPr lang="en-US" sz="1400" dirty="0">
                <a:solidFill>
                  <a:srgbClr val="D4A574"/>
                </a:solidFill>
                <a:latin typeface="Quattrocento Sans" pitchFamily="34" charset="0"/>
                <a:ea typeface="Quattrocento Sans" pitchFamily="34" charset="-122"/>
                <a:cs typeface="Quattrocento Sans" pitchFamily="34" charset="-120"/>
              </a:rPr>
              <a:t>Cognitive Modeling</a:t>
            </a:r>
            <a:endParaRPr lang="en-US" sz="1600" dirty="0"/>
          </a:p>
        </p:txBody>
      </p:sp>
      <p:sp>
        <p:nvSpPr>
          <p:cNvPr id="12" name="Text 10"/>
          <p:cNvSpPr/>
          <p:nvPr/>
        </p:nvSpPr>
        <p:spPr>
          <a:xfrm>
            <a:off x="3810000" y="4445000"/>
            <a:ext cx="5461000" cy="1016000"/>
          </a:xfrm>
          <a:prstGeom prst="rect">
            <a:avLst/>
          </a:prstGeom>
          <a:noFill/>
          <a:ln/>
        </p:spPr>
        <p:txBody>
          <a:bodyPr wrap="square" lIns="0" tIns="0" rIns="0" bIns="0" rtlCol="0" anchor="ctr"/>
          <a:lstStyle/>
          <a:p>
            <a:pPr>
              <a:lnSpc>
                <a:spcPct val="140000"/>
              </a:lnSpc>
            </a:pPr>
            <a:r>
              <a:rPr lang="en-US" sz="1500" dirty="0">
                <a:solidFill>
                  <a:srgbClr val="2D3436"/>
                </a:solidFill>
                <a:latin typeface="Quattrocento Sans" pitchFamily="34" charset="0"/>
                <a:ea typeface="Quattrocento Sans" pitchFamily="34" charset="-122"/>
                <a:cs typeface="Quattrocento Sans" pitchFamily="34" charset="-120"/>
              </a:rPr>
              <a:t>Build systems that replicate human thought processes through introspection and psychological experiments.</a:t>
            </a:r>
            <a:endParaRPr lang="en-US" sz="1600" dirty="0"/>
          </a:p>
        </p:txBody>
      </p:sp>
      <p:sp>
        <p:nvSpPr>
          <p:cNvPr id="13" name="Shape 11"/>
          <p:cNvSpPr/>
          <p:nvPr/>
        </p:nvSpPr>
        <p:spPr>
          <a:xfrm>
            <a:off x="9779000" y="3556000"/>
            <a:ext cx="5715000" cy="2159000"/>
          </a:xfrm>
          <a:prstGeom prst="rect">
            <a:avLst/>
          </a:prstGeom>
          <a:solidFill>
            <a:srgbClr val="EDE8E1"/>
          </a:solidFill>
          <a:ln/>
        </p:spPr>
      </p:sp>
      <p:sp>
        <p:nvSpPr>
          <p:cNvPr id="14" name="Shape 12"/>
          <p:cNvSpPr/>
          <p:nvPr/>
        </p:nvSpPr>
        <p:spPr>
          <a:xfrm>
            <a:off x="9779000" y="3556000"/>
            <a:ext cx="5715000" cy="50800"/>
          </a:xfrm>
          <a:prstGeom prst="rect">
            <a:avLst/>
          </a:prstGeom>
          <a:solidFill>
            <a:srgbClr val="2D3436"/>
          </a:solidFill>
          <a:ln/>
        </p:spPr>
      </p:sp>
      <p:sp>
        <p:nvSpPr>
          <p:cNvPr id="15" name="Text 13"/>
          <p:cNvSpPr/>
          <p:nvPr/>
        </p:nvSpPr>
        <p:spPr>
          <a:xfrm>
            <a:off x="10033000" y="3746500"/>
            <a:ext cx="5207000" cy="330200"/>
          </a:xfrm>
          <a:prstGeom prst="rect">
            <a:avLst/>
          </a:prstGeom>
          <a:noFill/>
          <a:ln/>
        </p:spPr>
        <p:txBody>
          <a:bodyPr wrap="none" lIns="0" tIns="0" rIns="0" bIns="0" rtlCol="0" anchor="ctr"/>
          <a:lstStyle/>
          <a:p>
            <a:pPr>
              <a:lnSpc>
                <a:spcPct val="100000"/>
              </a:lnSpc>
            </a:pPr>
            <a:r>
              <a:rPr lang="en-US" sz="1800" b="1" dirty="0">
                <a:solidFill>
                  <a:srgbClr val="2D3436"/>
                </a:solidFill>
                <a:latin typeface="Liter" pitchFamily="34" charset="0"/>
                <a:ea typeface="Liter" pitchFamily="34" charset="-122"/>
                <a:cs typeface="Liter" pitchFamily="34" charset="-120"/>
              </a:rPr>
              <a:t>Thinking Rationally</a:t>
            </a:r>
            <a:endParaRPr lang="en-US" sz="1600" dirty="0"/>
          </a:p>
        </p:txBody>
      </p:sp>
      <p:sp>
        <p:nvSpPr>
          <p:cNvPr id="16" name="Text 14"/>
          <p:cNvSpPr/>
          <p:nvPr/>
        </p:nvSpPr>
        <p:spPr>
          <a:xfrm>
            <a:off x="10033000" y="4089400"/>
            <a:ext cx="5207000" cy="279400"/>
          </a:xfrm>
          <a:prstGeom prst="rect">
            <a:avLst/>
          </a:prstGeom>
          <a:noFill/>
          <a:ln/>
        </p:spPr>
        <p:txBody>
          <a:bodyPr wrap="none" lIns="0" tIns="0" rIns="0" bIns="0" rtlCol="0" anchor="ctr"/>
          <a:lstStyle/>
          <a:p>
            <a:pPr>
              <a:lnSpc>
                <a:spcPct val="100000"/>
              </a:lnSpc>
            </a:pPr>
            <a:r>
              <a:rPr lang="en-US" sz="1400" dirty="0">
                <a:solidFill>
                  <a:srgbClr val="D4A574"/>
                </a:solidFill>
                <a:latin typeface="Quattrocento Sans" pitchFamily="34" charset="0"/>
                <a:ea typeface="Quattrocento Sans" pitchFamily="34" charset="-122"/>
                <a:cs typeface="Quattrocento Sans" pitchFamily="34" charset="-120"/>
              </a:rPr>
              <a:t>Laws of Thought</a:t>
            </a:r>
            <a:endParaRPr lang="en-US" sz="1600" dirty="0"/>
          </a:p>
        </p:txBody>
      </p:sp>
      <p:sp>
        <p:nvSpPr>
          <p:cNvPr id="17" name="Text 15"/>
          <p:cNvSpPr/>
          <p:nvPr/>
        </p:nvSpPr>
        <p:spPr>
          <a:xfrm>
            <a:off x="10033000" y="4445000"/>
            <a:ext cx="5207000" cy="1016000"/>
          </a:xfrm>
          <a:prstGeom prst="rect">
            <a:avLst/>
          </a:prstGeom>
          <a:noFill/>
          <a:ln/>
        </p:spPr>
        <p:txBody>
          <a:bodyPr wrap="square" lIns="0" tIns="0" rIns="0" bIns="0" rtlCol="0" anchor="ctr"/>
          <a:lstStyle/>
          <a:p>
            <a:pPr>
              <a:lnSpc>
                <a:spcPct val="140000"/>
              </a:lnSpc>
            </a:pPr>
            <a:r>
              <a:rPr lang="en-US" sz="1500" dirty="0">
                <a:solidFill>
                  <a:srgbClr val="2D3436"/>
                </a:solidFill>
                <a:latin typeface="Quattrocento Sans" pitchFamily="34" charset="0"/>
                <a:ea typeface="Quattrocento Sans" pitchFamily="34" charset="-122"/>
                <a:cs typeface="Quattrocento Sans" pitchFamily="34" charset="-120"/>
              </a:rPr>
              <a:t>Use formal logic to capture laws of rational thought and manipulate symbols according to well-defined rules.</a:t>
            </a:r>
            <a:endParaRPr lang="en-US" sz="1600" dirty="0"/>
          </a:p>
        </p:txBody>
      </p:sp>
      <p:sp>
        <p:nvSpPr>
          <p:cNvPr id="18" name="Shape 16"/>
          <p:cNvSpPr/>
          <p:nvPr/>
        </p:nvSpPr>
        <p:spPr>
          <a:xfrm>
            <a:off x="3556000" y="5969000"/>
            <a:ext cx="5969000" cy="2159000"/>
          </a:xfrm>
          <a:prstGeom prst="rect">
            <a:avLst/>
          </a:prstGeom>
          <a:solidFill>
            <a:srgbClr val="EDE8E1"/>
          </a:solidFill>
          <a:ln/>
        </p:spPr>
      </p:sp>
      <p:sp>
        <p:nvSpPr>
          <p:cNvPr id="19" name="Shape 17"/>
          <p:cNvSpPr/>
          <p:nvPr/>
        </p:nvSpPr>
        <p:spPr>
          <a:xfrm>
            <a:off x="3556000" y="5969000"/>
            <a:ext cx="5969000" cy="50800"/>
          </a:xfrm>
          <a:prstGeom prst="rect">
            <a:avLst/>
          </a:prstGeom>
          <a:solidFill>
            <a:srgbClr val="2D3436"/>
          </a:solidFill>
          <a:ln/>
        </p:spPr>
      </p:sp>
      <p:sp>
        <p:nvSpPr>
          <p:cNvPr id="20" name="Text 18"/>
          <p:cNvSpPr/>
          <p:nvPr/>
        </p:nvSpPr>
        <p:spPr>
          <a:xfrm>
            <a:off x="3810000" y="6159500"/>
            <a:ext cx="5461000" cy="330200"/>
          </a:xfrm>
          <a:prstGeom prst="rect">
            <a:avLst/>
          </a:prstGeom>
          <a:noFill/>
          <a:ln/>
        </p:spPr>
        <p:txBody>
          <a:bodyPr wrap="none" lIns="0" tIns="0" rIns="0" bIns="0" rtlCol="0" anchor="ctr"/>
          <a:lstStyle/>
          <a:p>
            <a:pPr>
              <a:lnSpc>
                <a:spcPct val="100000"/>
              </a:lnSpc>
            </a:pPr>
            <a:r>
              <a:rPr lang="en-US" sz="1800" b="1" dirty="0">
                <a:solidFill>
                  <a:srgbClr val="2D3436"/>
                </a:solidFill>
                <a:latin typeface="Liter" pitchFamily="34" charset="0"/>
                <a:ea typeface="Liter" pitchFamily="34" charset="-122"/>
                <a:cs typeface="Liter" pitchFamily="34" charset="-120"/>
              </a:rPr>
              <a:t>Acting Humanly</a:t>
            </a:r>
            <a:endParaRPr lang="en-US" sz="1600" dirty="0"/>
          </a:p>
        </p:txBody>
      </p:sp>
      <p:sp>
        <p:nvSpPr>
          <p:cNvPr id="21" name="Text 19"/>
          <p:cNvSpPr/>
          <p:nvPr/>
        </p:nvSpPr>
        <p:spPr>
          <a:xfrm>
            <a:off x="3810000" y="6502400"/>
            <a:ext cx="5461000" cy="279400"/>
          </a:xfrm>
          <a:prstGeom prst="rect">
            <a:avLst/>
          </a:prstGeom>
          <a:noFill/>
          <a:ln/>
        </p:spPr>
        <p:txBody>
          <a:bodyPr wrap="none" lIns="0" tIns="0" rIns="0" bIns="0" rtlCol="0" anchor="ctr"/>
          <a:lstStyle/>
          <a:p>
            <a:pPr>
              <a:lnSpc>
                <a:spcPct val="100000"/>
              </a:lnSpc>
            </a:pPr>
            <a:r>
              <a:rPr lang="en-US" sz="1400" dirty="0">
                <a:solidFill>
                  <a:srgbClr val="D4A574"/>
                </a:solidFill>
                <a:latin typeface="Quattrocento Sans" pitchFamily="34" charset="0"/>
                <a:ea typeface="Quattrocento Sans" pitchFamily="34" charset="-122"/>
                <a:cs typeface="Quattrocento Sans" pitchFamily="34" charset="-120"/>
              </a:rPr>
              <a:t>The Turing Test</a:t>
            </a:r>
            <a:endParaRPr lang="en-US" sz="1600" dirty="0"/>
          </a:p>
        </p:txBody>
      </p:sp>
      <p:sp>
        <p:nvSpPr>
          <p:cNvPr id="22" name="Text 20"/>
          <p:cNvSpPr/>
          <p:nvPr/>
        </p:nvSpPr>
        <p:spPr>
          <a:xfrm>
            <a:off x="3810000" y="6858000"/>
            <a:ext cx="5461000" cy="1016000"/>
          </a:xfrm>
          <a:prstGeom prst="rect">
            <a:avLst/>
          </a:prstGeom>
          <a:noFill/>
          <a:ln/>
        </p:spPr>
        <p:txBody>
          <a:bodyPr wrap="square" lIns="0" tIns="0" rIns="0" bIns="0" rtlCol="0" anchor="ctr"/>
          <a:lstStyle/>
          <a:p>
            <a:pPr>
              <a:lnSpc>
                <a:spcPct val="140000"/>
              </a:lnSpc>
            </a:pPr>
            <a:r>
              <a:rPr lang="en-US" sz="1500" dirty="0">
                <a:solidFill>
                  <a:srgbClr val="2D3436"/>
                </a:solidFill>
                <a:latin typeface="Quattrocento Sans" pitchFamily="34" charset="0"/>
                <a:ea typeface="Quattrocento Sans" pitchFamily="34" charset="-122"/>
                <a:cs typeface="Quattrocento Sans" pitchFamily="34" charset="-120"/>
              </a:rPr>
              <a:t>Create systems whose behavior is indistinguishable from humans — focusing on external actions rather than internal processes.</a:t>
            </a:r>
            <a:endParaRPr lang="en-US" sz="1600" dirty="0"/>
          </a:p>
        </p:txBody>
      </p:sp>
      <p:sp>
        <p:nvSpPr>
          <p:cNvPr id="23" name="Shape 21"/>
          <p:cNvSpPr/>
          <p:nvPr/>
        </p:nvSpPr>
        <p:spPr>
          <a:xfrm>
            <a:off x="9779000" y="5969000"/>
            <a:ext cx="5715000" cy="2159000"/>
          </a:xfrm>
          <a:prstGeom prst="rect">
            <a:avLst/>
          </a:prstGeom>
          <a:solidFill>
            <a:srgbClr val="2D3436"/>
          </a:solidFill>
          <a:ln/>
        </p:spPr>
      </p:sp>
      <p:sp>
        <p:nvSpPr>
          <p:cNvPr id="24" name="Shape 22"/>
          <p:cNvSpPr/>
          <p:nvPr/>
        </p:nvSpPr>
        <p:spPr>
          <a:xfrm>
            <a:off x="9779000" y="5969000"/>
            <a:ext cx="5715000" cy="50800"/>
          </a:xfrm>
          <a:prstGeom prst="rect">
            <a:avLst/>
          </a:prstGeom>
          <a:solidFill>
            <a:srgbClr val="D4A574"/>
          </a:solidFill>
          <a:ln/>
        </p:spPr>
      </p:sp>
      <p:sp>
        <p:nvSpPr>
          <p:cNvPr id="25" name="Text 23"/>
          <p:cNvSpPr/>
          <p:nvPr/>
        </p:nvSpPr>
        <p:spPr>
          <a:xfrm>
            <a:off x="10033000" y="6159500"/>
            <a:ext cx="5207000" cy="330200"/>
          </a:xfrm>
          <a:prstGeom prst="rect">
            <a:avLst/>
          </a:prstGeom>
          <a:noFill/>
          <a:ln/>
        </p:spPr>
        <p:txBody>
          <a:bodyPr wrap="none" lIns="0" tIns="0" rIns="0" bIns="0" rtlCol="0" anchor="ctr"/>
          <a:lstStyle/>
          <a:p>
            <a:pPr>
              <a:lnSpc>
                <a:spcPct val="100000"/>
              </a:lnSpc>
            </a:pPr>
            <a:r>
              <a:rPr lang="en-US" sz="1800" b="1" dirty="0">
                <a:solidFill>
                  <a:srgbClr val="F5F1EC"/>
                </a:solidFill>
                <a:latin typeface="Liter" pitchFamily="34" charset="0"/>
                <a:ea typeface="Liter" pitchFamily="34" charset="-122"/>
                <a:cs typeface="Liter" pitchFamily="34" charset="-120"/>
              </a:rPr>
              <a:t>Acting Rationally</a:t>
            </a:r>
            <a:endParaRPr lang="en-US" sz="1600" dirty="0"/>
          </a:p>
        </p:txBody>
      </p:sp>
      <p:sp>
        <p:nvSpPr>
          <p:cNvPr id="26" name="Text 24"/>
          <p:cNvSpPr/>
          <p:nvPr/>
        </p:nvSpPr>
        <p:spPr>
          <a:xfrm>
            <a:off x="10033000" y="6502400"/>
            <a:ext cx="5207000" cy="279400"/>
          </a:xfrm>
          <a:prstGeom prst="rect">
            <a:avLst/>
          </a:prstGeom>
          <a:noFill/>
          <a:ln/>
        </p:spPr>
        <p:txBody>
          <a:bodyPr wrap="none" lIns="0" tIns="0" rIns="0" bIns="0" rtlCol="0" anchor="ctr"/>
          <a:lstStyle/>
          <a:p>
            <a:pPr>
              <a:lnSpc>
                <a:spcPct val="100000"/>
              </a:lnSpc>
            </a:pPr>
            <a:r>
              <a:rPr lang="en-US" sz="1400" dirty="0">
                <a:solidFill>
                  <a:srgbClr val="D4A574"/>
                </a:solidFill>
                <a:latin typeface="Quattrocento Sans" pitchFamily="34" charset="0"/>
                <a:ea typeface="Quattrocento Sans" pitchFamily="34" charset="-122"/>
                <a:cs typeface="Quattrocento Sans" pitchFamily="34" charset="-120"/>
              </a:rPr>
              <a:t>The Rational Agent</a:t>
            </a:r>
            <a:endParaRPr lang="en-US" sz="1600" dirty="0"/>
          </a:p>
        </p:txBody>
      </p:sp>
      <p:sp>
        <p:nvSpPr>
          <p:cNvPr id="27" name="Text 25"/>
          <p:cNvSpPr/>
          <p:nvPr/>
        </p:nvSpPr>
        <p:spPr>
          <a:xfrm>
            <a:off x="10033000" y="6858000"/>
            <a:ext cx="5207000" cy="1016000"/>
          </a:xfrm>
          <a:prstGeom prst="rect">
            <a:avLst/>
          </a:prstGeom>
          <a:noFill/>
          <a:ln/>
        </p:spPr>
        <p:txBody>
          <a:bodyPr wrap="square" lIns="0" tIns="0" rIns="0" bIns="0" rtlCol="0" anchor="ctr"/>
          <a:lstStyle/>
          <a:p>
            <a:pPr>
              <a:lnSpc>
                <a:spcPct val="140000"/>
              </a:lnSpc>
            </a:pPr>
            <a:r>
              <a:rPr lang="en-US" sz="1500" dirty="0">
                <a:solidFill>
                  <a:srgbClr val="F5F1EC"/>
                </a:solidFill>
                <a:latin typeface="Quattrocento Sans" pitchFamily="34" charset="0"/>
                <a:ea typeface="Quattrocento Sans" pitchFamily="34" charset="-122"/>
                <a:cs typeface="Quattrocento Sans" pitchFamily="34" charset="-120"/>
              </a:rPr>
              <a:t>Build agents that act to achieve the best expected outcome — the dominant approach in modern AI research.</a:t>
            </a:r>
            <a:endParaRPr lang="en-US" sz="1600" dirty="0"/>
          </a:p>
        </p:txBody>
      </p:sp>
      <p:sp>
        <p:nvSpPr>
          <p:cNvPr id="28" name="Text 26"/>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16</a:t>
            </a:r>
            <a:endParaRPr lang="en-US" sz="14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Acting Humanly — The Turing Test Approach</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Text 3"/>
          <p:cNvSpPr/>
          <p:nvPr/>
        </p:nvSpPr>
        <p:spPr>
          <a:xfrm>
            <a:off x="762000" y="2159000"/>
            <a:ext cx="7874000" cy="2540000"/>
          </a:xfrm>
          <a:prstGeom prst="rect">
            <a:avLst/>
          </a:prstGeom>
          <a:noFill/>
          <a:ln/>
        </p:spPr>
        <p:txBody>
          <a:bodyPr wrap="square" lIns="0" tIns="0" rIns="0" bIns="0" rtlCol="0" anchor="ctr"/>
          <a:lstStyle/>
          <a:p>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Proposed by </a:t>
            </a:r>
            <a:pPr>
              <a:lnSpc>
                <a:spcPct val="160000"/>
              </a:lnSpc>
            </a:pPr>
            <a:r>
              <a:rPr lang="en-US" sz="1800" b="1" dirty="0">
                <a:solidFill>
                  <a:srgbClr val="2D3436"/>
                </a:solidFill>
                <a:latin typeface="Quattrocento Sans" pitchFamily="34" charset="0"/>
                <a:ea typeface="Quattrocento Sans" pitchFamily="34" charset="-122"/>
                <a:cs typeface="Quattrocento Sans" pitchFamily="34" charset="-120"/>
              </a:rPr>
              <a:t>Alan Turing</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in 1950, the Turing Test asks: </a:t>
            </a:r>
            <a:pPr>
              <a:lnSpc>
                <a:spcPct val="160000"/>
              </a:lnSpc>
            </a:pPr>
            <a:r>
              <a:rPr lang="en-US" sz="1800" i="1" dirty="0">
                <a:solidFill>
                  <a:srgbClr val="2D3436"/>
                </a:solidFill>
                <a:latin typeface="Quattrocento Sans" pitchFamily="34" charset="0"/>
                <a:ea typeface="Quattrocento Sans" pitchFamily="34" charset="-122"/>
                <a:cs typeface="Quattrocento Sans" pitchFamily="34" charset="-120"/>
              </a:rPr>
              <a:t>"Can a machine exhibit intelligent behavior indistinguishable from a human?"</a:t>
            </a:r>
            <a:endParaRPr lang="en-US" sz="1600" dirty="0"/>
          </a:p>
          <a:p>
            <a:pPr>
              <a:lnSpc>
                <a:spcPct val="160000"/>
              </a:lnSpc>
              <a:spcBef>
                <a:spcPts val="1000"/>
              </a:spcBef>
            </a:pPr>
            <a:r>
              <a:rPr lang="en-US" sz="1800" dirty="0">
                <a:solidFill>
                  <a:srgbClr val="2D3436"/>
                </a:solidFill>
                <a:latin typeface="Quattrocento Sans" pitchFamily="34" charset="0"/>
                <a:ea typeface="Quattrocento Sans" pitchFamily="34" charset="-122"/>
                <a:cs typeface="Quattrocento Sans" pitchFamily="34" charset="-120"/>
              </a:rPr>
              <a:t>In the test, a human </a:t>
            </a:r>
            <a:pPr>
              <a:lnSpc>
                <a:spcPct val="160000"/>
              </a:lnSpc>
              <a:spcBef>
                <a:spcPts val="1000"/>
              </a:spcBef>
            </a:pPr>
            <a:r>
              <a:rPr lang="en-US" sz="1800" b="1" dirty="0">
                <a:solidFill>
                  <a:srgbClr val="D4A574"/>
                </a:solidFill>
                <a:latin typeface="Quattrocento Sans" pitchFamily="34" charset="0"/>
                <a:ea typeface="Quattrocento Sans" pitchFamily="34" charset="-122"/>
                <a:cs typeface="Quattrocento Sans" pitchFamily="34" charset="-120"/>
              </a:rPr>
              <a:t>interrogator</a:t>
            </a:r>
            <a:pPr>
              <a:lnSpc>
                <a:spcPct val="160000"/>
              </a:lnSpc>
              <a:spcBef>
                <a:spcPts val="1000"/>
              </a:spcBef>
            </a:pPr>
            <a:r>
              <a:rPr lang="en-US" sz="1800" dirty="0">
                <a:solidFill>
                  <a:srgbClr val="2D3436"/>
                </a:solidFill>
                <a:latin typeface="Quattrocento Sans" pitchFamily="34" charset="0"/>
                <a:ea typeface="Quattrocento Sans" pitchFamily="34" charset="-122"/>
                <a:cs typeface="Quattrocento Sans" pitchFamily="34" charset="-120"/>
              </a:rPr>
              <a:t> converses with a machine and a human through text. If the interrogator cannot reliably tell which is the machine, it passes the test.</a:t>
            </a:r>
            <a:endParaRPr lang="en-US" sz="1600" dirty="0"/>
          </a:p>
        </p:txBody>
      </p:sp>
      <p:sp>
        <p:nvSpPr>
          <p:cNvPr id="6" name="Shape 4"/>
          <p:cNvSpPr/>
          <p:nvPr/>
        </p:nvSpPr>
        <p:spPr>
          <a:xfrm>
            <a:off x="9144000" y="2159000"/>
            <a:ext cx="6350000" cy="2540000"/>
          </a:xfrm>
          <a:prstGeom prst="rect">
            <a:avLst/>
          </a:prstGeom>
          <a:solidFill>
            <a:srgbClr val="2D3436"/>
          </a:solidFill>
          <a:ln/>
        </p:spPr>
      </p:sp>
      <p:sp>
        <p:nvSpPr>
          <p:cNvPr id="7" name="Text 5"/>
          <p:cNvSpPr/>
          <p:nvPr/>
        </p:nvSpPr>
        <p:spPr>
          <a:xfrm>
            <a:off x="9461500" y="2349500"/>
            <a:ext cx="5715000" cy="355600"/>
          </a:xfrm>
          <a:prstGeom prst="rect">
            <a:avLst/>
          </a:prstGeom>
          <a:noFill/>
          <a:ln/>
        </p:spPr>
        <p:txBody>
          <a:bodyPr wrap="none" lIns="0" tIns="0" rIns="0" bIns="0" rtlCol="0" anchor="ctr"/>
          <a:lstStyle/>
          <a:p>
            <a:pPr>
              <a:lnSpc>
                <a:spcPct val="100000"/>
              </a:lnSpc>
            </a:pPr>
            <a:r>
              <a:rPr lang="en-US" sz="1800" b="1" dirty="0">
                <a:solidFill>
                  <a:srgbClr val="D4A574"/>
                </a:solidFill>
                <a:latin typeface="Liter" pitchFamily="34" charset="0"/>
                <a:ea typeface="Liter" pitchFamily="34" charset="-122"/>
                <a:cs typeface="Liter" pitchFamily="34" charset="-120"/>
              </a:rPr>
              <a:t>Capabilities Required to Pass</a:t>
            </a:r>
            <a:endParaRPr lang="en-US" sz="1600" dirty="0"/>
          </a:p>
        </p:txBody>
      </p:sp>
      <p:sp>
        <p:nvSpPr>
          <p:cNvPr id="8" name="Text 6"/>
          <p:cNvSpPr/>
          <p:nvPr/>
        </p:nvSpPr>
        <p:spPr>
          <a:xfrm>
            <a:off x="9461500" y="2794000"/>
            <a:ext cx="5715000" cy="1651000"/>
          </a:xfrm>
          <a:prstGeom prst="rect">
            <a:avLst/>
          </a:prstGeom>
          <a:noFill/>
          <a:ln/>
        </p:spPr>
        <p:txBody>
          <a:bodyPr wrap="square" lIns="0" tIns="0" rIns="0" bIns="0" rtlCol="0" anchor="ctr"/>
          <a:lstStyle/>
          <a:p>
            <a:pPr marL="254000" indent="-254000">
              <a:lnSpc>
                <a:spcPct val="160000"/>
              </a:lnSpc>
              <a:spcBef>
                <a:spcPts val="10"/>
              </a:spcBef>
              <a:buSzPct val="100000"/>
              <a:buChar char="•"/>
            </a:pPr>
            <a:r>
              <a:rPr lang="en-US" sz="1600" b="1" dirty="0">
                <a:solidFill>
                  <a:srgbClr val="F5F1EC"/>
                </a:solidFill>
                <a:latin typeface="Quattrocento Sans" pitchFamily="34" charset="0"/>
                <a:ea typeface="Quattrocento Sans" pitchFamily="34" charset="-122"/>
                <a:cs typeface="Quattrocento Sans" pitchFamily="34" charset="-120"/>
              </a:rPr>
              <a:t>Natural Language Processing</a:t>
            </a:r>
            <a:pPr>
              <a:lnSpc>
                <a:spcPct val="160000"/>
              </a:lnSpc>
              <a:spcBef>
                <a:spcPts val="10"/>
              </a:spcBef>
            </a:pPr>
            <a:r>
              <a:rPr lang="en-US" sz="1600" dirty="0">
                <a:solidFill>
                  <a:srgbClr val="F5F1EC"/>
                </a:solidFill>
                <a:latin typeface="Quattrocento Sans" pitchFamily="34" charset="0"/>
                <a:ea typeface="Quattrocento Sans" pitchFamily="34" charset="-122"/>
                <a:cs typeface="Quattrocento Sans" pitchFamily="34" charset="-120"/>
              </a:rPr>
              <a:t> — communicate fluently</a:t>
            </a:r>
            <a:endParaRPr lang="en-US" sz="1600" dirty="0"/>
          </a:p>
          <a:p>
            <a:pPr marL="254000" indent="-254000">
              <a:lnSpc>
                <a:spcPct val="160000"/>
              </a:lnSpc>
              <a:spcBef>
                <a:spcPts val="10"/>
              </a:spcBef>
              <a:buSzPct val="100000"/>
              <a:buChar char="•"/>
            </a:pPr>
            <a:r>
              <a:rPr lang="en-US" sz="1600" b="1" dirty="0">
                <a:solidFill>
                  <a:srgbClr val="F5F1EC"/>
                </a:solidFill>
                <a:latin typeface="Quattrocento Sans" pitchFamily="34" charset="0"/>
                <a:ea typeface="Quattrocento Sans" pitchFamily="34" charset="-122"/>
                <a:cs typeface="Quattrocento Sans" pitchFamily="34" charset="-120"/>
              </a:rPr>
              <a:t>Knowledge Representation</a:t>
            </a:r>
            <a:pPr>
              <a:lnSpc>
                <a:spcPct val="160000"/>
              </a:lnSpc>
              <a:spcBef>
                <a:spcPts val="10"/>
              </a:spcBef>
            </a:pPr>
            <a:r>
              <a:rPr lang="en-US" sz="1600" dirty="0">
                <a:solidFill>
                  <a:srgbClr val="F5F1EC"/>
                </a:solidFill>
                <a:latin typeface="Quattrocento Sans" pitchFamily="34" charset="0"/>
                <a:ea typeface="Quattrocento Sans" pitchFamily="34" charset="-122"/>
                <a:cs typeface="Quattrocento Sans" pitchFamily="34" charset="-120"/>
              </a:rPr>
              <a:t> — store world information</a:t>
            </a:r>
            <a:endParaRPr lang="en-US" sz="1600" dirty="0"/>
          </a:p>
          <a:p>
            <a:pPr marL="254000" indent="-254000">
              <a:lnSpc>
                <a:spcPct val="160000"/>
              </a:lnSpc>
              <a:spcBef>
                <a:spcPts val="10"/>
              </a:spcBef>
              <a:buSzPct val="100000"/>
              <a:buChar char="•"/>
            </a:pPr>
            <a:r>
              <a:rPr lang="en-US" sz="1600" b="1" dirty="0">
                <a:solidFill>
                  <a:srgbClr val="F5F1EC"/>
                </a:solidFill>
                <a:latin typeface="Quattrocento Sans" pitchFamily="34" charset="0"/>
                <a:ea typeface="Quattrocento Sans" pitchFamily="34" charset="-122"/>
                <a:cs typeface="Quattrocento Sans" pitchFamily="34" charset="-120"/>
              </a:rPr>
              <a:t>Automated Reasoning</a:t>
            </a:r>
            <a:pPr>
              <a:lnSpc>
                <a:spcPct val="160000"/>
              </a:lnSpc>
              <a:spcBef>
                <a:spcPts val="10"/>
              </a:spcBef>
            </a:pPr>
            <a:r>
              <a:rPr lang="en-US" sz="1600" dirty="0">
                <a:solidFill>
                  <a:srgbClr val="F5F1EC"/>
                </a:solidFill>
                <a:latin typeface="Quattrocento Sans" pitchFamily="34" charset="0"/>
                <a:ea typeface="Quattrocento Sans" pitchFamily="34" charset="-122"/>
                <a:cs typeface="Quattrocento Sans" pitchFamily="34" charset="-120"/>
              </a:rPr>
              <a:t> — answer questions logically</a:t>
            </a:r>
            <a:endParaRPr lang="en-US" sz="1600" dirty="0"/>
          </a:p>
          <a:p>
            <a:pPr marL="254000" indent="-254000">
              <a:lnSpc>
                <a:spcPct val="160000"/>
              </a:lnSpc>
              <a:spcBef>
                <a:spcPts val="10"/>
              </a:spcBef>
              <a:buSzPct val="100000"/>
              <a:buChar char="•"/>
            </a:pPr>
            <a:r>
              <a:rPr lang="en-US" sz="1600" b="1" dirty="0">
                <a:solidFill>
                  <a:srgbClr val="F5F1EC"/>
                </a:solidFill>
                <a:latin typeface="Quattrocento Sans" pitchFamily="34" charset="0"/>
                <a:ea typeface="Quattrocento Sans" pitchFamily="34" charset="-122"/>
                <a:cs typeface="Quattrocento Sans" pitchFamily="34" charset="-120"/>
              </a:rPr>
              <a:t>Machine Learning</a:t>
            </a:r>
            <a:pPr>
              <a:lnSpc>
                <a:spcPct val="160000"/>
              </a:lnSpc>
              <a:spcBef>
                <a:spcPts val="10"/>
              </a:spcBef>
            </a:pPr>
            <a:r>
              <a:rPr lang="en-US" sz="1600" dirty="0">
                <a:solidFill>
                  <a:srgbClr val="F5F1EC"/>
                </a:solidFill>
                <a:latin typeface="Quattrocento Sans" pitchFamily="34" charset="0"/>
                <a:ea typeface="Quattrocento Sans" pitchFamily="34" charset="-122"/>
                <a:cs typeface="Quattrocento Sans" pitchFamily="34" charset="-120"/>
              </a:rPr>
              <a:t> — adapt to new situations</a:t>
            </a:r>
            <a:endParaRPr lang="en-US" sz="1600" dirty="0"/>
          </a:p>
        </p:txBody>
      </p:sp>
      <p:sp>
        <p:nvSpPr>
          <p:cNvPr id="9" name="Text 7"/>
          <p:cNvSpPr/>
          <p:nvPr/>
        </p:nvSpPr>
        <p:spPr>
          <a:xfrm>
            <a:off x="762000" y="5207000"/>
            <a:ext cx="635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Why the Turing Test Matters</a:t>
            </a:r>
            <a:endParaRPr lang="en-US" sz="1600" dirty="0"/>
          </a:p>
        </p:txBody>
      </p:sp>
      <p:sp>
        <p:nvSpPr>
          <p:cNvPr id="10" name="Text 8"/>
          <p:cNvSpPr/>
          <p:nvPr/>
        </p:nvSpPr>
        <p:spPr>
          <a:xfrm>
            <a:off x="762000" y="5715000"/>
            <a:ext cx="14732000" cy="1841500"/>
          </a:xfrm>
          <a:prstGeom prst="rect">
            <a:avLst/>
          </a:prstGeom>
          <a:noFill/>
          <a:ln/>
        </p:spPr>
        <p:txBody>
          <a:bodyPr wrap="square" lIns="0" tIns="0" rIns="0" bIns="0" rtlCol="0" anchor="ctr"/>
          <a:lstStyle/>
          <a:p>
            <a:pPr marL="254000" indent="-254000">
              <a:lnSpc>
                <a:spcPct val="160000"/>
              </a:lnSpc>
              <a:spcBef>
                <a:spcPts val="10"/>
              </a:spcBef>
              <a:buSzPct val="100000"/>
              <a:buChar char="•"/>
            </a:pPr>
            <a:r>
              <a:rPr lang="en-US" sz="1800" dirty="0">
                <a:solidFill>
                  <a:srgbClr val="2D3436"/>
                </a:solidFill>
                <a:latin typeface="Quattrocento Sans" pitchFamily="34" charset="0"/>
                <a:ea typeface="Quattrocento Sans" pitchFamily="34" charset="-122"/>
                <a:cs typeface="Quattrocento Sans" pitchFamily="34" charset="-120"/>
              </a:rPr>
              <a:t>It provided a </a:t>
            </a:r>
            <a:pPr>
              <a:lnSpc>
                <a:spcPct val="160000"/>
              </a:lnSpc>
              <a:spcBef>
                <a:spcPts val="10"/>
              </a:spcBef>
            </a:pPr>
            <a:r>
              <a:rPr lang="en-US" sz="1800" b="1" dirty="0">
                <a:solidFill>
                  <a:srgbClr val="2D3436"/>
                </a:solidFill>
                <a:latin typeface="Quattrocento Sans" pitchFamily="34" charset="0"/>
                <a:ea typeface="Quattrocento Sans" pitchFamily="34" charset="-122"/>
                <a:cs typeface="Quattrocento Sans" pitchFamily="34" charset="-120"/>
              </a:rPr>
              <a:t>concrete, operational definition</a:t>
            </a:r>
            <a:pPr>
              <a:lnSpc>
                <a:spcPct val="160000"/>
              </a:lnSpc>
              <a:spcBef>
                <a:spcPts val="10"/>
              </a:spcBef>
            </a:pPr>
            <a:r>
              <a:rPr lang="en-US" sz="1800" dirty="0">
                <a:solidFill>
                  <a:srgbClr val="2D3436"/>
                </a:solidFill>
                <a:latin typeface="Quattrocento Sans" pitchFamily="34" charset="0"/>
                <a:ea typeface="Quattrocento Sans" pitchFamily="34" charset="-122"/>
                <a:cs typeface="Quattrocento Sans" pitchFamily="34" charset="-120"/>
              </a:rPr>
              <a:t> of intelligence — shifting the debate from philosophy to engineering</a:t>
            </a:r>
            <a:endParaRPr lang="en-US" sz="1600" dirty="0"/>
          </a:p>
          <a:p>
            <a:pPr marL="254000" indent="-254000">
              <a:lnSpc>
                <a:spcPct val="160000"/>
              </a:lnSpc>
              <a:spcBef>
                <a:spcPts val="10"/>
              </a:spcBef>
              <a:buSzPct val="100000"/>
              <a:buChar char="•"/>
            </a:pPr>
            <a:r>
              <a:rPr lang="en-US" sz="1800" dirty="0">
                <a:solidFill>
                  <a:srgbClr val="2D3436"/>
                </a:solidFill>
                <a:latin typeface="Quattrocento Sans" pitchFamily="34" charset="0"/>
                <a:ea typeface="Quattrocento Sans" pitchFamily="34" charset="-122"/>
                <a:cs typeface="Quattrocento Sans" pitchFamily="34" charset="-120"/>
              </a:rPr>
              <a:t>It inspired decades of research in </a:t>
            </a:r>
            <a:pPr>
              <a:lnSpc>
                <a:spcPct val="160000"/>
              </a:lnSpc>
              <a:spcBef>
                <a:spcPts val="10"/>
              </a:spcBef>
            </a:pPr>
            <a:r>
              <a:rPr lang="en-US" sz="1800" b="1" dirty="0">
                <a:solidFill>
                  <a:srgbClr val="2D3436"/>
                </a:solidFill>
                <a:latin typeface="Quattrocento Sans" pitchFamily="34" charset="0"/>
                <a:ea typeface="Quattrocento Sans" pitchFamily="34" charset="-122"/>
                <a:cs typeface="Quattrocento Sans" pitchFamily="34" charset="-120"/>
              </a:rPr>
              <a:t>NLP</a:t>
            </a:r>
            <a:pPr>
              <a:lnSpc>
                <a:spcPct val="160000"/>
              </a:lnSpc>
              <a:spcBef>
                <a:spcPts val="10"/>
              </a:spcBef>
            </a:pPr>
            <a:r>
              <a:rPr lang="en-US" sz="1800" dirty="0">
                <a:solidFill>
                  <a:srgbClr val="2D3436"/>
                </a:solidFill>
                <a:latin typeface="Quattrocento Sans" pitchFamily="34" charset="0"/>
                <a:ea typeface="Quattrocento Sans" pitchFamily="34" charset="-122"/>
                <a:cs typeface="Quattrocento Sans" pitchFamily="34" charset="-120"/>
              </a:rPr>
              <a:t> and </a:t>
            </a:r>
            <a:pPr>
              <a:lnSpc>
                <a:spcPct val="160000"/>
              </a:lnSpc>
              <a:spcBef>
                <a:spcPts val="10"/>
              </a:spcBef>
            </a:pPr>
            <a:r>
              <a:rPr lang="en-US" sz="1800" b="1" dirty="0">
                <a:solidFill>
                  <a:srgbClr val="2D3436"/>
                </a:solidFill>
                <a:latin typeface="Quattrocento Sans" pitchFamily="34" charset="0"/>
                <a:ea typeface="Quattrocento Sans" pitchFamily="34" charset="-122"/>
                <a:cs typeface="Quattrocento Sans" pitchFamily="34" charset="-120"/>
              </a:rPr>
              <a:t>conversational AI</a:t>
            </a:r>
            <a:endParaRPr lang="en-US" sz="1600" dirty="0"/>
          </a:p>
          <a:p>
            <a:pPr marL="254000" indent="-254000">
              <a:lnSpc>
                <a:spcPct val="160000"/>
              </a:lnSpc>
              <a:spcBef>
                <a:spcPts val="10"/>
              </a:spcBef>
              <a:buSzPct val="100000"/>
              <a:buChar char="•"/>
            </a:pPr>
            <a:r>
              <a:rPr lang="en-US" sz="1800" dirty="0">
                <a:solidFill>
                  <a:srgbClr val="2D3436"/>
                </a:solidFill>
                <a:latin typeface="Quattrocento Sans" pitchFamily="34" charset="0"/>
                <a:ea typeface="Quattrocento Sans" pitchFamily="34" charset="-122"/>
                <a:cs typeface="Quattrocento Sans" pitchFamily="34" charset="-120"/>
              </a:rPr>
              <a:t>It established that intelligence can be assessed by </a:t>
            </a:r>
            <a:pPr>
              <a:lnSpc>
                <a:spcPct val="160000"/>
              </a:lnSpc>
              <a:spcBef>
                <a:spcPts val="10"/>
              </a:spcBef>
            </a:pPr>
            <a:r>
              <a:rPr lang="en-US" sz="1800" b="1" dirty="0">
                <a:solidFill>
                  <a:srgbClr val="2D3436"/>
                </a:solidFill>
                <a:latin typeface="Quattrocento Sans" pitchFamily="34" charset="0"/>
                <a:ea typeface="Quattrocento Sans" pitchFamily="34" charset="-122"/>
                <a:cs typeface="Quattrocento Sans" pitchFamily="34" charset="-120"/>
              </a:rPr>
              <a:t>observable behavior</a:t>
            </a:r>
            <a:pPr>
              <a:lnSpc>
                <a:spcPct val="160000"/>
              </a:lnSpc>
              <a:spcBef>
                <a:spcPts val="10"/>
              </a:spcBef>
            </a:pPr>
            <a:r>
              <a:rPr lang="en-US" sz="1800" dirty="0">
                <a:solidFill>
                  <a:srgbClr val="2D3436"/>
                </a:solidFill>
                <a:latin typeface="Quattrocento Sans" pitchFamily="34" charset="0"/>
                <a:ea typeface="Quattrocento Sans" pitchFamily="34" charset="-122"/>
                <a:cs typeface="Quattrocento Sans" pitchFamily="34" charset="-120"/>
              </a:rPr>
              <a:t> rather than internal mechanisms</a:t>
            </a:r>
            <a:endParaRPr lang="en-US" sz="1600" dirty="0"/>
          </a:p>
          <a:p>
            <a:pPr marL="254000" indent="-254000">
              <a:lnSpc>
                <a:spcPct val="160000"/>
              </a:lnSpc>
              <a:spcBef>
                <a:spcPts val="10"/>
              </a:spcBef>
              <a:buSzPct val="100000"/>
              <a:buChar char="•"/>
            </a:pPr>
            <a:r>
              <a:rPr lang="en-US" sz="1800" dirty="0">
                <a:solidFill>
                  <a:srgbClr val="2D3436"/>
                </a:solidFill>
                <a:latin typeface="Quattrocento Sans" pitchFamily="34" charset="0"/>
                <a:ea typeface="Quattrocento Sans" pitchFamily="34" charset="-122"/>
                <a:cs typeface="Quattrocento Sans" pitchFamily="34" charset="-120"/>
              </a:rPr>
              <a:t>Modern chatbots like ChatGPT represent significant progress toward this goal, though full passage remains debated</a:t>
            </a:r>
            <a:endParaRPr lang="en-US" sz="1600" dirty="0"/>
          </a:p>
        </p:txBody>
      </p:sp>
      <p:sp>
        <p:nvSpPr>
          <p:cNvPr id="11" name="Text 9"/>
          <p:cNvSpPr/>
          <p:nvPr/>
        </p:nvSpPr>
        <p:spPr>
          <a:xfrm>
            <a:off x="762000" y="7620000"/>
            <a:ext cx="14732000" cy="635000"/>
          </a:xfrm>
          <a:prstGeom prst="rect">
            <a:avLst/>
          </a:prstGeom>
          <a:noFill/>
          <a:ln/>
        </p:spPr>
        <p:txBody>
          <a:bodyPr wrap="square" lIns="0" tIns="0" rIns="0" bIns="0" rtlCol="0" anchor="ctr"/>
          <a:lstStyle/>
          <a:p>
            <a:pPr>
              <a:lnSpc>
                <a:spcPct val="150000"/>
              </a:lnSpc>
            </a:pPr>
            <a:r>
              <a:rPr lang="en-US" sz="1600" i="1" dirty="0">
                <a:solidFill>
                  <a:srgbClr val="636E72"/>
                </a:solidFill>
                <a:latin typeface="Quattrocento Sans" pitchFamily="34" charset="0"/>
                <a:ea typeface="Quattrocento Sans" pitchFamily="34" charset="-122"/>
                <a:cs typeface="Quattrocento Sans" pitchFamily="34" charset="-120"/>
              </a:rPr>
              <a:t>Note: The Turing Test focuses on behavior rather than internal processes — a machine could pass without truly "understanding."</a:t>
            </a:r>
            <a:endParaRPr lang="en-US" sz="1600" dirty="0"/>
          </a:p>
        </p:txBody>
      </p:sp>
      <p:sp>
        <p:nvSpPr>
          <p:cNvPr id="12" name="Text 10"/>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17</a:t>
            </a:r>
            <a:endParaRPr lang="en-US" sz="14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The Turing Test — Significance &amp; Criticisms</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Text 3"/>
          <p:cNvSpPr/>
          <p:nvPr/>
        </p:nvSpPr>
        <p:spPr>
          <a:xfrm>
            <a:off x="762000" y="2159000"/>
            <a:ext cx="7112000" cy="381000"/>
          </a:xfrm>
          <a:prstGeom prst="rect">
            <a:avLst/>
          </a:prstGeom>
          <a:noFill/>
          <a:ln/>
        </p:spPr>
        <p:txBody>
          <a:bodyPr wrap="none" lIns="0" tIns="0" rIns="0" bIns="0" rtlCol="0" anchor="ctr"/>
          <a:lstStyle/>
          <a:p>
            <a:pPr>
              <a:lnSpc>
                <a:spcPct val="100000"/>
              </a:lnSpc>
            </a:pPr>
            <a:r>
              <a:rPr lang="en-US" sz="2200" b="1" dirty="0">
                <a:solidFill>
                  <a:srgbClr val="D4A574"/>
                </a:solidFill>
                <a:latin typeface="Liter" pitchFamily="34" charset="0"/>
                <a:ea typeface="Liter" pitchFamily="34" charset="-122"/>
                <a:cs typeface="Liter" pitchFamily="34" charset="-120"/>
              </a:rPr>
              <a:t>Significance</a:t>
            </a:r>
            <a:endParaRPr lang="en-US" sz="1600" dirty="0"/>
          </a:p>
        </p:txBody>
      </p:sp>
      <p:sp>
        <p:nvSpPr>
          <p:cNvPr id="6" name="Shape 4"/>
          <p:cNvSpPr/>
          <p:nvPr/>
        </p:nvSpPr>
        <p:spPr>
          <a:xfrm>
            <a:off x="762000" y="2667000"/>
            <a:ext cx="7112000" cy="38100"/>
          </a:xfrm>
          <a:prstGeom prst="rect">
            <a:avLst/>
          </a:prstGeom>
          <a:solidFill>
            <a:srgbClr val="D4A574"/>
          </a:solidFill>
          <a:ln/>
        </p:spPr>
      </p:sp>
      <p:sp>
        <p:nvSpPr>
          <p:cNvPr id="7" name="Shape 5"/>
          <p:cNvSpPr/>
          <p:nvPr/>
        </p:nvSpPr>
        <p:spPr>
          <a:xfrm>
            <a:off x="784225" y="2921000"/>
            <a:ext cx="311150" cy="355600"/>
          </a:xfrm>
          <a:custGeom>
            <a:avLst/>
            <a:gdLst/>
            <a:ahLst/>
            <a:cxnLst/>
            <a:rect l="l" t="t" r="r" b="b"/>
            <a:pathLst>
              <a:path w="311150" h="355600">
                <a:moveTo>
                  <a:pt x="301982" y="48687"/>
                </a:moveTo>
                <a:cubicBezTo>
                  <a:pt x="311914" y="55910"/>
                  <a:pt x="314136" y="69800"/>
                  <a:pt x="306913" y="79732"/>
                </a:cubicBezTo>
                <a:lnTo>
                  <a:pt x="129113" y="324207"/>
                </a:lnTo>
                <a:cubicBezTo>
                  <a:pt x="125293" y="329486"/>
                  <a:pt x="119390" y="332750"/>
                  <a:pt x="112861" y="333306"/>
                </a:cubicBezTo>
                <a:cubicBezTo>
                  <a:pt x="106333" y="333861"/>
                  <a:pt x="100013" y="331430"/>
                  <a:pt x="95429" y="326846"/>
                </a:cubicBezTo>
                <a:lnTo>
                  <a:pt x="6529" y="237946"/>
                </a:lnTo>
                <a:cubicBezTo>
                  <a:pt x="-2153" y="229265"/>
                  <a:pt x="-2153" y="215166"/>
                  <a:pt x="6529" y="206484"/>
                </a:cubicBezTo>
                <a:cubicBezTo>
                  <a:pt x="15210" y="197803"/>
                  <a:pt x="29309" y="197803"/>
                  <a:pt x="37991" y="206484"/>
                </a:cubicBezTo>
                <a:lnTo>
                  <a:pt x="108486" y="276979"/>
                </a:lnTo>
                <a:lnTo>
                  <a:pt x="271006" y="53548"/>
                </a:lnTo>
                <a:cubicBezTo>
                  <a:pt x="278229" y="43617"/>
                  <a:pt x="292120" y="41394"/>
                  <a:pt x="302052" y="48617"/>
                </a:cubicBezTo>
                <a:close/>
              </a:path>
            </a:pathLst>
          </a:custGeom>
          <a:solidFill>
            <a:srgbClr val="D4A574"/>
          </a:solidFill>
          <a:ln/>
        </p:spPr>
      </p:sp>
      <p:sp>
        <p:nvSpPr>
          <p:cNvPr id="8" name="Text 6"/>
          <p:cNvSpPr/>
          <p:nvPr/>
        </p:nvSpPr>
        <p:spPr>
          <a:xfrm>
            <a:off x="1270000" y="2857500"/>
            <a:ext cx="6604000" cy="889000"/>
          </a:xfrm>
          <a:prstGeom prst="rect">
            <a:avLst/>
          </a:prstGeom>
          <a:noFill/>
          <a:ln/>
        </p:spPr>
        <p:txBody>
          <a:bodyPr wrap="square" lIns="0" tIns="0" rIns="0" bIns="0" rtlCol="0" anchor="ctr"/>
          <a:lstStyle/>
          <a:p>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Shifted focus from </a:t>
            </a:r>
            <a:pPr>
              <a:lnSpc>
                <a:spcPct val="150000"/>
              </a:lnSpc>
            </a:pPr>
            <a:r>
              <a:rPr lang="en-US" sz="1700" i="1" dirty="0">
                <a:solidFill>
                  <a:srgbClr val="2D3436"/>
                </a:solidFill>
                <a:latin typeface="Quattrocento Sans" pitchFamily="34" charset="0"/>
                <a:ea typeface="Quattrocento Sans" pitchFamily="34" charset="-122"/>
                <a:cs typeface="Quattrocento Sans" pitchFamily="34" charset="-120"/>
              </a:rPr>
              <a:t>"Can machines think?"</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(philosophical) to </a:t>
            </a:r>
            <a:pPr>
              <a:lnSpc>
                <a:spcPct val="150000"/>
              </a:lnSpc>
            </a:pPr>
            <a:r>
              <a:rPr lang="en-US" sz="1700" i="1" dirty="0">
                <a:solidFill>
                  <a:srgbClr val="2D3436"/>
                </a:solidFill>
                <a:latin typeface="Quattrocento Sans" pitchFamily="34" charset="0"/>
                <a:ea typeface="Quattrocento Sans" pitchFamily="34" charset="-122"/>
                <a:cs typeface="Quattrocento Sans" pitchFamily="34" charset="-120"/>
              </a:rPr>
              <a:t>"Can machines behave intelligently?"</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(operational)</a:t>
            </a:r>
            <a:endParaRPr lang="en-US" sz="1600" dirty="0"/>
          </a:p>
        </p:txBody>
      </p:sp>
      <p:sp>
        <p:nvSpPr>
          <p:cNvPr id="9" name="Shape 7"/>
          <p:cNvSpPr/>
          <p:nvPr/>
        </p:nvSpPr>
        <p:spPr>
          <a:xfrm>
            <a:off x="784225" y="3873500"/>
            <a:ext cx="311150" cy="355600"/>
          </a:xfrm>
          <a:custGeom>
            <a:avLst/>
            <a:gdLst/>
            <a:ahLst/>
            <a:cxnLst/>
            <a:rect l="l" t="t" r="r" b="b"/>
            <a:pathLst>
              <a:path w="311150" h="355600">
                <a:moveTo>
                  <a:pt x="301982" y="48687"/>
                </a:moveTo>
                <a:cubicBezTo>
                  <a:pt x="311914" y="55910"/>
                  <a:pt x="314136" y="69800"/>
                  <a:pt x="306913" y="79732"/>
                </a:cubicBezTo>
                <a:lnTo>
                  <a:pt x="129113" y="324207"/>
                </a:lnTo>
                <a:cubicBezTo>
                  <a:pt x="125293" y="329486"/>
                  <a:pt x="119390" y="332750"/>
                  <a:pt x="112861" y="333306"/>
                </a:cubicBezTo>
                <a:cubicBezTo>
                  <a:pt x="106333" y="333861"/>
                  <a:pt x="100013" y="331430"/>
                  <a:pt x="95429" y="326846"/>
                </a:cubicBezTo>
                <a:lnTo>
                  <a:pt x="6529" y="237946"/>
                </a:lnTo>
                <a:cubicBezTo>
                  <a:pt x="-2153" y="229265"/>
                  <a:pt x="-2153" y="215166"/>
                  <a:pt x="6529" y="206484"/>
                </a:cubicBezTo>
                <a:cubicBezTo>
                  <a:pt x="15210" y="197803"/>
                  <a:pt x="29309" y="197803"/>
                  <a:pt x="37991" y="206484"/>
                </a:cubicBezTo>
                <a:lnTo>
                  <a:pt x="108486" y="276979"/>
                </a:lnTo>
                <a:lnTo>
                  <a:pt x="271006" y="53548"/>
                </a:lnTo>
                <a:cubicBezTo>
                  <a:pt x="278229" y="43617"/>
                  <a:pt x="292120" y="41394"/>
                  <a:pt x="302052" y="48617"/>
                </a:cubicBezTo>
                <a:close/>
              </a:path>
            </a:pathLst>
          </a:custGeom>
          <a:solidFill>
            <a:srgbClr val="D4A574"/>
          </a:solidFill>
          <a:ln/>
        </p:spPr>
      </p:sp>
      <p:sp>
        <p:nvSpPr>
          <p:cNvPr id="10" name="Text 8"/>
          <p:cNvSpPr/>
          <p:nvPr/>
        </p:nvSpPr>
        <p:spPr>
          <a:xfrm>
            <a:off x="1270000" y="3810000"/>
            <a:ext cx="6604000" cy="889000"/>
          </a:xfrm>
          <a:prstGeom prst="rect">
            <a:avLst/>
          </a:prstGeom>
          <a:noFill/>
          <a:ln/>
        </p:spPr>
        <p:txBody>
          <a:bodyPr wrap="square" lIns="0" tIns="0" rIns="0" bIns="0" rtlCol="0" anchor="ctr"/>
          <a:lstStyle/>
          <a:p>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Provided a </a:t>
            </a:r>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concrete, testable criterion</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for machine intelligence that researchers could actually work toward</a:t>
            </a:r>
            <a:endParaRPr lang="en-US" sz="1600" dirty="0"/>
          </a:p>
        </p:txBody>
      </p:sp>
      <p:sp>
        <p:nvSpPr>
          <p:cNvPr id="11" name="Shape 9"/>
          <p:cNvSpPr/>
          <p:nvPr/>
        </p:nvSpPr>
        <p:spPr>
          <a:xfrm>
            <a:off x="784225" y="4826000"/>
            <a:ext cx="311150" cy="355600"/>
          </a:xfrm>
          <a:custGeom>
            <a:avLst/>
            <a:gdLst/>
            <a:ahLst/>
            <a:cxnLst/>
            <a:rect l="l" t="t" r="r" b="b"/>
            <a:pathLst>
              <a:path w="311150" h="355600">
                <a:moveTo>
                  <a:pt x="301982" y="48687"/>
                </a:moveTo>
                <a:cubicBezTo>
                  <a:pt x="311914" y="55910"/>
                  <a:pt x="314136" y="69800"/>
                  <a:pt x="306913" y="79732"/>
                </a:cubicBezTo>
                <a:lnTo>
                  <a:pt x="129113" y="324207"/>
                </a:lnTo>
                <a:cubicBezTo>
                  <a:pt x="125293" y="329486"/>
                  <a:pt x="119390" y="332750"/>
                  <a:pt x="112861" y="333306"/>
                </a:cubicBezTo>
                <a:cubicBezTo>
                  <a:pt x="106333" y="333861"/>
                  <a:pt x="100013" y="331430"/>
                  <a:pt x="95429" y="326846"/>
                </a:cubicBezTo>
                <a:lnTo>
                  <a:pt x="6529" y="237946"/>
                </a:lnTo>
                <a:cubicBezTo>
                  <a:pt x="-2153" y="229265"/>
                  <a:pt x="-2153" y="215166"/>
                  <a:pt x="6529" y="206484"/>
                </a:cubicBezTo>
                <a:cubicBezTo>
                  <a:pt x="15210" y="197803"/>
                  <a:pt x="29309" y="197803"/>
                  <a:pt x="37991" y="206484"/>
                </a:cubicBezTo>
                <a:lnTo>
                  <a:pt x="108486" y="276979"/>
                </a:lnTo>
                <a:lnTo>
                  <a:pt x="271006" y="53548"/>
                </a:lnTo>
                <a:cubicBezTo>
                  <a:pt x="278229" y="43617"/>
                  <a:pt x="292120" y="41394"/>
                  <a:pt x="302052" y="48617"/>
                </a:cubicBezTo>
                <a:close/>
              </a:path>
            </a:pathLst>
          </a:custGeom>
          <a:solidFill>
            <a:srgbClr val="D4A574"/>
          </a:solidFill>
          <a:ln/>
        </p:spPr>
      </p:sp>
      <p:sp>
        <p:nvSpPr>
          <p:cNvPr id="12" name="Text 10"/>
          <p:cNvSpPr/>
          <p:nvPr/>
        </p:nvSpPr>
        <p:spPr>
          <a:xfrm>
            <a:off x="1270000" y="4762500"/>
            <a:ext cx="6604000" cy="889000"/>
          </a:xfrm>
          <a:prstGeom prst="rect">
            <a:avLst/>
          </a:prstGeom>
          <a:noFill/>
          <a:ln/>
        </p:spPr>
        <p:txBody>
          <a:bodyPr wrap="square" lIns="0" tIns="0" rIns="0" bIns="0" rtlCol="0" anchor="ctr"/>
          <a:lstStyle/>
          <a:p>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Inspired decades of foundational research in </a:t>
            </a:r>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NLP</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a:t>
            </a:r>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conversational AI</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and human-computer interaction</a:t>
            </a:r>
            <a:endParaRPr lang="en-US" sz="1600" dirty="0"/>
          </a:p>
        </p:txBody>
      </p:sp>
      <p:sp>
        <p:nvSpPr>
          <p:cNvPr id="13" name="Shape 11"/>
          <p:cNvSpPr/>
          <p:nvPr/>
        </p:nvSpPr>
        <p:spPr>
          <a:xfrm>
            <a:off x="784225" y="5778500"/>
            <a:ext cx="311150" cy="355600"/>
          </a:xfrm>
          <a:custGeom>
            <a:avLst/>
            <a:gdLst/>
            <a:ahLst/>
            <a:cxnLst/>
            <a:rect l="l" t="t" r="r" b="b"/>
            <a:pathLst>
              <a:path w="311150" h="355600">
                <a:moveTo>
                  <a:pt x="301982" y="48687"/>
                </a:moveTo>
                <a:cubicBezTo>
                  <a:pt x="311914" y="55910"/>
                  <a:pt x="314136" y="69800"/>
                  <a:pt x="306913" y="79732"/>
                </a:cubicBezTo>
                <a:lnTo>
                  <a:pt x="129113" y="324207"/>
                </a:lnTo>
                <a:cubicBezTo>
                  <a:pt x="125293" y="329486"/>
                  <a:pt x="119390" y="332750"/>
                  <a:pt x="112861" y="333306"/>
                </a:cubicBezTo>
                <a:cubicBezTo>
                  <a:pt x="106333" y="333861"/>
                  <a:pt x="100013" y="331430"/>
                  <a:pt x="95429" y="326846"/>
                </a:cubicBezTo>
                <a:lnTo>
                  <a:pt x="6529" y="237946"/>
                </a:lnTo>
                <a:cubicBezTo>
                  <a:pt x="-2153" y="229265"/>
                  <a:pt x="-2153" y="215166"/>
                  <a:pt x="6529" y="206484"/>
                </a:cubicBezTo>
                <a:cubicBezTo>
                  <a:pt x="15210" y="197803"/>
                  <a:pt x="29309" y="197803"/>
                  <a:pt x="37991" y="206484"/>
                </a:cubicBezTo>
                <a:lnTo>
                  <a:pt x="108486" y="276979"/>
                </a:lnTo>
                <a:lnTo>
                  <a:pt x="271006" y="53548"/>
                </a:lnTo>
                <a:cubicBezTo>
                  <a:pt x="278229" y="43617"/>
                  <a:pt x="292120" y="41394"/>
                  <a:pt x="302052" y="48617"/>
                </a:cubicBezTo>
                <a:close/>
              </a:path>
            </a:pathLst>
          </a:custGeom>
          <a:solidFill>
            <a:srgbClr val="D4A574"/>
          </a:solidFill>
          <a:ln/>
        </p:spPr>
      </p:sp>
      <p:sp>
        <p:nvSpPr>
          <p:cNvPr id="14" name="Text 12"/>
          <p:cNvSpPr/>
          <p:nvPr/>
        </p:nvSpPr>
        <p:spPr>
          <a:xfrm>
            <a:off x="1270000" y="5715000"/>
            <a:ext cx="6604000" cy="889000"/>
          </a:xfrm>
          <a:prstGeom prst="rect">
            <a:avLst/>
          </a:prstGeom>
          <a:noFill/>
          <a:ln/>
        </p:spPr>
        <p:txBody>
          <a:bodyPr wrap="square" lIns="0" tIns="0" rIns="0" bIns="0" rtlCol="0" anchor="ctr"/>
          <a:lstStyle/>
          <a:p>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Established </a:t>
            </a:r>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behavioral equivalence</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as a valid benchmark — we judge intelligence by actions, not mechanisms</a:t>
            </a:r>
            <a:endParaRPr lang="en-US" sz="1600" dirty="0"/>
          </a:p>
        </p:txBody>
      </p:sp>
      <p:sp>
        <p:nvSpPr>
          <p:cNvPr id="15" name="Text 13"/>
          <p:cNvSpPr/>
          <p:nvPr/>
        </p:nvSpPr>
        <p:spPr>
          <a:xfrm>
            <a:off x="8636000" y="2159000"/>
            <a:ext cx="6858000" cy="381000"/>
          </a:xfrm>
          <a:prstGeom prst="rect">
            <a:avLst/>
          </a:prstGeom>
          <a:noFill/>
          <a:ln/>
        </p:spPr>
        <p:txBody>
          <a:bodyPr wrap="none" lIns="0" tIns="0" rIns="0" bIns="0" rtlCol="0" anchor="ctr"/>
          <a:lstStyle/>
          <a:p>
            <a:pPr>
              <a:lnSpc>
                <a:spcPct val="100000"/>
              </a:lnSpc>
            </a:pPr>
            <a:r>
              <a:rPr lang="en-US" sz="2200" b="1" dirty="0">
                <a:solidFill>
                  <a:srgbClr val="636E72"/>
                </a:solidFill>
                <a:latin typeface="Liter" pitchFamily="34" charset="0"/>
                <a:ea typeface="Liter" pitchFamily="34" charset="-122"/>
                <a:cs typeface="Liter" pitchFamily="34" charset="-120"/>
              </a:rPr>
              <a:t>Criticisms</a:t>
            </a:r>
            <a:endParaRPr lang="en-US" sz="1600" dirty="0"/>
          </a:p>
        </p:txBody>
      </p:sp>
      <p:sp>
        <p:nvSpPr>
          <p:cNvPr id="16" name="Shape 14"/>
          <p:cNvSpPr/>
          <p:nvPr/>
        </p:nvSpPr>
        <p:spPr>
          <a:xfrm>
            <a:off x="8636000" y="2667000"/>
            <a:ext cx="6858000" cy="38100"/>
          </a:xfrm>
          <a:prstGeom prst="rect">
            <a:avLst/>
          </a:prstGeom>
          <a:solidFill>
            <a:srgbClr val="636E72"/>
          </a:solidFill>
          <a:ln/>
        </p:spPr>
      </p:sp>
      <p:sp>
        <p:nvSpPr>
          <p:cNvPr id="17" name="Shape 15"/>
          <p:cNvSpPr/>
          <p:nvPr/>
        </p:nvSpPr>
        <p:spPr>
          <a:xfrm>
            <a:off x="8680450" y="2921000"/>
            <a:ext cx="266700" cy="355600"/>
          </a:xfrm>
          <a:custGeom>
            <a:avLst/>
            <a:gdLst/>
            <a:ahLst/>
            <a:cxnLst/>
            <a:rect l="l" t="t" r="r" b="b"/>
            <a:pathLst>
              <a:path w="266700" h="355600">
                <a:moveTo>
                  <a:pt x="38269" y="50979"/>
                </a:moveTo>
                <a:cubicBezTo>
                  <a:pt x="29587" y="42297"/>
                  <a:pt x="15488" y="42297"/>
                  <a:pt x="6806" y="50979"/>
                </a:cubicBezTo>
                <a:cubicBezTo>
                  <a:pt x="-1875" y="59660"/>
                  <a:pt x="-1875" y="73759"/>
                  <a:pt x="6806" y="82441"/>
                </a:cubicBezTo>
                <a:lnTo>
                  <a:pt x="102235" y="177800"/>
                </a:lnTo>
                <a:lnTo>
                  <a:pt x="6876" y="273229"/>
                </a:lnTo>
                <a:cubicBezTo>
                  <a:pt x="-1806" y="281910"/>
                  <a:pt x="-1806" y="296009"/>
                  <a:pt x="6876" y="304691"/>
                </a:cubicBezTo>
                <a:cubicBezTo>
                  <a:pt x="15558" y="313373"/>
                  <a:pt x="29656" y="313373"/>
                  <a:pt x="38338" y="304691"/>
                </a:cubicBezTo>
                <a:lnTo>
                  <a:pt x="133697" y="209262"/>
                </a:lnTo>
                <a:lnTo>
                  <a:pt x="229126" y="304621"/>
                </a:lnTo>
                <a:cubicBezTo>
                  <a:pt x="237808" y="313303"/>
                  <a:pt x="251906" y="313303"/>
                  <a:pt x="260588" y="304621"/>
                </a:cubicBezTo>
                <a:cubicBezTo>
                  <a:pt x="269270" y="295940"/>
                  <a:pt x="269270" y="281841"/>
                  <a:pt x="260588" y="273159"/>
                </a:cubicBezTo>
                <a:lnTo>
                  <a:pt x="165160" y="177800"/>
                </a:lnTo>
                <a:lnTo>
                  <a:pt x="260519" y="82371"/>
                </a:lnTo>
                <a:cubicBezTo>
                  <a:pt x="269200" y="73690"/>
                  <a:pt x="269200" y="59591"/>
                  <a:pt x="260519" y="50909"/>
                </a:cubicBezTo>
                <a:cubicBezTo>
                  <a:pt x="251837" y="42228"/>
                  <a:pt x="237738" y="42228"/>
                  <a:pt x="229056" y="50909"/>
                </a:cubicBezTo>
                <a:lnTo>
                  <a:pt x="133697" y="146338"/>
                </a:lnTo>
                <a:lnTo>
                  <a:pt x="38269" y="50979"/>
                </a:lnTo>
                <a:close/>
              </a:path>
            </a:pathLst>
          </a:custGeom>
          <a:solidFill>
            <a:srgbClr val="636E72"/>
          </a:solidFill>
          <a:ln/>
        </p:spPr>
      </p:sp>
      <p:sp>
        <p:nvSpPr>
          <p:cNvPr id="18" name="Text 16"/>
          <p:cNvSpPr/>
          <p:nvPr/>
        </p:nvSpPr>
        <p:spPr>
          <a:xfrm>
            <a:off x="9144000" y="2857500"/>
            <a:ext cx="6350000" cy="889000"/>
          </a:xfrm>
          <a:prstGeom prst="rect">
            <a:avLst/>
          </a:prstGeom>
          <a:noFill/>
          <a:ln/>
        </p:spPr>
        <p:txBody>
          <a:bodyPr wrap="square" lIns="0" tIns="0" rIns="0" bIns="0" rtlCol="0" anchor="ctr"/>
          <a:lstStyle/>
          <a:p>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A machine could pass without truly </a:t>
            </a:r>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"understanding"</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 the "Chinese Room" argument (Searle, 1980)</a:t>
            </a:r>
            <a:endParaRPr lang="en-US" sz="1600" dirty="0"/>
          </a:p>
        </p:txBody>
      </p:sp>
      <p:sp>
        <p:nvSpPr>
          <p:cNvPr id="19" name="Shape 17"/>
          <p:cNvSpPr/>
          <p:nvPr/>
        </p:nvSpPr>
        <p:spPr>
          <a:xfrm>
            <a:off x="8680450" y="3873500"/>
            <a:ext cx="266700" cy="355600"/>
          </a:xfrm>
          <a:custGeom>
            <a:avLst/>
            <a:gdLst/>
            <a:ahLst/>
            <a:cxnLst/>
            <a:rect l="l" t="t" r="r" b="b"/>
            <a:pathLst>
              <a:path w="266700" h="355600">
                <a:moveTo>
                  <a:pt x="38269" y="50979"/>
                </a:moveTo>
                <a:cubicBezTo>
                  <a:pt x="29587" y="42297"/>
                  <a:pt x="15488" y="42297"/>
                  <a:pt x="6806" y="50979"/>
                </a:cubicBezTo>
                <a:cubicBezTo>
                  <a:pt x="-1875" y="59660"/>
                  <a:pt x="-1875" y="73759"/>
                  <a:pt x="6806" y="82441"/>
                </a:cubicBezTo>
                <a:lnTo>
                  <a:pt x="102235" y="177800"/>
                </a:lnTo>
                <a:lnTo>
                  <a:pt x="6876" y="273229"/>
                </a:lnTo>
                <a:cubicBezTo>
                  <a:pt x="-1806" y="281910"/>
                  <a:pt x="-1806" y="296009"/>
                  <a:pt x="6876" y="304691"/>
                </a:cubicBezTo>
                <a:cubicBezTo>
                  <a:pt x="15558" y="313373"/>
                  <a:pt x="29656" y="313373"/>
                  <a:pt x="38338" y="304691"/>
                </a:cubicBezTo>
                <a:lnTo>
                  <a:pt x="133697" y="209262"/>
                </a:lnTo>
                <a:lnTo>
                  <a:pt x="229126" y="304621"/>
                </a:lnTo>
                <a:cubicBezTo>
                  <a:pt x="237808" y="313303"/>
                  <a:pt x="251906" y="313303"/>
                  <a:pt x="260588" y="304621"/>
                </a:cubicBezTo>
                <a:cubicBezTo>
                  <a:pt x="269270" y="295940"/>
                  <a:pt x="269270" y="281841"/>
                  <a:pt x="260588" y="273159"/>
                </a:cubicBezTo>
                <a:lnTo>
                  <a:pt x="165160" y="177800"/>
                </a:lnTo>
                <a:lnTo>
                  <a:pt x="260519" y="82371"/>
                </a:lnTo>
                <a:cubicBezTo>
                  <a:pt x="269200" y="73690"/>
                  <a:pt x="269200" y="59591"/>
                  <a:pt x="260519" y="50909"/>
                </a:cubicBezTo>
                <a:cubicBezTo>
                  <a:pt x="251837" y="42228"/>
                  <a:pt x="237738" y="42228"/>
                  <a:pt x="229056" y="50909"/>
                </a:cubicBezTo>
                <a:lnTo>
                  <a:pt x="133697" y="146338"/>
                </a:lnTo>
                <a:lnTo>
                  <a:pt x="38269" y="50979"/>
                </a:lnTo>
                <a:close/>
              </a:path>
            </a:pathLst>
          </a:custGeom>
          <a:solidFill>
            <a:srgbClr val="636E72"/>
          </a:solidFill>
          <a:ln/>
        </p:spPr>
      </p:sp>
      <p:sp>
        <p:nvSpPr>
          <p:cNvPr id="20" name="Text 18"/>
          <p:cNvSpPr/>
          <p:nvPr/>
        </p:nvSpPr>
        <p:spPr>
          <a:xfrm>
            <a:off x="9144000" y="3810000"/>
            <a:ext cx="6350000" cy="889000"/>
          </a:xfrm>
          <a:prstGeom prst="rect">
            <a:avLst/>
          </a:prstGeom>
          <a:noFill/>
          <a:ln/>
        </p:spPr>
        <p:txBody>
          <a:bodyPr wrap="square" lIns="0" tIns="0" rIns="0" bIns="0" rtlCol="0" anchor="ctr"/>
          <a:lstStyle/>
          <a:p>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The test measures </a:t>
            </a:r>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deception ability</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not necessarily intelligence — trickery vs. comprehension</a:t>
            </a:r>
            <a:endParaRPr lang="en-US" sz="1600" dirty="0"/>
          </a:p>
        </p:txBody>
      </p:sp>
      <p:sp>
        <p:nvSpPr>
          <p:cNvPr id="21" name="Shape 19"/>
          <p:cNvSpPr/>
          <p:nvPr/>
        </p:nvSpPr>
        <p:spPr>
          <a:xfrm>
            <a:off x="8680450" y="4826000"/>
            <a:ext cx="266700" cy="355600"/>
          </a:xfrm>
          <a:custGeom>
            <a:avLst/>
            <a:gdLst/>
            <a:ahLst/>
            <a:cxnLst/>
            <a:rect l="l" t="t" r="r" b="b"/>
            <a:pathLst>
              <a:path w="266700" h="355600">
                <a:moveTo>
                  <a:pt x="38269" y="50979"/>
                </a:moveTo>
                <a:cubicBezTo>
                  <a:pt x="29587" y="42297"/>
                  <a:pt x="15488" y="42297"/>
                  <a:pt x="6806" y="50979"/>
                </a:cubicBezTo>
                <a:cubicBezTo>
                  <a:pt x="-1875" y="59660"/>
                  <a:pt x="-1875" y="73759"/>
                  <a:pt x="6806" y="82441"/>
                </a:cubicBezTo>
                <a:lnTo>
                  <a:pt x="102235" y="177800"/>
                </a:lnTo>
                <a:lnTo>
                  <a:pt x="6876" y="273229"/>
                </a:lnTo>
                <a:cubicBezTo>
                  <a:pt x="-1806" y="281910"/>
                  <a:pt x="-1806" y="296009"/>
                  <a:pt x="6876" y="304691"/>
                </a:cubicBezTo>
                <a:cubicBezTo>
                  <a:pt x="15558" y="313373"/>
                  <a:pt x="29656" y="313373"/>
                  <a:pt x="38338" y="304691"/>
                </a:cubicBezTo>
                <a:lnTo>
                  <a:pt x="133697" y="209262"/>
                </a:lnTo>
                <a:lnTo>
                  <a:pt x="229126" y="304621"/>
                </a:lnTo>
                <a:cubicBezTo>
                  <a:pt x="237808" y="313303"/>
                  <a:pt x="251906" y="313303"/>
                  <a:pt x="260588" y="304621"/>
                </a:cubicBezTo>
                <a:cubicBezTo>
                  <a:pt x="269270" y="295940"/>
                  <a:pt x="269270" y="281841"/>
                  <a:pt x="260588" y="273159"/>
                </a:cubicBezTo>
                <a:lnTo>
                  <a:pt x="165160" y="177800"/>
                </a:lnTo>
                <a:lnTo>
                  <a:pt x="260519" y="82371"/>
                </a:lnTo>
                <a:cubicBezTo>
                  <a:pt x="269200" y="73690"/>
                  <a:pt x="269200" y="59591"/>
                  <a:pt x="260519" y="50909"/>
                </a:cubicBezTo>
                <a:cubicBezTo>
                  <a:pt x="251837" y="42228"/>
                  <a:pt x="237738" y="42228"/>
                  <a:pt x="229056" y="50909"/>
                </a:cubicBezTo>
                <a:lnTo>
                  <a:pt x="133697" y="146338"/>
                </a:lnTo>
                <a:lnTo>
                  <a:pt x="38269" y="50979"/>
                </a:lnTo>
                <a:close/>
              </a:path>
            </a:pathLst>
          </a:custGeom>
          <a:solidFill>
            <a:srgbClr val="636E72"/>
          </a:solidFill>
          <a:ln/>
        </p:spPr>
      </p:sp>
      <p:sp>
        <p:nvSpPr>
          <p:cNvPr id="22" name="Text 20"/>
          <p:cNvSpPr/>
          <p:nvPr/>
        </p:nvSpPr>
        <p:spPr>
          <a:xfrm>
            <a:off x="9144000" y="4762500"/>
            <a:ext cx="6350000" cy="889000"/>
          </a:xfrm>
          <a:prstGeom prst="rect">
            <a:avLst/>
          </a:prstGeom>
          <a:noFill/>
          <a:ln/>
        </p:spPr>
        <p:txBody>
          <a:bodyPr wrap="square" lIns="0" tIns="0" rIns="0" bIns="0" rtlCol="0" anchor="ctr"/>
          <a:lstStyle/>
          <a:p>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Physical interaction</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is excluded — a machine that cannot see, hear, or touch the world may still pass</a:t>
            </a:r>
            <a:endParaRPr lang="en-US" sz="1600" dirty="0"/>
          </a:p>
        </p:txBody>
      </p:sp>
      <p:sp>
        <p:nvSpPr>
          <p:cNvPr id="23" name="Shape 21"/>
          <p:cNvSpPr/>
          <p:nvPr/>
        </p:nvSpPr>
        <p:spPr>
          <a:xfrm>
            <a:off x="8680450" y="5778500"/>
            <a:ext cx="266700" cy="355600"/>
          </a:xfrm>
          <a:custGeom>
            <a:avLst/>
            <a:gdLst/>
            <a:ahLst/>
            <a:cxnLst/>
            <a:rect l="l" t="t" r="r" b="b"/>
            <a:pathLst>
              <a:path w="266700" h="355600">
                <a:moveTo>
                  <a:pt x="38269" y="50979"/>
                </a:moveTo>
                <a:cubicBezTo>
                  <a:pt x="29587" y="42297"/>
                  <a:pt x="15488" y="42297"/>
                  <a:pt x="6806" y="50979"/>
                </a:cubicBezTo>
                <a:cubicBezTo>
                  <a:pt x="-1875" y="59660"/>
                  <a:pt x="-1875" y="73759"/>
                  <a:pt x="6806" y="82441"/>
                </a:cubicBezTo>
                <a:lnTo>
                  <a:pt x="102235" y="177800"/>
                </a:lnTo>
                <a:lnTo>
                  <a:pt x="6876" y="273229"/>
                </a:lnTo>
                <a:cubicBezTo>
                  <a:pt x="-1806" y="281910"/>
                  <a:pt x="-1806" y="296009"/>
                  <a:pt x="6876" y="304691"/>
                </a:cubicBezTo>
                <a:cubicBezTo>
                  <a:pt x="15558" y="313373"/>
                  <a:pt x="29656" y="313373"/>
                  <a:pt x="38338" y="304691"/>
                </a:cubicBezTo>
                <a:lnTo>
                  <a:pt x="133697" y="209262"/>
                </a:lnTo>
                <a:lnTo>
                  <a:pt x="229126" y="304621"/>
                </a:lnTo>
                <a:cubicBezTo>
                  <a:pt x="237808" y="313303"/>
                  <a:pt x="251906" y="313303"/>
                  <a:pt x="260588" y="304621"/>
                </a:cubicBezTo>
                <a:cubicBezTo>
                  <a:pt x="269270" y="295940"/>
                  <a:pt x="269270" y="281841"/>
                  <a:pt x="260588" y="273159"/>
                </a:cubicBezTo>
                <a:lnTo>
                  <a:pt x="165160" y="177800"/>
                </a:lnTo>
                <a:lnTo>
                  <a:pt x="260519" y="82371"/>
                </a:lnTo>
                <a:cubicBezTo>
                  <a:pt x="269200" y="73690"/>
                  <a:pt x="269200" y="59591"/>
                  <a:pt x="260519" y="50909"/>
                </a:cubicBezTo>
                <a:cubicBezTo>
                  <a:pt x="251837" y="42228"/>
                  <a:pt x="237738" y="42228"/>
                  <a:pt x="229056" y="50909"/>
                </a:cubicBezTo>
                <a:lnTo>
                  <a:pt x="133697" y="146338"/>
                </a:lnTo>
                <a:lnTo>
                  <a:pt x="38269" y="50979"/>
                </a:lnTo>
                <a:close/>
              </a:path>
            </a:pathLst>
          </a:custGeom>
          <a:solidFill>
            <a:srgbClr val="636E72"/>
          </a:solidFill>
          <a:ln/>
        </p:spPr>
      </p:sp>
      <p:sp>
        <p:nvSpPr>
          <p:cNvPr id="24" name="Text 22"/>
          <p:cNvSpPr/>
          <p:nvPr/>
        </p:nvSpPr>
        <p:spPr>
          <a:xfrm>
            <a:off x="9144000" y="5715000"/>
            <a:ext cx="6350000" cy="889000"/>
          </a:xfrm>
          <a:prstGeom prst="rect">
            <a:avLst/>
          </a:prstGeom>
          <a:noFill/>
          <a:ln/>
        </p:spPr>
        <p:txBody>
          <a:bodyPr wrap="square" lIns="0" tIns="0" rIns="0" bIns="0" rtlCol="0" anchor="ctr"/>
          <a:lstStyle/>
          <a:p>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Human intelligence may not be the </a:t>
            </a:r>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best benchmark</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 we have biases, limited memory, and cognitive errors</a:t>
            </a:r>
            <a:endParaRPr lang="en-US" sz="1600" dirty="0"/>
          </a:p>
        </p:txBody>
      </p:sp>
      <p:sp>
        <p:nvSpPr>
          <p:cNvPr id="25" name="Shape 23"/>
          <p:cNvSpPr/>
          <p:nvPr/>
        </p:nvSpPr>
        <p:spPr>
          <a:xfrm>
            <a:off x="762000" y="6985000"/>
            <a:ext cx="14732000" cy="1016000"/>
          </a:xfrm>
          <a:prstGeom prst="rect">
            <a:avLst/>
          </a:prstGeom>
          <a:solidFill>
            <a:srgbClr val="EDE8E1"/>
          </a:solidFill>
          <a:ln/>
        </p:spPr>
      </p:sp>
      <p:sp>
        <p:nvSpPr>
          <p:cNvPr id="26" name="Text 24"/>
          <p:cNvSpPr/>
          <p:nvPr/>
        </p:nvSpPr>
        <p:spPr>
          <a:xfrm>
            <a:off x="1016000" y="7048500"/>
            <a:ext cx="14224000" cy="889000"/>
          </a:xfrm>
          <a:prstGeom prst="rect">
            <a:avLst/>
          </a:prstGeom>
          <a:noFill/>
          <a:ln/>
        </p:spPr>
        <p:txBody>
          <a:bodyPr wrap="square" lIns="0" tIns="0" rIns="0" bIns="0" rtlCol="0" anchor="ctr"/>
          <a:lstStyle/>
          <a:p>
            <a:pPr algn="ctr">
              <a:lnSpc>
                <a:spcPct val="150000"/>
              </a:lnSpc>
            </a:pPr>
            <a:r>
              <a:rPr lang="en-US" sz="1600" i="1" dirty="0">
                <a:solidFill>
                  <a:srgbClr val="2D3436"/>
                </a:solidFill>
                <a:latin typeface="Quattrocento Sans" pitchFamily="34" charset="0"/>
                <a:ea typeface="Quattrocento Sans" pitchFamily="34" charset="-122"/>
                <a:cs typeface="Quattrocento Sans" pitchFamily="34" charset="-120"/>
              </a:rPr>
              <a:t>"Despite criticisms, the Turing Test remains a landmark concept in AI philosophy — it fundamentally shaped how we think about machine intelligence."</a:t>
            </a:r>
            <a:endParaRPr lang="en-US" sz="1600" dirty="0"/>
          </a:p>
        </p:txBody>
      </p:sp>
      <p:sp>
        <p:nvSpPr>
          <p:cNvPr id="27" name="Text 25"/>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18</a:t>
            </a:r>
            <a:endParaRPr lang="en-US" sz="14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Thinking Humanly — Cognitive Modeling</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Text 3"/>
          <p:cNvSpPr/>
          <p:nvPr/>
        </p:nvSpPr>
        <p:spPr>
          <a:xfrm>
            <a:off x="762000" y="2159000"/>
            <a:ext cx="14732000" cy="1016000"/>
          </a:xfrm>
          <a:prstGeom prst="rect">
            <a:avLst/>
          </a:prstGeom>
          <a:noFill/>
          <a:ln/>
        </p:spPr>
        <p:txBody>
          <a:bodyPr wrap="square" lIns="0" tIns="0" rIns="0" bIns="0" rtlCol="0" anchor="ctr"/>
          <a:lstStyle/>
          <a:p>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The </a:t>
            </a:r>
            <a:pPr>
              <a:lnSpc>
                <a:spcPct val="160000"/>
              </a:lnSpc>
            </a:pPr>
            <a:r>
              <a:rPr lang="en-US" sz="1800" b="1" dirty="0">
                <a:solidFill>
                  <a:srgbClr val="2D3436"/>
                </a:solidFill>
                <a:latin typeface="Quattrocento Sans" pitchFamily="34" charset="0"/>
                <a:ea typeface="Quattrocento Sans" pitchFamily="34" charset="-122"/>
                <a:cs typeface="Quattrocento Sans" pitchFamily="34" charset="-120"/>
              </a:rPr>
              <a:t>"Thinking Humanly"</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approach aims to build systems that </a:t>
            </a:r>
            <a:pPr>
              <a:lnSpc>
                <a:spcPct val="160000"/>
              </a:lnSpc>
            </a:pPr>
            <a:r>
              <a:rPr lang="en-US" sz="1800" i="1" dirty="0">
                <a:solidFill>
                  <a:srgbClr val="2D3436"/>
                </a:solidFill>
                <a:latin typeface="Quattrocento Sans" pitchFamily="34" charset="0"/>
                <a:ea typeface="Quattrocento Sans" pitchFamily="34" charset="-122"/>
                <a:cs typeface="Quattrocento Sans" pitchFamily="34" charset="-120"/>
              </a:rPr>
              <a:t>think like humans</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 not just behave like them, but replicate the internal cognitive processes. This requires a deep understanding of how the human mind works.</a:t>
            </a:r>
            <a:endParaRPr lang="en-US" sz="1600" dirty="0"/>
          </a:p>
        </p:txBody>
      </p:sp>
      <p:sp>
        <p:nvSpPr>
          <p:cNvPr id="6" name="Text 4"/>
          <p:cNvSpPr/>
          <p:nvPr/>
        </p:nvSpPr>
        <p:spPr>
          <a:xfrm>
            <a:off x="762000" y="3429000"/>
            <a:ext cx="635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Three Methods to Study Human Thought</a:t>
            </a:r>
            <a:endParaRPr lang="en-US" sz="1600" dirty="0"/>
          </a:p>
        </p:txBody>
      </p:sp>
      <p:sp>
        <p:nvSpPr>
          <p:cNvPr id="7" name="Shape 5"/>
          <p:cNvSpPr/>
          <p:nvPr/>
        </p:nvSpPr>
        <p:spPr>
          <a:xfrm>
            <a:off x="762000" y="4000500"/>
            <a:ext cx="4572000" cy="2032000"/>
          </a:xfrm>
          <a:prstGeom prst="rect">
            <a:avLst/>
          </a:prstGeom>
          <a:solidFill>
            <a:srgbClr val="EDE8E1"/>
          </a:solidFill>
          <a:ln/>
        </p:spPr>
      </p:sp>
      <p:sp>
        <p:nvSpPr>
          <p:cNvPr id="8" name="Shape 6"/>
          <p:cNvSpPr/>
          <p:nvPr/>
        </p:nvSpPr>
        <p:spPr>
          <a:xfrm>
            <a:off x="990600" y="4191000"/>
            <a:ext cx="457200" cy="406400"/>
          </a:xfrm>
          <a:custGeom>
            <a:avLst/>
            <a:gdLst/>
            <a:ahLst/>
            <a:cxnLst/>
            <a:rect l="l" t="t" r="r" b="b"/>
            <a:pathLst>
              <a:path w="457200" h="406400">
                <a:moveTo>
                  <a:pt x="228600" y="25400"/>
                </a:moveTo>
                <a:cubicBezTo>
                  <a:pt x="164465" y="25400"/>
                  <a:pt x="113109" y="54610"/>
                  <a:pt x="75724" y="89376"/>
                </a:cubicBezTo>
                <a:cubicBezTo>
                  <a:pt x="38576" y="123904"/>
                  <a:pt x="13732" y="165100"/>
                  <a:pt x="1905" y="193437"/>
                </a:cubicBezTo>
                <a:cubicBezTo>
                  <a:pt x="-714" y="199708"/>
                  <a:pt x="-714" y="206692"/>
                  <a:pt x="1905" y="212963"/>
                </a:cubicBezTo>
                <a:cubicBezTo>
                  <a:pt x="13732" y="241300"/>
                  <a:pt x="38576" y="282575"/>
                  <a:pt x="75724" y="317024"/>
                </a:cubicBezTo>
                <a:cubicBezTo>
                  <a:pt x="113109" y="351711"/>
                  <a:pt x="164465" y="381000"/>
                  <a:pt x="228600" y="381000"/>
                </a:cubicBezTo>
                <a:cubicBezTo>
                  <a:pt x="292735" y="381000"/>
                  <a:pt x="344091" y="351790"/>
                  <a:pt x="381476" y="317024"/>
                </a:cubicBezTo>
                <a:cubicBezTo>
                  <a:pt x="418624" y="282496"/>
                  <a:pt x="443468" y="241300"/>
                  <a:pt x="455295" y="212963"/>
                </a:cubicBezTo>
                <a:cubicBezTo>
                  <a:pt x="457914" y="206692"/>
                  <a:pt x="457914" y="199707"/>
                  <a:pt x="455295" y="193437"/>
                </a:cubicBezTo>
                <a:cubicBezTo>
                  <a:pt x="443468" y="165100"/>
                  <a:pt x="418624" y="123825"/>
                  <a:pt x="381476" y="89376"/>
                </a:cubicBezTo>
                <a:cubicBezTo>
                  <a:pt x="344091" y="54689"/>
                  <a:pt x="292735" y="25400"/>
                  <a:pt x="228600" y="25400"/>
                </a:cubicBezTo>
                <a:close/>
                <a:moveTo>
                  <a:pt x="114300" y="203200"/>
                </a:moveTo>
                <a:cubicBezTo>
                  <a:pt x="114300" y="140116"/>
                  <a:pt x="165516" y="88900"/>
                  <a:pt x="228600" y="88900"/>
                </a:cubicBezTo>
                <a:cubicBezTo>
                  <a:pt x="291684" y="88900"/>
                  <a:pt x="342900" y="140116"/>
                  <a:pt x="342900" y="203200"/>
                </a:cubicBezTo>
                <a:cubicBezTo>
                  <a:pt x="342900" y="266284"/>
                  <a:pt x="291684" y="317500"/>
                  <a:pt x="228600" y="317500"/>
                </a:cubicBezTo>
                <a:cubicBezTo>
                  <a:pt x="165516" y="317500"/>
                  <a:pt x="114300" y="266284"/>
                  <a:pt x="114300" y="203200"/>
                </a:cubicBezTo>
                <a:close/>
                <a:moveTo>
                  <a:pt x="228600" y="152400"/>
                </a:moveTo>
                <a:cubicBezTo>
                  <a:pt x="228600" y="180419"/>
                  <a:pt x="205819" y="203200"/>
                  <a:pt x="177800" y="203200"/>
                </a:cubicBezTo>
                <a:cubicBezTo>
                  <a:pt x="168672" y="203200"/>
                  <a:pt x="160099" y="200819"/>
                  <a:pt x="152638" y="196533"/>
                </a:cubicBezTo>
                <a:cubicBezTo>
                  <a:pt x="151844" y="205184"/>
                  <a:pt x="152559" y="214074"/>
                  <a:pt x="154940" y="222885"/>
                </a:cubicBezTo>
                <a:cubicBezTo>
                  <a:pt x="165814" y="263525"/>
                  <a:pt x="207645" y="287655"/>
                  <a:pt x="248285" y="276781"/>
                </a:cubicBezTo>
                <a:cubicBezTo>
                  <a:pt x="288925" y="265906"/>
                  <a:pt x="313055" y="224076"/>
                  <a:pt x="302181" y="183436"/>
                </a:cubicBezTo>
                <a:cubicBezTo>
                  <a:pt x="292497" y="147161"/>
                  <a:pt x="258128" y="124063"/>
                  <a:pt x="221933" y="127238"/>
                </a:cubicBezTo>
                <a:cubicBezTo>
                  <a:pt x="226139" y="134620"/>
                  <a:pt x="228600" y="143193"/>
                  <a:pt x="228600" y="152400"/>
                </a:cubicBezTo>
                <a:close/>
              </a:path>
            </a:pathLst>
          </a:custGeom>
          <a:solidFill>
            <a:srgbClr val="D4A574"/>
          </a:solidFill>
          <a:ln/>
        </p:spPr>
      </p:sp>
      <p:sp>
        <p:nvSpPr>
          <p:cNvPr id="9" name="Text 7"/>
          <p:cNvSpPr/>
          <p:nvPr/>
        </p:nvSpPr>
        <p:spPr>
          <a:xfrm>
            <a:off x="1587500" y="4229100"/>
            <a:ext cx="3492500" cy="330200"/>
          </a:xfrm>
          <a:prstGeom prst="rect">
            <a:avLst/>
          </a:prstGeom>
          <a:noFill/>
          <a:ln/>
        </p:spPr>
        <p:txBody>
          <a:bodyPr wrap="none" lIns="0" tIns="0" rIns="0" bIns="0" rtlCol="0" anchor="ctr"/>
          <a:lstStyle/>
          <a:p>
            <a:pPr>
              <a:lnSpc>
                <a:spcPct val="100000"/>
              </a:lnSpc>
            </a:pPr>
            <a:r>
              <a:rPr lang="en-US" sz="1800" b="1" dirty="0">
                <a:solidFill>
                  <a:srgbClr val="2D3436"/>
                </a:solidFill>
                <a:latin typeface="Liter" pitchFamily="34" charset="0"/>
                <a:ea typeface="Liter" pitchFamily="34" charset="-122"/>
                <a:cs typeface="Liter" pitchFamily="34" charset="-120"/>
              </a:rPr>
              <a:t>Introspection</a:t>
            </a:r>
            <a:endParaRPr lang="en-US" sz="1600" dirty="0"/>
          </a:p>
        </p:txBody>
      </p:sp>
      <p:sp>
        <p:nvSpPr>
          <p:cNvPr id="10" name="Text 8"/>
          <p:cNvSpPr/>
          <p:nvPr/>
        </p:nvSpPr>
        <p:spPr>
          <a:xfrm>
            <a:off x="1016000" y="4699000"/>
            <a:ext cx="4064000" cy="1143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Observing and reporting on our own thoughts and mental processes as we solve problems and reason.</a:t>
            </a:r>
            <a:endParaRPr lang="en-US" sz="1600" dirty="0"/>
          </a:p>
        </p:txBody>
      </p:sp>
      <p:sp>
        <p:nvSpPr>
          <p:cNvPr id="11" name="Shape 9"/>
          <p:cNvSpPr/>
          <p:nvPr/>
        </p:nvSpPr>
        <p:spPr>
          <a:xfrm>
            <a:off x="5842000" y="4000500"/>
            <a:ext cx="4572000" cy="2159000"/>
          </a:xfrm>
          <a:prstGeom prst="rect">
            <a:avLst/>
          </a:prstGeom>
          <a:solidFill>
            <a:srgbClr val="EDE8E1"/>
          </a:solidFill>
          <a:ln/>
        </p:spPr>
      </p:sp>
      <p:sp>
        <p:nvSpPr>
          <p:cNvPr id="12" name="Shape 10"/>
          <p:cNvSpPr/>
          <p:nvPr/>
        </p:nvSpPr>
        <p:spPr>
          <a:xfrm>
            <a:off x="6121400" y="4191000"/>
            <a:ext cx="355600" cy="406400"/>
          </a:xfrm>
          <a:custGeom>
            <a:avLst/>
            <a:gdLst/>
            <a:ahLst/>
            <a:cxnLst/>
            <a:rect l="l" t="t" r="r" b="b"/>
            <a:pathLst>
              <a:path w="355600" h="406400">
                <a:moveTo>
                  <a:pt x="228600" y="0"/>
                </a:moveTo>
                <a:lnTo>
                  <a:pt x="101600" y="0"/>
                </a:lnTo>
                <a:cubicBezTo>
                  <a:pt x="87551" y="0"/>
                  <a:pt x="76200" y="11351"/>
                  <a:pt x="76200" y="25400"/>
                </a:cubicBezTo>
                <a:cubicBezTo>
                  <a:pt x="76200" y="39449"/>
                  <a:pt x="87551" y="50800"/>
                  <a:pt x="101600" y="50800"/>
                </a:cubicBezTo>
                <a:lnTo>
                  <a:pt x="101600" y="171053"/>
                </a:lnTo>
                <a:lnTo>
                  <a:pt x="5953" y="338376"/>
                </a:lnTo>
                <a:cubicBezTo>
                  <a:pt x="2064" y="345281"/>
                  <a:pt x="0" y="352981"/>
                  <a:pt x="0" y="360918"/>
                </a:cubicBezTo>
                <a:cubicBezTo>
                  <a:pt x="0" y="386080"/>
                  <a:pt x="20320" y="406400"/>
                  <a:pt x="45482" y="406400"/>
                </a:cubicBezTo>
                <a:lnTo>
                  <a:pt x="310118" y="406400"/>
                </a:lnTo>
                <a:cubicBezTo>
                  <a:pt x="335201" y="406400"/>
                  <a:pt x="355600" y="386080"/>
                  <a:pt x="355600" y="360918"/>
                </a:cubicBezTo>
                <a:cubicBezTo>
                  <a:pt x="355600" y="352981"/>
                  <a:pt x="353536" y="345202"/>
                  <a:pt x="349647" y="338376"/>
                </a:cubicBezTo>
                <a:lnTo>
                  <a:pt x="254000" y="171053"/>
                </a:lnTo>
                <a:lnTo>
                  <a:pt x="254000" y="50800"/>
                </a:lnTo>
                <a:cubicBezTo>
                  <a:pt x="268049" y="50800"/>
                  <a:pt x="279400" y="39449"/>
                  <a:pt x="279400" y="25400"/>
                </a:cubicBezTo>
                <a:cubicBezTo>
                  <a:pt x="279400" y="11351"/>
                  <a:pt x="268049" y="0"/>
                  <a:pt x="254000" y="0"/>
                </a:cubicBezTo>
                <a:lnTo>
                  <a:pt x="228600" y="0"/>
                </a:lnTo>
                <a:close/>
                <a:moveTo>
                  <a:pt x="152400" y="171053"/>
                </a:moveTo>
                <a:lnTo>
                  <a:pt x="152400" y="50800"/>
                </a:lnTo>
                <a:lnTo>
                  <a:pt x="203200" y="50800"/>
                </a:lnTo>
                <a:lnTo>
                  <a:pt x="203200" y="171053"/>
                </a:lnTo>
                <a:cubicBezTo>
                  <a:pt x="203200" y="179864"/>
                  <a:pt x="205502" y="188595"/>
                  <a:pt x="209868" y="196294"/>
                </a:cubicBezTo>
                <a:lnTo>
                  <a:pt x="242888" y="254000"/>
                </a:lnTo>
                <a:lnTo>
                  <a:pt x="112713" y="254000"/>
                </a:lnTo>
                <a:lnTo>
                  <a:pt x="145733" y="196294"/>
                </a:lnTo>
                <a:cubicBezTo>
                  <a:pt x="150098" y="188595"/>
                  <a:pt x="152400" y="179943"/>
                  <a:pt x="152400" y="171053"/>
                </a:cubicBezTo>
                <a:close/>
              </a:path>
            </a:pathLst>
          </a:custGeom>
          <a:solidFill>
            <a:srgbClr val="D4A574"/>
          </a:solidFill>
          <a:ln/>
        </p:spPr>
      </p:sp>
      <p:sp>
        <p:nvSpPr>
          <p:cNvPr id="13" name="Text 11"/>
          <p:cNvSpPr/>
          <p:nvPr/>
        </p:nvSpPr>
        <p:spPr>
          <a:xfrm>
            <a:off x="6667500" y="4229100"/>
            <a:ext cx="3492500" cy="330200"/>
          </a:xfrm>
          <a:prstGeom prst="rect">
            <a:avLst/>
          </a:prstGeom>
          <a:noFill/>
          <a:ln/>
        </p:spPr>
        <p:txBody>
          <a:bodyPr wrap="none" lIns="0" tIns="0" rIns="0" bIns="0" rtlCol="0" anchor="ctr"/>
          <a:lstStyle/>
          <a:p>
            <a:pPr>
              <a:lnSpc>
                <a:spcPct val="100000"/>
              </a:lnSpc>
            </a:pPr>
            <a:r>
              <a:rPr lang="en-US" sz="1800" b="1" dirty="0">
                <a:solidFill>
                  <a:srgbClr val="2D3436"/>
                </a:solidFill>
                <a:latin typeface="Liter" pitchFamily="34" charset="0"/>
                <a:ea typeface="Liter" pitchFamily="34" charset="-122"/>
                <a:cs typeface="Liter" pitchFamily="34" charset="-120"/>
              </a:rPr>
              <a:t>Psychological Experiments</a:t>
            </a:r>
            <a:endParaRPr lang="en-US" sz="1600" dirty="0"/>
          </a:p>
        </p:txBody>
      </p:sp>
      <p:sp>
        <p:nvSpPr>
          <p:cNvPr id="14" name="Text 12"/>
          <p:cNvSpPr/>
          <p:nvPr/>
        </p:nvSpPr>
        <p:spPr>
          <a:xfrm>
            <a:off x="6096000" y="4699000"/>
            <a:ext cx="4064000" cy="1397000"/>
          </a:xfrm>
          <a:prstGeom prst="rect">
            <a:avLst/>
          </a:prstGeom>
          <a:noFill/>
          <a:ln/>
        </p:spPr>
        <p:txBody>
          <a:bodyPr wrap="square" lIns="0" tIns="0" rIns="0" bIns="0" rtlCol="0" anchor="ctr"/>
          <a:lstStyle/>
          <a:p>
            <a:pPr>
              <a:lnSpc>
                <a:spcPct val="150000"/>
              </a:lnSpc>
            </a:pPr>
            <a:r>
              <a:rPr lang="en-US" sz="1500" dirty="0">
                <a:solidFill>
                  <a:srgbClr val="2D3436"/>
                </a:solidFill>
                <a:latin typeface="Quattrocento Sans" pitchFamily="34" charset="0"/>
                <a:ea typeface="Quattrocento Sans" pitchFamily="34" charset="-122"/>
                <a:cs typeface="Quattrocento Sans" pitchFamily="34" charset="-120"/>
              </a:rPr>
              <a:t>Conducting controlled experiments to observe human behavior, reaction times, error patterns, and problem-solving strategies.</a:t>
            </a:r>
            <a:endParaRPr lang="en-US" sz="1600" dirty="0"/>
          </a:p>
        </p:txBody>
      </p:sp>
      <p:sp>
        <p:nvSpPr>
          <p:cNvPr id="15" name="Shape 13"/>
          <p:cNvSpPr/>
          <p:nvPr/>
        </p:nvSpPr>
        <p:spPr>
          <a:xfrm>
            <a:off x="10922000" y="4000500"/>
            <a:ext cx="4572000" cy="2032000"/>
          </a:xfrm>
          <a:prstGeom prst="rect">
            <a:avLst/>
          </a:prstGeom>
          <a:solidFill>
            <a:srgbClr val="EDE8E1"/>
          </a:solidFill>
          <a:ln/>
        </p:spPr>
      </p:sp>
      <p:sp>
        <p:nvSpPr>
          <p:cNvPr id="16" name="Shape 14"/>
          <p:cNvSpPr/>
          <p:nvPr/>
        </p:nvSpPr>
        <p:spPr>
          <a:xfrm>
            <a:off x="11176000" y="4191000"/>
            <a:ext cx="406400" cy="406400"/>
          </a:xfrm>
          <a:custGeom>
            <a:avLst/>
            <a:gdLst/>
            <a:ahLst/>
            <a:cxnLst/>
            <a:rect l="l" t="t" r="r" b="b"/>
            <a:pathLst>
              <a:path w="406400" h="406400">
                <a:moveTo>
                  <a:pt x="95250" y="44450"/>
                </a:moveTo>
                <a:cubicBezTo>
                  <a:pt x="95250" y="19923"/>
                  <a:pt x="115173" y="0"/>
                  <a:pt x="139700" y="0"/>
                </a:cubicBezTo>
                <a:lnTo>
                  <a:pt x="158750" y="0"/>
                </a:lnTo>
                <a:cubicBezTo>
                  <a:pt x="172799" y="0"/>
                  <a:pt x="184150" y="11351"/>
                  <a:pt x="184150" y="25400"/>
                </a:cubicBezTo>
                <a:lnTo>
                  <a:pt x="184150" y="381000"/>
                </a:lnTo>
                <a:cubicBezTo>
                  <a:pt x="184150" y="395049"/>
                  <a:pt x="172799" y="406400"/>
                  <a:pt x="158750" y="406400"/>
                </a:cubicBezTo>
                <a:lnTo>
                  <a:pt x="133350" y="406400"/>
                </a:lnTo>
                <a:cubicBezTo>
                  <a:pt x="109696" y="406400"/>
                  <a:pt x="89773" y="390208"/>
                  <a:pt x="84138" y="368300"/>
                </a:cubicBezTo>
                <a:cubicBezTo>
                  <a:pt x="83582" y="368300"/>
                  <a:pt x="83106" y="368300"/>
                  <a:pt x="82550" y="368300"/>
                </a:cubicBezTo>
                <a:cubicBezTo>
                  <a:pt x="47466" y="368300"/>
                  <a:pt x="19050" y="339884"/>
                  <a:pt x="19050" y="304800"/>
                </a:cubicBezTo>
                <a:cubicBezTo>
                  <a:pt x="19050" y="290513"/>
                  <a:pt x="23813" y="277336"/>
                  <a:pt x="31750" y="266700"/>
                </a:cubicBezTo>
                <a:cubicBezTo>
                  <a:pt x="16351" y="255111"/>
                  <a:pt x="6350" y="236696"/>
                  <a:pt x="6350" y="215900"/>
                </a:cubicBezTo>
                <a:cubicBezTo>
                  <a:pt x="6350" y="191373"/>
                  <a:pt x="20320" y="170021"/>
                  <a:pt x="40640" y="159464"/>
                </a:cubicBezTo>
                <a:cubicBezTo>
                  <a:pt x="35004" y="149939"/>
                  <a:pt x="31750" y="138827"/>
                  <a:pt x="31750" y="127000"/>
                </a:cubicBezTo>
                <a:cubicBezTo>
                  <a:pt x="31750" y="91916"/>
                  <a:pt x="60166" y="63500"/>
                  <a:pt x="95250" y="63500"/>
                </a:cubicBezTo>
                <a:lnTo>
                  <a:pt x="95250" y="44450"/>
                </a:lnTo>
                <a:close/>
                <a:moveTo>
                  <a:pt x="311150" y="44450"/>
                </a:moveTo>
                <a:lnTo>
                  <a:pt x="311150" y="63500"/>
                </a:lnTo>
                <a:cubicBezTo>
                  <a:pt x="346234" y="63500"/>
                  <a:pt x="374650" y="91916"/>
                  <a:pt x="374650" y="127000"/>
                </a:cubicBezTo>
                <a:cubicBezTo>
                  <a:pt x="374650" y="138906"/>
                  <a:pt x="371396" y="150019"/>
                  <a:pt x="365760" y="159464"/>
                </a:cubicBezTo>
                <a:cubicBezTo>
                  <a:pt x="386159" y="170021"/>
                  <a:pt x="400050" y="191294"/>
                  <a:pt x="400050" y="215900"/>
                </a:cubicBezTo>
                <a:cubicBezTo>
                  <a:pt x="400050" y="236696"/>
                  <a:pt x="390049" y="255111"/>
                  <a:pt x="374650" y="266700"/>
                </a:cubicBezTo>
                <a:cubicBezTo>
                  <a:pt x="382588" y="277336"/>
                  <a:pt x="387350" y="290513"/>
                  <a:pt x="387350" y="304800"/>
                </a:cubicBezTo>
                <a:cubicBezTo>
                  <a:pt x="387350" y="339884"/>
                  <a:pt x="358934" y="368300"/>
                  <a:pt x="323850" y="368300"/>
                </a:cubicBezTo>
                <a:cubicBezTo>
                  <a:pt x="323294" y="368300"/>
                  <a:pt x="322818" y="368300"/>
                  <a:pt x="322263" y="368300"/>
                </a:cubicBezTo>
                <a:cubicBezTo>
                  <a:pt x="316627" y="390208"/>
                  <a:pt x="296704" y="406400"/>
                  <a:pt x="273050" y="406400"/>
                </a:cubicBezTo>
                <a:lnTo>
                  <a:pt x="247650" y="406400"/>
                </a:lnTo>
                <a:cubicBezTo>
                  <a:pt x="233601" y="406400"/>
                  <a:pt x="222250" y="395049"/>
                  <a:pt x="222250" y="381000"/>
                </a:cubicBezTo>
                <a:lnTo>
                  <a:pt x="222250" y="25400"/>
                </a:lnTo>
                <a:cubicBezTo>
                  <a:pt x="222250" y="11351"/>
                  <a:pt x="233601" y="0"/>
                  <a:pt x="247650" y="0"/>
                </a:cubicBezTo>
                <a:lnTo>
                  <a:pt x="266700" y="0"/>
                </a:lnTo>
                <a:cubicBezTo>
                  <a:pt x="291227" y="0"/>
                  <a:pt x="311150" y="19923"/>
                  <a:pt x="311150" y="44450"/>
                </a:cubicBezTo>
                <a:close/>
              </a:path>
            </a:pathLst>
          </a:custGeom>
          <a:solidFill>
            <a:srgbClr val="D4A574"/>
          </a:solidFill>
          <a:ln/>
        </p:spPr>
      </p:sp>
      <p:sp>
        <p:nvSpPr>
          <p:cNvPr id="17" name="Text 15"/>
          <p:cNvSpPr/>
          <p:nvPr/>
        </p:nvSpPr>
        <p:spPr>
          <a:xfrm>
            <a:off x="11747500" y="4229100"/>
            <a:ext cx="3492500" cy="330200"/>
          </a:xfrm>
          <a:prstGeom prst="rect">
            <a:avLst/>
          </a:prstGeom>
          <a:noFill/>
          <a:ln/>
        </p:spPr>
        <p:txBody>
          <a:bodyPr wrap="none" lIns="0" tIns="0" rIns="0" bIns="0" rtlCol="0" anchor="ctr"/>
          <a:lstStyle/>
          <a:p>
            <a:pPr>
              <a:lnSpc>
                <a:spcPct val="100000"/>
              </a:lnSpc>
            </a:pPr>
            <a:r>
              <a:rPr lang="en-US" sz="1800" b="1" dirty="0">
                <a:solidFill>
                  <a:srgbClr val="2D3436"/>
                </a:solidFill>
                <a:latin typeface="Liter" pitchFamily="34" charset="0"/>
                <a:ea typeface="Liter" pitchFamily="34" charset="-122"/>
                <a:cs typeface="Liter" pitchFamily="34" charset="-120"/>
              </a:rPr>
              <a:t>Brain Imaging</a:t>
            </a:r>
            <a:endParaRPr lang="en-US" sz="1600" dirty="0"/>
          </a:p>
        </p:txBody>
      </p:sp>
      <p:sp>
        <p:nvSpPr>
          <p:cNvPr id="18" name="Text 16"/>
          <p:cNvSpPr/>
          <p:nvPr/>
        </p:nvSpPr>
        <p:spPr>
          <a:xfrm>
            <a:off x="11176000" y="4699000"/>
            <a:ext cx="4064000" cy="1143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Using fMRI, EEG, and other techniques to observe neural activity during cognitive tasks and map brain function.</a:t>
            </a:r>
            <a:endParaRPr lang="en-US" sz="1600" dirty="0"/>
          </a:p>
        </p:txBody>
      </p:sp>
      <p:sp>
        <p:nvSpPr>
          <p:cNvPr id="19" name="Text 17"/>
          <p:cNvSpPr/>
          <p:nvPr/>
        </p:nvSpPr>
        <p:spPr>
          <a:xfrm>
            <a:off x="762000" y="6477000"/>
            <a:ext cx="635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Cognitive Science — The Interdisciplinary Field</a:t>
            </a:r>
            <a:endParaRPr lang="en-US" sz="1600" dirty="0"/>
          </a:p>
        </p:txBody>
      </p:sp>
      <p:sp>
        <p:nvSpPr>
          <p:cNvPr id="20" name="Text 18"/>
          <p:cNvSpPr/>
          <p:nvPr/>
        </p:nvSpPr>
        <p:spPr>
          <a:xfrm>
            <a:off x="762000" y="6985000"/>
            <a:ext cx="14732000" cy="1143000"/>
          </a:xfrm>
          <a:prstGeom prst="rect">
            <a:avLst/>
          </a:prstGeom>
          <a:noFill/>
          <a:ln/>
        </p:spPr>
        <p:txBody>
          <a:bodyPr wrap="square" lIns="0" tIns="0" rIns="0" bIns="0" rtlCol="0" anchor="ctr"/>
          <a:lstStyle/>
          <a:p>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The field of </a:t>
            </a:r>
            <a:pPr>
              <a:lnSpc>
                <a:spcPct val="160000"/>
              </a:lnSpc>
            </a:pPr>
            <a:r>
              <a:rPr lang="en-US" sz="1800" b="1" dirty="0">
                <a:solidFill>
                  <a:srgbClr val="D4A574"/>
                </a:solidFill>
                <a:latin typeface="Quattrocento Sans" pitchFamily="34" charset="0"/>
                <a:ea typeface="Quattrocento Sans" pitchFamily="34" charset="-122"/>
                <a:cs typeface="Quattrocento Sans" pitchFamily="34" charset="-120"/>
              </a:rPr>
              <a:t>Cognitive Science</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combines AI, psychology, linguistics, philosophy, and neuroscience to model human cognition. </a:t>
            </a:r>
            <a:pPr>
              <a:lnSpc>
                <a:spcPct val="160000"/>
              </a:lnSpc>
            </a:pPr>
            <a:r>
              <a:rPr lang="en-US" sz="1800" b="1" dirty="0">
                <a:solidFill>
                  <a:srgbClr val="2D3436"/>
                </a:solidFill>
                <a:latin typeface="Quattrocento Sans" pitchFamily="34" charset="0"/>
                <a:ea typeface="Quattrocento Sans" pitchFamily="34" charset="-122"/>
                <a:cs typeface="Quattrocento Sans" pitchFamily="34" charset="-120"/>
              </a:rPr>
              <a:t>Key insight:</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If we can accurately model human thought processes computationally, we can both create intelligent systems and better understand the human mind.</a:t>
            </a:r>
            <a:endParaRPr lang="en-US" sz="1600" dirty="0"/>
          </a:p>
        </p:txBody>
      </p:sp>
      <p:sp>
        <p:nvSpPr>
          <p:cNvPr id="21" name="Text 19"/>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19</a:t>
            </a:r>
            <a:endParaRPr lang="en-US" sz="14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Cognitive Science &amp; AI — A Two-Way Street</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Text 3"/>
          <p:cNvSpPr/>
          <p:nvPr/>
        </p:nvSpPr>
        <p:spPr>
          <a:xfrm>
            <a:off x="762000" y="2159000"/>
            <a:ext cx="14732000" cy="889000"/>
          </a:xfrm>
          <a:prstGeom prst="rect">
            <a:avLst/>
          </a:prstGeom>
          <a:noFill/>
          <a:ln/>
        </p:spPr>
        <p:txBody>
          <a:bodyPr wrap="square" lIns="0" tIns="0" rIns="0" bIns="0" rtlCol="0" anchor="ctr"/>
          <a:lstStyle/>
          <a:p>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Cognitive science and AI have a </a:t>
            </a:r>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symbiotic relationship</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AI provides computational models; cognitive science provides insights into human intelligence.</a:t>
            </a:r>
            <a:endParaRPr lang="en-US" sz="1600" dirty="0"/>
          </a:p>
        </p:txBody>
      </p:sp>
      <p:sp>
        <p:nvSpPr>
          <p:cNvPr id="6" name="Shape 4"/>
          <p:cNvSpPr/>
          <p:nvPr/>
        </p:nvSpPr>
        <p:spPr>
          <a:xfrm>
            <a:off x="3937000" y="3556000"/>
            <a:ext cx="3302000" cy="0"/>
          </a:xfrm>
          <a:prstGeom prst="straightConnector1">
            <a:avLst/>
          </a:prstGeom>
          <a:noFill/>
          <a:ln w="25400">
            <a:solidFill>
              <a:srgbClr val="D4A574"/>
            </a:solidFill>
            <a:prstDash val="solid"/>
            <a:headEnd type="arrow"/>
            <a:tailEnd type="none"/>
          </a:ln>
        </p:spPr>
      </p:sp>
      <p:sp>
        <p:nvSpPr>
          <p:cNvPr id="7" name="Shape 5"/>
          <p:cNvSpPr/>
          <p:nvPr/>
        </p:nvSpPr>
        <p:spPr>
          <a:xfrm>
            <a:off x="9017000" y="3556000"/>
            <a:ext cx="3302000" cy="0"/>
          </a:xfrm>
          <a:prstGeom prst="straightConnector1">
            <a:avLst/>
          </a:prstGeom>
          <a:noFill/>
          <a:ln w="25400">
            <a:solidFill>
              <a:srgbClr val="D4A574"/>
            </a:solidFill>
            <a:prstDash val="solid"/>
            <a:headEnd type="none"/>
            <a:tailEnd type="arrow"/>
          </a:ln>
        </p:spPr>
      </p:sp>
      <p:sp>
        <p:nvSpPr>
          <p:cNvPr id="8" name="Shape 6"/>
          <p:cNvSpPr/>
          <p:nvPr/>
        </p:nvSpPr>
        <p:spPr>
          <a:xfrm>
            <a:off x="762000" y="3048000"/>
            <a:ext cx="3175000" cy="1270000"/>
          </a:xfrm>
          <a:prstGeom prst="rect">
            <a:avLst/>
          </a:prstGeom>
          <a:solidFill>
            <a:srgbClr val="2D3436"/>
          </a:solidFill>
          <a:ln/>
        </p:spPr>
      </p:sp>
      <p:sp>
        <p:nvSpPr>
          <p:cNvPr id="9" name="Text 7"/>
          <p:cNvSpPr/>
          <p:nvPr/>
        </p:nvSpPr>
        <p:spPr>
          <a:xfrm>
            <a:off x="762000" y="3048000"/>
            <a:ext cx="3175000" cy="1270000"/>
          </a:xfrm>
          <a:prstGeom prst="rect">
            <a:avLst/>
          </a:prstGeom>
          <a:noFill/>
          <a:ln/>
        </p:spPr>
        <p:txBody>
          <a:bodyPr wrap="square" lIns="0" tIns="0" rIns="0" bIns="0" rtlCol="0" anchor="ctr"/>
          <a:lstStyle/>
          <a:p>
            <a:pPr algn="ctr">
              <a:lnSpc>
                <a:spcPct val="100000"/>
              </a:lnSpc>
            </a:pPr>
            <a:r>
              <a:rPr lang="en-US" sz="1800" b="1" dirty="0">
                <a:solidFill>
                  <a:srgbClr val="F5F1EC"/>
                </a:solidFill>
                <a:latin typeface="Liter" pitchFamily="34" charset="0"/>
                <a:ea typeface="Liter" pitchFamily="34" charset="-122"/>
                <a:cs typeface="Liter" pitchFamily="34" charset="-120"/>
              </a:rPr>
              <a:t>Cognitive</a:t>
            </a:r>
            <a:endParaRPr lang="en-US" sz="1600" dirty="0"/>
          </a:p>
          <a:p>
            <a:pPr algn="ctr">
              <a:lnSpc>
                <a:spcPct val="100000"/>
              </a:lnSpc>
            </a:pPr>
            <a:r>
              <a:rPr lang="en-US" sz="1800" b="1" dirty="0">
                <a:solidFill>
                  <a:srgbClr val="F5F1EC"/>
                </a:solidFill>
                <a:latin typeface="Liter" pitchFamily="34" charset="0"/>
                <a:ea typeface="Liter" pitchFamily="34" charset="-122"/>
                <a:cs typeface="Liter" pitchFamily="34" charset="-120"/>
              </a:rPr>
              <a:t>Science</a:t>
            </a:r>
            <a:endParaRPr lang="en-US" sz="1600" dirty="0"/>
          </a:p>
        </p:txBody>
      </p:sp>
      <p:sp>
        <p:nvSpPr>
          <p:cNvPr id="10" name="Shape 8"/>
          <p:cNvSpPr/>
          <p:nvPr/>
        </p:nvSpPr>
        <p:spPr>
          <a:xfrm>
            <a:off x="12319000" y="3048000"/>
            <a:ext cx="3175000" cy="1270000"/>
          </a:xfrm>
          <a:prstGeom prst="rect">
            <a:avLst/>
          </a:prstGeom>
          <a:solidFill>
            <a:srgbClr val="D4A574"/>
          </a:solidFill>
          <a:ln/>
        </p:spPr>
      </p:sp>
      <p:sp>
        <p:nvSpPr>
          <p:cNvPr id="11" name="Text 9"/>
          <p:cNvSpPr/>
          <p:nvPr/>
        </p:nvSpPr>
        <p:spPr>
          <a:xfrm>
            <a:off x="12319000" y="3048000"/>
            <a:ext cx="3175000" cy="1270000"/>
          </a:xfrm>
          <a:prstGeom prst="rect">
            <a:avLst/>
          </a:prstGeom>
          <a:noFill/>
          <a:ln/>
        </p:spPr>
        <p:txBody>
          <a:bodyPr wrap="square" lIns="0" tIns="0" rIns="0" bIns="0" rtlCol="0" anchor="ctr"/>
          <a:lstStyle/>
          <a:p>
            <a:pPr algn="ctr">
              <a:lnSpc>
                <a:spcPct val="100000"/>
              </a:lnSpc>
            </a:pPr>
            <a:r>
              <a:rPr lang="en-US" sz="1800" b="1" dirty="0">
                <a:solidFill>
                  <a:srgbClr val="F5F1EC"/>
                </a:solidFill>
                <a:latin typeface="Liter" pitchFamily="34" charset="0"/>
                <a:ea typeface="Liter" pitchFamily="34" charset="-122"/>
                <a:cs typeface="Liter" pitchFamily="34" charset="-120"/>
              </a:rPr>
              <a:t>Artificial</a:t>
            </a:r>
            <a:endParaRPr lang="en-US" sz="1600" dirty="0"/>
          </a:p>
          <a:p>
            <a:pPr algn="ctr">
              <a:lnSpc>
                <a:spcPct val="100000"/>
              </a:lnSpc>
            </a:pPr>
            <a:r>
              <a:rPr lang="en-US" sz="1800" b="1" dirty="0">
                <a:solidFill>
                  <a:srgbClr val="F5F1EC"/>
                </a:solidFill>
                <a:latin typeface="Liter" pitchFamily="34" charset="0"/>
                <a:ea typeface="Liter" pitchFamily="34" charset="-122"/>
                <a:cs typeface="Liter" pitchFamily="34" charset="-120"/>
              </a:rPr>
              <a:t>Intelligence</a:t>
            </a:r>
            <a:endParaRPr lang="en-US" sz="1600" dirty="0"/>
          </a:p>
        </p:txBody>
      </p:sp>
      <p:sp>
        <p:nvSpPr>
          <p:cNvPr id="12" name="Text 10"/>
          <p:cNvSpPr/>
          <p:nvPr/>
        </p:nvSpPr>
        <p:spPr>
          <a:xfrm>
            <a:off x="4191000" y="3238500"/>
            <a:ext cx="2794000" cy="279400"/>
          </a:xfrm>
          <a:prstGeom prst="rect">
            <a:avLst/>
          </a:prstGeom>
          <a:noFill/>
          <a:ln/>
        </p:spPr>
        <p:txBody>
          <a:bodyPr wrap="none" lIns="0" tIns="0" rIns="0" bIns="0" rtlCol="0" anchor="ctr"/>
          <a:lstStyle/>
          <a:p>
            <a:pPr algn="ctr">
              <a:lnSpc>
                <a:spcPct val="100000"/>
              </a:lnSpc>
            </a:pPr>
            <a:r>
              <a:rPr lang="en-US" sz="1300" spc="100" kern="0" dirty="0">
                <a:solidFill>
                  <a:srgbClr val="D4A574"/>
                </a:solidFill>
                <a:latin typeface="Liter" pitchFamily="34" charset="0"/>
                <a:ea typeface="Liter" pitchFamily="34" charset="-122"/>
                <a:cs typeface="Liter" pitchFamily="34" charset="-120"/>
              </a:rPr>
              <a:t>INSPIRES MODELS</a:t>
            </a:r>
            <a:endParaRPr lang="en-US" sz="1600" dirty="0"/>
          </a:p>
        </p:txBody>
      </p:sp>
      <p:sp>
        <p:nvSpPr>
          <p:cNvPr id="13" name="Text 11"/>
          <p:cNvSpPr/>
          <p:nvPr/>
        </p:nvSpPr>
        <p:spPr>
          <a:xfrm>
            <a:off x="9271000" y="3238500"/>
            <a:ext cx="2794000" cy="279400"/>
          </a:xfrm>
          <a:prstGeom prst="rect">
            <a:avLst/>
          </a:prstGeom>
          <a:noFill/>
          <a:ln/>
        </p:spPr>
        <p:txBody>
          <a:bodyPr wrap="none" lIns="0" tIns="0" rIns="0" bIns="0" rtlCol="0" anchor="ctr"/>
          <a:lstStyle/>
          <a:p>
            <a:pPr algn="ctr">
              <a:lnSpc>
                <a:spcPct val="100000"/>
              </a:lnSpc>
            </a:pPr>
            <a:r>
              <a:rPr lang="en-US" sz="1300" spc="100" kern="0" dirty="0">
                <a:solidFill>
                  <a:srgbClr val="D4A574"/>
                </a:solidFill>
                <a:latin typeface="Liter" pitchFamily="34" charset="0"/>
                <a:ea typeface="Liter" pitchFamily="34" charset="-122"/>
                <a:cs typeface="Liter" pitchFamily="34" charset="-120"/>
              </a:rPr>
              <a:t>PROVIDES TOOLS</a:t>
            </a:r>
            <a:endParaRPr lang="en-US" sz="1600" dirty="0"/>
          </a:p>
        </p:txBody>
      </p:sp>
      <p:sp>
        <p:nvSpPr>
          <p:cNvPr id="14" name="Text 12"/>
          <p:cNvSpPr/>
          <p:nvPr/>
        </p:nvSpPr>
        <p:spPr>
          <a:xfrm>
            <a:off x="762000" y="4953000"/>
            <a:ext cx="635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Examples of Cross-Pollination</a:t>
            </a:r>
            <a:endParaRPr lang="en-US" sz="1600" dirty="0"/>
          </a:p>
        </p:txBody>
      </p:sp>
      <p:sp>
        <p:nvSpPr>
          <p:cNvPr id="15" name="Shape 13"/>
          <p:cNvSpPr/>
          <p:nvPr/>
        </p:nvSpPr>
        <p:spPr>
          <a:xfrm>
            <a:off x="762000" y="5524500"/>
            <a:ext cx="7048500" cy="1270000"/>
          </a:xfrm>
          <a:prstGeom prst="rect">
            <a:avLst/>
          </a:prstGeom>
          <a:solidFill>
            <a:srgbClr val="EDE8E1"/>
          </a:solidFill>
          <a:ln/>
        </p:spPr>
      </p:sp>
      <p:sp>
        <p:nvSpPr>
          <p:cNvPr id="16" name="Text 14"/>
          <p:cNvSpPr/>
          <p:nvPr/>
        </p:nvSpPr>
        <p:spPr>
          <a:xfrm>
            <a:off x="1016000" y="5651500"/>
            <a:ext cx="6540500" cy="1016000"/>
          </a:xfrm>
          <a:prstGeom prst="rect">
            <a:avLst/>
          </a:prstGeom>
          <a:noFill/>
          <a:ln/>
        </p:spPr>
        <p:txBody>
          <a:bodyPr wrap="square" lIns="0" tIns="0" rIns="0" bIns="0" rtlCol="0" anchor="ctr"/>
          <a:lstStyle/>
          <a:p>
            <a:pPr>
              <a:lnSpc>
                <a:spcPct val="150000"/>
              </a:lnSpc>
            </a:pPr>
            <a:r>
              <a:rPr lang="en-US" sz="1700" b="1" dirty="0">
                <a:solidFill>
                  <a:srgbClr val="D4A574"/>
                </a:solidFill>
                <a:latin typeface="Quattrocento Sans" pitchFamily="34" charset="0"/>
                <a:ea typeface="Quattrocento Sans" pitchFamily="34" charset="-122"/>
                <a:cs typeface="Quattrocento Sans" pitchFamily="34" charset="-120"/>
              </a:rPr>
              <a:t>Neural Networks</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were inspired by the structure of biological neurons (McCulloch &amp; Pitts, 1943)</a:t>
            </a:r>
            <a:endParaRPr lang="en-US" sz="1600" dirty="0"/>
          </a:p>
        </p:txBody>
      </p:sp>
      <p:sp>
        <p:nvSpPr>
          <p:cNvPr id="17" name="Shape 15"/>
          <p:cNvSpPr/>
          <p:nvPr/>
        </p:nvSpPr>
        <p:spPr>
          <a:xfrm>
            <a:off x="8445500" y="5524500"/>
            <a:ext cx="7048500" cy="1270000"/>
          </a:xfrm>
          <a:prstGeom prst="rect">
            <a:avLst/>
          </a:prstGeom>
          <a:solidFill>
            <a:srgbClr val="EDE8E1"/>
          </a:solidFill>
          <a:ln/>
        </p:spPr>
      </p:sp>
      <p:sp>
        <p:nvSpPr>
          <p:cNvPr id="18" name="Text 16"/>
          <p:cNvSpPr/>
          <p:nvPr/>
        </p:nvSpPr>
        <p:spPr>
          <a:xfrm>
            <a:off x="8699500" y="5651500"/>
            <a:ext cx="6540500" cy="1016000"/>
          </a:xfrm>
          <a:prstGeom prst="rect">
            <a:avLst/>
          </a:prstGeom>
          <a:noFill/>
          <a:ln/>
        </p:spPr>
        <p:txBody>
          <a:bodyPr wrap="square" lIns="0" tIns="0" rIns="0" bIns="0" rtlCol="0" anchor="ctr"/>
          <a:lstStyle/>
          <a:p>
            <a:pPr>
              <a:lnSpc>
                <a:spcPct val="150000"/>
              </a:lnSpc>
            </a:pPr>
            <a:r>
              <a:rPr lang="en-US" sz="1700" b="1" dirty="0">
                <a:solidFill>
                  <a:srgbClr val="D4A574"/>
                </a:solidFill>
                <a:latin typeface="Quattrocento Sans" pitchFamily="34" charset="0"/>
                <a:ea typeface="Quattrocento Sans" pitchFamily="34" charset="-122"/>
                <a:cs typeface="Quattrocento Sans" pitchFamily="34" charset="-120"/>
              </a:rPr>
              <a:t>Reinforcement Learning</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draws parallels with how humans learn through reward and punishment</a:t>
            </a:r>
            <a:endParaRPr lang="en-US" sz="1600" dirty="0"/>
          </a:p>
        </p:txBody>
      </p:sp>
      <p:sp>
        <p:nvSpPr>
          <p:cNvPr id="19" name="Shape 17"/>
          <p:cNvSpPr/>
          <p:nvPr/>
        </p:nvSpPr>
        <p:spPr>
          <a:xfrm>
            <a:off x="762000" y="7048500"/>
            <a:ext cx="7048500" cy="1270000"/>
          </a:xfrm>
          <a:prstGeom prst="rect">
            <a:avLst/>
          </a:prstGeom>
          <a:solidFill>
            <a:srgbClr val="EDE8E1"/>
          </a:solidFill>
          <a:ln/>
        </p:spPr>
      </p:sp>
      <p:sp>
        <p:nvSpPr>
          <p:cNvPr id="20" name="Text 18"/>
          <p:cNvSpPr/>
          <p:nvPr/>
        </p:nvSpPr>
        <p:spPr>
          <a:xfrm>
            <a:off x="1016000" y="7175500"/>
            <a:ext cx="6540500" cy="1016000"/>
          </a:xfrm>
          <a:prstGeom prst="rect">
            <a:avLst/>
          </a:prstGeom>
          <a:noFill/>
          <a:ln/>
        </p:spPr>
        <p:txBody>
          <a:bodyPr wrap="square" lIns="0" tIns="0" rIns="0" bIns="0" rtlCol="0" anchor="ctr"/>
          <a:lstStyle/>
          <a:p>
            <a:pPr>
              <a:lnSpc>
                <a:spcPct val="150000"/>
              </a:lnSpc>
            </a:pPr>
            <a:r>
              <a:rPr lang="en-US" sz="1700" b="1" dirty="0">
                <a:solidFill>
                  <a:srgbClr val="D4A574"/>
                </a:solidFill>
                <a:latin typeface="Quattrocento Sans" pitchFamily="34" charset="0"/>
                <a:ea typeface="Quattrocento Sans" pitchFamily="34" charset="-122"/>
                <a:cs typeface="Quattrocento Sans" pitchFamily="34" charset="-120"/>
              </a:rPr>
              <a:t>Memory Models</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in AI (short-term, long-term) mirror human memory systems</a:t>
            </a:r>
            <a:endParaRPr lang="en-US" sz="1600" dirty="0"/>
          </a:p>
        </p:txBody>
      </p:sp>
      <p:sp>
        <p:nvSpPr>
          <p:cNvPr id="21" name="Shape 19"/>
          <p:cNvSpPr/>
          <p:nvPr/>
        </p:nvSpPr>
        <p:spPr>
          <a:xfrm>
            <a:off x="8445500" y="7048500"/>
            <a:ext cx="7048500" cy="1270000"/>
          </a:xfrm>
          <a:prstGeom prst="rect">
            <a:avLst/>
          </a:prstGeom>
          <a:solidFill>
            <a:srgbClr val="EDE8E1"/>
          </a:solidFill>
          <a:ln/>
        </p:spPr>
      </p:sp>
      <p:sp>
        <p:nvSpPr>
          <p:cNvPr id="22" name="Text 20"/>
          <p:cNvSpPr/>
          <p:nvPr/>
        </p:nvSpPr>
        <p:spPr>
          <a:xfrm>
            <a:off x="8699500" y="7175500"/>
            <a:ext cx="6540500" cy="1016000"/>
          </a:xfrm>
          <a:prstGeom prst="rect">
            <a:avLst/>
          </a:prstGeom>
          <a:noFill/>
          <a:ln/>
        </p:spPr>
        <p:txBody>
          <a:bodyPr wrap="square" lIns="0" tIns="0" rIns="0" bIns="0" rtlCol="0" anchor="ctr"/>
          <a:lstStyle/>
          <a:p>
            <a:pPr>
              <a:lnSpc>
                <a:spcPct val="150000"/>
              </a:lnSpc>
            </a:pPr>
            <a:r>
              <a:rPr lang="en-US" sz="1700" b="1" dirty="0">
                <a:solidFill>
                  <a:srgbClr val="D4A574"/>
                </a:solidFill>
                <a:latin typeface="Quattrocento Sans" pitchFamily="34" charset="0"/>
                <a:ea typeface="Quattrocento Sans" pitchFamily="34" charset="-122"/>
                <a:cs typeface="Quattrocento Sans" pitchFamily="34" charset="-120"/>
              </a:rPr>
              <a:t>Attention Mechanisms</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in deep learning were inspired by human visual attention</a:t>
            </a:r>
            <a:endParaRPr lang="en-US" sz="1600" dirty="0"/>
          </a:p>
        </p:txBody>
      </p:sp>
      <p:sp>
        <p:nvSpPr>
          <p:cNvPr id="23" name="Text 21"/>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20</a:t>
            </a:r>
            <a:endParaRPr lang="en-US" sz="14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Thinking Rationally — Laws of Thought</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Text 3"/>
          <p:cNvSpPr/>
          <p:nvPr/>
        </p:nvSpPr>
        <p:spPr>
          <a:xfrm>
            <a:off x="762000" y="2159000"/>
            <a:ext cx="8890000" cy="1016000"/>
          </a:xfrm>
          <a:prstGeom prst="rect">
            <a:avLst/>
          </a:prstGeom>
          <a:noFill/>
          <a:ln/>
        </p:spPr>
        <p:txBody>
          <a:bodyPr wrap="square" lIns="0" tIns="0" rIns="0" bIns="0" rtlCol="0" anchor="ctr"/>
          <a:lstStyle/>
          <a:p>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The </a:t>
            </a:r>
            <a:pPr>
              <a:lnSpc>
                <a:spcPct val="160000"/>
              </a:lnSpc>
            </a:pPr>
            <a:r>
              <a:rPr lang="en-US" sz="1800" b="1" dirty="0">
                <a:solidFill>
                  <a:srgbClr val="2D3436"/>
                </a:solidFill>
                <a:latin typeface="Quattrocento Sans" pitchFamily="34" charset="0"/>
                <a:ea typeface="Quattrocento Sans" pitchFamily="34" charset="-122"/>
                <a:cs typeface="Quattrocento Sans" pitchFamily="34" charset="-120"/>
              </a:rPr>
              <a:t>"Thinking Rationally"</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approach uses </a:t>
            </a:r>
            <a:pPr>
              <a:lnSpc>
                <a:spcPct val="160000"/>
              </a:lnSpc>
            </a:pPr>
            <a:r>
              <a:rPr lang="en-US" sz="1800" b="1" dirty="0">
                <a:solidFill>
                  <a:srgbClr val="D4A574"/>
                </a:solidFill>
                <a:latin typeface="Quattrocento Sans" pitchFamily="34" charset="0"/>
                <a:ea typeface="Quattrocento Sans" pitchFamily="34" charset="-122"/>
                <a:cs typeface="Quattrocento Sans" pitchFamily="34" charset="-120"/>
              </a:rPr>
              <a:t>formal logic</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to capture the laws of rational thought as symbols that can be manipulated by a computer.</a:t>
            </a:r>
            <a:endParaRPr lang="en-US" sz="1600" dirty="0"/>
          </a:p>
        </p:txBody>
      </p:sp>
      <p:sp>
        <p:nvSpPr>
          <p:cNvPr id="6" name="Shape 4"/>
          <p:cNvSpPr/>
          <p:nvPr/>
        </p:nvSpPr>
        <p:spPr>
          <a:xfrm>
            <a:off x="10160000" y="2159000"/>
            <a:ext cx="5334000" cy="1905000"/>
          </a:xfrm>
          <a:prstGeom prst="rect">
            <a:avLst/>
          </a:prstGeom>
          <a:solidFill>
            <a:srgbClr val="2D3436"/>
          </a:solidFill>
          <a:ln/>
        </p:spPr>
      </p:sp>
      <p:sp>
        <p:nvSpPr>
          <p:cNvPr id="7" name="Text 5"/>
          <p:cNvSpPr/>
          <p:nvPr/>
        </p:nvSpPr>
        <p:spPr>
          <a:xfrm>
            <a:off x="10477500" y="2349500"/>
            <a:ext cx="4699000" cy="304800"/>
          </a:xfrm>
          <a:prstGeom prst="rect">
            <a:avLst/>
          </a:prstGeom>
          <a:noFill/>
          <a:ln/>
        </p:spPr>
        <p:txBody>
          <a:bodyPr wrap="none" lIns="0" tIns="0" rIns="0" bIns="0" rtlCol="0" anchor="ctr"/>
          <a:lstStyle/>
          <a:p>
            <a:pPr>
              <a:lnSpc>
                <a:spcPct val="100000"/>
              </a:lnSpc>
            </a:pPr>
            <a:r>
              <a:rPr lang="en-US" sz="1600" b="1" dirty="0">
                <a:solidFill>
                  <a:srgbClr val="D4A574"/>
                </a:solidFill>
                <a:latin typeface="Liter" pitchFamily="34" charset="0"/>
                <a:ea typeface="Liter" pitchFamily="34" charset="-122"/>
                <a:cs typeface="Liter" pitchFamily="34" charset="-120"/>
              </a:rPr>
              <a:t>Aristotle's Syllogism</a:t>
            </a:r>
            <a:endParaRPr lang="en-US" sz="1600" dirty="0"/>
          </a:p>
        </p:txBody>
      </p:sp>
      <p:sp>
        <p:nvSpPr>
          <p:cNvPr id="8" name="Text 6"/>
          <p:cNvSpPr/>
          <p:nvPr/>
        </p:nvSpPr>
        <p:spPr>
          <a:xfrm>
            <a:off x="10477500" y="2730500"/>
            <a:ext cx="4699000" cy="1143000"/>
          </a:xfrm>
          <a:prstGeom prst="rect">
            <a:avLst/>
          </a:prstGeom>
          <a:noFill/>
          <a:ln/>
        </p:spPr>
        <p:txBody>
          <a:bodyPr wrap="square" lIns="0" tIns="0" rIns="0" bIns="0" rtlCol="0" anchor="ctr"/>
          <a:lstStyle/>
          <a:p>
            <a:pPr>
              <a:lnSpc>
                <a:spcPct val="160000"/>
              </a:lnSpc>
            </a:pPr>
            <a:r>
              <a:rPr lang="en-US" sz="1600" dirty="0">
                <a:solidFill>
                  <a:srgbClr val="F5F1EC"/>
                </a:solidFill>
                <a:latin typeface="Quattrocento Sans" pitchFamily="34" charset="0"/>
                <a:ea typeface="Quattrocento Sans" pitchFamily="34" charset="-122"/>
                <a:cs typeface="Quattrocento Sans" pitchFamily="34" charset="-120"/>
              </a:rPr>
              <a:t>Socrates is a man</a:t>
            </a:r>
            <a:endParaRPr lang="en-US" sz="1600" dirty="0"/>
          </a:p>
          <a:p>
            <a:pPr>
              <a:lnSpc>
                <a:spcPct val="160000"/>
              </a:lnSpc>
            </a:pPr>
            <a:r>
              <a:rPr lang="en-US" sz="1600" dirty="0">
                <a:solidFill>
                  <a:srgbClr val="F5F1EC"/>
                </a:solidFill>
                <a:latin typeface="Quattrocento Sans" pitchFamily="34" charset="0"/>
                <a:ea typeface="Quattrocento Sans" pitchFamily="34" charset="-122"/>
                <a:cs typeface="Quattrocento Sans" pitchFamily="34" charset="-120"/>
              </a:rPr>
              <a:t>All men are mortal</a:t>
            </a:r>
            <a:endParaRPr lang="en-US" sz="1600" dirty="0"/>
          </a:p>
          <a:p>
            <a:pPr>
              <a:lnSpc>
                <a:spcPct val="160000"/>
              </a:lnSpc>
            </a:pPr>
            <a:r>
              <a:rPr lang="en-US" sz="1600" b="1" dirty="0">
                <a:solidFill>
                  <a:srgbClr val="F5F1EC"/>
                </a:solidFill>
                <a:latin typeface="Quattrocento Sans" pitchFamily="34" charset="0"/>
                <a:ea typeface="Quattrocento Sans" pitchFamily="34" charset="-122"/>
                <a:cs typeface="Quattrocento Sans" pitchFamily="34" charset="-120"/>
              </a:rPr>
              <a:t>Therefore, Socrates is mortal</a:t>
            </a:r>
            <a:endParaRPr lang="en-US" sz="1600" dirty="0"/>
          </a:p>
        </p:txBody>
      </p:sp>
      <p:sp>
        <p:nvSpPr>
          <p:cNvPr id="9" name="Text 7"/>
          <p:cNvSpPr/>
          <p:nvPr/>
        </p:nvSpPr>
        <p:spPr>
          <a:xfrm>
            <a:off x="762000" y="3683000"/>
            <a:ext cx="635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Historical Foundations</a:t>
            </a:r>
            <a:endParaRPr lang="en-US" sz="1600" dirty="0"/>
          </a:p>
        </p:txBody>
      </p:sp>
      <p:sp>
        <p:nvSpPr>
          <p:cNvPr id="10" name="Text 8"/>
          <p:cNvSpPr/>
          <p:nvPr/>
        </p:nvSpPr>
        <p:spPr>
          <a:xfrm>
            <a:off x="762000" y="4127500"/>
            <a:ext cx="14732000" cy="1270000"/>
          </a:xfrm>
          <a:prstGeom prst="rect">
            <a:avLst/>
          </a:prstGeom>
          <a:noFill/>
          <a:ln/>
        </p:spPr>
        <p:txBody>
          <a:bodyPr wrap="square" lIns="0" tIns="0" rIns="0" bIns="0" rtlCol="0" anchor="ctr"/>
          <a:lstStyle/>
          <a:p>
            <a:pPr marL="254000" indent="-254000">
              <a:lnSpc>
                <a:spcPct val="160000"/>
              </a:lnSpc>
              <a:spcBef>
                <a:spcPts val="10"/>
              </a:spcBef>
              <a:buSzPct val="100000"/>
              <a:buChar char="•"/>
            </a:pPr>
            <a:r>
              <a:rPr lang="en-US" sz="1800" b="1" dirty="0">
                <a:solidFill>
                  <a:srgbClr val="2D3436"/>
                </a:solidFill>
                <a:latin typeface="Quattrocento Sans" pitchFamily="34" charset="0"/>
                <a:ea typeface="Quattrocento Sans" pitchFamily="34" charset="-122"/>
                <a:cs typeface="Quattrocento Sans" pitchFamily="34" charset="-120"/>
              </a:rPr>
              <a:t>Aristotle</a:t>
            </a:r>
            <a:pPr>
              <a:lnSpc>
                <a:spcPct val="160000"/>
              </a:lnSpc>
              <a:spcBef>
                <a:spcPts val="10"/>
              </a:spcBef>
            </a:pPr>
            <a:r>
              <a:rPr lang="en-US" sz="1800" dirty="0">
                <a:solidFill>
                  <a:srgbClr val="2D3436"/>
                </a:solidFill>
                <a:latin typeface="Quattrocento Sans" pitchFamily="34" charset="0"/>
                <a:ea typeface="Quattrocento Sans" pitchFamily="34" charset="-122"/>
                <a:cs typeface="Quattrocento Sans" pitchFamily="34" charset="-120"/>
              </a:rPr>
              <a:t> (384–322 BC) — Characterized "right thinking" through syllogisms: formal structures for valid arguments</a:t>
            </a:r>
            <a:endParaRPr lang="en-US" sz="1600" dirty="0"/>
          </a:p>
          <a:p>
            <a:pPr marL="254000" indent="-254000">
              <a:lnSpc>
                <a:spcPct val="160000"/>
              </a:lnSpc>
              <a:spcBef>
                <a:spcPts val="10"/>
              </a:spcBef>
              <a:buSzPct val="100000"/>
              <a:buChar char="•"/>
            </a:pPr>
            <a:r>
              <a:rPr lang="en-US" sz="1800" b="1" dirty="0">
                <a:solidFill>
                  <a:srgbClr val="2D3436"/>
                </a:solidFill>
                <a:latin typeface="Quattrocento Sans" pitchFamily="34" charset="0"/>
                <a:ea typeface="Quattrocento Sans" pitchFamily="34" charset="-122"/>
                <a:cs typeface="Quattrocento Sans" pitchFamily="34" charset="-120"/>
              </a:rPr>
              <a:t>Greek schools</a:t>
            </a:r>
            <a:pPr>
              <a:lnSpc>
                <a:spcPct val="160000"/>
              </a:lnSpc>
              <a:spcBef>
                <a:spcPts val="10"/>
              </a:spcBef>
            </a:pPr>
            <a:r>
              <a:rPr lang="en-US" sz="1800" dirty="0">
                <a:solidFill>
                  <a:srgbClr val="2D3436"/>
                </a:solidFill>
                <a:latin typeface="Quattrocento Sans" pitchFamily="34" charset="0"/>
                <a:ea typeface="Quattrocento Sans" pitchFamily="34" charset="-122"/>
                <a:cs typeface="Quattrocento Sans" pitchFamily="34" charset="-120"/>
              </a:rPr>
              <a:t> — Developed various forms of logic with notation and rules of derivation for thoughts</a:t>
            </a:r>
            <a:endParaRPr lang="en-US" sz="1600" dirty="0"/>
          </a:p>
          <a:p>
            <a:pPr marL="254000" indent="-254000">
              <a:lnSpc>
                <a:spcPct val="160000"/>
              </a:lnSpc>
              <a:spcBef>
                <a:spcPts val="10"/>
              </a:spcBef>
              <a:buSzPct val="100000"/>
              <a:buChar char="•"/>
            </a:pPr>
            <a:r>
              <a:rPr lang="en-US" sz="1800" b="1" dirty="0">
                <a:solidFill>
                  <a:srgbClr val="2D3436"/>
                </a:solidFill>
                <a:latin typeface="Quattrocento Sans" pitchFamily="34" charset="0"/>
                <a:ea typeface="Quattrocento Sans" pitchFamily="34" charset="-122"/>
                <a:cs typeface="Quattrocento Sans" pitchFamily="34" charset="-120"/>
              </a:rPr>
              <a:t>Boole, Frege, Tarski</a:t>
            </a:r>
            <a:pPr>
              <a:lnSpc>
                <a:spcPct val="160000"/>
              </a:lnSpc>
              <a:spcBef>
                <a:spcPts val="10"/>
              </a:spcBef>
            </a:pPr>
            <a:r>
              <a:rPr lang="en-US" sz="1800" dirty="0">
                <a:solidFill>
                  <a:srgbClr val="2D3436"/>
                </a:solidFill>
                <a:latin typeface="Quattrocento Sans" pitchFamily="34" charset="0"/>
                <a:ea typeface="Quattrocento Sans" pitchFamily="34" charset="-122"/>
                <a:cs typeface="Quattrocento Sans" pitchFamily="34" charset="-120"/>
              </a:rPr>
              <a:t> — Modern logicians who developed the "language of thought" and formal symbolic systems</a:t>
            </a:r>
            <a:endParaRPr lang="en-US" sz="1600" dirty="0"/>
          </a:p>
        </p:txBody>
      </p:sp>
      <p:sp>
        <p:nvSpPr>
          <p:cNvPr id="11" name="Text 9"/>
          <p:cNvSpPr/>
          <p:nvPr/>
        </p:nvSpPr>
        <p:spPr>
          <a:xfrm>
            <a:off x="762000" y="5715000"/>
            <a:ext cx="635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The Core Goal</a:t>
            </a:r>
            <a:endParaRPr lang="en-US" sz="1600" dirty="0"/>
          </a:p>
        </p:txBody>
      </p:sp>
      <p:sp>
        <p:nvSpPr>
          <p:cNvPr id="12" name="Text 10"/>
          <p:cNvSpPr/>
          <p:nvPr/>
        </p:nvSpPr>
        <p:spPr>
          <a:xfrm>
            <a:off x="762000" y="6159500"/>
            <a:ext cx="14732000" cy="1016000"/>
          </a:xfrm>
          <a:prstGeom prst="rect">
            <a:avLst/>
          </a:prstGeom>
          <a:noFill/>
          <a:ln/>
        </p:spPr>
        <p:txBody>
          <a:bodyPr wrap="square" lIns="0" tIns="0" rIns="0" bIns="0" rtlCol="0" anchor="ctr"/>
          <a:lstStyle/>
          <a:p>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Develop a complete </a:t>
            </a:r>
            <a:pPr>
              <a:lnSpc>
                <a:spcPct val="160000"/>
              </a:lnSpc>
            </a:pPr>
            <a:r>
              <a:rPr lang="en-US" sz="1800" b="1" dirty="0">
                <a:solidFill>
                  <a:srgbClr val="2D3436"/>
                </a:solidFill>
                <a:latin typeface="Quattrocento Sans" pitchFamily="34" charset="0"/>
                <a:ea typeface="Quattrocento Sans" pitchFamily="34" charset="-122"/>
                <a:cs typeface="Quattrocento Sans" pitchFamily="34" charset="-120"/>
              </a:rPr>
              <a:t>"language of thought"</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where reasoning becomes mechanical computation. The key notion: </a:t>
            </a:r>
            <a:pPr>
              <a:lnSpc>
                <a:spcPct val="160000"/>
              </a:lnSpc>
            </a:pPr>
            <a:r>
              <a:rPr lang="en-US" sz="1800" b="1" dirty="0">
                <a:solidFill>
                  <a:srgbClr val="D4A574"/>
                </a:solidFill>
                <a:latin typeface="Quattrocento Sans" pitchFamily="34" charset="0"/>
                <a:ea typeface="Quattrocento Sans" pitchFamily="34" charset="-122"/>
                <a:cs typeface="Quattrocento Sans" pitchFamily="34" charset="-120"/>
              </a:rPr>
              <a:t>inference</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derives new information from stored facts. Axioms can be very compact — much of mathematics can be derived from logical axioms.</a:t>
            </a:r>
            <a:endParaRPr lang="en-US" sz="1600" dirty="0"/>
          </a:p>
        </p:txBody>
      </p:sp>
      <p:sp>
        <p:nvSpPr>
          <p:cNvPr id="13" name="Text 11"/>
          <p:cNvSpPr/>
          <p:nvPr/>
        </p:nvSpPr>
        <p:spPr>
          <a:xfrm>
            <a:off x="762000" y="7366000"/>
            <a:ext cx="635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Key Developments</a:t>
            </a:r>
            <a:endParaRPr lang="en-US" sz="1600" dirty="0"/>
          </a:p>
        </p:txBody>
      </p:sp>
      <p:sp>
        <p:nvSpPr>
          <p:cNvPr id="14" name="Text 12"/>
          <p:cNvSpPr/>
          <p:nvPr/>
        </p:nvSpPr>
        <p:spPr>
          <a:xfrm>
            <a:off x="762000" y="7810500"/>
            <a:ext cx="14732000" cy="635000"/>
          </a:xfrm>
          <a:prstGeom prst="rect">
            <a:avLst/>
          </a:prstGeom>
          <a:noFill/>
          <a:ln/>
        </p:spPr>
        <p:txBody>
          <a:bodyPr wrap="square" lIns="0" tIns="0" rIns="0" bIns="0" rtlCol="0" anchor="ctr"/>
          <a:lstStyle/>
          <a:p>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Propositional logic • Predicate logic • Automated theorem proving • Knowledge representation formalisms • Expert systems</a:t>
            </a:r>
            <a:endParaRPr lang="en-US" sz="1600" dirty="0"/>
          </a:p>
        </p:txBody>
      </p:sp>
      <p:sp>
        <p:nvSpPr>
          <p:cNvPr id="15" name="Text 13"/>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21</a:t>
            </a:r>
            <a:endParaRPr lang="en-US" sz="14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Logic-Based AI — Strengths &amp; Limitations</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Text 3"/>
          <p:cNvSpPr/>
          <p:nvPr/>
        </p:nvSpPr>
        <p:spPr>
          <a:xfrm>
            <a:off x="762000" y="2159000"/>
            <a:ext cx="7112000" cy="381000"/>
          </a:xfrm>
          <a:prstGeom prst="rect">
            <a:avLst/>
          </a:prstGeom>
          <a:noFill/>
          <a:ln/>
        </p:spPr>
        <p:txBody>
          <a:bodyPr wrap="none" lIns="0" tIns="0" rIns="0" bIns="0" rtlCol="0" anchor="ctr"/>
          <a:lstStyle/>
          <a:p>
            <a:pPr>
              <a:lnSpc>
                <a:spcPct val="100000"/>
              </a:lnSpc>
            </a:pPr>
            <a:r>
              <a:rPr lang="en-US" sz="2200" b="1" dirty="0">
                <a:solidFill>
                  <a:srgbClr val="D4A574"/>
                </a:solidFill>
                <a:latin typeface="Liter" pitchFamily="34" charset="0"/>
                <a:ea typeface="Liter" pitchFamily="34" charset="-122"/>
                <a:cs typeface="Liter" pitchFamily="34" charset="-120"/>
              </a:rPr>
              <a:t>Strengths</a:t>
            </a:r>
            <a:endParaRPr lang="en-US" sz="1600" dirty="0"/>
          </a:p>
        </p:txBody>
      </p:sp>
      <p:sp>
        <p:nvSpPr>
          <p:cNvPr id="6" name="Shape 4"/>
          <p:cNvSpPr/>
          <p:nvPr/>
        </p:nvSpPr>
        <p:spPr>
          <a:xfrm>
            <a:off x="762000" y="2667000"/>
            <a:ext cx="7112000" cy="38100"/>
          </a:xfrm>
          <a:prstGeom prst="rect">
            <a:avLst/>
          </a:prstGeom>
          <a:solidFill>
            <a:srgbClr val="D4A574"/>
          </a:solidFill>
          <a:ln/>
        </p:spPr>
      </p:sp>
      <p:sp>
        <p:nvSpPr>
          <p:cNvPr id="7" name="Shape 5"/>
          <p:cNvSpPr/>
          <p:nvPr/>
        </p:nvSpPr>
        <p:spPr>
          <a:xfrm>
            <a:off x="784225" y="2921000"/>
            <a:ext cx="311150" cy="355600"/>
          </a:xfrm>
          <a:custGeom>
            <a:avLst/>
            <a:gdLst/>
            <a:ahLst/>
            <a:cxnLst/>
            <a:rect l="l" t="t" r="r" b="b"/>
            <a:pathLst>
              <a:path w="311150" h="355600">
                <a:moveTo>
                  <a:pt x="301982" y="48687"/>
                </a:moveTo>
                <a:cubicBezTo>
                  <a:pt x="311914" y="55910"/>
                  <a:pt x="314136" y="69800"/>
                  <a:pt x="306913" y="79732"/>
                </a:cubicBezTo>
                <a:lnTo>
                  <a:pt x="129113" y="324207"/>
                </a:lnTo>
                <a:cubicBezTo>
                  <a:pt x="125293" y="329486"/>
                  <a:pt x="119390" y="332750"/>
                  <a:pt x="112861" y="333306"/>
                </a:cubicBezTo>
                <a:cubicBezTo>
                  <a:pt x="106333" y="333861"/>
                  <a:pt x="100013" y="331430"/>
                  <a:pt x="95429" y="326846"/>
                </a:cubicBezTo>
                <a:lnTo>
                  <a:pt x="6529" y="237946"/>
                </a:lnTo>
                <a:cubicBezTo>
                  <a:pt x="-2153" y="229265"/>
                  <a:pt x="-2153" y="215166"/>
                  <a:pt x="6529" y="206484"/>
                </a:cubicBezTo>
                <a:cubicBezTo>
                  <a:pt x="15210" y="197803"/>
                  <a:pt x="29309" y="197803"/>
                  <a:pt x="37991" y="206484"/>
                </a:cubicBezTo>
                <a:lnTo>
                  <a:pt x="108486" y="276979"/>
                </a:lnTo>
                <a:lnTo>
                  <a:pt x="271006" y="53548"/>
                </a:lnTo>
                <a:cubicBezTo>
                  <a:pt x="278229" y="43617"/>
                  <a:pt x="292120" y="41394"/>
                  <a:pt x="302052" y="48617"/>
                </a:cubicBezTo>
                <a:close/>
              </a:path>
            </a:pathLst>
          </a:custGeom>
          <a:solidFill>
            <a:srgbClr val="D4A574"/>
          </a:solidFill>
          <a:ln/>
        </p:spPr>
      </p:sp>
      <p:sp>
        <p:nvSpPr>
          <p:cNvPr id="8" name="Text 6"/>
          <p:cNvSpPr/>
          <p:nvPr/>
        </p:nvSpPr>
        <p:spPr>
          <a:xfrm>
            <a:off x="1270000" y="2857500"/>
            <a:ext cx="6604000" cy="889000"/>
          </a:xfrm>
          <a:prstGeom prst="rect">
            <a:avLst/>
          </a:prstGeom>
          <a:noFill/>
          <a:ln/>
        </p:spPr>
        <p:txBody>
          <a:bodyPr wrap="square" lIns="0" tIns="0" rIns="0" bIns="0" rtlCol="0" anchor="ctr"/>
          <a:lstStyle/>
          <a:p>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Provides a </a:t>
            </a:r>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precise, unambiguous language</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for representing knowledge — no room for interpretation</a:t>
            </a:r>
            <a:endParaRPr lang="en-US" sz="1600" dirty="0"/>
          </a:p>
        </p:txBody>
      </p:sp>
      <p:sp>
        <p:nvSpPr>
          <p:cNvPr id="9" name="Shape 7"/>
          <p:cNvSpPr/>
          <p:nvPr/>
        </p:nvSpPr>
        <p:spPr>
          <a:xfrm>
            <a:off x="784225" y="3873500"/>
            <a:ext cx="311150" cy="355600"/>
          </a:xfrm>
          <a:custGeom>
            <a:avLst/>
            <a:gdLst/>
            <a:ahLst/>
            <a:cxnLst/>
            <a:rect l="l" t="t" r="r" b="b"/>
            <a:pathLst>
              <a:path w="311150" h="355600">
                <a:moveTo>
                  <a:pt x="301982" y="48687"/>
                </a:moveTo>
                <a:cubicBezTo>
                  <a:pt x="311914" y="55910"/>
                  <a:pt x="314136" y="69800"/>
                  <a:pt x="306913" y="79732"/>
                </a:cubicBezTo>
                <a:lnTo>
                  <a:pt x="129113" y="324207"/>
                </a:lnTo>
                <a:cubicBezTo>
                  <a:pt x="125293" y="329486"/>
                  <a:pt x="119390" y="332750"/>
                  <a:pt x="112861" y="333306"/>
                </a:cubicBezTo>
                <a:cubicBezTo>
                  <a:pt x="106333" y="333861"/>
                  <a:pt x="100013" y="331430"/>
                  <a:pt x="95429" y="326846"/>
                </a:cubicBezTo>
                <a:lnTo>
                  <a:pt x="6529" y="237946"/>
                </a:lnTo>
                <a:cubicBezTo>
                  <a:pt x="-2153" y="229265"/>
                  <a:pt x="-2153" y="215166"/>
                  <a:pt x="6529" y="206484"/>
                </a:cubicBezTo>
                <a:cubicBezTo>
                  <a:pt x="15210" y="197803"/>
                  <a:pt x="29309" y="197803"/>
                  <a:pt x="37991" y="206484"/>
                </a:cubicBezTo>
                <a:lnTo>
                  <a:pt x="108486" y="276979"/>
                </a:lnTo>
                <a:lnTo>
                  <a:pt x="271006" y="53548"/>
                </a:lnTo>
                <a:cubicBezTo>
                  <a:pt x="278229" y="43617"/>
                  <a:pt x="292120" y="41394"/>
                  <a:pt x="302052" y="48617"/>
                </a:cubicBezTo>
                <a:close/>
              </a:path>
            </a:pathLst>
          </a:custGeom>
          <a:solidFill>
            <a:srgbClr val="D4A574"/>
          </a:solidFill>
          <a:ln/>
        </p:spPr>
      </p:sp>
      <p:sp>
        <p:nvSpPr>
          <p:cNvPr id="10" name="Text 8"/>
          <p:cNvSpPr/>
          <p:nvPr/>
        </p:nvSpPr>
        <p:spPr>
          <a:xfrm>
            <a:off x="1270000" y="3810000"/>
            <a:ext cx="6604000" cy="889000"/>
          </a:xfrm>
          <a:prstGeom prst="rect">
            <a:avLst/>
          </a:prstGeom>
          <a:noFill/>
          <a:ln/>
        </p:spPr>
        <p:txBody>
          <a:bodyPr wrap="square" lIns="0" tIns="0" rIns="0" bIns="0" rtlCol="0" anchor="ctr"/>
          <a:lstStyle/>
          <a:p>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Reasoning is </a:t>
            </a:r>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verifiable and explainable</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 every conclusion can be traced back to its premises</a:t>
            </a:r>
            <a:endParaRPr lang="en-US" sz="1600" dirty="0"/>
          </a:p>
        </p:txBody>
      </p:sp>
      <p:sp>
        <p:nvSpPr>
          <p:cNvPr id="11" name="Shape 9"/>
          <p:cNvSpPr/>
          <p:nvPr/>
        </p:nvSpPr>
        <p:spPr>
          <a:xfrm>
            <a:off x="784225" y="4826000"/>
            <a:ext cx="311150" cy="355600"/>
          </a:xfrm>
          <a:custGeom>
            <a:avLst/>
            <a:gdLst/>
            <a:ahLst/>
            <a:cxnLst/>
            <a:rect l="l" t="t" r="r" b="b"/>
            <a:pathLst>
              <a:path w="311150" h="355600">
                <a:moveTo>
                  <a:pt x="301982" y="48687"/>
                </a:moveTo>
                <a:cubicBezTo>
                  <a:pt x="311914" y="55910"/>
                  <a:pt x="314136" y="69800"/>
                  <a:pt x="306913" y="79732"/>
                </a:cubicBezTo>
                <a:lnTo>
                  <a:pt x="129113" y="324207"/>
                </a:lnTo>
                <a:cubicBezTo>
                  <a:pt x="125293" y="329486"/>
                  <a:pt x="119390" y="332750"/>
                  <a:pt x="112861" y="333306"/>
                </a:cubicBezTo>
                <a:cubicBezTo>
                  <a:pt x="106333" y="333861"/>
                  <a:pt x="100013" y="331430"/>
                  <a:pt x="95429" y="326846"/>
                </a:cubicBezTo>
                <a:lnTo>
                  <a:pt x="6529" y="237946"/>
                </a:lnTo>
                <a:cubicBezTo>
                  <a:pt x="-2153" y="229265"/>
                  <a:pt x="-2153" y="215166"/>
                  <a:pt x="6529" y="206484"/>
                </a:cubicBezTo>
                <a:cubicBezTo>
                  <a:pt x="15210" y="197803"/>
                  <a:pt x="29309" y="197803"/>
                  <a:pt x="37991" y="206484"/>
                </a:cubicBezTo>
                <a:lnTo>
                  <a:pt x="108486" y="276979"/>
                </a:lnTo>
                <a:lnTo>
                  <a:pt x="271006" y="53548"/>
                </a:lnTo>
                <a:cubicBezTo>
                  <a:pt x="278229" y="43617"/>
                  <a:pt x="292120" y="41394"/>
                  <a:pt x="302052" y="48617"/>
                </a:cubicBezTo>
                <a:close/>
              </a:path>
            </a:pathLst>
          </a:custGeom>
          <a:solidFill>
            <a:srgbClr val="D4A574"/>
          </a:solidFill>
          <a:ln/>
        </p:spPr>
      </p:sp>
      <p:sp>
        <p:nvSpPr>
          <p:cNvPr id="12" name="Text 10"/>
          <p:cNvSpPr/>
          <p:nvPr/>
        </p:nvSpPr>
        <p:spPr>
          <a:xfrm>
            <a:off x="1270000" y="4762500"/>
            <a:ext cx="6604000" cy="889000"/>
          </a:xfrm>
          <a:prstGeom prst="rect">
            <a:avLst/>
          </a:prstGeom>
          <a:noFill/>
          <a:ln/>
        </p:spPr>
        <p:txBody>
          <a:bodyPr wrap="square" lIns="0" tIns="0" rIns="0" bIns="0" rtlCol="0" anchor="ctr"/>
          <a:lstStyle/>
          <a:p>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Well-suited for domains with </a:t>
            </a:r>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clear rules</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 mathematics, legal reasoning, theorem proving</a:t>
            </a:r>
            <a:endParaRPr lang="en-US" sz="1600" dirty="0"/>
          </a:p>
        </p:txBody>
      </p:sp>
      <p:sp>
        <p:nvSpPr>
          <p:cNvPr id="13" name="Shape 11"/>
          <p:cNvSpPr/>
          <p:nvPr/>
        </p:nvSpPr>
        <p:spPr>
          <a:xfrm>
            <a:off x="784225" y="5778500"/>
            <a:ext cx="311150" cy="355600"/>
          </a:xfrm>
          <a:custGeom>
            <a:avLst/>
            <a:gdLst/>
            <a:ahLst/>
            <a:cxnLst/>
            <a:rect l="l" t="t" r="r" b="b"/>
            <a:pathLst>
              <a:path w="311150" h="355600">
                <a:moveTo>
                  <a:pt x="301982" y="48687"/>
                </a:moveTo>
                <a:cubicBezTo>
                  <a:pt x="311914" y="55910"/>
                  <a:pt x="314136" y="69800"/>
                  <a:pt x="306913" y="79732"/>
                </a:cubicBezTo>
                <a:lnTo>
                  <a:pt x="129113" y="324207"/>
                </a:lnTo>
                <a:cubicBezTo>
                  <a:pt x="125293" y="329486"/>
                  <a:pt x="119390" y="332750"/>
                  <a:pt x="112861" y="333306"/>
                </a:cubicBezTo>
                <a:cubicBezTo>
                  <a:pt x="106333" y="333861"/>
                  <a:pt x="100013" y="331430"/>
                  <a:pt x="95429" y="326846"/>
                </a:cubicBezTo>
                <a:lnTo>
                  <a:pt x="6529" y="237946"/>
                </a:lnTo>
                <a:cubicBezTo>
                  <a:pt x="-2153" y="229265"/>
                  <a:pt x="-2153" y="215166"/>
                  <a:pt x="6529" y="206484"/>
                </a:cubicBezTo>
                <a:cubicBezTo>
                  <a:pt x="15210" y="197803"/>
                  <a:pt x="29309" y="197803"/>
                  <a:pt x="37991" y="206484"/>
                </a:cubicBezTo>
                <a:lnTo>
                  <a:pt x="108486" y="276979"/>
                </a:lnTo>
                <a:lnTo>
                  <a:pt x="271006" y="53548"/>
                </a:lnTo>
                <a:cubicBezTo>
                  <a:pt x="278229" y="43617"/>
                  <a:pt x="292120" y="41394"/>
                  <a:pt x="302052" y="48617"/>
                </a:cubicBezTo>
                <a:close/>
              </a:path>
            </a:pathLst>
          </a:custGeom>
          <a:solidFill>
            <a:srgbClr val="D4A574"/>
          </a:solidFill>
          <a:ln/>
        </p:spPr>
      </p:sp>
      <p:sp>
        <p:nvSpPr>
          <p:cNvPr id="14" name="Text 12"/>
          <p:cNvSpPr/>
          <p:nvPr/>
        </p:nvSpPr>
        <p:spPr>
          <a:xfrm>
            <a:off x="1270000" y="5715000"/>
            <a:ext cx="6604000" cy="889000"/>
          </a:xfrm>
          <a:prstGeom prst="rect">
            <a:avLst/>
          </a:prstGeom>
          <a:noFill/>
          <a:ln/>
        </p:spPr>
        <p:txBody>
          <a:bodyPr wrap="square" lIns="0" tIns="0" rIns="0" bIns="0" rtlCol="0" anchor="ctr"/>
          <a:lstStyle/>
          <a:p>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Axioms are </a:t>
            </a:r>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compact</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 much of mathematics derived from a small set of logical axioms</a:t>
            </a:r>
            <a:endParaRPr lang="en-US" sz="1600" dirty="0"/>
          </a:p>
        </p:txBody>
      </p:sp>
      <p:sp>
        <p:nvSpPr>
          <p:cNvPr id="15" name="Text 13"/>
          <p:cNvSpPr/>
          <p:nvPr/>
        </p:nvSpPr>
        <p:spPr>
          <a:xfrm>
            <a:off x="8636000" y="2159000"/>
            <a:ext cx="6858000" cy="381000"/>
          </a:xfrm>
          <a:prstGeom prst="rect">
            <a:avLst/>
          </a:prstGeom>
          <a:noFill/>
          <a:ln/>
        </p:spPr>
        <p:txBody>
          <a:bodyPr wrap="none" lIns="0" tIns="0" rIns="0" bIns="0" rtlCol="0" anchor="ctr"/>
          <a:lstStyle/>
          <a:p>
            <a:pPr>
              <a:lnSpc>
                <a:spcPct val="100000"/>
              </a:lnSpc>
            </a:pPr>
            <a:r>
              <a:rPr lang="en-US" sz="2200" b="1" dirty="0">
                <a:solidFill>
                  <a:srgbClr val="636E72"/>
                </a:solidFill>
                <a:latin typeface="Liter" pitchFamily="34" charset="0"/>
                <a:ea typeface="Liter" pitchFamily="34" charset="-122"/>
                <a:cs typeface="Liter" pitchFamily="34" charset="-120"/>
              </a:rPr>
              <a:t>Limitations</a:t>
            </a:r>
            <a:endParaRPr lang="en-US" sz="1600" dirty="0"/>
          </a:p>
        </p:txBody>
      </p:sp>
      <p:sp>
        <p:nvSpPr>
          <p:cNvPr id="16" name="Shape 14"/>
          <p:cNvSpPr/>
          <p:nvPr/>
        </p:nvSpPr>
        <p:spPr>
          <a:xfrm>
            <a:off x="8636000" y="2667000"/>
            <a:ext cx="6858000" cy="38100"/>
          </a:xfrm>
          <a:prstGeom prst="rect">
            <a:avLst/>
          </a:prstGeom>
          <a:solidFill>
            <a:srgbClr val="636E72"/>
          </a:solidFill>
          <a:ln/>
        </p:spPr>
      </p:sp>
      <p:sp>
        <p:nvSpPr>
          <p:cNvPr id="17" name="Shape 15"/>
          <p:cNvSpPr/>
          <p:nvPr/>
        </p:nvSpPr>
        <p:spPr>
          <a:xfrm>
            <a:off x="8680450" y="2921000"/>
            <a:ext cx="266700" cy="355600"/>
          </a:xfrm>
          <a:custGeom>
            <a:avLst/>
            <a:gdLst/>
            <a:ahLst/>
            <a:cxnLst/>
            <a:rect l="l" t="t" r="r" b="b"/>
            <a:pathLst>
              <a:path w="266700" h="355600">
                <a:moveTo>
                  <a:pt x="38269" y="50979"/>
                </a:moveTo>
                <a:cubicBezTo>
                  <a:pt x="29587" y="42297"/>
                  <a:pt x="15488" y="42297"/>
                  <a:pt x="6806" y="50979"/>
                </a:cubicBezTo>
                <a:cubicBezTo>
                  <a:pt x="-1875" y="59660"/>
                  <a:pt x="-1875" y="73759"/>
                  <a:pt x="6806" y="82441"/>
                </a:cubicBezTo>
                <a:lnTo>
                  <a:pt x="102235" y="177800"/>
                </a:lnTo>
                <a:lnTo>
                  <a:pt x="6876" y="273229"/>
                </a:lnTo>
                <a:cubicBezTo>
                  <a:pt x="-1806" y="281910"/>
                  <a:pt x="-1806" y="296009"/>
                  <a:pt x="6876" y="304691"/>
                </a:cubicBezTo>
                <a:cubicBezTo>
                  <a:pt x="15558" y="313373"/>
                  <a:pt x="29656" y="313373"/>
                  <a:pt x="38338" y="304691"/>
                </a:cubicBezTo>
                <a:lnTo>
                  <a:pt x="133697" y="209262"/>
                </a:lnTo>
                <a:lnTo>
                  <a:pt x="229126" y="304621"/>
                </a:lnTo>
                <a:cubicBezTo>
                  <a:pt x="237808" y="313303"/>
                  <a:pt x="251906" y="313303"/>
                  <a:pt x="260588" y="304621"/>
                </a:cubicBezTo>
                <a:cubicBezTo>
                  <a:pt x="269270" y="295940"/>
                  <a:pt x="269270" y="281841"/>
                  <a:pt x="260588" y="273159"/>
                </a:cubicBezTo>
                <a:lnTo>
                  <a:pt x="165160" y="177800"/>
                </a:lnTo>
                <a:lnTo>
                  <a:pt x="260519" y="82371"/>
                </a:lnTo>
                <a:cubicBezTo>
                  <a:pt x="269200" y="73690"/>
                  <a:pt x="269200" y="59591"/>
                  <a:pt x="260519" y="50909"/>
                </a:cubicBezTo>
                <a:cubicBezTo>
                  <a:pt x="251837" y="42228"/>
                  <a:pt x="237738" y="42228"/>
                  <a:pt x="229056" y="50909"/>
                </a:cubicBezTo>
                <a:lnTo>
                  <a:pt x="133697" y="146338"/>
                </a:lnTo>
                <a:lnTo>
                  <a:pt x="38269" y="50979"/>
                </a:lnTo>
                <a:close/>
              </a:path>
            </a:pathLst>
          </a:custGeom>
          <a:solidFill>
            <a:srgbClr val="636E72"/>
          </a:solidFill>
          <a:ln/>
        </p:spPr>
      </p:sp>
      <p:sp>
        <p:nvSpPr>
          <p:cNvPr id="18" name="Text 16"/>
          <p:cNvSpPr/>
          <p:nvPr/>
        </p:nvSpPr>
        <p:spPr>
          <a:xfrm>
            <a:off x="9144000" y="2857500"/>
            <a:ext cx="6350000" cy="889000"/>
          </a:xfrm>
          <a:prstGeom prst="rect">
            <a:avLst/>
          </a:prstGeom>
          <a:noFill/>
          <a:ln/>
        </p:spPr>
        <p:txBody>
          <a:bodyPr wrap="square" lIns="0" tIns="0" rIns="0" bIns="0" rtlCol="0" anchor="ctr"/>
          <a:lstStyle/>
          <a:p>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Not all intelligent behavior is mediated by </a:t>
            </a:r>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logical deliberation</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 much appears intuitive</a:t>
            </a:r>
            <a:endParaRPr lang="en-US" sz="1600" dirty="0"/>
          </a:p>
        </p:txBody>
      </p:sp>
      <p:sp>
        <p:nvSpPr>
          <p:cNvPr id="19" name="Shape 17"/>
          <p:cNvSpPr/>
          <p:nvPr/>
        </p:nvSpPr>
        <p:spPr>
          <a:xfrm>
            <a:off x="8680450" y="3873500"/>
            <a:ext cx="266700" cy="355600"/>
          </a:xfrm>
          <a:custGeom>
            <a:avLst/>
            <a:gdLst/>
            <a:ahLst/>
            <a:cxnLst/>
            <a:rect l="l" t="t" r="r" b="b"/>
            <a:pathLst>
              <a:path w="266700" h="355600">
                <a:moveTo>
                  <a:pt x="38269" y="50979"/>
                </a:moveTo>
                <a:cubicBezTo>
                  <a:pt x="29587" y="42297"/>
                  <a:pt x="15488" y="42297"/>
                  <a:pt x="6806" y="50979"/>
                </a:cubicBezTo>
                <a:cubicBezTo>
                  <a:pt x="-1875" y="59660"/>
                  <a:pt x="-1875" y="73759"/>
                  <a:pt x="6806" y="82441"/>
                </a:cubicBezTo>
                <a:lnTo>
                  <a:pt x="102235" y="177800"/>
                </a:lnTo>
                <a:lnTo>
                  <a:pt x="6876" y="273229"/>
                </a:lnTo>
                <a:cubicBezTo>
                  <a:pt x="-1806" y="281910"/>
                  <a:pt x="-1806" y="296009"/>
                  <a:pt x="6876" y="304691"/>
                </a:cubicBezTo>
                <a:cubicBezTo>
                  <a:pt x="15558" y="313373"/>
                  <a:pt x="29656" y="313373"/>
                  <a:pt x="38338" y="304691"/>
                </a:cubicBezTo>
                <a:lnTo>
                  <a:pt x="133697" y="209262"/>
                </a:lnTo>
                <a:lnTo>
                  <a:pt x="229126" y="304621"/>
                </a:lnTo>
                <a:cubicBezTo>
                  <a:pt x="237808" y="313303"/>
                  <a:pt x="251906" y="313303"/>
                  <a:pt x="260588" y="304621"/>
                </a:cubicBezTo>
                <a:cubicBezTo>
                  <a:pt x="269270" y="295940"/>
                  <a:pt x="269270" y="281841"/>
                  <a:pt x="260588" y="273159"/>
                </a:cubicBezTo>
                <a:lnTo>
                  <a:pt x="165160" y="177800"/>
                </a:lnTo>
                <a:lnTo>
                  <a:pt x="260519" y="82371"/>
                </a:lnTo>
                <a:cubicBezTo>
                  <a:pt x="269200" y="73690"/>
                  <a:pt x="269200" y="59591"/>
                  <a:pt x="260519" y="50909"/>
                </a:cubicBezTo>
                <a:cubicBezTo>
                  <a:pt x="251837" y="42228"/>
                  <a:pt x="237738" y="42228"/>
                  <a:pt x="229056" y="50909"/>
                </a:cubicBezTo>
                <a:lnTo>
                  <a:pt x="133697" y="146338"/>
                </a:lnTo>
                <a:lnTo>
                  <a:pt x="38269" y="50979"/>
                </a:lnTo>
                <a:close/>
              </a:path>
            </a:pathLst>
          </a:custGeom>
          <a:solidFill>
            <a:srgbClr val="636E72"/>
          </a:solidFill>
          <a:ln/>
        </p:spPr>
      </p:sp>
      <p:sp>
        <p:nvSpPr>
          <p:cNvPr id="20" name="Text 18"/>
          <p:cNvSpPr/>
          <p:nvPr/>
        </p:nvSpPr>
        <p:spPr>
          <a:xfrm>
            <a:off x="9144000" y="3810000"/>
            <a:ext cx="6350000" cy="889000"/>
          </a:xfrm>
          <a:prstGeom prst="rect">
            <a:avLst/>
          </a:prstGeom>
          <a:noFill/>
          <a:ln/>
        </p:spPr>
        <p:txBody>
          <a:bodyPr wrap="square" lIns="0" tIns="0" rIns="0" bIns="0" rtlCol="0" anchor="ctr"/>
          <a:lstStyle/>
          <a:p>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Representing </a:t>
            </a:r>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real-world knowledge</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in logic is extremely difficult — the "knowledge acquisition bottleneck"</a:t>
            </a:r>
            <a:endParaRPr lang="en-US" sz="1600" dirty="0"/>
          </a:p>
        </p:txBody>
      </p:sp>
      <p:sp>
        <p:nvSpPr>
          <p:cNvPr id="21" name="Shape 19"/>
          <p:cNvSpPr/>
          <p:nvPr/>
        </p:nvSpPr>
        <p:spPr>
          <a:xfrm>
            <a:off x="8680450" y="4826000"/>
            <a:ext cx="266700" cy="355600"/>
          </a:xfrm>
          <a:custGeom>
            <a:avLst/>
            <a:gdLst/>
            <a:ahLst/>
            <a:cxnLst/>
            <a:rect l="l" t="t" r="r" b="b"/>
            <a:pathLst>
              <a:path w="266700" h="355600">
                <a:moveTo>
                  <a:pt x="38269" y="50979"/>
                </a:moveTo>
                <a:cubicBezTo>
                  <a:pt x="29587" y="42297"/>
                  <a:pt x="15488" y="42297"/>
                  <a:pt x="6806" y="50979"/>
                </a:cubicBezTo>
                <a:cubicBezTo>
                  <a:pt x="-1875" y="59660"/>
                  <a:pt x="-1875" y="73759"/>
                  <a:pt x="6806" y="82441"/>
                </a:cubicBezTo>
                <a:lnTo>
                  <a:pt x="102235" y="177800"/>
                </a:lnTo>
                <a:lnTo>
                  <a:pt x="6876" y="273229"/>
                </a:lnTo>
                <a:cubicBezTo>
                  <a:pt x="-1806" y="281910"/>
                  <a:pt x="-1806" y="296009"/>
                  <a:pt x="6876" y="304691"/>
                </a:cubicBezTo>
                <a:cubicBezTo>
                  <a:pt x="15558" y="313373"/>
                  <a:pt x="29656" y="313373"/>
                  <a:pt x="38338" y="304691"/>
                </a:cubicBezTo>
                <a:lnTo>
                  <a:pt x="133697" y="209262"/>
                </a:lnTo>
                <a:lnTo>
                  <a:pt x="229126" y="304621"/>
                </a:lnTo>
                <a:cubicBezTo>
                  <a:pt x="237808" y="313303"/>
                  <a:pt x="251906" y="313303"/>
                  <a:pt x="260588" y="304621"/>
                </a:cubicBezTo>
                <a:cubicBezTo>
                  <a:pt x="269270" y="295940"/>
                  <a:pt x="269270" y="281841"/>
                  <a:pt x="260588" y="273159"/>
                </a:cubicBezTo>
                <a:lnTo>
                  <a:pt x="165160" y="177800"/>
                </a:lnTo>
                <a:lnTo>
                  <a:pt x="260519" y="82371"/>
                </a:lnTo>
                <a:cubicBezTo>
                  <a:pt x="269200" y="73690"/>
                  <a:pt x="269200" y="59591"/>
                  <a:pt x="260519" y="50909"/>
                </a:cubicBezTo>
                <a:cubicBezTo>
                  <a:pt x="251837" y="42228"/>
                  <a:pt x="237738" y="42228"/>
                  <a:pt x="229056" y="50909"/>
                </a:cubicBezTo>
                <a:lnTo>
                  <a:pt x="133697" y="146338"/>
                </a:lnTo>
                <a:lnTo>
                  <a:pt x="38269" y="50979"/>
                </a:lnTo>
                <a:close/>
              </a:path>
            </a:pathLst>
          </a:custGeom>
          <a:solidFill>
            <a:srgbClr val="636E72"/>
          </a:solidFill>
          <a:ln/>
        </p:spPr>
      </p:sp>
      <p:sp>
        <p:nvSpPr>
          <p:cNvPr id="22" name="Text 20"/>
          <p:cNvSpPr/>
          <p:nvPr/>
        </p:nvSpPr>
        <p:spPr>
          <a:xfrm>
            <a:off x="9144000" y="4762500"/>
            <a:ext cx="6350000" cy="889000"/>
          </a:xfrm>
          <a:prstGeom prst="rect">
            <a:avLst/>
          </a:prstGeom>
          <a:noFill/>
          <a:ln/>
        </p:spPr>
        <p:txBody>
          <a:bodyPr wrap="square" lIns="0" tIns="0" rIns="0" bIns="0" rtlCol="0" anchor="ctr"/>
          <a:lstStyle/>
          <a:p>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Cannot handle </a:t>
            </a:r>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uncertainty, ambiguity, or incomplete</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information well — real world is messy</a:t>
            </a:r>
            <a:endParaRPr lang="en-US" sz="1600" dirty="0"/>
          </a:p>
        </p:txBody>
      </p:sp>
      <p:sp>
        <p:nvSpPr>
          <p:cNvPr id="23" name="Shape 21"/>
          <p:cNvSpPr/>
          <p:nvPr/>
        </p:nvSpPr>
        <p:spPr>
          <a:xfrm>
            <a:off x="8680450" y="5778500"/>
            <a:ext cx="266700" cy="355600"/>
          </a:xfrm>
          <a:custGeom>
            <a:avLst/>
            <a:gdLst/>
            <a:ahLst/>
            <a:cxnLst/>
            <a:rect l="l" t="t" r="r" b="b"/>
            <a:pathLst>
              <a:path w="266700" h="355600">
                <a:moveTo>
                  <a:pt x="38269" y="50979"/>
                </a:moveTo>
                <a:cubicBezTo>
                  <a:pt x="29587" y="42297"/>
                  <a:pt x="15488" y="42297"/>
                  <a:pt x="6806" y="50979"/>
                </a:cubicBezTo>
                <a:cubicBezTo>
                  <a:pt x="-1875" y="59660"/>
                  <a:pt x="-1875" y="73759"/>
                  <a:pt x="6806" y="82441"/>
                </a:cubicBezTo>
                <a:lnTo>
                  <a:pt x="102235" y="177800"/>
                </a:lnTo>
                <a:lnTo>
                  <a:pt x="6876" y="273229"/>
                </a:lnTo>
                <a:cubicBezTo>
                  <a:pt x="-1806" y="281910"/>
                  <a:pt x="-1806" y="296009"/>
                  <a:pt x="6876" y="304691"/>
                </a:cubicBezTo>
                <a:cubicBezTo>
                  <a:pt x="15558" y="313373"/>
                  <a:pt x="29656" y="313373"/>
                  <a:pt x="38338" y="304691"/>
                </a:cubicBezTo>
                <a:lnTo>
                  <a:pt x="133697" y="209262"/>
                </a:lnTo>
                <a:lnTo>
                  <a:pt x="229126" y="304621"/>
                </a:lnTo>
                <a:cubicBezTo>
                  <a:pt x="237808" y="313303"/>
                  <a:pt x="251906" y="313303"/>
                  <a:pt x="260588" y="304621"/>
                </a:cubicBezTo>
                <a:cubicBezTo>
                  <a:pt x="269270" y="295940"/>
                  <a:pt x="269270" y="281841"/>
                  <a:pt x="260588" y="273159"/>
                </a:cubicBezTo>
                <a:lnTo>
                  <a:pt x="165160" y="177800"/>
                </a:lnTo>
                <a:lnTo>
                  <a:pt x="260519" y="82371"/>
                </a:lnTo>
                <a:cubicBezTo>
                  <a:pt x="269200" y="73690"/>
                  <a:pt x="269200" y="59591"/>
                  <a:pt x="260519" y="50909"/>
                </a:cubicBezTo>
                <a:cubicBezTo>
                  <a:pt x="251837" y="42228"/>
                  <a:pt x="237738" y="42228"/>
                  <a:pt x="229056" y="50909"/>
                </a:cubicBezTo>
                <a:lnTo>
                  <a:pt x="133697" y="146338"/>
                </a:lnTo>
                <a:lnTo>
                  <a:pt x="38269" y="50979"/>
                </a:lnTo>
                <a:close/>
              </a:path>
            </a:pathLst>
          </a:custGeom>
          <a:solidFill>
            <a:srgbClr val="636E72"/>
          </a:solidFill>
          <a:ln/>
        </p:spPr>
      </p:sp>
      <p:sp>
        <p:nvSpPr>
          <p:cNvPr id="24" name="Text 22"/>
          <p:cNvSpPr/>
          <p:nvPr/>
        </p:nvSpPr>
        <p:spPr>
          <a:xfrm>
            <a:off x="9144000" y="5715000"/>
            <a:ext cx="6350000" cy="889000"/>
          </a:xfrm>
          <a:prstGeom prst="rect">
            <a:avLst/>
          </a:prstGeom>
          <a:noFill/>
          <a:ln/>
        </p:spPr>
        <p:txBody>
          <a:bodyPr wrap="square" lIns="0" tIns="0" rIns="0" bIns="0" rtlCol="0" anchor="ctr"/>
          <a:lstStyle/>
          <a:p>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The </a:t>
            </a:r>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"frame problem"</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 determining which facts remain true after an action is computationally expensive</a:t>
            </a:r>
            <a:endParaRPr lang="en-US" sz="1600" dirty="0"/>
          </a:p>
        </p:txBody>
      </p:sp>
      <p:sp>
        <p:nvSpPr>
          <p:cNvPr id="25" name="Shape 23"/>
          <p:cNvSpPr/>
          <p:nvPr/>
        </p:nvSpPr>
        <p:spPr>
          <a:xfrm>
            <a:off x="762000" y="6985000"/>
            <a:ext cx="14732000" cy="1016000"/>
          </a:xfrm>
          <a:prstGeom prst="rect">
            <a:avLst/>
          </a:prstGeom>
          <a:solidFill>
            <a:srgbClr val="EDE8E1"/>
          </a:solidFill>
          <a:ln/>
        </p:spPr>
      </p:sp>
      <p:sp>
        <p:nvSpPr>
          <p:cNvPr id="26" name="Text 24"/>
          <p:cNvSpPr/>
          <p:nvPr/>
        </p:nvSpPr>
        <p:spPr>
          <a:xfrm>
            <a:off x="1016000" y="7048500"/>
            <a:ext cx="14224000" cy="889000"/>
          </a:xfrm>
          <a:prstGeom prst="rect">
            <a:avLst/>
          </a:prstGeom>
          <a:noFill/>
          <a:ln/>
        </p:spPr>
        <p:txBody>
          <a:bodyPr wrap="square" lIns="0" tIns="0" rIns="0" bIns="0" rtlCol="0" anchor="ctr"/>
          <a:lstStyle/>
          <a:p>
            <a:pPr algn="ctr">
              <a:lnSpc>
                <a:spcPct val="150000"/>
              </a:lnSpc>
            </a:pPr>
            <a:r>
              <a:rPr lang="en-US" sz="1600" b="1" dirty="0">
                <a:solidFill>
                  <a:srgbClr val="2D3436"/>
                </a:solidFill>
                <a:latin typeface="Quattrocento Sans" pitchFamily="34" charset="0"/>
                <a:ea typeface="Quattrocento Sans" pitchFamily="34" charset="-122"/>
                <a:cs typeface="Quattrocento Sans" pitchFamily="34" charset="-120"/>
              </a:rPr>
              <a:t>Godel's Incompleteness Theorem:</a:t>
            </a:r>
            <a:pPr algn="ct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 In any sufficiently powerful logical system, there are true statements that cannot be proven within the system — showing fundamental limits of formal reasoning.</a:t>
            </a:r>
            <a:endParaRPr lang="en-US" sz="1600" dirty="0"/>
          </a:p>
        </p:txBody>
      </p:sp>
      <p:sp>
        <p:nvSpPr>
          <p:cNvPr id="27" name="Text 25"/>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22</a:t>
            </a:r>
            <a:endParaRPr lang="en-US" sz="14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Acting Rationally — The Rational Agent</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Shape 3"/>
          <p:cNvSpPr/>
          <p:nvPr/>
        </p:nvSpPr>
        <p:spPr>
          <a:xfrm>
            <a:off x="762000" y="2159000"/>
            <a:ext cx="14732000" cy="1270000"/>
          </a:xfrm>
          <a:prstGeom prst="rect">
            <a:avLst/>
          </a:prstGeom>
          <a:solidFill>
            <a:srgbClr val="2D3436"/>
          </a:solidFill>
          <a:ln/>
        </p:spPr>
      </p:sp>
      <p:sp>
        <p:nvSpPr>
          <p:cNvPr id="6" name="Text 4"/>
          <p:cNvSpPr/>
          <p:nvPr/>
        </p:nvSpPr>
        <p:spPr>
          <a:xfrm>
            <a:off x="1079500" y="2286000"/>
            <a:ext cx="14097000" cy="1016000"/>
          </a:xfrm>
          <a:prstGeom prst="rect">
            <a:avLst/>
          </a:prstGeom>
          <a:noFill/>
          <a:ln/>
        </p:spPr>
        <p:txBody>
          <a:bodyPr wrap="square" lIns="0" tIns="0" rIns="0" bIns="0" rtlCol="0" anchor="ctr"/>
          <a:lstStyle/>
          <a:p>
            <a:pPr algn="ctr">
              <a:lnSpc>
                <a:spcPct val="160000"/>
              </a:lnSpc>
            </a:pPr>
            <a:r>
              <a:rPr lang="en-US" sz="2000" dirty="0">
                <a:solidFill>
                  <a:srgbClr val="F5F1EC"/>
                </a:solidFill>
                <a:latin typeface="Quattrocento Sans" pitchFamily="34" charset="0"/>
                <a:ea typeface="Quattrocento Sans" pitchFamily="34" charset="-122"/>
                <a:cs typeface="Quattrocento Sans" pitchFamily="34" charset="-120"/>
              </a:rPr>
              <a:t>A </a:t>
            </a:r>
            <a:pPr algn="ctr">
              <a:lnSpc>
                <a:spcPct val="160000"/>
              </a:lnSpc>
            </a:pPr>
            <a:r>
              <a:rPr lang="en-US" sz="2000" b="1" dirty="0">
                <a:solidFill>
                  <a:srgbClr val="D4A574"/>
                </a:solidFill>
                <a:latin typeface="Quattrocento Sans" pitchFamily="34" charset="0"/>
                <a:ea typeface="Quattrocento Sans" pitchFamily="34" charset="-122"/>
                <a:cs typeface="Quattrocento Sans" pitchFamily="34" charset="-120"/>
              </a:rPr>
              <a:t>rational agent</a:t>
            </a:r>
            <a:pPr algn="ctr">
              <a:lnSpc>
                <a:spcPct val="160000"/>
              </a:lnSpc>
            </a:pPr>
            <a:r>
              <a:rPr lang="en-US" sz="2000" dirty="0">
                <a:solidFill>
                  <a:srgbClr val="F5F1EC"/>
                </a:solidFill>
                <a:latin typeface="Quattrocento Sans" pitchFamily="34" charset="0"/>
                <a:ea typeface="Quattrocento Sans" pitchFamily="34" charset="-122"/>
                <a:cs typeface="Quattrocento Sans" pitchFamily="34" charset="-120"/>
              </a:rPr>
              <a:t> is one that acts to achieve the best expected outcome — doing the "right thing" given what it knows about the world.</a:t>
            </a:r>
            <a:endParaRPr lang="en-US" sz="1600" dirty="0"/>
          </a:p>
        </p:txBody>
      </p:sp>
      <p:sp>
        <p:nvSpPr>
          <p:cNvPr id="7" name="Text 5"/>
          <p:cNvSpPr/>
          <p:nvPr/>
        </p:nvSpPr>
        <p:spPr>
          <a:xfrm>
            <a:off x="762000" y="3810000"/>
            <a:ext cx="635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What is an Agent?</a:t>
            </a:r>
            <a:endParaRPr lang="en-US" sz="1600" dirty="0"/>
          </a:p>
        </p:txBody>
      </p:sp>
      <p:sp>
        <p:nvSpPr>
          <p:cNvPr id="8" name="Text 6"/>
          <p:cNvSpPr/>
          <p:nvPr/>
        </p:nvSpPr>
        <p:spPr>
          <a:xfrm>
            <a:off x="762000" y="4318000"/>
            <a:ext cx="14732000" cy="1016000"/>
          </a:xfrm>
          <a:prstGeom prst="rect">
            <a:avLst/>
          </a:prstGeom>
          <a:noFill/>
          <a:ln/>
        </p:spPr>
        <p:txBody>
          <a:bodyPr wrap="square" lIns="0" tIns="0" rIns="0" bIns="0" rtlCol="0" anchor="ctr"/>
          <a:lstStyle/>
          <a:p>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An </a:t>
            </a:r>
            <a:pPr>
              <a:lnSpc>
                <a:spcPct val="160000"/>
              </a:lnSpc>
            </a:pPr>
            <a:r>
              <a:rPr lang="en-US" sz="1800" b="1" dirty="0">
                <a:solidFill>
                  <a:srgbClr val="2D3436"/>
                </a:solidFill>
                <a:latin typeface="Quattrocento Sans" pitchFamily="34" charset="0"/>
                <a:ea typeface="Quattrocento Sans" pitchFamily="34" charset="-122"/>
                <a:cs typeface="Quattrocento Sans" pitchFamily="34" charset="-120"/>
              </a:rPr>
              <a:t>agent</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is an entity that perceives its environment through </a:t>
            </a:r>
            <a:pPr>
              <a:lnSpc>
                <a:spcPct val="160000"/>
              </a:lnSpc>
            </a:pPr>
            <a:r>
              <a:rPr lang="en-US" sz="1800" b="1" dirty="0">
                <a:solidFill>
                  <a:srgbClr val="D4A574"/>
                </a:solidFill>
                <a:latin typeface="Quattrocento Sans" pitchFamily="34" charset="0"/>
                <a:ea typeface="Quattrocento Sans" pitchFamily="34" charset="-122"/>
                <a:cs typeface="Quattrocento Sans" pitchFamily="34" charset="-120"/>
              </a:rPr>
              <a:t>sensors</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and acts upon that environment through </a:t>
            </a:r>
            <a:pPr>
              <a:lnSpc>
                <a:spcPct val="160000"/>
              </a:lnSpc>
            </a:pPr>
            <a:r>
              <a:rPr lang="en-US" sz="1800" b="1" dirty="0">
                <a:solidFill>
                  <a:srgbClr val="D4A574"/>
                </a:solidFill>
                <a:latin typeface="Quattrocento Sans" pitchFamily="34" charset="0"/>
                <a:ea typeface="Quattrocento Sans" pitchFamily="34" charset="-122"/>
                <a:cs typeface="Quattrocento Sans" pitchFamily="34" charset="-120"/>
              </a:rPr>
              <a:t>actuators</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Agents can be physical (robots, self-driving cars) or software (trading systems, recommendation engines).</a:t>
            </a:r>
            <a:endParaRPr lang="en-US" sz="1600" dirty="0"/>
          </a:p>
        </p:txBody>
      </p:sp>
      <p:sp>
        <p:nvSpPr>
          <p:cNvPr id="9" name="Text 7"/>
          <p:cNvSpPr/>
          <p:nvPr/>
        </p:nvSpPr>
        <p:spPr>
          <a:xfrm>
            <a:off x="762000" y="5715000"/>
            <a:ext cx="762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What Makes an Agent Rational?</a:t>
            </a:r>
            <a:endParaRPr lang="en-US" sz="1600" dirty="0"/>
          </a:p>
        </p:txBody>
      </p:sp>
      <p:sp>
        <p:nvSpPr>
          <p:cNvPr id="10" name="Shape 8"/>
          <p:cNvSpPr/>
          <p:nvPr/>
        </p:nvSpPr>
        <p:spPr>
          <a:xfrm>
            <a:off x="762000" y="6286500"/>
            <a:ext cx="3429000" cy="1778000"/>
          </a:xfrm>
          <a:prstGeom prst="rect">
            <a:avLst/>
          </a:prstGeom>
          <a:solidFill>
            <a:srgbClr val="EDE8E1"/>
          </a:solidFill>
          <a:ln/>
        </p:spPr>
      </p:sp>
      <p:sp>
        <p:nvSpPr>
          <p:cNvPr id="11" name="Text 9"/>
          <p:cNvSpPr/>
          <p:nvPr/>
        </p:nvSpPr>
        <p:spPr>
          <a:xfrm>
            <a:off x="952500" y="6477000"/>
            <a:ext cx="3048000" cy="1397000"/>
          </a:xfrm>
          <a:prstGeom prst="rect">
            <a:avLst/>
          </a:prstGeom>
          <a:noFill/>
          <a:ln/>
        </p:spPr>
        <p:txBody>
          <a:bodyPr wrap="square" lIns="0" tIns="0" rIns="0" bIns="0" rtlCol="0" anchor="t"/>
          <a:lstStyle/>
          <a:p>
            <a:pPr algn="ctr">
              <a:lnSpc>
                <a:spcPct val="150000"/>
              </a:lnSpc>
            </a:pPr>
            <a:r>
              <a:rPr lang="en-US" sz="1600" b="1" dirty="0">
                <a:solidFill>
                  <a:srgbClr val="D4A574"/>
                </a:solidFill>
                <a:latin typeface="Quattrocento Sans" pitchFamily="34" charset="0"/>
                <a:ea typeface="Quattrocento Sans" pitchFamily="34" charset="-122"/>
                <a:cs typeface="Quattrocento Sans" pitchFamily="34" charset="-120"/>
              </a:rPr>
              <a:t>Performance</a:t>
            </a:r>
            <a:endParaRPr lang="en-US" sz="1600" dirty="0"/>
          </a:p>
          <a:p>
            <a:pPr algn="ctr">
              <a:lnSpc>
                <a:spcPct val="150000"/>
              </a:lnSpc>
              <a:spcBef>
                <a:spcPts val="600"/>
              </a:spcBef>
            </a:pPr>
            <a:r>
              <a:rPr lang="en-US" sz="1600" dirty="0">
                <a:solidFill>
                  <a:srgbClr val="2D3436"/>
                </a:solidFill>
                <a:latin typeface="Quattrocento Sans" pitchFamily="34" charset="0"/>
                <a:ea typeface="Quattrocento Sans" pitchFamily="34" charset="-122"/>
                <a:cs typeface="Quattrocento Sans" pitchFamily="34" charset="-120"/>
              </a:rPr>
              <a:t>What defines success for the agent?</a:t>
            </a:r>
            <a:endParaRPr lang="en-US" sz="1600" dirty="0"/>
          </a:p>
        </p:txBody>
      </p:sp>
      <p:sp>
        <p:nvSpPr>
          <p:cNvPr id="12" name="Shape 10"/>
          <p:cNvSpPr/>
          <p:nvPr/>
        </p:nvSpPr>
        <p:spPr>
          <a:xfrm>
            <a:off x="4533900" y="6286500"/>
            <a:ext cx="3429000" cy="1778000"/>
          </a:xfrm>
          <a:prstGeom prst="rect">
            <a:avLst/>
          </a:prstGeom>
          <a:solidFill>
            <a:srgbClr val="EDE8E1"/>
          </a:solidFill>
          <a:ln/>
        </p:spPr>
      </p:sp>
      <p:sp>
        <p:nvSpPr>
          <p:cNvPr id="13" name="Text 11"/>
          <p:cNvSpPr/>
          <p:nvPr/>
        </p:nvSpPr>
        <p:spPr>
          <a:xfrm>
            <a:off x="4724400" y="6477000"/>
            <a:ext cx="3048000" cy="1397000"/>
          </a:xfrm>
          <a:prstGeom prst="rect">
            <a:avLst/>
          </a:prstGeom>
          <a:noFill/>
          <a:ln/>
        </p:spPr>
        <p:txBody>
          <a:bodyPr wrap="square" lIns="0" tIns="0" rIns="0" bIns="0" rtlCol="0" anchor="t"/>
          <a:lstStyle/>
          <a:p>
            <a:pPr algn="ctr">
              <a:lnSpc>
                <a:spcPct val="150000"/>
              </a:lnSpc>
            </a:pPr>
            <a:r>
              <a:rPr lang="en-US" sz="1600" b="1" dirty="0">
                <a:solidFill>
                  <a:srgbClr val="D4A574"/>
                </a:solidFill>
                <a:latin typeface="Quattrocento Sans" pitchFamily="34" charset="0"/>
                <a:ea typeface="Quattrocento Sans" pitchFamily="34" charset="-122"/>
                <a:cs typeface="Quattrocento Sans" pitchFamily="34" charset="-120"/>
              </a:rPr>
              <a:t>Knowledge</a:t>
            </a:r>
            <a:endParaRPr lang="en-US" sz="1600" dirty="0"/>
          </a:p>
          <a:p>
            <a:pPr algn="ctr">
              <a:lnSpc>
                <a:spcPct val="150000"/>
              </a:lnSpc>
              <a:spcBef>
                <a:spcPts val="600"/>
              </a:spcBef>
            </a:pPr>
            <a:r>
              <a:rPr lang="en-US" sz="1600" dirty="0">
                <a:solidFill>
                  <a:srgbClr val="2D3436"/>
                </a:solidFill>
                <a:latin typeface="Quattrocento Sans" pitchFamily="34" charset="0"/>
                <a:ea typeface="Quattrocento Sans" pitchFamily="34" charset="-122"/>
                <a:cs typeface="Quattrocento Sans" pitchFamily="34" charset="-120"/>
              </a:rPr>
              <a:t>What does it know about the environment?</a:t>
            </a:r>
            <a:endParaRPr lang="en-US" sz="1600" dirty="0"/>
          </a:p>
        </p:txBody>
      </p:sp>
      <p:sp>
        <p:nvSpPr>
          <p:cNvPr id="14" name="Shape 12"/>
          <p:cNvSpPr/>
          <p:nvPr/>
        </p:nvSpPr>
        <p:spPr>
          <a:xfrm>
            <a:off x="8305800" y="6286500"/>
            <a:ext cx="3429000" cy="1778000"/>
          </a:xfrm>
          <a:prstGeom prst="rect">
            <a:avLst/>
          </a:prstGeom>
          <a:solidFill>
            <a:srgbClr val="EDE8E1"/>
          </a:solidFill>
          <a:ln/>
        </p:spPr>
      </p:sp>
      <p:sp>
        <p:nvSpPr>
          <p:cNvPr id="15" name="Text 13"/>
          <p:cNvSpPr/>
          <p:nvPr/>
        </p:nvSpPr>
        <p:spPr>
          <a:xfrm>
            <a:off x="8496300" y="6477000"/>
            <a:ext cx="3048000" cy="1397000"/>
          </a:xfrm>
          <a:prstGeom prst="rect">
            <a:avLst/>
          </a:prstGeom>
          <a:noFill/>
          <a:ln/>
        </p:spPr>
        <p:txBody>
          <a:bodyPr wrap="square" lIns="0" tIns="0" rIns="0" bIns="0" rtlCol="0" anchor="t"/>
          <a:lstStyle/>
          <a:p>
            <a:pPr algn="ctr">
              <a:lnSpc>
                <a:spcPct val="150000"/>
              </a:lnSpc>
            </a:pPr>
            <a:r>
              <a:rPr lang="en-US" sz="1600" b="1" dirty="0">
                <a:solidFill>
                  <a:srgbClr val="D4A574"/>
                </a:solidFill>
                <a:latin typeface="Quattrocento Sans" pitchFamily="34" charset="0"/>
                <a:ea typeface="Quattrocento Sans" pitchFamily="34" charset="-122"/>
                <a:cs typeface="Quattrocento Sans" pitchFamily="34" charset="-120"/>
              </a:rPr>
              <a:t>Actions</a:t>
            </a:r>
            <a:endParaRPr lang="en-US" sz="1600" dirty="0"/>
          </a:p>
          <a:p>
            <a:pPr algn="ctr">
              <a:lnSpc>
                <a:spcPct val="150000"/>
              </a:lnSpc>
              <a:spcBef>
                <a:spcPts val="600"/>
              </a:spcBef>
            </a:pPr>
            <a:r>
              <a:rPr lang="en-US" sz="1600" dirty="0">
                <a:solidFill>
                  <a:srgbClr val="2D3436"/>
                </a:solidFill>
                <a:latin typeface="Quattrocento Sans" pitchFamily="34" charset="0"/>
                <a:ea typeface="Quattrocento Sans" pitchFamily="34" charset="-122"/>
                <a:cs typeface="Quattrocento Sans" pitchFamily="34" charset="-120"/>
              </a:rPr>
              <a:t>What actions are available to it?</a:t>
            </a:r>
            <a:endParaRPr lang="en-US" sz="1600" dirty="0"/>
          </a:p>
        </p:txBody>
      </p:sp>
      <p:sp>
        <p:nvSpPr>
          <p:cNvPr id="16" name="Shape 14"/>
          <p:cNvSpPr/>
          <p:nvPr/>
        </p:nvSpPr>
        <p:spPr>
          <a:xfrm>
            <a:off x="12077700" y="6286500"/>
            <a:ext cx="3416300" cy="1778000"/>
          </a:xfrm>
          <a:prstGeom prst="rect">
            <a:avLst/>
          </a:prstGeom>
          <a:solidFill>
            <a:srgbClr val="EDE8E1"/>
          </a:solidFill>
          <a:ln/>
        </p:spPr>
      </p:sp>
      <p:sp>
        <p:nvSpPr>
          <p:cNvPr id="17" name="Text 15"/>
          <p:cNvSpPr/>
          <p:nvPr/>
        </p:nvSpPr>
        <p:spPr>
          <a:xfrm>
            <a:off x="12268200" y="6477000"/>
            <a:ext cx="3035300" cy="1397000"/>
          </a:xfrm>
          <a:prstGeom prst="rect">
            <a:avLst/>
          </a:prstGeom>
          <a:noFill/>
          <a:ln/>
        </p:spPr>
        <p:txBody>
          <a:bodyPr wrap="square" lIns="0" tIns="0" rIns="0" bIns="0" rtlCol="0" anchor="t"/>
          <a:lstStyle/>
          <a:p>
            <a:pPr algn="ctr">
              <a:lnSpc>
                <a:spcPct val="150000"/>
              </a:lnSpc>
            </a:pPr>
            <a:r>
              <a:rPr lang="en-US" sz="1600" b="1" dirty="0">
                <a:solidFill>
                  <a:srgbClr val="D4A574"/>
                </a:solidFill>
                <a:latin typeface="Quattrocento Sans" pitchFamily="34" charset="0"/>
                <a:ea typeface="Quattrocento Sans" pitchFamily="34" charset="-122"/>
                <a:cs typeface="Quattrocento Sans" pitchFamily="34" charset="-120"/>
              </a:rPr>
              <a:t>Percept History</a:t>
            </a:r>
            <a:endParaRPr lang="en-US" sz="1600" dirty="0"/>
          </a:p>
          <a:p>
            <a:pPr algn="ctr">
              <a:lnSpc>
                <a:spcPct val="150000"/>
              </a:lnSpc>
              <a:spcBef>
                <a:spcPts val="600"/>
              </a:spcBef>
            </a:pPr>
            <a:r>
              <a:rPr lang="en-US" sz="1600" dirty="0">
                <a:solidFill>
                  <a:srgbClr val="2D3436"/>
                </a:solidFill>
                <a:latin typeface="Quattrocento Sans" pitchFamily="34" charset="0"/>
                <a:ea typeface="Quattrocento Sans" pitchFamily="34" charset="-122"/>
                <a:cs typeface="Quattrocento Sans" pitchFamily="34" charset="-120"/>
              </a:rPr>
              <a:t>What has it perceived so far?</a:t>
            </a:r>
            <a:endParaRPr lang="en-US" sz="1600" dirty="0"/>
          </a:p>
        </p:txBody>
      </p:sp>
      <p:sp>
        <p:nvSpPr>
          <p:cNvPr id="18" name="Text 16"/>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23</a:t>
            </a:r>
            <a:endParaRPr lang="en-US" sz="14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The Rational Agent Framework</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Text 3"/>
          <p:cNvSpPr/>
          <p:nvPr/>
        </p:nvSpPr>
        <p:spPr>
          <a:xfrm>
            <a:off x="762000" y="2095500"/>
            <a:ext cx="14732000" cy="635000"/>
          </a:xfrm>
          <a:prstGeom prst="rect">
            <a:avLst/>
          </a:prstGeom>
          <a:noFill/>
          <a:ln/>
        </p:spPr>
        <p:txBody>
          <a:bodyPr wrap="square" lIns="0" tIns="0" rIns="0" bIns="0" rtlCol="0" anchor="ctr"/>
          <a:lstStyle/>
          <a:p>
            <a:pPr>
              <a:lnSpc>
                <a:spcPct val="150000"/>
              </a:lnSpc>
            </a:pPr>
            <a:r>
              <a:rPr lang="en-US" sz="1800" dirty="0">
                <a:solidFill>
                  <a:srgbClr val="636E72"/>
                </a:solidFill>
                <a:latin typeface="Quattrocento Sans" pitchFamily="34" charset="0"/>
                <a:ea typeface="Quattrocento Sans" pitchFamily="34" charset="-122"/>
                <a:cs typeface="Quattrocento Sans" pitchFamily="34" charset="-120"/>
              </a:rPr>
              <a:t>The rational agent framework provides a structured way to design intelligent systems with four core components:</a:t>
            </a:r>
            <a:endParaRPr lang="en-US" sz="1600" dirty="0"/>
          </a:p>
        </p:txBody>
      </p:sp>
      <p:sp>
        <p:nvSpPr>
          <p:cNvPr id="6" name="Shape 4"/>
          <p:cNvSpPr/>
          <p:nvPr/>
        </p:nvSpPr>
        <p:spPr>
          <a:xfrm>
            <a:off x="762000" y="3048000"/>
            <a:ext cx="3302000" cy="2032000"/>
          </a:xfrm>
          <a:prstGeom prst="rect">
            <a:avLst/>
          </a:prstGeom>
          <a:solidFill>
            <a:srgbClr val="2D3436"/>
          </a:solidFill>
          <a:ln/>
        </p:spPr>
      </p:sp>
      <p:sp>
        <p:nvSpPr>
          <p:cNvPr id="7" name="Shape 5"/>
          <p:cNvSpPr/>
          <p:nvPr/>
        </p:nvSpPr>
        <p:spPr>
          <a:xfrm>
            <a:off x="2000250" y="3238500"/>
            <a:ext cx="571500" cy="508000"/>
          </a:xfrm>
          <a:custGeom>
            <a:avLst/>
            <a:gdLst/>
            <a:ahLst/>
            <a:cxnLst/>
            <a:rect l="l" t="t" r="r" b="b"/>
            <a:pathLst>
              <a:path w="571500" h="508000">
                <a:moveTo>
                  <a:pt x="285750" y="31750"/>
                </a:moveTo>
                <a:cubicBezTo>
                  <a:pt x="205581" y="31750"/>
                  <a:pt x="141387" y="68263"/>
                  <a:pt x="94655" y="111720"/>
                </a:cubicBezTo>
                <a:cubicBezTo>
                  <a:pt x="48220" y="154880"/>
                  <a:pt x="17165" y="206375"/>
                  <a:pt x="2381" y="241796"/>
                </a:cubicBezTo>
                <a:cubicBezTo>
                  <a:pt x="-893" y="249634"/>
                  <a:pt x="-893" y="258366"/>
                  <a:pt x="2381" y="266204"/>
                </a:cubicBezTo>
                <a:cubicBezTo>
                  <a:pt x="17165" y="301625"/>
                  <a:pt x="48220" y="353219"/>
                  <a:pt x="94655" y="396280"/>
                </a:cubicBezTo>
                <a:cubicBezTo>
                  <a:pt x="141387" y="439638"/>
                  <a:pt x="205581" y="476250"/>
                  <a:pt x="285750" y="476250"/>
                </a:cubicBezTo>
                <a:cubicBezTo>
                  <a:pt x="365919" y="476250"/>
                  <a:pt x="430113" y="439737"/>
                  <a:pt x="476845" y="396280"/>
                </a:cubicBezTo>
                <a:cubicBezTo>
                  <a:pt x="523280" y="353120"/>
                  <a:pt x="554335" y="301625"/>
                  <a:pt x="569119" y="266204"/>
                </a:cubicBezTo>
                <a:cubicBezTo>
                  <a:pt x="572393" y="258366"/>
                  <a:pt x="572393" y="249634"/>
                  <a:pt x="569119" y="241796"/>
                </a:cubicBezTo>
                <a:cubicBezTo>
                  <a:pt x="554335" y="206375"/>
                  <a:pt x="523280" y="154781"/>
                  <a:pt x="476845" y="111720"/>
                </a:cubicBezTo>
                <a:cubicBezTo>
                  <a:pt x="430113" y="68362"/>
                  <a:pt x="365919" y="31750"/>
                  <a:pt x="285750" y="31750"/>
                </a:cubicBezTo>
                <a:close/>
                <a:moveTo>
                  <a:pt x="142875" y="254000"/>
                </a:moveTo>
                <a:cubicBezTo>
                  <a:pt x="142875" y="175145"/>
                  <a:pt x="206895" y="111125"/>
                  <a:pt x="285750" y="111125"/>
                </a:cubicBezTo>
                <a:cubicBezTo>
                  <a:pt x="364605" y="111125"/>
                  <a:pt x="428625" y="175145"/>
                  <a:pt x="428625" y="254000"/>
                </a:cubicBezTo>
                <a:cubicBezTo>
                  <a:pt x="428625" y="332855"/>
                  <a:pt x="364605" y="396875"/>
                  <a:pt x="285750" y="396875"/>
                </a:cubicBezTo>
                <a:cubicBezTo>
                  <a:pt x="206895" y="396875"/>
                  <a:pt x="142875" y="332855"/>
                  <a:pt x="142875" y="254000"/>
                </a:cubicBezTo>
                <a:close/>
                <a:moveTo>
                  <a:pt x="285750" y="190500"/>
                </a:moveTo>
                <a:cubicBezTo>
                  <a:pt x="285750" y="225524"/>
                  <a:pt x="257274" y="254000"/>
                  <a:pt x="222250" y="254000"/>
                </a:cubicBezTo>
                <a:cubicBezTo>
                  <a:pt x="210840" y="254000"/>
                  <a:pt x="200124" y="251023"/>
                  <a:pt x="190798" y="245666"/>
                </a:cubicBezTo>
                <a:cubicBezTo>
                  <a:pt x="189805" y="256480"/>
                  <a:pt x="190698" y="267593"/>
                  <a:pt x="193675" y="278606"/>
                </a:cubicBezTo>
                <a:cubicBezTo>
                  <a:pt x="207268" y="329406"/>
                  <a:pt x="259556" y="359569"/>
                  <a:pt x="310356" y="345976"/>
                </a:cubicBezTo>
                <a:cubicBezTo>
                  <a:pt x="361156" y="332383"/>
                  <a:pt x="391319" y="280095"/>
                  <a:pt x="377726" y="229295"/>
                </a:cubicBezTo>
                <a:cubicBezTo>
                  <a:pt x="365621" y="183952"/>
                  <a:pt x="322659" y="155079"/>
                  <a:pt x="277416" y="159048"/>
                </a:cubicBezTo>
                <a:cubicBezTo>
                  <a:pt x="282674" y="168275"/>
                  <a:pt x="285750" y="178991"/>
                  <a:pt x="285750" y="190500"/>
                </a:cubicBezTo>
                <a:close/>
              </a:path>
            </a:pathLst>
          </a:custGeom>
          <a:solidFill>
            <a:srgbClr val="D4A574"/>
          </a:solidFill>
          <a:ln/>
        </p:spPr>
      </p:sp>
      <p:sp>
        <p:nvSpPr>
          <p:cNvPr id="8" name="Text 6"/>
          <p:cNvSpPr/>
          <p:nvPr/>
        </p:nvSpPr>
        <p:spPr>
          <a:xfrm>
            <a:off x="762000" y="3873500"/>
            <a:ext cx="3302000" cy="330200"/>
          </a:xfrm>
          <a:prstGeom prst="rect">
            <a:avLst/>
          </a:prstGeom>
          <a:noFill/>
          <a:ln/>
        </p:spPr>
        <p:txBody>
          <a:bodyPr wrap="none" lIns="0" tIns="0" rIns="0" bIns="0" rtlCol="0" anchor="ctr"/>
          <a:lstStyle/>
          <a:p>
            <a:pPr algn="ctr">
              <a:lnSpc>
                <a:spcPct val="100000"/>
              </a:lnSpc>
            </a:pPr>
            <a:r>
              <a:rPr lang="en-US" sz="1800" b="1" dirty="0">
                <a:solidFill>
                  <a:srgbClr val="F5F1EC"/>
                </a:solidFill>
                <a:latin typeface="Liter" pitchFamily="34" charset="0"/>
                <a:ea typeface="Liter" pitchFamily="34" charset="-122"/>
                <a:cs typeface="Liter" pitchFamily="34" charset="-120"/>
              </a:rPr>
              <a:t>Perception</a:t>
            </a:r>
            <a:endParaRPr lang="en-US" sz="1600" dirty="0"/>
          </a:p>
        </p:txBody>
      </p:sp>
      <p:sp>
        <p:nvSpPr>
          <p:cNvPr id="9" name="Text 7"/>
          <p:cNvSpPr/>
          <p:nvPr/>
        </p:nvSpPr>
        <p:spPr>
          <a:xfrm>
            <a:off x="889000" y="4254500"/>
            <a:ext cx="3048000" cy="635000"/>
          </a:xfrm>
          <a:prstGeom prst="rect">
            <a:avLst/>
          </a:prstGeom>
          <a:noFill/>
          <a:ln/>
        </p:spPr>
        <p:txBody>
          <a:bodyPr wrap="square" lIns="0" tIns="0" rIns="0" bIns="0" rtlCol="0" anchor="t"/>
          <a:lstStyle/>
          <a:p>
            <a:pPr algn="ctr">
              <a:lnSpc>
                <a:spcPct val="140000"/>
              </a:lnSpc>
            </a:pPr>
            <a:r>
              <a:rPr lang="en-US" sz="1400" dirty="0">
                <a:solidFill>
                  <a:srgbClr val="F5F1EC">
                    <a:alpha val="80000"/>
                  </a:srgbClr>
                </a:solidFill>
                <a:latin typeface="Quattrocento Sans" pitchFamily="34" charset="0"/>
                <a:ea typeface="Quattrocento Sans" pitchFamily="34" charset="-122"/>
                <a:cs typeface="Quattrocento Sans" pitchFamily="34" charset="-120"/>
              </a:rPr>
              <a:t>Receiving input from sensors — cameras, microphones, data</a:t>
            </a:r>
            <a:endParaRPr lang="en-US" sz="1600" dirty="0"/>
          </a:p>
        </p:txBody>
      </p:sp>
      <p:sp>
        <p:nvSpPr>
          <p:cNvPr id="10" name="Shape 8"/>
          <p:cNvSpPr/>
          <p:nvPr/>
        </p:nvSpPr>
        <p:spPr>
          <a:xfrm>
            <a:off x="4191000" y="3937000"/>
            <a:ext cx="381000" cy="0"/>
          </a:xfrm>
          <a:prstGeom prst="straightConnector1">
            <a:avLst/>
          </a:prstGeom>
          <a:noFill/>
          <a:ln w="25400">
            <a:solidFill>
              <a:srgbClr val="D4A574"/>
            </a:solidFill>
            <a:prstDash val="solid"/>
            <a:headEnd type="none"/>
            <a:tailEnd type="arrow"/>
          </a:ln>
        </p:spPr>
      </p:sp>
      <p:sp>
        <p:nvSpPr>
          <p:cNvPr id="11" name="Shape 9"/>
          <p:cNvSpPr/>
          <p:nvPr/>
        </p:nvSpPr>
        <p:spPr>
          <a:xfrm>
            <a:off x="4699000" y="3048000"/>
            <a:ext cx="3302000" cy="2032000"/>
          </a:xfrm>
          <a:prstGeom prst="rect">
            <a:avLst/>
          </a:prstGeom>
          <a:solidFill>
            <a:srgbClr val="D4A574"/>
          </a:solidFill>
          <a:ln/>
        </p:spPr>
      </p:sp>
      <p:sp>
        <p:nvSpPr>
          <p:cNvPr id="12" name="Shape 10"/>
          <p:cNvSpPr/>
          <p:nvPr/>
        </p:nvSpPr>
        <p:spPr>
          <a:xfrm>
            <a:off x="5905500" y="3238500"/>
            <a:ext cx="635000" cy="508000"/>
          </a:xfrm>
          <a:custGeom>
            <a:avLst/>
            <a:gdLst/>
            <a:ahLst/>
            <a:cxnLst/>
            <a:rect l="l" t="t" r="r" b="b"/>
            <a:pathLst>
              <a:path w="635000" h="508000">
                <a:moveTo>
                  <a:pt x="412651" y="208855"/>
                </a:moveTo>
                <a:cubicBezTo>
                  <a:pt x="424755" y="205581"/>
                  <a:pt x="437455" y="211336"/>
                  <a:pt x="442912" y="222548"/>
                </a:cubicBezTo>
                <a:lnTo>
                  <a:pt x="461367" y="259854"/>
                </a:lnTo>
                <a:cubicBezTo>
                  <a:pt x="471587" y="261243"/>
                  <a:pt x="481608" y="264021"/>
                  <a:pt x="491034" y="267891"/>
                </a:cubicBezTo>
                <a:lnTo>
                  <a:pt x="525760" y="244773"/>
                </a:lnTo>
                <a:cubicBezTo>
                  <a:pt x="536178" y="237827"/>
                  <a:pt x="549970" y="239216"/>
                  <a:pt x="558800" y="248047"/>
                </a:cubicBezTo>
                <a:lnTo>
                  <a:pt x="577850" y="267097"/>
                </a:lnTo>
                <a:cubicBezTo>
                  <a:pt x="586680" y="275927"/>
                  <a:pt x="588070" y="289818"/>
                  <a:pt x="581124" y="300137"/>
                </a:cubicBezTo>
                <a:lnTo>
                  <a:pt x="558006" y="334764"/>
                </a:lnTo>
                <a:cubicBezTo>
                  <a:pt x="559891" y="339427"/>
                  <a:pt x="561578" y="344289"/>
                  <a:pt x="562967" y="349349"/>
                </a:cubicBezTo>
                <a:cubicBezTo>
                  <a:pt x="564356" y="354409"/>
                  <a:pt x="565249" y="359370"/>
                  <a:pt x="565944" y="364430"/>
                </a:cubicBezTo>
                <a:lnTo>
                  <a:pt x="603349" y="382885"/>
                </a:lnTo>
                <a:cubicBezTo>
                  <a:pt x="614561" y="388441"/>
                  <a:pt x="620316" y="401141"/>
                  <a:pt x="617041" y="413147"/>
                </a:cubicBezTo>
                <a:lnTo>
                  <a:pt x="610096" y="439142"/>
                </a:lnTo>
                <a:cubicBezTo>
                  <a:pt x="606822" y="451148"/>
                  <a:pt x="595610" y="459284"/>
                  <a:pt x="583109" y="458490"/>
                </a:cubicBezTo>
                <a:lnTo>
                  <a:pt x="541437" y="455811"/>
                </a:lnTo>
                <a:cubicBezTo>
                  <a:pt x="535186" y="463848"/>
                  <a:pt x="527943" y="471289"/>
                  <a:pt x="519708" y="477639"/>
                </a:cubicBezTo>
                <a:lnTo>
                  <a:pt x="522387" y="519212"/>
                </a:lnTo>
                <a:cubicBezTo>
                  <a:pt x="523180" y="531713"/>
                  <a:pt x="515045" y="543024"/>
                  <a:pt x="503039" y="546199"/>
                </a:cubicBezTo>
                <a:lnTo>
                  <a:pt x="477044" y="553145"/>
                </a:lnTo>
                <a:cubicBezTo>
                  <a:pt x="464939" y="556419"/>
                  <a:pt x="452338" y="550664"/>
                  <a:pt x="446782" y="539452"/>
                </a:cubicBezTo>
                <a:lnTo>
                  <a:pt x="428327" y="502146"/>
                </a:lnTo>
                <a:cubicBezTo>
                  <a:pt x="418108" y="500757"/>
                  <a:pt x="408087" y="497979"/>
                  <a:pt x="398661" y="494109"/>
                </a:cubicBezTo>
                <a:lnTo>
                  <a:pt x="363934" y="517227"/>
                </a:lnTo>
                <a:cubicBezTo>
                  <a:pt x="353516" y="524173"/>
                  <a:pt x="339725" y="522784"/>
                  <a:pt x="330895" y="513953"/>
                </a:cubicBezTo>
                <a:lnTo>
                  <a:pt x="311845" y="494903"/>
                </a:lnTo>
                <a:cubicBezTo>
                  <a:pt x="303014" y="486073"/>
                  <a:pt x="301625" y="472281"/>
                  <a:pt x="308570" y="461863"/>
                </a:cubicBezTo>
                <a:lnTo>
                  <a:pt x="331688" y="427137"/>
                </a:lnTo>
                <a:cubicBezTo>
                  <a:pt x="329803" y="422473"/>
                  <a:pt x="328116" y="417612"/>
                  <a:pt x="326727" y="412552"/>
                </a:cubicBezTo>
                <a:cubicBezTo>
                  <a:pt x="325338" y="407491"/>
                  <a:pt x="324445" y="402431"/>
                  <a:pt x="323751" y="397470"/>
                </a:cubicBezTo>
                <a:lnTo>
                  <a:pt x="286345" y="379016"/>
                </a:lnTo>
                <a:cubicBezTo>
                  <a:pt x="275134" y="373459"/>
                  <a:pt x="269478" y="360759"/>
                  <a:pt x="272653" y="348754"/>
                </a:cubicBezTo>
                <a:lnTo>
                  <a:pt x="279598" y="322759"/>
                </a:lnTo>
                <a:cubicBezTo>
                  <a:pt x="282873" y="310753"/>
                  <a:pt x="294084" y="302617"/>
                  <a:pt x="306586" y="303411"/>
                </a:cubicBezTo>
                <a:lnTo>
                  <a:pt x="348159" y="306090"/>
                </a:lnTo>
                <a:cubicBezTo>
                  <a:pt x="354409" y="298053"/>
                  <a:pt x="361652" y="290612"/>
                  <a:pt x="369887" y="284262"/>
                </a:cubicBezTo>
                <a:lnTo>
                  <a:pt x="367209" y="242788"/>
                </a:lnTo>
                <a:cubicBezTo>
                  <a:pt x="366415" y="230287"/>
                  <a:pt x="374551" y="218976"/>
                  <a:pt x="386556" y="215801"/>
                </a:cubicBezTo>
                <a:lnTo>
                  <a:pt x="412552" y="208855"/>
                </a:lnTo>
                <a:close/>
                <a:moveTo>
                  <a:pt x="444897" y="337344"/>
                </a:moveTo>
                <a:cubicBezTo>
                  <a:pt x="420802" y="337371"/>
                  <a:pt x="401263" y="356955"/>
                  <a:pt x="401290" y="381050"/>
                </a:cubicBezTo>
                <a:cubicBezTo>
                  <a:pt x="401318" y="405144"/>
                  <a:pt x="420902" y="424684"/>
                  <a:pt x="444996" y="424656"/>
                </a:cubicBezTo>
                <a:cubicBezTo>
                  <a:pt x="469091" y="424629"/>
                  <a:pt x="488630" y="405045"/>
                  <a:pt x="488603" y="380950"/>
                </a:cubicBezTo>
                <a:cubicBezTo>
                  <a:pt x="488575" y="356856"/>
                  <a:pt x="468991" y="337316"/>
                  <a:pt x="444897" y="337344"/>
                </a:cubicBezTo>
                <a:close/>
                <a:moveTo>
                  <a:pt x="223143" y="-45145"/>
                </a:moveTo>
                <a:lnTo>
                  <a:pt x="249138" y="-38199"/>
                </a:lnTo>
                <a:cubicBezTo>
                  <a:pt x="261144" y="-34925"/>
                  <a:pt x="269280" y="-23614"/>
                  <a:pt x="268486" y="-11212"/>
                </a:cubicBezTo>
                <a:lnTo>
                  <a:pt x="265807" y="30262"/>
                </a:lnTo>
                <a:cubicBezTo>
                  <a:pt x="274042" y="36612"/>
                  <a:pt x="281285" y="43954"/>
                  <a:pt x="287536" y="52090"/>
                </a:cubicBezTo>
                <a:lnTo>
                  <a:pt x="329208" y="49411"/>
                </a:lnTo>
                <a:cubicBezTo>
                  <a:pt x="341610" y="48617"/>
                  <a:pt x="352921" y="56753"/>
                  <a:pt x="356195" y="68759"/>
                </a:cubicBezTo>
                <a:lnTo>
                  <a:pt x="363141" y="94754"/>
                </a:lnTo>
                <a:cubicBezTo>
                  <a:pt x="366316" y="106759"/>
                  <a:pt x="360660" y="119459"/>
                  <a:pt x="349448" y="125016"/>
                </a:cubicBezTo>
                <a:lnTo>
                  <a:pt x="312043" y="143470"/>
                </a:lnTo>
                <a:cubicBezTo>
                  <a:pt x="311348" y="148530"/>
                  <a:pt x="310356" y="153591"/>
                  <a:pt x="309066" y="158552"/>
                </a:cubicBezTo>
                <a:cubicBezTo>
                  <a:pt x="307777" y="163512"/>
                  <a:pt x="305991" y="168473"/>
                  <a:pt x="304105" y="173137"/>
                </a:cubicBezTo>
                <a:lnTo>
                  <a:pt x="327223" y="207863"/>
                </a:lnTo>
                <a:cubicBezTo>
                  <a:pt x="334169" y="218281"/>
                  <a:pt x="332780" y="232073"/>
                  <a:pt x="323949" y="240903"/>
                </a:cubicBezTo>
                <a:lnTo>
                  <a:pt x="304899" y="259953"/>
                </a:lnTo>
                <a:cubicBezTo>
                  <a:pt x="296069" y="268784"/>
                  <a:pt x="282277" y="270173"/>
                  <a:pt x="271859" y="263227"/>
                </a:cubicBezTo>
                <a:lnTo>
                  <a:pt x="237133" y="240109"/>
                </a:lnTo>
                <a:cubicBezTo>
                  <a:pt x="227707" y="243979"/>
                  <a:pt x="217686" y="246757"/>
                  <a:pt x="207466" y="248146"/>
                </a:cubicBezTo>
                <a:lnTo>
                  <a:pt x="189012" y="285452"/>
                </a:lnTo>
                <a:cubicBezTo>
                  <a:pt x="183455" y="296664"/>
                  <a:pt x="170755" y="302320"/>
                  <a:pt x="158750" y="299145"/>
                </a:cubicBezTo>
                <a:lnTo>
                  <a:pt x="132755" y="292199"/>
                </a:lnTo>
                <a:cubicBezTo>
                  <a:pt x="120650" y="288925"/>
                  <a:pt x="112613" y="277614"/>
                  <a:pt x="113407" y="265212"/>
                </a:cubicBezTo>
                <a:lnTo>
                  <a:pt x="116086" y="223639"/>
                </a:lnTo>
                <a:cubicBezTo>
                  <a:pt x="107851" y="217289"/>
                  <a:pt x="100608" y="209947"/>
                  <a:pt x="94357" y="201811"/>
                </a:cubicBezTo>
                <a:lnTo>
                  <a:pt x="52685" y="204490"/>
                </a:lnTo>
                <a:cubicBezTo>
                  <a:pt x="40283" y="205284"/>
                  <a:pt x="28972" y="197148"/>
                  <a:pt x="25698" y="185142"/>
                </a:cubicBezTo>
                <a:lnTo>
                  <a:pt x="18752" y="159147"/>
                </a:lnTo>
                <a:cubicBezTo>
                  <a:pt x="15577" y="147141"/>
                  <a:pt x="21233" y="134441"/>
                  <a:pt x="32445" y="128885"/>
                </a:cubicBezTo>
                <a:lnTo>
                  <a:pt x="69850" y="110430"/>
                </a:lnTo>
                <a:cubicBezTo>
                  <a:pt x="70545" y="105370"/>
                  <a:pt x="71537" y="100409"/>
                  <a:pt x="72827" y="95349"/>
                </a:cubicBezTo>
                <a:cubicBezTo>
                  <a:pt x="74216" y="90289"/>
                  <a:pt x="75803" y="85427"/>
                  <a:pt x="77788" y="80764"/>
                </a:cubicBezTo>
                <a:lnTo>
                  <a:pt x="54670" y="46137"/>
                </a:lnTo>
                <a:cubicBezTo>
                  <a:pt x="47724" y="35719"/>
                  <a:pt x="49113" y="21927"/>
                  <a:pt x="57944" y="13097"/>
                </a:cubicBezTo>
                <a:lnTo>
                  <a:pt x="76994" y="-5953"/>
                </a:lnTo>
                <a:cubicBezTo>
                  <a:pt x="85824" y="-14784"/>
                  <a:pt x="99616" y="-16173"/>
                  <a:pt x="110034" y="-9227"/>
                </a:cubicBezTo>
                <a:lnTo>
                  <a:pt x="144760" y="13891"/>
                </a:lnTo>
                <a:cubicBezTo>
                  <a:pt x="154186" y="10021"/>
                  <a:pt x="164207" y="7243"/>
                  <a:pt x="174427" y="5854"/>
                </a:cubicBezTo>
                <a:lnTo>
                  <a:pt x="192881" y="-31452"/>
                </a:lnTo>
                <a:cubicBezTo>
                  <a:pt x="198437" y="-42664"/>
                  <a:pt x="211038" y="-48320"/>
                  <a:pt x="223143" y="-45145"/>
                </a:cubicBezTo>
                <a:close/>
                <a:moveTo>
                  <a:pt x="190897" y="83344"/>
                </a:moveTo>
                <a:cubicBezTo>
                  <a:pt x="166802" y="83344"/>
                  <a:pt x="147241" y="102905"/>
                  <a:pt x="147241" y="127000"/>
                </a:cubicBezTo>
                <a:cubicBezTo>
                  <a:pt x="147241" y="151095"/>
                  <a:pt x="166802" y="170656"/>
                  <a:pt x="190897" y="170656"/>
                </a:cubicBezTo>
                <a:cubicBezTo>
                  <a:pt x="214991" y="170656"/>
                  <a:pt x="234553" y="151095"/>
                  <a:pt x="234553" y="127000"/>
                </a:cubicBezTo>
                <a:cubicBezTo>
                  <a:pt x="234553" y="102905"/>
                  <a:pt x="214991" y="83344"/>
                  <a:pt x="190897" y="83344"/>
                </a:cubicBezTo>
                <a:close/>
              </a:path>
            </a:pathLst>
          </a:custGeom>
          <a:solidFill>
            <a:srgbClr val="F5F1EC"/>
          </a:solidFill>
          <a:ln/>
        </p:spPr>
      </p:sp>
      <p:sp>
        <p:nvSpPr>
          <p:cNvPr id="13" name="Text 11"/>
          <p:cNvSpPr/>
          <p:nvPr/>
        </p:nvSpPr>
        <p:spPr>
          <a:xfrm>
            <a:off x="4699000" y="3873500"/>
            <a:ext cx="3302000" cy="330200"/>
          </a:xfrm>
          <a:prstGeom prst="rect">
            <a:avLst/>
          </a:prstGeom>
          <a:noFill/>
          <a:ln/>
        </p:spPr>
        <p:txBody>
          <a:bodyPr wrap="none" lIns="0" tIns="0" rIns="0" bIns="0" rtlCol="0" anchor="ctr"/>
          <a:lstStyle/>
          <a:p>
            <a:pPr algn="ctr">
              <a:lnSpc>
                <a:spcPct val="100000"/>
              </a:lnSpc>
            </a:pPr>
            <a:r>
              <a:rPr lang="en-US" sz="1800" b="1" dirty="0">
                <a:solidFill>
                  <a:srgbClr val="F5F1EC"/>
                </a:solidFill>
                <a:latin typeface="Liter" pitchFamily="34" charset="0"/>
                <a:ea typeface="Liter" pitchFamily="34" charset="-122"/>
                <a:cs typeface="Liter" pitchFamily="34" charset="-120"/>
              </a:rPr>
              <a:t>Reasoning</a:t>
            </a:r>
            <a:endParaRPr lang="en-US" sz="1600" dirty="0"/>
          </a:p>
        </p:txBody>
      </p:sp>
      <p:sp>
        <p:nvSpPr>
          <p:cNvPr id="14" name="Text 12"/>
          <p:cNvSpPr/>
          <p:nvPr/>
        </p:nvSpPr>
        <p:spPr>
          <a:xfrm>
            <a:off x="4826000" y="4254500"/>
            <a:ext cx="3048000" cy="635000"/>
          </a:xfrm>
          <a:prstGeom prst="rect">
            <a:avLst/>
          </a:prstGeom>
          <a:noFill/>
          <a:ln/>
        </p:spPr>
        <p:txBody>
          <a:bodyPr wrap="square" lIns="0" tIns="0" rIns="0" bIns="0" rtlCol="0" anchor="t"/>
          <a:lstStyle/>
          <a:p>
            <a:pPr algn="ctr">
              <a:lnSpc>
                <a:spcPct val="140000"/>
              </a:lnSpc>
            </a:pPr>
            <a:r>
              <a:rPr lang="en-US" sz="1400" dirty="0">
                <a:solidFill>
                  <a:srgbClr val="F5F1EC">
                    <a:alpha val="80000"/>
                  </a:srgbClr>
                </a:solidFill>
                <a:latin typeface="Quattrocento Sans" pitchFamily="34" charset="0"/>
                <a:ea typeface="Quattrocento Sans" pitchFamily="34" charset="-122"/>
                <a:cs typeface="Quattrocento Sans" pitchFamily="34" charset="-120"/>
              </a:rPr>
              <a:t>Processing information to form beliefs and decide actions</a:t>
            </a:r>
            <a:endParaRPr lang="en-US" sz="1600" dirty="0"/>
          </a:p>
        </p:txBody>
      </p:sp>
      <p:sp>
        <p:nvSpPr>
          <p:cNvPr id="15" name="Shape 13"/>
          <p:cNvSpPr/>
          <p:nvPr/>
        </p:nvSpPr>
        <p:spPr>
          <a:xfrm>
            <a:off x="8128000" y="3937000"/>
            <a:ext cx="381000" cy="0"/>
          </a:xfrm>
          <a:prstGeom prst="straightConnector1">
            <a:avLst/>
          </a:prstGeom>
          <a:noFill/>
          <a:ln w="25400">
            <a:solidFill>
              <a:srgbClr val="D4A574"/>
            </a:solidFill>
            <a:prstDash val="solid"/>
            <a:headEnd type="none"/>
            <a:tailEnd type="arrow"/>
          </a:ln>
        </p:spPr>
      </p:sp>
      <p:sp>
        <p:nvSpPr>
          <p:cNvPr id="16" name="Shape 14"/>
          <p:cNvSpPr/>
          <p:nvPr/>
        </p:nvSpPr>
        <p:spPr>
          <a:xfrm>
            <a:off x="8636000" y="3048000"/>
            <a:ext cx="3302000" cy="2032000"/>
          </a:xfrm>
          <a:prstGeom prst="rect">
            <a:avLst/>
          </a:prstGeom>
          <a:solidFill>
            <a:srgbClr val="2D3436"/>
          </a:solidFill>
          <a:ln/>
        </p:spPr>
      </p:sp>
      <p:sp>
        <p:nvSpPr>
          <p:cNvPr id="17" name="Shape 15"/>
          <p:cNvSpPr/>
          <p:nvPr/>
        </p:nvSpPr>
        <p:spPr>
          <a:xfrm>
            <a:off x="9937750" y="3238500"/>
            <a:ext cx="444500" cy="508000"/>
          </a:xfrm>
          <a:custGeom>
            <a:avLst/>
            <a:gdLst/>
            <a:ahLst/>
            <a:cxnLst/>
            <a:rect l="l" t="t" r="r" b="b"/>
            <a:pathLst>
              <a:path w="444500" h="508000">
                <a:moveTo>
                  <a:pt x="127000" y="39688"/>
                </a:moveTo>
                <a:cubicBezTo>
                  <a:pt x="127000" y="17760"/>
                  <a:pt x="144760" y="0"/>
                  <a:pt x="166688" y="0"/>
                </a:cubicBezTo>
                <a:cubicBezTo>
                  <a:pt x="188615" y="0"/>
                  <a:pt x="206375" y="17760"/>
                  <a:pt x="206375" y="39688"/>
                </a:cubicBezTo>
                <a:lnTo>
                  <a:pt x="206375" y="186730"/>
                </a:lnTo>
                <a:cubicBezTo>
                  <a:pt x="214809" y="179189"/>
                  <a:pt x="225921" y="174625"/>
                  <a:pt x="238125" y="174625"/>
                </a:cubicBezTo>
                <a:cubicBezTo>
                  <a:pt x="258564" y="174625"/>
                  <a:pt x="276027" y="187523"/>
                  <a:pt x="282773" y="205581"/>
                </a:cubicBezTo>
                <a:cubicBezTo>
                  <a:pt x="291505" y="196354"/>
                  <a:pt x="303808" y="190500"/>
                  <a:pt x="317500" y="190500"/>
                </a:cubicBezTo>
                <a:cubicBezTo>
                  <a:pt x="342602" y="190500"/>
                  <a:pt x="363141" y="209848"/>
                  <a:pt x="365026" y="234454"/>
                </a:cubicBezTo>
                <a:cubicBezTo>
                  <a:pt x="373459" y="226814"/>
                  <a:pt x="384671" y="222250"/>
                  <a:pt x="396875" y="222250"/>
                </a:cubicBezTo>
                <a:cubicBezTo>
                  <a:pt x="423168" y="222250"/>
                  <a:pt x="444500" y="243582"/>
                  <a:pt x="444500" y="269875"/>
                </a:cubicBezTo>
                <a:lnTo>
                  <a:pt x="444500" y="381000"/>
                </a:lnTo>
                <a:cubicBezTo>
                  <a:pt x="444500" y="451148"/>
                  <a:pt x="387648" y="508000"/>
                  <a:pt x="317500" y="508000"/>
                </a:cubicBezTo>
                <a:lnTo>
                  <a:pt x="232866" y="508000"/>
                </a:lnTo>
                <a:cubicBezTo>
                  <a:pt x="227905" y="508000"/>
                  <a:pt x="223044" y="507702"/>
                  <a:pt x="218281" y="507008"/>
                </a:cubicBezTo>
                <a:cubicBezTo>
                  <a:pt x="163413" y="501452"/>
                  <a:pt x="112911" y="473273"/>
                  <a:pt x="79375" y="428625"/>
                </a:cubicBezTo>
                <a:lnTo>
                  <a:pt x="7938" y="333375"/>
                </a:lnTo>
                <a:cubicBezTo>
                  <a:pt x="-5259" y="315813"/>
                  <a:pt x="-1687" y="291009"/>
                  <a:pt x="15875" y="277813"/>
                </a:cubicBezTo>
                <a:cubicBezTo>
                  <a:pt x="33437" y="264616"/>
                  <a:pt x="58241" y="268188"/>
                  <a:pt x="71438" y="285750"/>
                </a:cubicBezTo>
                <a:lnTo>
                  <a:pt x="127000" y="359866"/>
                </a:lnTo>
                <a:lnTo>
                  <a:pt x="127000" y="39688"/>
                </a:lnTo>
                <a:close/>
                <a:moveTo>
                  <a:pt x="238125" y="301625"/>
                </a:moveTo>
                <a:cubicBezTo>
                  <a:pt x="238125" y="292894"/>
                  <a:pt x="230981" y="285750"/>
                  <a:pt x="222250" y="285750"/>
                </a:cubicBezTo>
                <a:cubicBezTo>
                  <a:pt x="213519" y="285750"/>
                  <a:pt x="206375" y="292894"/>
                  <a:pt x="206375" y="301625"/>
                </a:cubicBezTo>
                <a:lnTo>
                  <a:pt x="206375" y="396875"/>
                </a:lnTo>
                <a:cubicBezTo>
                  <a:pt x="206375" y="405606"/>
                  <a:pt x="213519" y="412750"/>
                  <a:pt x="222250" y="412750"/>
                </a:cubicBezTo>
                <a:cubicBezTo>
                  <a:pt x="230981" y="412750"/>
                  <a:pt x="238125" y="405606"/>
                  <a:pt x="238125" y="396875"/>
                </a:cubicBezTo>
                <a:lnTo>
                  <a:pt x="238125" y="301625"/>
                </a:lnTo>
                <a:close/>
                <a:moveTo>
                  <a:pt x="285750" y="285750"/>
                </a:moveTo>
                <a:cubicBezTo>
                  <a:pt x="277019" y="285750"/>
                  <a:pt x="269875" y="292894"/>
                  <a:pt x="269875" y="301625"/>
                </a:cubicBezTo>
                <a:lnTo>
                  <a:pt x="269875" y="396875"/>
                </a:lnTo>
                <a:cubicBezTo>
                  <a:pt x="269875" y="405606"/>
                  <a:pt x="277019" y="412750"/>
                  <a:pt x="285750" y="412750"/>
                </a:cubicBezTo>
                <a:cubicBezTo>
                  <a:pt x="294481" y="412750"/>
                  <a:pt x="301625" y="405606"/>
                  <a:pt x="301625" y="396875"/>
                </a:cubicBezTo>
                <a:lnTo>
                  <a:pt x="301625" y="301625"/>
                </a:lnTo>
                <a:cubicBezTo>
                  <a:pt x="301625" y="292894"/>
                  <a:pt x="294481" y="285750"/>
                  <a:pt x="285750" y="285750"/>
                </a:cubicBezTo>
                <a:close/>
                <a:moveTo>
                  <a:pt x="365125" y="301625"/>
                </a:moveTo>
                <a:cubicBezTo>
                  <a:pt x="365125" y="292894"/>
                  <a:pt x="357981" y="285750"/>
                  <a:pt x="349250" y="285750"/>
                </a:cubicBezTo>
                <a:cubicBezTo>
                  <a:pt x="340519" y="285750"/>
                  <a:pt x="333375" y="292894"/>
                  <a:pt x="333375" y="301625"/>
                </a:cubicBezTo>
                <a:lnTo>
                  <a:pt x="333375" y="396875"/>
                </a:lnTo>
                <a:cubicBezTo>
                  <a:pt x="333375" y="405606"/>
                  <a:pt x="340519" y="412750"/>
                  <a:pt x="349250" y="412750"/>
                </a:cubicBezTo>
                <a:cubicBezTo>
                  <a:pt x="357981" y="412750"/>
                  <a:pt x="365125" y="405606"/>
                  <a:pt x="365125" y="396875"/>
                </a:cubicBezTo>
                <a:lnTo>
                  <a:pt x="365125" y="301625"/>
                </a:lnTo>
                <a:close/>
              </a:path>
            </a:pathLst>
          </a:custGeom>
          <a:solidFill>
            <a:srgbClr val="D4A574"/>
          </a:solidFill>
          <a:ln/>
        </p:spPr>
      </p:sp>
      <p:sp>
        <p:nvSpPr>
          <p:cNvPr id="18" name="Text 16"/>
          <p:cNvSpPr/>
          <p:nvPr/>
        </p:nvSpPr>
        <p:spPr>
          <a:xfrm>
            <a:off x="8636000" y="3873500"/>
            <a:ext cx="3302000" cy="330200"/>
          </a:xfrm>
          <a:prstGeom prst="rect">
            <a:avLst/>
          </a:prstGeom>
          <a:noFill/>
          <a:ln/>
        </p:spPr>
        <p:txBody>
          <a:bodyPr wrap="none" lIns="0" tIns="0" rIns="0" bIns="0" rtlCol="0" anchor="ctr"/>
          <a:lstStyle/>
          <a:p>
            <a:pPr algn="ctr">
              <a:lnSpc>
                <a:spcPct val="100000"/>
              </a:lnSpc>
            </a:pPr>
            <a:r>
              <a:rPr lang="en-US" sz="1800" b="1" dirty="0">
                <a:solidFill>
                  <a:srgbClr val="F5F1EC"/>
                </a:solidFill>
                <a:latin typeface="Liter" pitchFamily="34" charset="0"/>
                <a:ea typeface="Liter" pitchFamily="34" charset="-122"/>
                <a:cs typeface="Liter" pitchFamily="34" charset="-120"/>
              </a:rPr>
              <a:t>Action</a:t>
            </a:r>
            <a:endParaRPr lang="en-US" sz="1600" dirty="0"/>
          </a:p>
        </p:txBody>
      </p:sp>
      <p:sp>
        <p:nvSpPr>
          <p:cNvPr id="19" name="Text 17"/>
          <p:cNvSpPr/>
          <p:nvPr/>
        </p:nvSpPr>
        <p:spPr>
          <a:xfrm>
            <a:off x="8763000" y="4254500"/>
            <a:ext cx="3048000" cy="635000"/>
          </a:xfrm>
          <a:prstGeom prst="rect">
            <a:avLst/>
          </a:prstGeom>
          <a:noFill/>
          <a:ln/>
        </p:spPr>
        <p:txBody>
          <a:bodyPr wrap="square" lIns="0" tIns="0" rIns="0" bIns="0" rtlCol="0" anchor="t"/>
          <a:lstStyle/>
          <a:p>
            <a:pPr algn="ctr">
              <a:lnSpc>
                <a:spcPct val="140000"/>
              </a:lnSpc>
            </a:pPr>
            <a:r>
              <a:rPr lang="en-US" sz="1400" dirty="0">
                <a:solidFill>
                  <a:srgbClr val="F5F1EC">
                    <a:alpha val="80000"/>
                  </a:srgbClr>
                </a:solidFill>
                <a:latin typeface="Quattrocento Sans" pitchFamily="34" charset="0"/>
                <a:ea typeface="Quattrocento Sans" pitchFamily="34" charset="-122"/>
                <a:cs typeface="Quattrocento Sans" pitchFamily="34" charset="-120"/>
              </a:rPr>
              <a:t>Executing decisions through actuators — motors, displays</a:t>
            </a:r>
            <a:endParaRPr lang="en-US" sz="1600" dirty="0"/>
          </a:p>
        </p:txBody>
      </p:sp>
      <p:sp>
        <p:nvSpPr>
          <p:cNvPr id="20" name="Shape 18"/>
          <p:cNvSpPr/>
          <p:nvPr/>
        </p:nvSpPr>
        <p:spPr>
          <a:xfrm>
            <a:off x="12065000" y="3937000"/>
            <a:ext cx="381000" cy="0"/>
          </a:xfrm>
          <a:prstGeom prst="straightConnector1">
            <a:avLst/>
          </a:prstGeom>
          <a:noFill/>
          <a:ln w="25400">
            <a:solidFill>
              <a:srgbClr val="D4A574"/>
            </a:solidFill>
            <a:prstDash val="solid"/>
            <a:headEnd type="none"/>
            <a:tailEnd type="arrow"/>
          </a:ln>
        </p:spPr>
      </p:sp>
      <p:sp>
        <p:nvSpPr>
          <p:cNvPr id="21" name="Shape 19"/>
          <p:cNvSpPr/>
          <p:nvPr/>
        </p:nvSpPr>
        <p:spPr>
          <a:xfrm>
            <a:off x="12573000" y="3048000"/>
            <a:ext cx="2921000" cy="2032000"/>
          </a:xfrm>
          <a:prstGeom prst="rect">
            <a:avLst/>
          </a:prstGeom>
          <a:solidFill>
            <a:srgbClr val="D4A574"/>
          </a:solidFill>
          <a:ln/>
        </p:spPr>
      </p:sp>
      <p:sp>
        <p:nvSpPr>
          <p:cNvPr id="22" name="Shape 20"/>
          <p:cNvSpPr/>
          <p:nvPr/>
        </p:nvSpPr>
        <p:spPr>
          <a:xfrm>
            <a:off x="13716000" y="3238500"/>
            <a:ext cx="508000" cy="508000"/>
          </a:xfrm>
          <a:custGeom>
            <a:avLst/>
            <a:gdLst/>
            <a:ahLst/>
            <a:cxnLst/>
            <a:rect l="l" t="t" r="r" b="b"/>
            <a:pathLst>
              <a:path w="508000" h="508000">
                <a:moveTo>
                  <a:pt x="65385" y="226715"/>
                </a:moveTo>
                <a:cubicBezTo>
                  <a:pt x="78581" y="134441"/>
                  <a:pt x="158055" y="63500"/>
                  <a:pt x="254000" y="63500"/>
                </a:cubicBezTo>
                <a:cubicBezTo>
                  <a:pt x="306586" y="63500"/>
                  <a:pt x="354211" y="84832"/>
                  <a:pt x="388739" y="119261"/>
                </a:cubicBezTo>
                <a:cubicBezTo>
                  <a:pt x="388938" y="119459"/>
                  <a:pt x="389136" y="119658"/>
                  <a:pt x="389334" y="119856"/>
                </a:cubicBezTo>
                <a:lnTo>
                  <a:pt x="396875" y="127000"/>
                </a:lnTo>
                <a:lnTo>
                  <a:pt x="349349" y="127000"/>
                </a:lnTo>
                <a:cubicBezTo>
                  <a:pt x="331788" y="127000"/>
                  <a:pt x="317599" y="141188"/>
                  <a:pt x="317599" y="158750"/>
                </a:cubicBezTo>
                <a:cubicBezTo>
                  <a:pt x="317599" y="176312"/>
                  <a:pt x="331788" y="190500"/>
                  <a:pt x="349349" y="190500"/>
                </a:cubicBezTo>
                <a:lnTo>
                  <a:pt x="476349" y="190500"/>
                </a:lnTo>
                <a:cubicBezTo>
                  <a:pt x="493911" y="190500"/>
                  <a:pt x="508099" y="176312"/>
                  <a:pt x="508099" y="158750"/>
                </a:cubicBezTo>
                <a:lnTo>
                  <a:pt x="508099" y="31750"/>
                </a:lnTo>
                <a:cubicBezTo>
                  <a:pt x="508099" y="14188"/>
                  <a:pt x="493911" y="0"/>
                  <a:pt x="476349" y="0"/>
                </a:cubicBezTo>
                <a:cubicBezTo>
                  <a:pt x="458788" y="0"/>
                  <a:pt x="444599" y="14188"/>
                  <a:pt x="444599" y="31750"/>
                </a:cubicBezTo>
                <a:lnTo>
                  <a:pt x="444599" y="84733"/>
                </a:lnTo>
                <a:lnTo>
                  <a:pt x="433388" y="74116"/>
                </a:lnTo>
                <a:cubicBezTo>
                  <a:pt x="387449" y="28377"/>
                  <a:pt x="323949" y="0"/>
                  <a:pt x="254000" y="0"/>
                </a:cubicBezTo>
                <a:cubicBezTo>
                  <a:pt x="126008" y="0"/>
                  <a:pt x="20141" y="94655"/>
                  <a:pt x="2580" y="217785"/>
                </a:cubicBezTo>
                <a:cubicBezTo>
                  <a:pt x="99" y="235148"/>
                  <a:pt x="12105" y="251222"/>
                  <a:pt x="29468" y="253702"/>
                </a:cubicBezTo>
                <a:cubicBezTo>
                  <a:pt x="46831" y="256183"/>
                  <a:pt x="62905" y="244078"/>
                  <a:pt x="65385" y="226814"/>
                </a:cubicBezTo>
                <a:close/>
                <a:moveTo>
                  <a:pt x="505420" y="290215"/>
                </a:moveTo>
                <a:cubicBezTo>
                  <a:pt x="507901" y="272852"/>
                  <a:pt x="495796" y="256778"/>
                  <a:pt x="478532" y="254298"/>
                </a:cubicBezTo>
                <a:cubicBezTo>
                  <a:pt x="461268" y="251817"/>
                  <a:pt x="445095" y="263922"/>
                  <a:pt x="442615" y="281186"/>
                </a:cubicBezTo>
                <a:cubicBezTo>
                  <a:pt x="429419" y="373459"/>
                  <a:pt x="349945" y="444401"/>
                  <a:pt x="254000" y="444401"/>
                </a:cubicBezTo>
                <a:cubicBezTo>
                  <a:pt x="201414" y="444401"/>
                  <a:pt x="153789" y="423069"/>
                  <a:pt x="119261" y="388640"/>
                </a:cubicBezTo>
                <a:cubicBezTo>
                  <a:pt x="119062" y="388441"/>
                  <a:pt x="118864" y="388243"/>
                  <a:pt x="118666" y="388045"/>
                </a:cubicBezTo>
                <a:lnTo>
                  <a:pt x="111125" y="380901"/>
                </a:lnTo>
                <a:lnTo>
                  <a:pt x="158651" y="380901"/>
                </a:lnTo>
                <a:cubicBezTo>
                  <a:pt x="176212" y="380901"/>
                  <a:pt x="190401" y="366713"/>
                  <a:pt x="190401" y="349151"/>
                </a:cubicBezTo>
                <a:cubicBezTo>
                  <a:pt x="190401" y="331589"/>
                  <a:pt x="176212" y="317401"/>
                  <a:pt x="158651" y="317401"/>
                </a:cubicBezTo>
                <a:lnTo>
                  <a:pt x="31750" y="317500"/>
                </a:lnTo>
                <a:cubicBezTo>
                  <a:pt x="23316" y="317500"/>
                  <a:pt x="15180" y="320873"/>
                  <a:pt x="9227" y="326926"/>
                </a:cubicBezTo>
                <a:cubicBezTo>
                  <a:pt x="3274" y="332978"/>
                  <a:pt x="-99" y="341015"/>
                  <a:pt x="0" y="349548"/>
                </a:cubicBezTo>
                <a:lnTo>
                  <a:pt x="992" y="475555"/>
                </a:lnTo>
                <a:cubicBezTo>
                  <a:pt x="1091" y="493117"/>
                  <a:pt x="15478" y="507206"/>
                  <a:pt x="33040" y="507008"/>
                </a:cubicBezTo>
                <a:cubicBezTo>
                  <a:pt x="50602" y="506809"/>
                  <a:pt x="64691" y="492522"/>
                  <a:pt x="64492" y="474960"/>
                </a:cubicBezTo>
                <a:lnTo>
                  <a:pt x="64095" y="423863"/>
                </a:lnTo>
                <a:lnTo>
                  <a:pt x="74712" y="433884"/>
                </a:lnTo>
                <a:cubicBezTo>
                  <a:pt x="120650" y="479623"/>
                  <a:pt x="184051" y="508000"/>
                  <a:pt x="254000" y="508000"/>
                </a:cubicBezTo>
                <a:cubicBezTo>
                  <a:pt x="381992" y="508000"/>
                  <a:pt x="487859" y="413345"/>
                  <a:pt x="505420" y="290215"/>
                </a:cubicBezTo>
                <a:close/>
              </a:path>
            </a:pathLst>
          </a:custGeom>
          <a:solidFill>
            <a:srgbClr val="F5F1EC"/>
          </a:solidFill>
          <a:ln/>
        </p:spPr>
      </p:sp>
      <p:sp>
        <p:nvSpPr>
          <p:cNvPr id="23" name="Text 21"/>
          <p:cNvSpPr/>
          <p:nvPr/>
        </p:nvSpPr>
        <p:spPr>
          <a:xfrm>
            <a:off x="12573000" y="3873500"/>
            <a:ext cx="2921000" cy="330200"/>
          </a:xfrm>
          <a:prstGeom prst="rect">
            <a:avLst/>
          </a:prstGeom>
          <a:noFill/>
          <a:ln/>
        </p:spPr>
        <p:txBody>
          <a:bodyPr wrap="none" lIns="0" tIns="0" rIns="0" bIns="0" rtlCol="0" anchor="ctr"/>
          <a:lstStyle/>
          <a:p>
            <a:pPr algn="ctr">
              <a:lnSpc>
                <a:spcPct val="100000"/>
              </a:lnSpc>
            </a:pPr>
            <a:r>
              <a:rPr lang="en-US" sz="1800" b="1" dirty="0">
                <a:solidFill>
                  <a:srgbClr val="F5F1EC"/>
                </a:solidFill>
                <a:latin typeface="Liter" pitchFamily="34" charset="0"/>
                <a:ea typeface="Liter" pitchFamily="34" charset="-122"/>
                <a:cs typeface="Liter" pitchFamily="34" charset="-120"/>
              </a:rPr>
              <a:t>Learning</a:t>
            </a:r>
            <a:endParaRPr lang="en-US" sz="1600" dirty="0"/>
          </a:p>
        </p:txBody>
      </p:sp>
      <p:sp>
        <p:nvSpPr>
          <p:cNvPr id="24" name="Text 22"/>
          <p:cNvSpPr/>
          <p:nvPr/>
        </p:nvSpPr>
        <p:spPr>
          <a:xfrm>
            <a:off x="12700000" y="4254500"/>
            <a:ext cx="2667000" cy="635000"/>
          </a:xfrm>
          <a:prstGeom prst="rect">
            <a:avLst/>
          </a:prstGeom>
          <a:noFill/>
          <a:ln/>
        </p:spPr>
        <p:txBody>
          <a:bodyPr wrap="square" lIns="0" tIns="0" rIns="0" bIns="0" rtlCol="0" anchor="t"/>
          <a:lstStyle/>
          <a:p>
            <a:pPr algn="ctr">
              <a:lnSpc>
                <a:spcPct val="140000"/>
              </a:lnSpc>
            </a:pPr>
            <a:r>
              <a:rPr lang="en-US" sz="1400" dirty="0">
                <a:solidFill>
                  <a:srgbClr val="F5F1EC">
                    <a:alpha val="80000"/>
                  </a:srgbClr>
                </a:solidFill>
                <a:latin typeface="Quattrocento Sans" pitchFamily="34" charset="0"/>
                <a:ea typeface="Quattrocento Sans" pitchFamily="34" charset="-122"/>
                <a:cs typeface="Quattrocento Sans" pitchFamily="34" charset="-120"/>
              </a:rPr>
              <a:t>Improving performance from experience over time</a:t>
            </a:r>
            <a:endParaRPr lang="en-US" sz="1600" dirty="0"/>
          </a:p>
        </p:txBody>
      </p:sp>
      <p:sp>
        <p:nvSpPr>
          <p:cNvPr id="25" name="Text 23"/>
          <p:cNvSpPr/>
          <p:nvPr/>
        </p:nvSpPr>
        <p:spPr>
          <a:xfrm>
            <a:off x="762000" y="5588000"/>
            <a:ext cx="635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Types of Agents</a:t>
            </a:r>
            <a:endParaRPr lang="en-US" sz="1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62000" y="6096000"/>
          <a:ext cx="14732000" cy="2159000"/>
        </p:xfrm>
        <a:graphic>
          <a:graphicData uri="http://schemas.openxmlformats.org/drawingml/2006/table">
            <a:tbl>
              <a:tblPr/>
              <a:tblGrid>
                <a:gridCol w="4419600"/>
                <a:gridCol w="10312400"/>
              </a:tblGrid>
              <a:tr h="431800">
                <a:tc>
                  <a:txBody>
                    <a:bodyPr/>
                    <a:lstStyle/>
                    <a:p>
                      <a:pPr algn="l"/>
                      <a:r>
                        <a:rPr lang="en-US" sz="1600" b="1" u="none" dirty="0">
                          <a:solidFill>
                            <a:srgbClr val="F5F1EC"/>
                          </a:solidFill>
                          <a:latin typeface="QuattrocentoSans" pitchFamily="34" charset="0"/>
                          <a:ea typeface="QuattrocentoSans" pitchFamily="34" charset="-122"/>
                          <a:cs typeface="QuattrocentoSans" pitchFamily="34" charset="-120"/>
                        </a:rPr>
                        <a:t>Agent Type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3436"/>
                    </a:solidFill>
                  </a:tcPr>
                </a:tc>
                <a:tc>
                  <a:txBody>
                    <a:bodyPr/>
                    <a:lstStyle/>
                    <a:p>
                      <a:pPr algn="l"/>
                      <a:r>
                        <a:rPr lang="en-US" sz="1600" b="1" u="none" dirty="0">
                          <a:solidFill>
                            <a:srgbClr val="F5F1EC"/>
                          </a:solidFill>
                          <a:latin typeface="QuattrocentoSans" pitchFamily="34" charset="0"/>
                          <a:ea typeface="QuattrocentoSans" pitchFamily="34" charset="-122"/>
                          <a:cs typeface="QuattrocentoSans" pitchFamily="34" charset="-120"/>
                        </a:rPr>
                        <a:t>Description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3436"/>
                    </a:solidFill>
                  </a:tcPr>
                </a:tc>
              </a:tr>
              <a:tr h="431800">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Simple Reflex</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Acts on current percept only, using condition-action rules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r>
              <a:tr h="431800">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Model-Based Reflex</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Maintains internal state to track aspects of the world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r>
              <a:tr h="431800">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Goal-Based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Acts to achieve explicitly represented goals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r>
              <a:tr h="431800">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Utility-Based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Chooses actions that maximize expected utility (happiness)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r>
            </a:tbl>
          </a:graphicData>
        </a:graphic>
      </p:graphicFrame>
      <p:sp>
        <p:nvSpPr>
          <p:cNvPr id="27" name="Text 24"/>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24</a:t>
            </a:r>
            <a:endParaRPr lang="en-US" sz="1400" dirty="0"/>
          </a:p>
        </p:txBody>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Limited Rationality — The Real World</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Shape 3"/>
          <p:cNvSpPr/>
          <p:nvPr/>
        </p:nvSpPr>
        <p:spPr>
          <a:xfrm>
            <a:off x="762000" y="2222500"/>
            <a:ext cx="7048500" cy="1651000"/>
          </a:xfrm>
          <a:prstGeom prst="rect">
            <a:avLst/>
          </a:prstGeom>
          <a:solidFill>
            <a:srgbClr val="EDE8E1"/>
          </a:solidFill>
          <a:ln/>
        </p:spPr>
      </p:sp>
      <p:sp>
        <p:nvSpPr>
          <p:cNvPr id="6" name="Text 4"/>
          <p:cNvSpPr/>
          <p:nvPr/>
        </p:nvSpPr>
        <p:spPr>
          <a:xfrm>
            <a:off x="1016000" y="2413000"/>
            <a:ext cx="6540500" cy="355600"/>
          </a:xfrm>
          <a:prstGeom prst="rect">
            <a:avLst/>
          </a:prstGeom>
          <a:noFill/>
          <a:ln/>
        </p:spPr>
        <p:txBody>
          <a:bodyPr wrap="none" lIns="0" tIns="0" rIns="0" bIns="0" rtlCol="0" anchor="ctr"/>
          <a:lstStyle/>
          <a:p>
            <a:pPr>
              <a:lnSpc>
                <a:spcPct val="100000"/>
              </a:lnSpc>
            </a:pPr>
            <a:r>
              <a:rPr lang="en-US" sz="2000" b="1" dirty="0">
                <a:solidFill>
                  <a:srgbClr val="636E72"/>
                </a:solidFill>
                <a:latin typeface="Liter" pitchFamily="34" charset="0"/>
                <a:ea typeface="Liter" pitchFamily="34" charset="-122"/>
                <a:cs typeface="Liter" pitchFamily="34" charset="-120"/>
              </a:rPr>
              <a:t>Perfect Rationality</a:t>
            </a:r>
            <a:endParaRPr lang="en-US" sz="1600" dirty="0"/>
          </a:p>
        </p:txBody>
      </p:sp>
      <p:sp>
        <p:nvSpPr>
          <p:cNvPr id="7" name="Text 5"/>
          <p:cNvSpPr/>
          <p:nvPr/>
        </p:nvSpPr>
        <p:spPr>
          <a:xfrm>
            <a:off x="1016000" y="2857500"/>
            <a:ext cx="6540500" cy="762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Making the best decision theoretically possible. Often not achievable in practice due to real-world constraints.</a:t>
            </a:r>
            <a:endParaRPr lang="en-US" sz="1600" dirty="0"/>
          </a:p>
        </p:txBody>
      </p:sp>
      <p:sp>
        <p:nvSpPr>
          <p:cNvPr id="8" name="Shape 6"/>
          <p:cNvSpPr/>
          <p:nvPr/>
        </p:nvSpPr>
        <p:spPr>
          <a:xfrm>
            <a:off x="8445500" y="2222500"/>
            <a:ext cx="7048500" cy="1651000"/>
          </a:xfrm>
          <a:prstGeom prst="rect">
            <a:avLst/>
          </a:prstGeom>
          <a:solidFill>
            <a:srgbClr val="2D3436"/>
          </a:solidFill>
          <a:ln/>
        </p:spPr>
      </p:sp>
      <p:sp>
        <p:nvSpPr>
          <p:cNvPr id="9" name="Text 7"/>
          <p:cNvSpPr/>
          <p:nvPr/>
        </p:nvSpPr>
        <p:spPr>
          <a:xfrm>
            <a:off x="8699500" y="2413000"/>
            <a:ext cx="6540500" cy="355600"/>
          </a:xfrm>
          <a:prstGeom prst="rect">
            <a:avLst/>
          </a:prstGeom>
          <a:noFill/>
          <a:ln/>
        </p:spPr>
        <p:txBody>
          <a:bodyPr wrap="none" lIns="0" tIns="0" rIns="0" bIns="0" rtlCol="0" anchor="ctr"/>
          <a:lstStyle/>
          <a:p>
            <a:pPr>
              <a:lnSpc>
                <a:spcPct val="100000"/>
              </a:lnSpc>
            </a:pPr>
            <a:r>
              <a:rPr lang="en-US" sz="2000" b="1" dirty="0">
                <a:solidFill>
                  <a:srgbClr val="D4A574"/>
                </a:solidFill>
                <a:latin typeface="Liter" pitchFamily="34" charset="0"/>
                <a:ea typeface="Liter" pitchFamily="34" charset="-122"/>
                <a:cs typeface="Liter" pitchFamily="34" charset="-120"/>
              </a:rPr>
              <a:t>Limited Rationality</a:t>
            </a:r>
            <a:endParaRPr lang="en-US" sz="1600" dirty="0"/>
          </a:p>
        </p:txBody>
      </p:sp>
      <p:sp>
        <p:nvSpPr>
          <p:cNvPr id="10" name="Text 8"/>
          <p:cNvSpPr/>
          <p:nvPr/>
        </p:nvSpPr>
        <p:spPr>
          <a:xfrm>
            <a:off x="8699500" y="2857500"/>
            <a:ext cx="6540500" cy="762000"/>
          </a:xfrm>
          <a:prstGeom prst="rect">
            <a:avLst/>
          </a:prstGeom>
          <a:noFill/>
          <a:ln/>
        </p:spPr>
        <p:txBody>
          <a:bodyPr wrap="square" lIns="0" tIns="0" rIns="0" bIns="0" rtlCol="0" anchor="ctr"/>
          <a:lstStyle/>
          <a:p>
            <a:pPr>
              <a:lnSpc>
                <a:spcPct val="150000"/>
              </a:lnSpc>
            </a:pPr>
            <a:r>
              <a:rPr lang="en-US" sz="1600" dirty="0">
                <a:solidFill>
                  <a:srgbClr val="F5F1EC"/>
                </a:solidFill>
                <a:latin typeface="Quattrocento Sans" pitchFamily="34" charset="0"/>
                <a:ea typeface="Quattrocento Sans" pitchFamily="34" charset="-122"/>
                <a:cs typeface="Quattrocento Sans" pitchFamily="34" charset="-120"/>
              </a:rPr>
              <a:t>Doing the best with the information and resources available. The practical foundation of modern AI systems.</a:t>
            </a:r>
            <a:endParaRPr lang="en-US" sz="1600" dirty="0"/>
          </a:p>
        </p:txBody>
      </p:sp>
      <p:sp>
        <p:nvSpPr>
          <p:cNvPr id="11" name="Text 9"/>
          <p:cNvSpPr/>
          <p:nvPr/>
        </p:nvSpPr>
        <p:spPr>
          <a:xfrm>
            <a:off x="762000" y="4318000"/>
            <a:ext cx="762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Real-World Constraints on Rationality</a:t>
            </a:r>
            <a:endParaRPr lang="en-US" sz="1600" dirty="0"/>
          </a:p>
        </p:txBody>
      </p:sp>
      <p:sp>
        <p:nvSpPr>
          <p:cNvPr id="12" name="Shape 10"/>
          <p:cNvSpPr/>
          <p:nvPr/>
        </p:nvSpPr>
        <p:spPr>
          <a:xfrm>
            <a:off x="762000" y="4889500"/>
            <a:ext cx="3429000" cy="1651000"/>
          </a:xfrm>
          <a:prstGeom prst="rect">
            <a:avLst/>
          </a:prstGeom>
          <a:solidFill>
            <a:srgbClr val="EDE8E1"/>
          </a:solidFill>
          <a:ln/>
        </p:spPr>
      </p:sp>
      <p:sp>
        <p:nvSpPr>
          <p:cNvPr id="13" name="Shape 11"/>
          <p:cNvSpPr/>
          <p:nvPr/>
        </p:nvSpPr>
        <p:spPr>
          <a:xfrm>
            <a:off x="952500" y="5080000"/>
            <a:ext cx="355600" cy="355600"/>
          </a:xfrm>
          <a:custGeom>
            <a:avLst/>
            <a:gdLst/>
            <a:ahLst/>
            <a:cxnLst/>
            <a:rect l="l" t="t" r="r" b="b"/>
            <a:pathLst>
              <a:path w="355600" h="355600">
                <a:moveTo>
                  <a:pt x="177800" y="0"/>
                </a:moveTo>
                <a:cubicBezTo>
                  <a:pt x="275930" y="0"/>
                  <a:pt x="355600" y="79670"/>
                  <a:pt x="355600" y="177800"/>
                </a:cubicBezTo>
                <a:cubicBezTo>
                  <a:pt x="355600" y="275930"/>
                  <a:pt x="275930" y="355600"/>
                  <a:pt x="177800" y="355600"/>
                </a:cubicBezTo>
                <a:cubicBezTo>
                  <a:pt x="79670" y="355600"/>
                  <a:pt x="0" y="275930"/>
                  <a:pt x="0" y="177800"/>
                </a:cubicBezTo>
                <a:cubicBezTo>
                  <a:pt x="0" y="79670"/>
                  <a:pt x="79670" y="0"/>
                  <a:pt x="177800" y="0"/>
                </a:cubicBezTo>
                <a:close/>
                <a:moveTo>
                  <a:pt x="161131" y="83344"/>
                </a:moveTo>
                <a:lnTo>
                  <a:pt x="161131" y="177800"/>
                </a:lnTo>
                <a:cubicBezTo>
                  <a:pt x="161131" y="183356"/>
                  <a:pt x="163909" y="188565"/>
                  <a:pt x="168563" y="191691"/>
                </a:cubicBezTo>
                <a:lnTo>
                  <a:pt x="235238" y="236141"/>
                </a:lnTo>
                <a:cubicBezTo>
                  <a:pt x="242878" y="241280"/>
                  <a:pt x="253226" y="239197"/>
                  <a:pt x="258366" y="231487"/>
                </a:cubicBezTo>
                <a:cubicBezTo>
                  <a:pt x="263505" y="223778"/>
                  <a:pt x="261422" y="213499"/>
                  <a:pt x="253712" y="208359"/>
                </a:cubicBezTo>
                <a:lnTo>
                  <a:pt x="194469" y="168910"/>
                </a:lnTo>
                <a:lnTo>
                  <a:pt x="194469" y="83344"/>
                </a:lnTo>
                <a:cubicBezTo>
                  <a:pt x="194469" y="74106"/>
                  <a:pt x="187037" y="66675"/>
                  <a:pt x="177800" y="66675"/>
                </a:cubicBezTo>
                <a:cubicBezTo>
                  <a:pt x="168563" y="66675"/>
                  <a:pt x="161131" y="74106"/>
                  <a:pt x="161131" y="83344"/>
                </a:cubicBezTo>
                <a:close/>
              </a:path>
            </a:pathLst>
          </a:custGeom>
          <a:solidFill>
            <a:srgbClr val="D4A574"/>
          </a:solidFill>
          <a:ln/>
        </p:spPr>
      </p:sp>
      <p:sp>
        <p:nvSpPr>
          <p:cNvPr id="14" name="Text 12"/>
          <p:cNvSpPr/>
          <p:nvPr/>
        </p:nvSpPr>
        <p:spPr>
          <a:xfrm>
            <a:off x="1422400" y="5080000"/>
            <a:ext cx="2540000" cy="355600"/>
          </a:xfrm>
          <a:prstGeom prst="rect">
            <a:avLst/>
          </a:prstGeom>
          <a:noFill/>
          <a:ln/>
        </p:spPr>
        <p:txBody>
          <a:bodyPr wrap="none" lIns="0" tIns="0" rIns="0" bIns="0" rtlCol="0" anchor="ctr"/>
          <a:lstStyle/>
          <a:p>
            <a:pPr>
              <a:lnSpc>
                <a:spcPct val="100000"/>
              </a:lnSpc>
            </a:pPr>
            <a:r>
              <a:rPr lang="en-US" sz="1600" b="1" dirty="0">
                <a:solidFill>
                  <a:srgbClr val="2D3436"/>
                </a:solidFill>
                <a:latin typeface="Liter" pitchFamily="34" charset="0"/>
                <a:ea typeface="Liter" pitchFamily="34" charset="-122"/>
                <a:cs typeface="Liter" pitchFamily="34" charset="-120"/>
              </a:rPr>
              <a:t>Finite Time</a:t>
            </a:r>
            <a:endParaRPr lang="en-US" sz="1600" dirty="0"/>
          </a:p>
        </p:txBody>
      </p:sp>
      <p:sp>
        <p:nvSpPr>
          <p:cNvPr id="15" name="Text 13"/>
          <p:cNvSpPr/>
          <p:nvPr/>
        </p:nvSpPr>
        <p:spPr>
          <a:xfrm>
            <a:off x="952500" y="5461000"/>
            <a:ext cx="3048000" cy="1016000"/>
          </a:xfrm>
          <a:prstGeom prst="rect">
            <a:avLst/>
          </a:prstGeom>
          <a:noFill/>
          <a:ln/>
        </p:spPr>
        <p:txBody>
          <a:bodyPr wrap="square" lIns="0" tIns="0" rIns="0" bIns="0" rtlCol="0" anchor="ctr"/>
          <a:lstStyle/>
          <a:p>
            <a:pPr>
              <a:lnSpc>
                <a:spcPct val="140000"/>
              </a:lnSpc>
            </a:pPr>
            <a:r>
              <a:rPr lang="en-US" sz="1400" dirty="0">
                <a:solidFill>
                  <a:srgbClr val="2D3436"/>
                </a:solidFill>
                <a:latin typeface="Quattrocento Sans" pitchFamily="34" charset="0"/>
                <a:ea typeface="Quattrocento Sans" pitchFamily="34" charset="-122"/>
                <a:cs typeface="Quattrocento Sans" pitchFamily="34" charset="-120"/>
              </a:rPr>
              <a:t>Decisions must be made within deadlines, not after infinite computation</a:t>
            </a:r>
            <a:endParaRPr lang="en-US" sz="1600" dirty="0"/>
          </a:p>
        </p:txBody>
      </p:sp>
      <p:sp>
        <p:nvSpPr>
          <p:cNvPr id="16" name="Shape 14"/>
          <p:cNvSpPr/>
          <p:nvPr/>
        </p:nvSpPr>
        <p:spPr>
          <a:xfrm>
            <a:off x="4533900" y="4889500"/>
            <a:ext cx="3429000" cy="1651000"/>
          </a:xfrm>
          <a:prstGeom prst="rect">
            <a:avLst/>
          </a:prstGeom>
          <a:solidFill>
            <a:srgbClr val="EDE8E1"/>
          </a:solidFill>
          <a:ln/>
        </p:spPr>
      </p:sp>
      <p:sp>
        <p:nvSpPr>
          <p:cNvPr id="17" name="Shape 15"/>
          <p:cNvSpPr/>
          <p:nvPr/>
        </p:nvSpPr>
        <p:spPr>
          <a:xfrm>
            <a:off x="4724400" y="5080000"/>
            <a:ext cx="355600" cy="355600"/>
          </a:xfrm>
          <a:custGeom>
            <a:avLst/>
            <a:gdLst/>
            <a:ahLst/>
            <a:cxnLst/>
            <a:rect l="l" t="t" r="r" b="b"/>
            <a:pathLst>
              <a:path w="355600" h="355600">
                <a:moveTo>
                  <a:pt x="44450" y="44450"/>
                </a:moveTo>
                <a:cubicBezTo>
                  <a:pt x="19933" y="44450"/>
                  <a:pt x="0" y="64383"/>
                  <a:pt x="0" y="88900"/>
                </a:cubicBezTo>
                <a:lnTo>
                  <a:pt x="0" y="94040"/>
                </a:lnTo>
                <a:cubicBezTo>
                  <a:pt x="0" y="98762"/>
                  <a:pt x="3056" y="102791"/>
                  <a:pt x="7015" y="105360"/>
                </a:cubicBezTo>
                <a:cubicBezTo>
                  <a:pt x="16183" y="111333"/>
                  <a:pt x="22225" y="121612"/>
                  <a:pt x="22225" y="133350"/>
                </a:cubicBezTo>
                <a:cubicBezTo>
                  <a:pt x="22225" y="145088"/>
                  <a:pt x="16183" y="155367"/>
                  <a:pt x="7015" y="161340"/>
                </a:cubicBezTo>
                <a:cubicBezTo>
                  <a:pt x="3056" y="163909"/>
                  <a:pt x="0" y="167938"/>
                  <a:pt x="0" y="172660"/>
                </a:cubicBezTo>
                <a:lnTo>
                  <a:pt x="0" y="211138"/>
                </a:lnTo>
                <a:lnTo>
                  <a:pt x="355600" y="211138"/>
                </a:lnTo>
                <a:lnTo>
                  <a:pt x="355600" y="172660"/>
                </a:lnTo>
                <a:cubicBezTo>
                  <a:pt x="355600" y="167938"/>
                  <a:pt x="352544" y="163909"/>
                  <a:pt x="348585" y="161340"/>
                </a:cubicBezTo>
                <a:cubicBezTo>
                  <a:pt x="339417" y="155367"/>
                  <a:pt x="333375" y="145088"/>
                  <a:pt x="333375" y="133350"/>
                </a:cubicBezTo>
                <a:cubicBezTo>
                  <a:pt x="333375" y="121612"/>
                  <a:pt x="339417" y="111333"/>
                  <a:pt x="348585" y="105360"/>
                </a:cubicBezTo>
                <a:cubicBezTo>
                  <a:pt x="352544" y="102791"/>
                  <a:pt x="355600" y="98762"/>
                  <a:pt x="355600" y="94040"/>
                </a:cubicBezTo>
                <a:lnTo>
                  <a:pt x="355600" y="88900"/>
                </a:lnTo>
                <a:cubicBezTo>
                  <a:pt x="355600" y="64383"/>
                  <a:pt x="335667" y="44450"/>
                  <a:pt x="311150" y="44450"/>
                </a:cubicBezTo>
                <a:lnTo>
                  <a:pt x="44450" y="44450"/>
                </a:lnTo>
                <a:close/>
                <a:moveTo>
                  <a:pt x="355600" y="288925"/>
                </a:moveTo>
                <a:lnTo>
                  <a:pt x="355600" y="244475"/>
                </a:lnTo>
                <a:lnTo>
                  <a:pt x="0" y="244475"/>
                </a:lnTo>
                <a:lnTo>
                  <a:pt x="0" y="288925"/>
                </a:lnTo>
                <a:cubicBezTo>
                  <a:pt x="0" y="301218"/>
                  <a:pt x="9932" y="311150"/>
                  <a:pt x="22225" y="311150"/>
                </a:cubicBezTo>
                <a:lnTo>
                  <a:pt x="66675" y="311150"/>
                </a:lnTo>
                <a:lnTo>
                  <a:pt x="66675" y="294481"/>
                </a:lnTo>
                <a:cubicBezTo>
                  <a:pt x="66675" y="285244"/>
                  <a:pt x="74106" y="277813"/>
                  <a:pt x="83344" y="277813"/>
                </a:cubicBezTo>
                <a:cubicBezTo>
                  <a:pt x="92581" y="277813"/>
                  <a:pt x="100013" y="285244"/>
                  <a:pt x="100013" y="294481"/>
                </a:cubicBezTo>
                <a:lnTo>
                  <a:pt x="100013" y="311150"/>
                </a:lnTo>
                <a:lnTo>
                  <a:pt x="161131" y="311150"/>
                </a:lnTo>
                <a:lnTo>
                  <a:pt x="161131" y="294481"/>
                </a:lnTo>
                <a:cubicBezTo>
                  <a:pt x="161131" y="285244"/>
                  <a:pt x="168563" y="277813"/>
                  <a:pt x="177800" y="277813"/>
                </a:cubicBezTo>
                <a:cubicBezTo>
                  <a:pt x="187037" y="277813"/>
                  <a:pt x="194469" y="285244"/>
                  <a:pt x="194469" y="294481"/>
                </a:cubicBezTo>
                <a:lnTo>
                  <a:pt x="194469" y="311150"/>
                </a:lnTo>
                <a:lnTo>
                  <a:pt x="255587" y="311150"/>
                </a:lnTo>
                <a:lnTo>
                  <a:pt x="255587" y="294481"/>
                </a:lnTo>
                <a:cubicBezTo>
                  <a:pt x="255587" y="285244"/>
                  <a:pt x="263019" y="277813"/>
                  <a:pt x="272256" y="277813"/>
                </a:cubicBezTo>
                <a:cubicBezTo>
                  <a:pt x="281494" y="277813"/>
                  <a:pt x="288925" y="285244"/>
                  <a:pt x="288925" y="294481"/>
                </a:cubicBezTo>
                <a:lnTo>
                  <a:pt x="288925" y="311150"/>
                </a:lnTo>
                <a:lnTo>
                  <a:pt x="333375" y="311150"/>
                </a:lnTo>
                <a:cubicBezTo>
                  <a:pt x="345668" y="311150"/>
                  <a:pt x="355600" y="301218"/>
                  <a:pt x="355600" y="288925"/>
                </a:cubicBezTo>
                <a:close/>
                <a:moveTo>
                  <a:pt x="111125" y="111125"/>
                </a:moveTo>
                <a:lnTo>
                  <a:pt x="111125" y="155575"/>
                </a:lnTo>
                <a:cubicBezTo>
                  <a:pt x="111125" y="167868"/>
                  <a:pt x="101193" y="177800"/>
                  <a:pt x="88900" y="177800"/>
                </a:cubicBezTo>
                <a:cubicBezTo>
                  <a:pt x="76607" y="177800"/>
                  <a:pt x="66675" y="167868"/>
                  <a:pt x="66675" y="155575"/>
                </a:cubicBezTo>
                <a:lnTo>
                  <a:pt x="66675" y="111125"/>
                </a:lnTo>
                <a:cubicBezTo>
                  <a:pt x="66675" y="98832"/>
                  <a:pt x="76607" y="88900"/>
                  <a:pt x="88900" y="88900"/>
                </a:cubicBezTo>
                <a:cubicBezTo>
                  <a:pt x="101193" y="88900"/>
                  <a:pt x="111125" y="98832"/>
                  <a:pt x="111125" y="111125"/>
                </a:cubicBezTo>
                <a:close/>
                <a:moveTo>
                  <a:pt x="200025" y="111125"/>
                </a:moveTo>
                <a:lnTo>
                  <a:pt x="200025" y="155575"/>
                </a:lnTo>
                <a:cubicBezTo>
                  <a:pt x="200025" y="167868"/>
                  <a:pt x="190093" y="177800"/>
                  <a:pt x="177800" y="177800"/>
                </a:cubicBezTo>
                <a:cubicBezTo>
                  <a:pt x="165507" y="177800"/>
                  <a:pt x="155575" y="167868"/>
                  <a:pt x="155575" y="155575"/>
                </a:cubicBezTo>
                <a:lnTo>
                  <a:pt x="155575" y="111125"/>
                </a:lnTo>
                <a:cubicBezTo>
                  <a:pt x="155575" y="98832"/>
                  <a:pt x="165507" y="88900"/>
                  <a:pt x="177800" y="88900"/>
                </a:cubicBezTo>
                <a:cubicBezTo>
                  <a:pt x="190093" y="88900"/>
                  <a:pt x="200025" y="98832"/>
                  <a:pt x="200025" y="111125"/>
                </a:cubicBezTo>
                <a:close/>
                <a:moveTo>
                  <a:pt x="288925" y="111125"/>
                </a:moveTo>
                <a:lnTo>
                  <a:pt x="288925" y="155575"/>
                </a:lnTo>
                <a:cubicBezTo>
                  <a:pt x="288925" y="167868"/>
                  <a:pt x="278993" y="177800"/>
                  <a:pt x="266700" y="177800"/>
                </a:cubicBezTo>
                <a:cubicBezTo>
                  <a:pt x="254407" y="177800"/>
                  <a:pt x="244475" y="167868"/>
                  <a:pt x="244475" y="155575"/>
                </a:cubicBezTo>
                <a:lnTo>
                  <a:pt x="244475" y="111125"/>
                </a:lnTo>
                <a:cubicBezTo>
                  <a:pt x="244475" y="98832"/>
                  <a:pt x="254407" y="88900"/>
                  <a:pt x="266700" y="88900"/>
                </a:cubicBezTo>
                <a:cubicBezTo>
                  <a:pt x="278993" y="88900"/>
                  <a:pt x="288925" y="98832"/>
                  <a:pt x="288925" y="111125"/>
                </a:cubicBezTo>
                <a:close/>
              </a:path>
            </a:pathLst>
          </a:custGeom>
          <a:solidFill>
            <a:srgbClr val="D4A574"/>
          </a:solidFill>
          <a:ln/>
        </p:spPr>
      </p:sp>
      <p:sp>
        <p:nvSpPr>
          <p:cNvPr id="18" name="Text 16"/>
          <p:cNvSpPr/>
          <p:nvPr/>
        </p:nvSpPr>
        <p:spPr>
          <a:xfrm>
            <a:off x="5194300" y="5080000"/>
            <a:ext cx="2540000" cy="355600"/>
          </a:xfrm>
          <a:prstGeom prst="rect">
            <a:avLst/>
          </a:prstGeom>
          <a:noFill/>
          <a:ln/>
        </p:spPr>
        <p:txBody>
          <a:bodyPr wrap="none" lIns="0" tIns="0" rIns="0" bIns="0" rtlCol="0" anchor="ctr"/>
          <a:lstStyle/>
          <a:p>
            <a:pPr>
              <a:lnSpc>
                <a:spcPct val="100000"/>
              </a:lnSpc>
            </a:pPr>
            <a:r>
              <a:rPr lang="en-US" sz="1600" b="1" dirty="0">
                <a:solidFill>
                  <a:srgbClr val="2D3436"/>
                </a:solidFill>
                <a:latin typeface="Liter" pitchFamily="34" charset="0"/>
                <a:ea typeface="Liter" pitchFamily="34" charset="-122"/>
                <a:cs typeface="Liter" pitchFamily="34" charset="-120"/>
              </a:rPr>
              <a:t>Limited Memory</a:t>
            </a:r>
            <a:endParaRPr lang="en-US" sz="1600" dirty="0"/>
          </a:p>
        </p:txBody>
      </p:sp>
      <p:sp>
        <p:nvSpPr>
          <p:cNvPr id="19" name="Text 17"/>
          <p:cNvSpPr/>
          <p:nvPr/>
        </p:nvSpPr>
        <p:spPr>
          <a:xfrm>
            <a:off x="4724400" y="5461000"/>
            <a:ext cx="3048000" cy="1016000"/>
          </a:xfrm>
          <a:prstGeom prst="rect">
            <a:avLst/>
          </a:prstGeom>
          <a:noFill/>
          <a:ln/>
        </p:spPr>
        <p:txBody>
          <a:bodyPr wrap="square" lIns="0" tIns="0" rIns="0" bIns="0" rtlCol="0" anchor="ctr"/>
          <a:lstStyle/>
          <a:p>
            <a:pPr>
              <a:lnSpc>
                <a:spcPct val="140000"/>
              </a:lnSpc>
            </a:pPr>
            <a:r>
              <a:rPr lang="en-US" sz="1400" dirty="0">
                <a:solidFill>
                  <a:srgbClr val="2D3436"/>
                </a:solidFill>
                <a:latin typeface="Quattrocento Sans" pitchFamily="34" charset="0"/>
                <a:ea typeface="Quattrocento Sans" pitchFamily="34" charset="-122"/>
                <a:cs typeface="Quattrocento Sans" pitchFamily="34" charset="-120"/>
              </a:rPr>
              <a:t>Cannot store all possible information; must prioritize what to remember</a:t>
            </a:r>
            <a:endParaRPr lang="en-US" sz="1600" dirty="0"/>
          </a:p>
        </p:txBody>
      </p:sp>
      <p:sp>
        <p:nvSpPr>
          <p:cNvPr id="20" name="Shape 18"/>
          <p:cNvSpPr/>
          <p:nvPr/>
        </p:nvSpPr>
        <p:spPr>
          <a:xfrm>
            <a:off x="8305800" y="4889500"/>
            <a:ext cx="3429000" cy="1651000"/>
          </a:xfrm>
          <a:prstGeom prst="rect">
            <a:avLst/>
          </a:prstGeom>
          <a:solidFill>
            <a:srgbClr val="EDE8E1"/>
          </a:solidFill>
          <a:ln/>
        </p:spPr>
      </p:sp>
      <p:sp>
        <p:nvSpPr>
          <p:cNvPr id="21" name="Shape 19"/>
          <p:cNvSpPr/>
          <p:nvPr/>
        </p:nvSpPr>
        <p:spPr>
          <a:xfrm>
            <a:off x="8496300" y="50800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77800" y="122238"/>
                </a:moveTo>
                <a:cubicBezTo>
                  <a:pt x="165507" y="122238"/>
                  <a:pt x="155575" y="132169"/>
                  <a:pt x="155575" y="144463"/>
                </a:cubicBezTo>
                <a:cubicBezTo>
                  <a:pt x="155575" y="153700"/>
                  <a:pt x="148144" y="161131"/>
                  <a:pt x="138906" y="161131"/>
                </a:cubicBezTo>
                <a:cubicBezTo>
                  <a:pt x="129669" y="161131"/>
                  <a:pt x="122238" y="153700"/>
                  <a:pt x="122238" y="144463"/>
                </a:cubicBezTo>
                <a:cubicBezTo>
                  <a:pt x="122238" y="113764"/>
                  <a:pt x="147102" y="88900"/>
                  <a:pt x="177800" y="88900"/>
                </a:cubicBezTo>
                <a:cubicBezTo>
                  <a:pt x="208498" y="88900"/>
                  <a:pt x="233363" y="113764"/>
                  <a:pt x="233363" y="144463"/>
                </a:cubicBezTo>
                <a:cubicBezTo>
                  <a:pt x="233363" y="177244"/>
                  <a:pt x="208359" y="191135"/>
                  <a:pt x="194469" y="196205"/>
                </a:cubicBezTo>
                <a:lnTo>
                  <a:pt x="194469" y="198844"/>
                </a:lnTo>
                <a:cubicBezTo>
                  <a:pt x="194469" y="208082"/>
                  <a:pt x="187037" y="215513"/>
                  <a:pt x="177800" y="215513"/>
                </a:cubicBezTo>
                <a:cubicBezTo>
                  <a:pt x="168563" y="215513"/>
                  <a:pt x="161131" y="208082"/>
                  <a:pt x="161131" y="198844"/>
                </a:cubicBezTo>
                <a:lnTo>
                  <a:pt x="161131" y="193219"/>
                </a:lnTo>
                <a:cubicBezTo>
                  <a:pt x="161131" y="178981"/>
                  <a:pt x="171410" y="168771"/>
                  <a:pt x="182037" y="165298"/>
                </a:cubicBezTo>
                <a:cubicBezTo>
                  <a:pt x="186482" y="163840"/>
                  <a:pt x="191204" y="161479"/>
                  <a:pt x="194677" y="158145"/>
                </a:cubicBezTo>
                <a:cubicBezTo>
                  <a:pt x="197664" y="155228"/>
                  <a:pt x="200025" y="151199"/>
                  <a:pt x="200025" y="144532"/>
                </a:cubicBezTo>
                <a:cubicBezTo>
                  <a:pt x="200025" y="132239"/>
                  <a:pt x="190093" y="122307"/>
                  <a:pt x="177800" y="122307"/>
                </a:cubicBezTo>
                <a:close/>
                <a:moveTo>
                  <a:pt x="155575" y="255587"/>
                </a:moveTo>
                <a:cubicBezTo>
                  <a:pt x="155575" y="243321"/>
                  <a:pt x="165534" y="233363"/>
                  <a:pt x="177800" y="233363"/>
                </a:cubicBezTo>
                <a:cubicBezTo>
                  <a:pt x="190066" y="233363"/>
                  <a:pt x="200025" y="243321"/>
                  <a:pt x="200025" y="255587"/>
                </a:cubicBezTo>
                <a:cubicBezTo>
                  <a:pt x="200025" y="267854"/>
                  <a:pt x="190066" y="277813"/>
                  <a:pt x="177800" y="277813"/>
                </a:cubicBezTo>
                <a:cubicBezTo>
                  <a:pt x="165534" y="277813"/>
                  <a:pt x="155575" y="267854"/>
                  <a:pt x="155575" y="255587"/>
                </a:cubicBezTo>
                <a:close/>
              </a:path>
            </a:pathLst>
          </a:custGeom>
          <a:solidFill>
            <a:srgbClr val="D4A574"/>
          </a:solidFill>
          <a:ln/>
        </p:spPr>
      </p:sp>
      <p:sp>
        <p:nvSpPr>
          <p:cNvPr id="22" name="Text 20"/>
          <p:cNvSpPr/>
          <p:nvPr/>
        </p:nvSpPr>
        <p:spPr>
          <a:xfrm>
            <a:off x="8966200" y="5080000"/>
            <a:ext cx="2540000" cy="355600"/>
          </a:xfrm>
          <a:prstGeom prst="rect">
            <a:avLst/>
          </a:prstGeom>
          <a:noFill/>
          <a:ln/>
        </p:spPr>
        <p:txBody>
          <a:bodyPr wrap="none" lIns="0" tIns="0" rIns="0" bIns="0" rtlCol="0" anchor="ctr"/>
          <a:lstStyle/>
          <a:p>
            <a:pPr>
              <a:lnSpc>
                <a:spcPct val="100000"/>
              </a:lnSpc>
            </a:pPr>
            <a:r>
              <a:rPr lang="en-US" sz="1600" b="1" dirty="0">
                <a:solidFill>
                  <a:srgbClr val="2D3436"/>
                </a:solidFill>
                <a:latin typeface="Liter" pitchFamily="34" charset="0"/>
                <a:ea typeface="Liter" pitchFamily="34" charset="-122"/>
                <a:cs typeface="Liter" pitchFamily="34" charset="-120"/>
              </a:rPr>
              <a:t>Incomplete Info</a:t>
            </a:r>
            <a:endParaRPr lang="en-US" sz="1600" dirty="0"/>
          </a:p>
        </p:txBody>
      </p:sp>
      <p:sp>
        <p:nvSpPr>
          <p:cNvPr id="23" name="Text 21"/>
          <p:cNvSpPr/>
          <p:nvPr/>
        </p:nvSpPr>
        <p:spPr>
          <a:xfrm>
            <a:off x="8496300" y="5461000"/>
            <a:ext cx="3048000" cy="1016000"/>
          </a:xfrm>
          <a:prstGeom prst="rect">
            <a:avLst/>
          </a:prstGeom>
          <a:noFill/>
          <a:ln/>
        </p:spPr>
        <p:txBody>
          <a:bodyPr wrap="square" lIns="0" tIns="0" rIns="0" bIns="0" rtlCol="0" anchor="ctr"/>
          <a:lstStyle/>
          <a:p>
            <a:pPr>
              <a:lnSpc>
                <a:spcPct val="140000"/>
              </a:lnSpc>
            </a:pPr>
            <a:r>
              <a:rPr lang="en-US" sz="1400" dirty="0">
                <a:solidFill>
                  <a:srgbClr val="2D3436"/>
                </a:solidFill>
                <a:latin typeface="Quattrocento Sans" pitchFamily="34" charset="0"/>
                <a:ea typeface="Quattrocento Sans" pitchFamily="34" charset="-122"/>
                <a:cs typeface="Quattrocento Sans" pitchFamily="34" charset="-120"/>
              </a:rPr>
              <a:t>The environment is partially observable; agents act with uncertainty</a:t>
            </a:r>
            <a:endParaRPr lang="en-US" sz="1600" dirty="0"/>
          </a:p>
        </p:txBody>
      </p:sp>
      <p:sp>
        <p:nvSpPr>
          <p:cNvPr id="24" name="Shape 22"/>
          <p:cNvSpPr/>
          <p:nvPr/>
        </p:nvSpPr>
        <p:spPr>
          <a:xfrm>
            <a:off x="12077700" y="4889500"/>
            <a:ext cx="3416300" cy="1651000"/>
          </a:xfrm>
          <a:prstGeom prst="rect">
            <a:avLst/>
          </a:prstGeom>
          <a:solidFill>
            <a:srgbClr val="EDE8E1"/>
          </a:solidFill>
          <a:ln/>
        </p:spPr>
      </p:sp>
      <p:sp>
        <p:nvSpPr>
          <p:cNvPr id="25" name="Shape 23"/>
          <p:cNvSpPr/>
          <p:nvPr/>
        </p:nvSpPr>
        <p:spPr>
          <a:xfrm>
            <a:off x="12268200" y="5080000"/>
            <a:ext cx="355600" cy="355600"/>
          </a:xfrm>
          <a:custGeom>
            <a:avLst/>
            <a:gdLst/>
            <a:ahLst/>
            <a:cxnLst/>
            <a:rect l="l" t="t" r="r" b="b"/>
            <a:pathLst>
              <a:path w="355600" h="355600">
                <a:moveTo>
                  <a:pt x="122238" y="16669"/>
                </a:moveTo>
                <a:cubicBezTo>
                  <a:pt x="122238" y="7431"/>
                  <a:pt x="114806" y="0"/>
                  <a:pt x="105569" y="0"/>
                </a:cubicBezTo>
                <a:cubicBezTo>
                  <a:pt x="96331" y="0"/>
                  <a:pt x="88900" y="7431"/>
                  <a:pt x="88900" y="16669"/>
                </a:cubicBezTo>
                <a:lnTo>
                  <a:pt x="88900" y="44450"/>
                </a:lnTo>
                <a:cubicBezTo>
                  <a:pt x="64383" y="44450"/>
                  <a:pt x="44450" y="64383"/>
                  <a:pt x="44450" y="88900"/>
                </a:cubicBezTo>
                <a:lnTo>
                  <a:pt x="16669" y="88900"/>
                </a:lnTo>
                <a:cubicBezTo>
                  <a:pt x="7431" y="88900"/>
                  <a:pt x="0" y="96331"/>
                  <a:pt x="0" y="105569"/>
                </a:cubicBezTo>
                <a:cubicBezTo>
                  <a:pt x="0" y="114806"/>
                  <a:pt x="7431" y="122238"/>
                  <a:pt x="16669" y="122238"/>
                </a:cubicBezTo>
                <a:lnTo>
                  <a:pt x="44450" y="122238"/>
                </a:lnTo>
                <a:lnTo>
                  <a:pt x="44450" y="161131"/>
                </a:lnTo>
                <a:lnTo>
                  <a:pt x="16669" y="161131"/>
                </a:lnTo>
                <a:cubicBezTo>
                  <a:pt x="7431" y="161131"/>
                  <a:pt x="0" y="168563"/>
                  <a:pt x="0" y="177800"/>
                </a:cubicBezTo>
                <a:cubicBezTo>
                  <a:pt x="0" y="187037"/>
                  <a:pt x="7431" y="194469"/>
                  <a:pt x="16669" y="194469"/>
                </a:cubicBezTo>
                <a:lnTo>
                  <a:pt x="44450" y="194469"/>
                </a:lnTo>
                <a:lnTo>
                  <a:pt x="44450" y="233363"/>
                </a:lnTo>
                <a:lnTo>
                  <a:pt x="16669" y="233363"/>
                </a:lnTo>
                <a:cubicBezTo>
                  <a:pt x="7431" y="233363"/>
                  <a:pt x="0" y="240794"/>
                  <a:pt x="0" y="250031"/>
                </a:cubicBezTo>
                <a:cubicBezTo>
                  <a:pt x="0" y="259269"/>
                  <a:pt x="7431" y="266700"/>
                  <a:pt x="16669" y="266700"/>
                </a:cubicBezTo>
                <a:lnTo>
                  <a:pt x="44450" y="266700"/>
                </a:lnTo>
                <a:cubicBezTo>
                  <a:pt x="44450" y="291217"/>
                  <a:pt x="64383" y="311150"/>
                  <a:pt x="88900" y="311150"/>
                </a:cubicBezTo>
                <a:lnTo>
                  <a:pt x="88900" y="338931"/>
                </a:lnTo>
                <a:cubicBezTo>
                  <a:pt x="88900" y="348169"/>
                  <a:pt x="96331" y="355600"/>
                  <a:pt x="105569" y="355600"/>
                </a:cubicBezTo>
                <a:cubicBezTo>
                  <a:pt x="114806" y="355600"/>
                  <a:pt x="122238" y="348169"/>
                  <a:pt x="122238" y="338931"/>
                </a:cubicBezTo>
                <a:lnTo>
                  <a:pt x="122238" y="311150"/>
                </a:lnTo>
                <a:lnTo>
                  <a:pt x="161131" y="311150"/>
                </a:lnTo>
                <a:lnTo>
                  <a:pt x="161131" y="338931"/>
                </a:lnTo>
                <a:cubicBezTo>
                  <a:pt x="161131" y="348169"/>
                  <a:pt x="168563" y="355600"/>
                  <a:pt x="177800" y="355600"/>
                </a:cubicBezTo>
                <a:cubicBezTo>
                  <a:pt x="187037" y="355600"/>
                  <a:pt x="194469" y="348169"/>
                  <a:pt x="194469" y="338931"/>
                </a:cubicBezTo>
                <a:lnTo>
                  <a:pt x="194469" y="311150"/>
                </a:lnTo>
                <a:lnTo>
                  <a:pt x="233363" y="311150"/>
                </a:lnTo>
                <a:lnTo>
                  <a:pt x="233363" y="338931"/>
                </a:lnTo>
                <a:cubicBezTo>
                  <a:pt x="233363" y="348169"/>
                  <a:pt x="240794" y="355600"/>
                  <a:pt x="250031" y="355600"/>
                </a:cubicBezTo>
                <a:cubicBezTo>
                  <a:pt x="259269" y="355600"/>
                  <a:pt x="266700" y="348169"/>
                  <a:pt x="266700" y="338931"/>
                </a:cubicBezTo>
                <a:lnTo>
                  <a:pt x="266700" y="311150"/>
                </a:lnTo>
                <a:cubicBezTo>
                  <a:pt x="291217" y="311150"/>
                  <a:pt x="311150" y="291217"/>
                  <a:pt x="311150" y="266700"/>
                </a:cubicBezTo>
                <a:lnTo>
                  <a:pt x="338931" y="266700"/>
                </a:lnTo>
                <a:cubicBezTo>
                  <a:pt x="348169" y="266700"/>
                  <a:pt x="355600" y="259269"/>
                  <a:pt x="355600" y="250031"/>
                </a:cubicBezTo>
                <a:cubicBezTo>
                  <a:pt x="355600" y="240794"/>
                  <a:pt x="348169" y="233363"/>
                  <a:pt x="338931" y="233363"/>
                </a:cubicBezTo>
                <a:lnTo>
                  <a:pt x="311150" y="233363"/>
                </a:lnTo>
                <a:lnTo>
                  <a:pt x="311150" y="194469"/>
                </a:lnTo>
                <a:lnTo>
                  <a:pt x="338931" y="194469"/>
                </a:lnTo>
                <a:cubicBezTo>
                  <a:pt x="348169" y="194469"/>
                  <a:pt x="355600" y="187037"/>
                  <a:pt x="355600" y="177800"/>
                </a:cubicBezTo>
                <a:cubicBezTo>
                  <a:pt x="355600" y="168563"/>
                  <a:pt x="348169" y="161131"/>
                  <a:pt x="338931" y="161131"/>
                </a:cubicBezTo>
                <a:lnTo>
                  <a:pt x="311150" y="161131"/>
                </a:lnTo>
                <a:lnTo>
                  <a:pt x="311150" y="122238"/>
                </a:lnTo>
                <a:lnTo>
                  <a:pt x="338931" y="122238"/>
                </a:lnTo>
                <a:cubicBezTo>
                  <a:pt x="348169" y="122238"/>
                  <a:pt x="355600" y="114806"/>
                  <a:pt x="355600" y="105569"/>
                </a:cubicBezTo>
                <a:cubicBezTo>
                  <a:pt x="355600" y="96331"/>
                  <a:pt x="348169" y="88900"/>
                  <a:pt x="338931" y="88900"/>
                </a:cubicBezTo>
                <a:lnTo>
                  <a:pt x="311150" y="88900"/>
                </a:lnTo>
                <a:cubicBezTo>
                  <a:pt x="311150" y="64383"/>
                  <a:pt x="291217" y="44450"/>
                  <a:pt x="266700" y="44450"/>
                </a:cubicBezTo>
                <a:lnTo>
                  <a:pt x="266700" y="16669"/>
                </a:lnTo>
                <a:cubicBezTo>
                  <a:pt x="266700" y="7431"/>
                  <a:pt x="259269" y="0"/>
                  <a:pt x="250031" y="0"/>
                </a:cubicBezTo>
                <a:cubicBezTo>
                  <a:pt x="240794" y="0"/>
                  <a:pt x="233363" y="7431"/>
                  <a:pt x="233363" y="16669"/>
                </a:cubicBezTo>
                <a:lnTo>
                  <a:pt x="233363" y="44450"/>
                </a:lnTo>
                <a:lnTo>
                  <a:pt x="194469" y="44450"/>
                </a:lnTo>
                <a:lnTo>
                  <a:pt x="194469" y="16669"/>
                </a:lnTo>
                <a:cubicBezTo>
                  <a:pt x="194469" y="7431"/>
                  <a:pt x="187037" y="0"/>
                  <a:pt x="177800" y="0"/>
                </a:cubicBezTo>
                <a:cubicBezTo>
                  <a:pt x="168563" y="0"/>
                  <a:pt x="161131" y="7431"/>
                  <a:pt x="161131" y="16669"/>
                </a:cubicBezTo>
                <a:lnTo>
                  <a:pt x="161131" y="44450"/>
                </a:lnTo>
                <a:lnTo>
                  <a:pt x="122238" y="44450"/>
                </a:lnTo>
                <a:lnTo>
                  <a:pt x="122238" y="16669"/>
                </a:lnTo>
                <a:close/>
                <a:moveTo>
                  <a:pt x="111125" y="88900"/>
                </a:moveTo>
                <a:lnTo>
                  <a:pt x="244475" y="88900"/>
                </a:lnTo>
                <a:cubicBezTo>
                  <a:pt x="256768" y="88900"/>
                  <a:pt x="266700" y="98832"/>
                  <a:pt x="266700" y="111125"/>
                </a:cubicBezTo>
                <a:lnTo>
                  <a:pt x="266700" y="244475"/>
                </a:lnTo>
                <a:cubicBezTo>
                  <a:pt x="266700" y="256768"/>
                  <a:pt x="256768" y="266700"/>
                  <a:pt x="244475" y="266700"/>
                </a:cubicBezTo>
                <a:lnTo>
                  <a:pt x="111125" y="266700"/>
                </a:lnTo>
                <a:cubicBezTo>
                  <a:pt x="98832" y="266700"/>
                  <a:pt x="88900" y="256768"/>
                  <a:pt x="88900" y="244475"/>
                </a:cubicBezTo>
                <a:lnTo>
                  <a:pt x="88900" y="111125"/>
                </a:lnTo>
                <a:cubicBezTo>
                  <a:pt x="88900" y="98832"/>
                  <a:pt x="98832" y="88900"/>
                  <a:pt x="111125" y="88900"/>
                </a:cubicBezTo>
                <a:close/>
                <a:moveTo>
                  <a:pt x="122238" y="122238"/>
                </a:moveTo>
                <a:lnTo>
                  <a:pt x="122238" y="233363"/>
                </a:lnTo>
                <a:lnTo>
                  <a:pt x="233363" y="233363"/>
                </a:lnTo>
                <a:lnTo>
                  <a:pt x="233363" y="122238"/>
                </a:lnTo>
                <a:lnTo>
                  <a:pt x="122238" y="122238"/>
                </a:lnTo>
                <a:close/>
              </a:path>
            </a:pathLst>
          </a:custGeom>
          <a:solidFill>
            <a:srgbClr val="D4A574"/>
          </a:solidFill>
          <a:ln/>
        </p:spPr>
      </p:sp>
      <p:sp>
        <p:nvSpPr>
          <p:cNvPr id="26" name="Text 24"/>
          <p:cNvSpPr/>
          <p:nvPr/>
        </p:nvSpPr>
        <p:spPr>
          <a:xfrm>
            <a:off x="12738100" y="5080000"/>
            <a:ext cx="2540000" cy="355600"/>
          </a:xfrm>
          <a:prstGeom prst="rect">
            <a:avLst/>
          </a:prstGeom>
          <a:noFill/>
          <a:ln/>
        </p:spPr>
        <p:txBody>
          <a:bodyPr wrap="none" lIns="0" tIns="0" rIns="0" bIns="0" rtlCol="0" anchor="ctr"/>
          <a:lstStyle/>
          <a:p>
            <a:pPr>
              <a:lnSpc>
                <a:spcPct val="100000"/>
              </a:lnSpc>
            </a:pPr>
            <a:r>
              <a:rPr lang="en-US" sz="1600" b="1" dirty="0">
                <a:solidFill>
                  <a:srgbClr val="2D3436"/>
                </a:solidFill>
                <a:latin typeface="Liter" pitchFamily="34" charset="0"/>
                <a:ea typeface="Liter" pitchFamily="34" charset="-122"/>
                <a:cs typeface="Liter" pitchFamily="34" charset="-120"/>
              </a:rPr>
              <a:t>Finite Compute</a:t>
            </a:r>
            <a:endParaRPr lang="en-US" sz="1600" dirty="0"/>
          </a:p>
        </p:txBody>
      </p:sp>
      <p:sp>
        <p:nvSpPr>
          <p:cNvPr id="27" name="Text 25"/>
          <p:cNvSpPr/>
          <p:nvPr/>
        </p:nvSpPr>
        <p:spPr>
          <a:xfrm>
            <a:off x="12268200" y="5461000"/>
            <a:ext cx="3048000" cy="1016000"/>
          </a:xfrm>
          <a:prstGeom prst="rect">
            <a:avLst/>
          </a:prstGeom>
          <a:noFill/>
          <a:ln/>
        </p:spPr>
        <p:txBody>
          <a:bodyPr wrap="square" lIns="0" tIns="0" rIns="0" bIns="0" rtlCol="0" anchor="ctr"/>
          <a:lstStyle/>
          <a:p>
            <a:pPr>
              <a:lnSpc>
                <a:spcPct val="140000"/>
              </a:lnSpc>
            </a:pPr>
            <a:r>
              <a:rPr lang="en-US" sz="1400" dirty="0">
                <a:solidFill>
                  <a:srgbClr val="2D3436"/>
                </a:solidFill>
                <a:latin typeface="Quattrocento Sans" pitchFamily="34" charset="0"/>
                <a:ea typeface="Quattrocento Sans" pitchFamily="34" charset="-122"/>
                <a:cs typeface="Quattrocento Sans" pitchFamily="34" charset="-120"/>
              </a:rPr>
              <a:t>Processing power is limited; must use efficient algorithms and heuristics</a:t>
            </a:r>
            <a:endParaRPr lang="en-US" sz="1600" dirty="0"/>
          </a:p>
        </p:txBody>
      </p:sp>
      <p:sp>
        <p:nvSpPr>
          <p:cNvPr id="28" name="Text 26"/>
          <p:cNvSpPr/>
          <p:nvPr/>
        </p:nvSpPr>
        <p:spPr>
          <a:xfrm>
            <a:off x="762000" y="6858000"/>
            <a:ext cx="762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The Paradigm Shift</a:t>
            </a:r>
            <a:endParaRPr lang="en-US" sz="1600" dirty="0"/>
          </a:p>
        </p:txBody>
      </p:sp>
      <p:sp>
        <p:nvSpPr>
          <p:cNvPr id="29" name="Text 27"/>
          <p:cNvSpPr/>
          <p:nvPr/>
        </p:nvSpPr>
        <p:spPr>
          <a:xfrm>
            <a:off x="762000" y="7302500"/>
            <a:ext cx="14732000" cy="1016000"/>
          </a:xfrm>
          <a:prstGeom prst="rect">
            <a:avLst/>
          </a:prstGeom>
          <a:noFill/>
          <a:ln/>
        </p:spPr>
        <p:txBody>
          <a:bodyPr wrap="square" lIns="0" tIns="0" rIns="0" bIns="0" rtlCol="0" anchor="ctr"/>
          <a:lstStyle/>
          <a:p>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This represents a shift from </a:t>
            </a:r>
            <a:pPr>
              <a:lnSpc>
                <a:spcPct val="160000"/>
              </a:lnSpc>
            </a:pPr>
            <a:r>
              <a:rPr lang="en-US" sz="1800" b="1" dirty="0">
                <a:solidFill>
                  <a:srgbClr val="2D3436"/>
                </a:solidFill>
                <a:latin typeface="Quattrocento Sans" pitchFamily="34" charset="0"/>
                <a:ea typeface="Quattrocento Sans" pitchFamily="34" charset="-122"/>
                <a:cs typeface="Quattrocento Sans" pitchFamily="34" charset="-120"/>
              </a:rPr>
              <a:t>"perfect AI"</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to </a:t>
            </a:r>
            <a:pPr>
              <a:lnSpc>
                <a:spcPct val="160000"/>
              </a:lnSpc>
            </a:pPr>
            <a:r>
              <a:rPr lang="en-US" sz="1800" b="1" dirty="0">
                <a:solidFill>
                  <a:srgbClr val="2D3436"/>
                </a:solidFill>
                <a:latin typeface="Quattrocento Sans" pitchFamily="34" charset="0"/>
                <a:ea typeface="Quattrocento Sans" pitchFamily="34" charset="-122"/>
                <a:cs typeface="Quattrocento Sans" pitchFamily="34" charset="-120"/>
              </a:rPr>
              <a:t>"sufficient AI"</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 doing the best with available resources. Modern AI embraces this through </a:t>
            </a:r>
            <a:pPr>
              <a:lnSpc>
                <a:spcPct val="160000"/>
              </a:lnSpc>
            </a:pPr>
            <a:r>
              <a:rPr lang="en-US" sz="1800" b="1" dirty="0">
                <a:solidFill>
                  <a:srgbClr val="D4A574"/>
                </a:solidFill>
                <a:latin typeface="Quattrocento Sans" pitchFamily="34" charset="0"/>
                <a:ea typeface="Quattrocento Sans" pitchFamily="34" charset="-122"/>
                <a:cs typeface="Quattrocento Sans" pitchFamily="34" charset="-120"/>
              </a:rPr>
              <a:t>heuristic search</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a:t>
            </a:r>
            <a:pPr>
              <a:lnSpc>
                <a:spcPct val="160000"/>
              </a:lnSpc>
            </a:pPr>
            <a:r>
              <a:rPr lang="en-US" sz="1800" b="1" dirty="0">
                <a:solidFill>
                  <a:srgbClr val="D4A574"/>
                </a:solidFill>
                <a:latin typeface="Quattrocento Sans" pitchFamily="34" charset="0"/>
                <a:ea typeface="Quattrocento Sans" pitchFamily="34" charset="-122"/>
                <a:cs typeface="Quattrocento Sans" pitchFamily="34" charset="-120"/>
              </a:rPr>
              <a:t>approximate reasoning</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 and </a:t>
            </a:r>
            <a:pPr>
              <a:lnSpc>
                <a:spcPct val="160000"/>
              </a:lnSpc>
            </a:pPr>
            <a:r>
              <a:rPr lang="en-US" sz="1800" b="1" dirty="0">
                <a:solidFill>
                  <a:srgbClr val="D4A574"/>
                </a:solidFill>
                <a:latin typeface="Quattrocento Sans" pitchFamily="34" charset="0"/>
                <a:ea typeface="Quattrocento Sans" pitchFamily="34" charset="-122"/>
                <a:cs typeface="Quattrocento Sans" pitchFamily="34" charset="-120"/>
              </a:rPr>
              <a:t>learning from data</a:t>
            </a:r>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a:t>
            </a:r>
            <a:endParaRPr lang="en-US" sz="1600" dirty="0"/>
          </a:p>
        </p:txBody>
      </p:sp>
      <p:sp>
        <p:nvSpPr>
          <p:cNvPr id="30" name="Text 28"/>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25</a:t>
            </a:r>
            <a:endParaRPr lang="en-US" sz="14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Comparing the Four Approaches</a:t>
            </a:r>
            <a:endParaRPr lang="en-US" sz="2800" dirty="0"/>
          </a:p>
        </p:txBody>
      </p:sp>
      <p:sp>
        <p:nvSpPr>
          <p:cNvPr id="4" name="Shape 2"/>
          <p:cNvSpPr/>
          <p:nvPr/>
        </p:nvSpPr>
        <p:spPr>
          <a:xfrm>
            <a:off x="762000" y="1752600"/>
            <a:ext cx="762000" cy="38100"/>
          </a:xfrm>
          <a:prstGeom prst="rect">
            <a:avLst/>
          </a:prstGeom>
          <a:solidFill>
            <a:srgbClr val="D4A574"/>
          </a:solidFill>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62000" y="2222500"/>
          <a:ext cx="14732000" cy="6096000"/>
        </p:xfrm>
        <a:graphic>
          <a:graphicData uri="http://schemas.openxmlformats.org/drawingml/2006/table">
            <a:tbl>
              <a:tblPr/>
              <a:tblGrid>
                <a:gridCol w="2651760"/>
                <a:gridCol w="2946400"/>
                <a:gridCol w="4714240"/>
                <a:gridCol w="4419600"/>
              </a:tblGrid>
              <a:tr h="609600">
                <a:tc>
                  <a:txBody>
                    <a:bodyPr/>
                    <a:lstStyle/>
                    <a:p>
                      <a:pPr algn="l"/>
                      <a:r>
                        <a:rPr lang="en-US" sz="1600" b="1" u="none" dirty="0">
                          <a:solidFill>
                            <a:srgbClr val="F5F1EC"/>
                          </a:solidFill>
                          <a:latin typeface="QuattrocentoSans" pitchFamily="34" charset="0"/>
                          <a:ea typeface="QuattrocentoSans" pitchFamily="34" charset="-122"/>
                          <a:cs typeface="QuattrocentoSans" pitchFamily="34" charset="-120"/>
                        </a:rPr>
                        <a:t>Approach</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3436"/>
                    </a:solidFill>
                  </a:tcPr>
                </a:tc>
                <a:tc>
                  <a:txBody>
                    <a:bodyPr/>
                    <a:lstStyle/>
                    <a:p>
                      <a:pPr algn="l"/>
                      <a:r>
                        <a:rPr lang="en-US" sz="1600" b="1" u="none" dirty="0">
                          <a:solidFill>
                            <a:srgbClr val="F5F1EC"/>
                          </a:solidFill>
                          <a:latin typeface="QuattrocentoSans" pitchFamily="34" charset="0"/>
                          <a:ea typeface="QuattrocentoSans" pitchFamily="34" charset="-122"/>
                          <a:cs typeface="QuattrocentoSans" pitchFamily="34" charset="-120"/>
                        </a:rPr>
                        <a:t>Focus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3436"/>
                    </a:solidFill>
                  </a:tcPr>
                </a:tc>
                <a:tc>
                  <a:txBody>
                    <a:bodyPr/>
                    <a:lstStyle/>
                    <a:p>
                      <a:pPr algn="l"/>
                      <a:r>
                        <a:rPr lang="en-US" sz="1600" b="1" u="none" dirty="0">
                          <a:solidFill>
                            <a:srgbClr val="F5F1EC"/>
                          </a:solidFill>
                          <a:latin typeface="QuattrocentoSans" pitchFamily="34" charset="0"/>
                          <a:ea typeface="QuattrocentoSans" pitchFamily="34" charset="-122"/>
                          <a:cs typeface="QuattrocentoSans" pitchFamily="34" charset="-120"/>
                        </a:rPr>
                        <a:t>Strengths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3436"/>
                    </a:solidFill>
                  </a:tcPr>
                </a:tc>
                <a:tc>
                  <a:txBody>
                    <a:bodyPr/>
                    <a:lstStyle/>
                    <a:p>
                      <a:pPr algn="l"/>
                      <a:r>
                        <a:rPr lang="en-US" sz="1600" b="1" u="none" dirty="0">
                          <a:solidFill>
                            <a:srgbClr val="F5F1EC"/>
                          </a:solidFill>
                          <a:latin typeface="QuattrocentoSans" pitchFamily="34" charset="0"/>
                          <a:ea typeface="QuattrocentoSans" pitchFamily="34" charset="-122"/>
                          <a:cs typeface="QuattrocentoSans" pitchFamily="34" charset="-120"/>
                        </a:rPr>
                        <a:t>Weaknesses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3436"/>
                    </a:solidFill>
                  </a:tcPr>
                </a:tc>
              </a:tr>
              <a:tr h="1371600">
                <a:tc>
                  <a:txBody>
                    <a:bodyPr/>
                    <a:lstStyle/>
                    <a:p>
                      <a:pPr algn="l"/>
                      <a:r>
                        <a:rPr lang="en-US" sz="1600" u="none" dirty="0">
                          <a:solidFill>
                            <a:srgbClr val="D4A574"/>
                          </a:solidFill>
                          <a:latin typeface="QuattrocentoSans" pitchFamily="34" charset="0"/>
                          <a:ea typeface="QuattrocentoSans" pitchFamily="34" charset="-122"/>
                          <a:cs typeface="QuattrocentoSans" pitchFamily="34" charset="-120"/>
                        </a:rPr>
                        <a:t>Acting Humanly</a:t>
                      </a:r>
                      <a:endParaRPr lang="en-US" sz="1600" dirty="0">
                        <a:latin typeface="QuattrocentoSans" charset="0"/>
                        <a:ea typeface="QuattrocentoSans" charset="0"/>
                        <a:cs typeface="QuattrocentoSans" charset="0"/>
                      </a:endParaRPr>
                    </a:p>
                    <a:p>
                      <a:pPr algn="l"/>
                      <a:r>
                        <a:rPr lang="en-US" sz="1600" u="none" dirty="0">
                          <a:solidFill>
                            <a:srgbClr val="D4A574"/>
                          </a:solidFill>
                          <a:latin typeface="QuattrocentoSans" pitchFamily="34" charset="0"/>
                          <a:ea typeface="QuattrocentoSans" pitchFamily="34" charset="-122"/>
                          <a:cs typeface="QuattrocentoSans" pitchFamily="34" charset="-120"/>
                        </a:rPr>
                        <a:t>Turing Test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Human-like behavior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Inspired NLP and conversational AI; practical benchmark; focuses on what humans care about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Behavior-focused, not understanding; tests deception; excludes physical interaction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r>
              <a:tr h="1371600">
                <a:tc>
                  <a:txBody>
                    <a:bodyPr/>
                    <a:lstStyle/>
                    <a:p>
                      <a:pPr algn="l"/>
                      <a:r>
                        <a:rPr lang="en-US" sz="1600" u="none" dirty="0">
                          <a:solidFill>
                            <a:srgbClr val="D4A574"/>
                          </a:solidFill>
                          <a:latin typeface="QuattrocentoSans" pitchFamily="34" charset="0"/>
                          <a:ea typeface="QuattrocentoSans" pitchFamily="34" charset="-122"/>
                          <a:cs typeface="QuattrocentoSans" pitchFamily="34" charset="-120"/>
                        </a:rPr>
                        <a:t>Thinking Humanly</a:t>
                      </a:r>
                      <a:endParaRPr lang="en-US" sz="1600" dirty="0">
                        <a:latin typeface="QuattrocentoSans" charset="0"/>
                        <a:ea typeface="QuattrocentoSans" charset="0"/>
                        <a:cs typeface="QuattrocentoSans" charset="0"/>
                      </a:endParaRPr>
                    </a:p>
                    <a:p>
                      <a:pPr algn="l"/>
                      <a:r>
                        <a:rPr lang="en-US" sz="1600" u="none" dirty="0">
                          <a:solidFill>
                            <a:srgbClr val="D4A574"/>
                          </a:solidFill>
                          <a:latin typeface="QuattrocentoSans" pitchFamily="34" charset="0"/>
                          <a:ea typeface="QuattrocentoSans" pitchFamily="34" charset="-122"/>
                          <a:cs typeface="QuattrocentoSans" pitchFamily="34" charset="-120"/>
                        </a:rPr>
                        <a:t>Cognitive Modeling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Human-like thought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Insights into human mind; interdisciplinary; biologically inspired architectures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Complex to model; human cognition not fully understood; computationally expensive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r>
              <a:tr h="1371600">
                <a:tc>
                  <a:txBody>
                    <a:bodyPr/>
                    <a:lstStyle/>
                    <a:p>
                      <a:pPr algn="l"/>
                      <a:r>
                        <a:rPr lang="en-US" sz="1600" u="none" dirty="0">
                          <a:solidFill>
                            <a:srgbClr val="D4A574"/>
                          </a:solidFill>
                          <a:latin typeface="QuattrocentoSans" pitchFamily="34" charset="0"/>
                          <a:ea typeface="QuattrocentoSans" pitchFamily="34" charset="-122"/>
                          <a:cs typeface="QuattrocentoSans" pitchFamily="34" charset="-120"/>
                        </a:rPr>
                        <a:t>Thinking Rationally</a:t>
                      </a:r>
                      <a:endParaRPr lang="en-US" sz="1600" dirty="0">
                        <a:latin typeface="QuattrocentoSans" charset="0"/>
                        <a:ea typeface="QuattrocentoSans" charset="0"/>
                        <a:cs typeface="QuattrocentoSans" charset="0"/>
                      </a:endParaRPr>
                    </a:p>
                    <a:p>
                      <a:pPr algn="l"/>
                      <a:r>
                        <a:rPr lang="en-US" sz="1600" u="none" dirty="0">
                          <a:solidFill>
                            <a:srgbClr val="D4A574"/>
                          </a:solidFill>
                          <a:latin typeface="QuattrocentoSans" pitchFamily="34" charset="0"/>
                          <a:ea typeface="QuattrocentoSans" pitchFamily="34" charset="-122"/>
                          <a:cs typeface="QuattrocentoSans" pitchFamily="34" charset="-120"/>
                        </a:rPr>
                        <a:t>Laws of Thought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Logical reasoning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Precise and verifiable; well-understood foundations; explainable conclusions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Struggles with uncertainty; real-world complexity; frame problem; computationally hard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5F1EC"/>
                    </a:solidFill>
                  </a:tcPr>
                </a:tc>
              </a:tr>
              <a:tr h="1371600">
                <a:tc>
                  <a:txBody>
                    <a:bodyPr/>
                    <a:lstStyle/>
                    <a:p>
                      <a:pPr algn="l"/>
                      <a:r>
                        <a:rPr lang="en-US" sz="1600" u="none" dirty="0">
                          <a:solidFill>
                            <a:srgbClr val="D4A574"/>
                          </a:solidFill>
                          <a:latin typeface="QuattrocentoSans" pitchFamily="34" charset="0"/>
                          <a:ea typeface="QuattrocentoSans" pitchFamily="34" charset="-122"/>
                          <a:cs typeface="QuattrocentoSans" pitchFamily="34" charset="-120"/>
                        </a:rPr>
                        <a:t>Acting Rationally</a:t>
                      </a:r>
                      <a:endParaRPr lang="en-US" sz="1600" dirty="0">
                        <a:latin typeface="QuattrocentoSans" charset="0"/>
                        <a:ea typeface="QuattrocentoSans" charset="0"/>
                        <a:cs typeface="QuattrocentoSans" charset="0"/>
                      </a:endParaRPr>
                    </a:p>
                    <a:p>
                      <a:pPr algn="l"/>
                      <a:r>
                        <a:rPr lang="en-US" sz="1600" u="none" dirty="0">
                          <a:solidFill>
                            <a:srgbClr val="D4A574"/>
                          </a:solidFill>
                          <a:latin typeface="QuattrocentoSans" pitchFamily="34" charset="0"/>
                          <a:ea typeface="QuattrocentoSans" pitchFamily="34" charset="-122"/>
                          <a:cs typeface="QuattrocentoSans" pitchFamily="34" charset="-120"/>
                        </a:rPr>
                        <a:t>Rational Agent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Optimal action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Most general and practical; handles uncertainty; subsumes other approaches; engineering focus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c>
                  <a:txBody>
                    <a:bodyPr/>
                    <a:lstStyle/>
                    <a:p>
                      <a:pPr algn="l"/>
                      <a:r>
                        <a:rPr lang="en-US" sz="1600" u="none" dirty="0">
                          <a:solidFill>
                            <a:srgbClr val="2D3436"/>
                          </a:solidFill>
                          <a:latin typeface="QuattrocentoSans" pitchFamily="34" charset="0"/>
                          <a:ea typeface="QuattrocentoSans" pitchFamily="34" charset="-122"/>
                          <a:cs typeface="QuattrocentoSans" pitchFamily="34" charset="-120"/>
                        </a:rPr>
                        <a:t>Defining "right" is hard; computational limits; may not match human preferences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8E1"/>
                    </a:solidFill>
                  </a:tcPr>
                </a:tc>
              </a:tr>
            </a:tbl>
          </a:graphicData>
        </a:graphic>
      </p:graphicFrame>
      <p:sp>
        <p:nvSpPr>
          <p:cNvPr id="6" name="Text 3"/>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26</a:t>
            </a:r>
            <a:endParaRPr lang="en-US" sz="14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143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Which Approach is Best?</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Shape 3"/>
          <p:cNvSpPr/>
          <p:nvPr/>
        </p:nvSpPr>
        <p:spPr>
          <a:xfrm>
            <a:off x="762000" y="2222500"/>
            <a:ext cx="14732000" cy="1143000"/>
          </a:xfrm>
          <a:prstGeom prst="rect">
            <a:avLst/>
          </a:prstGeom>
          <a:solidFill>
            <a:srgbClr val="2D3436"/>
          </a:solidFill>
          <a:ln/>
        </p:spPr>
      </p:sp>
      <p:sp>
        <p:nvSpPr>
          <p:cNvPr id="6" name="Text 4"/>
          <p:cNvSpPr/>
          <p:nvPr/>
        </p:nvSpPr>
        <p:spPr>
          <a:xfrm>
            <a:off x="1079500" y="2286000"/>
            <a:ext cx="14097000" cy="1016000"/>
          </a:xfrm>
          <a:prstGeom prst="rect">
            <a:avLst/>
          </a:prstGeom>
          <a:noFill/>
          <a:ln/>
        </p:spPr>
        <p:txBody>
          <a:bodyPr wrap="square" lIns="0" tIns="0" rIns="0" bIns="0" rtlCol="0" anchor="ctr"/>
          <a:lstStyle/>
          <a:p>
            <a:pPr algn="ctr">
              <a:lnSpc>
                <a:spcPct val="150000"/>
              </a:lnSpc>
            </a:pPr>
            <a:r>
              <a:rPr lang="en-US" sz="2200" dirty="0">
                <a:solidFill>
                  <a:srgbClr val="F5F1EC"/>
                </a:solidFill>
                <a:latin typeface="Quattrocento Sans" pitchFamily="34" charset="0"/>
                <a:ea typeface="Quattrocento Sans" pitchFamily="34" charset="-122"/>
                <a:cs typeface="Quattrocento Sans" pitchFamily="34" charset="-120"/>
              </a:rPr>
              <a:t>Modern AI </a:t>
            </a:r>
            <a:pPr algn="ctr">
              <a:lnSpc>
                <a:spcPct val="150000"/>
              </a:lnSpc>
            </a:pPr>
            <a:r>
              <a:rPr lang="en-US" sz="2200" b="1" dirty="0">
                <a:solidFill>
                  <a:srgbClr val="D4A574"/>
                </a:solidFill>
                <a:latin typeface="Quattrocento Sans" pitchFamily="34" charset="0"/>
                <a:ea typeface="Quattrocento Sans" pitchFamily="34" charset="-122"/>
                <a:cs typeface="Quattrocento Sans" pitchFamily="34" charset="-120"/>
              </a:rPr>
              <a:t>draws from all four approaches</a:t>
            </a:r>
            <a:pPr algn="ctr">
              <a:lnSpc>
                <a:spcPct val="150000"/>
              </a:lnSpc>
            </a:pPr>
            <a:r>
              <a:rPr lang="en-US" sz="2200" dirty="0">
                <a:solidFill>
                  <a:srgbClr val="F5F1EC"/>
                </a:solidFill>
                <a:latin typeface="Quattrocento Sans" pitchFamily="34" charset="0"/>
                <a:ea typeface="Quattrocento Sans" pitchFamily="34" charset="-122"/>
                <a:cs typeface="Quattrocento Sans" pitchFamily="34" charset="-120"/>
              </a:rPr>
              <a:t>. The rational agent framework has become dominant because it is the most general — it subsumes the others as special cases.</a:t>
            </a:r>
            <a:endParaRPr lang="en-US" sz="1600" dirty="0"/>
          </a:p>
        </p:txBody>
      </p:sp>
      <p:sp>
        <p:nvSpPr>
          <p:cNvPr id="7" name="Text 5"/>
          <p:cNvSpPr/>
          <p:nvPr/>
        </p:nvSpPr>
        <p:spPr>
          <a:xfrm>
            <a:off x="762000" y="3810000"/>
            <a:ext cx="762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Unique Contributions of Each Approach</a:t>
            </a:r>
            <a:endParaRPr lang="en-US" sz="1600" dirty="0"/>
          </a:p>
        </p:txBody>
      </p:sp>
      <p:sp>
        <p:nvSpPr>
          <p:cNvPr id="8" name="Shape 6"/>
          <p:cNvSpPr/>
          <p:nvPr/>
        </p:nvSpPr>
        <p:spPr>
          <a:xfrm>
            <a:off x="762000" y="4381500"/>
            <a:ext cx="50800" cy="1143000"/>
          </a:xfrm>
          <a:prstGeom prst="rect">
            <a:avLst/>
          </a:prstGeom>
          <a:solidFill>
            <a:srgbClr val="D4A574"/>
          </a:solidFill>
          <a:ln/>
        </p:spPr>
      </p:sp>
      <p:sp>
        <p:nvSpPr>
          <p:cNvPr id="9" name="Text 7"/>
          <p:cNvSpPr/>
          <p:nvPr/>
        </p:nvSpPr>
        <p:spPr>
          <a:xfrm>
            <a:off x="1016000" y="4381500"/>
            <a:ext cx="6731000" cy="1143000"/>
          </a:xfrm>
          <a:prstGeom prst="rect">
            <a:avLst/>
          </a:prstGeom>
          <a:noFill/>
          <a:ln/>
        </p:spPr>
        <p:txBody>
          <a:bodyPr wrap="square" lIns="0" tIns="0" rIns="0" bIns="0" rtlCol="0" anchor="ctr"/>
          <a:lstStyle/>
          <a:p>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Turing Test</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keeps us focused on human-relevant capabilities and practical benchmarks for intelligence.</a:t>
            </a:r>
            <a:endParaRPr lang="en-US" sz="1600" dirty="0"/>
          </a:p>
        </p:txBody>
      </p:sp>
      <p:sp>
        <p:nvSpPr>
          <p:cNvPr id="10" name="Shape 8"/>
          <p:cNvSpPr/>
          <p:nvPr/>
        </p:nvSpPr>
        <p:spPr>
          <a:xfrm>
            <a:off x="8636000" y="4381500"/>
            <a:ext cx="50800" cy="1143000"/>
          </a:xfrm>
          <a:prstGeom prst="rect">
            <a:avLst/>
          </a:prstGeom>
          <a:solidFill>
            <a:srgbClr val="D4A574"/>
          </a:solidFill>
          <a:ln/>
        </p:spPr>
      </p:sp>
      <p:sp>
        <p:nvSpPr>
          <p:cNvPr id="11" name="Text 9"/>
          <p:cNvSpPr/>
          <p:nvPr/>
        </p:nvSpPr>
        <p:spPr>
          <a:xfrm>
            <a:off x="8890000" y="4381500"/>
            <a:ext cx="6604000" cy="1143000"/>
          </a:xfrm>
          <a:prstGeom prst="rect">
            <a:avLst/>
          </a:prstGeom>
          <a:noFill/>
          <a:ln/>
        </p:spPr>
        <p:txBody>
          <a:bodyPr wrap="square" lIns="0" tIns="0" rIns="0" bIns="0" rtlCol="0" anchor="ctr"/>
          <a:lstStyle/>
          <a:p>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Cognitive Modeling</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reminds us that biological intelligence is a proven blueprint worth studying.</a:t>
            </a:r>
            <a:endParaRPr lang="en-US" sz="1600" dirty="0"/>
          </a:p>
        </p:txBody>
      </p:sp>
      <p:sp>
        <p:nvSpPr>
          <p:cNvPr id="12" name="Shape 10"/>
          <p:cNvSpPr/>
          <p:nvPr/>
        </p:nvSpPr>
        <p:spPr>
          <a:xfrm>
            <a:off x="762000" y="5842000"/>
            <a:ext cx="50800" cy="1143000"/>
          </a:xfrm>
          <a:prstGeom prst="rect">
            <a:avLst/>
          </a:prstGeom>
          <a:solidFill>
            <a:srgbClr val="D4A574"/>
          </a:solidFill>
          <a:ln/>
        </p:spPr>
      </p:sp>
      <p:sp>
        <p:nvSpPr>
          <p:cNvPr id="13" name="Text 11"/>
          <p:cNvSpPr/>
          <p:nvPr/>
        </p:nvSpPr>
        <p:spPr>
          <a:xfrm>
            <a:off x="1016000" y="5842000"/>
            <a:ext cx="6731000" cy="1143000"/>
          </a:xfrm>
          <a:prstGeom prst="rect">
            <a:avLst/>
          </a:prstGeom>
          <a:noFill/>
          <a:ln/>
        </p:spPr>
        <p:txBody>
          <a:bodyPr wrap="square" lIns="0" tIns="0" rIns="0" bIns="0" rtlCol="0" anchor="ctr"/>
          <a:lstStyle/>
          <a:p>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Logic</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provides rigorous reasoning foundations and explainable decision-making frameworks.</a:t>
            </a:r>
            <a:endParaRPr lang="en-US" sz="1600" dirty="0"/>
          </a:p>
        </p:txBody>
      </p:sp>
      <p:sp>
        <p:nvSpPr>
          <p:cNvPr id="14" name="Shape 12"/>
          <p:cNvSpPr/>
          <p:nvPr/>
        </p:nvSpPr>
        <p:spPr>
          <a:xfrm>
            <a:off x="8636000" y="5842000"/>
            <a:ext cx="50800" cy="1143000"/>
          </a:xfrm>
          <a:prstGeom prst="rect">
            <a:avLst/>
          </a:prstGeom>
          <a:solidFill>
            <a:srgbClr val="D4A574"/>
          </a:solidFill>
          <a:ln/>
        </p:spPr>
      </p:sp>
      <p:sp>
        <p:nvSpPr>
          <p:cNvPr id="15" name="Text 13"/>
          <p:cNvSpPr/>
          <p:nvPr/>
        </p:nvSpPr>
        <p:spPr>
          <a:xfrm>
            <a:off x="8890000" y="5842000"/>
            <a:ext cx="6604000" cy="1143000"/>
          </a:xfrm>
          <a:prstGeom prst="rect">
            <a:avLst/>
          </a:prstGeom>
          <a:noFill/>
          <a:ln/>
        </p:spPr>
        <p:txBody>
          <a:bodyPr wrap="square" lIns="0" tIns="0" rIns="0" bIns="0" rtlCol="0" anchor="ctr"/>
          <a:lstStyle/>
          <a:p>
            <a:pPr>
              <a:lnSpc>
                <a:spcPct val="150000"/>
              </a:lnSpc>
            </a:pPr>
            <a:r>
              <a:rPr lang="en-US" sz="1700" b="1" dirty="0">
                <a:solidFill>
                  <a:srgbClr val="2D3436"/>
                </a:solidFill>
                <a:latin typeface="Quattrocento Sans" pitchFamily="34" charset="0"/>
                <a:ea typeface="Quattrocento Sans" pitchFamily="34" charset="-122"/>
                <a:cs typeface="Quattrocento Sans" pitchFamily="34" charset="-120"/>
              </a:rPr>
              <a:t>Rational Agent</a:t>
            </a:r>
            <a:pPr>
              <a:lnSpc>
                <a:spcPct val="150000"/>
              </a:lnSpc>
            </a:pPr>
            <a:r>
              <a:rPr lang="en-US" sz="1700" dirty="0">
                <a:solidFill>
                  <a:srgbClr val="2D3436"/>
                </a:solidFill>
                <a:latin typeface="Quattrocento Sans" pitchFamily="34" charset="0"/>
                <a:ea typeface="Quattrocento Sans" pitchFamily="34" charset="-122"/>
                <a:cs typeface="Quattrocento Sans" pitchFamily="34" charset="-120"/>
              </a:rPr>
              <a:t> ties everything together into a coherent engineering discipline for building AI systems.</a:t>
            </a:r>
            <a:endParaRPr lang="en-US" sz="1600" dirty="0"/>
          </a:p>
        </p:txBody>
      </p:sp>
      <p:sp>
        <p:nvSpPr>
          <p:cNvPr id="16" name="Shape 14"/>
          <p:cNvSpPr/>
          <p:nvPr/>
        </p:nvSpPr>
        <p:spPr>
          <a:xfrm>
            <a:off x="762000" y="7366000"/>
            <a:ext cx="14732000" cy="762000"/>
          </a:xfrm>
          <a:prstGeom prst="rect">
            <a:avLst/>
          </a:prstGeom>
          <a:solidFill>
            <a:srgbClr val="EDE8E1"/>
          </a:solidFill>
          <a:ln/>
        </p:spPr>
      </p:sp>
      <p:sp>
        <p:nvSpPr>
          <p:cNvPr id="17" name="Text 15"/>
          <p:cNvSpPr/>
          <p:nvPr/>
        </p:nvSpPr>
        <p:spPr>
          <a:xfrm>
            <a:off x="1016000" y="7429500"/>
            <a:ext cx="14224000" cy="635000"/>
          </a:xfrm>
          <a:prstGeom prst="rect">
            <a:avLst/>
          </a:prstGeom>
          <a:noFill/>
          <a:ln/>
        </p:spPr>
        <p:txBody>
          <a:bodyPr wrap="square" lIns="0" tIns="0" rIns="0" bIns="0" rtlCol="0" anchor="ctr"/>
          <a:lstStyle/>
          <a:p>
            <a:pPr algn="ctr">
              <a:lnSpc>
                <a:spcPct val="150000"/>
              </a:lnSpc>
            </a:pPr>
            <a:r>
              <a:rPr lang="en-US" sz="1800" i="1" dirty="0">
                <a:solidFill>
                  <a:srgbClr val="2D3436"/>
                </a:solidFill>
                <a:latin typeface="Quattrocento Sans" pitchFamily="34" charset="0"/>
                <a:ea typeface="Quattrocento Sans" pitchFamily="34" charset="-122"/>
                <a:cs typeface="Quattrocento Sans" pitchFamily="34" charset="-120"/>
              </a:rPr>
              <a:t>These four approaches are not mutually exclusive — modern AI integrates insights from all of them.</a:t>
            </a:r>
            <a:endParaRPr lang="en-US" sz="1600" dirty="0"/>
          </a:p>
        </p:txBody>
      </p:sp>
      <p:sp>
        <p:nvSpPr>
          <p:cNvPr id="18" name="Text 16"/>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27</a:t>
            </a:r>
            <a:endParaRPr lang="en-US" sz="14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016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Lecture 2 — Key Takeaways</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Shape 3"/>
          <p:cNvSpPr/>
          <p:nvPr/>
        </p:nvSpPr>
        <p:spPr>
          <a:xfrm>
            <a:off x="762000" y="2286000"/>
            <a:ext cx="457200" cy="457200"/>
          </a:xfrm>
          <a:prstGeom prst="ellipse">
            <a:avLst/>
          </a:prstGeom>
          <a:solidFill>
            <a:srgbClr val="D4A574"/>
          </a:solidFill>
          <a:ln/>
        </p:spPr>
      </p:sp>
      <p:sp>
        <p:nvSpPr>
          <p:cNvPr id="6" name="Text 4"/>
          <p:cNvSpPr/>
          <p:nvPr/>
        </p:nvSpPr>
        <p:spPr>
          <a:xfrm>
            <a:off x="762000" y="2286000"/>
            <a:ext cx="457200" cy="457200"/>
          </a:xfrm>
          <a:prstGeom prst="rect">
            <a:avLst/>
          </a:prstGeom>
          <a:noFill/>
          <a:ln/>
        </p:spPr>
        <p:txBody>
          <a:bodyPr wrap="none" lIns="0" tIns="0" rIns="0" bIns="0" rtlCol="0" anchor="ctr"/>
          <a:lstStyle/>
          <a:p>
            <a:pPr algn="ctr">
              <a:lnSpc>
                <a:spcPct val="100000"/>
              </a:lnSpc>
            </a:pPr>
            <a:r>
              <a:rPr lang="en-US" sz="1800" dirty="0">
                <a:solidFill>
                  <a:srgbClr val="F5F1EC"/>
                </a:solidFill>
                <a:latin typeface="Liter" pitchFamily="34" charset="0"/>
                <a:ea typeface="Liter" pitchFamily="34" charset="-122"/>
                <a:cs typeface="Liter" pitchFamily="34" charset="-120"/>
              </a:rPr>
              <a:t>1</a:t>
            </a:r>
            <a:endParaRPr lang="en-US" sz="1600" dirty="0"/>
          </a:p>
        </p:txBody>
      </p:sp>
      <p:sp>
        <p:nvSpPr>
          <p:cNvPr id="7" name="Text 5"/>
          <p:cNvSpPr/>
          <p:nvPr/>
        </p:nvSpPr>
        <p:spPr>
          <a:xfrm>
            <a:off x="1460500" y="2222500"/>
            <a:ext cx="13970000" cy="889000"/>
          </a:xfrm>
          <a:prstGeom prst="rect">
            <a:avLst/>
          </a:prstGeom>
          <a:noFill/>
          <a:ln/>
        </p:spPr>
        <p:txBody>
          <a:bodyPr wrap="square" lIns="0" tIns="0" rIns="0" bIns="0" rtlCol="0" anchor="ctr"/>
          <a:lstStyle/>
          <a:p>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The </a:t>
            </a:r>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four fundamental approaches</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to AI are: Acting Humanly (Turing Test), Thinking Humanly (Cognitive Modeling), Thinking Rationally (Laws of Thought), and Acting Rationally (Rational Agent).</a:t>
            </a:r>
            <a:endParaRPr lang="en-US" sz="1600" dirty="0"/>
          </a:p>
        </p:txBody>
      </p:sp>
      <p:sp>
        <p:nvSpPr>
          <p:cNvPr id="8" name="Shape 6"/>
          <p:cNvSpPr/>
          <p:nvPr/>
        </p:nvSpPr>
        <p:spPr>
          <a:xfrm>
            <a:off x="762000" y="3429000"/>
            <a:ext cx="457200" cy="457200"/>
          </a:xfrm>
          <a:prstGeom prst="ellipse">
            <a:avLst/>
          </a:prstGeom>
          <a:solidFill>
            <a:srgbClr val="D4A574"/>
          </a:solidFill>
          <a:ln/>
        </p:spPr>
      </p:sp>
      <p:sp>
        <p:nvSpPr>
          <p:cNvPr id="9" name="Text 7"/>
          <p:cNvSpPr/>
          <p:nvPr/>
        </p:nvSpPr>
        <p:spPr>
          <a:xfrm>
            <a:off x="762000" y="3429000"/>
            <a:ext cx="457200" cy="457200"/>
          </a:xfrm>
          <a:prstGeom prst="rect">
            <a:avLst/>
          </a:prstGeom>
          <a:noFill/>
          <a:ln/>
        </p:spPr>
        <p:txBody>
          <a:bodyPr wrap="none" lIns="0" tIns="0" rIns="0" bIns="0" rtlCol="0" anchor="ctr"/>
          <a:lstStyle/>
          <a:p>
            <a:pPr algn="ctr">
              <a:lnSpc>
                <a:spcPct val="100000"/>
              </a:lnSpc>
            </a:pPr>
            <a:r>
              <a:rPr lang="en-US" sz="1800" dirty="0">
                <a:solidFill>
                  <a:srgbClr val="F5F1EC"/>
                </a:solidFill>
                <a:latin typeface="Liter" pitchFamily="34" charset="0"/>
                <a:ea typeface="Liter" pitchFamily="34" charset="-122"/>
                <a:cs typeface="Liter" pitchFamily="34" charset="-120"/>
              </a:rPr>
              <a:t>2</a:t>
            </a:r>
            <a:endParaRPr lang="en-US" sz="1600" dirty="0"/>
          </a:p>
        </p:txBody>
      </p:sp>
      <p:sp>
        <p:nvSpPr>
          <p:cNvPr id="10" name="Text 8"/>
          <p:cNvSpPr/>
          <p:nvPr/>
        </p:nvSpPr>
        <p:spPr>
          <a:xfrm>
            <a:off x="1460500" y="3365500"/>
            <a:ext cx="13970000" cy="889000"/>
          </a:xfrm>
          <a:prstGeom prst="rect">
            <a:avLst/>
          </a:prstGeom>
          <a:noFill/>
          <a:ln/>
        </p:spPr>
        <p:txBody>
          <a:bodyPr wrap="square" lIns="0" tIns="0" rIns="0" bIns="0" rtlCol="0" anchor="ctr"/>
          <a:lstStyle/>
          <a:p>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Each approach offers a </a:t>
            </a:r>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different perspective</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on what intelligence is and how to achieve it — behavior, thought processes, formal reasoning, or optimal decision-making.</a:t>
            </a:r>
            <a:endParaRPr lang="en-US" sz="1600" dirty="0"/>
          </a:p>
        </p:txBody>
      </p:sp>
      <p:sp>
        <p:nvSpPr>
          <p:cNvPr id="11" name="Shape 9"/>
          <p:cNvSpPr/>
          <p:nvPr/>
        </p:nvSpPr>
        <p:spPr>
          <a:xfrm>
            <a:off x="762000" y="4572000"/>
            <a:ext cx="457200" cy="457200"/>
          </a:xfrm>
          <a:prstGeom prst="ellipse">
            <a:avLst/>
          </a:prstGeom>
          <a:solidFill>
            <a:srgbClr val="D4A574"/>
          </a:solidFill>
          <a:ln/>
        </p:spPr>
      </p:sp>
      <p:sp>
        <p:nvSpPr>
          <p:cNvPr id="12" name="Text 10"/>
          <p:cNvSpPr/>
          <p:nvPr/>
        </p:nvSpPr>
        <p:spPr>
          <a:xfrm>
            <a:off x="762000" y="4572000"/>
            <a:ext cx="457200" cy="457200"/>
          </a:xfrm>
          <a:prstGeom prst="rect">
            <a:avLst/>
          </a:prstGeom>
          <a:noFill/>
          <a:ln/>
        </p:spPr>
        <p:txBody>
          <a:bodyPr wrap="none" lIns="0" tIns="0" rIns="0" bIns="0" rtlCol="0" anchor="ctr"/>
          <a:lstStyle/>
          <a:p>
            <a:pPr algn="ctr">
              <a:lnSpc>
                <a:spcPct val="100000"/>
              </a:lnSpc>
            </a:pPr>
            <a:r>
              <a:rPr lang="en-US" sz="1800" dirty="0">
                <a:solidFill>
                  <a:srgbClr val="F5F1EC"/>
                </a:solidFill>
                <a:latin typeface="Liter" pitchFamily="34" charset="0"/>
                <a:ea typeface="Liter" pitchFamily="34" charset="-122"/>
                <a:cs typeface="Liter" pitchFamily="34" charset="-120"/>
              </a:rPr>
              <a:t>3</a:t>
            </a:r>
            <a:endParaRPr lang="en-US" sz="1600" dirty="0"/>
          </a:p>
        </p:txBody>
      </p:sp>
      <p:sp>
        <p:nvSpPr>
          <p:cNvPr id="13" name="Text 11"/>
          <p:cNvSpPr/>
          <p:nvPr/>
        </p:nvSpPr>
        <p:spPr>
          <a:xfrm>
            <a:off x="1460500" y="4508500"/>
            <a:ext cx="13970000" cy="889000"/>
          </a:xfrm>
          <a:prstGeom prst="rect">
            <a:avLst/>
          </a:prstGeom>
          <a:noFill/>
          <a:ln/>
        </p:spPr>
        <p:txBody>
          <a:bodyPr wrap="square" lIns="0" tIns="0" rIns="0" bIns="0" rtlCol="0" anchor="ctr"/>
          <a:lstStyle/>
          <a:p>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The </a:t>
            </a:r>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rational agent approach</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has become the dominant paradigm in modern AI as it is the most general and practical — it can incorporate tools from all other approaches.</a:t>
            </a:r>
            <a:endParaRPr lang="en-US" sz="1600" dirty="0"/>
          </a:p>
        </p:txBody>
      </p:sp>
      <p:sp>
        <p:nvSpPr>
          <p:cNvPr id="14" name="Shape 12"/>
          <p:cNvSpPr/>
          <p:nvPr/>
        </p:nvSpPr>
        <p:spPr>
          <a:xfrm>
            <a:off x="762000" y="5715000"/>
            <a:ext cx="457200" cy="457200"/>
          </a:xfrm>
          <a:prstGeom prst="ellipse">
            <a:avLst/>
          </a:prstGeom>
          <a:solidFill>
            <a:srgbClr val="D4A574"/>
          </a:solidFill>
          <a:ln/>
        </p:spPr>
      </p:sp>
      <p:sp>
        <p:nvSpPr>
          <p:cNvPr id="15" name="Text 13"/>
          <p:cNvSpPr/>
          <p:nvPr/>
        </p:nvSpPr>
        <p:spPr>
          <a:xfrm>
            <a:off x="762000" y="5715000"/>
            <a:ext cx="457200" cy="457200"/>
          </a:xfrm>
          <a:prstGeom prst="rect">
            <a:avLst/>
          </a:prstGeom>
          <a:noFill/>
          <a:ln/>
        </p:spPr>
        <p:txBody>
          <a:bodyPr wrap="none" lIns="0" tIns="0" rIns="0" bIns="0" rtlCol="0" anchor="ctr"/>
          <a:lstStyle/>
          <a:p>
            <a:pPr algn="ctr">
              <a:lnSpc>
                <a:spcPct val="100000"/>
              </a:lnSpc>
            </a:pPr>
            <a:r>
              <a:rPr lang="en-US" sz="1800" dirty="0">
                <a:solidFill>
                  <a:srgbClr val="F5F1EC"/>
                </a:solidFill>
                <a:latin typeface="Liter" pitchFamily="34" charset="0"/>
                <a:ea typeface="Liter" pitchFamily="34" charset="-122"/>
                <a:cs typeface="Liter" pitchFamily="34" charset="-120"/>
              </a:rPr>
              <a:t>4</a:t>
            </a:r>
            <a:endParaRPr lang="en-US" sz="1600" dirty="0"/>
          </a:p>
        </p:txBody>
      </p:sp>
      <p:sp>
        <p:nvSpPr>
          <p:cNvPr id="16" name="Text 14"/>
          <p:cNvSpPr/>
          <p:nvPr/>
        </p:nvSpPr>
        <p:spPr>
          <a:xfrm>
            <a:off x="1460500" y="5651500"/>
            <a:ext cx="13970000" cy="889000"/>
          </a:xfrm>
          <a:prstGeom prst="rect">
            <a:avLst/>
          </a:prstGeom>
          <a:noFill/>
          <a:ln/>
        </p:spPr>
        <p:txBody>
          <a:bodyPr wrap="square" lIns="0" tIns="0" rIns="0" bIns="0" rtlCol="0" anchor="ctr"/>
          <a:lstStyle/>
          <a:p>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Limited rationality</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acknowledges that perfect decision-making is impossible — real AI systems must do the best with finite time, memory, and information.</a:t>
            </a:r>
            <a:endParaRPr lang="en-US" sz="1600" dirty="0"/>
          </a:p>
        </p:txBody>
      </p:sp>
      <p:sp>
        <p:nvSpPr>
          <p:cNvPr id="17" name="Shape 15"/>
          <p:cNvSpPr/>
          <p:nvPr/>
        </p:nvSpPr>
        <p:spPr>
          <a:xfrm>
            <a:off x="762000" y="6858000"/>
            <a:ext cx="457200" cy="457200"/>
          </a:xfrm>
          <a:prstGeom prst="ellipse">
            <a:avLst/>
          </a:prstGeom>
          <a:solidFill>
            <a:srgbClr val="D4A574"/>
          </a:solidFill>
          <a:ln/>
        </p:spPr>
      </p:sp>
      <p:sp>
        <p:nvSpPr>
          <p:cNvPr id="18" name="Text 16"/>
          <p:cNvSpPr/>
          <p:nvPr/>
        </p:nvSpPr>
        <p:spPr>
          <a:xfrm>
            <a:off x="762000" y="6858000"/>
            <a:ext cx="457200" cy="457200"/>
          </a:xfrm>
          <a:prstGeom prst="rect">
            <a:avLst/>
          </a:prstGeom>
          <a:noFill/>
          <a:ln/>
        </p:spPr>
        <p:txBody>
          <a:bodyPr wrap="none" lIns="0" tIns="0" rIns="0" bIns="0" rtlCol="0" anchor="ctr"/>
          <a:lstStyle/>
          <a:p>
            <a:pPr algn="ctr">
              <a:lnSpc>
                <a:spcPct val="100000"/>
              </a:lnSpc>
            </a:pPr>
            <a:r>
              <a:rPr lang="en-US" sz="1800" dirty="0">
                <a:solidFill>
                  <a:srgbClr val="F5F1EC"/>
                </a:solidFill>
                <a:latin typeface="Liter" pitchFamily="34" charset="0"/>
                <a:ea typeface="Liter" pitchFamily="34" charset="-122"/>
                <a:cs typeface="Liter" pitchFamily="34" charset="-120"/>
              </a:rPr>
              <a:t>5</a:t>
            </a:r>
            <a:endParaRPr lang="en-US" sz="1600" dirty="0"/>
          </a:p>
        </p:txBody>
      </p:sp>
      <p:sp>
        <p:nvSpPr>
          <p:cNvPr id="19" name="Text 17"/>
          <p:cNvSpPr/>
          <p:nvPr/>
        </p:nvSpPr>
        <p:spPr>
          <a:xfrm>
            <a:off x="1460500" y="6794500"/>
            <a:ext cx="13970000" cy="889000"/>
          </a:xfrm>
          <a:prstGeom prst="rect">
            <a:avLst/>
          </a:prstGeom>
          <a:noFill/>
          <a:ln/>
        </p:spPr>
        <p:txBody>
          <a:bodyPr wrap="square" lIns="0" tIns="0" rIns="0" bIns="0" rtlCol="0" anchor="ctr"/>
          <a:lstStyle/>
          <a:p>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These four approaches are </a:t>
            </a:r>
            <a:pPr>
              <a:lnSpc>
                <a:spcPct val="150000"/>
              </a:lnSpc>
            </a:pPr>
            <a:r>
              <a:rPr lang="en-US" sz="1800" b="1" dirty="0">
                <a:solidFill>
                  <a:srgbClr val="2D3436"/>
                </a:solidFill>
                <a:latin typeface="Quattrocento Sans" pitchFamily="34" charset="0"/>
                <a:ea typeface="Quattrocento Sans" pitchFamily="34" charset="-122"/>
                <a:cs typeface="Quattrocento Sans" pitchFamily="34" charset="-120"/>
              </a:rPr>
              <a:t>not mutually exclusive</a:t>
            </a:r>
            <a:pPr>
              <a:lnSpc>
                <a:spcPct val="150000"/>
              </a:lnSpc>
            </a:pPr>
            <a:r>
              <a:rPr lang="en-US" sz="1800" dirty="0">
                <a:solidFill>
                  <a:srgbClr val="2D3436"/>
                </a:solidFill>
                <a:latin typeface="Quattrocento Sans" pitchFamily="34" charset="0"/>
                <a:ea typeface="Quattrocento Sans" pitchFamily="34" charset="-122"/>
                <a:cs typeface="Quattrocento Sans" pitchFamily="34" charset="-120"/>
              </a:rPr>
              <a:t> — modern AI integrates insights from all of them under the unifying framework of rational agency.</a:t>
            </a:r>
            <a:endParaRPr lang="en-US" sz="1600" dirty="0"/>
          </a:p>
        </p:txBody>
      </p:sp>
      <p:sp>
        <p:nvSpPr>
          <p:cNvPr id="20" name="Text 18"/>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28</a:t>
            </a:r>
            <a:endParaRPr lang="en-US" sz="1400" dirty="0"/>
          </a:p>
        </p:txBody>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1EC"/>
        </a:solidFill>
      </p:bgPr>
    </p:bg>
    <p:spTree>
      <p:nvGrpSpPr>
        <p:cNvPr id="1" name=""/>
        <p:cNvGrpSpPr/>
        <p:nvPr/>
      </p:nvGrpSpPr>
      <p:grpSpPr>
        <a:xfrm>
          <a:off x="0" y="0"/>
          <a:ext cx="0" cy="0"/>
          <a:chOff x="0" y="0"/>
          <a:chExt cx="0" cy="0"/>
        </a:xfrm>
      </p:grpSpPr>
      <p:sp>
        <p:nvSpPr>
          <p:cNvPr id="2" name="Text 0"/>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636E72"/>
                </a:solidFill>
                <a:latin typeface="Liter" pitchFamily="34" charset="0"/>
                <a:ea typeface="Liter" pitchFamily="34" charset="-122"/>
                <a:cs typeface="Liter" pitchFamily="34" charset="-120"/>
              </a:rPr>
              <a:t>AI COURSE — WEEK 1</a:t>
            </a:r>
            <a:endParaRPr lang="en-US" sz="1200" dirty="0"/>
          </a:p>
        </p:txBody>
      </p:sp>
      <p:sp>
        <p:nvSpPr>
          <p:cNvPr id="3" name="Text 1"/>
          <p:cNvSpPr/>
          <p:nvPr/>
        </p:nvSpPr>
        <p:spPr>
          <a:xfrm>
            <a:off x="762000" y="1143000"/>
            <a:ext cx="10160000" cy="508000"/>
          </a:xfrm>
          <a:prstGeom prst="rect">
            <a:avLst/>
          </a:prstGeom>
          <a:noFill/>
          <a:ln/>
        </p:spPr>
        <p:txBody>
          <a:bodyPr wrap="none" lIns="0" tIns="0" rIns="0" bIns="0" rtlCol="0" anchor="ctr"/>
          <a:lstStyle/>
          <a:p>
            <a:pPr>
              <a:lnSpc>
                <a:spcPct val="100000"/>
              </a:lnSpc>
            </a:pPr>
            <a:r>
              <a:rPr lang="en-US" sz="2800" dirty="0">
                <a:solidFill>
                  <a:srgbClr val="2D3436"/>
                </a:solidFill>
                <a:latin typeface="Liter" pitchFamily="34" charset="0"/>
                <a:ea typeface="Liter" pitchFamily="34" charset="-122"/>
                <a:cs typeface="Liter" pitchFamily="34" charset="-120"/>
              </a:rPr>
              <a:t>Course Roadmap — What's Ahead</a:t>
            </a:r>
            <a:endParaRPr lang="en-US" sz="2800" dirty="0"/>
          </a:p>
        </p:txBody>
      </p:sp>
      <p:sp>
        <p:nvSpPr>
          <p:cNvPr id="4" name="Shape 2"/>
          <p:cNvSpPr/>
          <p:nvPr/>
        </p:nvSpPr>
        <p:spPr>
          <a:xfrm>
            <a:off x="762000" y="1752600"/>
            <a:ext cx="762000" cy="38100"/>
          </a:xfrm>
          <a:prstGeom prst="rect">
            <a:avLst/>
          </a:prstGeom>
          <a:solidFill>
            <a:srgbClr val="D4A574"/>
          </a:solidFill>
          <a:ln/>
        </p:spPr>
      </p:sp>
      <p:sp>
        <p:nvSpPr>
          <p:cNvPr id="5" name="Text 3"/>
          <p:cNvSpPr/>
          <p:nvPr/>
        </p:nvSpPr>
        <p:spPr>
          <a:xfrm>
            <a:off x="762000" y="2095500"/>
            <a:ext cx="14732000" cy="825500"/>
          </a:xfrm>
          <a:prstGeom prst="rect">
            <a:avLst/>
          </a:prstGeom>
          <a:noFill/>
          <a:ln/>
        </p:spPr>
        <p:txBody>
          <a:bodyPr wrap="square" lIns="0" tIns="0" rIns="0" bIns="0" rtlCol="0" anchor="ctr"/>
          <a:lstStyle/>
          <a:p>
            <a:pPr>
              <a:lnSpc>
                <a:spcPct val="150000"/>
              </a:lnSpc>
            </a:pPr>
            <a:r>
              <a:rPr lang="en-US" sz="1800" dirty="0">
                <a:solidFill>
                  <a:srgbClr val="636E72"/>
                </a:solidFill>
                <a:latin typeface="Quattrocento Sans" pitchFamily="34" charset="0"/>
                <a:ea typeface="Quattrocento Sans" pitchFamily="34" charset="-122"/>
                <a:cs typeface="Quattrocento Sans" pitchFamily="34" charset="-120"/>
              </a:rPr>
              <a:t>Each week builds on the foundations established here — understanding what AI is, what it aims to achieve, and how we approach building intelligent systems.</a:t>
            </a:r>
            <a:endParaRPr lang="en-US" sz="1600" dirty="0"/>
          </a:p>
        </p:txBody>
      </p:sp>
      <p:sp>
        <p:nvSpPr>
          <p:cNvPr id="6" name="Shape 4"/>
          <p:cNvSpPr/>
          <p:nvPr/>
        </p:nvSpPr>
        <p:spPr>
          <a:xfrm>
            <a:off x="762000" y="2984500"/>
            <a:ext cx="50800" cy="508000"/>
          </a:xfrm>
          <a:prstGeom prst="rect">
            <a:avLst/>
          </a:prstGeom>
          <a:solidFill>
            <a:srgbClr val="D4A574"/>
          </a:solidFill>
          <a:ln/>
        </p:spPr>
      </p:sp>
      <p:sp>
        <p:nvSpPr>
          <p:cNvPr id="7" name="Text 5"/>
          <p:cNvSpPr/>
          <p:nvPr/>
        </p:nvSpPr>
        <p:spPr>
          <a:xfrm>
            <a:off x="1016000" y="2984500"/>
            <a:ext cx="6350000" cy="508000"/>
          </a:xfrm>
          <a:prstGeom prst="rect">
            <a:avLst/>
          </a:prstGeom>
          <a:noFill/>
          <a:ln/>
        </p:spPr>
        <p:txBody>
          <a:bodyPr wrap="square" lIns="0" tIns="0" rIns="0" bIns="0" rtlCol="0" anchor="ctr"/>
          <a:lstStyle/>
          <a:p>
            <a:pPr>
              <a:lnSpc>
                <a:spcPct val="140000"/>
              </a:lnSpc>
            </a:pPr>
            <a:r>
              <a:rPr lang="en-US" sz="1700" b="1" dirty="0">
                <a:solidFill>
                  <a:srgbClr val="D4A574"/>
                </a:solidFill>
                <a:latin typeface="Quattrocento Sans" pitchFamily="34" charset="0"/>
                <a:ea typeface="Quattrocento Sans" pitchFamily="34" charset="-122"/>
                <a:cs typeface="Quattrocento Sans" pitchFamily="34" charset="-120"/>
              </a:rPr>
              <a:t>Week 1</a:t>
            </a:r>
            <a:pPr>
              <a:lnSpc>
                <a:spcPct val="140000"/>
              </a:lnSpc>
            </a:pPr>
            <a:r>
              <a:rPr lang="en-US" sz="1700" dirty="0">
                <a:solidFill>
                  <a:srgbClr val="2D3436"/>
                </a:solidFill>
                <a:latin typeface="Quattrocento Sans" pitchFamily="34" charset="0"/>
                <a:ea typeface="Quattrocento Sans" pitchFamily="34" charset="-122"/>
                <a:cs typeface="Quattrocento Sans" pitchFamily="34" charset="-120"/>
              </a:rPr>
              <a:t> — Introduction &amp; Foundations (current)</a:t>
            </a:r>
            <a:endParaRPr lang="en-US" sz="1600" dirty="0"/>
          </a:p>
        </p:txBody>
      </p:sp>
      <p:sp>
        <p:nvSpPr>
          <p:cNvPr id="8" name="Text 6"/>
          <p:cNvSpPr/>
          <p:nvPr/>
        </p:nvSpPr>
        <p:spPr>
          <a:xfrm>
            <a:off x="1016000" y="3556000"/>
            <a:ext cx="6350000" cy="381000"/>
          </a:xfrm>
          <a:prstGeom prst="rect">
            <a:avLst/>
          </a:prstGeom>
          <a:noFill/>
          <a:ln/>
        </p:spPr>
        <p:txBody>
          <a:bodyPr wrap="square" lIns="0" tIns="0" rIns="0" bIns="0" rtlCol="0" anchor="ctr"/>
          <a:lstStyle/>
          <a:p>
            <a:pPr>
              <a:lnSpc>
                <a:spcPct val="140000"/>
              </a:lnSpc>
            </a:pPr>
            <a:r>
              <a:rPr lang="en-US" sz="1600" b="1" dirty="0">
                <a:solidFill>
                  <a:srgbClr val="636E72"/>
                </a:solidFill>
                <a:latin typeface="Quattrocento Sans" pitchFamily="34" charset="0"/>
                <a:ea typeface="Quattrocento Sans" pitchFamily="34" charset="-122"/>
                <a:cs typeface="Quattrocento Sans" pitchFamily="34" charset="-120"/>
              </a:rPr>
              <a:t>Week 2</a:t>
            </a:r>
            <a:pPr>
              <a:lnSpc>
                <a:spcPct val="140000"/>
              </a:lnSpc>
            </a:pPr>
            <a:r>
              <a:rPr lang="en-US" sz="1600" dirty="0">
                <a:solidFill>
                  <a:srgbClr val="636E72"/>
                </a:solidFill>
                <a:latin typeface="Quattrocento Sans" pitchFamily="34" charset="0"/>
                <a:ea typeface="Quattrocento Sans" pitchFamily="34" charset="-122"/>
                <a:cs typeface="Quattrocento Sans" pitchFamily="34" charset="-120"/>
              </a:rPr>
              <a:t> — Intelligent Agents &amp; Problem-Solving</a:t>
            </a:r>
            <a:endParaRPr lang="en-US" sz="1600" dirty="0"/>
          </a:p>
        </p:txBody>
      </p:sp>
      <p:sp>
        <p:nvSpPr>
          <p:cNvPr id="9" name="Text 7"/>
          <p:cNvSpPr/>
          <p:nvPr/>
        </p:nvSpPr>
        <p:spPr>
          <a:xfrm>
            <a:off x="1016000" y="4000500"/>
            <a:ext cx="6350000" cy="381000"/>
          </a:xfrm>
          <a:prstGeom prst="rect">
            <a:avLst/>
          </a:prstGeom>
          <a:noFill/>
          <a:ln/>
        </p:spPr>
        <p:txBody>
          <a:bodyPr wrap="square" lIns="0" tIns="0" rIns="0" bIns="0" rtlCol="0" anchor="ctr"/>
          <a:lstStyle/>
          <a:p>
            <a:pPr>
              <a:lnSpc>
                <a:spcPct val="140000"/>
              </a:lnSpc>
            </a:pPr>
            <a:r>
              <a:rPr lang="en-US" sz="1600" b="1" dirty="0">
                <a:solidFill>
                  <a:srgbClr val="636E72"/>
                </a:solidFill>
                <a:latin typeface="Quattrocento Sans" pitchFamily="34" charset="0"/>
                <a:ea typeface="Quattrocento Sans" pitchFamily="34" charset="-122"/>
                <a:cs typeface="Quattrocento Sans" pitchFamily="34" charset="-120"/>
              </a:rPr>
              <a:t>Week 3</a:t>
            </a:r>
            <a:pPr>
              <a:lnSpc>
                <a:spcPct val="140000"/>
              </a:lnSpc>
            </a:pPr>
            <a:r>
              <a:rPr lang="en-US" sz="1600" dirty="0">
                <a:solidFill>
                  <a:srgbClr val="636E72"/>
                </a:solidFill>
                <a:latin typeface="Quattrocento Sans" pitchFamily="34" charset="0"/>
                <a:ea typeface="Quattrocento Sans" pitchFamily="34" charset="-122"/>
                <a:cs typeface="Quattrocento Sans" pitchFamily="34" charset="-120"/>
              </a:rPr>
              <a:t> — Search Algorithms: Uninformed &amp; Informed</a:t>
            </a:r>
            <a:endParaRPr lang="en-US" sz="1600" dirty="0"/>
          </a:p>
        </p:txBody>
      </p:sp>
      <p:sp>
        <p:nvSpPr>
          <p:cNvPr id="10" name="Text 8"/>
          <p:cNvSpPr/>
          <p:nvPr/>
        </p:nvSpPr>
        <p:spPr>
          <a:xfrm>
            <a:off x="1016000" y="4445000"/>
            <a:ext cx="6350000" cy="381000"/>
          </a:xfrm>
          <a:prstGeom prst="rect">
            <a:avLst/>
          </a:prstGeom>
          <a:noFill/>
          <a:ln/>
        </p:spPr>
        <p:txBody>
          <a:bodyPr wrap="square" lIns="0" tIns="0" rIns="0" bIns="0" rtlCol="0" anchor="ctr"/>
          <a:lstStyle/>
          <a:p>
            <a:pPr>
              <a:lnSpc>
                <a:spcPct val="140000"/>
              </a:lnSpc>
            </a:pPr>
            <a:r>
              <a:rPr lang="en-US" sz="1600" b="1" dirty="0">
                <a:solidFill>
                  <a:srgbClr val="636E72"/>
                </a:solidFill>
                <a:latin typeface="Quattrocento Sans" pitchFamily="34" charset="0"/>
                <a:ea typeface="Quattrocento Sans" pitchFamily="34" charset="-122"/>
                <a:cs typeface="Quattrocento Sans" pitchFamily="34" charset="-120"/>
              </a:rPr>
              <a:t>Week 4</a:t>
            </a:r>
            <a:pPr>
              <a:lnSpc>
                <a:spcPct val="140000"/>
              </a:lnSpc>
            </a:pPr>
            <a:r>
              <a:rPr lang="en-US" sz="1600" dirty="0">
                <a:solidFill>
                  <a:srgbClr val="636E72"/>
                </a:solidFill>
                <a:latin typeface="Quattrocento Sans" pitchFamily="34" charset="0"/>
                <a:ea typeface="Quattrocento Sans" pitchFamily="34" charset="-122"/>
                <a:cs typeface="Quattrocento Sans" pitchFamily="34" charset="-120"/>
              </a:rPr>
              <a:t> — Knowledge Representation &amp; Logic</a:t>
            </a:r>
            <a:endParaRPr lang="en-US" sz="1600" dirty="0"/>
          </a:p>
        </p:txBody>
      </p:sp>
      <p:sp>
        <p:nvSpPr>
          <p:cNvPr id="11" name="Text 9"/>
          <p:cNvSpPr/>
          <p:nvPr/>
        </p:nvSpPr>
        <p:spPr>
          <a:xfrm>
            <a:off x="1016000" y="4889500"/>
            <a:ext cx="6350000" cy="381000"/>
          </a:xfrm>
          <a:prstGeom prst="rect">
            <a:avLst/>
          </a:prstGeom>
          <a:noFill/>
          <a:ln/>
        </p:spPr>
        <p:txBody>
          <a:bodyPr wrap="square" lIns="0" tIns="0" rIns="0" bIns="0" rtlCol="0" anchor="ctr"/>
          <a:lstStyle/>
          <a:p>
            <a:pPr>
              <a:lnSpc>
                <a:spcPct val="140000"/>
              </a:lnSpc>
            </a:pPr>
            <a:r>
              <a:rPr lang="en-US" sz="1600" b="1" dirty="0">
                <a:solidFill>
                  <a:srgbClr val="636E72"/>
                </a:solidFill>
                <a:latin typeface="Quattrocento Sans" pitchFamily="34" charset="0"/>
                <a:ea typeface="Quattrocento Sans" pitchFamily="34" charset="-122"/>
                <a:cs typeface="Quattrocento Sans" pitchFamily="34" charset="-120"/>
              </a:rPr>
              <a:t>Week 5</a:t>
            </a:r>
            <a:pPr>
              <a:lnSpc>
                <a:spcPct val="140000"/>
              </a:lnSpc>
            </a:pPr>
            <a:r>
              <a:rPr lang="en-US" sz="1600" dirty="0">
                <a:solidFill>
                  <a:srgbClr val="636E72"/>
                </a:solidFill>
                <a:latin typeface="Quattrocento Sans" pitchFamily="34" charset="0"/>
                <a:ea typeface="Quattrocento Sans" pitchFamily="34" charset="-122"/>
                <a:cs typeface="Quattrocento Sans" pitchFamily="34" charset="-120"/>
              </a:rPr>
              <a:t> — Planning &amp; Decision Making</a:t>
            </a:r>
            <a:endParaRPr lang="en-US" sz="1600" dirty="0"/>
          </a:p>
        </p:txBody>
      </p:sp>
      <p:sp>
        <p:nvSpPr>
          <p:cNvPr id="12" name="Text 10"/>
          <p:cNvSpPr/>
          <p:nvPr/>
        </p:nvSpPr>
        <p:spPr>
          <a:xfrm>
            <a:off x="8382000" y="2984500"/>
            <a:ext cx="6350000" cy="381000"/>
          </a:xfrm>
          <a:prstGeom prst="rect">
            <a:avLst/>
          </a:prstGeom>
          <a:noFill/>
          <a:ln/>
        </p:spPr>
        <p:txBody>
          <a:bodyPr wrap="square" lIns="0" tIns="0" rIns="0" bIns="0" rtlCol="0" anchor="ctr"/>
          <a:lstStyle/>
          <a:p>
            <a:pPr>
              <a:lnSpc>
                <a:spcPct val="140000"/>
              </a:lnSpc>
            </a:pPr>
            <a:r>
              <a:rPr lang="en-US" sz="1600" b="1" dirty="0">
                <a:solidFill>
                  <a:srgbClr val="636E72"/>
                </a:solidFill>
                <a:latin typeface="Quattrocento Sans" pitchFamily="34" charset="0"/>
                <a:ea typeface="Quattrocento Sans" pitchFamily="34" charset="-122"/>
                <a:cs typeface="Quattrocento Sans" pitchFamily="34" charset="-120"/>
              </a:rPr>
              <a:t>Week 6</a:t>
            </a:r>
            <a:pPr>
              <a:lnSpc>
                <a:spcPct val="140000"/>
              </a:lnSpc>
            </a:pPr>
            <a:r>
              <a:rPr lang="en-US" sz="1600" dirty="0">
                <a:solidFill>
                  <a:srgbClr val="636E72"/>
                </a:solidFill>
                <a:latin typeface="Quattrocento Sans" pitchFamily="34" charset="0"/>
                <a:ea typeface="Quattrocento Sans" pitchFamily="34" charset="-122"/>
                <a:cs typeface="Quattrocento Sans" pitchFamily="34" charset="-120"/>
              </a:rPr>
              <a:t> — Machine Learning Fundamentals</a:t>
            </a:r>
            <a:endParaRPr lang="en-US" sz="1600" dirty="0"/>
          </a:p>
        </p:txBody>
      </p:sp>
      <p:sp>
        <p:nvSpPr>
          <p:cNvPr id="13" name="Text 11"/>
          <p:cNvSpPr/>
          <p:nvPr/>
        </p:nvSpPr>
        <p:spPr>
          <a:xfrm>
            <a:off x="8382000" y="3429000"/>
            <a:ext cx="6350000" cy="381000"/>
          </a:xfrm>
          <a:prstGeom prst="rect">
            <a:avLst/>
          </a:prstGeom>
          <a:noFill/>
          <a:ln/>
        </p:spPr>
        <p:txBody>
          <a:bodyPr wrap="square" lIns="0" tIns="0" rIns="0" bIns="0" rtlCol="0" anchor="ctr"/>
          <a:lstStyle/>
          <a:p>
            <a:pPr>
              <a:lnSpc>
                <a:spcPct val="140000"/>
              </a:lnSpc>
            </a:pPr>
            <a:r>
              <a:rPr lang="en-US" sz="1600" b="1" dirty="0">
                <a:solidFill>
                  <a:srgbClr val="636E72"/>
                </a:solidFill>
                <a:latin typeface="Quattrocento Sans" pitchFamily="34" charset="0"/>
                <a:ea typeface="Quattrocento Sans" pitchFamily="34" charset="-122"/>
                <a:cs typeface="Quattrocento Sans" pitchFamily="34" charset="-120"/>
              </a:rPr>
              <a:t>Week 7</a:t>
            </a:r>
            <a:pPr>
              <a:lnSpc>
                <a:spcPct val="140000"/>
              </a:lnSpc>
            </a:pPr>
            <a:r>
              <a:rPr lang="en-US" sz="1600" dirty="0">
                <a:solidFill>
                  <a:srgbClr val="636E72"/>
                </a:solidFill>
                <a:latin typeface="Quattrocento Sans" pitchFamily="34" charset="0"/>
                <a:ea typeface="Quattrocento Sans" pitchFamily="34" charset="-122"/>
                <a:cs typeface="Quattrocento Sans" pitchFamily="34" charset="-120"/>
              </a:rPr>
              <a:t> — Neural Networks &amp; Deep Learning</a:t>
            </a:r>
            <a:endParaRPr lang="en-US" sz="1600" dirty="0"/>
          </a:p>
        </p:txBody>
      </p:sp>
      <p:sp>
        <p:nvSpPr>
          <p:cNvPr id="14" name="Text 12"/>
          <p:cNvSpPr/>
          <p:nvPr/>
        </p:nvSpPr>
        <p:spPr>
          <a:xfrm>
            <a:off x="8382000" y="3873500"/>
            <a:ext cx="6350000" cy="381000"/>
          </a:xfrm>
          <a:prstGeom prst="rect">
            <a:avLst/>
          </a:prstGeom>
          <a:noFill/>
          <a:ln/>
        </p:spPr>
        <p:txBody>
          <a:bodyPr wrap="square" lIns="0" tIns="0" rIns="0" bIns="0" rtlCol="0" anchor="ctr"/>
          <a:lstStyle/>
          <a:p>
            <a:pPr>
              <a:lnSpc>
                <a:spcPct val="140000"/>
              </a:lnSpc>
            </a:pPr>
            <a:r>
              <a:rPr lang="en-US" sz="1600" b="1" dirty="0">
                <a:solidFill>
                  <a:srgbClr val="636E72"/>
                </a:solidFill>
                <a:latin typeface="Quattrocento Sans" pitchFamily="34" charset="0"/>
                <a:ea typeface="Quattrocento Sans" pitchFamily="34" charset="-122"/>
                <a:cs typeface="Quattrocento Sans" pitchFamily="34" charset="-120"/>
              </a:rPr>
              <a:t>Week 8</a:t>
            </a:r>
            <a:pPr>
              <a:lnSpc>
                <a:spcPct val="140000"/>
              </a:lnSpc>
            </a:pPr>
            <a:r>
              <a:rPr lang="en-US" sz="1600" dirty="0">
                <a:solidFill>
                  <a:srgbClr val="636E72"/>
                </a:solidFill>
                <a:latin typeface="Quattrocento Sans" pitchFamily="34" charset="0"/>
                <a:ea typeface="Quattrocento Sans" pitchFamily="34" charset="-122"/>
                <a:cs typeface="Quattrocento Sans" pitchFamily="34" charset="-120"/>
              </a:rPr>
              <a:t> — Natural Language Processing</a:t>
            </a:r>
            <a:endParaRPr lang="en-US" sz="1600" dirty="0"/>
          </a:p>
        </p:txBody>
      </p:sp>
      <p:sp>
        <p:nvSpPr>
          <p:cNvPr id="15" name="Text 13"/>
          <p:cNvSpPr/>
          <p:nvPr/>
        </p:nvSpPr>
        <p:spPr>
          <a:xfrm>
            <a:off x="8382000" y="4318000"/>
            <a:ext cx="6350000" cy="381000"/>
          </a:xfrm>
          <a:prstGeom prst="rect">
            <a:avLst/>
          </a:prstGeom>
          <a:noFill/>
          <a:ln/>
        </p:spPr>
        <p:txBody>
          <a:bodyPr wrap="square" lIns="0" tIns="0" rIns="0" bIns="0" rtlCol="0" anchor="ctr"/>
          <a:lstStyle/>
          <a:p>
            <a:pPr>
              <a:lnSpc>
                <a:spcPct val="140000"/>
              </a:lnSpc>
            </a:pPr>
            <a:r>
              <a:rPr lang="en-US" sz="1600" b="1" dirty="0">
                <a:solidFill>
                  <a:srgbClr val="636E72"/>
                </a:solidFill>
                <a:latin typeface="Quattrocento Sans" pitchFamily="34" charset="0"/>
                <a:ea typeface="Quattrocento Sans" pitchFamily="34" charset="-122"/>
                <a:cs typeface="Quattrocento Sans" pitchFamily="34" charset="-120"/>
              </a:rPr>
              <a:t>Week 9</a:t>
            </a:r>
            <a:pPr>
              <a:lnSpc>
                <a:spcPct val="140000"/>
              </a:lnSpc>
            </a:pPr>
            <a:r>
              <a:rPr lang="en-US" sz="1600" dirty="0">
                <a:solidFill>
                  <a:srgbClr val="636E72"/>
                </a:solidFill>
                <a:latin typeface="Quattrocento Sans" pitchFamily="34" charset="0"/>
                <a:ea typeface="Quattrocento Sans" pitchFamily="34" charset="-122"/>
                <a:cs typeface="Quattrocento Sans" pitchFamily="34" charset="-120"/>
              </a:rPr>
              <a:t> — Computer Vision &amp; Robotics</a:t>
            </a:r>
            <a:endParaRPr lang="en-US" sz="1600" dirty="0"/>
          </a:p>
        </p:txBody>
      </p:sp>
      <p:sp>
        <p:nvSpPr>
          <p:cNvPr id="16" name="Shape 14"/>
          <p:cNvSpPr/>
          <p:nvPr/>
        </p:nvSpPr>
        <p:spPr>
          <a:xfrm>
            <a:off x="8382000" y="4889500"/>
            <a:ext cx="50800" cy="381000"/>
          </a:xfrm>
          <a:prstGeom prst="rect">
            <a:avLst/>
          </a:prstGeom>
          <a:solidFill>
            <a:srgbClr val="D4A574"/>
          </a:solidFill>
          <a:ln/>
        </p:spPr>
      </p:sp>
      <p:sp>
        <p:nvSpPr>
          <p:cNvPr id="17" name="Text 15"/>
          <p:cNvSpPr/>
          <p:nvPr/>
        </p:nvSpPr>
        <p:spPr>
          <a:xfrm>
            <a:off x="8636000" y="4889500"/>
            <a:ext cx="6350000" cy="381000"/>
          </a:xfrm>
          <a:prstGeom prst="rect">
            <a:avLst/>
          </a:prstGeom>
          <a:noFill/>
          <a:ln/>
        </p:spPr>
        <p:txBody>
          <a:bodyPr wrap="square" lIns="0" tIns="0" rIns="0" bIns="0" rtlCol="0" anchor="ctr"/>
          <a:lstStyle/>
          <a:p>
            <a:pPr>
              <a:lnSpc>
                <a:spcPct val="140000"/>
              </a:lnSpc>
            </a:pPr>
            <a:r>
              <a:rPr lang="en-US" sz="1600" b="1" dirty="0">
                <a:solidFill>
                  <a:srgbClr val="D4A574"/>
                </a:solidFill>
                <a:latin typeface="Quattrocento Sans" pitchFamily="34" charset="0"/>
                <a:ea typeface="Quattrocento Sans" pitchFamily="34" charset="-122"/>
                <a:cs typeface="Quattrocento Sans" pitchFamily="34" charset="-120"/>
              </a:rPr>
              <a:t>Week 10</a:t>
            </a:r>
            <a:pPr>
              <a:lnSpc>
                <a:spcPct val="140000"/>
              </a:lnSpc>
            </a:pPr>
            <a:r>
              <a:rPr lang="en-US" sz="1600" dirty="0">
                <a:solidFill>
                  <a:srgbClr val="2D3436"/>
                </a:solidFill>
                <a:latin typeface="Quattrocento Sans" pitchFamily="34" charset="0"/>
                <a:ea typeface="Quattrocento Sans" pitchFamily="34" charset="-122"/>
                <a:cs typeface="Quattrocento Sans" pitchFamily="34" charset="-120"/>
              </a:rPr>
              <a:t> — AI Ethics, Safety &amp; Future Directions</a:t>
            </a:r>
            <a:endParaRPr lang="en-US" sz="1600" dirty="0"/>
          </a:p>
        </p:txBody>
      </p:sp>
      <p:sp>
        <p:nvSpPr>
          <p:cNvPr id="18" name="Shape 16"/>
          <p:cNvSpPr/>
          <p:nvPr/>
        </p:nvSpPr>
        <p:spPr>
          <a:xfrm>
            <a:off x="762000" y="5588000"/>
            <a:ext cx="14732000" cy="12700"/>
          </a:xfrm>
          <a:prstGeom prst="rect">
            <a:avLst/>
          </a:prstGeom>
          <a:solidFill>
            <a:srgbClr val="D5D0C8"/>
          </a:solidFill>
          <a:ln/>
        </p:spPr>
      </p:sp>
      <p:sp>
        <p:nvSpPr>
          <p:cNvPr id="19" name="Text 17"/>
          <p:cNvSpPr/>
          <p:nvPr/>
        </p:nvSpPr>
        <p:spPr>
          <a:xfrm>
            <a:off x="762000" y="5969000"/>
            <a:ext cx="7620000" cy="355600"/>
          </a:xfrm>
          <a:prstGeom prst="rect">
            <a:avLst/>
          </a:prstGeom>
          <a:noFill/>
          <a:ln/>
        </p:spPr>
        <p:txBody>
          <a:bodyPr wrap="none" lIns="0" tIns="0" rIns="0" bIns="0" rtlCol="0" anchor="ctr"/>
          <a:lstStyle/>
          <a:p>
            <a:pPr>
              <a:lnSpc>
                <a:spcPct val="100000"/>
              </a:lnSpc>
            </a:pPr>
            <a:r>
              <a:rPr lang="en-US" sz="2000" b="1" dirty="0">
                <a:solidFill>
                  <a:srgbClr val="2D3436"/>
                </a:solidFill>
                <a:latin typeface="Liter" pitchFamily="34" charset="0"/>
                <a:ea typeface="Liter" pitchFamily="34" charset="-122"/>
                <a:cs typeface="Liter" pitchFamily="34" charset="-120"/>
              </a:rPr>
              <a:t>Why These Foundations Matter</a:t>
            </a:r>
            <a:endParaRPr lang="en-US" sz="1600" dirty="0"/>
          </a:p>
        </p:txBody>
      </p:sp>
      <p:sp>
        <p:nvSpPr>
          <p:cNvPr id="20" name="Text 18"/>
          <p:cNvSpPr/>
          <p:nvPr/>
        </p:nvSpPr>
        <p:spPr>
          <a:xfrm>
            <a:off x="762000" y="6477000"/>
            <a:ext cx="14732000" cy="2095500"/>
          </a:xfrm>
          <a:prstGeom prst="rect">
            <a:avLst/>
          </a:prstGeom>
          <a:noFill/>
          <a:ln/>
        </p:spPr>
        <p:txBody>
          <a:bodyPr wrap="square" lIns="0" tIns="0" rIns="0" bIns="0" rtlCol="0" anchor="ctr"/>
          <a:lstStyle/>
          <a:p>
            <a:pPr>
              <a:lnSpc>
                <a:spcPct val="160000"/>
              </a:lnSpc>
            </a:pPr>
            <a:r>
              <a:rPr lang="en-US" sz="1800" dirty="0">
                <a:solidFill>
                  <a:srgbClr val="2D3436"/>
                </a:solidFill>
                <a:latin typeface="Quattrocento Sans" pitchFamily="34" charset="0"/>
                <a:ea typeface="Quattrocento Sans" pitchFamily="34" charset="-122"/>
                <a:cs typeface="Quattrocento Sans" pitchFamily="34" charset="-120"/>
              </a:rPr>
              <a:t>Everything we will study this semester builds on the foundational concepts covered this week:</a:t>
            </a:r>
            <a:endParaRPr lang="en-US" sz="1600" dirty="0"/>
          </a:p>
          <a:p>
            <a:pPr marL="254000" indent="-254000">
              <a:lnSpc>
                <a:spcPct val="160000"/>
              </a:lnSpc>
              <a:spcBef>
                <a:spcPts val="10"/>
              </a:spcBef>
              <a:buSzPct val="100000"/>
              <a:buChar char="•"/>
            </a:pPr>
            <a:r>
              <a:rPr lang="en-US" sz="1800" dirty="0">
                <a:solidFill>
                  <a:srgbClr val="2D3436"/>
                </a:solidFill>
                <a:latin typeface="Quattrocento Sans" pitchFamily="34" charset="0"/>
                <a:ea typeface="Quattrocento Sans" pitchFamily="34" charset="-122"/>
                <a:cs typeface="Quattrocento Sans" pitchFamily="34" charset="-120"/>
              </a:rPr>
              <a:t>The </a:t>
            </a:r>
            <a:pPr>
              <a:lnSpc>
                <a:spcPct val="160000"/>
              </a:lnSpc>
              <a:spcBef>
                <a:spcPts val="10"/>
              </a:spcBef>
            </a:pPr>
            <a:r>
              <a:rPr lang="en-US" sz="1800" b="1" dirty="0">
                <a:solidFill>
                  <a:srgbClr val="2D3436"/>
                </a:solidFill>
                <a:latin typeface="Quattrocento Sans" pitchFamily="34" charset="0"/>
                <a:ea typeface="Quattrocento Sans" pitchFamily="34" charset="-122"/>
                <a:cs typeface="Quattrocento Sans" pitchFamily="34" charset="-120"/>
              </a:rPr>
              <a:t>definitions and goals</a:t>
            </a:r>
            <a:pPr>
              <a:lnSpc>
                <a:spcPct val="160000"/>
              </a:lnSpc>
              <a:spcBef>
                <a:spcPts val="10"/>
              </a:spcBef>
            </a:pPr>
            <a:r>
              <a:rPr lang="en-US" sz="1800" dirty="0">
                <a:solidFill>
                  <a:srgbClr val="2D3436"/>
                </a:solidFill>
                <a:latin typeface="Quattrocento Sans" pitchFamily="34" charset="0"/>
                <a:ea typeface="Quattrocento Sans" pitchFamily="34" charset="-122"/>
                <a:cs typeface="Quattrocento Sans" pitchFamily="34" charset="-120"/>
              </a:rPr>
              <a:t> of AI guide what problems we choose to solve</a:t>
            </a:r>
            <a:endParaRPr lang="en-US" sz="1600" dirty="0"/>
          </a:p>
          <a:p>
            <a:pPr marL="254000" indent="-254000">
              <a:lnSpc>
                <a:spcPct val="160000"/>
              </a:lnSpc>
              <a:spcBef>
                <a:spcPts val="10"/>
              </a:spcBef>
              <a:buSzPct val="100000"/>
              <a:buChar char="•"/>
            </a:pPr>
            <a:r>
              <a:rPr lang="en-US" sz="1800" dirty="0">
                <a:solidFill>
                  <a:srgbClr val="2D3436"/>
                </a:solidFill>
                <a:latin typeface="Quattrocento Sans" pitchFamily="34" charset="0"/>
                <a:ea typeface="Quattrocento Sans" pitchFamily="34" charset="-122"/>
                <a:cs typeface="Quattrocento Sans" pitchFamily="34" charset="-120"/>
              </a:rPr>
              <a:t>The </a:t>
            </a:r>
            <a:pPr>
              <a:lnSpc>
                <a:spcPct val="160000"/>
              </a:lnSpc>
              <a:spcBef>
                <a:spcPts val="10"/>
              </a:spcBef>
            </a:pPr>
            <a:r>
              <a:rPr lang="en-US" sz="1800" b="1" dirty="0">
                <a:solidFill>
                  <a:srgbClr val="2D3436"/>
                </a:solidFill>
                <a:latin typeface="Quattrocento Sans" pitchFamily="34" charset="0"/>
                <a:ea typeface="Quattrocento Sans" pitchFamily="34" charset="-122"/>
                <a:cs typeface="Quattrocento Sans" pitchFamily="34" charset="-120"/>
              </a:rPr>
              <a:t>four approaches</a:t>
            </a:r>
            <a:pPr>
              <a:lnSpc>
                <a:spcPct val="160000"/>
              </a:lnSpc>
              <a:spcBef>
                <a:spcPts val="10"/>
              </a:spcBef>
            </a:pPr>
            <a:r>
              <a:rPr lang="en-US" sz="1800" dirty="0">
                <a:solidFill>
                  <a:srgbClr val="2D3436"/>
                </a:solidFill>
                <a:latin typeface="Quattrocento Sans" pitchFamily="34" charset="0"/>
                <a:ea typeface="Quattrocento Sans" pitchFamily="34" charset="-122"/>
                <a:cs typeface="Quattrocento Sans" pitchFamily="34" charset="-120"/>
              </a:rPr>
              <a:t> provide different lenses for thinking about intelligence</a:t>
            </a:r>
            <a:endParaRPr lang="en-US" sz="1600" dirty="0"/>
          </a:p>
          <a:p>
            <a:pPr marL="254000" indent="-254000">
              <a:lnSpc>
                <a:spcPct val="160000"/>
              </a:lnSpc>
              <a:spcBef>
                <a:spcPts val="10"/>
              </a:spcBef>
              <a:buSzPct val="100000"/>
              <a:buChar char="•"/>
            </a:pPr>
            <a:r>
              <a:rPr lang="en-US" sz="1800" dirty="0">
                <a:solidFill>
                  <a:srgbClr val="2D3436"/>
                </a:solidFill>
                <a:latin typeface="Quattrocento Sans" pitchFamily="34" charset="0"/>
                <a:ea typeface="Quattrocento Sans" pitchFamily="34" charset="-122"/>
                <a:cs typeface="Quattrocento Sans" pitchFamily="34" charset="-120"/>
              </a:rPr>
              <a:t>The </a:t>
            </a:r>
            <a:pPr>
              <a:lnSpc>
                <a:spcPct val="160000"/>
              </a:lnSpc>
              <a:spcBef>
                <a:spcPts val="10"/>
              </a:spcBef>
            </a:pPr>
            <a:r>
              <a:rPr lang="en-US" sz="1800" b="1" dirty="0">
                <a:solidFill>
                  <a:srgbClr val="2D3436"/>
                </a:solidFill>
                <a:latin typeface="Quattrocento Sans" pitchFamily="34" charset="0"/>
                <a:ea typeface="Quattrocento Sans" pitchFamily="34" charset="-122"/>
                <a:cs typeface="Quattrocento Sans" pitchFamily="34" charset="-120"/>
              </a:rPr>
              <a:t>rational agent framework</a:t>
            </a:r>
            <a:pPr>
              <a:lnSpc>
                <a:spcPct val="160000"/>
              </a:lnSpc>
              <a:spcBef>
                <a:spcPts val="10"/>
              </a:spcBef>
            </a:pPr>
            <a:r>
              <a:rPr lang="en-US" sz="1800" dirty="0">
                <a:solidFill>
                  <a:srgbClr val="2D3436"/>
                </a:solidFill>
                <a:latin typeface="Quattrocento Sans" pitchFamily="34" charset="0"/>
                <a:ea typeface="Quattrocento Sans" pitchFamily="34" charset="-122"/>
                <a:cs typeface="Quattrocento Sans" pitchFamily="34" charset="-120"/>
              </a:rPr>
              <a:t> gives us a unified way to design and evaluate AI systems</a:t>
            </a:r>
            <a:endParaRPr lang="en-US" sz="1600" dirty="0"/>
          </a:p>
        </p:txBody>
      </p:sp>
      <p:sp>
        <p:nvSpPr>
          <p:cNvPr id="21" name="Text 19"/>
          <p:cNvSpPr/>
          <p:nvPr/>
        </p:nvSpPr>
        <p:spPr>
          <a:xfrm>
            <a:off x="14986000" y="8636000"/>
            <a:ext cx="762000" cy="254000"/>
          </a:xfrm>
          <a:prstGeom prst="rect">
            <a:avLst/>
          </a:prstGeom>
          <a:noFill/>
          <a:ln/>
        </p:spPr>
        <p:txBody>
          <a:bodyPr wrap="none" lIns="0" tIns="0" rIns="0" bIns="0" rtlCol="0" anchor="ctr"/>
          <a:lstStyle/>
          <a:p>
            <a:pPr algn="r">
              <a:lnSpc>
                <a:spcPct val="100000"/>
              </a:lnSpc>
            </a:pPr>
            <a:r>
              <a:rPr lang="en-US" sz="1400" dirty="0">
                <a:solidFill>
                  <a:srgbClr val="636E72"/>
                </a:solidFill>
                <a:latin typeface="QuattrocentoSans" pitchFamily="34" charset="0"/>
                <a:ea typeface="QuattrocentoSans" pitchFamily="34" charset="-122"/>
                <a:cs typeface="QuattrocentoSans" pitchFamily="34" charset="-120"/>
              </a:rPr>
              <a:t>29</a:t>
            </a:r>
            <a:endParaRPr lang="en-US" sz="1400" dirty="0"/>
          </a:p>
        </p:txBody>
      </p:sp>
    </p:spTree>
  </p:cSld>
  <p:clrMapOvr>
    <a:masterClrMapping/>
  </p:clrMapOvr>
  <p:transition>
    <p:fade/>
    <p:spd val="med"/>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https://kimi-img.moonshot.cn/pub/slides/okc/l62xu63prt7y4/mnt/agents/output/ai-course/images/6_The_Future_of_Human_and_AI_Robot.png">    </p:cNvPr>
          <p:cNvPicPr>
            <a:picLocks noChangeAspect="1"/>
          </p:cNvPicPr>
          <p:nvPr/>
        </p:nvPicPr>
        <p:blipFill>
          <a:blip r:embed="rId1"/>
          <a:srcRect l="0" r="0" t="4327" b="4327"/>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2D3436">
                  <a:alpha val="90000"/>
                </a:srgbClr>
              </a:gs>
              <a:gs pos="50000">
                <a:srgbClr val="2D3436">
                  <a:alpha val="80000"/>
                </a:srgbClr>
              </a:gs>
              <a:gs pos="100000">
                <a:srgbClr val="2D3436">
                  <a:alpha val="90000"/>
                </a:srgbClr>
              </a:gs>
            </a:gsLst>
            <a:lin ang="5400000" scaled="1"/>
          </a:gradFill>
          <a:ln w="12700">
            <a:solidFill>
              <a:srgbClr val="333333"/>
            </a:solidFill>
            <a:prstDash val="solid"/>
          </a:ln>
        </p:spPr>
      </p:sp>
      <p:sp>
        <p:nvSpPr>
          <p:cNvPr id="4" name="Text 1"/>
          <p:cNvSpPr/>
          <p:nvPr/>
        </p:nvSpPr>
        <p:spPr>
          <a:xfrm>
            <a:off x="762000" y="635000"/>
            <a:ext cx="3810000" cy="254000"/>
          </a:xfrm>
          <a:prstGeom prst="rect">
            <a:avLst/>
          </a:prstGeom>
          <a:noFill/>
          <a:ln/>
        </p:spPr>
        <p:txBody>
          <a:bodyPr wrap="none" lIns="0" tIns="0" rIns="0" bIns="0" rtlCol="0" anchor="ctr"/>
          <a:lstStyle/>
          <a:p>
            <a:pPr>
              <a:lnSpc>
                <a:spcPct val="100000"/>
              </a:lnSpc>
            </a:pPr>
            <a:r>
              <a:rPr lang="en-US" sz="1200" spc="200" kern="0" dirty="0">
                <a:solidFill>
                  <a:srgbClr val="F5F1EC">
                    <a:alpha val="40000"/>
                  </a:srgbClr>
                </a:solidFill>
                <a:latin typeface="Liter" pitchFamily="34" charset="0"/>
                <a:ea typeface="Liter" pitchFamily="34" charset="-122"/>
                <a:cs typeface="Liter" pitchFamily="34" charset="-120"/>
              </a:rPr>
              <a:t>AI COURSE — WEEK 1</a:t>
            </a:r>
            <a:endParaRPr lang="en-US" sz="1200" dirty="0"/>
          </a:p>
        </p:txBody>
      </p:sp>
      <p:sp>
        <p:nvSpPr>
          <p:cNvPr id="5" name="Text 2"/>
          <p:cNvSpPr/>
          <p:nvPr/>
        </p:nvSpPr>
        <p:spPr>
          <a:xfrm>
            <a:off x="1778000" y="2921000"/>
            <a:ext cx="12700000" cy="1016000"/>
          </a:xfrm>
          <a:prstGeom prst="rect">
            <a:avLst/>
          </a:prstGeom>
          <a:noFill/>
          <a:ln/>
        </p:spPr>
        <p:txBody>
          <a:bodyPr wrap="none" lIns="0" tIns="0" rIns="0" bIns="0" rtlCol="0" anchor="ctr"/>
          <a:lstStyle/>
          <a:p>
            <a:pPr algn="ctr">
              <a:lnSpc>
                <a:spcPct val="100000"/>
              </a:lnSpc>
            </a:pPr>
            <a:r>
              <a:rPr lang="en-US" sz="5600" spc="300" kern="0" dirty="0">
                <a:solidFill>
                  <a:srgbClr val="F5F1EC"/>
                </a:solidFill>
                <a:latin typeface="Liter" pitchFamily="34" charset="0"/>
                <a:ea typeface="Liter" pitchFamily="34" charset="-122"/>
                <a:cs typeface="Liter" pitchFamily="34" charset="-120"/>
              </a:rPr>
              <a:t>QUESTIONS &amp; DISCUSSION</a:t>
            </a:r>
            <a:endParaRPr lang="en-US" sz="1600" dirty="0"/>
          </a:p>
        </p:txBody>
      </p:sp>
      <p:sp>
        <p:nvSpPr>
          <p:cNvPr id="6" name="Shape 3"/>
          <p:cNvSpPr/>
          <p:nvPr/>
        </p:nvSpPr>
        <p:spPr>
          <a:xfrm>
            <a:off x="6858000" y="4191000"/>
            <a:ext cx="2540000" cy="38100"/>
          </a:xfrm>
          <a:prstGeom prst="rect">
            <a:avLst/>
          </a:prstGeom>
          <a:solidFill>
            <a:srgbClr val="D4A574"/>
          </a:solidFill>
          <a:ln/>
        </p:spPr>
      </p:sp>
      <p:sp>
        <p:nvSpPr>
          <p:cNvPr id="7" name="Text 4"/>
          <p:cNvSpPr/>
          <p:nvPr/>
        </p:nvSpPr>
        <p:spPr>
          <a:xfrm>
            <a:off x="3048000" y="4699000"/>
            <a:ext cx="10160000" cy="635000"/>
          </a:xfrm>
          <a:prstGeom prst="rect">
            <a:avLst/>
          </a:prstGeom>
          <a:noFill/>
          <a:ln/>
        </p:spPr>
        <p:txBody>
          <a:bodyPr wrap="none" lIns="0" tIns="0" rIns="0" bIns="0" rtlCol="0" anchor="ctr"/>
          <a:lstStyle/>
          <a:p>
            <a:pPr algn="ctr">
              <a:lnSpc>
                <a:spcPct val="100000"/>
              </a:lnSpc>
            </a:pPr>
            <a:r>
              <a:rPr lang="en-US" sz="2200" dirty="0">
                <a:solidFill>
                  <a:srgbClr val="F5F1EC">
                    <a:alpha val="80000"/>
                  </a:srgbClr>
                </a:solidFill>
                <a:latin typeface="Quattrocento Sans" pitchFamily="34" charset="0"/>
                <a:ea typeface="Quattrocento Sans" pitchFamily="34" charset="-122"/>
                <a:cs typeface="Quattrocento Sans" pitchFamily="34" charset="-120"/>
              </a:rPr>
              <a:t>What aspects of AI are you most excited to explore?</a:t>
            </a:r>
            <a:endParaRPr lang="en-US" sz="1600" dirty="0"/>
          </a:p>
        </p:txBody>
      </p:sp>
      <p:sp>
        <p:nvSpPr>
          <p:cNvPr id="8" name="Text 5"/>
          <p:cNvSpPr/>
          <p:nvPr/>
        </p:nvSpPr>
        <p:spPr>
          <a:xfrm>
            <a:off x="4318000" y="7874000"/>
            <a:ext cx="7620000" cy="381000"/>
          </a:xfrm>
          <a:prstGeom prst="rect">
            <a:avLst/>
          </a:prstGeom>
          <a:noFill/>
          <a:ln/>
        </p:spPr>
        <p:txBody>
          <a:bodyPr wrap="none" lIns="0" tIns="0" rIns="0" bIns="0" rtlCol="0" anchor="ctr"/>
          <a:lstStyle/>
          <a:p>
            <a:pPr algn="ctr">
              <a:lnSpc>
                <a:spcPct val="100000"/>
              </a:lnSpc>
            </a:pPr>
            <a:r>
              <a:rPr lang="en-US" sz="1400" dirty="0">
                <a:solidFill>
                  <a:srgbClr val="F5F1EC">
                    <a:alpha val="40000"/>
                  </a:srgbClr>
                </a:solidFill>
                <a:latin typeface="Quattrocento Sans" pitchFamily="34" charset="0"/>
                <a:ea typeface="Quattrocento Sans" pitchFamily="34" charset="-122"/>
                <a:cs typeface="Quattrocento Sans" pitchFamily="34" charset="-120"/>
              </a:rPr>
              <a:t>Artificial Intelligence • Week 1 • Introduction &amp; Foundations</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 Week 1</dc:title>
  <dc:subject>Artificial Intelligence - Week 1</dc:subject>
  <dc:creator>Kimi</dc:creator>
  <cp:lastModifiedBy>Kimi</cp:lastModifiedBy>
  <cp:revision>1</cp:revision>
  <dcterms:created xsi:type="dcterms:W3CDTF">2026-05-25T21:04:35Z</dcterms:created>
  <dcterms:modified xsi:type="dcterms:W3CDTF">2026-05-25T21:04:35Z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{"Label":"Artificial Intelligence - Week 1","ContentProducer":"001191110108MACG2KBH8F10000","ProduceID":"19e60cc5-6132-8594-8000-0000cfcb4609","ReservedCode1":"","ContentPropagator":"001191110108MACG2KBH8F20000","PropagateID":"19e60cc5-6132-8594-8000-0000cfcb4609","ReservedCode2":""}</vt:lpwstr>
  </property>
</Properties>
</file>