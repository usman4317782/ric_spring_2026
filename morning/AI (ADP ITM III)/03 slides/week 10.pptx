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Systems in AI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Guide to Knowledge-Based Systems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826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533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17 &amp; 18 — Artificial Intelligence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460500" y="2540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Subset of AI &amp; Introduction to Expert Systems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24000" y="3429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3429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0" y="3429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 &amp; Capabilities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524000" y="431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460500" y="4318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Expert Systems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524000" y="5207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5207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86000" y="5207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 Strategies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24000" y="6096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460500" y="6096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286000" y="6096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Real World Applications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Subset of AI &amp; Introduction to Expert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1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the foundation of knowledge-based intelligent systems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Artificial Intelligence?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 is the simulation of human intelligence processes by computer systems. These include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learning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(acquiring info/rules),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reasoning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(using rules to reach conclusions), and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self-correction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Capabilities: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Visual perception and image recognition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Speech recognition and NLP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Decision-making under uncertainty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Language translation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Classification: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Narrow AI: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specific tasks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 AI: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Human-like cognition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0" y="1905000"/>
            <a:ext cx="5842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25000" y="2159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Subsets / Branches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0" y="2794000"/>
            <a:ext cx="5080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Algorithms that learn from data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networks with multiple layers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understanding of language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Machines that "see" images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AI agents</a:t>
            </a:r>
            <a:endParaRPr lang="en-US" sz="18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Knowledge-based reasoning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Subsets of Artificial Intelligence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6223000" y="2032000"/>
            <a:ext cx="3810000" cy="762000"/>
          </a:xfrm>
          <a:prstGeom prst="roundRect">
            <a:avLst>
              <a:gd name="adj" fmla="val 12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6223000" y="2032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70000" y="33020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3492500"/>
            <a:ext cx="241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24000" y="4038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Algorithms that learn patterns from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53000" y="33020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7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4978" y="69850"/>
                </a:moveTo>
                <a:lnTo>
                  <a:pt x="231422" y="69850"/>
                </a:lnTo>
                <a:lnTo>
                  <a:pt x="231422" y="107950"/>
                </a:lnTo>
                <a:lnTo>
                  <a:pt x="174978" y="107950"/>
                </a:lnTo>
                <a:lnTo>
                  <a:pt x="174978" y="69850"/>
                </a:lnTo>
                <a:close/>
                <a:moveTo>
                  <a:pt x="169333" y="25400"/>
                </a:moveTo>
                <a:cubicBezTo>
                  <a:pt x="150636" y="25400"/>
                  <a:pt x="135467" y="42466"/>
                  <a:pt x="135467" y="63500"/>
                </a:cubicBezTo>
                <a:lnTo>
                  <a:pt x="135467" y="114300"/>
                </a:lnTo>
                <a:cubicBezTo>
                  <a:pt x="135467" y="135334"/>
                  <a:pt x="150636" y="152400"/>
                  <a:pt x="169333" y="152400"/>
                </a:cubicBezTo>
                <a:lnTo>
                  <a:pt x="180622" y="152400"/>
                </a:lnTo>
                <a:lnTo>
                  <a:pt x="180622" y="177800"/>
                </a:lnTo>
                <a:lnTo>
                  <a:pt x="22578" y="177800"/>
                </a:lnTo>
                <a:cubicBezTo>
                  <a:pt x="10089" y="177800"/>
                  <a:pt x="0" y="189151"/>
                  <a:pt x="0" y="203200"/>
                </a:cubicBezTo>
                <a:cubicBezTo>
                  <a:pt x="0" y="217249"/>
                  <a:pt x="10089" y="228600"/>
                  <a:pt x="22578" y="228600"/>
                </a:cubicBezTo>
                <a:lnTo>
                  <a:pt x="90311" y="228600"/>
                </a:lnTo>
                <a:lnTo>
                  <a:pt x="90311" y="254000"/>
                </a:lnTo>
                <a:lnTo>
                  <a:pt x="79022" y="254000"/>
                </a:lnTo>
                <a:cubicBezTo>
                  <a:pt x="60325" y="254000"/>
                  <a:pt x="45156" y="271066"/>
                  <a:pt x="45156" y="292100"/>
                </a:cubicBezTo>
                <a:lnTo>
                  <a:pt x="45156" y="342900"/>
                </a:lnTo>
                <a:cubicBezTo>
                  <a:pt x="45156" y="363934"/>
                  <a:pt x="60325" y="381000"/>
                  <a:pt x="79022" y="381000"/>
                </a:cubicBezTo>
                <a:lnTo>
                  <a:pt x="146756" y="381000"/>
                </a:lnTo>
                <a:cubicBezTo>
                  <a:pt x="165453" y="381000"/>
                  <a:pt x="180622" y="363934"/>
                  <a:pt x="180622" y="342900"/>
                </a:cubicBezTo>
                <a:lnTo>
                  <a:pt x="180622" y="292100"/>
                </a:lnTo>
                <a:cubicBezTo>
                  <a:pt x="180622" y="271066"/>
                  <a:pt x="165453" y="254000"/>
                  <a:pt x="146756" y="254000"/>
                </a:cubicBezTo>
                <a:lnTo>
                  <a:pt x="135467" y="254000"/>
                </a:lnTo>
                <a:lnTo>
                  <a:pt x="135467" y="228600"/>
                </a:lnTo>
                <a:lnTo>
                  <a:pt x="270933" y="228600"/>
                </a:lnTo>
                <a:lnTo>
                  <a:pt x="270933" y="254000"/>
                </a:lnTo>
                <a:lnTo>
                  <a:pt x="259644" y="254000"/>
                </a:lnTo>
                <a:cubicBezTo>
                  <a:pt x="240947" y="254000"/>
                  <a:pt x="225778" y="271066"/>
                  <a:pt x="225778" y="292100"/>
                </a:cubicBezTo>
                <a:lnTo>
                  <a:pt x="225778" y="342900"/>
                </a:lnTo>
                <a:cubicBezTo>
                  <a:pt x="225778" y="363934"/>
                  <a:pt x="240947" y="381000"/>
                  <a:pt x="259644" y="381000"/>
                </a:cubicBezTo>
                <a:lnTo>
                  <a:pt x="327378" y="381000"/>
                </a:lnTo>
                <a:cubicBezTo>
                  <a:pt x="346075" y="381000"/>
                  <a:pt x="361244" y="363934"/>
                  <a:pt x="361244" y="342900"/>
                </a:cubicBezTo>
                <a:lnTo>
                  <a:pt x="361244" y="292100"/>
                </a:lnTo>
                <a:cubicBezTo>
                  <a:pt x="361244" y="271066"/>
                  <a:pt x="346075" y="254000"/>
                  <a:pt x="327378" y="254000"/>
                </a:cubicBezTo>
                <a:lnTo>
                  <a:pt x="316089" y="254000"/>
                </a:lnTo>
                <a:lnTo>
                  <a:pt x="316089" y="228600"/>
                </a:lnTo>
                <a:lnTo>
                  <a:pt x="383822" y="228600"/>
                </a:lnTo>
                <a:cubicBezTo>
                  <a:pt x="396311" y="228600"/>
                  <a:pt x="406400" y="217249"/>
                  <a:pt x="406400" y="203200"/>
                </a:cubicBezTo>
                <a:cubicBezTo>
                  <a:pt x="406400" y="189151"/>
                  <a:pt x="396311" y="177800"/>
                  <a:pt x="383822" y="177800"/>
                </a:cubicBezTo>
                <a:lnTo>
                  <a:pt x="225778" y="177800"/>
                </a:lnTo>
                <a:lnTo>
                  <a:pt x="225778" y="152400"/>
                </a:lnTo>
                <a:lnTo>
                  <a:pt x="237067" y="152400"/>
                </a:lnTo>
                <a:cubicBezTo>
                  <a:pt x="255764" y="152400"/>
                  <a:pt x="270933" y="135334"/>
                  <a:pt x="270933" y="114300"/>
                </a:cubicBezTo>
                <a:lnTo>
                  <a:pt x="270933" y="63500"/>
                </a:lnTo>
                <a:cubicBezTo>
                  <a:pt x="270933" y="42466"/>
                  <a:pt x="255764" y="25400"/>
                  <a:pt x="237067" y="25400"/>
                </a:cubicBezTo>
                <a:lnTo>
                  <a:pt x="169333" y="25400"/>
                </a:lnTo>
                <a:close/>
                <a:moveTo>
                  <a:pt x="316089" y="298450"/>
                </a:moveTo>
                <a:lnTo>
                  <a:pt x="321733" y="298450"/>
                </a:lnTo>
                <a:lnTo>
                  <a:pt x="321733" y="336550"/>
                </a:lnTo>
                <a:lnTo>
                  <a:pt x="265289" y="336550"/>
                </a:lnTo>
                <a:lnTo>
                  <a:pt x="265289" y="298450"/>
                </a:lnTo>
                <a:lnTo>
                  <a:pt x="316089" y="298450"/>
                </a:lnTo>
                <a:close/>
                <a:moveTo>
                  <a:pt x="135467" y="298450"/>
                </a:moveTo>
                <a:lnTo>
                  <a:pt x="141111" y="298450"/>
                </a:lnTo>
                <a:lnTo>
                  <a:pt x="141111" y="336550"/>
                </a:lnTo>
                <a:lnTo>
                  <a:pt x="84667" y="336550"/>
                </a:lnTo>
                <a:lnTo>
                  <a:pt x="84667" y="298450"/>
                </a:lnTo>
                <a:lnTo>
                  <a:pt x="135467" y="298450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2" name="Text 10"/>
          <p:cNvSpPr/>
          <p:nvPr/>
        </p:nvSpPr>
        <p:spPr>
          <a:xfrm>
            <a:off x="5740400" y="3492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Learning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07000" y="4038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networks with multiple layers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33020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90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2889" y="0"/>
                </a:moveTo>
                <a:cubicBezTo>
                  <a:pt x="125377" y="0"/>
                  <a:pt x="135467" y="11351"/>
                  <a:pt x="135467" y="25400"/>
                </a:cubicBezTo>
                <a:lnTo>
                  <a:pt x="135467" y="50800"/>
                </a:lnTo>
                <a:lnTo>
                  <a:pt x="225778" y="50800"/>
                </a:lnTo>
                <a:cubicBezTo>
                  <a:pt x="238266" y="50800"/>
                  <a:pt x="248356" y="62151"/>
                  <a:pt x="248356" y="76200"/>
                </a:cubicBezTo>
                <a:cubicBezTo>
                  <a:pt x="248356" y="90249"/>
                  <a:pt x="238266" y="101600"/>
                  <a:pt x="225778" y="101600"/>
                </a:cubicBezTo>
                <a:lnTo>
                  <a:pt x="219004" y="101600"/>
                </a:lnTo>
                <a:lnTo>
                  <a:pt x="213078" y="119936"/>
                </a:lnTo>
                <a:cubicBezTo>
                  <a:pt x="201507" y="155813"/>
                  <a:pt x="184079" y="188595"/>
                  <a:pt x="162137" y="216773"/>
                </a:cubicBezTo>
                <a:cubicBezTo>
                  <a:pt x="172156" y="223758"/>
                  <a:pt x="182598" y="229949"/>
                  <a:pt x="193463" y="235426"/>
                </a:cubicBezTo>
                <a:lnTo>
                  <a:pt x="229023" y="253206"/>
                </a:lnTo>
                <a:lnTo>
                  <a:pt x="272909" y="142081"/>
                </a:lnTo>
                <a:cubicBezTo>
                  <a:pt x="276507" y="132874"/>
                  <a:pt x="284621" y="127000"/>
                  <a:pt x="293511" y="127000"/>
                </a:cubicBezTo>
                <a:cubicBezTo>
                  <a:pt x="302401" y="127000"/>
                  <a:pt x="310515" y="132874"/>
                  <a:pt x="314113" y="142081"/>
                </a:cubicBezTo>
                <a:lnTo>
                  <a:pt x="404424" y="370681"/>
                </a:lnTo>
                <a:cubicBezTo>
                  <a:pt x="409504" y="383540"/>
                  <a:pt x="404354" y="398542"/>
                  <a:pt x="392994" y="404178"/>
                </a:cubicBezTo>
                <a:cubicBezTo>
                  <a:pt x="381635" y="409813"/>
                  <a:pt x="368229" y="404098"/>
                  <a:pt x="363220" y="391319"/>
                </a:cubicBezTo>
                <a:lnTo>
                  <a:pt x="349109" y="355600"/>
                </a:lnTo>
                <a:lnTo>
                  <a:pt x="237984" y="355600"/>
                </a:lnTo>
                <a:lnTo>
                  <a:pt x="223873" y="391319"/>
                </a:lnTo>
                <a:cubicBezTo>
                  <a:pt x="218793" y="404178"/>
                  <a:pt x="205458" y="409892"/>
                  <a:pt x="194098" y="404178"/>
                </a:cubicBezTo>
                <a:cubicBezTo>
                  <a:pt x="182739" y="398463"/>
                  <a:pt x="177588" y="383461"/>
                  <a:pt x="182668" y="370681"/>
                </a:cubicBezTo>
                <a:lnTo>
                  <a:pt x="210749" y="299641"/>
                </a:lnTo>
                <a:lnTo>
                  <a:pt x="175189" y="281861"/>
                </a:lnTo>
                <a:cubicBezTo>
                  <a:pt x="158962" y="273764"/>
                  <a:pt x="143439" y="264081"/>
                  <a:pt x="128764" y="252968"/>
                </a:cubicBezTo>
                <a:cubicBezTo>
                  <a:pt x="113736" y="266621"/>
                  <a:pt x="97296" y="278527"/>
                  <a:pt x="79728" y="288449"/>
                </a:cubicBezTo>
                <a:lnTo>
                  <a:pt x="55245" y="302101"/>
                </a:lnTo>
                <a:cubicBezTo>
                  <a:pt x="44097" y="308372"/>
                  <a:pt x="30551" y="303292"/>
                  <a:pt x="24977" y="290751"/>
                </a:cubicBezTo>
                <a:cubicBezTo>
                  <a:pt x="19403" y="278209"/>
                  <a:pt x="23918" y="262969"/>
                  <a:pt x="35066" y="256699"/>
                </a:cubicBezTo>
                <a:lnTo>
                  <a:pt x="59408" y="242967"/>
                </a:lnTo>
                <a:cubicBezTo>
                  <a:pt x="70908" y="236458"/>
                  <a:pt x="81844" y="228918"/>
                  <a:pt x="92146" y="220504"/>
                </a:cubicBezTo>
                <a:cubicBezTo>
                  <a:pt x="82409" y="210423"/>
                  <a:pt x="73237" y="199549"/>
                  <a:pt x="64699" y="188039"/>
                </a:cubicBezTo>
                <a:lnTo>
                  <a:pt x="57573" y="178356"/>
                </a:lnTo>
                <a:cubicBezTo>
                  <a:pt x="49601" y="167561"/>
                  <a:pt x="50871" y="151527"/>
                  <a:pt x="60466" y="142558"/>
                </a:cubicBezTo>
                <a:cubicBezTo>
                  <a:pt x="70062" y="133588"/>
                  <a:pt x="84314" y="135017"/>
                  <a:pt x="92287" y="145812"/>
                </a:cubicBezTo>
                <a:lnTo>
                  <a:pt x="99483" y="155496"/>
                </a:lnTo>
                <a:cubicBezTo>
                  <a:pt x="107597" y="166529"/>
                  <a:pt x="116487" y="176768"/>
                  <a:pt x="125871" y="186214"/>
                </a:cubicBezTo>
                <a:cubicBezTo>
                  <a:pt x="145274" y="162084"/>
                  <a:pt x="160584" y="133747"/>
                  <a:pt x="170674" y="102552"/>
                </a:cubicBezTo>
                <a:lnTo>
                  <a:pt x="171027" y="101600"/>
                </a:lnTo>
                <a:lnTo>
                  <a:pt x="22648" y="101600"/>
                </a:lnTo>
                <a:cubicBezTo>
                  <a:pt x="10089" y="101600"/>
                  <a:pt x="0" y="90249"/>
                  <a:pt x="0" y="76200"/>
                </a:cubicBezTo>
                <a:cubicBezTo>
                  <a:pt x="0" y="62151"/>
                  <a:pt x="10089" y="50800"/>
                  <a:pt x="22578" y="50800"/>
                </a:cubicBezTo>
                <a:lnTo>
                  <a:pt x="90311" y="50800"/>
                </a:lnTo>
                <a:lnTo>
                  <a:pt x="90311" y="25400"/>
                </a:lnTo>
                <a:cubicBezTo>
                  <a:pt x="90311" y="11351"/>
                  <a:pt x="100401" y="0"/>
                  <a:pt x="112889" y="0"/>
                </a:cubicBezTo>
                <a:close/>
                <a:moveTo>
                  <a:pt x="293511" y="214948"/>
                </a:moveTo>
                <a:lnTo>
                  <a:pt x="258022" y="304800"/>
                </a:lnTo>
                <a:lnTo>
                  <a:pt x="329001" y="304800"/>
                </a:lnTo>
                <a:lnTo>
                  <a:pt x="293511" y="214948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9423400" y="3492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NLP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890000" y="4038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 understanding of human language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54610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4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25400"/>
                </a:moveTo>
                <a:cubicBezTo>
                  <a:pt x="146191" y="25400"/>
                  <a:pt x="100542" y="54610"/>
                  <a:pt x="67310" y="89376"/>
                </a:cubicBezTo>
                <a:cubicBezTo>
                  <a:pt x="34290" y="123904"/>
                  <a:pt x="12206" y="165100"/>
                  <a:pt x="1693" y="193437"/>
                </a:cubicBezTo>
                <a:cubicBezTo>
                  <a:pt x="-635" y="199708"/>
                  <a:pt x="-635" y="206692"/>
                  <a:pt x="1693" y="212963"/>
                </a:cubicBezTo>
                <a:cubicBezTo>
                  <a:pt x="12206" y="241300"/>
                  <a:pt x="34290" y="282575"/>
                  <a:pt x="67310" y="317024"/>
                </a:cubicBezTo>
                <a:cubicBezTo>
                  <a:pt x="100542" y="351711"/>
                  <a:pt x="146191" y="381000"/>
                  <a:pt x="203200" y="381000"/>
                </a:cubicBezTo>
                <a:cubicBezTo>
                  <a:pt x="260209" y="381000"/>
                  <a:pt x="305858" y="351790"/>
                  <a:pt x="339090" y="317024"/>
                </a:cubicBezTo>
                <a:cubicBezTo>
                  <a:pt x="372110" y="282496"/>
                  <a:pt x="394194" y="241300"/>
                  <a:pt x="404707" y="212963"/>
                </a:cubicBezTo>
                <a:cubicBezTo>
                  <a:pt x="407035" y="206692"/>
                  <a:pt x="407035" y="199707"/>
                  <a:pt x="404707" y="193437"/>
                </a:cubicBezTo>
                <a:cubicBezTo>
                  <a:pt x="394194" y="165100"/>
                  <a:pt x="372110" y="123825"/>
                  <a:pt x="339090" y="89376"/>
                </a:cubicBezTo>
                <a:cubicBezTo>
                  <a:pt x="305858" y="54689"/>
                  <a:pt x="260209" y="25400"/>
                  <a:pt x="203200" y="25400"/>
                </a:cubicBezTo>
                <a:close/>
                <a:moveTo>
                  <a:pt x="101600" y="203200"/>
                </a:moveTo>
                <a:cubicBezTo>
                  <a:pt x="101600" y="140116"/>
                  <a:pt x="147125" y="88900"/>
                  <a:pt x="203200" y="88900"/>
                </a:cubicBezTo>
                <a:cubicBezTo>
                  <a:pt x="259275" y="88900"/>
                  <a:pt x="304800" y="140116"/>
                  <a:pt x="304800" y="203200"/>
                </a:cubicBezTo>
                <a:cubicBezTo>
                  <a:pt x="304800" y="266284"/>
                  <a:pt x="259275" y="317500"/>
                  <a:pt x="203200" y="317500"/>
                </a:cubicBezTo>
                <a:cubicBezTo>
                  <a:pt x="147125" y="317500"/>
                  <a:pt x="101600" y="266284"/>
                  <a:pt x="101600" y="203200"/>
                </a:cubicBezTo>
                <a:close/>
                <a:moveTo>
                  <a:pt x="203200" y="152400"/>
                </a:moveTo>
                <a:cubicBezTo>
                  <a:pt x="203200" y="180419"/>
                  <a:pt x="182951" y="203200"/>
                  <a:pt x="158044" y="203200"/>
                </a:cubicBezTo>
                <a:cubicBezTo>
                  <a:pt x="149931" y="203200"/>
                  <a:pt x="142311" y="200819"/>
                  <a:pt x="135678" y="196533"/>
                </a:cubicBezTo>
                <a:cubicBezTo>
                  <a:pt x="134973" y="205184"/>
                  <a:pt x="135608" y="214074"/>
                  <a:pt x="137724" y="222885"/>
                </a:cubicBezTo>
                <a:cubicBezTo>
                  <a:pt x="147391" y="263525"/>
                  <a:pt x="184573" y="287655"/>
                  <a:pt x="220698" y="276781"/>
                </a:cubicBezTo>
                <a:cubicBezTo>
                  <a:pt x="256822" y="265906"/>
                  <a:pt x="278271" y="224076"/>
                  <a:pt x="268605" y="183436"/>
                </a:cubicBezTo>
                <a:cubicBezTo>
                  <a:pt x="259997" y="147161"/>
                  <a:pt x="229447" y="124063"/>
                  <a:pt x="197273" y="127238"/>
                </a:cubicBezTo>
                <a:cubicBezTo>
                  <a:pt x="201013" y="134620"/>
                  <a:pt x="203200" y="143193"/>
                  <a:pt x="203200" y="152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5651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Computer Vision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24000" y="6197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Machines that interpret visual info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3000" y="5461000"/>
            <a:ext cx="330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07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4" name="Text 22"/>
          <p:cNvSpPr/>
          <p:nvPr/>
        </p:nvSpPr>
        <p:spPr>
          <a:xfrm>
            <a:off x="5740400" y="5651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Robotics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07000" y="6197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Physical AI agents for real-world tasks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36000" y="5461000"/>
            <a:ext cx="3302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890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9700" y="19050"/>
                </a:moveTo>
                <a:cubicBezTo>
                  <a:pt x="139700" y="8493"/>
                  <a:pt x="131207" y="0"/>
                  <a:pt x="120650" y="0"/>
                </a:cubicBezTo>
                <a:cubicBezTo>
                  <a:pt x="110093" y="0"/>
                  <a:pt x="101600" y="8493"/>
                  <a:pt x="101600" y="19050"/>
                </a:cubicBezTo>
                <a:lnTo>
                  <a:pt x="101600" y="50800"/>
                </a:lnTo>
                <a:cubicBezTo>
                  <a:pt x="73581" y="50800"/>
                  <a:pt x="50800" y="73581"/>
                  <a:pt x="50800" y="101600"/>
                </a:cubicBezTo>
                <a:lnTo>
                  <a:pt x="19050" y="101600"/>
                </a:lnTo>
                <a:cubicBezTo>
                  <a:pt x="8493" y="101600"/>
                  <a:pt x="0" y="110093"/>
                  <a:pt x="0" y="120650"/>
                </a:cubicBezTo>
                <a:cubicBezTo>
                  <a:pt x="0" y="131207"/>
                  <a:pt x="8493" y="139700"/>
                  <a:pt x="19050" y="139700"/>
                </a:cubicBezTo>
                <a:lnTo>
                  <a:pt x="50800" y="139700"/>
                </a:lnTo>
                <a:lnTo>
                  <a:pt x="50800" y="184150"/>
                </a:lnTo>
                <a:lnTo>
                  <a:pt x="19050" y="184150"/>
                </a:lnTo>
                <a:cubicBezTo>
                  <a:pt x="8493" y="184150"/>
                  <a:pt x="0" y="192643"/>
                  <a:pt x="0" y="203200"/>
                </a:cubicBezTo>
                <a:cubicBezTo>
                  <a:pt x="0" y="213757"/>
                  <a:pt x="8493" y="222250"/>
                  <a:pt x="19050" y="222250"/>
                </a:cubicBezTo>
                <a:lnTo>
                  <a:pt x="50800" y="222250"/>
                </a:lnTo>
                <a:lnTo>
                  <a:pt x="50800" y="266700"/>
                </a:lnTo>
                <a:lnTo>
                  <a:pt x="19050" y="266700"/>
                </a:lnTo>
                <a:cubicBezTo>
                  <a:pt x="8493" y="266700"/>
                  <a:pt x="0" y="275193"/>
                  <a:pt x="0" y="285750"/>
                </a:cubicBezTo>
                <a:cubicBezTo>
                  <a:pt x="0" y="296307"/>
                  <a:pt x="8493" y="304800"/>
                  <a:pt x="19050" y="304800"/>
                </a:cubicBezTo>
                <a:lnTo>
                  <a:pt x="50800" y="304800"/>
                </a:lnTo>
                <a:cubicBezTo>
                  <a:pt x="50800" y="332819"/>
                  <a:pt x="73581" y="355600"/>
                  <a:pt x="101600" y="355600"/>
                </a:cubicBezTo>
                <a:lnTo>
                  <a:pt x="101600" y="387350"/>
                </a:lnTo>
                <a:cubicBezTo>
                  <a:pt x="101600" y="397907"/>
                  <a:pt x="110093" y="406400"/>
                  <a:pt x="120650" y="406400"/>
                </a:cubicBezTo>
                <a:cubicBezTo>
                  <a:pt x="131207" y="406400"/>
                  <a:pt x="139700" y="397907"/>
                  <a:pt x="139700" y="387350"/>
                </a:cubicBezTo>
                <a:lnTo>
                  <a:pt x="139700" y="355600"/>
                </a:lnTo>
                <a:lnTo>
                  <a:pt x="184150" y="355600"/>
                </a:lnTo>
                <a:lnTo>
                  <a:pt x="184150" y="387350"/>
                </a:lnTo>
                <a:cubicBezTo>
                  <a:pt x="184150" y="397907"/>
                  <a:pt x="192643" y="406400"/>
                  <a:pt x="203200" y="406400"/>
                </a:cubicBezTo>
                <a:cubicBezTo>
                  <a:pt x="213757" y="406400"/>
                  <a:pt x="222250" y="397907"/>
                  <a:pt x="222250" y="387350"/>
                </a:cubicBezTo>
                <a:lnTo>
                  <a:pt x="222250" y="355600"/>
                </a:lnTo>
                <a:lnTo>
                  <a:pt x="266700" y="355600"/>
                </a:lnTo>
                <a:lnTo>
                  <a:pt x="266700" y="387350"/>
                </a:lnTo>
                <a:cubicBezTo>
                  <a:pt x="266700" y="397907"/>
                  <a:pt x="275193" y="406400"/>
                  <a:pt x="285750" y="406400"/>
                </a:cubicBezTo>
                <a:cubicBezTo>
                  <a:pt x="296307" y="406400"/>
                  <a:pt x="304800" y="397907"/>
                  <a:pt x="304800" y="387350"/>
                </a:cubicBezTo>
                <a:lnTo>
                  <a:pt x="304800" y="355600"/>
                </a:lnTo>
                <a:cubicBezTo>
                  <a:pt x="332819" y="355600"/>
                  <a:pt x="355600" y="332819"/>
                  <a:pt x="355600" y="304800"/>
                </a:cubicBezTo>
                <a:lnTo>
                  <a:pt x="387350" y="304800"/>
                </a:lnTo>
                <a:cubicBezTo>
                  <a:pt x="397907" y="304800"/>
                  <a:pt x="406400" y="296307"/>
                  <a:pt x="406400" y="285750"/>
                </a:cubicBezTo>
                <a:cubicBezTo>
                  <a:pt x="406400" y="275193"/>
                  <a:pt x="397907" y="266700"/>
                  <a:pt x="387350" y="266700"/>
                </a:cubicBezTo>
                <a:lnTo>
                  <a:pt x="355600" y="266700"/>
                </a:lnTo>
                <a:lnTo>
                  <a:pt x="355600" y="222250"/>
                </a:lnTo>
                <a:lnTo>
                  <a:pt x="387350" y="222250"/>
                </a:lnTo>
                <a:cubicBezTo>
                  <a:pt x="397907" y="222250"/>
                  <a:pt x="406400" y="213757"/>
                  <a:pt x="406400" y="203200"/>
                </a:cubicBezTo>
                <a:cubicBezTo>
                  <a:pt x="406400" y="192643"/>
                  <a:pt x="397907" y="184150"/>
                  <a:pt x="387350" y="184150"/>
                </a:cubicBezTo>
                <a:lnTo>
                  <a:pt x="355600" y="184150"/>
                </a:lnTo>
                <a:lnTo>
                  <a:pt x="355600" y="139700"/>
                </a:lnTo>
                <a:lnTo>
                  <a:pt x="387350" y="139700"/>
                </a:lnTo>
                <a:cubicBezTo>
                  <a:pt x="397907" y="139700"/>
                  <a:pt x="406400" y="131207"/>
                  <a:pt x="406400" y="120650"/>
                </a:cubicBezTo>
                <a:cubicBezTo>
                  <a:pt x="406400" y="110093"/>
                  <a:pt x="397907" y="101600"/>
                  <a:pt x="387350" y="101600"/>
                </a:cubicBezTo>
                <a:lnTo>
                  <a:pt x="355600" y="101600"/>
                </a:lnTo>
                <a:cubicBezTo>
                  <a:pt x="355600" y="73581"/>
                  <a:pt x="332819" y="50800"/>
                  <a:pt x="304800" y="50800"/>
                </a:cubicBezTo>
                <a:lnTo>
                  <a:pt x="304800" y="19050"/>
                </a:lnTo>
                <a:cubicBezTo>
                  <a:pt x="304800" y="8493"/>
                  <a:pt x="296307" y="0"/>
                  <a:pt x="285750" y="0"/>
                </a:cubicBezTo>
                <a:cubicBezTo>
                  <a:pt x="275193" y="0"/>
                  <a:pt x="266700" y="8493"/>
                  <a:pt x="266700" y="19050"/>
                </a:cubicBezTo>
                <a:lnTo>
                  <a:pt x="266700" y="50800"/>
                </a:lnTo>
                <a:lnTo>
                  <a:pt x="222250" y="50800"/>
                </a:lnTo>
                <a:lnTo>
                  <a:pt x="222250" y="19050"/>
                </a:lnTo>
                <a:cubicBezTo>
                  <a:pt x="222250" y="8493"/>
                  <a:pt x="213757" y="0"/>
                  <a:pt x="203200" y="0"/>
                </a:cubicBezTo>
                <a:cubicBezTo>
                  <a:pt x="192643" y="0"/>
                  <a:pt x="184150" y="8493"/>
                  <a:pt x="184150" y="19050"/>
                </a:cubicBezTo>
                <a:lnTo>
                  <a:pt x="184150" y="50800"/>
                </a:lnTo>
                <a:lnTo>
                  <a:pt x="139700" y="50800"/>
                </a:lnTo>
                <a:lnTo>
                  <a:pt x="139700" y="19050"/>
                </a:lnTo>
                <a:close/>
                <a:moveTo>
                  <a:pt x="127000" y="101600"/>
                </a:moveTo>
                <a:lnTo>
                  <a:pt x="279400" y="101600"/>
                </a:lnTo>
                <a:cubicBezTo>
                  <a:pt x="293449" y="101600"/>
                  <a:pt x="304800" y="112951"/>
                  <a:pt x="304800" y="127000"/>
                </a:cubicBezTo>
                <a:lnTo>
                  <a:pt x="304800" y="279400"/>
                </a:lnTo>
                <a:cubicBezTo>
                  <a:pt x="304800" y="293449"/>
                  <a:pt x="293449" y="304800"/>
                  <a:pt x="279400" y="304800"/>
                </a:cubicBezTo>
                <a:lnTo>
                  <a:pt x="127000" y="304800"/>
                </a:lnTo>
                <a:cubicBezTo>
                  <a:pt x="112951" y="304800"/>
                  <a:pt x="101600" y="293449"/>
                  <a:pt x="101600" y="279400"/>
                </a:cubicBezTo>
                <a:lnTo>
                  <a:pt x="101600" y="127000"/>
                </a:lnTo>
                <a:cubicBezTo>
                  <a:pt x="101600" y="112951"/>
                  <a:pt x="112951" y="101600"/>
                  <a:pt x="127000" y="101600"/>
                </a:cubicBezTo>
                <a:close/>
                <a:moveTo>
                  <a:pt x="139700" y="139700"/>
                </a:moveTo>
                <a:lnTo>
                  <a:pt x="139700" y="266700"/>
                </a:lnTo>
                <a:lnTo>
                  <a:pt x="266700" y="266700"/>
                </a:lnTo>
                <a:lnTo>
                  <a:pt x="266700" y="139700"/>
                </a:lnTo>
                <a:lnTo>
                  <a:pt x="139700" y="139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423400" y="5651500"/>
            <a:ext cx="228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890000" y="61976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Knowledge-based reasoning systems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319000" y="3302000"/>
            <a:ext cx="2667000" cy="39370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FF7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19000" y="3556000"/>
            <a:ext cx="2667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Focus</a:t>
            </a:r>
            <a:endParaRPr lang="en-US" sz="18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 rely on </a:t>
            </a:r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encoded knowledge</a:t>
            </a:r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rather than learning from data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1524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778000" y="1968500"/>
            <a:ext cx="1270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Definition: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"An expert system is an intelligent computer program that uses knowledge and inference procedures to solve problems that require significant human expertise."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 Feigenbaum, 1982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3746500"/>
            <a:ext cx="6604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is an Expert System?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 computer application that uses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rules, facts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and reasoning to solve complex problems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Simulates the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decision-making ability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 a human expert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Works in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narrow, well-defined domain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Idea: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Capture human expertise and make it available through a computer program — preserving knowledge that would otherwise be lost.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37465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63000" y="39370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Simple Example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763000" y="4508500"/>
            <a:ext cx="5842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Car Troubleshooting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R1: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engine won't start AND battery is dead THEN replace battery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R2: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engine cranks AND no spark THEN check ignition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R3: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overheating AND coolant low THEN add coolant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system asks questions, applies rules, and gives advice like a mechanic.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 &amp; Evolution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4572000"/>
            <a:ext cx="13716000" cy="50800"/>
          </a:xfrm>
          <a:prstGeom prst="rect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651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95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1965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2286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413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DENDRAL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Stanford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ES — chemical compound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8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0000" y="495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1972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83000" y="5588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10000" y="5715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MYCIN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Stanford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Diagnosed infections — 69% accuracy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85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7000" y="495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1982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50000" y="2286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77000" y="2413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XCON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VAX config — saved $40M/year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52000" y="4419600"/>
            <a:ext cx="355600" cy="355600"/>
          </a:xfrm>
          <a:prstGeom prst="ellipse">
            <a:avLst/>
          </a:prstGeom>
          <a:solidFill>
            <a:srgbClr val="FF7F5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495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1990s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17000" y="5588000"/>
            <a:ext cx="2286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01600" dist="25400" dir="5400000">
              <a:srgbClr val="000000">
                <a:alpha val="2353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5715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CLIPS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NASA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General rule-based ES tool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319000" y="4419600"/>
            <a:ext cx="355600" cy="355600"/>
          </a:xfrm>
          <a:prstGeom prst="ellipse">
            <a:avLst/>
          </a:prstGeom>
          <a:solidFill>
            <a:srgbClr val="2E5E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11000" y="4953000"/>
            <a:ext cx="139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2000s+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684000" y="2286000"/>
            <a:ext cx="2286000" cy="1778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11811000" y="2413000"/>
            <a:ext cx="20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AI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Era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+ Machine Learning integration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70000" y="7747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DENDRAL (1965) to Modern Hybrid Systems — Expert Systems have evolved over 60 years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 &amp; Capabilities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makes expert systems unique and powerful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28855" y="0"/>
                </a:moveTo>
                <a:lnTo>
                  <a:pt x="328880" y="0"/>
                </a:lnTo>
                <a:cubicBezTo>
                  <a:pt x="352544" y="0"/>
                  <a:pt x="371832" y="19467"/>
                  <a:pt x="370939" y="43041"/>
                </a:cubicBezTo>
                <a:cubicBezTo>
                  <a:pt x="370761" y="47774"/>
                  <a:pt x="370582" y="52507"/>
                  <a:pt x="370314" y="57150"/>
                </a:cubicBezTo>
                <a:lnTo>
                  <a:pt x="414605" y="57150"/>
                </a:lnTo>
                <a:cubicBezTo>
                  <a:pt x="437912" y="57150"/>
                  <a:pt x="458450" y="76438"/>
                  <a:pt x="456664" y="101620"/>
                </a:cubicBezTo>
                <a:cubicBezTo>
                  <a:pt x="449967" y="194221"/>
                  <a:pt x="402640" y="245120"/>
                  <a:pt x="351294" y="271730"/>
                </a:cubicBezTo>
                <a:cubicBezTo>
                  <a:pt x="337185" y="279053"/>
                  <a:pt x="322808" y="284500"/>
                  <a:pt x="309146" y="288518"/>
                </a:cubicBezTo>
                <a:cubicBezTo>
                  <a:pt x="291108" y="314057"/>
                  <a:pt x="272355" y="327541"/>
                  <a:pt x="257443" y="334774"/>
                </a:cubicBezTo>
                <a:lnTo>
                  <a:pt x="257443" y="400050"/>
                </a:lnTo>
                <a:lnTo>
                  <a:pt x="314593" y="400050"/>
                </a:lnTo>
                <a:cubicBezTo>
                  <a:pt x="330398" y="400050"/>
                  <a:pt x="343168" y="412819"/>
                  <a:pt x="343168" y="428625"/>
                </a:cubicBezTo>
                <a:cubicBezTo>
                  <a:pt x="343168" y="444431"/>
                  <a:pt x="330398" y="457200"/>
                  <a:pt x="314593" y="457200"/>
                </a:cubicBezTo>
                <a:lnTo>
                  <a:pt x="143143" y="457200"/>
                </a:lnTo>
                <a:cubicBezTo>
                  <a:pt x="127337" y="457200"/>
                  <a:pt x="114568" y="444431"/>
                  <a:pt x="114568" y="428625"/>
                </a:cubicBezTo>
                <a:cubicBezTo>
                  <a:pt x="114568" y="412819"/>
                  <a:pt x="127337" y="400050"/>
                  <a:pt x="143143" y="400050"/>
                </a:cubicBezTo>
                <a:lnTo>
                  <a:pt x="200293" y="400050"/>
                </a:lnTo>
                <a:lnTo>
                  <a:pt x="200293" y="334774"/>
                </a:lnTo>
                <a:cubicBezTo>
                  <a:pt x="186005" y="327898"/>
                  <a:pt x="168235" y="315129"/>
                  <a:pt x="150912" y="291644"/>
                </a:cubicBezTo>
                <a:cubicBezTo>
                  <a:pt x="134481" y="287357"/>
                  <a:pt x="116622" y="280839"/>
                  <a:pt x="99209" y="271016"/>
                </a:cubicBezTo>
                <a:cubicBezTo>
                  <a:pt x="50899" y="243959"/>
                  <a:pt x="7322" y="192971"/>
                  <a:pt x="1072" y="101441"/>
                </a:cubicBezTo>
                <a:cubicBezTo>
                  <a:pt x="-625" y="76349"/>
                  <a:pt x="19824" y="57061"/>
                  <a:pt x="43130" y="57061"/>
                </a:cubicBezTo>
                <a:lnTo>
                  <a:pt x="87422" y="57061"/>
                </a:lnTo>
                <a:cubicBezTo>
                  <a:pt x="87154" y="52417"/>
                  <a:pt x="86975" y="47774"/>
                  <a:pt x="86797" y="42952"/>
                </a:cubicBezTo>
                <a:cubicBezTo>
                  <a:pt x="85904" y="19288"/>
                  <a:pt x="105192" y="-89"/>
                  <a:pt x="128855" y="-89"/>
                </a:cubicBezTo>
                <a:close/>
                <a:moveTo>
                  <a:pt x="90636" y="100013"/>
                </a:moveTo>
                <a:lnTo>
                  <a:pt x="43845" y="100013"/>
                </a:lnTo>
                <a:cubicBezTo>
                  <a:pt x="49381" y="175647"/>
                  <a:pt x="84118" y="213509"/>
                  <a:pt x="119926" y="233601"/>
                </a:cubicBezTo>
                <a:cubicBezTo>
                  <a:pt x="107067" y="200293"/>
                  <a:pt x="96441" y="156805"/>
                  <a:pt x="90636" y="100013"/>
                </a:cubicBezTo>
                <a:close/>
                <a:moveTo>
                  <a:pt x="339328" y="229314"/>
                </a:moveTo>
                <a:cubicBezTo>
                  <a:pt x="375493" y="208062"/>
                  <a:pt x="408176" y="170289"/>
                  <a:pt x="413712" y="100013"/>
                </a:cubicBezTo>
                <a:lnTo>
                  <a:pt x="367010" y="100013"/>
                </a:lnTo>
                <a:cubicBezTo>
                  <a:pt x="361474" y="154394"/>
                  <a:pt x="351473" y="196632"/>
                  <a:pt x="339328" y="22931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159000" y="2095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Performance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Operates at the level of a human expert in the domain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69000" y="1905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3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095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Specific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Expertise limited to a narrow, well-defined domain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668000" y="1905000"/>
            <a:ext cx="4318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2000" y="2222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183773"/>
                </a:moveTo>
                <a:cubicBezTo>
                  <a:pt x="442096" y="192524"/>
                  <a:pt x="424747" y="199579"/>
                  <a:pt x="406683" y="205204"/>
                </a:cubicBezTo>
                <a:cubicBezTo>
                  <a:pt x="358718" y="220206"/>
                  <a:pt x="295751" y="228600"/>
                  <a:pt x="228600" y="228600"/>
                </a:cubicBezTo>
                <a:cubicBezTo>
                  <a:pt x="161449" y="228600"/>
                  <a:pt x="98380" y="220117"/>
                  <a:pt x="50517" y="205204"/>
                </a:cubicBezTo>
                <a:cubicBezTo>
                  <a:pt x="32555" y="199579"/>
                  <a:pt x="15104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102360" y="328613"/>
                  <a:pt x="228600" y="328613"/>
                </a:cubicBezTo>
                <a:cubicBezTo>
                  <a:pt x="354840" y="328613"/>
                  <a:pt x="457200" y="296644"/>
                  <a:pt x="457200" y="257175"/>
                </a:cubicBezTo>
                <a:lnTo>
                  <a:pt x="457200" y="183773"/>
                </a:lnTo>
                <a:close/>
                <a:moveTo>
                  <a:pt x="457200" y="114300"/>
                </a:moveTo>
                <a:lnTo>
                  <a:pt x="457200" y="71438"/>
                </a:lnTo>
                <a:cubicBezTo>
                  <a:pt x="457200" y="31968"/>
                  <a:pt x="354840" y="0"/>
                  <a:pt x="228600" y="0"/>
                </a:cubicBezTo>
                <a:cubicBezTo>
                  <a:pt x="102360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102360" y="185738"/>
                  <a:pt x="228600" y="185738"/>
                </a:cubicBezTo>
                <a:cubicBezTo>
                  <a:pt x="354840" y="185738"/>
                  <a:pt x="457200" y="153769"/>
                  <a:pt x="457200" y="114300"/>
                </a:cubicBezTo>
                <a:close/>
                <a:moveTo>
                  <a:pt x="406683" y="348079"/>
                </a:moveTo>
                <a:cubicBezTo>
                  <a:pt x="358820" y="362992"/>
                  <a:pt x="295853" y="371475"/>
                  <a:pt x="228600" y="371475"/>
                </a:cubicBezTo>
                <a:cubicBezTo>
                  <a:pt x="161347" y="371475"/>
                  <a:pt x="98380" y="362992"/>
                  <a:pt x="50517" y="348079"/>
                </a:cubicBezTo>
                <a:cubicBezTo>
                  <a:pt x="32555" y="342454"/>
                  <a:pt x="15104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102360" y="457200"/>
                  <a:pt x="228600" y="457200"/>
                </a:cubicBezTo>
                <a:cubicBezTo>
                  <a:pt x="354840" y="457200"/>
                  <a:pt x="457200" y="425232"/>
                  <a:pt x="457200" y="385763"/>
                </a:cubicBezTo>
                <a:lnTo>
                  <a:pt x="457200" y="326648"/>
                </a:lnTo>
                <a:cubicBezTo>
                  <a:pt x="442096" y="335399"/>
                  <a:pt x="424747" y="342454"/>
                  <a:pt x="406683" y="348079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1557000" y="2095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Knowledge-Based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encoded knowledge rather than algorithms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70000" y="3683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4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14300" y="185738"/>
                </a:moveTo>
                <a:cubicBezTo>
                  <a:pt x="130071" y="185738"/>
                  <a:pt x="142875" y="198542"/>
                  <a:pt x="142875" y="214313"/>
                </a:cubicBezTo>
                <a:cubicBezTo>
                  <a:pt x="142875" y="230083"/>
                  <a:pt x="130071" y="242888"/>
                  <a:pt x="114300" y="242888"/>
                </a:cubicBezTo>
                <a:cubicBezTo>
                  <a:pt x="98529" y="242888"/>
                  <a:pt x="85725" y="230083"/>
                  <a:pt x="85725" y="214313"/>
                </a:cubicBezTo>
                <a:cubicBezTo>
                  <a:pt x="85725" y="198542"/>
                  <a:pt x="98529" y="185738"/>
                  <a:pt x="114300" y="185738"/>
                </a:cubicBezTo>
                <a:close/>
                <a:moveTo>
                  <a:pt x="228600" y="185738"/>
                </a:moveTo>
                <a:cubicBezTo>
                  <a:pt x="244371" y="185738"/>
                  <a:pt x="257175" y="198542"/>
                  <a:pt x="257175" y="214313"/>
                </a:cubicBezTo>
                <a:cubicBezTo>
                  <a:pt x="257175" y="230083"/>
                  <a:pt x="244371" y="242888"/>
                  <a:pt x="228600" y="242888"/>
                </a:cubicBezTo>
                <a:cubicBezTo>
                  <a:pt x="212829" y="242888"/>
                  <a:pt x="200025" y="230083"/>
                  <a:pt x="200025" y="214313"/>
                </a:cubicBezTo>
                <a:cubicBezTo>
                  <a:pt x="200025" y="198542"/>
                  <a:pt x="212829" y="185738"/>
                  <a:pt x="228600" y="185738"/>
                </a:cubicBezTo>
                <a:close/>
                <a:moveTo>
                  <a:pt x="314325" y="214313"/>
                </a:moveTo>
                <a:cubicBezTo>
                  <a:pt x="314325" y="198542"/>
                  <a:pt x="327129" y="185738"/>
                  <a:pt x="342900" y="185738"/>
                </a:cubicBezTo>
                <a:cubicBezTo>
                  <a:pt x="358671" y="185738"/>
                  <a:pt x="371475" y="198542"/>
                  <a:pt x="371475" y="214313"/>
                </a:cubicBezTo>
                <a:cubicBezTo>
                  <a:pt x="371475" y="230083"/>
                  <a:pt x="358671" y="242888"/>
                  <a:pt x="342900" y="242888"/>
                </a:cubicBezTo>
                <a:cubicBezTo>
                  <a:pt x="327129" y="242888"/>
                  <a:pt x="314325" y="230083"/>
                  <a:pt x="314325" y="21431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159000" y="3873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Explainable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 explain reasoning — answers "How" and "Why"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969000" y="3683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2769" y="57150"/>
                  <a:pt x="0" y="69919"/>
                  <a:pt x="0" y="85725"/>
                </a:cubicBezTo>
                <a:cubicBezTo>
                  <a:pt x="0" y="101531"/>
                  <a:pt x="12769" y="114300"/>
                  <a:pt x="28575" y="114300"/>
                </a:cubicBezTo>
                <a:lnTo>
                  <a:pt x="105995" y="114300"/>
                </a:lnTo>
                <a:cubicBezTo>
                  <a:pt x="116979" y="139571"/>
                  <a:pt x="142161" y="157163"/>
                  <a:pt x="171450" y="157163"/>
                </a:cubicBezTo>
                <a:cubicBezTo>
                  <a:pt x="200739" y="157163"/>
                  <a:pt x="225921" y="139571"/>
                  <a:pt x="236905" y="114300"/>
                </a:cubicBezTo>
                <a:lnTo>
                  <a:pt x="428625" y="114300"/>
                </a:lnTo>
                <a:cubicBezTo>
                  <a:pt x="444431" y="114300"/>
                  <a:pt x="457200" y="101531"/>
                  <a:pt x="457200" y="85725"/>
                </a:cubicBezTo>
                <a:cubicBezTo>
                  <a:pt x="457200" y="69919"/>
                  <a:pt x="444431" y="57150"/>
                  <a:pt x="428625" y="57150"/>
                </a:cubicBezTo>
                <a:lnTo>
                  <a:pt x="236905" y="57150"/>
                </a:lnTo>
                <a:cubicBezTo>
                  <a:pt x="225921" y="31879"/>
                  <a:pt x="200739" y="14288"/>
                  <a:pt x="171450" y="14288"/>
                </a:cubicBezTo>
                <a:cubicBezTo>
                  <a:pt x="142161" y="14288"/>
                  <a:pt x="116979" y="31879"/>
                  <a:pt x="105995" y="57150"/>
                </a:cubicBezTo>
                <a:lnTo>
                  <a:pt x="28575" y="57150"/>
                </a:lnTo>
                <a:close/>
                <a:moveTo>
                  <a:pt x="28575" y="200025"/>
                </a:move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248870" y="257175"/>
                </a:lnTo>
                <a:cubicBezTo>
                  <a:pt x="259854" y="282446"/>
                  <a:pt x="285036" y="300038"/>
                  <a:pt x="314325" y="300038"/>
                </a:cubicBezTo>
                <a:cubicBezTo>
                  <a:pt x="343614" y="300038"/>
                  <a:pt x="368796" y="282446"/>
                  <a:pt x="379780" y="257175"/>
                </a:cubicBezTo>
                <a:lnTo>
                  <a:pt x="428625" y="257175"/>
                </a:lnTo>
                <a:cubicBezTo>
                  <a:pt x="444431" y="257175"/>
                  <a:pt x="457200" y="244406"/>
                  <a:pt x="457200" y="228600"/>
                </a:cubicBezTo>
                <a:cubicBezTo>
                  <a:pt x="457200" y="212794"/>
                  <a:pt x="444431" y="200025"/>
                  <a:pt x="428625" y="200025"/>
                </a:cubicBezTo>
                <a:lnTo>
                  <a:pt x="379780" y="200025"/>
                </a:lnTo>
                <a:cubicBezTo>
                  <a:pt x="368796" y="174754"/>
                  <a:pt x="343614" y="157163"/>
                  <a:pt x="314325" y="157163"/>
                </a:cubicBezTo>
                <a:cubicBezTo>
                  <a:pt x="285036" y="157163"/>
                  <a:pt x="259854" y="174754"/>
                  <a:pt x="248870" y="200025"/>
                </a:cubicBezTo>
                <a:lnTo>
                  <a:pt x="28575" y="200025"/>
                </a:lnTo>
                <a:close/>
                <a:moveTo>
                  <a:pt x="28575" y="342900"/>
                </a:moveTo>
                <a:cubicBezTo>
                  <a:pt x="12769" y="342900"/>
                  <a:pt x="0" y="355669"/>
                  <a:pt x="0" y="371475"/>
                </a:cubicBezTo>
                <a:cubicBezTo>
                  <a:pt x="0" y="387281"/>
                  <a:pt x="12769" y="400050"/>
                  <a:pt x="28575" y="400050"/>
                </a:cubicBezTo>
                <a:lnTo>
                  <a:pt x="77420" y="400050"/>
                </a:lnTo>
                <a:cubicBezTo>
                  <a:pt x="88404" y="425321"/>
                  <a:pt x="113586" y="442913"/>
                  <a:pt x="142875" y="442913"/>
                </a:cubicBezTo>
                <a:cubicBezTo>
                  <a:pt x="172164" y="442913"/>
                  <a:pt x="197346" y="425321"/>
                  <a:pt x="208330" y="400050"/>
                </a:cubicBez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cubicBezTo>
                  <a:pt x="457200" y="355669"/>
                  <a:pt x="444431" y="342900"/>
                  <a:pt x="428625" y="342900"/>
                </a:cubicBezTo>
                <a:lnTo>
                  <a:pt x="208330" y="342900"/>
                </a:lnTo>
                <a:cubicBezTo>
                  <a:pt x="197346" y="317629"/>
                  <a:pt x="172164" y="300038"/>
                  <a:pt x="142875" y="300038"/>
                </a:cubicBezTo>
                <a:cubicBezTo>
                  <a:pt x="113586" y="300038"/>
                  <a:pt x="88404" y="317629"/>
                  <a:pt x="77420" y="342900"/>
                </a:cubicBezTo>
                <a:lnTo>
                  <a:pt x="28575" y="3429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873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Flexible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KB can be updated without changing the program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0" y="3683000"/>
            <a:ext cx="4318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2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1557000" y="3873500"/>
            <a:ext cx="317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Reliable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Consistent, never gets tired or bored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70000" y="5461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4000" y="577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2159000" y="5651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Available 24/7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 retires, bored, or takes vacations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69000" y="5461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3000" y="5778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71438"/>
                </a:moveTo>
                <a:cubicBezTo>
                  <a:pt x="0" y="47774"/>
                  <a:pt x="19199" y="28575"/>
                  <a:pt x="42863" y="28575"/>
                </a:cubicBezTo>
                <a:lnTo>
                  <a:pt x="128588" y="28575"/>
                </a:lnTo>
                <a:cubicBezTo>
                  <a:pt x="152251" y="28575"/>
                  <a:pt x="171450" y="47774"/>
                  <a:pt x="171450" y="71438"/>
                </a:cubicBezTo>
                <a:lnTo>
                  <a:pt x="171450" y="85725"/>
                </a:lnTo>
                <a:lnTo>
                  <a:pt x="285750" y="85725"/>
                </a:lnTo>
                <a:lnTo>
                  <a:pt x="285750" y="71438"/>
                </a:lnTo>
                <a:cubicBezTo>
                  <a:pt x="285750" y="47774"/>
                  <a:pt x="304949" y="28575"/>
                  <a:pt x="328613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157163"/>
                </a:lnTo>
                <a:cubicBezTo>
                  <a:pt x="457200" y="180826"/>
                  <a:pt x="438001" y="200025"/>
                  <a:pt x="414338" y="200025"/>
                </a:cubicBezTo>
                <a:lnTo>
                  <a:pt x="328613" y="200025"/>
                </a:lnTo>
                <a:cubicBezTo>
                  <a:pt x="304949" y="200025"/>
                  <a:pt x="285750" y="180826"/>
                  <a:pt x="285750" y="157163"/>
                </a:cubicBezTo>
                <a:lnTo>
                  <a:pt x="285750" y="142875"/>
                </a:lnTo>
                <a:lnTo>
                  <a:pt x="171450" y="142875"/>
                </a:lnTo>
                <a:lnTo>
                  <a:pt x="171450" y="157163"/>
                </a:lnTo>
                <a:cubicBezTo>
                  <a:pt x="171450" y="163681"/>
                  <a:pt x="169932" y="169932"/>
                  <a:pt x="167342" y="175468"/>
                </a:cubicBezTo>
                <a:lnTo>
                  <a:pt x="228600" y="257175"/>
                </a:lnTo>
                <a:lnTo>
                  <a:pt x="300038" y="257175"/>
                </a:lnTo>
                <a:cubicBezTo>
                  <a:pt x="323701" y="257175"/>
                  <a:pt x="342900" y="276374"/>
                  <a:pt x="342900" y="300038"/>
                </a:cubicBezTo>
                <a:lnTo>
                  <a:pt x="342900" y="385763"/>
                </a:lnTo>
                <a:cubicBezTo>
                  <a:pt x="342900" y="409426"/>
                  <a:pt x="323701" y="428625"/>
                  <a:pt x="300038" y="428625"/>
                </a:cubicBezTo>
                <a:lnTo>
                  <a:pt x="214313" y="428625"/>
                </a:lnTo>
                <a:cubicBezTo>
                  <a:pt x="190649" y="428625"/>
                  <a:pt x="171450" y="409426"/>
                  <a:pt x="171450" y="385763"/>
                </a:cubicBezTo>
                <a:lnTo>
                  <a:pt x="171450" y="300038"/>
                </a:lnTo>
                <a:cubicBezTo>
                  <a:pt x="171450" y="293519"/>
                  <a:pt x="172968" y="287268"/>
                  <a:pt x="175558" y="281732"/>
                </a:cubicBezTo>
                <a:lnTo>
                  <a:pt x="114300" y="200025"/>
                </a:lnTo>
                <a:lnTo>
                  <a:pt x="42863" y="200025"/>
                </a:lnTo>
                <a:cubicBezTo>
                  <a:pt x="19199" y="200025"/>
                  <a:pt x="0" y="180826"/>
                  <a:pt x="0" y="157163"/>
                </a:cubicBezTo>
                <a:lnTo>
                  <a:pt x="0" y="7143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56515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Symbolic Reasoning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symbols and rules, not just numbers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668000" y="5461000"/>
            <a:ext cx="4318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0922000" y="565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separation of knowledge from reasoning is the key architectural principle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6858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Diagnosis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Identify faults or diseases from symptoms — e.g., medical diagnosis systems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Interpretation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Analyze data and draw conclusions — e.g., image analysis, speech understanding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Monitoring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Compare observations to expected behavior — e.g., system monitoring, process control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Prediction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Forecast future outcomes from current data — e.g., weather, market trends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2000" y="19050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Planning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Develop action sequences to achieve goals — e.g., project planning, logistics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6. Design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Configure systems per specifications — e.g., computer configuration (XCON)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7. Debugging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Recommend solutions for system failures — e.g., software/hardware troubleshooting</a:t>
            </a:r>
            <a:endParaRPr lang="en-US" sz="22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8. Instruction</a:t>
            </a:r>
            <a:endParaRPr lang="en-US" sz="22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Provide intelligent tutoring — e.g., educational systems, training simulators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0000" y="1905000"/>
            <a:ext cx="4318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Purpose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381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Rule-Based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Uses IF-THEN production rules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Frame-Based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 data structures with slots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Fuzzy Logic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Handles uncertainty and imprecision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Neural 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Combines neural networks with rules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69000" y="1905000"/>
            <a:ext cx="4318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Complexity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23000" y="2730500"/>
            <a:ext cx="381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Shallow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rules for well-defined problems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Tax calculation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Deep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Meta-knowledge for complex reasoning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Advanced medical diagnosis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68000" y="1905000"/>
            <a:ext cx="4318000" cy="63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10668000" y="1905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Dynamism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22000" y="2730500"/>
            <a:ext cx="38100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Fixed knowledge domains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Mineral classification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Dynamic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Adapt to changing environments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Ex: Financial trading systems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 of Expert Systems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architecture behind intelligent reasoning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3556000"/>
            <a:ext cx="1778000" cy="1016000"/>
          </a:xfrm>
          <a:prstGeom prst="roundRect">
            <a:avLst>
              <a:gd name="adj" fmla="val 12000"/>
            </a:avLst>
          </a:prstGeom>
          <a:solidFill>
            <a:srgbClr val="2E5E8A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3810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225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7" name="Shape 5"/>
          <p:cNvSpPr/>
          <p:nvPr/>
        </p:nvSpPr>
        <p:spPr>
          <a:xfrm>
            <a:off x="3302000" y="3175000"/>
            <a:ext cx="2032000" cy="177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02000" y="3175000"/>
            <a:ext cx="203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Input/Output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975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6477000" y="3048000"/>
            <a:ext cx="2540000" cy="203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6477000" y="3048000"/>
            <a:ext cx="254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Engine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Reasoning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805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10160000" y="3048000"/>
            <a:ext cx="2540000" cy="2032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10160000" y="3556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Base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 + Rules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80500" y="4318000"/>
            <a:ext cx="1016000" cy="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arrow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477000" y="5588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7000" y="558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Explanation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Facility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&amp; Why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0" y="5143500"/>
            <a:ext cx="0" cy="381000"/>
          </a:xfrm>
          <a:prstGeom prst="straightConnector1">
            <a:avLst/>
          </a:prstGeom>
          <a:noFill/>
          <a:ln w="127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160000" y="5588000"/>
            <a:ext cx="2540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0" y="5588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Acquisition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new knowledge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18000" y="5588000"/>
            <a:ext cx="1778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18000" y="5588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Temporary facts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9500" y="5969000"/>
            <a:ext cx="254000" cy="0"/>
          </a:xfrm>
          <a:prstGeom prst="straightConnector1">
            <a:avLst/>
          </a:prstGeom>
          <a:noFill/>
          <a:ln w="127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270000" y="7112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Principle: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Engine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domain-independent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the same engine works with different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Bases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separation of knowledge from control is what makes ES flexible and maintainable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 — The Brain of 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095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667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Declarative knowledge about objects and relationships.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"Penicillin treats bacterial infections"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"Normal body temperature is 37°C"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0" y="209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207500" y="2095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667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IF-THEN statements for heuristic knowledge.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IF fever AND sore throat THEN suspect strep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IF no_start AND dead_battery THEN replace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1778000" y="5334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Principle:</a:t>
            </a:r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KB is separate from the inference mechanism</a:t>
            </a:r>
            <a:endParaRPr lang="en-US" sz="20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separation allows the same engine to work with different knowledge bases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70000" y="6858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can be represented as: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Production Rules | Semantic Networks | Frames | Predicate Logic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method has strengths: Rules for heuristics, Frames for structured objects, Networks for relationships, Logic for formal proofs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Representation Methods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0500" y="2095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4605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95500" y="2095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Production Rules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24000" y="2730500"/>
            <a:ext cx="622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condition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THEN 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action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Most common, easy to understand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Good for heuristic knowledge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Ex: IF temp &gt; 38°C THEN fever = yes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72500" y="2095500"/>
            <a:ext cx="457200" cy="4572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207500" y="2095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Frames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36000" y="27305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structures with slots and fillers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Like object-oriented classes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Good for stereotypical knowledge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Ex: Car {make, model, year, color}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70000" y="5207000"/>
            <a:ext cx="6731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0500" y="5397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460500" y="539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095500" y="5397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Semantic Networks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24000" y="6032500"/>
            <a:ext cx="622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Graph with nodes (concepts) and edges (relations)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Good for hierarchical relationships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Visual and intuitive representation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Ex: Dog → is-a → Animal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5207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2500" y="5397500"/>
            <a:ext cx="457200" cy="4572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5397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07500" y="53975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Predicate Logic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36000" y="60325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Formal notation with predicates &amp; quantifiers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Provides rigorous mathematical reasoning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Good for formal proofs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Ex: ∀x (Human(x) → Mortal(x))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 — The Reasoning Component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1000" y="193040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Inference Engine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applies logical rules to the KB to deduce new information. It is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domain-independent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70000" y="31115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71475" y="185738"/>
                </a:moveTo>
                <a:cubicBezTo>
                  <a:pt x="371475" y="226725"/>
                  <a:pt x="358170" y="264587"/>
                  <a:pt x="335756" y="295305"/>
                </a:cubicBezTo>
                <a:lnTo>
                  <a:pt x="448806" y="408444"/>
                </a:lnTo>
                <a:cubicBezTo>
                  <a:pt x="459968" y="419606"/>
                  <a:pt x="459968" y="437733"/>
                  <a:pt x="448806" y="448895"/>
                </a:cubicBezTo>
                <a:cubicBezTo>
                  <a:pt x="437644" y="460058"/>
                  <a:pt x="419517" y="460058"/>
                  <a:pt x="408355" y="448895"/>
                </a:cubicBezTo>
                <a:lnTo>
                  <a:pt x="295305" y="335756"/>
                </a:lnTo>
                <a:cubicBezTo>
                  <a:pt x="264587" y="358170"/>
                  <a:pt x="226725" y="371475"/>
                  <a:pt x="185738" y="371475"/>
                </a:cubicBezTo>
                <a:cubicBezTo>
                  <a:pt x="83135" y="371475"/>
                  <a:pt x="0" y="288340"/>
                  <a:pt x="0" y="185738"/>
                </a:cubicBezTo>
                <a:cubicBezTo>
                  <a:pt x="0" y="83135"/>
                  <a:pt x="83135" y="0"/>
                  <a:pt x="185738" y="0"/>
                </a:cubicBezTo>
                <a:cubicBezTo>
                  <a:pt x="288340" y="0"/>
                  <a:pt x="371475" y="83135"/>
                  <a:pt x="371475" y="185738"/>
                </a:cubicBezTo>
                <a:close/>
                <a:moveTo>
                  <a:pt x="185738" y="314325"/>
                </a:moveTo>
                <a:cubicBezTo>
                  <a:pt x="256707" y="314325"/>
                  <a:pt x="314325" y="256707"/>
                  <a:pt x="314325" y="185738"/>
                </a:cubicBezTo>
                <a:cubicBezTo>
                  <a:pt x="314325" y="114768"/>
                  <a:pt x="256707" y="57150"/>
                  <a:pt x="185738" y="57150"/>
                </a:cubicBezTo>
                <a:cubicBezTo>
                  <a:pt x="114768" y="57150"/>
                  <a:pt x="57150" y="114768"/>
                  <a:pt x="57150" y="185737"/>
                </a:cubicBezTo>
                <a:cubicBezTo>
                  <a:pt x="57150" y="256707"/>
                  <a:pt x="114768" y="314325"/>
                  <a:pt x="185737" y="314325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2159000" y="3365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Pattern Matching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24000" y="39370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Compares rules against facts in working memory to find which rules can be applied.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3111500"/>
            <a:ext cx="6604000" cy="215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6000" y="336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320" y="28575"/>
                </a:moveTo>
                <a:lnTo>
                  <a:pt x="365760" y="28575"/>
                </a:lnTo>
                <a:cubicBezTo>
                  <a:pt x="378404" y="28575"/>
                  <a:pt x="388620" y="41344"/>
                  <a:pt x="388620" y="57150"/>
                </a:cubicBezTo>
                <a:cubicBezTo>
                  <a:pt x="388620" y="72956"/>
                  <a:pt x="378404" y="85725"/>
                  <a:pt x="365760" y="85725"/>
                </a:cubicBezTo>
                <a:lnTo>
                  <a:pt x="284607" y="85725"/>
                </a:lnTo>
                <a:cubicBezTo>
                  <a:pt x="280892" y="108764"/>
                  <a:pt x="268248" y="127784"/>
                  <a:pt x="251460" y="136892"/>
                </a:cubicBezTo>
                <a:lnTo>
                  <a:pt x="251460" y="400050"/>
                </a:lnTo>
                <a:lnTo>
                  <a:pt x="365760" y="400050"/>
                </a:lnTo>
                <a:cubicBezTo>
                  <a:pt x="378404" y="400050"/>
                  <a:pt x="388620" y="412819"/>
                  <a:pt x="388620" y="428625"/>
                </a:cubicBezTo>
                <a:cubicBezTo>
                  <a:pt x="388620" y="444431"/>
                  <a:pt x="378404" y="457200"/>
                  <a:pt x="365760" y="457200"/>
                </a:cubicBezTo>
                <a:lnTo>
                  <a:pt x="91440" y="457200"/>
                </a:lnTo>
                <a:cubicBezTo>
                  <a:pt x="78796" y="457200"/>
                  <a:pt x="68580" y="444431"/>
                  <a:pt x="68580" y="428625"/>
                </a:cubicBezTo>
                <a:cubicBezTo>
                  <a:pt x="68580" y="412819"/>
                  <a:pt x="78796" y="400050"/>
                  <a:pt x="91440" y="400050"/>
                </a:cubicBezTo>
                <a:lnTo>
                  <a:pt x="205740" y="400050"/>
                </a:lnTo>
                <a:lnTo>
                  <a:pt x="205740" y="136892"/>
                </a:lnTo>
                <a:cubicBezTo>
                  <a:pt x="188952" y="127695"/>
                  <a:pt x="176308" y="108674"/>
                  <a:pt x="172593" y="85725"/>
                </a:cubicBezTo>
                <a:lnTo>
                  <a:pt x="91440" y="85725"/>
                </a:lnTo>
                <a:cubicBezTo>
                  <a:pt x="78796" y="85725"/>
                  <a:pt x="68580" y="72956"/>
                  <a:pt x="68580" y="57150"/>
                </a:cubicBezTo>
                <a:cubicBezTo>
                  <a:pt x="68580" y="41344"/>
                  <a:pt x="78796" y="28575"/>
                  <a:pt x="91440" y="28575"/>
                </a:cubicBezTo>
                <a:lnTo>
                  <a:pt x="182880" y="28575"/>
                </a:lnTo>
                <a:cubicBezTo>
                  <a:pt x="193310" y="11251"/>
                  <a:pt x="209883" y="0"/>
                  <a:pt x="228600" y="0"/>
                </a:cubicBezTo>
                <a:cubicBezTo>
                  <a:pt x="247317" y="0"/>
                  <a:pt x="263890" y="11251"/>
                  <a:pt x="274320" y="28575"/>
                </a:cubicBezTo>
                <a:close/>
                <a:moveTo>
                  <a:pt x="314039" y="285750"/>
                </a:moveTo>
                <a:lnTo>
                  <a:pt x="417481" y="285750"/>
                </a:lnTo>
                <a:lnTo>
                  <a:pt x="365760" y="174843"/>
                </a:lnTo>
                <a:lnTo>
                  <a:pt x="314039" y="285750"/>
                </a:lnTo>
                <a:close/>
                <a:moveTo>
                  <a:pt x="365760" y="371475"/>
                </a:moveTo>
                <a:cubicBezTo>
                  <a:pt x="320826" y="371475"/>
                  <a:pt x="283464" y="341114"/>
                  <a:pt x="275749" y="301020"/>
                </a:cubicBezTo>
                <a:cubicBezTo>
                  <a:pt x="273891" y="291197"/>
                  <a:pt x="276463" y="281107"/>
                  <a:pt x="280535" y="272355"/>
                </a:cubicBezTo>
                <a:lnTo>
                  <a:pt x="348544" y="126623"/>
                </a:lnTo>
                <a:cubicBezTo>
                  <a:pt x="352115" y="118943"/>
                  <a:pt x="358688" y="114300"/>
                  <a:pt x="365760" y="114300"/>
                </a:cubicBezTo>
                <a:cubicBezTo>
                  <a:pt x="372832" y="114300"/>
                  <a:pt x="379405" y="119033"/>
                  <a:pt x="382976" y="126623"/>
                </a:cubicBezTo>
                <a:lnTo>
                  <a:pt x="450985" y="272355"/>
                </a:lnTo>
                <a:cubicBezTo>
                  <a:pt x="455057" y="281107"/>
                  <a:pt x="457629" y="291197"/>
                  <a:pt x="455771" y="301020"/>
                </a:cubicBezTo>
                <a:cubicBezTo>
                  <a:pt x="448056" y="341025"/>
                  <a:pt x="410694" y="371475"/>
                  <a:pt x="365760" y="371475"/>
                </a:cubicBezTo>
                <a:close/>
                <a:moveTo>
                  <a:pt x="90583" y="174843"/>
                </a:moveTo>
                <a:lnTo>
                  <a:pt x="38862" y="285750"/>
                </a:lnTo>
                <a:lnTo>
                  <a:pt x="142375" y="285750"/>
                </a:lnTo>
                <a:lnTo>
                  <a:pt x="90583" y="174843"/>
                </a:lnTo>
                <a:close/>
                <a:moveTo>
                  <a:pt x="643" y="301020"/>
                </a:moveTo>
                <a:cubicBezTo>
                  <a:pt x="-1214" y="291197"/>
                  <a:pt x="1357" y="281107"/>
                  <a:pt x="5429" y="272355"/>
                </a:cubicBezTo>
                <a:lnTo>
                  <a:pt x="73438" y="126623"/>
                </a:lnTo>
                <a:cubicBezTo>
                  <a:pt x="77010" y="118943"/>
                  <a:pt x="83582" y="114300"/>
                  <a:pt x="90654" y="114300"/>
                </a:cubicBezTo>
                <a:cubicBezTo>
                  <a:pt x="97727" y="114300"/>
                  <a:pt x="104299" y="119033"/>
                  <a:pt x="107871" y="126623"/>
                </a:cubicBezTo>
                <a:lnTo>
                  <a:pt x="175879" y="272355"/>
                </a:lnTo>
                <a:cubicBezTo>
                  <a:pt x="179951" y="281107"/>
                  <a:pt x="182523" y="291197"/>
                  <a:pt x="180665" y="301020"/>
                </a:cubicBezTo>
                <a:cubicBezTo>
                  <a:pt x="172950" y="341025"/>
                  <a:pt x="135588" y="371475"/>
                  <a:pt x="90654" y="371475"/>
                </a:cubicBezTo>
                <a:cubicBezTo>
                  <a:pt x="45720" y="371475"/>
                  <a:pt x="8358" y="341114"/>
                  <a:pt x="643" y="30102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271000" y="33655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Conflict Resolution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36000" y="39370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When multiple rules match, decides which rule to fire first using strategies like specificity, recency, or priority.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70000" y="558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Recognize-Act Cycle: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270000" y="6350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Match Rules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against facts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19500" y="6667500"/>
            <a:ext cx="635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4318000" y="6350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4318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Rule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conflict resolution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67500" y="6667500"/>
            <a:ext cx="635000" cy="0"/>
          </a:xfrm>
          <a:prstGeom prst="straightConnector1">
            <a:avLst/>
          </a:prstGeom>
          <a:noFill/>
          <a:ln w="25400">
            <a:solidFill>
              <a:srgbClr val="FF7F50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366000" y="6350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2E5E8A"/>
          </a:solidFill>
          <a:ln/>
        </p:spPr>
      </p:sp>
      <p:sp>
        <p:nvSpPr>
          <p:cNvPr id="22" name="Text 20"/>
          <p:cNvSpPr/>
          <p:nvPr/>
        </p:nvSpPr>
        <p:spPr>
          <a:xfrm>
            <a:off x="7366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Rule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new facts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15500" y="6667500"/>
            <a:ext cx="635000" cy="0"/>
          </a:xfrm>
          <a:prstGeom prst="straightConnector1">
            <a:avLst/>
          </a:prstGeom>
          <a:noFill/>
          <a:ln w="25400">
            <a:solidFill>
              <a:srgbClr val="2E5E8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414000" y="6350000"/>
            <a:ext cx="2286000" cy="762000"/>
          </a:xfrm>
          <a:prstGeom prst="roundRect">
            <a:avLst>
              <a:gd name="adj" fmla="val 10000"/>
            </a:avLst>
          </a:pr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4000" y="6350000"/>
            <a:ext cx="228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Repeat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until goal/no rules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557000" y="7175500"/>
            <a:ext cx="0" cy="6350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arrow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2413000" y="7620000"/>
            <a:ext cx="9144000" cy="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2413000" y="7175500"/>
            <a:ext cx="0" cy="444500"/>
          </a:xfrm>
          <a:prstGeom prst="straightConnector1">
            <a:avLst/>
          </a:prstGeom>
          <a:noFill/>
          <a:ln w="25400">
            <a:solidFill>
              <a:srgbClr val="6B9CBF"/>
            </a:solidFill>
            <a:prstDash val="dash"/>
            <a:headEnd type="none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Components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349250"/>
                </a:lnTo>
                <a:cubicBezTo>
                  <a:pt x="0" y="384274"/>
                  <a:pt x="28476" y="412750"/>
                  <a:pt x="63500" y="412750"/>
                </a:cubicBezTo>
                <a:lnTo>
                  <a:pt x="206375" y="412750"/>
                </a:lnTo>
                <a:lnTo>
                  <a:pt x="190500" y="460375"/>
                </a:lnTo>
                <a:lnTo>
                  <a:pt x="119063" y="460375"/>
                </a:lnTo>
                <a:cubicBezTo>
                  <a:pt x="105866" y="460375"/>
                  <a:pt x="95250" y="470991"/>
                  <a:pt x="95250" y="484187"/>
                </a:cubicBezTo>
                <a:cubicBezTo>
                  <a:pt x="95250" y="497384"/>
                  <a:pt x="105866" y="508000"/>
                  <a:pt x="119063" y="508000"/>
                </a:cubicBezTo>
                <a:lnTo>
                  <a:pt x="388938" y="508000"/>
                </a:lnTo>
                <a:cubicBezTo>
                  <a:pt x="402134" y="508000"/>
                  <a:pt x="412750" y="497384"/>
                  <a:pt x="412750" y="484187"/>
                </a:cubicBezTo>
                <a:cubicBezTo>
                  <a:pt x="412750" y="470991"/>
                  <a:pt x="402134" y="460375"/>
                  <a:pt x="388938" y="460375"/>
                </a:cubicBezTo>
                <a:lnTo>
                  <a:pt x="317500" y="460375"/>
                </a:lnTo>
                <a:lnTo>
                  <a:pt x="301625" y="412750"/>
                </a:lnTo>
                <a:lnTo>
                  <a:pt x="444500" y="412750"/>
                </a:lnTo>
                <a:cubicBezTo>
                  <a:pt x="479524" y="412750"/>
                  <a:pt x="508000" y="384274"/>
                  <a:pt x="508000" y="349250"/>
                </a:cubicBezTo>
                <a:lnTo>
                  <a:pt x="508000" y="95250"/>
                </a:lnTo>
                <a:cubicBezTo>
                  <a:pt x="508000" y="60226"/>
                  <a:pt x="479524" y="31750"/>
                  <a:pt x="444500" y="31750"/>
                </a:cubicBezTo>
                <a:lnTo>
                  <a:pt x="63500" y="31750"/>
                </a:lnTo>
                <a:close/>
                <a:moveTo>
                  <a:pt x="95250" y="95250"/>
                </a:moveTo>
                <a:lnTo>
                  <a:pt x="412750" y="95250"/>
                </a:lnTo>
                <a:cubicBezTo>
                  <a:pt x="430312" y="95250"/>
                  <a:pt x="444500" y="109438"/>
                  <a:pt x="444500" y="127000"/>
                </a:cubicBezTo>
                <a:lnTo>
                  <a:pt x="444500" y="285750"/>
                </a:lnTo>
                <a:cubicBezTo>
                  <a:pt x="444500" y="303312"/>
                  <a:pt x="430312" y="317500"/>
                  <a:pt x="412750" y="317500"/>
                </a:cubicBezTo>
                <a:lnTo>
                  <a:pt x="95250" y="317500"/>
                </a:lnTo>
                <a:cubicBezTo>
                  <a:pt x="77688" y="317500"/>
                  <a:pt x="63500" y="303312"/>
                  <a:pt x="63500" y="285750"/>
                </a:cubicBezTo>
                <a:lnTo>
                  <a:pt x="63500" y="127000"/>
                </a:lnTo>
                <a:cubicBezTo>
                  <a:pt x="63500" y="109438"/>
                  <a:pt x="77688" y="95250"/>
                  <a:pt x="95250" y="95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222500" y="215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Interface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940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Natural language or graphical interface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Allows non-experts to interact easily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Presents questions and collects answers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Displays conclusions and explanations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36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254000" y="174625"/>
                </a:moveTo>
                <a:cubicBezTo>
                  <a:pt x="236438" y="174625"/>
                  <a:pt x="222250" y="188813"/>
                  <a:pt x="222250" y="206375"/>
                </a:cubicBezTo>
                <a:cubicBezTo>
                  <a:pt x="222250" y="219571"/>
                  <a:pt x="211634" y="230188"/>
                  <a:pt x="198438" y="230188"/>
                </a:cubicBezTo>
                <a:cubicBezTo>
                  <a:pt x="185241" y="230188"/>
                  <a:pt x="174625" y="219571"/>
                  <a:pt x="174625" y="206375"/>
                </a:cubicBezTo>
                <a:cubicBezTo>
                  <a:pt x="174625" y="162520"/>
                  <a:pt x="210145" y="127000"/>
                  <a:pt x="254000" y="127000"/>
                </a:cubicBezTo>
                <a:cubicBezTo>
                  <a:pt x="297855" y="127000"/>
                  <a:pt x="333375" y="162520"/>
                  <a:pt x="333375" y="206375"/>
                </a:cubicBezTo>
                <a:cubicBezTo>
                  <a:pt x="333375" y="253206"/>
                  <a:pt x="297656" y="273050"/>
                  <a:pt x="277813" y="280293"/>
                </a:cubicBezTo>
                <a:lnTo>
                  <a:pt x="277813" y="284063"/>
                </a:lnTo>
                <a:cubicBezTo>
                  <a:pt x="277813" y="297259"/>
                  <a:pt x="267196" y="307876"/>
                  <a:pt x="254000" y="307876"/>
                </a:cubicBezTo>
                <a:cubicBezTo>
                  <a:pt x="240804" y="307876"/>
                  <a:pt x="230188" y="297259"/>
                  <a:pt x="230188" y="284063"/>
                </a:cubicBezTo>
                <a:lnTo>
                  <a:pt x="230188" y="276027"/>
                </a:lnTo>
                <a:cubicBezTo>
                  <a:pt x="230188" y="255687"/>
                  <a:pt x="244872" y="241102"/>
                  <a:pt x="260052" y="236141"/>
                </a:cubicBezTo>
                <a:cubicBezTo>
                  <a:pt x="266402" y="234057"/>
                  <a:pt x="273149" y="230684"/>
                  <a:pt x="278110" y="225921"/>
                </a:cubicBezTo>
                <a:cubicBezTo>
                  <a:pt x="282377" y="221754"/>
                  <a:pt x="285750" y="215999"/>
                  <a:pt x="285750" y="206474"/>
                </a:cubicBezTo>
                <a:cubicBezTo>
                  <a:pt x="285750" y="188913"/>
                  <a:pt x="271562" y="174724"/>
                  <a:pt x="254000" y="174724"/>
                </a:cubicBezTo>
                <a:close/>
                <a:moveTo>
                  <a:pt x="222250" y="365125"/>
                </a:moveTo>
                <a:cubicBezTo>
                  <a:pt x="222250" y="347602"/>
                  <a:pt x="236477" y="333375"/>
                  <a:pt x="254000" y="333375"/>
                </a:cubicBezTo>
                <a:cubicBezTo>
                  <a:pt x="271523" y="333375"/>
                  <a:pt x="285750" y="347602"/>
                  <a:pt x="285750" y="365125"/>
                </a:cubicBezTo>
                <a:cubicBezTo>
                  <a:pt x="285750" y="382648"/>
                  <a:pt x="271523" y="396875"/>
                  <a:pt x="254000" y="396875"/>
                </a:cubicBezTo>
                <a:cubicBezTo>
                  <a:pt x="236477" y="396875"/>
                  <a:pt x="222250" y="382648"/>
                  <a:pt x="222250" y="36512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334500" y="2159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Explanation Facility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794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Answers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"How?"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shows the inference chain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Answers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"Why?"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justifies questions asked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Critical for building user trust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Makes reasoning transparent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70000" y="5207000"/>
            <a:ext cx="6731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90286" y="31750"/>
                </a:moveTo>
                <a:cubicBezTo>
                  <a:pt x="290286" y="14188"/>
                  <a:pt x="274071" y="0"/>
                  <a:pt x="254000" y="0"/>
                </a:cubicBezTo>
                <a:cubicBezTo>
                  <a:pt x="233929" y="0"/>
                  <a:pt x="217714" y="14188"/>
                  <a:pt x="217714" y="31750"/>
                </a:cubicBezTo>
                <a:lnTo>
                  <a:pt x="217714" y="240804"/>
                </a:lnTo>
                <a:lnTo>
                  <a:pt x="170770" y="199727"/>
                </a:lnTo>
                <a:cubicBezTo>
                  <a:pt x="156596" y="187325"/>
                  <a:pt x="133577" y="187325"/>
                  <a:pt x="119403" y="199727"/>
                </a:cubicBezTo>
                <a:cubicBezTo>
                  <a:pt x="105229" y="212130"/>
                  <a:pt x="105229" y="232271"/>
                  <a:pt x="119403" y="244673"/>
                </a:cubicBezTo>
                <a:lnTo>
                  <a:pt x="228260" y="339923"/>
                </a:lnTo>
                <a:cubicBezTo>
                  <a:pt x="242434" y="352326"/>
                  <a:pt x="265453" y="352326"/>
                  <a:pt x="279627" y="339923"/>
                </a:cubicBezTo>
                <a:lnTo>
                  <a:pt x="388484" y="244673"/>
                </a:lnTo>
                <a:cubicBezTo>
                  <a:pt x="402658" y="232271"/>
                  <a:pt x="402658" y="212130"/>
                  <a:pt x="388484" y="199727"/>
                </a:cubicBezTo>
                <a:cubicBezTo>
                  <a:pt x="374310" y="187325"/>
                  <a:pt x="351291" y="187325"/>
                  <a:pt x="337117" y="199727"/>
                </a:cubicBezTo>
                <a:lnTo>
                  <a:pt x="290286" y="240804"/>
                </a:lnTo>
                <a:lnTo>
                  <a:pt x="290286" y="31750"/>
                </a:lnTo>
                <a:close/>
                <a:moveTo>
                  <a:pt x="72571" y="317500"/>
                </a:moveTo>
                <a:cubicBezTo>
                  <a:pt x="32544" y="317500"/>
                  <a:pt x="0" y="345976"/>
                  <a:pt x="0" y="381000"/>
                </a:cubicBezTo>
                <a:lnTo>
                  <a:pt x="0" y="412750"/>
                </a:lnTo>
                <a:cubicBezTo>
                  <a:pt x="0" y="447774"/>
                  <a:pt x="32544" y="476250"/>
                  <a:pt x="72571" y="476250"/>
                </a:cubicBezTo>
                <a:lnTo>
                  <a:pt x="435429" y="476250"/>
                </a:lnTo>
                <a:cubicBezTo>
                  <a:pt x="475456" y="476250"/>
                  <a:pt x="508000" y="447774"/>
                  <a:pt x="508000" y="412750"/>
                </a:cubicBezTo>
                <a:lnTo>
                  <a:pt x="508000" y="381000"/>
                </a:lnTo>
                <a:cubicBezTo>
                  <a:pt x="508000" y="345976"/>
                  <a:pt x="475456" y="317500"/>
                  <a:pt x="435429" y="317500"/>
                </a:cubicBezTo>
                <a:lnTo>
                  <a:pt x="382247" y="317500"/>
                </a:lnTo>
                <a:lnTo>
                  <a:pt x="318067" y="373658"/>
                </a:lnTo>
                <a:cubicBezTo>
                  <a:pt x="282688" y="404614"/>
                  <a:pt x="225198" y="404614"/>
                  <a:pt x="189820" y="373658"/>
                </a:cubicBezTo>
                <a:lnTo>
                  <a:pt x="125753" y="317500"/>
                </a:lnTo>
                <a:lnTo>
                  <a:pt x="72571" y="317500"/>
                </a:lnTo>
                <a:close/>
                <a:moveTo>
                  <a:pt x="417286" y="373063"/>
                </a:moveTo>
                <a:cubicBezTo>
                  <a:pt x="432306" y="373063"/>
                  <a:pt x="444500" y="383733"/>
                  <a:pt x="444500" y="396875"/>
                </a:cubicBezTo>
                <a:cubicBezTo>
                  <a:pt x="444500" y="410017"/>
                  <a:pt x="432306" y="420688"/>
                  <a:pt x="417286" y="420688"/>
                </a:cubicBezTo>
                <a:cubicBezTo>
                  <a:pt x="402266" y="420688"/>
                  <a:pt x="390071" y="410017"/>
                  <a:pt x="390071" y="396875"/>
                </a:cubicBezTo>
                <a:cubicBezTo>
                  <a:pt x="390071" y="383733"/>
                  <a:pt x="402266" y="373063"/>
                  <a:pt x="417286" y="373063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222500" y="5461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Acquisition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24000" y="60960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Extracts knowledge from human experts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Helps add new rules to the KB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Often the biggest bottleneck in ES development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Uses interviews, case analysis, observation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5207000"/>
            <a:ext cx="6604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36000" y="546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134342"/>
                </a:lnTo>
                <a:cubicBezTo>
                  <a:pt x="0" y="141089"/>
                  <a:pt x="4366" y="146844"/>
                  <a:pt x="10021" y="150515"/>
                </a:cubicBezTo>
                <a:cubicBezTo>
                  <a:pt x="23118" y="159048"/>
                  <a:pt x="31750" y="173732"/>
                  <a:pt x="31750" y="190500"/>
                </a:cubicBezTo>
                <a:cubicBezTo>
                  <a:pt x="31750" y="207268"/>
                  <a:pt x="23118" y="221952"/>
                  <a:pt x="10021" y="230485"/>
                </a:cubicBezTo>
                <a:cubicBezTo>
                  <a:pt x="4366" y="234156"/>
                  <a:pt x="0" y="239911"/>
                  <a:pt x="0" y="246658"/>
                </a:cubicBezTo>
                <a:lnTo>
                  <a:pt x="0" y="301625"/>
                </a:lnTo>
                <a:lnTo>
                  <a:pt x="508000" y="301625"/>
                </a:lnTo>
                <a:lnTo>
                  <a:pt x="508000" y="246658"/>
                </a:lnTo>
                <a:cubicBezTo>
                  <a:pt x="508000" y="239911"/>
                  <a:pt x="503634" y="234156"/>
                  <a:pt x="497979" y="230485"/>
                </a:cubicBezTo>
                <a:cubicBezTo>
                  <a:pt x="484882" y="221952"/>
                  <a:pt x="476250" y="207268"/>
                  <a:pt x="476250" y="190500"/>
                </a:cubicBezTo>
                <a:cubicBezTo>
                  <a:pt x="476250" y="173732"/>
                  <a:pt x="484882" y="159048"/>
                  <a:pt x="497979" y="150515"/>
                </a:cubicBezTo>
                <a:cubicBezTo>
                  <a:pt x="503634" y="146844"/>
                  <a:pt x="508000" y="141089"/>
                  <a:pt x="508000" y="134342"/>
                </a:cubicBezTo>
                <a:lnTo>
                  <a:pt x="508000" y="127000"/>
                </a:lnTo>
                <a:cubicBezTo>
                  <a:pt x="508000" y="91976"/>
                  <a:pt x="479524" y="63500"/>
                  <a:pt x="444500" y="63500"/>
                </a:cubicBezTo>
                <a:lnTo>
                  <a:pt x="63500" y="63500"/>
                </a:lnTo>
                <a:close/>
                <a:moveTo>
                  <a:pt x="508000" y="412750"/>
                </a:moveTo>
                <a:lnTo>
                  <a:pt x="508000" y="349250"/>
                </a:lnTo>
                <a:lnTo>
                  <a:pt x="0" y="349250"/>
                </a:lnTo>
                <a:lnTo>
                  <a:pt x="0" y="412750"/>
                </a:lnTo>
                <a:cubicBezTo>
                  <a:pt x="0" y="430312"/>
                  <a:pt x="14188" y="444500"/>
                  <a:pt x="31750" y="444500"/>
                </a:cubicBezTo>
                <a:lnTo>
                  <a:pt x="95250" y="444500"/>
                </a:lnTo>
                <a:lnTo>
                  <a:pt x="95250" y="420688"/>
                </a:lnTo>
                <a:cubicBezTo>
                  <a:pt x="95250" y="407491"/>
                  <a:pt x="105866" y="396875"/>
                  <a:pt x="119063" y="396875"/>
                </a:cubicBezTo>
                <a:cubicBezTo>
                  <a:pt x="132259" y="396875"/>
                  <a:pt x="142875" y="407491"/>
                  <a:pt x="142875" y="420688"/>
                </a:cubicBezTo>
                <a:lnTo>
                  <a:pt x="142875" y="444500"/>
                </a:lnTo>
                <a:lnTo>
                  <a:pt x="230188" y="444500"/>
                </a:lnTo>
                <a:lnTo>
                  <a:pt x="230188" y="420688"/>
                </a:lnTo>
                <a:cubicBezTo>
                  <a:pt x="230188" y="407491"/>
                  <a:pt x="240804" y="396875"/>
                  <a:pt x="254000" y="396875"/>
                </a:cubicBezTo>
                <a:cubicBezTo>
                  <a:pt x="267196" y="396875"/>
                  <a:pt x="277813" y="407491"/>
                  <a:pt x="277813" y="420688"/>
                </a:cubicBezTo>
                <a:lnTo>
                  <a:pt x="277813" y="444500"/>
                </a:lnTo>
                <a:lnTo>
                  <a:pt x="365125" y="444500"/>
                </a:lnTo>
                <a:lnTo>
                  <a:pt x="365125" y="420688"/>
                </a:lnTo>
                <a:cubicBezTo>
                  <a:pt x="365125" y="407491"/>
                  <a:pt x="375741" y="396875"/>
                  <a:pt x="388938" y="396875"/>
                </a:cubicBezTo>
                <a:cubicBezTo>
                  <a:pt x="402134" y="396875"/>
                  <a:pt x="412750" y="407491"/>
                  <a:pt x="412750" y="420688"/>
                </a:cubicBezTo>
                <a:lnTo>
                  <a:pt x="412750" y="444500"/>
                </a:lnTo>
                <a:lnTo>
                  <a:pt x="476250" y="444500"/>
                </a:lnTo>
                <a:cubicBezTo>
                  <a:pt x="493812" y="444500"/>
                  <a:pt x="508000" y="430312"/>
                  <a:pt x="508000" y="412750"/>
                </a:cubicBezTo>
                <a:close/>
                <a:moveTo>
                  <a:pt x="158750" y="158750"/>
                </a:moveTo>
                <a:lnTo>
                  <a:pt x="158750" y="222250"/>
                </a:lnTo>
                <a:cubicBezTo>
                  <a:pt x="158750" y="239812"/>
                  <a:pt x="144562" y="254000"/>
                  <a:pt x="127000" y="254000"/>
                </a:cubicBezTo>
                <a:cubicBezTo>
                  <a:pt x="109438" y="254000"/>
                  <a:pt x="95250" y="239812"/>
                  <a:pt x="95250" y="222250"/>
                </a:cubicBezTo>
                <a:lnTo>
                  <a:pt x="95250" y="158750"/>
                </a:lnTo>
                <a:cubicBezTo>
                  <a:pt x="95250" y="141188"/>
                  <a:pt x="109438" y="127000"/>
                  <a:pt x="127000" y="127000"/>
                </a:cubicBezTo>
                <a:cubicBezTo>
                  <a:pt x="144562" y="127000"/>
                  <a:pt x="158750" y="141188"/>
                  <a:pt x="158750" y="158750"/>
                </a:cubicBezTo>
                <a:close/>
                <a:moveTo>
                  <a:pt x="285750" y="158750"/>
                </a:moveTo>
                <a:lnTo>
                  <a:pt x="285750" y="222250"/>
                </a:lnTo>
                <a:cubicBezTo>
                  <a:pt x="285750" y="239812"/>
                  <a:pt x="271562" y="254000"/>
                  <a:pt x="254000" y="254000"/>
                </a:cubicBezTo>
                <a:cubicBezTo>
                  <a:pt x="236438" y="254000"/>
                  <a:pt x="222250" y="239812"/>
                  <a:pt x="222250" y="222250"/>
                </a:cubicBezTo>
                <a:lnTo>
                  <a:pt x="222250" y="158750"/>
                </a:lnTo>
                <a:cubicBezTo>
                  <a:pt x="222250" y="141188"/>
                  <a:pt x="236438" y="127000"/>
                  <a:pt x="254000" y="127000"/>
                </a:cubicBezTo>
                <a:cubicBezTo>
                  <a:pt x="271562" y="127000"/>
                  <a:pt x="285750" y="141188"/>
                  <a:pt x="285750" y="158750"/>
                </a:cubicBezTo>
                <a:close/>
                <a:moveTo>
                  <a:pt x="412750" y="158750"/>
                </a:moveTo>
                <a:lnTo>
                  <a:pt x="412750" y="222250"/>
                </a:lnTo>
                <a:cubicBezTo>
                  <a:pt x="412750" y="239812"/>
                  <a:pt x="398562" y="254000"/>
                  <a:pt x="381000" y="254000"/>
                </a:cubicBezTo>
                <a:cubicBezTo>
                  <a:pt x="363438" y="254000"/>
                  <a:pt x="349250" y="239812"/>
                  <a:pt x="349250" y="222250"/>
                </a:cubicBezTo>
                <a:lnTo>
                  <a:pt x="349250" y="158750"/>
                </a:lnTo>
                <a:cubicBezTo>
                  <a:pt x="349250" y="141188"/>
                  <a:pt x="363438" y="127000"/>
                  <a:pt x="381000" y="127000"/>
                </a:cubicBezTo>
                <a:cubicBezTo>
                  <a:pt x="398562" y="127000"/>
                  <a:pt x="412750" y="141188"/>
                  <a:pt x="412750" y="1587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9334500" y="5461000"/>
            <a:ext cx="444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Memory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36000" y="6096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Temporary storage during a session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Holds facts discovered during reasoning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Cleared at the start of each consultation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Also called "Fact Base" or "Context"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3048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Engine Strategies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318000" y="431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 and backward chaining reasoning methods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Chaining — Data-Driven Reasoning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3040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starts with known facts and applies rules forward until a goal is reached. Also called: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Data-Driven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Bottom-Up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97000" y="38100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810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3746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known facts in working memory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97000" y="43815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4381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4318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all rules whose IF conditions match known facts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97000" y="49530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4953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4889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one rule using conflict resolution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97000" y="55245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" y="5524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05000" y="5461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the rule — add conclusion to facts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97000" y="6096000"/>
            <a:ext cx="355600" cy="3556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Text 18"/>
          <p:cNvSpPr/>
          <p:nvPr/>
        </p:nvSpPr>
        <p:spPr>
          <a:xfrm>
            <a:off x="1397000" y="6096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05000" y="6032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Repeat until goal reached or no rules fire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3111500"/>
            <a:ext cx="6604000" cy="368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9500" y="3302000"/>
            <a:ext cx="596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Used For: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99500" y="3873500"/>
            <a:ext cx="5969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Monitoring and control systems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Interpretation problems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When data arrives continuously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Planning and scheduling</a:t>
            </a:r>
            <a:endParaRPr lang="en-US" sz="1600" dirty="0"/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Examples:</a:t>
            </a:r>
            <a:pPr algn="l">
              <a:lnSpc>
                <a:spcPct val="13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CLIPS, Production Systems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7112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Like a detective who collects all evidence first, then draws conclusions from it.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 is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breadth-first search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evaluates all matching facts before applying rules.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Chaining — Example &amp; Python Demo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032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Medical Rules: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24000" y="2476500"/>
            <a:ext cx="6350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R1: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fever=yes AND headache=yes THEN flu_risk=high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R2: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cough=yes THEN fever_risk=yes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R3: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flu_risk=high THEN rest=yes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R4: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fever=yes AND cough=yes THEN infection=bacterial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0" y="1905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0" y="203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Execution Trace: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36000" y="24765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Given facts: fever=yes, headache=yes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1: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R1 fires → flu_risk=high added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2: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R3 fires → rest=yes added</a:t>
            </a:r>
            <a:endParaRPr lang="en-US" sz="1600" dirty="0"/>
          </a:p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 reached!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Conclusion: rest=yes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13716000" cy="3048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1435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— Forward Chaining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4000" y="5524500"/>
            <a:ext cx="1320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forward_chain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(rules, facts, goal):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changed =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while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changed: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changed =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rules: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rule[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"if"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].issubset(facts)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and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rule[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"then"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 in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facts: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 facts.add(rule[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"then"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]); changed =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print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f"Fired: {rule['name']}"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2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goal 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Backward Chaining — Goal-Driven Reasoning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13716000" cy="889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1651000" y="1930400"/>
            <a:ext cx="1295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starts with a goal and works backward through rules to find facts. Also called: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Goal-Driven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Top-Down</a:t>
            </a:r>
            <a:pPr algn="l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70000" y="31115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How It Works: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397000" y="38100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3810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05000" y="3746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Start with a goal to prove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97000" y="43815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1397000" y="4381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05000" y="4318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Find rules that conclude the goal (goal rules)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97000" y="49530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1397000" y="4953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4889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 the rule's premises as new sub-goals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97000" y="55245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7" name="Text 15"/>
          <p:cNvSpPr/>
          <p:nvPr/>
        </p:nvSpPr>
        <p:spPr>
          <a:xfrm>
            <a:off x="1397000" y="55245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05000" y="5461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Recursively prove sub-goals against known facts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97000" y="6096000"/>
            <a:ext cx="355600" cy="3556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397000" y="6096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05000" y="60325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 no rule supports a sub-goal, ask the user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3111500"/>
            <a:ext cx="6604000" cy="368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99500" y="3302000"/>
            <a:ext cx="5969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Used For: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99500" y="3873500"/>
            <a:ext cx="5969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Diagnosis and troubleshooting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Classification problems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When the goal is known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Interactive expert consultations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 Systems: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MYCIN (medical diagnosis)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Prolog (built-in backward chaining)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7112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Analogy: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Like a doctor who starts with a suspected diagnosis, then orders tests to confirm it.</a:t>
            </a:r>
            <a:endParaRPr lang="en-US" sz="1800" dirty="0"/>
          </a:p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 is </a:t>
            </a:r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depth-first search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pursues one goal path to completion before trying alternatives.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Backward Chaining — Example &amp; Python Demo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858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Example: Is John the tallest boy?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24000" y="2540000"/>
            <a:ext cx="6350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John is the tallest boy in class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Sub-goal 1: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John is a boy →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Fact: YES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Sub-goal 2: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John &gt; everyone else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Sub-goal 3: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John &gt; Kim →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Fact: YES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Sub-goal 4: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Kim &gt; all except John →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Fact: YES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Result: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Goal PROVED!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82000" y="1905000"/>
            <a:ext cx="6604000" cy="279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36000" y="2032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Prolog-Style Rules: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36000" y="2540000"/>
            <a:ext cx="6096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tallest_boy(X) :-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boy(X),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taller_than_all(X, Class).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taller_than_all(X, L) :-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forall(member(Y, L),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(X \= Y -&gt; taller(X, Y))).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Prolog uses built-in backward chaining!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70000" y="5016500"/>
            <a:ext cx="13716000" cy="3048000"/>
          </a:xfrm>
          <a:prstGeom prst="roundRect">
            <a:avLst>
              <a:gd name="adj" fmla="val 6000"/>
            </a:avLst>
          </a:prstGeom>
          <a:solidFill>
            <a:srgbClr val="2D2D2D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51435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— Backward Chaining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24000" y="5524500"/>
            <a:ext cx="13208000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backward_chain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(rules, facts, goal):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goal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facts: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True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rules: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rule[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"then"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== goal: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all(backward_chain(rules, facts, g)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g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rule[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"if"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]):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       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True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5F5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ask_user(goal)  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Ask if not provable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Forward vs Backward Chaining — Comparison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70000" y="1905000"/>
          <a:ext cx="13716000" cy="5334000"/>
        </p:xfrm>
        <a:graphic>
          <a:graphicData uri="http://schemas.openxmlformats.org/drawingml/2006/table">
            <a:tbl>
              <a:tblPr/>
              <a:tblGrid>
                <a:gridCol w="3840480"/>
                <a:gridCol w="4937760"/>
                <a:gridCol w="493776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Property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Forward Chaining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Backward Chaining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Facts → Goal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Goal → Facts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Also Known As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Data-Driven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Goal-Driven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Search Type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Breadth-First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Depth-First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Best For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Monitoring, Interpretation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Diagnosis, Troubleshooting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Starts With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Known data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Hypothesis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Efficiency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May explore irrelevant rules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Only explores relevant rules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 Input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Collected at beginning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Asked when needed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CLIPS, Production Systems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MYCIN, Prolog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270000" y="7493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Rule of Thumb: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If expert gathers data first → Forward Chaining. If expert starts with hypothesis → Backward Chaining.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Real World Applications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318000" y="457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Understanding boundaries and success stories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of Expert Systems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143" y="50800"/>
                </a:moveTo>
                <a:cubicBezTo>
                  <a:pt x="145143" y="36751"/>
                  <a:pt x="132171" y="25400"/>
                  <a:pt x="116114" y="25400"/>
                </a:cubicBezTo>
                <a:cubicBezTo>
                  <a:pt x="100058" y="25400"/>
                  <a:pt x="87086" y="36751"/>
                  <a:pt x="87086" y="50800"/>
                </a:cubicBezTo>
                <a:lnTo>
                  <a:pt x="87086" y="101600"/>
                </a:lnTo>
                <a:lnTo>
                  <a:pt x="29029" y="101600"/>
                </a:lnTo>
                <a:cubicBezTo>
                  <a:pt x="12972" y="101600"/>
                  <a:pt x="0" y="112951"/>
                  <a:pt x="0" y="127000"/>
                </a:cubicBezTo>
                <a:cubicBezTo>
                  <a:pt x="0" y="141049"/>
                  <a:pt x="12972" y="152400"/>
                  <a:pt x="29029" y="152400"/>
                </a:cubicBezTo>
                <a:lnTo>
                  <a:pt x="116114" y="152400"/>
                </a:lnTo>
                <a:cubicBezTo>
                  <a:pt x="132171" y="152400"/>
                  <a:pt x="145143" y="141049"/>
                  <a:pt x="145143" y="127000"/>
                </a:cubicBezTo>
                <a:lnTo>
                  <a:pt x="145143" y="50800"/>
                </a:lnTo>
                <a:close/>
                <a:moveTo>
                  <a:pt x="29029" y="254000"/>
                </a:moveTo>
                <a:cubicBezTo>
                  <a:pt x="12972" y="254000"/>
                  <a:pt x="0" y="265351"/>
                  <a:pt x="0" y="279400"/>
                </a:cubicBezTo>
                <a:cubicBezTo>
                  <a:pt x="0" y="293449"/>
                  <a:pt x="12972" y="304800"/>
                  <a:pt x="29029" y="304800"/>
                </a:cubicBezTo>
                <a:lnTo>
                  <a:pt x="87086" y="304800"/>
                </a:lnTo>
                <a:lnTo>
                  <a:pt x="87086" y="355600"/>
                </a:lnTo>
                <a:cubicBezTo>
                  <a:pt x="87086" y="369649"/>
                  <a:pt x="100058" y="381000"/>
                  <a:pt x="116114" y="381000"/>
                </a:cubicBezTo>
                <a:cubicBezTo>
                  <a:pt x="132171" y="381000"/>
                  <a:pt x="145143" y="369649"/>
                  <a:pt x="145143" y="355600"/>
                </a:cubicBezTo>
                <a:lnTo>
                  <a:pt x="145143" y="279400"/>
                </a:lnTo>
                <a:cubicBezTo>
                  <a:pt x="145143" y="265351"/>
                  <a:pt x="132171" y="254000"/>
                  <a:pt x="116114" y="254000"/>
                </a:cubicBezTo>
                <a:lnTo>
                  <a:pt x="29029" y="254000"/>
                </a:lnTo>
                <a:close/>
                <a:moveTo>
                  <a:pt x="319314" y="50800"/>
                </a:moveTo>
                <a:cubicBezTo>
                  <a:pt x="319314" y="36751"/>
                  <a:pt x="306342" y="25400"/>
                  <a:pt x="290286" y="25400"/>
                </a:cubicBezTo>
                <a:cubicBezTo>
                  <a:pt x="274229" y="25400"/>
                  <a:pt x="261257" y="36751"/>
                  <a:pt x="261257" y="50800"/>
                </a:cubicBezTo>
                <a:lnTo>
                  <a:pt x="261257" y="127000"/>
                </a:lnTo>
                <a:cubicBezTo>
                  <a:pt x="261257" y="141049"/>
                  <a:pt x="274229" y="152400"/>
                  <a:pt x="290286" y="152400"/>
                </a:cubicBezTo>
                <a:lnTo>
                  <a:pt x="377371" y="152400"/>
                </a:lnTo>
                <a:cubicBezTo>
                  <a:pt x="393428" y="152400"/>
                  <a:pt x="406400" y="141049"/>
                  <a:pt x="406400" y="127000"/>
                </a:cubicBezTo>
                <a:cubicBezTo>
                  <a:pt x="406400" y="112951"/>
                  <a:pt x="393428" y="101600"/>
                  <a:pt x="377371" y="101600"/>
                </a:cubicBezTo>
                <a:lnTo>
                  <a:pt x="319314" y="101600"/>
                </a:lnTo>
                <a:lnTo>
                  <a:pt x="319314" y="50800"/>
                </a:lnTo>
                <a:close/>
                <a:moveTo>
                  <a:pt x="290286" y="254000"/>
                </a:moveTo>
                <a:cubicBezTo>
                  <a:pt x="274229" y="254000"/>
                  <a:pt x="261257" y="265351"/>
                  <a:pt x="261257" y="279400"/>
                </a:cubicBezTo>
                <a:lnTo>
                  <a:pt x="261257" y="355600"/>
                </a:lnTo>
                <a:cubicBezTo>
                  <a:pt x="261257" y="369649"/>
                  <a:pt x="274229" y="381000"/>
                  <a:pt x="290286" y="381000"/>
                </a:cubicBezTo>
                <a:cubicBezTo>
                  <a:pt x="306342" y="381000"/>
                  <a:pt x="319314" y="369649"/>
                  <a:pt x="319314" y="355600"/>
                </a:cubicBezTo>
                <a:lnTo>
                  <a:pt x="319314" y="304800"/>
                </a:lnTo>
                <a:lnTo>
                  <a:pt x="377371" y="304800"/>
                </a:lnTo>
                <a:cubicBezTo>
                  <a:pt x="393428" y="304800"/>
                  <a:pt x="406400" y="293449"/>
                  <a:pt x="406400" y="279400"/>
                </a:cubicBezTo>
                <a:cubicBezTo>
                  <a:pt x="406400" y="265351"/>
                  <a:pt x="393428" y="254000"/>
                  <a:pt x="377371" y="254000"/>
                </a:cubicBezTo>
                <a:lnTo>
                  <a:pt x="290286" y="254000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095500" y="2095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Narrow Domain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 transfer knowledge across domains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69000" y="1905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3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6794500" y="2095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Common Sense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Lacks general world knowledge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68000" y="1905000"/>
            <a:ext cx="4318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2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867" y="155416"/>
                </a:moveTo>
                <a:lnTo>
                  <a:pt x="181469" y="223758"/>
                </a:lnTo>
                <a:cubicBezTo>
                  <a:pt x="188383" y="226933"/>
                  <a:pt x="195721" y="228600"/>
                  <a:pt x="203200" y="228600"/>
                </a:cubicBezTo>
                <a:cubicBezTo>
                  <a:pt x="210679" y="228600"/>
                  <a:pt x="218017" y="226933"/>
                  <a:pt x="224931" y="223758"/>
                </a:cubicBezTo>
                <a:lnTo>
                  <a:pt x="395958" y="144542"/>
                </a:lnTo>
                <a:cubicBezTo>
                  <a:pt x="402308" y="141605"/>
                  <a:pt x="406400" y="134699"/>
                  <a:pt x="406400" y="127000"/>
                </a:cubicBezTo>
                <a:cubicBezTo>
                  <a:pt x="406400" y="119301"/>
                  <a:pt x="402308" y="112395"/>
                  <a:pt x="395958" y="109458"/>
                </a:cubicBezTo>
                <a:lnTo>
                  <a:pt x="224931" y="30242"/>
                </a:lnTo>
                <a:cubicBezTo>
                  <a:pt x="218017" y="27067"/>
                  <a:pt x="210679" y="25400"/>
                  <a:pt x="203200" y="25400"/>
                </a:cubicBezTo>
                <a:cubicBezTo>
                  <a:pt x="195721" y="25400"/>
                  <a:pt x="188383" y="27067"/>
                  <a:pt x="181469" y="30242"/>
                </a:cubicBezTo>
                <a:lnTo>
                  <a:pt x="10442" y="109458"/>
                </a:lnTo>
                <a:cubicBezTo>
                  <a:pt x="4092" y="112395"/>
                  <a:pt x="0" y="119301"/>
                  <a:pt x="0" y="127000"/>
                </a:cubicBezTo>
                <a:lnTo>
                  <a:pt x="0" y="361950"/>
                </a:lnTo>
                <a:cubicBezTo>
                  <a:pt x="0" y="372507"/>
                  <a:pt x="7549" y="381000"/>
                  <a:pt x="16933" y="381000"/>
                </a:cubicBezTo>
                <a:cubicBezTo>
                  <a:pt x="26317" y="381000"/>
                  <a:pt x="33867" y="372507"/>
                  <a:pt x="33867" y="361950"/>
                </a:cubicBezTo>
                <a:lnTo>
                  <a:pt x="33867" y="155416"/>
                </a:lnTo>
                <a:close/>
                <a:moveTo>
                  <a:pt x="67733" y="212328"/>
                </a:moveTo>
                <a:lnTo>
                  <a:pt x="67733" y="304800"/>
                </a:lnTo>
                <a:cubicBezTo>
                  <a:pt x="67733" y="346869"/>
                  <a:pt x="128411" y="381000"/>
                  <a:pt x="203200" y="381000"/>
                </a:cubicBezTo>
                <a:cubicBezTo>
                  <a:pt x="277989" y="381000"/>
                  <a:pt x="338667" y="346869"/>
                  <a:pt x="338667" y="304800"/>
                </a:cubicBezTo>
                <a:lnTo>
                  <a:pt x="338667" y="212249"/>
                </a:lnTo>
                <a:lnTo>
                  <a:pt x="237843" y="259001"/>
                </a:lnTo>
                <a:cubicBezTo>
                  <a:pt x="226836" y="264081"/>
                  <a:pt x="215124" y="266700"/>
                  <a:pt x="203200" y="266700"/>
                </a:cubicBezTo>
                <a:cubicBezTo>
                  <a:pt x="191276" y="266700"/>
                  <a:pt x="179564" y="264081"/>
                  <a:pt x="168557" y="259001"/>
                </a:cubicBezTo>
                <a:lnTo>
                  <a:pt x="67733" y="212249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93500" y="2095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Learning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Cannot improve automatically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3683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4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96850"/>
                </a:moveTo>
                <a:cubicBezTo>
                  <a:pt x="143120" y="196850"/>
                  <a:pt x="94343" y="154170"/>
                  <a:pt x="94343" y="101600"/>
                </a:cubicBezTo>
                <a:cubicBezTo>
                  <a:pt x="94343" y="49030"/>
                  <a:pt x="143120" y="6350"/>
                  <a:pt x="203200" y="6350"/>
                </a:cubicBezTo>
                <a:cubicBezTo>
                  <a:pt x="263280" y="6350"/>
                  <a:pt x="312057" y="49030"/>
                  <a:pt x="312057" y="101600"/>
                </a:cubicBezTo>
                <a:cubicBezTo>
                  <a:pt x="312057" y="154170"/>
                  <a:pt x="263280" y="196850"/>
                  <a:pt x="203200" y="196850"/>
                </a:cubicBezTo>
                <a:close/>
                <a:moveTo>
                  <a:pt x="175532" y="241300"/>
                </a:moveTo>
                <a:lnTo>
                  <a:pt x="230868" y="241300"/>
                </a:lnTo>
                <a:cubicBezTo>
                  <a:pt x="239667" y="241300"/>
                  <a:pt x="246743" y="247491"/>
                  <a:pt x="246743" y="255191"/>
                </a:cubicBezTo>
                <a:cubicBezTo>
                  <a:pt x="246743" y="258524"/>
                  <a:pt x="245382" y="261699"/>
                  <a:pt x="242933" y="264239"/>
                </a:cubicBezTo>
                <a:lnTo>
                  <a:pt x="218077" y="289639"/>
                </a:lnTo>
                <a:lnTo>
                  <a:pt x="246199" y="381000"/>
                </a:lnTo>
                <a:lnTo>
                  <a:pt x="246743" y="381000"/>
                </a:lnTo>
                <a:lnTo>
                  <a:pt x="278130" y="271066"/>
                </a:lnTo>
                <a:cubicBezTo>
                  <a:pt x="280126" y="264160"/>
                  <a:pt x="288199" y="259953"/>
                  <a:pt x="295819" y="262493"/>
                </a:cubicBezTo>
                <a:cubicBezTo>
                  <a:pt x="351971" y="281226"/>
                  <a:pt x="391886" y="328851"/>
                  <a:pt x="391886" y="384572"/>
                </a:cubicBezTo>
                <a:cubicBezTo>
                  <a:pt x="391886" y="396558"/>
                  <a:pt x="380728" y="406321"/>
                  <a:pt x="367030" y="406321"/>
                </a:cubicBezTo>
                <a:lnTo>
                  <a:pt x="39370" y="406400"/>
                </a:lnTo>
                <a:cubicBezTo>
                  <a:pt x="25672" y="406400"/>
                  <a:pt x="14514" y="396637"/>
                  <a:pt x="14514" y="384651"/>
                </a:cubicBezTo>
                <a:cubicBezTo>
                  <a:pt x="14514" y="328930"/>
                  <a:pt x="54429" y="281305"/>
                  <a:pt x="110581" y="262573"/>
                </a:cubicBezTo>
                <a:cubicBezTo>
                  <a:pt x="118201" y="260033"/>
                  <a:pt x="126274" y="264239"/>
                  <a:pt x="128270" y="271145"/>
                </a:cubicBezTo>
                <a:lnTo>
                  <a:pt x="159657" y="381079"/>
                </a:lnTo>
                <a:lnTo>
                  <a:pt x="160201" y="381079"/>
                </a:lnTo>
                <a:lnTo>
                  <a:pt x="188323" y="289719"/>
                </a:lnTo>
                <a:lnTo>
                  <a:pt x="163467" y="264319"/>
                </a:lnTo>
                <a:cubicBezTo>
                  <a:pt x="161018" y="261779"/>
                  <a:pt x="159657" y="258604"/>
                  <a:pt x="159657" y="255270"/>
                </a:cubicBezTo>
                <a:cubicBezTo>
                  <a:pt x="159657" y="247571"/>
                  <a:pt x="166733" y="241379"/>
                  <a:pt x="175532" y="241379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5" name="Text 13"/>
          <p:cNvSpPr/>
          <p:nvPr/>
        </p:nvSpPr>
        <p:spPr>
          <a:xfrm>
            <a:off x="2095500" y="3873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Bottleneck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Extracting knowledge is expensive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3683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3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59410" y="78264"/>
                </a:moveTo>
                <a:cubicBezTo>
                  <a:pt x="364772" y="72231"/>
                  <a:pt x="373733" y="73739"/>
                  <a:pt x="376414" y="81677"/>
                </a:cubicBezTo>
                <a:cubicBezTo>
                  <a:pt x="381212" y="95726"/>
                  <a:pt x="383822" y="111046"/>
                  <a:pt x="383822" y="127000"/>
                </a:cubicBezTo>
                <a:cubicBezTo>
                  <a:pt x="383822" y="197168"/>
                  <a:pt x="333304" y="254000"/>
                  <a:pt x="270933" y="254000"/>
                </a:cubicBezTo>
                <a:cubicBezTo>
                  <a:pt x="258586" y="254000"/>
                  <a:pt x="246662" y="251777"/>
                  <a:pt x="235514" y="247650"/>
                </a:cubicBezTo>
                <a:lnTo>
                  <a:pt x="103646" y="396002"/>
                </a:lnTo>
                <a:cubicBezTo>
                  <a:pt x="83820" y="418306"/>
                  <a:pt x="51647" y="418306"/>
                  <a:pt x="31821" y="396002"/>
                </a:cubicBezTo>
                <a:cubicBezTo>
                  <a:pt x="11994" y="373697"/>
                  <a:pt x="11994" y="337502"/>
                  <a:pt x="31821" y="315198"/>
                </a:cubicBezTo>
                <a:lnTo>
                  <a:pt x="163689" y="166846"/>
                </a:lnTo>
                <a:cubicBezTo>
                  <a:pt x="160020" y="154305"/>
                  <a:pt x="158044" y="140970"/>
                  <a:pt x="158044" y="127000"/>
                </a:cubicBezTo>
                <a:cubicBezTo>
                  <a:pt x="158044" y="56832"/>
                  <a:pt x="208562" y="0"/>
                  <a:pt x="270933" y="0"/>
                </a:cubicBezTo>
                <a:cubicBezTo>
                  <a:pt x="285115" y="0"/>
                  <a:pt x="298732" y="2937"/>
                  <a:pt x="311221" y="8334"/>
                </a:cubicBezTo>
                <a:cubicBezTo>
                  <a:pt x="318276" y="11351"/>
                  <a:pt x="319546" y="21431"/>
                  <a:pt x="314254" y="27464"/>
                </a:cubicBezTo>
                <a:lnTo>
                  <a:pt x="251672" y="97869"/>
                </a:lnTo>
                <a:cubicBezTo>
                  <a:pt x="249555" y="100251"/>
                  <a:pt x="248356" y="103505"/>
                  <a:pt x="248356" y="106839"/>
                </a:cubicBezTo>
                <a:lnTo>
                  <a:pt x="248356" y="139700"/>
                </a:lnTo>
                <a:cubicBezTo>
                  <a:pt x="248356" y="146685"/>
                  <a:pt x="253436" y="152400"/>
                  <a:pt x="259644" y="152400"/>
                </a:cubicBezTo>
                <a:lnTo>
                  <a:pt x="288854" y="152400"/>
                </a:lnTo>
                <a:cubicBezTo>
                  <a:pt x="291818" y="152400"/>
                  <a:pt x="294711" y="151051"/>
                  <a:pt x="296827" y="148669"/>
                </a:cubicBezTo>
                <a:lnTo>
                  <a:pt x="359410" y="78264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8" name="Text 16"/>
          <p:cNvSpPr/>
          <p:nvPr/>
        </p:nvSpPr>
        <p:spPr>
          <a:xfrm>
            <a:off x="6794500" y="3873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Maintenance Cost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Keeping knowledge up-to-date requires ongoing effort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68000" y="3683000"/>
            <a:ext cx="4318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22000" y="400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93500" y="3873500"/>
            <a:ext cx="3238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Brittle Behavior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degrades sharply outside their domain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70000" y="5461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40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1280" y="127000"/>
                </a:moveTo>
                <a:cubicBezTo>
                  <a:pt x="81280" y="84931"/>
                  <a:pt x="135890" y="50800"/>
                  <a:pt x="203200" y="50800"/>
                </a:cubicBezTo>
                <a:cubicBezTo>
                  <a:pt x="270510" y="50800"/>
                  <a:pt x="325120" y="84931"/>
                  <a:pt x="325120" y="127000"/>
                </a:cubicBezTo>
                <a:cubicBezTo>
                  <a:pt x="325120" y="160893"/>
                  <a:pt x="289687" y="189627"/>
                  <a:pt x="240665" y="199549"/>
                </a:cubicBezTo>
                <a:cubicBezTo>
                  <a:pt x="204597" y="206851"/>
                  <a:pt x="162560" y="227568"/>
                  <a:pt x="162560" y="260350"/>
                </a:cubicBezTo>
                <a:lnTo>
                  <a:pt x="162560" y="279400"/>
                </a:lnTo>
                <a:cubicBezTo>
                  <a:pt x="162560" y="293449"/>
                  <a:pt x="180721" y="304800"/>
                  <a:pt x="203200" y="304800"/>
                </a:cubicBezTo>
                <a:cubicBezTo>
                  <a:pt x="225679" y="304800"/>
                  <a:pt x="243840" y="293449"/>
                  <a:pt x="243840" y="279400"/>
                </a:cubicBezTo>
                <a:lnTo>
                  <a:pt x="243840" y="260350"/>
                </a:lnTo>
                <a:cubicBezTo>
                  <a:pt x="243840" y="259001"/>
                  <a:pt x="244602" y="257096"/>
                  <a:pt x="248285" y="254556"/>
                </a:cubicBezTo>
                <a:cubicBezTo>
                  <a:pt x="252095" y="251936"/>
                  <a:pt x="258318" y="249396"/>
                  <a:pt x="265684" y="247888"/>
                </a:cubicBezTo>
                <a:cubicBezTo>
                  <a:pt x="347345" y="231458"/>
                  <a:pt x="406400" y="183594"/>
                  <a:pt x="406400" y="127000"/>
                </a:cubicBezTo>
                <a:cubicBezTo>
                  <a:pt x="406400" y="56832"/>
                  <a:pt x="315468" y="0"/>
                  <a:pt x="203200" y="0"/>
                </a:cubicBezTo>
                <a:cubicBezTo>
                  <a:pt x="90932" y="0"/>
                  <a:pt x="0" y="56832"/>
                  <a:pt x="0" y="127000"/>
                </a:cubicBezTo>
                <a:cubicBezTo>
                  <a:pt x="0" y="141049"/>
                  <a:pt x="18161" y="152400"/>
                  <a:pt x="40640" y="152400"/>
                </a:cubicBezTo>
                <a:cubicBezTo>
                  <a:pt x="63119" y="152400"/>
                  <a:pt x="81280" y="141049"/>
                  <a:pt x="81280" y="127000"/>
                </a:cubicBezTo>
                <a:close/>
                <a:moveTo>
                  <a:pt x="203200" y="406400"/>
                </a:moveTo>
                <a:cubicBezTo>
                  <a:pt x="231267" y="406400"/>
                  <a:pt x="254000" y="392192"/>
                  <a:pt x="254000" y="374650"/>
                </a:cubicBezTo>
                <a:cubicBezTo>
                  <a:pt x="254000" y="357108"/>
                  <a:pt x="231267" y="342900"/>
                  <a:pt x="203200" y="342900"/>
                </a:cubicBezTo>
                <a:cubicBezTo>
                  <a:pt x="175133" y="342900"/>
                  <a:pt x="152400" y="357108"/>
                  <a:pt x="152400" y="374650"/>
                </a:cubicBezTo>
                <a:cubicBezTo>
                  <a:pt x="152400" y="392192"/>
                  <a:pt x="175133" y="406400"/>
                  <a:pt x="203200" y="4064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4" name="Text 22"/>
          <p:cNvSpPr/>
          <p:nvPr/>
        </p:nvSpPr>
        <p:spPr>
          <a:xfrm>
            <a:off x="2095500" y="5651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Uncertainty Handling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Traditional systems struggle with probabilistic reasoning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969000" y="5461000"/>
            <a:ext cx="4445000" cy="1524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23000" y="5778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91294" y="69136"/>
                </a:moveTo>
                <a:lnTo>
                  <a:pt x="203200" y="85566"/>
                </a:lnTo>
                <a:lnTo>
                  <a:pt x="215106" y="69136"/>
                </a:lnTo>
                <a:cubicBezTo>
                  <a:pt x="234950" y="41672"/>
                  <a:pt x="266859" y="25400"/>
                  <a:pt x="300752" y="25400"/>
                </a:cubicBezTo>
                <a:cubicBezTo>
                  <a:pt x="359093" y="25400"/>
                  <a:pt x="406400" y="72708"/>
                  <a:pt x="406400" y="131048"/>
                </a:cubicBezTo>
                <a:lnTo>
                  <a:pt x="406400" y="133112"/>
                </a:lnTo>
                <a:cubicBezTo>
                  <a:pt x="406400" y="222171"/>
                  <a:pt x="295354" y="325596"/>
                  <a:pt x="237411" y="369808"/>
                </a:cubicBezTo>
                <a:cubicBezTo>
                  <a:pt x="227568" y="377269"/>
                  <a:pt x="215503" y="381000"/>
                  <a:pt x="203200" y="381000"/>
                </a:cubicBezTo>
                <a:cubicBezTo>
                  <a:pt x="190897" y="381000"/>
                  <a:pt x="178753" y="377349"/>
                  <a:pt x="168989" y="369808"/>
                </a:cubicBezTo>
                <a:cubicBezTo>
                  <a:pt x="111046" y="325596"/>
                  <a:pt x="0" y="222171"/>
                  <a:pt x="0" y="133112"/>
                </a:cubicBezTo>
                <a:lnTo>
                  <a:pt x="0" y="131048"/>
                </a:lnTo>
                <a:cubicBezTo>
                  <a:pt x="0" y="72708"/>
                  <a:pt x="47308" y="25400"/>
                  <a:pt x="105648" y="25400"/>
                </a:cubicBezTo>
                <a:cubicBezTo>
                  <a:pt x="139541" y="25400"/>
                  <a:pt x="171450" y="41672"/>
                  <a:pt x="191294" y="69136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27" name="Text 25"/>
          <p:cNvSpPr/>
          <p:nvPr/>
        </p:nvSpPr>
        <p:spPr>
          <a:xfrm>
            <a:off x="6794500" y="5651500"/>
            <a:ext cx="336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Trust</a:t>
            </a:r>
            <a:endParaRPr lang="en-US" sz="1600" dirty="0"/>
          </a:p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may not trust machines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668000" y="5461000"/>
            <a:ext cx="4318000" cy="1524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10922000" y="565150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Many limitations are addressed by modern hybrid AI systems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9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Expert Systems — MYCIN &amp; DENDRAL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0000" y="1905000"/>
            <a:ext cx="6731000" cy="6350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6731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MYCIN (1972, Stanford)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24000" y="2730500"/>
            <a:ext cx="6223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Diagnosed bacterial infections and recommended antibiotics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Method: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Backward chaining with 600+ rules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Accuracy: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2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69%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better than human experts at the time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Legacy: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Pioneered explanation facilities (HOW/WHY)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Never deployed due to legal/ethical concerns, but proved computers could perform expert-level medical reasoning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4318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82000" y="1905000"/>
            <a:ext cx="6604000" cy="635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FF7F50"/>
              </a:gs>
              <a:gs pos="100000">
                <a:srgbClr val="FF7F50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8382000" y="1905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DENDRAL (1965, Stanford)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36000" y="2730500"/>
            <a:ext cx="6096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Analyzed mass spectra to identify chemical compounds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Significance: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 successful ES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history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Used chemistry knowledge to constrain search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Legacy:</a:t>
            </a:r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Proved expert-level scientific reasoning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Collaboration: Lederberg, Feigenbaum, and a programmer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6540500"/>
            <a:ext cx="13716000" cy="1397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40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5314" y="28575"/>
                </a:moveTo>
                <a:cubicBezTo>
                  <a:pt x="29289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9289" y="200025"/>
                  <a:pt x="65314" y="200025"/>
                </a:cubicBezTo>
                <a:lnTo>
                  <a:pt x="391886" y="200025"/>
                </a:lnTo>
                <a:cubicBezTo>
                  <a:pt x="427911" y="200025"/>
                  <a:pt x="457200" y="174397"/>
                  <a:pt x="457200" y="142875"/>
                </a:cubicBezTo>
                <a:lnTo>
                  <a:pt x="457200" y="85725"/>
                </a:lnTo>
                <a:cubicBezTo>
                  <a:pt x="457200" y="54203"/>
                  <a:pt x="427911" y="28575"/>
                  <a:pt x="391886" y="28575"/>
                </a:cubicBezTo>
                <a:lnTo>
                  <a:pt x="65314" y="28575"/>
                </a:lnTo>
                <a:close/>
                <a:moveTo>
                  <a:pt x="285750" y="92869"/>
                </a:moveTo>
                <a:cubicBezTo>
                  <a:pt x="299268" y="92869"/>
                  <a:pt x="310243" y="102472"/>
                  <a:pt x="310243" y="114300"/>
                </a:cubicBezTo>
                <a:cubicBezTo>
                  <a:pt x="310243" y="126128"/>
                  <a:pt x="299268" y="135731"/>
                  <a:pt x="285750" y="135731"/>
                </a:cubicBezTo>
                <a:cubicBezTo>
                  <a:pt x="272232" y="135731"/>
                  <a:pt x="261257" y="126128"/>
                  <a:pt x="261257" y="114300"/>
                </a:cubicBezTo>
                <a:cubicBezTo>
                  <a:pt x="261257" y="102472"/>
                  <a:pt x="272232" y="92869"/>
                  <a:pt x="285750" y="92869"/>
                </a:cubicBezTo>
                <a:close/>
                <a:moveTo>
                  <a:pt x="342900" y="114300"/>
                </a:moveTo>
                <a:cubicBezTo>
                  <a:pt x="342900" y="102472"/>
                  <a:pt x="353875" y="92869"/>
                  <a:pt x="367393" y="92869"/>
                </a:cubicBezTo>
                <a:cubicBezTo>
                  <a:pt x="380911" y="92869"/>
                  <a:pt x="391886" y="102472"/>
                  <a:pt x="391886" y="114300"/>
                </a:cubicBezTo>
                <a:cubicBezTo>
                  <a:pt x="391886" y="126128"/>
                  <a:pt x="380911" y="135731"/>
                  <a:pt x="367393" y="135731"/>
                </a:cubicBezTo>
                <a:cubicBezTo>
                  <a:pt x="353875" y="135731"/>
                  <a:pt x="342900" y="126128"/>
                  <a:pt x="342900" y="114300"/>
                </a:cubicBezTo>
                <a:close/>
                <a:moveTo>
                  <a:pt x="65314" y="257175"/>
                </a:moveTo>
                <a:cubicBezTo>
                  <a:pt x="29289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9289" y="428625"/>
                  <a:pt x="65314" y="428625"/>
                </a:cubicBezTo>
                <a:lnTo>
                  <a:pt x="391886" y="428625"/>
                </a:lnTo>
                <a:cubicBezTo>
                  <a:pt x="427911" y="428625"/>
                  <a:pt x="457200" y="402997"/>
                  <a:pt x="457200" y="371475"/>
                </a:cubicBezTo>
                <a:lnTo>
                  <a:pt x="457200" y="314325"/>
                </a:lnTo>
                <a:cubicBezTo>
                  <a:pt x="457200" y="282803"/>
                  <a:pt x="427911" y="257175"/>
                  <a:pt x="391886" y="257175"/>
                </a:cubicBezTo>
                <a:lnTo>
                  <a:pt x="65314" y="257175"/>
                </a:lnTo>
                <a:close/>
                <a:moveTo>
                  <a:pt x="285750" y="321469"/>
                </a:moveTo>
                <a:cubicBezTo>
                  <a:pt x="299268" y="321469"/>
                  <a:pt x="310243" y="331072"/>
                  <a:pt x="310243" y="342900"/>
                </a:cubicBezTo>
                <a:cubicBezTo>
                  <a:pt x="310243" y="354728"/>
                  <a:pt x="299268" y="364331"/>
                  <a:pt x="285750" y="364331"/>
                </a:cubicBezTo>
                <a:cubicBezTo>
                  <a:pt x="272232" y="364331"/>
                  <a:pt x="261257" y="354728"/>
                  <a:pt x="261257" y="342900"/>
                </a:cubicBezTo>
                <a:cubicBezTo>
                  <a:pt x="261257" y="331072"/>
                  <a:pt x="272232" y="321469"/>
                  <a:pt x="285750" y="321469"/>
                </a:cubicBezTo>
                <a:close/>
                <a:moveTo>
                  <a:pt x="342900" y="342900"/>
                </a:moveTo>
                <a:cubicBezTo>
                  <a:pt x="342900" y="331072"/>
                  <a:pt x="353875" y="321469"/>
                  <a:pt x="367393" y="321469"/>
                </a:cubicBezTo>
                <a:cubicBezTo>
                  <a:pt x="380911" y="321469"/>
                  <a:pt x="391886" y="331072"/>
                  <a:pt x="391886" y="342900"/>
                </a:cubicBezTo>
                <a:cubicBezTo>
                  <a:pt x="391886" y="354728"/>
                  <a:pt x="380911" y="364331"/>
                  <a:pt x="367393" y="364331"/>
                </a:cubicBezTo>
                <a:cubicBezTo>
                  <a:pt x="353875" y="364331"/>
                  <a:pt x="342900" y="354728"/>
                  <a:pt x="342900" y="34290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4" name="Text 12"/>
          <p:cNvSpPr/>
          <p:nvPr/>
        </p:nvSpPr>
        <p:spPr>
          <a:xfrm>
            <a:off x="2159000" y="6667500"/>
            <a:ext cx="1257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XCON (1982, DEC):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Configured VAX computer systems with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10,000+ rules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Saved Digital Equipment Corporation </a:t>
            </a:r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$40 million annually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One of the most commercially successful expert systems ever built.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Modern Real World Applications of 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4445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0000" y="1905000"/>
            <a:ext cx="4445000" cy="571500"/>
          </a:xfrm>
          <a:prstGeom prst="roundRect">
            <a:avLst>
              <a:gd name="adj" fmla="val 8000"/>
            </a:avLst>
          </a:pr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1905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 &amp; Agriculture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24000" y="2667000"/>
            <a:ext cx="393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Medical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CADUCEUS — internal medicine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Cancer detection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Drug interaction checking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Agriculture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Rice-Crop Doctor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Pest/disease diagnosis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Livestock management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Education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Intelligent tutoring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Adaptive learning systems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69000" y="1905000"/>
            <a:ext cx="4445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69000" y="1905000"/>
            <a:ext cx="4445000" cy="571500"/>
          </a:xfrm>
          <a:prstGeom prst="roundRect">
            <a:avLst>
              <a:gd name="adj" fmla="val 8000"/>
            </a:avLst>
          </a:pr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5969000" y="19050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&amp; Finance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23000" y="2667000"/>
            <a:ext cx="3937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Finance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Credit scoring systems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Fraud detection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Algorithmic trading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Manufacturing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Process planning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Quality control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Fault diagnosis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Automotive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Engine diagnostics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Troubleshooting guides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668000" y="1905000"/>
            <a:ext cx="4318000" cy="6223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68000" y="1905000"/>
            <a:ext cx="4318000" cy="5715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4" name="Text 12"/>
          <p:cNvSpPr/>
          <p:nvPr/>
        </p:nvSpPr>
        <p:spPr>
          <a:xfrm>
            <a:off x="10668000" y="19050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&amp; Government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22000" y="2667000"/>
            <a:ext cx="3810000" cy="527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Telecom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Network fault mgmt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NYNEX Max system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Government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Tax advisory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Legal assistance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Military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Battlefield decisions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Threat assessment</a:t>
            </a:r>
            <a:endParaRPr lang="en-US" sz="1800" dirty="0"/>
          </a:p>
          <a:p>
            <a:pPr algn="l">
              <a:lnSpc>
                <a:spcPct val="15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Trend: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 + ML = Hybrid AI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03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 &amp; Key Takeaways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413000" y="3302000"/>
            <a:ext cx="1143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 encode human expertise into computer systems for specialized domains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Knowledge Base + Inference Engine</a:t>
            </a:r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form the core architecture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 Chaining</a:t>
            </a:r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(data-driven) and </a:t>
            </a:r>
            <a:pPr algn="ctr">
              <a:lnSpc>
                <a:spcPct val="17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Backward Chaining</a:t>
            </a:r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(goal-driven) are the two primary strategies</a:t>
            </a:r>
            <a:endParaRPr lang="en-US" sz="2000" dirty="0"/>
          </a:p>
          <a:p>
            <a:pPr algn="ctr">
              <a:lnSpc>
                <a:spcPct val="17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trend: Integration with Machine Learning creating </a:t>
            </a:r>
            <a:pPr algn="ctr">
              <a:lnSpc>
                <a:spcPct val="17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hybrid intelligent systems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413000" y="603250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"The power of an expert system lies not in its reasoning mechanism, but in the quality of its knowledge."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8000" y="711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Expert Systems in AI — Lecture 17 &amp; 18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10</dc:title>
  <dc:subject>week 10</dc:subject>
  <dc:creator>Kimi</dc:creator>
  <cp:lastModifiedBy>Kimi</cp:lastModifiedBy>
  <cp:revision>1</cp:revision>
  <dcterms:created xsi:type="dcterms:W3CDTF">2026-06-29T07:15:25Z</dcterms:created>
  <dcterms:modified xsi:type="dcterms:W3CDTF">2026-06-29T07:15:25Z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10","ContentProducer":"001191110108MACG2KBH8F10000","ProduceID":"19f1223c-e1e2-80f9-8000-0000cf794c75","ReservedCode1":"","ContentPropagator":"001191110108MACG2KBH8F20000","PropagateID":"19f121f4-0bf2-8c0f-8000-09f4f8d032f6","ReservedCode2":""}</vt:lpwstr>
  </property>
</Properties>
</file>