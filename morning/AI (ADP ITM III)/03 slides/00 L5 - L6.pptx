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Liter" charset="-122" pitchFamily="34"/>
      <p:regular r:id="rId37"/>
    </p:embeddedFont>
    <p:embeddedFont>
      <p:font typeface="Quattrocento Sans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ilo64jtmudb4/mnt/agents/output/ai_agents_env/images/3_Ai_Brain_Concept_Stock_Illustrations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23">
                  <a:alpha val="94000"/>
                </a:srgbClr>
              </a:gs>
              <a:gs pos="50000">
                <a:srgbClr val="1B2A23">
                  <a:alpha val="82000"/>
                </a:srgbClr>
              </a:gs>
              <a:gs pos="100000">
                <a:srgbClr val="1B2A23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3 — LECTURE 5 &amp;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1778000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spc="100" kern="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3800" spc="100" kern="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Agents and Environment Properties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556000"/>
            <a:ext cx="1016000" cy="508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191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5F1E8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How AI Systems Perceive, Decide, and Act in Their World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2000" y="8001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5F1E8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Beginner-Friendly Introduction to AI Agents &amp; Environments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AI Agent?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8382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any system that can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perceive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its surroundings and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take actions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 of it like a person with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eyes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brain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agent sees the world through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sensors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(cameras, microphones, data inputs)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agent acts through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actuators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(motors, speakers, displays)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AI system — from robots to chatbots — is an agent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idea: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Perceive → Think → Act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52000" y="1397000"/>
            <a:ext cx="6604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33000" y="2286000"/>
            <a:ext cx="1524000" cy="762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10033000" y="2286000"/>
            <a:ext cx="15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684000" y="2603500"/>
            <a:ext cx="762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2573000" y="2032000"/>
            <a:ext cx="1778000" cy="12700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0" y="2032000"/>
            <a:ext cx="1778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(Brain)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478000" y="2603500"/>
            <a:ext cx="762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4859000" y="2286000"/>
            <a:ext cx="1397000" cy="304800"/>
          </a:xfrm>
          <a:prstGeom prst="roundRect">
            <a:avLst>
              <a:gd name="adj" fmla="val 12000"/>
            </a:avLst>
          </a:prstGeom>
          <a:solidFill>
            <a:srgbClr val="FDE2D4"/>
          </a:solidFill>
          <a:ln/>
        </p:spPr>
      </p:sp>
      <p:sp>
        <p:nvSpPr>
          <p:cNvPr id="13" name="Text 11"/>
          <p:cNvSpPr/>
          <p:nvPr/>
        </p:nvSpPr>
        <p:spPr>
          <a:xfrm>
            <a:off x="14859000" y="22860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52000" y="3810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 Architecture: Input → Processing → Output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self-driving car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agent. Its cameras and radar are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sensors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Its steering and brakes are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actuators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Agents Make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874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Humans make decisions based on what they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know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want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agents work the same way — but follow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programmed rules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learned patterns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decision-making process is called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 function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agents make decisions in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ways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(some simple, some complex)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smarter the agent,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more it considers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before acting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agents share the same goal: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choose the best action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the situation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397000"/>
            <a:ext cx="6350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52000" y="1778000"/>
            <a:ext cx="1270000" cy="635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0" y="1778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049000" y="2057400"/>
            <a:ext cx="635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1811000" y="1778000"/>
            <a:ext cx="1270000" cy="6350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0" y="1778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208000" y="2057400"/>
            <a:ext cx="635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3970000" y="1778000"/>
            <a:ext cx="1270000" cy="635000"/>
          </a:xfrm>
          <a:prstGeom prst="roundRect">
            <a:avLst>
              <a:gd name="adj" fmla="val 12000"/>
            </a:avLst>
          </a:prstGeom>
          <a:solidFill>
            <a:srgbClr val="FDE2D4"/>
          </a:solidFill>
          <a:ln/>
        </p:spPr>
      </p:sp>
      <p:sp>
        <p:nvSpPr>
          <p:cNvPr id="13" name="Text 11"/>
          <p:cNvSpPr/>
          <p:nvPr/>
        </p:nvSpPr>
        <p:spPr>
          <a:xfrm>
            <a:off x="13970000" y="1778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049000" y="3302000"/>
            <a:ext cx="3683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1811000" y="3556000"/>
            <a:ext cx="1270000" cy="635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0" y="3556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0" y="444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Agent Decision Flow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6175" y="5778500"/>
            <a:ext cx="222250" cy="355600"/>
          </a:xfrm>
          <a:custGeom>
            <a:avLst/>
            <a:gdLst/>
            <a:ahLst/>
            <a:cxnLst/>
            <a:rect l="l" t="t" r="r" b="b"/>
            <a:pathLst>
              <a:path w="222250" h="355600">
                <a:moveTo>
                  <a:pt x="111125" y="0"/>
                </a:moveTo>
                <a:cubicBezTo>
                  <a:pt x="74315" y="0"/>
                  <a:pt x="44450" y="29865"/>
                  <a:pt x="44450" y="66675"/>
                </a:cubicBezTo>
                <a:lnTo>
                  <a:pt x="44450" y="181064"/>
                </a:lnTo>
                <a:cubicBezTo>
                  <a:pt x="23961" y="199330"/>
                  <a:pt x="11112" y="226000"/>
                  <a:pt x="11112" y="255587"/>
                </a:cubicBezTo>
                <a:cubicBezTo>
                  <a:pt x="11112" y="310803"/>
                  <a:pt x="55910" y="355600"/>
                  <a:pt x="111125" y="355600"/>
                </a:cubicBezTo>
                <a:cubicBezTo>
                  <a:pt x="166340" y="355600"/>
                  <a:pt x="211138" y="310803"/>
                  <a:pt x="211138" y="255587"/>
                </a:cubicBezTo>
                <a:cubicBezTo>
                  <a:pt x="211138" y="226000"/>
                  <a:pt x="198289" y="199330"/>
                  <a:pt x="177800" y="181064"/>
                </a:cubicBezTo>
                <a:lnTo>
                  <a:pt x="177800" y="66675"/>
                </a:lnTo>
                <a:cubicBezTo>
                  <a:pt x="177800" y="29865"/>
                  <a:pt x="147935" y="0"/>
                  <a:pt x="111125" y="0"/>
                </a:cubicBezTo>
                <a:close/>
                <a:moveTo>
                  <a:pt x="155575" y="255587"/>
                </a:moveTo>
                <a:cubicBezTo>
                  <a:pt x="155575" y="280104"/>
                  <a:pt x="135642" y="300038"/>
                  <a:pt x="111125" y="300038"/>
                </a:cubicBezTo>
                <a:cubicBezTo>
                  <a:pt x="86608" y="300038"/>
                  <a:pt x="66675" y="280104"/>
                  <a:pt x="66675" y="255587"/>
                </a:cubicBezTo>
                <a:cubicBezTo>
                  <a:pt x="66675" y="236905"/>
                  <a:pt x="78135" y="220930"/>
                  <a:pt x="94456" y="214402"/>
                </a:cubicBezTo>
                <a:lnTo>
                  <a:pt x="94456" y="150019"/>
                </a:lnTo>
                <a:cubicBezTo>
                  <a:pt x="94456" y="140781"/>
                  <a:pt x="101888" y="133350"/>
                  <a:pt x="111125" y="133350"/>
                </a:cubicBezTo>
                <a:cubicBezTo>
                  <a:pt x="120362" y="133350"/>
                  <a:pt x="127794" y="140781"/>
                  <a:pt x="127794" y="150019"/>
                </a:cubicBezTo>
                <a:lnTo>
                  <a:pt x="127794" y="214402"/>
                </a:lnTo>
                <a:cubicBezTo>
                  <a:pt x="144115" y="221000"/>
                  <a:pt x="155575" y="236974"/>
                  <a:pt x="155575" y="25558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 thermostat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decides to heat or cool based on temperature readings (input) and your preferences (rules).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Agent-Environment Relationship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874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agent does not work in isolation — it operates inside an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environment is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everything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agent interacts with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agent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observes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environment and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changes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it through actions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creates a continuous loop: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observe → decide → act → observe again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type of environment affects how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complex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agent needs to be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environment is key to designing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AI systems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397000"/>
            <a:ext cx="6350000" cy="393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76000" y="17780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11176000" y="1778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176000" y="38100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9" name="Text 7"/>
          <p:cNvSpPr/>
          <p:nvPr/>
        </p:nvSpPr>
        <p:spPr>
          <a:xfrm>
            <a:off x="11176000" y="3810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19000" y="2603500"/>
            <a:ext cx="0" cy="114300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2065000" y="2603500"/>
            <a:ext cx="0" cy="11430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arrow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2573000" y="2921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0" y="2921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0" y="482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Continuous Agent-Environment Loop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5050" y="5778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robot vacuum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operates in your home (the environment). It sees walls and furniture, then decides where to move.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FFFFFF">
                    <a:alpha val="705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100" kern="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Agents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1E8">
                    <a:alpha val="62745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AI Systems Make Decisions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970000" y="6350000"/>
            <a:ext cx="1524000" cy="1524000"/>
          </a:xfrm>
          <a:prstGeom prst="ellipse">
            <a:avLst/>
          </a:prstGeom>
          <a:solidFill>
            <a:srgbClr val="2D6A4F">
              <a:alpha val="18824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335000" y="5842000"/>
            <a:ext cx="1016000" cy="1016000"/>
          </a:xfrm>
          <a:prstGeom prst="ellipse">
            <a:avLst/>
          </a:prstGeom>
          <a:solidFill>
            <a:srgbClr val="E07A5F">
              <a:alpha val="1451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Reflex Agent — 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889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simplest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type of AI agent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Acts only based on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current situation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 memory of the past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condition-action rules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"If this happens, do that"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Fast and easy to build, but very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limited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capability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learn from experience or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the future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Works best in simple,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predictable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environments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0" y="1397000"/>
            <a:ext cx="5334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611100" y="177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403384" y="-11787"/>
                </a:moveTo>
                <a:cubicBezTo>
                  <a:pt x="417552" y="-1548"/>
                  <a:pt x="422791" y="17026"/>
                  <a:pt x="416362" y="33218"/>
                </a:cubicBezTo>
                <a:lnTo>
                  <a:pt x="323017" y="266700"/>
                </a:lnTo>
                <a:lnTo>
                  <a:pt x="495300" y="266700"/>
                </a:lnTo>
                <a:cubicBezTo>
                  <a:pt x="511373" y="266700"/>
                  <a:pt x="525661" y="276701"/>
                  <a:pt x="531138" y="291822"/>
                </a:cubicBezTo>
                <a:cubicBezTo>
                  <a:pt x="536615" y="306943"/>
                  <a:pt x="531971" y="323850"/>
                  <a:pt x="519708" y="334089"/>
                </a:cubicBezTo>
                <a:lnTo>
                  <a:pt x="176808" y="619839"/>
                </a:lnTo>
                <a:cubicBezTo>
                  <a:pt x="163354" y="631031"/>
                  <a:pt x="144185" y="631627"/>
                  <a:pt x="130016" y="621387"/>
                </a:cubicBezTo>
                <a:cubicBezTo>
                  <a:pt x="115848" y="611148"/>
                  <a:pt x="110609" y="592574"/>
                  <a:pt x="117038" y="576382"/>
                </a:cubicBezTo>
                <a:lnTo>
                  <a:pt x="210383" y="342900"/>
                </a:lnTo>
                <a:lnTo>
                  <a:pt x="38100" y="342900"/>
                </a:lnTo>
                <a:cubicBezTo>
                  <a:pt x="22027" y="342900"/>
                  <a:pt x="7739" y="332899"/>
                  <a:pt x="2262" y="317778"/>
                </a:cubicBezTo>
                <a:cubicBezTo>
                  <a:pt x="-3215" y="302657"/>
                  <a:pt x="1429" y="285750"/>
                  <a:pt x="13692" y="275511"/>
                </a:cubicBezTo>
                <a:lnTo>
                  <a:pt x="356592" y="-10239"/>
                </a:lnTo>
                <a:cubicBezTo>
                  <a:pt x="370046" y="-21431"/>
                  <a:pt x="389215" y="-22027"/>
                  <a:pt x="403384" y="-1178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10541000" y="2540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41000" y="30480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reflex agent is like a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knee-jerk reaction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It responds instantly to what it senses right now, without thinking about what happened before.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1101725" y="577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44450"/>
                </a:moveTo>
                <a:lnTo>
                  <a:pt x="244475" y="44450"/>
                </a:lnTo>
                <a:lnTo>
                  <a:pt x="244475" y="333375"/>
                </a:lnTo>
                <a:cubicBezTo>
                  <a:pt x="244475" y="345668"/>
                  <a:pt x="254407" y="355600"/>
                  <a:pt x="266700" y="355600"/>
                </a:cubicBezTo>
                <a:lnTo>
                  <a:pt x="288925" y="355600"/>
                </a:lnTo>
                <a:cubicBezTo>
                  <a:pt x="301218" y="355600"/>
                  <a:pt x="311150" y="345668"/>
                  <a:pt x="311150" y="333375"/>
                </a:cubicBezTo>
                <a:cubicBezTo>
                  <a:pt x="311150" y="321082"/>
                  <a:pt x="301218" y="311150"/>
                  <a:pt x="288925" y="311150"/>
                </a:cubicBezTo>
                <a:lnTo>
                  <a:pt x="288925" y="44450"/>
                </a:lnTo>
                <a:cubicBezTo>
                  <a:pt x="288925" y="19933"/>
                  <a:pt x="268992" y="0"/>
                  <a:pt x="244475" y="0"/>
                </a:cubicBezTo>
                <a:lnTo>
                  <a:pt x="177800" y="0"/>
                </a:lnTo>
                <a:lnTo>
                  <a:pt x="177800" y="0"/>
                </a:lnTo>
                <a:lnTo>
                  <a:pt x="66675" y="0"/>
                </a:lnTo>
                <a:cubicBezTo>
                  <a:pt x="42158" y="0"/>
                  <a:pt x="22225" y="19933"/>
                  <a:pt x="22225" y="44450"/>
                </a:cubicBezTo>
                <a:lnTo>
                  <a:pt x="22225" y="311150"/>
                </a:lnTo>
                <a:cubicBezTo>
                  <a:pt x="9932" y="311150"/>
                  <a:pt x="0" y="321082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177800" y="355600"/>
                </a:lnTo>
                <a:cubicBezTo>
                  <a:pt x="190093" y="355600"/>
                  <a:pt x="200025" y="345668"/>
                  <a:pt x="200025" y="333375"/>
                </a:cubicBezTo>
                <a:lnTo>
                  <a:pt x="200025" y="44450"/>
                </a:lnTo>
                <a:close/>
                <a:moveTo>
                  <a:pt x="111125" y="177800"/>
                </a:moveTo>
                <a:cubicBezTo>
                  <a:pt x="111125" y="165534"/>
                  <a:pt x="121084" y="155575"/>
                  <a:pt x="133350" y="155575"/>
                </a:cubicBezTo>
                <a:cubicBezTo>
                  <a:pt x="145616" y="155575"/>
                  <a:pt x="155575" y="165534"/>
                  <a:pt x="155575" y="177800"/>
                </a:cubicBezTo>
                <a:cubicBezTo>
                  <a:pt x="155575" y="190066"/>
                  <a:pt x="145616" y="200025"/>
                  <a:pt x="133350" y="200025"/>
                </a:cubicBezTo>
                <a:cubicBezTo>
                  <a:pt x="121084" y="200025"/>
                  <a:pt x="111125" y="190066"/>
                  <a:pt x="111125" y="1778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 door sensor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If it detects motion, it opens. It does not remember who walked through — it just reacts to the present moment.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Reflex Agent —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35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Sensors detect the current state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Rules: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Condition-action rules stored in the agent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Decision: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Match current input to a rule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Output: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Perform the action from the rule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internal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model of the world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Architecture: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Sensors → Rules → Actuators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0" y="1397000"/>
            <a:ext cx="7874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0" y="2286000"/>
            <a:ext cx="1651000" cy="762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2286000"/>
            <a:ext cx="1651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0" y="2641600"/>
            <a:ext cx="762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0795000" y="2032000"/>
            <a:ext cx="2032000" cy="12700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10795000" y="2032000"/>
            <a:ext cx="2032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CONDITION-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RULES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954000" y="2641600"/>
            <a:ext cx="762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3843000" y="2286000"/>
            <a:ext cx="1651000" cy="762000"/>
          </a:xfrm>
          <a:prstGeom prst="roundRect">
            <a:avLst>
              <a:gd name="adj" fmla="val 12000"/>
            </a:avLst>
          </a:prstGeom>
          <a:solidFill>
            <a:srgbClr val="FDE2D4"/>
          </a:solidFill>
          <a:ln/>
        </p:spPr>
      </p:sp>
      <p:sp>
        <p:nvSpPr>
          <p:cNvPr id="13" name="Text 11"/>
          <p:cNvSpPr/>
          <p:nvPr/>
        </p:nvSpPr>
        <p:spPr>
          <a:xfrm>
            <a:off x="13843000" y="2286000"/>
            <a:ext cx="1651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0" y="36830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 Rule: IF smoke detected → THEN sound alarm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memory. No planning. Just instant reaction.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1725" y="577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11472" y="-18336"/>
                </a:moveTo>
                <a:cubicBezTo>
                  <a:pt x="117931" y="-23753"/>
                  <a:pt x="127446" y="-23545"/>
                  <a:pt x="133628" y="-17711"/>
                </a:cubicBezTo>
                <a:cubicBezTo>
                  <a:pt x="142171" y="-9654"/>
                  <a:pt x="149810" y="-764"/>
                  <a:pt x="157172" y="8265"/>
                </a:cubicBezTo>
                <a:cubicBezTo>
                  <a:pt x="166549" y="19725"/>
                  <a:pt x="177800" y="34865"/>
                  <a:pt x="188635" y="52854"/>
                </a:cubicBezTo>
                <a:cubicBezTo>
                  <a:pt x="192246" y="48131"/>
                  <a:pt x="195580" y="43964"/>
                  <a:pt x="198497" y="40422"/>
                </a:cubicBezTo>
                <a:cubicBezTo>
                  <a:pt x="199261" y="39519"/>
                  <a:pt x="200025" y="38546"/>
                  <a:pt x="200789" y="37574"/>
                </a:cubicBezTo>
                <a:cubicBezTo>
                  <a:pt x="206276" y="30768"/>
                  <a:pt x="213082" y="22225"/>
                  <a:pt x="222181" y="22225"/>
                </a:cubicBezTo>
                <a:cubicBezTo>
                  <a:pt x="231487" y="22225"/>
                  <a:pt x="238016" y="30490"/>
                  <a:pt x="243572" y="37574"/>
                </a:cubicBezTo>
                <a:cubicBezTo>
                  <a:pt x="244475" y="38755"/>
                  <a:pt x="245378" y="39866"/>
                  <a:pt x="246281" y="40908"/>
                </a:cubicBezTo>
                <a:cubicBezTo>
                  <a:pt x="253434" y="49520"/>
                  <a:pt x="262950" y="61952"/>
                  <a:pt x="272465" y="77301"/>
                </a:cubicBezTo>
                <a:cubicBezTo>
                  <a:pt x="291356" y="107791"/>
                  <a:pt x="311081" y="151199"/>
                  <a:pt x="311081" y="199956"/>
                </a:cubicBezTo>
                <a:cubicBezTo>
                  <a:pt x="311081" y="285869"/>
                  <a:pt x="241419" y="355531"/>
                  <a:pt x="155506" y="355531"/>
                </a:cubicBezTo>
                <a:cubicBezTo>
                  <a:pt x="69592" y="355531"/>
                  <a:pt x="0" y="285939"/>
                  <a:pt x="0" y="200025"/>
                </a:cubicBezTo>
                <a:cubicBezTo>
                  <a:pt x="0" y="136753"/>
                  <a:pt x="28545" y="81955"/>
                  <a:pt x="55910" y="43755"/>
                </a:cubicBezTo>
                <a:cubicBezTo>
                  <a:pt x="69731" y="24517"/>
                  <a:pt x="83483" y="9098"/>
                  <a:pt x="93831" y="-1459"/>
                </a:cubicBezTo>
                <a:cubicBezTo>
                  <a:pt x="99526" y="-7293"/>
                  <a:pt x="105291" y="-13057"/>
                  <a:pt x="111542" y="-18266"/>
                </a:cubicBezTo>
                <a:close/>
                <a:moveTo>
                  <a:pt x="156756" y="288925"/>
                </a:moveTo>
                <a:cubicBezTo>
                  <a:pt x="174327" y="288925"/>
                  <a:pt x="189885" y="284063"/>
                  <a:pt x="204539" y="274340"/>
                </a:cubicBezTo>
                <a:cubicBezTo>
                  <a:pt x="233779" y="253921"/>
                  <a:pt x="241627" y="213082"/>
                  <a:pt x="224056" y="180995"/>
                </a:cubicBezTo>
                <a:cubicBezTo>
                  <a:pt x="220930" y="174744"/>
                  <a:pt x="212943" y="174327"/>
                  <a:pt x="208429" y="179606"/>
                </a:cubicBezTo>
                <a:lnTo>
                  <a:pt x="190927" y="199956"/>
                </a:lnTo>
                <a:cubicBezTo>
                  <a:pt x="186343" y="205234"/>
                  <a:pt x="178078" y="205095"/>
                  <a:pt x="173772" y="199608"/>
                </a:cubicBezTo>
                <a:cubicBezTo>
                  <a:pt x="161756" y="184259"/>
                  <a:pt x="139670" y="156270"/>
                  <a:pt x="128419" y="141962"/>
                </a:cubicBezTo>
                <a:cubicBezTo>
                  <a:pt x="124668" y="137170"/>
                  <a:pt x="117862" y="136406"/>
                  <a:pt x="113486" y="140643"/>
                </a:cubicBezTo>
                <a:cubicBezTo>
                  <a:pt x="100776" y="153005"/>
                  <a:pt x="77718" y="180092"/>
                  <a:pt x="77718" y="213082"/>
                </a:cubicBezTo>
                <a:cubicBezTo>
                  <a:pt x="77718" y="260727"/>
                  <a:pt x="112861" y="288925"/>
                  <a:pt x="156686" y="2889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smoke detector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If smoke is detected → alarm sounds. No memory, no planning — just a direct condition-action response.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Reflex Agent — Real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874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robot vacuum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only bumps and turns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it hits a wall, it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turns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a random direction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does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remember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where it has already cleaned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does not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plan a path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it just reacts to each bump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Simple, cheap, but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very efficient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enough for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small, simple rooms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397000"/>
            <a:ext cx="6350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pic>
        <p:nvPicPr>
          <p:cNvPr id="6" name="Image 0" descr="https://kimi-img.moonshot.cn/pub/slides/okc/vilo64jtmudb4/mnt/agents/output/ai_agents_env/images/5_Roborock_S8_Revolutionizing_Home.png">    </p:cNvPr>
          <p:cNvPicPr>
            <a:picLocks noChangeAspect="1"/>
          </p:cNvPicPr>
          <p:nvPr/>
        </p:nvPicPr>
        <p:blipFill>
          <a:blip r:embed="rId1"/>
          <a:srcRect l="0" r="0" t="31884" b="31884"/>
          <a:stretch/>
        </p:blipFill>
        <p:spPr>
          <a:xfrm>
            <a:off x="9398000" y="1587500"/>
            <a:ext cx="5842000" cy="2540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9398000" y="4318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Basic robot vacuums use simple reflex behavior: bump → turn → repeat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9" name="Shape 6"/>
          <p:cNvSpPr/>
          <p:nvPr/>
        </p:nvSpPr>
        <p:spPr>
          <a:xfrm>
            <a:off x="1057275" y="577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93521" y="37921"/>
                </a:moveTo>
                <a:cubicBezTo>
                  <a:pt x="402203" y="29240"/>
                  <a:pt x="402203" y="15141"/>
                  <a:pt x="393521" y="6459"/>
                </a:cubicBezTo>
                <a:cubicBezTo>
                  <a:pt x="384840" y="-2222"/>
                  <a:pt x="370741" y="-2222"/>
                  <a:pt x="362059" y="6459"/>
                </a:cubicBezTo>
                <a:lnTo>
                  <a:pt x="228709" y="139809"/>
                </a:lnTo>
                <a:lnTo>
                  <a:pt x="204609" y="115709"/>
                </a:lnTo>
                <a:cubicBezTo>
                  <a:pt x="201692" y="112792"/>
                  <a:pt x="197664" y="111125"/>
                  <a:pt x="193496" y="111125"/>
                </a:cubicBezTo>
                <a:cubicBezTo>
                  <a:pt x="184815" y="111125"/>
                  <a:pt x="177800" y="118140"/>
                  <a:pt x="177800" y="126821"/>
                </a:cubicBezTo>
                <a:lnTo>
                  <a:pt x="177800" y="147032"/>
                </a:lnTo>
                <a:lnTo>
                  <a:pt x="253018" y="222250"/>
                </a:lnTo>
                <a:lnTo>
                  <a:pt x="273229" y="222250"/>
                </a:lnTo>
                <a:cubicBezTo>
                  <a:pt x="281910" y="222250"/>
                  <a:pt x="288925" y="215235"/>
                  <a:pt x="288925" y="206554"/>
                </a:cubicBezTo>
                <a:cubicBezTo>
                  <a:pt x="288925" y="202386"/>
                  <a:pt x="287258" y="198358"/>
                  <a:pt x="284341" y="195441"/>
                </a:cubicBezTo>
                <a:lnTo>
                  <a:pt x="260241" y="171341"/>
                </a:lnTo>
                <a:lnTo>
                  <a:pt x="393591" y="37991"/>
                </a:lnTo>
                <a:close/>
                <a:moveTo>
                  <a:pt x="236905" y="245447"/>
                </a:moveTo>
                <a:lnTo>
                  <a:pt x="154603" y="163145"/>
                </a:lnTo>
                <a:cubicBezTo>
                  <a:pt x="124946" y="160576"/>
                  <a:pt x="95429" y="171271"/>
                  <a:pt x="74176" y="192524"/>
                </a:cubicBezTo>
                <a:lnTo>
                  <a:pt x="68620" y="198080"/>
                </a:lnTo>
                <a:cubicBezTo>
                  <a:pt x="53132" y="213568"/>
                  <a:pt x="44450" y="234543"/>
                  <a:pt x="44450" y="256421"/>
                </a:cubicBezTo>
                <a:cubicBezTo>
                  <a:pt x="44450" y="261144"/>
                  <a:pt x="49381" y="264200"/>
                  <a:pt x="53618" y="262116"/>
                </a:cubicBezTo>
                <a:lnTo>
                  <a:pt x="89108" y="244406"/>
                </a:lnTo>
                <a:cubicBezTo>
                  <a:pt x="92581" y="242669"/>
                  <a:pt x="95706" y="247253"/>
                  <a:pt x="92859" y="249892"/>
                </a:cubicBezTo>
                <a:lnTo>
                  <a:pt x="5070" y="328791"/>
                </a:lnTo>
                <a:cubicBezTo>
                  <a:pt x="1875" y="331708"/>
                  <a:pt x="0" y="335875"/>
                  <a:pt x="0" y="340251"/>
                </a:cubicBezTo>
                <a:cubicBezTo>
                  <a:pt x="0" y="348724"/>
                  <a:pt x="6876" y="355600"/>
                  <a:pt x="15349" y="355600"/>
                </a:cubicBezTo>
                <a:lnTo>
                  <a:pt x="135711" y="355600"/>
                </a:lnTo>
                <a:cubicBezTo>
                  <a:pt x="162659" y="355600"/>
                  <a:pt x="188426" y="344904"/>
                  <a:pt x="207526" y="325874"/>
                </a:cubicBezTo>
                <a:cubicBezTo>
                  <a:pt x="228779" y="304621"/>
                  <a:pt x="239405" y="275104"/>
                  <a:pt x="236905" y="24544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Text 7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9500" y="6223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Early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Roomba models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used simple reflex behavior. They cleaned rooms by bouncing around randomly — no map, no memory, just reacting to obstacles.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Model-Based Agent — 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889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agent that keeps track of the past using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internal memory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Maintains an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internal model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(representation) of the world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handle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partially observable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environments better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Updates its model based on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 sensor information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Makes decisions based on both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current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past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information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More capable, but also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more complex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build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0" y="1397000"/>
            <a:ext cx="5334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73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10541000" y="2540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41000" y="30480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model-based agent is like a person with a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memory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It remembers what it has seen and uses that memory to make better decisions.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11239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33350" y="0"/>
                </a:moveTo>
                <a:cubicBezTo>
                  <a:pt x="96540" y="0"/>
                  <a:pt x="66675" y="29865"/>
                  <a:pt x="66675" y="66675"/>
                </a:cubicBezTo>
                <a:lnTo>
                  <a:pt x="66675" y="155575"/>
                </a:lnTo>
                <a:cubicBezTo>
                  <a:pt x="66675" y="192385"/>
                  <a:pt x="96540" y="222250"/>
                  <a:pt x="133350" y="222250"/>
                </a:cubicBezTo>
                <a:cubicBezTo>
                  <a:pt x="170160" y="222250"/>
                  <a:pt x="200025" y="192385"/>
                  <a:pt x="200025" y="155575"/>
                </a:cubicBezTo>
                <a:lnTo>
                  <a:pt x="200025" y="66675"/>
                </a:lnTo>
                <a:cubicBezTo>
                  <a:pt x="200025" y="29865"/>
                  <a:pt x="170160" y="0"/>
                  <a:pt x="133350" y="0"/>
                </a:cubicBezTo>
                <a:close/>
                <a:moveTo>
                  <a:pt x="33337" y="127794"/>
                </a:moveTo>
                <a:cubicBezTo>
                  <a:pt x="33337" y="118556"/>
                  <a:pt x="25906" y="111125"/>
                  <a:pt x="16669" y="111125"/>
                </a:cubicBezTo>
                <a:cubicBezTo>
                  <a:pt x="7431" y="111125"/>
                  <a:pt x="0" y="118556"/>
                  <a:pt x="0" y="127794"/>
                </a:cubicBezTo>
                <a:lnTo>
                  <a:pt x="0" y="155575"/>
                </a:lnTo>
                <a:cubicBezTo>
                  <a:pt x="0" y="223570"/>
                  <a:pt x="50909" y="279688"/>
                  <a:pt x="116681" y="287883"/>
                </a:cubicBezTo>
                <a:lnTo>
                  <a:pt x="116681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183356" y="355600"/>
                </a:lnTo>
                <a:cubicBezTo>
                  <a:pt x="192594" y="355600"/>
                  <a:pt x="200025" y="348169"/>
                  <a:pt x="200025" y="338931"/>
                </a:cubicBezTo>
                <a:cubicBezTo>
                  <a:pt x="200025" y="329694"/>
                  <a:pt x="192594" y="322263"/>
                  <a:pt x="183356" y="322263"/>
                </a:cubicBezTo>
                <a:lnTo>
                  <a:pt x="150019" y="322263"/>
                </a:lnTo>
                <a:lnTo>
                  <a:pt x="150019" y="287883"/>
                </a:lnTo>
                <a:cubicBezTo>
                  <a:pt x="215791" y="279688"/>
                  <a:pt x="266700" y="223570"/>
                  <a:pt x="266700" y="155575"/>
                </a:cubicBezTo>
                <a:lnTo>
                  <a:pt x="266700" y="127794"/>
                </a:lnTo>
                <a:cubicBezTo>
                  <a:pt x="266700" y="118556"/>
                  <a:pt x="259269" y="111125"/>
                  <a:pt x="250031" y="111125"/>
                </a:cubicBezTo>
                <a:cubicBezTo>
                  <a:pt x="240794" y="111125"/>
                  <a:pt x="233363" y="118556"/>
                  <a:pt x="233363" y="127794"/>
                </a:cubicBezTo>
                <a:lnTo>
                  <a:pt x="233363" y="155575"/>
                </a:lnTo>
                <a:cubicBezTo>
                  <a:pt x="233363" y="210790"/>
                  <a:pt x="188565" y="255587"/>
                  <a:pt x="133350" y="255587"/>
                </a:cubicBezTo>
                <a:cubicBezTo>
                  <a:pt x="78135" y="255587"/>
                  <a:pt x="33337" y="210790"/>
                  <a:pt x="33337" y="155575"/>
                </a:cubicBezTo>
                <a:lnTo>
                  <a:pt x="33337" y="12779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 assistant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(Siri, Alexa) that remembers your previous commands and preferences to give better responses over time.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Model-Based Agent —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35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Sensors provide current environment info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Internal State: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Memory stores what the agent has learned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representation of how the world works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agent updates state with new sensor data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Decision: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agent uses its model to choose an action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Architecture: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Sensors → [State + Model] → Actuators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0" y="1397000"/>
            <a:ext cx="7874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0" y="2540000"/>
            <a:ext cx="1397000" cy="635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2540000"/>
            <a:ext cx="13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25000" y="2832100"/>
            <a:ext cx="635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0287000" y="2032000"/>
            <a:ext cx="1397000" cy="762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0" y="2032000"/>
            <a:ext cx="139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287000" y="3048000"/>
            <a:ext cx="1397000" cy="762000"/>
          </a:xfrm>
          <a:prstGeom prst="roundRect">
            <a:avLst>
              <a:gd name="adj" fmla="val 12000"/>
            </a:avLst>
          </a:prstGeom>
          <a:solidFill>
            <a:srgbClr val="FDE2D4"/>
          </a:solidFill>
          <a:ln/>
        </p:spPr>
      </p:sp>
      <p:sp>
        <p:nvSpPr>
          <p:cNvPr id="12" name="Text 10"/>
          <p:cNvSpPr/>
          <p:nvPr/>
        </p:nvSpPr>
        <p:spPr>
          <a:xfrm>
            <a:off x="10287000" y="3048000"/>
            <a:ext cx="139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OF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811000" y="2832100"/>
            <a:ext cx="635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2573000" y="2413000"/>
            <a:ext cx="1397000" cy="8890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0" y="2413000"/>
            <a:ext cx="1397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4097000" y="2832100"/>
            <a:ext cx="635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4224000" y="2540000"/>
            <a:ext cx="1270000" cy="279400"/>
          </a:xfrm>
          <a:prstGeom prst="roundRect">
            <a:avLst>
              <a:gd name="adj" fmla="val 12000"/>
            </a:avLst>
          </a:prstGeom>
          <a:solidFill>
            <a:srgbClr val="FDE2D4"/>
          </a:solidFill>
          <a:ln/>
        </p:spPr>
      </p:sp>
      <p:sp>
        <p:nvSpPr>
          <p:cNvPr id="18" name="Text 16"/>
          <p:cNvSpPr/>
          <p:nvPr/>
        </p:nvSpPr>
        <p:spPr>
          <a:xfrm>
            <a:off x="14224000" y="2540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22000" y="3937000"/>
            <a:ext cx="2540000" cy="0"/>
          </a:xfrm>
          <a:prstGeom prst="straightConnector1">
            <a:avLst/>
          </a:prstGeom>
          <a:noFill/>
          <a:ln w="12700">
            <a:solidFill>
              <a:srgbClr val="6B7280"/>
            </a:solidFill>
            <a:prstDash val="sysDot"/>
            <a:headEnd type="arrow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1430000" y="4064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state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95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self-driving car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remembers the position of other vehicles and predicts their movement using its internal model of traffic behavior.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Model-Based Agent — Real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874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warehouse robot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remembers where items are stored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builds 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warehouse as it moves around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map when shelves are moved or restocked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uses the map to find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shortest path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any item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memory, it would wander randomly like a reflex agent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memory, it works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efficiently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a large, complex space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397000"/>
            <a:ext cx="6350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pic>
        <p:nvPicPr>
          <p:cNvPr id="6" name="Image 0" descr="https://kimi-img.moonshot.cn/pub/slides/okc/vilo64jtmudb4/mnt/agents/output/ai_agents_env/images/1_Types_of_Warehouse_Automation_Robots.png">    </p:cNvPr>
          <p:cNvPicPr>
            <a:picLocks noChangeAspect="1"/>
          </p:cNvPicPr>
          <p:nvPr/>
        </p:nvPicPr>
        <p:blipFill>
          <a:blip r:embed="rId1"/>
          <a:srcRect l="0" r="0" t="17374" b="17374"/>
          <a:stretch/>
        </p:blipFill>
        <p:spPr>
          <a:xfrm>
            <a:off x="9398000" y="1587500"/>
            <a:ext cx="5842000" cy="2540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9398000" y="43180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Amazon warehouse robots use internal maps to navigate and retrieve packages efficiently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9" name="Shape 6"/>
          <p:cNvSpPr/>
          <p:nvPr/>
        </p:nvSpPr>
        <p:spPr>
          <a:xfrm>
            <a:off x="10795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lnTo>
                  <a:pt x="155575" y="44450"/>
                </a:lnTo>
                <a:cubicBezTo>
                  <a:pt x="155575" y="50562"/>
                  <a:pt x="160576" y="55563"/>
                  <a:pt x="166688" y="55563"/>
                </a:cubicBezTo>
                <a:lnTo>
                  <a:pt x="188913" y="55563"/>
                </a:lnTo>
                <a:cubicBezTo>
                  <a:pt x="195024" y="55563"/>
                  <a:pt x="200025" y="50562"/>
                  <a:pt x="200025" y="44450"/>
                </a:cubicBezTo>
                <a:lnTo>
                  <a:pt x="200025" y="0"/>
                </a:lnTo>
                <a:lnTo>
                  <a:pt x="222250" y="0"/>
                </a:lnTo>
                <a:cubicBezTo>
                  <a:pt x="246767" y="0"/>
                  <a:pt x="266700" y="19933"/>
                  <a:pt x="266700" y="44450"/>
                </a:cubicBezTo>
                <a:lnTo>
                  <a:pt x="266700" y="133350"/>
                </a:lnTo>
                <a:cubicBezTo>
                  <a:pt x="266700" y="137170"/>
                  <a:pt x="266214" y="140920"/>
                  <a:pt x="265311" y="144463"/>
                </a:cubicBezTo>
                <a:lnTo>
                  <a:pt x="90289" y="144463"/>
                </a:lnTo>
                <a:cubicBezTo>
                  <a:pt x="89386" y="140920"/>
                  <a:pt x="88900" y="137170"/>
                  <a:pt x="88900" y="133350"/>
                </a:cubicBezTo>
                <a:lnTo>
                  <a:pt x="88900" y="44450"/>
                </a:lnTo>
                <a:cubicBezTo>
                  <a:pt x="88900" y="19933"/>
                  <a:pt x="108833" y="0"/>
                  <a:pt x="133350" y="0"/>
                </a:cubicBezTo>
                <a:lnTo>
                  <a:pt x="155575" y="0"/>
                </a:lnTo>
                <a:close/>
                <a:moveTo>
                  <a:pt x="222250" y="355600"/>
                </a:moveTo>
                <a:cubicBezTo>
                  <a:pt x="214471" y="355600"/>
                  <a:pt x="207109" y="353586"/>
                  <a:pt x="200720" y="350044"/>
                </a:cubicBezTo>
                <a:cubicBezTo>
                  <a:pt x="207318" y="338584"/>
                  <a:pt x="211138" y="325318"/>
                  <a:pt x="211138" y="311150"/>
                </a:cubicBezTo>
                <a:lnTo>
                  <a:pt x="211138" y="222250"/>
                </a:lnTo>
                <a:cubicBezTo>
                  <a:pt x="211138" y="208082"/>
                  <a:pt x="207318" y="194816"/>
                  <a:pt x="200720" y="183356"/>
                </a:cubicBezTo>
                <a:cubicBezTo>
                  <a:pt x="207109" y="179814"/>
                  <a:pt x="214402" y="177800"/>
                  <a:pt x="222250" y="177800"/>
                </a:cubicBezTo>
                <a:lnTo>
                  <a:pt x="244475" y="177800"/>
                </a:lnTo>
                <a:lnTo>
                  <a:pt x="244475" y="222250"/>
                </a:lnTo>
                <a:cubicBezTo>
                  <a:pt x="244475" y="228362"/>
                  <a:pt x="249476" y="233363"/>
                  <a:pt x="255587" y="233363"/>
                </a:cubicBezTo>
                <a:lnTo>
                  <a:pt x="277813" y="233363"/>
                </a:lnTo>
                <a:cubicBezTo>
                  <a:pt x="283924" y="233363"/>
                  <a:pt x="288925" y="228362"/>
                  <a:pt x="288925" y="222250"/>
                </a:cubicBezTo>
                <a:lnTo>
                  <a:pt x="288925" y="177800"/>
                </a:lnTo>
                <a:lnTo>
                  <a:pt x="311150" y="177800"/>
                </a:lnTo>
                <a:cubicBezTo>
                  <a:pt x="335667" y="177800"/>
                  <a:pt x="355600" y="197733"/>
                  <a:pt x="355600" y="222250"/>
                </a:cubicBezTo>
                <a:lnTo>
                  <a:pt x="355600" y="311150"/>
                </a:lnTo>
                <a:cubicBezTo>
                  <a:pt x="355600" y="335667"/>
                  <a:pt x="335667" y="355600"/>
                  <a:pt x="311150" y="355600"/>
                </a:cubicBezTo>
                <a:lnTo>
                  <a:pt x="222250" y="355600"/>
                </a:lnTo>
                <a:close/>
                <a:moveTo>
                  <a:pt x="0" y="222250"/>
                </a:moveTo>
                <a:cubicBezTo>
                  <a:pt x="0" y="197733"/>
                  <a:pt x="19933" y="177800"/>
                  <a:pt x="44450" y="177800"/>
                </a:cubicBezTo>
                <a:lnTo>
                  <a:pt x="66675" y="177800"/>
                </a:lnTo>
                <a:lnTo>
                  <a:pt x="66675" y="222250"/>
                </a:lnTo>
                <a:cubicBezTo>
                  <a:pt x="66675" y="228362"/>
                  <a:pt x="71676" y="233363"/>
                  <a:pt x="77788" y="233363"/>
                </a:cubicBezTo>
                <a:lnTo>
                  <a:pt x="100013" y="233363"/>
                </a:lnTo>
                <a:cubicBezTo>
                  <a:pt x="106124" y="233363"/>
                  <a:pt x="111125" y="228362"/>
                  <a:pt x="111125" y="222250"/>
                </a:cubicBezTo>
                <a:lnTo>
                  <a:pt x="111125" y="177800"/>
                </a:lnTo>
                <a:lnTo>
                  <a:pt x="133350" y="177800"/>
                </a:lnTo>
                <a:cubicBezTo>
                  <a:pt x="157867" y="177800"/>
                  <a:pt x="177800" y="197733"/>
                  <a:pt x="177800" y="222250"/>
                </a:cubicBezTo>
                <a:lnTo>
                  <a:pt x="177800" y="311150"/>
                </a:lnTo>
                <a:cubicBezTo>
                  <a:pt x="177800" y="335667"/>
                  <a:pt x="157867" y="355600"/>
                  <a:pt x="1333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22225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Text 7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Amazon warehouse robots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(Kiva systems) use internal maps to navigate and retrieve packages — they remember where everything is.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Goal-Based Agent — 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889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agent that acts to achieve 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specific goal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objective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Knows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it wants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accomplish, not just how to react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plan a sequence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actions to reach the goal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flexible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than reflex and model-based agents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choose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paths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methods to achieve the same goal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goal guides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decision-making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0" y="1397000"/>
            <a:ext cx="5334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73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632"/>
                  <a:pt x="430968" y="76200"/>
                  <a:pt x="304800" y="76200"/>
                </a:cubicBezTo>
                <a:cubicBezTo>
                  <a:pt x="178632" y="76200"/>
                  <a:pt x="76200" y="178632"/>
                  <a:pt x="76200" y="304800"/>
                </a:cubicBezTo>
                <a:cubicBezTo>
                  <a:pt x="76200" y="430968"/>
                  <a:pt x="178632" y="533400"/>
                  <a:pt x="304800" y="533400"/>
                </a:cubicBezTo>
                <a:cubicBezTo>
                  <a:pt x="430968" y="533400"/>
                  <a:pt x="533400" y="430968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04800" y="400050"/>
                </a:moveTo>
                <a:cubicBezTo>
                  <a:pt x="357370" y="400050"/>
                  <a:pt x="400050" y="357370"/>
                  <a:pt x="400050" y="304800"/>
                </a:cubicBezTo>
                <a:cubicBezTo>
                  <a:pt x="400050" y="252230"/>
                  <a:pt x="357370" y="209550"/>
                  <a:pt x="304800" y="209550"/>
                </a:cubicBezTo>
                <a:cubicBezTo>
                  <a:pt x="252230" y="209550"/>
                  <a:pt x="209550" y="252230"/>
                  <a:pt x="209550" y="304800"/>
                </a:cubicBezTo>
                <a:cubicBezTo>
                  <a:pt x="209550" y="357370"/>
                  <a:pt x="252230" y="400050"/>
                  <a:pt x="304800" y="400050"/>
                </a:cubicBezTo>
                <a:close/>
                <a:moveTo>
                  <a:pt x="304800" y="133350"/>
                </a:moveTo>
                <a:cubicBezTo>
                  <a:pt x="399426" y="133350"/>
                  <a:pt x="476250" y="210174"/>
                  <a:pt x="476250" y="304800"/>
                </a:cubicBezTo>
                <a:cubicBezTo>
                  <a:pt x="476250" y="399426"/>
                  <a:pt x="399426" y="476250"/>
                  <a:pt x="304800" y="476250"/>
                </a:cubicBezTo>
                <a:cubicBezTo>
                  <a:pt x="210174" y="476250"/>
                  <a:pt x="133350" y="399426"/>
                  <a:pt x="133350" y="304800"/>
                </a:cubicBezTo>
                <a:cubicBezTo>
                  <a:pt x="133350" y="210174"/>
                  <a:pt x="210174" y="133350"/>
                  <a:pt x="304800" y="133350"/>
                </a:cubicBezTo>
                <a:close/>
                <a:moveTo>
                  <a:pt x="266700" y="304800"/>
                </a:moveTo>
                <a:cubicBezTo>
                  <a:pt x="266700" y="283772"/>
                  <a:pt x="283772" y="266700"/>
                  <a:pt x="304800" y="266700"/>
                </a:cubicBezTo>
                <a:cubicBezTo>
                  <a:pt x="325828" y="266700"/>
                  <a:pt x="342900" y="283772"/>
                  <a:pt x="342900" y="304800"/>
                </a:cubicBezTo>
                <a:cubicBezTo>
                  <a:pt x="342900" y="325828"/>
                  <a:pt x="325828" y="342900"/>
                  <a:pt x="304800" y="342900"/>
                </a:cubicBezTo>
                <a:cubicBezTo>
                  <a:pt x="283772" y="342900"/>
                  <a:pt x="266700" y="325828"/>
                  <a:pt x="266700" y="30480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10541000" y="2540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41000" y="30480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goal-based agent is like a person with a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destination in mind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They plan their route and adjust if blocked, because the goal stays fixed.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11239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130989"/>
                </a:moveTo>
                <a:cubicBezTo>
                  <a:pt x="0" y="58618"/>
                  <a:pt x="59730" y="0"/>
                  <a:pt x="133350" y="0"/>
                </a:cubicBezTo>
                <a:cubicBezTo>
                  <a:pt x="206970" y="0"/>
                  <a:pt x="266700" y="58618"/>
                  <a:pt x="266700" y="130989"/>
                </a:cubicBezTo>
                <a:cubicBezTo>
                  <a:pt x="266700" y="213846"/>
                  <a:pt x="183217" y="313164"/>
                  <a:pt x="148352" y="351016"/>
                </a:cubicBezTo>
                <a:cubicBezTo>
                  <a:pt x="140156" y="359906"/>
                  <a:pt x="126474" y="359906"/>
                  <a:pt x="118279" y="351016"/>
                </a:cubicBezTo>
                <a:cubicBezTo>
                  <a:pt x="83413" y="313164"/>
                  <a:pt x="-69" y="213846"/>
                  <a:pt x="-69" y="130989"/>
                </a:cubicBezTo>
                <a:close/>
                <a:moveTo>
                  <a:pt x="133350" y="177800"/>
                </a:moveTo>
                <a:cubicBezTo>
                  <a:pt x="157883" y="177800"/>
                  <a:pt x="177800" y="157883"/>
                  <a:pt x="177800" y="133350"/>
                </a:cubicBezTo>
                <a:cubicBezTo>
                  <a:pt x="177800" y="108817"/>
                  <a:pt x="157883" y="88900"/>
                  <a:pt x="133350" y="88900"/>
                </a:cubicBezTo>
                <a:cubicBezTo>
                  <a:pt x="108817" y="88900"/>
                  <a:pt x="88900" y="108817"/>
                  <a:pt x="88900" y="133350"/>
                </a:cubicBezTo>
                <a:cubicBezTo>
                  <a:pt x="88900" y="157883"/>
                  <a:pt x="108817" y="177800"/>
                  <a:pt x="133350" y="1778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GPS navigation system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plans a route to your destination. If a road is closed, it finds a new path — the goal (destination) never changes.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Goal-Based Agent —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35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Sensors detect the current state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Goal: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clear target or desired future state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Planning: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Search for actions to reach the goal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Prediction: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Predict what happens after each action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Decision: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Choose the action moving closest to the goal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Architecture: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Sensors → [Model + Goal] → Planning → Actuators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0" y="1397000"/>
            <a:ext cx="7874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0" y="2540000"/>
            <a:ext cx="1270000" cy="635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2540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25000" y="2832100"/>
            <a:ext cx="508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0160000" y="2159000"/>
            <a:ext cx="1270000" cy="762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0" y="2159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0" y="3175000"/>
            <a:ext cx="1270000" cy="762000"/>
          </a:xfrm>
          <a:prstGeom prst="roundRect">
            <a:avLst>
              <a:gd name="adj" fmla="val 12000"/>
            </a:avLst>
          </a:prstGeom>
          <a:solidFill>
            <a:srgbClr val="FDE2D4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0" y="3175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557000" y="2832100"/>
            <a:ext cx="635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2319000" y="2413000"/>
            <a:ext cx="1397000" cy="8890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12319000" y="2413000"/>
            <a:ext cx="1397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843000" y="2832100"/>
            <a:ext cx="635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3970000" y="2540000"/>
            <a:ext cx="1270000" cy="279400"/>
          </a:xfrm>
          <a:prstGeom prst="roundRect">
            <a:avLst>
              <a:gd name="adj" fmla="val 12000"/>
            </a:avLst>
          </a:prstGeom>
          <a:solidFill>
            <a:srgbClr val="FDE2D4"/>
          </a:solidFill>
          <a:ln/>
        </p:spPr>
      </p:sp>
      <p:sp>
        <p:nvSpPr>
          <p:cNvPr id="18" name="Text 16"/>
          <p:cNvSpPr/>
          <p:nvPr/>
        </p:nvSpPr>
        <p:spPr>
          <a:xfrm>
            <a:off x="13970000" y="2540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0" y="40640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goal drives the planning process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95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6681" y="38894"/>
                </a:moveTo>
                <a:lnTo>
                  <a:pt x="116681" y="66675"/>
                </a:lnTo>
                <a:lnTo>
                  <a:pt x="62438" y="66675"/>
                </a:lnTo>
                <a:cubicBezTo>
                  <a:pt x="52507" y="66675"/>
                  <a:pt x="44450" y="74732"/>
                  <a:pt x="44450" y="84663"/>
                </a:cubicBezTo>
                <a:cubicBezTo>
                  <a:pt x="44450" y="87441"/>
                  <a:pt x="45075" y="90220"/>
                  <a:pt x="46325" y="92720"/>
                </a:cubicBezTo>
                <a:lnTo>
                  <a:pt x="69523" y="139115"/>
                </a:lnTo>
                <a:cubicBezTo>
                  <a:pt x="61605" y="140365"/>
                  <a:pt x="55493" y="147241"/>
                  <a:pt x="55493" y="155575"/>
                </a:cubicBezTo>
                <a:cubicBezTo>
                  <a:pt x="55493" y="164812"/>
                  <a:pt x="62925" y="172244"/>
                  <a:pt x="72162" y="172244"/>
                </a:cubicBezTo>
                <a:lnTo>
                  <a:pt x="76051" y="172244"/>
                </a:lnTo>
                <a:lnTo>
                  <a:pt x="66606" y="266700"/>
                </a:lnTo>
                <a:lnTo>
                  <a:pt x="27573" y="315526"/>
                </a:lnTo>
                <a:cubicBezTo>
                  <a:pt x="24100" y="319901"/>
                  <a:pt x="22156" y="325318"/>
                  <a:pt x="22156" y="330944"/>
                </a:cubicBezTo>
                <a:cubicBezTo>
                  <a:pt x="22156" y="344557"/>
                  <a:pt x="33199" y="355600"/>
                  <a:pt x="46811" y="355600"/>
                </a:cubicBezTo>
                <a:lnTo>
                  <a:pt x="219680" y="355600"/>
                </a:lnTo>
                <a:cubicBezTo>
                  <a:pt x="233293" y="355600"/>
                  <a:pt x="244336" y="344557"/>
                  <a:pt x="244336" y="330944"/>
                </a:cubicBezTo>
                <a:cubicBezTo>
                  <a:pt x="244336" y="325318"/>
                  <a:pt x="242461" y="319901"/>
                  <a:pt x="238919" y="315526"/>
                </a:cubicBezTo>
                <a:lnTo>
                  <a:pt x="200025" y="266700"/>
                </a:lnTo>
                <a:lnTo>
                  <a:pt x="190579" y="172244"/>
                </a:lnTo>
                <a:lnTo>
                  <a:pt x="194469" y="172244"/>
                </a:lnTo>
                <a:cubicBezTo>
                  <a:pt x="203706" y="172244"/>
                  <a:pt x="211138" y="164812"/>
                  <a:pt x="211138" y="155575"/>
                </a:cubicBezTo>
                <a:cubicBezTo>
                  <a:pt x="211138" y="147310"/>
                  <a:pt x="205095" y="140365"/>
                  <a:pt x="197108" y="139115"/>
                </a:cubicBezTo>
                <a:lnTo>
                  <a:pt x="220305" y="92720"/>
                </a:lnTo>
                <a:cubicBezTo>
                  <a:pt x="221555" y="90220"/>
                  <a:pt x="222181" y="87441"/>
                  <a:pt x="222181" y="84663"/>
                </a:cubicBezTo>
                <a:cubicBezTo>
                  <a:pt x="222181" y="74732"/>
                  <a:pt x="214124" y="66675"/>
                  <a:pt x="204192" y="66675"/>
                </a:cubicBezTo>
                <a:lnTo>
                  <a:pt x="149949" y="66675"/>
                </a:lnTo>
                <a:lnTo>
                  <a:pt x="149949" y="38894"/>
                </a:lnTo>
                <a:lnTo>
                  <a:pt x="161062" y="38894"/>
                </a:lnTo>
                <a:cubicBezTo>
                  <a:pt x="170299" y="38894"/>
                  <a:pt x="177731" y="31462"/>
                  <a:pt x="177731" y="22225"/>
                </a:cubicBezTo>
                <a:cubicBezTo>
                  <a:pt x="177731" y="12988"/>
                  <a:pt x="170369" y="5556"/>
                  <a:pt x="161131" y="5556"/>
                </a:cubicBezTo>
                <a:lnTo>
                  <a:pt x="150019" y="5556"/>
                </a:lnTo>
                <a:lnTo>
                  <a:pt x="150019" y="-5556"/>
                </a:lnTo>
                <a:cubicBezTo>
                  <a:pt x="150019" y="-14794"/>
                  <a:pt x="142587" y="-22225"/>
                  <a:pt x="133350" y="-22225"/>
                </a:cubicBezTo>
                <a:cubicBezTo>
                  <a:pt x="124113" y="-22225"/>
                  <a:pt x="116681" y="-14794"/>
                  <a:pt x="116681" y="-5556"/>
                </a:cubicBezTo>
                <a:lnTo>
                  <a:pt x="116681" y="5556"/>
                </a:lnTo>
                <a:lnTo>
                  <a:pt x="105569" y="5556"/>
                </a:lnTo>
                <a:cubicBezTo>
                  <a:pt x="96331" y="5556"/>
                  <a:pt x="88900" y="12988"/>
                  <a:pt x="88900" y="22225"/>
                </a:cubicBezTo>
                <a:cubicBezTo>
                  <a:pt x="88900" y="31462"/>
                  <a:pt x="96331" y="38894"/>
                  <a:pt x="105569" y="38894"/>
                </a:cubicBezTo>
                <a:lnTo>
                  <a:pt x="116681" y="38894"/>
                </a:lnTo>
                <a:close/>
                <a:moveTo>
                  <a:pt x="226278" y="194191"/>
                </a:moveTo>
                <a:lnTo>
                  <a:pt x="232182" y="253573"/>
                </a:lnTo>
                <a:lnTo>
                  <a:pt x="265103" y="294690"/>
                </a:lnTo>
                <a:lnTo>
                  <a:pt x="268020" y="298648"/>
                </a:lnTo>
                <a:cubicBezTo>
                  <a:pt x="274409" y="308164"/>
                  <a:pt x="277813" y="319415"/>
                  <a:pt x="277813" y="330944"/>
                </a:cubicBezTo>
                <a:cubicBezTo>
                  <a:pt x="277813" y="339765"/>
                  <a:pt x="275868" y="348169"/>
                  <a:pt x="272326" y="355600"/>
                </a:cubicBezTo>
                <a:lnTo>
                  <a:pt x="330041" y="355600"/>
                </a:lnTo>
                <a:cubicBezTo>
                  <a:pt x="344140" y="355600"/>
                  <a:pt x="355600" y="344140"/>
                  <a:pt x="355600" y="330041"/>
                </a:cubicBezTo>
                <a:cubicBezTo>
                  <a:pt x="355600" y="324971"/>
                  <a:pt x="354072" y="320040"/>
                  <a:pt x="351294" y="315873"/>
                </a:cubicBezTo>
                <a:lnTo>
                  <a:pt x="333375" y="288994"/>
                </a:lnTo>
                <a:lnTo>
                  <a:pt x="333375" y="244544"/>
                </a:lnTo>
                <a:lnTo>
                  <a:pt x="342612" y="235307"/>
                </a:lnTo>
                <a:cubicBezTo>
                  <a:pt x="350947" y="226973"/>
                  <a:pt x="355600" y="215652"/>
                  <a:pt x="355600" y="203845"/>
                </a:cubicBezTo>
                <a:lnTo>
                  <a:pt x="355600" y="133350"/>
                </a:lnTo>
                <a:cubicBezTo>
                  <a:pt x="355600" y="121057"/>
                  <a:pt x="345668" y="111125"/>
                  <a:pt x="333375" y="111125"/>
                </a:cubicBezTo>
                <a:cubicBezTo>
                  <a:pt x="321082" y="111125"/>
                  <a:pt x="311150" y="121057"/>
                  <a:pt x="311150" y="133350"/>
                </a:cubicBezTo>
                <a:lnTo>
                  <a:pt x="311150" y="144463"/>
                </a:lnTo>
                <a:lnTo>
                  <a:pt x="288925" y="144463"/>
                </a:lnTo>
                <a:lnTo>
                  <a:pt x="288925" y="133350"/>
                </a:lnTo>
                <a:cubicBezTo>
                  <a:pt x="288925" y="121057"/>
                  <a:pt x="278993" y="111125"/>
                  <a:pt x="266700" y="111125"/>
                </a:cubicBezTo>
                <a:cubicBezTo>
                  <a:pt x="254407" y="111125"/>
                  <a:pt x="244475" y="121057"/>
                  <a:pt x="244475" y="133350"/>
                </a:cubicBezTo>
                <a:lnTo>
                  <a:pt x="244475" y="155575"/>
                </a:lnTo>
                <a:cubicBezTo>
                  <a:pt x="244475" y="171133"/>
                  <a:pt x="237391" y="185023"/>
                  <a:pt x="226278" y="19419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chess AI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plans moves to checkmate the opponent. Every move is chosen to get closer to the goal — winning the game.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Goal-Based Agent — Real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874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delivery drone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must reach a specific address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knows the goal: deliver the package to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coordinates X, Y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plans a flight path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considering buildings and weather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blocked, it finds an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alternative route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the same goal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does not just react — it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thinks ahead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reach the destination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goal stays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even if the path changes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397000"/>
            <a:ext cx="6350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pic>
        <p:nvPicPr>
          <p:cNvPr id="6" name="Image 0" descr="https://kimi-img.moonshot.cn/pub/slides/okc/vilo64jtmudb4/mnt/agents/output/ai_agents_env/images/1_Robot_Interacting_with_an_Advanced.png">    </p:cNvPr>
          <p:cNvPicPr>
            <a:picLocks noChangeAspect="1"/>
          </p:cNvPicPr>
          <p:nvPr/>
        </p:nvPicPr>
        <p:blipFill>
          <a:blip r:embed="rId1"/>
          <a:srcRect l="0" r="0" t="11267" b="11267"/>
          <a:stretch/>
        </p:blipFill>
        <p:spPr>
          <a:xfrm>
            <a:off x="9398000" y="1587500"/>
            <a:ext cx="5842000" cy="2540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9398000" y="4318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Delivery drones plan routes to reach specific destinations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9" name="Shape 6"/>
          <p:cNvSpPr/>
          <p:nvPr/>
        </p:nvSpPr>
        <p:spPr>
          <a:xfrm>
            <a:off x="1057275" y="577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61156" y="138906"/>
                </a:moveTo>
                <a:cubicBezTo>
                  <a:pt x="382617" y="138906"/>
                  <a:pt x="400050" y="156339"/>
                  <a:pt x="400050" y="177800"/>
                </a:cubicBezTo>
                <a:cubicBezTo>
                  <a:pt x="400050" y="199261"/>
                  <a:pt x="382617" y="216694"/>
                  <a:pt x="361156" y="216694"/>
                </a:cubicBezTo>
                <a:lnTo>
                  <a:pt x="272742" y="216694"/>
                </a:lnTo>
                <a:lnTo>
                  <a:pt x="162173" y="337264"/>
                </a:lnTo>
                <a:cubicBezTo>
                  <a:pt x="157936" y="341848"/>
                  <a:pt x="152033" y="344488"/>
                  <a:pt x="145782" y="344488"/>
                </a:cubicBezTo>
                <a:lnTo>
                  <a:pt x="115431" y="344488"/>
                </a:lnTo>
                <a:cubicBezTo>
                  <a:pt x="107861" y="344488"/>
                  <a:pt x="102513" y="337056"/>
                  <a:pt x="104874" y="329833"/>
                </a:cubicBezTo>
                <a:lnTo>
                  <a:pt x="142587" y="216694"/>
                </a:lnTo>
                <a:lnTo>
                  <a:pt x="73343" y="216694"/>
                </a:lnTo>
                <a:lnTo>
                  <a:pt x="36671" y="262533"/>
                </a:lnTo>
                <a:cubicBezTo>
                  <a:pt x="34588" y="265172"/>
                  <a:pt x="31393" y="266700"/>
                  <a:pt x="27990" y="266700"/>
                </a:cubicBezTo>
                <a:lnTo>
                  <a:pt x="14238" y="266700"/>
                </a:lnTo>
                <a:cubicBezTo>
                  <a:pt x="7015" y="266700"/>
                  <a:pt x="1736" y="259894"/>
                  <a:pt x="3473" y="252879"/>
                </a:cubicBezTo>
                <a:lnTo>
                  <a:pt x="22225" y="177800"/>
                </a:lnTo>
                <a:lnTo>
                  <a:pt x="3473" y="102721"/>
                </a:lnTo>
                <a:cubicBezTo>
                  <a:pt x="1667" y="95706"/>
                  <a:pt x="7015" y="88900"/>
                  <a:pt x="14238" y="88900"/>
                </a:cubicBezTo>
                <a:lnTo>
                  <a:pt x="27990" y="88900"/>
                </a:lnTo>
                <a:cubicBezTo>
                  <a:pt x="31393" y="88900"/>
                  <a:pt x="34588" y="90428"/>
                  <a:pt x="36671" y="93067"/>
                </a:cubicBezTo>
                <a:lnTo>
                  <a:pt x="73343" y="138906"/>
                </a:lnTo>
                <a:lnTo>
                  <a:pt x="142587" y="138906"/>
                </a:lnTo>
                <a:lnTo>
                  <a:pt x="104874" y="25767"/>
                </a:lnTo>
                <a:cubicBezTo>
                  <a:pt x="102513" y="18544"/>
                  <a:pt x="107861" y="11112"/>
                  <a:pt x="115431" y="11112"/>
                </a:cubicBezTo>
                <a:lnTo>
                  <a:pt x="145782" y="11112"/>
                </a:lnTo>
                <a:cubicBezTo>
                  <a:pt x="152033" y="11112"/>
                  <a:pt x="157936" y="13752"/>
                  <a:pt x="162173" y="18336"/>
                </a:cubicBezTo>
                <a:lnTo>
                  <a:pt x="272742" y="138906"/>
                </a:lnTo>
                <a:lnTo>
                  <a:pt x="361156" y="13890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Text 7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Delivery drones by companies like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Zipline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plan routes to deliver medical supplies to specific hospitals — the goal is fixed, the path adapts.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Utility-Based Agent — 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889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agent that chooses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option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based on satisfaction or value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utility function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measure how good each outcome is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just "reach the goal" but "reach it in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possible way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compare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goals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pick the most valuable one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Handles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trade-offs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speed vs. safety, cost vs. quality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flexible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powerful type of agent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0" y="1397000"/>
            <a:ext cx="5334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496800" y="1778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57200" y="38100"/>
                </a:moveTo>
                <a:lnTo>
                  <a:pt x="609600" y="38100"/>
                </a:lnTo>
                <a:cubicBezTo>
                  <a:pt x="630674" y="38100"/>
                  <a:pt x="647700" y="55126"/>
                  <a:pt x="647700" y="76200"/>
                </a:cubicBezTo>
                <a:cubicBezTo>
                  <a:pt x="647700" y="97274"/>
                  <a:pt x="630674" y="114300"/>
                  <a:pt x="609600" y="114300"/>
                </a:cubicBezTo>
                <a:lnTo>
                  <a:pt x="474345" y="114300"/>
                </a:lnTo>
                <a:cubicBezTo>
                  <a:pt x="468154" y="145018"/>
                  <a:pt x="447080" y="170378"/>
                  <a:pt x="419100" y="182523"/>
                </a:cubicBezTo>
                <a:lnTo>
                  <a:pt x="419100" y="533400"/>
                </a:lnTo>
                <a:lnTo>
                  <a:pt x="609600" y="533400"/>
                </a:lnTo>
                <a:cubicBezTo>
                  <a:pt x="630674" y="533400"/>
                  <a:pt x="647700" y="550426"/>
                  <a:pt x="647700" y="571500"/>
                </a:cubicBezTo>
                <a:cubicBezTo>
                  <a:pt x="647700" y="592574"/>
                  <a:pt x="630674" y="609600"/>
                  <a:pt x="609600" y="609600"/>
                </a:cubicBezTo>
                <a:lnTo>
                  <a:pt x="152400" y="609600"/>
                </a:lnTo>
                <a:cubicBezTo>
                  <a:pt x="131326" y="609600"/>
                  <a:pt x="114300" y="592574"/>
                  <a:pt x="114300" y="571500"/>
                </a:cubicBezTo>
                <a:cubicBezTo>
                  <a:pt x="114300" y="550426"/>
                  <a:pt x="131326" y="533400"/>
                  <a:pt x="152400" y="533400"/>
                </a:cubicBezTo>
                <a:lnTo>
                  <a:pt x="342900" y="533400"/>
                </a:lnTo>
                <a:lnTo>
                  <a:pt x="342900" y="182523"/>
                </a:lnTo>
                <a:cubicBezTo>
                  <a:pt x="314920" y="170259"/>
                  <a:pt x="293846" y="144899"/>
                  <a:pt x="287655" y="114300"/>
                </a:cubicBezTo>
                <a:lnTo>
                  <a:pt x="152400" y="114300"/>
                </a:lnTo>
                <a:cubicBezTo>
                  <a:pt x="131326" y="114300"/>
                  <a:pt x="114300" y="97274"/>
                  <a:pt x="114300" y="76200"/>
                </a:cubicBezTo>
                <a:cubicBezTo>
                  <a:pt x="114300" y="55126"/>
                  <a:pt x="131326" y="38100"/>
                  <a:pt x="152400" y="38100"/>
                </a:cubicBezTo>
                <a:lnTo>
                  <a:pt x="304800" y="38100"/>
                </a:lnTo>
                <a:cubicBezTo>
                  <a:pt x="322183" y="15002"/>
                  <a:pt x="349806" y="0"/>
                  <a:pt x="381000" y="0"/>
                </a:cubicBezTo>
                <a:cubicBezTo>
                  <a:pt x="412194" y="0"/>
                  <a:pt x="439817" y="15002"/>
                  <a:pt x="457200" y="38100"/>
                </a:cubicBezTo>
                <a:close/>
                <a:moveTo>
                  <a:pt x="523399" y="381000"/>
                </a:moveTo>
                <a:lnTo>
                  <a:pt x="695801" y="381000"/>
                </a:lnTo>
                <a:lnTo>
                  <a:pt x="609600" y="233124"/>
                </a:lnTo>
                <a:lnTo>
                  <a:pt x="523399" y="381000"/>
                </a:lnTo>
                <a:close/>
                <a:moveTo>
                  <a:pt x="609600" y="495300"/>
                </a:moveTo>
                <a:cubicBezTo>
                  <a:pt x="534710" y="495300"/>
                  <a:pt x="472440" y="454819"/>
                  <a:pt x="459581" y="401360"/>
                </a:cubicBezTo>
                <a:cubicBezTo>
                  <a:pt x="456486" y="388263"/>
                  <a:pt x="460772" y="374809"/>
                  <a:pt x="467558" y="363141"/>
                </a:cubicBezTo>
                <a:lnTo>
                  <a:pt x="580906" y="168831"/>
                </a:lnTo>
                <a:cubicBezTo>
                  <a:pt x="586859" y="158591"/>
                  <a:pt x="597813" y="152400"/>
                  <a:pt x="609600" y="152400"/>
                </a:cubicBezTo>
                <a:cubicBezTo>
                  <a:pt x="621387" y="152400"/>
                  <a:pt x="632341" y="158710"/>
                  <a:pt x="638294" y="168831"/>
                </a:cubicBezTo>
                <a:lnTo>
                  <a:pt x="751642" y="363141"/>
                </a:lnTo>
                <a:cubicBezTo>
                  <a:pt x="758428" y="374809"/>
                  <a:pt x="762714" y="388263"/>
                  <a:pt x="759619" y="401360"/>
                </a:cubicBezTo>
                <a:cubicBezTo>
                  <a:pt x="746760" y="454700"/>
                  <a:pt x="684490" y="495300"/>
                  <a:pt x="609600" y="495300"/>
                </a:cubicBezTo>
                <a:close/>
                <a:moveTo>
                  <a:pt x="150971" y="233124"/>
                </a:moveTo>
                <a:lnTo>
                  <a:pt x="64770" y="381000"/>
                </a:lnTo>
                <a:lnTo>
                  <a:pt x="237292" y="381000"/>
                </a:lnTo>
                <a:lnTo>
                  <a:pt x="150971" y="233124"/>
                </a:lnTo>
                <a:close/>
                <a:moveTo>
                  <a:pt x="1072" y="401360"/>
                </a:moveTo>
                <a:cubicBezTo>
                  <a:pt x="-2024" y="388263"/>
                  <a:pt x="2262" y="374809"/>
                  <a:pt x="9049" y="363141"/>
                </a:cubicBezTo>
                <a:lnTo>
                  <a:pt x="122396" y="168831"/>
                </a:lnTo>
                <a:cubicBezTo>
                  <a:pt x="128349" y="158591"/>
                  <a:pt x="139303" y="152400"/>
                  <a:pt x="151090" y="152400"/>
                </a:cubicBezTo>
                <a:cubicBezTo>
                  <a:pt x="162878" y="152400"/>
                  <a:pt x="173831" y="158710"/>
                  <a:pt x="179784" y="168831"/>
                </a:cubicBezTo>
                <a:lnTo>
                  <a:pt x="293132" y="363141"/>
                </a:lnTo>
                <a:cubicBezTo>
                  <a:pt x="299918" y="374809"/>
                  <a:pt x="304205" y="388263"/>
                  <a:pt x="301109" y="401360"/>
                </a:cubicBezTo>
                <a:cubicBezTo>
                  <a:pt x="288250" y="454700"/>
                  <a:pt x="225981" y="495300"/>
                  <a:pt x="151090" y="495300"/>
                </a:cubicBezTo>
                <a:cubicBezTo>
                  <a:pt x="76200" y="495300"/>
                  <a:pt x="13930" y="454819"/>
                  <a:pt x="1072" y="40136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10541000" y="2540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41000" y="30480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utility-based agent is like a person who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weighs options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They do not just pick any route — they pick the one that balances time, cost, and comfort.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10795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0"/>
                </a:moveTo>
                <a:cubicBezTo>
                  <a:pt x="121057" y="0"/>
                  <a:pt x="111125" y="9932"/>
                  <a:pt x="111125" y="22225"/>
                </a:cubicBezTo>
                <a:lnTo>
                  <a:pt x="111125" y="44450"/>
                </a:lnTo>
                <a:lnTo>
                  <a:pt x="104944" y="44450"/>
                </a:lnTo>
                <a:cubicBezTo>
                  <a:pt x="75773" y="44450"/>
                  <a:pt x="50006" y="63411"/>
                  <a:pt x="41325" y="91261"/>
                </a:cubicBezTo>
                <a:lnTo>
                  <a:pt x="25350" y="142309"/>
                </a:lnTo>
                <a:cubicBezTo>
                  <a:pt x="10071" y="152172"/>
                  <a:pt x="0" y="169396"/>
                  <a:pt x="0" y="188913"/>
                </a:cubicBezTo>
                <a:lnTo>
                  <a:pt x="0" y="311150"/>
                </a:lnTo>
                <a:cubicBezTo>
                  <a:pt x="0" y="323443"/>
                  <a:pt x="9932" y="333375"/>
                  <a:pt x="22225" y="333375"/>
                </a:cubicBezTo>
                <a:lnTo>
                  <a:pt x="44450" y="333375"/>
                </a:lnTo>
                <a:cubicBezTo>
                  <a:pt x="56743" y="333375"/>
                  <a:pt x="66675" y="323443"/>
                  <a:pt x="66675" y="311150"/>
                </a:cubicBezTo>
                <a:lnTo>
                  <a:pt x="66675" y="288925"/>
                </a:lnTo>
                <a:lnTo>
                  <a:pt x="288925" y="288925"/>
                </a:lnTo>
                <a:lnTo>
                  <a:pt x="288925" y="311150"/>
                </a:lnTo>
                <a:cubicBezTo>
                  <a:pt x="288925" y="323443"/>
                  <a:pt x="298857" y="333375"/>
                  <a:pt x="311150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lnTo>
                  <a:pt x="355600" y="188913"/>
                </a:lnTo>
                <a:cubicBezTo>
                  <a:pt x="355600" y="169396"/>
                  <a:pt x="345529" y="152172"/>
                  <a:pt x="330319" y="142309"/>
                </a:cubicBezTo>
                <a:lnTo>
                  <a:pt x="314345" y="91261"/>
                </a:lnTo>
                <a:cubicBezTo>
                  <a:pt x="305663" y="63411"/>
                  <a:pt x="279827" y="44450"/>
                  <a:pt x="250656" y="44450"/>
                </a:cubicBezTo>
                <a:lnTo>
                  <a:pt x="244475" y="44450"/>
                </a:lnTo>
                <a:lnTo>
                  <a:pt x="244475" y="22225"/>
                </a:lnTo>
                <a:cubicBezTo>
                  <a:pt x="244475" y="9932"/>
                  <a:pt x="234543" y="0"/>
                  <a:pt x="222250" y="0"/>
                </a:cubicBezTo>
                <a:lnTo>
                  <a:pt x="133350" y="0"/>
                </a:lnTo>
                <a:close/>
                <a:moveTo>
                  <a:pt x="104944" y="88900"/>
                </a:moveTo>
                <a:lnTo>
                  <a:pt x="250726" y="88900"/>
                </a:lnTo>
                <a:cubicBezTo>
                  <a:pt x="260449" y="88900"/>
                  <a:pt x="269061" y="95220"/>
                  <a:pt x="271909" y="104527"/>
                </a:cubicBezTo>
                <a:lnTo>
                  <a:pt x="280938" y="133350"/>
                </a:lnTo>
                <a:lnTo>
                  <a:pt x="74732" y="133350"/>
                </a:lnTo>
                <a:lnTo>
                  <a:pt x="83760" y="104527"/>
                </a:lnTo>
                <a:cubicBezTo>
                  <a:pt x="86678" y="95220"/>
                  <a:pt x="95220" y="88900"/>
                  <a:pt x="104944" y="88900"/>
                </a:cubicBezTo>
                <a:close/>
                <a:moveTo>
                  <a:pt x="66675" y="188913"/>
                </a:moveTo>
                <a:cubicBezTo>
                  <a:pt x="78941" y="188913"/>
                  <a:pt x="88900" y="198871"/>
                  <a:pt x="88900" y="211138"/>
                </a:cubicBezTo>
                <a:cubicBezTo>
                  <a:pt x="88900" y="223404"/>
                  <a:pt x="78941" y="233363"/>
                  <a:pt x="66675" y="233363"/>
                </a:cubicBezTo>
                <a:cubicBezTo>
                  <a:pt x="54409" y="233363"/>
                  <a:pt x="44450" y="223404"/>
                  <a:pt x="44450" y="211138"/>
                </a:cubicBezTo>
                <a:cubicBezTo>
                  <a:pt x="44450" y="198871"/>
                  <a:pt x="54409" y="188913"/>
                  <a:pt x="66675" y="188913"/>
                </a:cubicBezTo>
                <a:close/>
                <a:moveTo>
                  <a:pt x="266700" y="211138"/>
                </a:moveTo>
                <a:cubicBezTo>
                  <a:pt x="266700" y="198871"/>
                  <a:pt x="276659" y="188913"/>
                  <a:pt x="288925" y="188913"/>
                </a:cubicBezTo>
                <a:cubicBezTo>
                  <a:pt x="301191" y="188913"/>
                  <a:pt x="311150" y="198871"/>
                  <a:pt x="311150" y="211138"/>
                </a:cubicBezTo>
                <a:cubicBezTo>
                  <a:pt x="311150" y="223404"/>
                  <a:pt x="301191" y="233363"/>
                  <a:pt x="288925" y="233363"/>
                </a:cubicBezTo>
                <a:cubicBezTo>
                  <a:pt x="276659" y="233363"/>
                  <a:pt x="266700" y="223404"/>
                  <a:pt x="266700" y="21113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ride-sharing app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(Uber, Lyft) balances price, wait time, and driver rating to find the best ride for you.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Utility-Based Agent —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35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Sensors detect the current state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Goals: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Multiple possible goals identified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Utility Function: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scoring system for outcomes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Evaluation: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Calculate utility score for each action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Decision: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Pick the action with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highest score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Architecture: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Sensors → [Model + Goals + Utility] → Best Action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0" y="1397000"/>
            <a:ext cx="7874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0" y="2540000"/>
            <a:ext cx="1143000" cy="635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25400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398000" y="2832100"/>
            <a:ext cx="508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0033000" y="1905000"/>
            <a:ext cx="1143000" cy="635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10" name="Text 8"/>
          <p:cNvSpPr/>
          <p:nvPr/>
        </p:nvSpPr>
        <p:spPr>
          <a:xfrm>
            <a:off x="10033000" y="19050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33000" y="2794000"/>
            <a:ext cx="1143000" cy="635000"/>
          </a:xfrm>
          <a:prstGeom prst="roundRect">
            <a:avLst>
              <a:gd name="adj" fmla="val 12000"/>
            </a:avLst>
          </a:prstGeom>
          <a:solidFill>
            <a:srgbClr val="FDE2D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33000" y="27940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33000" y="3683000"/>
            <a:ext cx="1143000" cy="6350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33000" y="36830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303000" y="2832100"/>
            <a:ext cx="635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2065000" y="2413000"/>
            <a:ext cx="1270000" cy="8890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12065000" y="2413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462000" y="2832100"/>
            <a:ext cx="508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4224000" y="2540000"/>
            <a:ext cx="1270000" cy="635000"/>
          </a:xfrm>
          <a:prstGeom prst="roundRect">
            <a:avLst>
              <a:gd name="adj" fmla="val 12000"/>
            </a:avLst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4224000" y="2540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ACTION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0" y="45085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utility function scores and ranks all possible actions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95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self-driving car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chooses a route balancing speed, safety, and fuel efficiency — scoring each option to find the best one.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Utility-Based Agent — Real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874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 assistant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scheduling your day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considers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goals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work, exercise, family time, rest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scores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each possible schedule based on your preferences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picks the schedule with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highest overall satisfaction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handles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trade-offs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less exercise today for an important meeting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adapts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 priorities change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397000"/>
            <a:ext cx="6350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pic>
        <p:nvPicPr>
          <p:cNvPr id="6" name="Image 0" descr="https://kimi-img.moonshot.cn/pub/slides/okc/vilo64jtmudb4/mnt/agents/output/ai_agents_env/images/10_Benefits_of_Smart_Home_Automation.png">    </p:cNvPr>
          <p:cNvPicPr>
            <a:picLocks noChangeAspect="1"/>
          </p:cNvPicPr>
          <p:nvPr/>
        </p:nvPicPr>
        <p:blipFill>
          <a:blip r:embed="rId1"/>
          <a:srcRect l="0" r="0" t="17442" b="17442"/>
          <a:stretch/>
        </p:blipFill>
        <p:spPr>
          <a:xfrm>
            <a:off x="9398000" y="1587500"/>
            <a:ext cx="5842000" cy="2540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9398000" y="4318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 scheduling considers multiple constraints and preferences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9" name="Shape 6"/>
          <p:cNvSpPr/>
          <p:nvPr/>
        </p:nvSpPr>
        <p:spPr>
          <a:xfrm>
            <a:off x="1101725" y="577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0"/>
                </a:moveTo>
                <a:cubicBezTo>
                  <a:pt x="101193" y="0"/>
                  <a:pt x="111125" y="9932"/>
                  <a:pt x="111125" y="22225"/>
                </a:cubicBezTo>
                <a:lnTo>
                  <a:pt x="111125" y="44450"/>
                </a:lnTo>
                <a:lnTo>
                  <a:pt x="200025" y="44450"/>
                </a:lnTo>
                <a:lnTo>
                  <a:pt x="200025" y="22225"/>
                </a:lnTo>
                <a:cubicBezTo>
                  <a:pt x="200025" y="9932"/>
                  <a:pt x="209957" y="0"/>
                  <a:pt x="222250" y="0"/>
                </a:cubicBezTo>
                <a:cubicBezTo>
                  <a:pt x="234543" y="0"/>
                  <a:pt x="244475" y="9932"/>
                  <a:pt x="244475" y="22225"/>
                </a:cubicBezTo>
                <a:lnTo>
                  <a:pt x="244475" y="44450"/>
                </a:lnTo>
                <a:lnTo>
                  <a:pt x="266700" y="44450"/>
                </a:lnTo>
                <a:cubicBezTo>
                  <a:pt x="291217" y="44450"/>
                  <a:pt x="311150" y="64383"/>
                  <a:pt x="311150" y="889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88900"/>
                </a:lnTo>
                <a:cubicBezTo>
                  <a:pt x="0" y="64383"/>
                  <a:pt x="19933" y="44450"/>
                  <a:pt x="44450" y="44450"/>
                </a:cubicBezTo>
                <a:lnTo>
                  <a:pt x="66675" y="44450"/>
                </a:lnTo>
                <a:lnTo>
                  <a:pt x="66675" y="22225"/>
                </a:lnTo>
                <a:cubicBezTo>
                  <a:pt x="66675" y="9932"/>
                  <a:pt x="76607" y="0"/>
                  <a:pt x="88900" y="0"/>
                </a:cubicBezTo>
                <a:close/>
                <a:moveTo>
                  <a:pt x="214193" y="158839"/>
                </a:moveTo>
                <a:cubicBezTo>
                  <a:pt x="219055" y="151061"/>
                  <a:pt x="216694" y="140781"/>
                  <a:pt x="208915" y="135850"/>
                </a:cubicBezTo>
                <a:cubicBezTo>
                  <a:pt x="201136" y="130919"/>
                  <a:pt x="190857" y="133350"/>
                  <a:pt x="185926" y="141129"/>
                </a:cubicBezTo>
                <a:lnTo>
                  <a:pt x="143282" y="209401"/>
                </a:lnTo>
                <a:lnTo>
                  <a:pt x="124529" y="184398"/>
                </a:lnTo>
                <a:cubicBezTo>
                  <a:pt x="118973" y="177036"/>
                  <a:pt x="108555" y="175508"/>
                  <a:pt x="101193" y="181064"/>
                </a:cubicBezTo>
                <a:cubicBezTo>
                  <a:pt x="93831" y="186621"/>
                  <a:pt x="92303" y="197039"/>
                  <a:pt x="97859" y="204401"/>
                </a:cubicBezTo>
                <a:lnTo>
                  <a:pt x="131197" y="248851"/>
                </a:lnTo>
                <a:cubicBezTo>
                  <a:pt x="134461" y="253226"/>
                  <a:pt x="139740" y="255726"/>
                  <a:pt x="145226" y="255518"/>
                </a:cubicBezTo>
                <a:cubicBezTo>
                  <a:pt x="150713" y="255310"/>
                  <a:pt x="155714" y="252393"/>
                  <a:pt x="158631" y="247670"/>
                </a:cubicBezTo>
                <a:lnTo>
                  <a:pt x="214193" y="15877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Text 7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Google Calendar's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smart scheduling suggests the best meeting times by considering multiple constraints and preferences.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All Agent Types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3810000"/>
        </p:xfrm>
        <a:graphic>
          <a:graphicData uri="http://schemas.openxmlformats.org/drawingml/2006/table">
            <a:tbl>
              <a:tblPr/>
              <a:tblGrid>
                <a:gridCol w="3241040"/>
                <a:gridCol w="2946400"/>
                <a:gridCol w="2946400"/>
                <a:gridCol w="2946400"/>
                <a:gridCol w="2651760"/>
              </a:tblGrid>
              <a:tr h="68125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1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1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 Reflex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1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Model-Based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1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Goal-Based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1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Utility-Based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78218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Memory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Internal State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Internal State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Internal State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218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Planning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78218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Goal Awareness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218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Scoring/Ranking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Utility Function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461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type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builds on the previous one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adding more capability. Real AI systems often combine features from multiple types.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2000" y="6350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7" name="Shape 4"/>
          <p:cNvSpPr/>
          <p:nvPr/>
        </p:nvSpPr>
        <p:spPr>
          <a:xfrm>
            <a:off x="1079500" y="654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5"/>
          <p:cNvSpPr/>
          <p:nvPr/>
        </p:nvSpPr>
        <p:spPr>
          <a:xfrm>
            <a:off x="1587500" y="6540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9500" y="7048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modern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self-driving car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uses all four: reflex for emergency braking, model-based for tracking, goal-based for routing, utility-based for comfort.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FFFFFF">
                    <a:alpha val="705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508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100" kern="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in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1E8">
                    <a:alpha val="62745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Where Agents Live and Work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970000" y="6350000"/>
            <a:ext cx="1524000" cy="1524000"/>
          </a:xfrm>
          <a:prstGeom prst="ellipse">
            <a:avLst/>
          </a:prstGeom>
          <a:solidFill>
            <a:srgbClr val="2D6A4F">
              <a:alpha val="18824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335000" y="5842000"/>
            <a:ext cx="1016000" cy="1016000"/>
          </a:xfrm>
          <a:prstGeom prst="ellipse">
            <a:avLst/>
          </a:prstGeom>
          <a:solidFill>
            <a:srgbClr val="E07A5F">
              <a:alpha val="1451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Environment?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874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environment is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everything outside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agent that it interacts with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includes all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information, objects, and rules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agent must deal with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environment can be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physical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(real world) or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(software, games)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Agents must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their environment to make good decisions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environments require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types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agents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environment is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entire context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operation — not just the "place"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397000"/>
            <a:ext cx="6350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06000" y="1778000"/>
            <a:ext cx="4826000" cy="2921000"/>
          </a:xfrm>
          <a:prstGeom prst="roundRect">
            <a:avLst>
              <a:gd name="adj" fmla="val 6000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0" y="1905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11000" y="2794000"/>
            <a:ext cx="1016000" cy="1016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0" y="2794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0" y="3937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Objects | Rules | Information | Other Agents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1725" y="577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88900" y="66675"/>
                </a:moveTo>
                <a:lnTo>
                  <a:pt x="88900" y="111125"/>
                </a:lnTo>
                <a:lnTo>
                  <a:pt x="133350" y="111125"/>
                </a:lnTo>
                <a:lnTo>
                  <a:pt x="133350" y="66675"/>
                </a:lnTo>
                <a:lnTo>
                  <a:pt x="177800" y="66675"/>
                </a:lnTo>
                <a:lnTo>
                  <a:pt x="177800" y="111125"/>
                </a:lnTo>
                <a:lnTo>
                  <a:pt x="222250" y="111125"/>
                </a:lnTo>
                <a:lnTo>
                  <a:pt x="222250" y="66675"/>
                </a:lnTo>
                <a:lnTo>
                  <a:pt x="266700" y="66675"/>
                </a:lnTo>
                <a:lnTo>
                  <a:pt x="266700" y="111125"/>
                </a:lnTo>
                <a:lnTo>
                  <a:pt x="222250" y="111125"/>
                </a:lnTo>
                <a:lnTo>
                  <a:pt x="222250" y="155575"/>
                </a:lnTo>
                <a:lnTo>
                  <a:pt x="266700" y="155575"/>
                </a:lnTo>
                <a:lnTo>
                  <a:pt x="266700" y="200025"/>
                </a:lnTo>
                <a:lnTo>
                  <a:pt x="222250" y="200025"/>
                </a:lnTo>
                <a:lnTo>
                  <a:pt x="222250" y="244475"/>
                </a:lnTo>
                <a:lnTo>
                  <a:pt x="266700" y="244475"/>
                </a:lnTo>
                <a:lnTo>
                  <a:pt x="266700" y="288925"/>
                </a:lnTo>
                <a:lnTo>
                  <a:pt x="222250" y="288925"/>
                </a:lnTo>
                <a:lnTo>
                  <a:pt x="222250" y="244475"/>
                </a:lnTo>
                <a:lnTo>
                  <a:pt x="177800" y="244475"/>
                </a:lnTo>
                <a:lnTo>
                  <a:pt x="177800" y="288925"/>
                </a:lnTo>
                <a:lnTo>
                  <a:pt x="133350" y="288925"/>
                </a:lnTo>
                <a:lnTo>
                  <a:pt x="133350" y="244475"/>
                </a:lnTo>
                <a:lnTo>
                  <a:pt x="88900" y="244475"/>
                </a:lnTo>
                <a:lnTo>
                  <a:pt x="88900" y="288925"/>
                </a:lnTo>
                <a:lnTo>
                  <a:pt x="44450" y="288925"/>
                </a:lnTo>
                <a:lnTo>
                  <a:pt x="44450" y="244475"/>
                </a:lnTo>
                <a:lnTo>
                  <a:pt x="88900" y="244475"/>
                </a:lnTo>
                <a:lnTo>
                  <a:pt x="88900" y="200025"/>
                </a:lnTo>
                <a:lnTo>
                  <a:pt x="44450" y="200025"/>
                </a:lnTo>
                <a:lnTo>
                  <a:pt x="44450" y="155575"/>
                </a:lnTo>
                <a:lnTo>
                  <a:pt x="88900" y="155575"/>
                </a:lnTo>
                <a:lnTo>
                  <a:pt x="88900" y="111125"/>
                </a:lnTo>
                <a:lnTo>
                  <a:pt x="44450" y="111125"/>
                </a:lnTo>
                <a:lnTo>
                  <a:pt x="44450" y="66675"/>
                </a:lnTo>
                <a:lnTo>
                  <a:pt x="88900" y="66675"/>
                </a:lnTo>
                <a:close/>
                <a:moveTo>
                  <a:pt x="133350" y="155575"/>
                </a:moveTo>
                <a:lnTo>
                  <a:pt x="177800" y="155575"/>
                </a:lnTo>
                <a:lnTo>
                  <a:pt x="177800" y="111125"/>
                </a:lnTo>
                <a:lnTo>
                  <a:pt x="133350" y="111125"/>
                </a:lnTo>
                <a:lnTo>
                  <a:pt x="133350" y="155575"/>
                </a:lnTo>
                <a:close/>
                <a:moveTo>
                  <a:pt x="133350" y="200025"/>
                </a:moveTo>
                <a:lnTo>
                  <a:pt x="133350" y="155575"/>
                </a:lnTo>
                <a:lnTo>
                  <a:pt x="88900" y="155575"/>
                </a:lnTo>
                <a:lnTo>
                  <a:pt x="88900" y="200025"/>
                </a:lnTo>
                <a:lnTo>
                  <a:pt x="133350" y="200025"/>
                </a:lnTo>
                <a:close/>
                <a:moveTo>
                  <a:pt x="177800" y="200025"/>
                </a:moveTo>
                <a:lnTo>
                  <a:pt x="133350" y="200025"/>
                </a:lnTo>
                <a:lnTo>
                  <a:pt x="133350" y="244475"/>
                </a:lnTo>
                <a:lnTo>
                  <a:pt x="177800" y="244475"/>
                </a:lnTo>
                <a:lnTo>
                  <a:pt x="177800" y="200025"/>
                </a:lnTo>
                <a:close/>
                <a:moveTo>
                  <a:pt x="177800" y="200025"/>
                </a:moveTo>
                <a:lnTo>
                  <a:pt x="222250" y="200025"/>
                </a:lnTo>
                <a:lnTo>
                  <a:pt x="222250" y="155575"/>
                </a:lnTo>
                <a:lnTo>
                  <a:pt x="177800" y="155575"/>
                </a:lnTo>
                <a:lnTo>
                  <a:pt x="177800" y="20002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chess AI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environment is the chessboard, the rules, and the opponent's moves — all contained within the game context.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Properties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environments are classified by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key properties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Each property has two opposite values.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5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425" y="2349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9210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365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Accessible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Inaccessible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much can the agent see?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20955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5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60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826000" y="29210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6000" y="3365500"/>
            <a:ext cx="292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Deterministic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Non-Deterministic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Are outcomes predictable?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20955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5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07425" y="2349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74600" y="85725"/>
                </a:moveTo>
                <a:cubicBezTo>
                  <a:pt x="359777" y="85725"/>
                  <a:pt x="345400" y="89743"/>
                  <a:pt x="332809" y="97066"/>
                </a:cubicBezTo>
                <a:cubicBezTo>
                  <a:pt x="318701" y="82778"/>
                  <a:pt x="302270" y="70812"/>
                  <a:pt x="284143" y="61793"/>
                </a:cubicBezTo>
                <a:cubicBezTo>
                  <a:pt x="309324" y="40362"/>
                  <a:pt x="341382" y="28575"/>
                  <a:pt x="374600" y="28575"/>
                </a:cubicBezTo>
                <a:cubicBezTo>
                  <a:pt x="451753" y="28575"/>
                  <a:pt x="514350" y="91083"/>
                  <a:pt x="514350" y="168325"/>
                </a:cubicBezTo>
                <a:cubicBezTo>
                  <a:pt x="514350" y="205383"/>
                  <a:pt x="499616" y="240923"/>
                  <a:pt x="473452" y="267087"/>
                </a:cubicBezTo>
                <a:lnTo>
                  <a:pt x="409962" y="330577"/>
                </a:lnTo>
                <a:cubicBezTo>
                  <a:pt x="383798" y="356741"/>
                  <a:pt x="348258" y="371475"/>
                  <a:pt x="311200" y="371475"/>
                </a:cubicBezTo>
                <a:cubicBezTo>
                  <a:pt x="234047" y="371475"/>
                  <a:pt x="171450" y="308967"/>
                  <a:pt x="171450" y="231725"/>
                </a:cubicBezTo>
                <a:cubicBezTo>
                  <a:pt x="171450" y="230386"/>
                  <a:pt x="171450" y="229046"/>
                  <a:pt x="171539" y="227707"/>
                </a:cubicBezTo>
                <a:cubicBezTo>
                  <a:pt x="171986" y="211901"/>
                  <a:pt x="185112" y="199489"/>
                  <a:pt x="200918" y="199936"/>
                </a:cubicBezTo>
                <a:cubicBezTo>
                  <a:pt x="216724" y="200382"/>
                  <a:pt x="229136" y="213509"/>
                  <a:pt x="228689" y="229314"/>
                </a:cubicBezTo>
                <a:cubicBezTo>
                  <a:pt x="228689" y="230118"/>
                  <a:pt x="228689" y="230922"/>
                  <a:pt x="228689" y="231636"/>
                </a:cubicBezTo>
                <a:cubicBezTo>
                  <a:pt x="228689" y="277267"/>
                  <a:pt x="265658" y="314236"/>
                  <a:pt x="311289" y="314236"/>
                </a:cubicBezTo>
                <a:cubicBezTo>
                  <a:pt x="333167" y="314236"/>
                  <a:pt x="354151" y="305574"/>
                  <a:pt x="369689" y="290036"/>
                </a:cubicBezTo>
                <a:lnTo>
                  <a:pt x="433179" y="226546"/>
                </a:lnTo>
                <a:cubicBezTo>
                  <a:pt x="448628" y="211098"/>
                  <a:pt x="457379" y="190024"/>
                  <a:pt x="457379" y="168146"/>
                </a:cubicBezTo>
                <a:cubicBezTo>
                  <a:pt x="457379" y="122515"/>
                  <a:pt x="420410" y="85546"/>
                  <a:pt x="374779" y="85546"/>
                </a:cubicBezTo>
                <a:close/>
                <a:moveTo>
                  <a:pt x="245745" y="154751"/>
                </a:moveTo>
                <a:cubicBezTo>
                  <a:pt x="244048" y="154037"/>
                  <a:pt x="242352" y="153055"/>
                  <a:pt x="240834" y="151983"/>
                </a:cubicBezTo>
                <a:cubicBezTo>
                  <a:pt x="229582" y="146179"/>
                  <a:pt x="216724" y="142875"/>
                  <a:pt x="203240" y="142875"/>
                </a:cubicBezTo>
                <a:cubicBezTo>
                  <a:pt x="181362" y="142875"/>
                  <a:pt x="160377" y="151537"/>
                  <a:pt x="144840" y="167074"/>
                </a:cubicBezTo>
                <a:lnTo>
                  <a:pt x="81349" y="230565"/>
                </a:lnTo>
                <a:cubicBezTo>
                  <a:pt x="65901" y="246013"/>
                  <a:pt x="57150" y="267087"/>
                  <a:pt x="57150" y="288965"/>
                </a:cubicBezTo>
                <a:cubicBezTo>
                  <a:pt x="57150" y="334595"/>
                  <a:pt x="94119" y="371564"/>
                  <a:pt x="139750" y="371564"/>
                </a:cubicBezTo>
                <a:cubicBezTo>
                  <a:pt x="154484" y="371564"/>
                  <a:pt x="168860" y="367635"/>
                  <a:pt x="181451" y="360313"/>
                </a:cubicBezTo>
                <a:cubicBezTo>
                  <a:pt x="195560" y="374600"/>
                  <a:pt x="211991" y="386566"/>
                  <a:pt x="230207" y="395585"/>
                </a:cubicBezTo>
                <a:cubicBezTo>
                  <a:pt x="205026" y="416927"/>
                  <a:pt x="173057" y="428804"/>
                  <a:pt x="139750" y="428804"/>
                </a:cubicBezTo>
                <a:cubicBezTo>
                  <a:pt x="62597" y="428804"/>
                  <a:pt x="0" y="366296"/>
                  <a:pt x="0" y="289054"/>
                </a:cubicBezTo>
                <a:cubicBezTo>
                  <a:pt x="0" y="251996"/>
                  <a:pt x="14734" y="216456"/>
                  <a:pt x="40898" y="190292"/>
                </a:cubicBezTo>
                <a:lnTo>
                  <a:pt x="104388" y="126802"/>
                </a:lnTo>
                <a:cubicBezTo>
                  <a:pt x="130552" y="100638"/>
                  <a:pt x="166092" y="85904"/>
                  <a:pt x="203150" y="85904"/>
                </a:cubicBezTo>
                <a:cubicBezTo>
                  <a:pt x="280481" y="85904"/>
                  <a:pt x="342900" y="148947"/>
                  <a:pt x="342900" y="226010"/>
                </a:cubicBezTo>
                <a:cubicBezTo>
                  <a:pt x="342900" y="227171"/>
                  <a:pt x="342900" y="228332"/>
                  <a:pt x="342900" y="229493"/>
                </a:cubicBezTo>
                <a:cubicBezTo>
                  <a:pt x="342543" y="245299"/>
                  <a:pt x="329416" y="257711"/>
                  <a:pt x="313611" y="257354"/>
                </a:cubicBezTo>
                <a:cubicBezTo>
                  <a:pt x="297805" y="256996"/>
                  <a:pt x="285393" y="243870"/>
                  <a:pt x="285750" y="228064"/>
                </a:cubicBezTo>
                <a:cubicBezTo>
                  <a:pt x="285750" y="227350"/>
                  <a:pt x="285750" y="226725"/>
                  <a:pt x="285750" y="226010"/>
                </a:cubicBezTo>
                <a:cubicBezTo>
                  <a:pt x="285750" y="195917"/>
                  <a:pt x="269677" y="169485"/>
                  <a:pt x="245745" y="15493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29210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Connection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3365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Episodic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Non-Episodic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Are decisions connected?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192000" y="20955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5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4460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12446000" y="29210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 Speed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46000" y="3365500"/>
            <a:ext cx="292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Does the environment change?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080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5050" y="5397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11150" y="44450"/>
                </a:moveTo>
                <a:cubicBezTo>
                  <a:pt x="384770" y="44450"/>
                  <a:pt x="444500" y="104180"/>
                  <a:pt x="444500" y="177800"/>
                </a:cubicBezTo>
                <a:cubicBezTo>
                  <a:pt x="444500" y="251420"/>
                  <a:pt x="384770" y="311150"/>
                  <a:pt x="311150" y="311150"/>
                </a:cubicBezTo>
                <a:lnTo>
                  <a:pt x="133350" y="311150"/>
                </a:lnTo>
                <a:cubicBezTo>
                  <a:pt x="59730" y="311150"/>
                  <a:pt x="0" y="251420"/>
                  <a:pt x="0" y="177800"/>
                </a:cubicBezTo>
                <a:cubicBezTo>
                  <a:pt x="0" y="104180"/>
                  <a:pt x="59730" y="44450"/>
                  <a:pt x="133350" y="44450"/>
                </a:cubicBezTo>
                <a:lnTo>
                  <a:pt x="311150" y="44450"/>
                </a:lnTo>
                <a:close/>
                <a:moveTo>
                  <a:pt x="133350" y="122238"/>
                </a:moveTo>
                <a:cubicBezTo>
                  <a:pt x="124113" y="122238"/>
                  <a:pt x="116681" y="129669"/>
                  <a:pt x="116681" y="138906"/>
                </a:cubicBezTo>
                <a:lnTo>
                  <a:pt x="116681" y="161131"/>
                </a:lnTo>
                <a:lnTo>
                  <a:pt x="94456" y="161131"/>
                </a:lnTo>
                <a:cubicBezTo>
                  <a:pt x="85219" y="161131"/>
                  <a:pt x="77788" y="168563"/>
                  <a:pt x="77788" y="177800"/>
                </a:cubicBezTo>
                <a:cubicBezTo>
                  <a:pt x="77788" y="187037"/>
                  <a:pt x="85219" y="194469"/>
                  <a:pt x="94456" y="194469"/>
                </a:cubicBezTo>
                <a:lnTo>
                  <a:pt x="116681" y="194469"/>
                </a:lnTo>
                <a:lnTo>
                  <a:pt x="116681" y="216694"/>
                </a:lnTo>
                <a:cubicBezTo>
                  <a:pt x="116681" y="225931"/>
                  <a:pt x="124113" y="233363"/>
                  <a:pt x="133350" y="233363"/>
                </a:cubicBezTo>
                <a:cubicBezTo>
                  <a:pt x="142587" y="233363"/>
                  <a:pt x="150019" y="225931"/>
                  <a:pt x="150019" y="216694"/>
                </a:cubicBezTo>
                <a:lnTo>
                  <a:pt x="150019" y="194469"/>
                </a:lnTo>
                <a:lnTo>
                  <a:pt x="172244" y="194469"/>
                </a:lnTo>
                <a:cubicBezTo>
                  <a:pt x="181481" y="194469"/>
                  <a:pt x="188913" y="187037"/>
                  <a:pt x="188913" y="177800"/>
                </a:cubicBezTo>
                <a:cubicBezTo>
                  <a:pt x="188913" y="168563"/>
                  <a:pt x="181481" y="161131"/>
                  <a:pt x="172244" y="161131"/>
                </a:cubicBezTo>
                <a:lnTo>
                  <a:pt x="150019" y="161131"/>
                </a:lnTo>
                <a:lnTo>
                  <a:pt x="150019" y="138906"/>
                </a:lnTo>
                <a:cubicBezTo>
                  <a:pt x="150019" y="129669"/>
                  <a:pt x="142587" y="122238"/>
                  <a:pt x="133350" y="122238"/>
                </a:cubicBezTo>
                <a:close/>
                <a:moveTo>
                  <a:pt x="300038" y="188913"/>
                </a:moveTo>
                <a:cubicBezTo>
                  <a:pt x="287771" y="188913"/>
                  <a:pt x="277813" y="198871"/>
                  <a:pt x="277813" y="211138"/>
                </a:cubicBezTo>
                <a:cubicBezTo>
                  <a:pt x="277813" y="223404"/>
                  <a:pt x="287771" y="233363"/>
                  <a:pt x="300038" y="233363"/>
                </a:cubicBezTo>
                <a:cubicBezTo>
                  <a:pt x="312304" y="233363"/>
                  <a:pt x="322263" y="223404"/>
                  <a:pt x="322263" y="211138"/>
                </a:cubicBezTo>
                <a:cubicBezTo>
                  <a:pt x="322263" y="198871"/>
                  <a:pt x="312304" y="188913"/>
                  <a:pt x="300038" y="188913"/>
                </a:cubicBezTo>
                <a:close/>
                <a:moveTo>
                  <a:pt x="344488" y="122238"/>
                </a:moveTo>
                <a:cubicBezTo>
                  <a:pt x="332221" y="122238"/>
                  <a:pt x="322263" y="132196"/>
                  <a:pt x="322263" y="144463"/>
                </a:cubicBezTo>
                <a:cubicBezTo>
                  <a:pt x="322263" y="156729"/>
                  <a:pt x="332221" y="166688"/>
                  <a:pt x="344488" y="166688"/>
                </a:cubicBezTo>
                <a:cubicBezTo>
                  <a:pt x="356754" y="166688"/>
                  <a:pt x="366712" y="156729"/>
                  <a:pt x="366712" y="144463"/>
                </a:cubicBezTo>
                <a:cubicBezTo>
                  <a:pt x="366712" y="132196"/>
                  <a:pt x="356754" y="122238"/>
                  <a:pt x="344488" y="12223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1587500" y="5397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9500" y="5905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video game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world can be fully visible (accessible), predictable (deterministic), level-by-level (episodic), and frozen when paused (static).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 vs Inaccessible Environment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048500" cy="36830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048500" cy="6350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704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 (Fully Observable)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90600" y="2286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857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agent can see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relevant information at once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Chess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accessible — the whole board is visible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Accessible environments are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easier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handle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91500" y="1397000"/>
            <a:ext cx="7048500" cy="3683000"/>
          </a:xfrm>
          <a:prstGeom prst="roundRect">
            <a:avLst>
              <a:gd name="adj" fmla="val 8000"/>
            </a:avLst>
          </a:prstGeom>
          <a:solidFill>
            <a:srgbClr val="FD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8191500" y="1397000"/>
            <a:ext cx="7048500" cy="635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8191500" y="1397000"/>
            <a:ext cx="704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INACCESSIBLE (Partially Observable)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20100" y="2286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2544" y="-19764"/>
                </a:moveTo>
                <a:cubicBezTo>
                  <a:pt x="25083" y="-27226"/>
                  <a:pt x="13017" y="-27226"/>
                  <a:pt x="5636" y="-19764"/>
                </a:cubicBezTo>
                <a:cubicBezTo>
                  <a:pt x="-1746" y="-12303"/>
                  <a:pt x="-1826" y="-238"/>
                  <a:pt x="5556" y="7223"/>
                </a:cubicBezTo>
                <a:lnTo>
                  <a:pt x="424656" y="426323"/>
                </a:lnTo>
                <a:cubicBezTo>
                  <a:pt x="432118" y="433784"/>
                  <a:pt x="444183" y="433784"/>
                  <a:pt x="451564" y="426323"/>
                </a:cubicBezTo>
                <a:cubicBezTo>
                  <a:pt x="458946" y="418862"/>
                  <a:pt x="459026" y="406797"/>
                  <a:pt x="451564" y="399415"/>
                </a:cubicBezTo>
                <a:lnTo>
                  <a:pt x="375047" y="322898"/>
                </a:lnTo>
                <a:cubicBezTo>
                  <a:pt x="377190" y="320993"/>
                  <a:pt x="379333" y="319088"/>
                  <a:pt x="381397" y="317183"/>
                </a:cubicBezTo>
                <a:cubicBezTo>
                  <a:pt x="418544" y="282654"/>
                  <a:pt x="443389" y="241459"/>
                  <a:pt x="455216" y="213122"/>
                </a:cubicBezTo>
                <a:cubicBezTo>
                  <a:pt x="457835" y="206851"/>
                  <a:pt x="457835" y="199866"/>
                  <a:pt x="455216" y="193596"/>
                </a:cubicBezTo>
                <a:cubicBezTo>
                  <a:pt x="443389" y="165259"/>
                  <a:pt x="418544" y="123984"/>
                  <a:pt x="381397" y="89535"/>
                </a:cubicBezTo>
                <a:cubicBezTo>
                  <a:pt x="344011" y="54848"/>
                  <a:pt x="292656" y="25559"/>
                  <a:pt x="228521" y="25559"/>
                </a:cubicBezTo>
                <a:cubicBezTo>
                  <a:pt x="183436" y="25559"/>
                  <a:pt x="144701" y="40005"/>
                  <a:pt x="112633" y="60643"/>
                </a:cubicBezTo>
                <a:lnTo>
                  <a:pt x="32544" y="-19764"/>
                </a:lnTo>
                <a:close/>
                <a:moveTo>
                  <a:pt x="162322" y="110093"/>
                </a:moveTo>
                <a:cubicBezTo>
                  <a:pt x="180975" y="96758"/>
                  <a:pt x="203914" y="88900"/>
                  <a:pt x="228600" y="88900"/>
                </a:cubicBezTo>
                <a:cubicBezTo>
                  <a:pt x="291703" y="88900"/>
                  <a:pt x="342900" y="140097"/>
                  <a:pt x="342900" y="203200"/>
                </a:cubicBezTo>
                <a:cubicBezTo>
                  <a:pt x="342900" y="227886"/>
                  <a:pt x="335042" y="250746"/>
                  <a:pt x="321707" y="269478"/>
                </a:cubicBezTo>
                <a:lnTo>
                  <a:pt x="294164" y="241935"/>
                </a:lnTo>
                <a:cubicBezTo>
                  <a:pt x="304244" y="224949"/>
                  <a:pt x="307658" y="204073"/>
                  <a:pt x="302181" y="183436"/>
                </a:cubicBezTo>
                <a:cubicBezTo>
                  <a:pt x="291306" y="142796"/>
                  <a:pt x="249476" y="118666"/>
                  <a:pt x="208836" y="129540"/>
                </a:cubicBezTo>
                <a:cubicBezTo>
                  <a:pt x="202009" y="131366"/>
                  <a:pt x="195580" y="134064"/>
                  <a:pt x="189786" y="137478"/>
                </a:cubicBezTo>
                <a:lnTo>
                  <a:pt x="162243" y="109934"/>
                </a:lnTo>
                <a:close/>
                <a:moveTo>
                  <a:pt x="258207" y="313611"/>
                </a:moveTo>
                <a:cubicBezTo>
                  <a:pt x="248761" y="316151"/>
                  <a:pt x="238839" y="317500"/>
                  <a:pt x="228600" y="317500"/>
                </a:cubicBezTo>
                <a:cubicBezTo>
                  <a:pt x="165497" y="317500"/>
                  <a:pt x="114300" y="266303"/>
                  <a:pt x="114300" y="203200"/>
                </a:cubicBezTo>
                <a:cubicBezTo>
                  <a:pt x="114300" y="192961"/>
                  <a:pt x="115649" y="183039"/>
                  <a:pt x="118189" y="173593"/>
                </a:cubicBezTo>
                <a:lnTo>
                  <a:pt x="55086" y="110490"/>
                </a:lnTo>
                <a:cubicBezTo>
                  <a:pt x="29210" y="139700"/>
                  <a:pt x="11430" y="170656"/>
                  <a:pt x="1984" y="193437"/>
                </a:cubicBezTo>
                <a:cubicBezTo>
                  <a:pt x="-635" y="199708"/>
                  <a:pt x="-635" y="206692"/>
                  <a:pt x="1984" y="212963"/>
                </a:cubicBezTo>
                <a:cubicBezTo>
                  <a:pt x="13811" y="241300"/>
                  <a:pt x="38656" y="282575"/>
                  <a:pt x="75803" y="317024"/>
                </a:cubicBezTo>
                <a:cubicBezTo>
                  <a:pt x="113189" y="351711"/>
                  <a:pt x="164544" y="381000"/>
                  <a:pt x="228679" y="381000"/>
                </a:cubicBezTo>
                <a:cubicBezTo>
                  <a:pt x="258286" y="381000"/>
                  <a:pt x="285194" y="374729"/>
                  <a:pt x="309245" y="364649"/>
                </a:cubicBezTo>
                <a:lnTo>
                  <a:pt x="258286" y="31369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445500" y="2857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agent can only see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environment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Poker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inaccessible — you cannot see opponent cards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Requires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prediction (model-based agents)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275" y="577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44450"/>
                </a:moveTo>
                <a:cubicBezTo>
                  <a:pt x="42158" y="44450"/>
                  <a:pt x="22225" y="64383"/>
                  <a:pt x="22225" y="88900"/>
                </a:cubicBezTo>
                <a:lnTo>
                  <a:pt x="22225" y="266700"/>
                </a:lnTo>
                <a:cubicBezTo>
                  <a:pt x="22225" y="291217"/>
                  <a:pt x="42158" y="311150"/>
                  <a:pt x="66675" y="311150"/>
                </a:cubicBezTo>
                <a:lnTo>
                  <a:pt x="244475" y="311150"/>
                </a:lnTo>
                <a:cubicBezTo>
                  <a:pt x="268992" y="311150"/>
                  <a:pt x="288925" y="291217"/>
                  <a:pt x="288925" y="266700"/>
                </a:cubicBezTo>
                <a:lnTo>
                  <a:pt x="288925" y="88900"/>
                </a:lnTo>
                <a:cubicBezTo>
                  <a:pt x="288925" y="64383"/>
                  <a:pt x="268992" y="44450"/>
                  <a:pt x="244475" y="44450"/>
                </a:cubicBezTo>
                <a:lnTo>
                  <a:pt x="66675" y="44450"/>
                </a:lnTo>
                <a:close/>
                <a:moveTo>
                  <a:pt x="322263" y="233363"/>
                </a:moveTo>
                <a:lnTo>
                  <a:pt x="373311" y="274201"/>
                </a:lnTo>
                <a:cubicBezTo>
                  <a:pt x="376228" y="276562"/>
                  <a:pt x="379839" y="277813"/>
                  <a:pt x="383590" y="277813"/>
                </a:cubicBezTo>
                <a:cubicBezTo>
                  <a:pt x="392688" y="277813"/>
                  <a:pt x="400050" y="270450"/>
                  <a:pt x="400050" y="261352"/>
                </a:cubicBezTo>
                <a:lnTo>
                  <a:pt x="400050" y="94248"/>
                </a:lnTo>
                <a:cubicBezTo>
                  <a:pt x="400050" y="85150"/>
                  <a:pt x="392688" y="77788"/>
                  <a:pt x="383590" y="77788"/>
                </a:cubicBezTo>
                <a:cubicBezTo>
                  <a:pt x="379839" y="77788"/>
                  <a:pt x="376228" y="79038"/>
                  <a:pt x="373311" y="81399"/>
                </a:cubicBezTo>
                <a:lnTo>
                  <a:pt x="322263" y="122238"/>
                </a:lnTo>
                <a:lnTo>
                  <a:pt x="322263" y="23336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traffic camera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sees all lanes (accessible).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self-driving car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fog sees only nearby objects (inaccessible).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 vs Non-Deterministic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048500" cy="36830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048500" cy="6350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704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 (Predictable)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221139"/>
                </a:moveTo>
                <a:cubicBezTo>
                  <a:pt x="408861" y="211217"/>
                  <a:pt x="408861" y="195104"/>
                  <a:pt x="398939" y="185182"/>
                </a:cubicBezTo>
                <a:lnTo>
                  <a:pt x="271939" y="58182"/>
                </a:lnTo>
                <a:cubicBezTo>
                  <a:pt x="262017" y="48260"/>
                  <a:pt x="245904" y="48260"/>
                  <a:pt x="235982" y="58182"/>
                </a:cubicBezTo>
                <a:cubicBezTo>
                  <a:pt x="226060" y="68104"/>
                  <a:pt x="226060" y="84217"/>
                  <a:pt x="235982" y="94139"/>
                </a:cubicBezTo>
                <a:lnTo>
                  <a:pt x="319643" y="177800"/>
                </a:ln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319643" y="228600"/>
                </a:lnTo>
                <a:lnTo>
                  <a:pt x="235982" y="312261"/>
                </a:lnTo>
                <a:cubicBezTo>
                  <a:pt x="226060" y="322183"/>
                  <a:pt x="226060" y="338296"/>
                  <a:pt x="235982" y="348218"/>
                </a:cubicBezTo>
                <a:cubicBezTo>
                  <a:pt x="245904" y="358140"/>
                  <a:pt x="262017" y="358140"/>
                  <a:pt x="271939" y="348218"/>
                </a:cubicBezTo>
                <a:lnTo>
                  <a:pt x="398939" y="221218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857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same action always produces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result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Chess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deterministic — moving a piece always has the same effect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Deterministic environments are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predictable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easier to plan 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91500" y="1397000"/>
            <a:ext cx="7048500" cy="3683000"/>
          </a:xfrm>
          <a:prstGeom prst="roundRect">
            <a:avLst>
              <a:gd name="adj" fmla="val 8000"/>
            </a:avLst>
          </a:prstGeom>
          <a:solidFill>
            <a:srgbClr val="FD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8191500" y="1397000"/>
            <a:ext cx="7048500" cy="635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8191500" y="1397000"/>
            <a:ext cx="704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NON-DETERMINISTIC (Unpredictable)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55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516" y="27305"/>
                </a:moveTo>
                <a:cubicBezTo>
                  <a:pt x="330041" y="23336"/>
                  <a:pt x="340916" y="25559"/>
                  <a:pt x="348218" y="32782"/>
                </a:cubicBezTo>
                <a:lnTo>
                  <a:pt x="399018" y="83582"/>
                </a:lnTo>
                <a:cubicBezTo>
                  <a:pt x="403781" y="88344"/>
                  <a:pt x="406479" y="94774"/>
                  <a:pt x="406479" y="101521"/>
                </a:cubicBezTo>
                <a:cubicBezTo>
                  <a:pt x="406479" y="108268"/>
                  <a:pt x="403781" y="114697"/>
                  <a:pt x="399018" y="119459"/>
                </a:cubicBezTo>
                <a:lnTo>
                  <a:pt x="348218" y="170259"/>
                </a:lnTo>
                <a:cubicBezTo>
                  <a:pt x="340916" y="177562"/>
                  <a:pt x="330041" y="179705"/>
                  <a:pt x="320516" y="175736"/>
                </a:cubicBezTo>
                <a:cubicBezTo>
                  <a:pt x="310991" y="171768"/>
                  <a:pt x="304800" y="162639"/>
                  <a:pt x="304800" y="152400"/>
                </a:cubicBezTo>
                <a:lnTo>
                  <a:pt x="304800" y="127000"/>
                </a:lnTo>
                <a:lnTo>
                  <a:pt x="279400" y="127000"/>
                </a:lnTo>
                <a:cubicBezTo>
                  <a:pt x="271383" y="127000"/>
                  <a:pt x="263843" y="130731"/>
                  <a:pt x="259080" y="137160"/>
                </a:cubicBezTo>
                <a:lnTo>
                  <a:pt x="233362" y="171450"/>
                </a:lnTo>
                <a:lnTo>
                  <a:pt x="201613" y="129143"/>
                </a:lnTo>
                <a:lnTo>
                  <a:pt x="218440" y="106680"/>
                </a:lnTo>
                <a:cubicBezTo>
                  <a:pt x="232807" y="87471"/>
                  <a:pt x="255429" y="76200"/>
                  <a:pt x="279400" y="76200"/>
                </a:cubicBezTo>
                <a:lnTo>
                  <a:pt x="304800" y="76200"/>
                </a:lnTo>
                <a:lnTo>
                  <a:pt x="304800" y="50800"/>
                </a:lnTo>
                <a:cubicBezTo>
                  <a:pt x="304800" y="40561"/>
                  <a:pt x="310991" y="31274"/>
                  <a:pt x="320516" y="27305"/>
                </a:cubicBezTo>
                <a:close/>
                <a:moveTo>
                  <a:pt x="122238" y="234950"/>
                </a:moveTo>
                <a:lnTo>
                  <a:pt x="153988" y="277257"/>
                </a:lnTo>
                <a:lnTo>
                  <a:pt x="137160" y="299720"/>
                </a:lnTo>
                <a:cubicBezTo>
                  <a:pt x="122793" y="318929"/>
                  <a:pt x="100171" y="330200"/>
                  <a:pt x="76200" y="330200"/>
                </a:cubicBezTo>
                <a:lnTo>
                  <a:pt x="25400" y="330200"/>
                </a:lnTo>
                <a:cubicBezTo>
                  <a:pt x="11351" y="330200"/>
                  <a:pt x="0" y="318849"/>
                  <a:pt x="0" y="304800"/>
                </a:cubicBezTo>
                <a:cubicBezTo>
                  <a:pt x="0" y="290751"/>
                  <a:pt x="11351" y="279400"/>
                  <a:pt x="25400" y="279400"/>
                </a:cubicBezTo>
                <a:lnTo>
                  <a:pt x="76200" y="279400"/>
                </a:lnTo>
                <a:cubicBezTo>
                  <a:pt x="84217" y="279400"/>
                  <a:pt x="91757" y="275669"/>
                  <a:pt x="96520" y="269240"/>
                </a:cubicBezTo>
                <a:lnTo>
                  <a:pt x="122238" y="234950"/>
                </a:lnTo>
                <a:close/>
                <a:moveTo>
                  <a:pt x="348139" y="373539"/>
                </a:moveTo>
                <a:cubicBezTo>
                  <a:pt x="340836" y="380841"/>
                  <a:pt x="329962" y="382984"/>
                  <a:pt x="320437" y="379016"/>
                </a:cubicBezTo>
                <a:cubicBezTo>
                  <a:pt x="310912" y="375047"/>
                  <a:pt x="304800" y="365839"/>
                  <a:pt x="304800" y="355600"/>
                </a:cubicBezTo>
                <a:lnTo>
                  <a:pt x="304800" y="330200"/>
                </a:lnTo>
                <a:lnTo>
                  <a:pt x="279400" y="330200"/>
                </a:lnTo>
                <a:cubicBezTo>
                  <a:pt x="255429" y="330200"/>
                  <a:pt x="232807" y="318929"/>
                  <a:pt x="218440" y="299720"/>
                </a:cubicBezTo>
                <a:lnTo>
                  <a:pt x="96520" y="137160"/>
                </a:lnTo>
                <a:cubicBezTo>
                  <a:pt x="91757" y="130731"/>
                  <a:pt x="84217" y="127000"/>
                  <a:pt x="76200" y="1270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cubicBezTo>
                  <a:pt x="100171" y="76200"/>
                  <a:pt x="122793" y="87471"/>
                  <a:pt x="137160" y="106680"/>
                </a:cubicBezTo>
                <a:lnTo>
                  <a:pt x="259080" y="269240"/>
                </a:lnTo>
                <a:cubicBezTo>
                  <a:pt x="263843" y="275669"/>
                  <a:pt x="271383" y="279400"/>
                  <a:pt x="279400" y="279400"/>
                </a:cubicBezTo>
                <a:lnTo>
                  <a:pt x="304800" y="279400"/>
                </a:lnTo>
                <a:lnTo>
                  <a:pt x="304800" y="254000"/>
                </a:lnTo>
                <a:cubicBezTo>
                  <a:pt x="304800" y="243761"/>
                  <a:pt x="310991" y="234474"/>
                  <a:pt x="320516" y="230505"/>
                </a:cubicBezTo>
                <a:cubicBezTo>
                  <a:pt x="330041" y="226536"/>
                  <a:pt x="340916" y="228759"/>
                  <a:pt x="348218" y="235982"/>
                </a:cubicBezTo>
                <a:lnTo>
                  <a:pt x="399018" y="286782"/>
                </a:lnTo>
                <a:cubicBezTo>
                  <a:pt x="403781" y="291544"/>
                  <a:pt x="406479" y="297974"/>
                  <a:pt x="406479" y="304721"/>
                </a:cubicBezTo>
                <a:cubicBezTo>
                  <a:pt x="406479" y="311467"/>
                  <a:pt x="403781" y="317897"/>
                  <a:pt x="399018" y="322659"/>
                </a:cubicBezTo>
                <a:lnTo>
                  <a:pt x="348218" y="37345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445500" y="2857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same action may produce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results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Rolling dice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non-deterministic — you cannot predict the outcome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Requires agents to handle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uncertainty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adapt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300038"/>
                </a:lnTo>
                <a:cubicBezTo>
                  <a:pt x="0" y="318443"/>
                  <a:pt x="14932" y="333375"/>
                  <a:pt x="3333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105708"/>
                </a:lnTo>
                <a:cubicBezTo>
                  <a:pt x="355600" y="93067"/>
                  <a:pt x="342126" y="85080"/>
                  <a:pt x="331014" y="91053"/>
                </a:cubicBezTo>
                <a:lnTo>
                  <a:pt x="222250" y="149602"/>
                </a:lnTo>
                <a:lnTo>
                  <a:pt x="222250" y="105708"/>
                </a:lnTo>
                <a:cubicBezTo>
                  <a:pt x="222250" y="93067"/>
                  <a:pt x="208776" y="85080"/>
                  <a:pt x="197664" y="91053"/>
                </a:cubicBezTo>
                <a:lnTo>
                  <a:pt x="88900" y="149602"/>
                </a:lnTo>
                <a:lnTo>
                  <a:pt x="88900" y="44450"/>
                </a:lnTo>
                <a:cubicBezTo>
                  <a:pt x="88900" y="32157"/>
                  <a:pt x="78968" y="22225"/>
                  <a:pt x="66675" y="22225"/>
                </a:cubicBezTo>
                <a:lnTo>
                  <a:pt x="22225" y="2222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factory robot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 an assembly line (deterministic) vs. a robot driving on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busy street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(non-deterministic).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 vs Non-Episodic Environment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048500" cy="36830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048500" cy="6350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704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 (Independent Steps)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5200" y="2286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444738" y="188278"/>
                </a:moveTo>
                <a:cubicBezTo>
                  <a:pt x="452993" y="197644"/>
                  <a:pt x="467201" y="199708"/>
                  <a:pt x="477917" y="192643"/>
                </a:cubicBezTo>
                <a:cubicBezTo>
                  <a:pt x="489585" y="184864"/>
                  <a:pt x="492760" y="169069"/>
                  <a:pt x="484981" y="157401"/>
                </a:cubicBezTo>
                <a:lnTo>
                  <a:pt x="446881" y="100251"/>
                </a:lnTo>
                <a:cubicBezTo>
                  <a:pt x="444659" y="96917"/>
                  <a:pt x="441642" y="94139"/>
                  <a:pt x="438071" y="92154"/>
                </a:cubicBezTo>
                <a:lnTo>
                  <a:pt x="278924" y="3731"/>
                </a:lnTo>
                <a:cubicBezTo>
                  <a:pt x="263604" y="-4762"/>
                  <a:pt x="244951" y="-4762"/>
                  <a:pt x="229553" y="3731"/>
                </a:cubicBezTo>
                <a:lnTo>
                  <a:pt x="70485" y="92075"/>
                </a:lnTo>
                <a:cubicBezTo>
                  <a:pt x="66199" y="94456"/>
                  <a:pt x="62786" y="97949"/>
                  <a:pt x="60484" y="102235"/>
                </a:cubicBezTo>
                <a:lnTo>
                  <a:pt x="21987" y="173593"/>
                </a:lnTo>
                <a:cubicBezTo>
                  <a:pt x="11986" y="192167"/>
                  <a:pt x="18971" y="215265"/>
                  <a:pt x="37544" y="225266"/>
                </a:cubicBezTo>
                <a:lnTo>
                  <a:pt x="63738" y="239316"/>
                </a:lnTo>
                <a:lnTo>
                  <a:pt x="63738" y="281622"/>
                </a:lnTo>
                <a:cubicBezTo>
                  <a:pt x="63738" y="299879"/>
                  <a:pt x="73581" y="316786"/>
                  <a:pt x="89456" y="325834"/>
                </a:cubicBezTo>
                <a:lnTo>
                  <a:pt x="229156" y="404971"/>
                </a:lnTo>
                <a:cubicBezTo>
                  <a:pt x="244713" y="413782"/>
                  <a:pt x="263684" y="413782"/>
                  <a:pt x="279241" y="404971"/>
                </a:cubicBezTo>
                <a:lnTo>
                  <a:pt x="418941" y="325834"/>
                </a:lnTo>
                <a:cubicBezTo>
                  <a:pt x="434896" y="316786"/>
                  <a:pt x="444659" y="299958"/>
                  <a:pt x="444659" y="281622"/>
                </a:cubicBezTo>
                <a:lnTo>
                  <a:pt x="444659" y="188357"/>
                </a:lnTo>
                <a:close/>
                <a:moveTo>
                  <a:pt x="254238" y="180499"/>
                </a:moveTo>
                <a:lnTo>
                  <a:pt x="135096" y="114300"/>
                </a:lnTo>
                <a:lnTo>
                  <a:pt x="254238" y="48101"/>
                </a:lnTo>
                <a:lnTo>
                  <a:pt x="373380" y="114300"/>
                </a:lnTo>
                <a:lnTo>
                  <a:pt x="254238" y="180499"/>
                </a:lnTo>
                <a:close/>
                <a:moveTo>
                  <a:pt x="221297" y="220345"/>
                </a:moveTo>
                <a:lnTo>
                  <a:pt x="204391" y="257016"/>
                </a:lnTo>
                <a:lnTo>
                  <a:pt x="72787" y="186531"/>
                </a:lnTo>
                <a:lnTo>
                  <a:pt x="92948" y="149066"/>
                </a:lnTo>
                <a:lnTo>
                  <a:pt x="221297" y="220345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857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decision is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independent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past does not affect future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Image classification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episodic — each photo is judged separately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Episodic tasks are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 long-term planning needed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91500" y="1397000"/>
            <a:ext cx="7048500" cy="3683000"/>
          </a:xfrm>
          <a:prstGeom prst="roundRect">
            <a:avLst>
              <a:gd name="adj" fmla="val 8000"/>
            </a:avLst>
          </a:prstGeom>
          <a:solidFill>
            <a:srgbClr val="FD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8191500" y="1397000"/>
            <a:ext cx="7048500" cy="635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8191500" y="1397000"/>
            <a:ext cx="704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NON-EPISODIC (Connected Decisions)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20100" y="2286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32978" y="76200"/>
                </a:moveTo>
                <a:cubicBezTo>
                  <a:pt x="319802" y="76200"/>
                  <a:pt x="307023" y="79772"/>
                  <a:pt x="295831" y="86281"/>
                </a:cubicBezTo>
                <a:cubicBezTo>
                  <a:pt x="283289" y="73581"/>
                  <a:pt x="268684" y="62944"/>
                  <a:pt x="252571" y="54928"/>
                </a:cubicBezTo>
                <a:cubicBezTo>
                  <a:pt x="274955" y="35878"/>
                  <a:pt x="303451" y="25400"/>
                  <a:pt x="332978" y="25400"/>
                </a:cubicBezTo>
                <a:cubicBezTo>
                  <a:pt x="401558" y="25400"/>
                  <a:pt x="457200" y="80963"/>
                  <a:pt x="457200" y="149622"/>
                </a:cubicBezTo>
                <a:cubicBezTo>
                  <a:pt x="457200" y="182563"/>
                  <a:pt x="444103" y="214154"/>
                  <a:pt x="420846" y="237411"/>
                </a:cubicBezTo>
                <a:lnTo>
                  <a:pt x="364411" y="293846"/>
                </a:lnTo>
                <a:cubicBezTo>
                  <a:pt x="341154" y="317103"/>
                  <a:pt x="309563" y="330200"/>
                  <a:pt x="276622" y="330200"/>
                </a:cubicBezTo>
                <a:cubicBezTo>
                  <a:pt x="208042" y="330200"/>
                  <a:pt x="152400" y="274638"/>
                  <a:pt x="152400" y="205978"/>
                </a:cubicBezTo>
                <a:cubicBezTo>
                  <a:pt x="152400" y="204788"/>
                  <a:pt x="152400" y="203597"/>
                  <a:pt x="152479" y="202406"/>
                </a:cubicBezTo>
                <a:cubicBezTo>
                  <a:pt x="152876" y="188357"/>
                  <a:pt x="164544" y="177324"/>
                  <a:pt x="178594" y="177721"/>
                </a:cubicBezTo>
                <a:cubicBezTo>
                  <a:pt x="192643" y="178118"/>
                  <a:pt x="203676" y="189786"/>
                  <a:pt x="203279" y="203835"/>
                </a:cubicBezTo>
                <a:cubicBezTo>
                  <a:pt x="203279" y="204549"/>
                  <a:pt x="203279" y="205264"/>
                  <a:pt x="203279" y="205899"/>
                </a:cubicBezTo>
                <a:cubicBezTo>
                  <a:pt x="203279" y="246459"/>
                  <a:pt x="236141" y="279321"/>
                  <a:pt x="276701" y="279321"/>
                </a:cubicBezTo>
                <a:cubicBezTo>
                  <a:pt x="296148" y="279321"/>
                  <a:pt x="314801" y="271621"/>
                  <a:pt x="328613" y="257810"/>
                </a:cubicBezTo>
                <a:lnTo>
                  <a:pt x="385048" y="201374"/>
                </a:lnTo>
                <a:cubicBezTo>
                  <a:pt x="398780" y="187643"/>
                  <a:pt x="406559" y="168910"/>
                  <a:pt x="406559" y="149463"/>
                </a:cubicBezTo>
                <a:cubicBezTo>
                  <a:pt x="406559" y="108903"/>
                  <a:pt x="373698" y="76041"/>
                  <a:pt x="333137" y="76041"/>
                </a:cubicBezTo>
                <a:close/>
                <a:moveTo>
                  <a:pt x="218440" y="137557"/>
                </a:moveTo>
                <a:cubicBezTo>
                  <a:pt x="216932" y="136922"/>
                  <a:pt x="215424" y="136049"/>
                  <a:pt x="214074" y="135096"/>
                </a:cubicBezTo>
                <a:cubicBezTo>
                  <a:pt x="204073" y="129937"/>
                  <a:pt x="192643" y="127000"/>
                  <a:pt x="180658" y="127000"/>
                </a:cubicBezTo>
                <a:cubicBezTo>
                  <a:pt x="161211" y="127000"/>
                  <a:pt x="142558" y="134699"/>
                  <a:pt x="128746" y="148511"/>
                </a:cubicBezTo>
                <a:lnTo>
                  <a:pt x="72311" y="204946"/>
                </a:lnTo>
                <a:cubicBezTo>
                  <a:pt x="58579" y="218678"/>
                  <a:pt x="50800" y="237411"/>
                  <a:pt x="50800" y="256858"/>
                </a:cubicBezTo>
                <a:cubicBezTo>
                  <a:pt x="50800" y="297418"/>
                  <a:pt x="83661" y="330279"/>
                  <a:pt x="124222" y="330279"/>
                </a:cubicBezTo>
                <a:cubicBezTo>
                  <a:pt x="137319" y="330279"/>
                  <a:pt x="150098" y="326787"/>
                  <a:pt x="161290" y="320278"/>
                </a:cubicBezTo>
                <a:cubicBezTo>
                  <a:pt x="173831" y="332978"/>
                  <a:pt x="188436" y="343614"/>
                  <a:pt x="204629" y="351631"/>
                </a:cubicBezTo>
                <a:cubicBezTo>
                  <a:pt x="182245" y="370602"/>
                  <a:pt x="153829" y="381159"/>
                  <a:pt x="124222" y="381159"/>
                </a:cubicBezTo>
                <a:cubicBezTo>
                  <a:pt x="55642" y="381159"/>
                  <a:pt x="0" y="325596"/>
                  <a:pt x="0" y="256937"/>
                </a:cubicBezTo>
                <a:cubicBezTo>
                  <a:pt x="0" y="223996"/>
                  <a:pt x="13097" y="192405"/>
                  <a:pt x="36354" y="169148"/>
                </a:cubicBezTo>
                <a:lnTo>
                  <a:pt x="92789" y="112713"/>
                </a:lnTo>
                <a:cubicBezTo>
                  <a:pt x="116046" y="89456"/>
                  <a:pt x="147638" y="76359"/>
                  <a:pt x="180578" y="76359"/>
                </a:cubicBezTo>
                <a:cubicBezTo>
                  <a:pt x="249317" y="76359"/>
                  <a:pt x="304800" y="132398"/>
                  <a:pt x="304800" y="200898"/>
                </a:cubicBezTo>
                <a:cubicBezTo>
                  <a:pt x="304800" y="201930"/>
                  <a:pt x="304800" y="202962"/>
                  <a:pt x="304800" y="203994"/>
                </a:cubicBezTo>
                <a:cubicBezTo>
                  <a:pt x="304483" y="218043"/>
                  <a:pt x="292814" y="229076"/>
                  <a:pt x="278765" y="228759"/>
                </a:cubicBezTo>
                <a:cubicBezTo>
                  <a:pt x="264716" y="228441"/>
                  <a:pt x="253682" y="216773"/>
                  <a:pt x="254000" y="202724"/>
                </a:cubicBezTo>
                <a:cubicBezTo>
                  <a:pt x="254000" y="202089"/>
                  <a:pt x="254000" y="201533"/>
                  <a:pt x="254000" y="200898"/>
                </a:cubicBezTo>
                <a:cubicBezTo>
                  <a:pt x="254000" y="174149"/>
                  <a:pt x="239713" y="150654"/>
                  <a:pt x="218440" y="13771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445500" y="2857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Decisions are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connected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past choices affect future options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strategy game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non-episodic — early moves shape late game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Requires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and strategy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time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" y="44450"/>
                </a:moveTo>
                <a:cubicBezTo>
                  <a:pt x="14932" y="44450"/>
                  <a:pt x="0" y="59382"/>
                  <a:pt x="0" y="77788"/>
                </a:cubicBezTo>
                <a:cubicBezTo>
                  <a:pt x="0" y="88275"/>
                  <a:pt x="4931" y="98137"/>
                  <a:pt x="13335" y="104458"/>
                </a:cubicBezTo>
                <a:lnTo>
                  <a:pt x="157798" y="212804"/>
                </a:lnTo>
                <a:cubicBezTo>
                  <a:pt x="169674" y="221694"/>
                  <a:pt x="185926" y="221694"/>
                  <a:pt x="197803" y="212804"/>
                </a:cubicBezTo>
                <a:lnTo>
                  <a:pt x="342265" y="104457"/>
                </a:lnTo>
                <a:cubicBezTo>
                  <a:pt x="350669" y="98137"/>
                  <a:pt x="355600" y="88275"/>
                  <a:pt x="355600" y="77787"/>
                </a:cubicBezTo>
                <a:cubicBezTo>
                  <a:pt x="355600" y="59382"/>
                  <a:pt x="340668" y="44450"/>
                  <a:pt x="322263" y="44450"/>
                </a:cubicBezTo>
                <a:lnTo>
                  <a:pt x="33337" y="44450"/>
                </a:lnTo>
                <a:close/>
                <a:moveTo>
                  <a:pt x="0" y="136128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36128"/>
                </a:lnTo>
                <a:lnTo>
                  <a:pt x="217805" y="239474"/>
                </a:lnTo>
                <a:cubicBezTo>
                  <a:pt x="194121" y="257254"/>
                  <a:pt x="161479" y="257254"/>
                  <a:pt x="137795" y="239474"/>
                </a:cubicBezTo>
                <a:lnTo>
                  <a:pt x="0" y="13612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spam filter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checking each email (episodic) vs.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stock trading AI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where today's trade affects tomorrow's position (non-episodic).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vs Dynamic Environment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048500" cy="36830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048500" cy="6350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704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(No Change)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66800" y="2286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38100" y="25400"/>
                </a:moveTo>
                <a:cubicBezTo>
                  <a:pt x="17066" y="25400"/>
                  <a:pt x="0" y="42466"/>
                  <a:pt x="0" y="63500"/>
                </a:cubicBezTo>
                <a:lnTo>
                  <a:pt x="0" y="342900"/>
                </a:lnTo>
                <a:cubicBezTo>
                  <a:pt x="0" y="363934"/>
                  <a:pt x="17066" y="381000"/>
                  <a:pt x="38100" y="381000"/>
                </a:cubicBezTo>
                <a:lnTo>
                  <a:pt x="88900" y="381000"/>
                </a:lnTo>
                <a:cubicBezTo>
                  <a:pt x="109934" y="381000"/>
                  <a:pt x="127000" y="363934"/>
                  <a:pt x="127000" y="342900"/>
                </a:cubicBezTo>
                <a:lnTo>
                  <a:pt x="127000" y="63500"/>
                </a:lnTo>
                <a:cubicBezTo>
                  <a:pt x="127000" y="42466"/>
                  <a:pt x="109934" y="25400"/>
                  <a:pt x="88900" y="25400"/>
                </a:cubicBezTo>
                <a:lnTo>
                  <a:pt x="38100" y="25400"/>
                </a:lnTo>
                <a:close/>
                <a:moveTo>
                  <a:pt x="215900" y="25400"/>
                </a:moveTo>
                <a:cubicBezTo>
                  <a:pt x="194866" y="25400"/>
                  <a:pt x="177800" y="42466"/>
                  <a:pt x="177800" y="63500"/>
                </a:cubicBezTo>
                <a:lnTo>
                  <a:pt x="177800" y="342900"/>
                </a:lnTo>
                <a:cubicBezTo>
                  <a:pt x="177800" y="363934"/>
                  <a:pt x="194866" y="381000"/>
                  <a:pt x="215900" y="381000"/>
                </a:cubicBezTo>
                <a:lnTo>
                  <a:pt x="266700" y="381000"/>
                </a:lnTo>
                <a:cubicBezTo>
                  <a:pt x="287734" y="381000"/>
                  <a:pt x="304800" y="363934"/>
                  <a:pt x="304800" y="342900"/>
                </a:cubicBezTo>
                <a:lnTo>
                  <a:pt x="304800" y="63500"/>
                </a:lnTo>
                <a:cubicBezTo>
                  <a:pt x="304800" y="42466"/>
                  <a:pt x="287734" y="25400"/>
                  <a:pt x="266700" y="25400"/>
                </a:cubicBezTo>
                <a:lnTo>
                  <a:pt x="215900" y="25400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857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environment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does not change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while the agent decides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crossword puzzle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static — the board waits for you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environments give the agent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unlimited time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decide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91500" y="1397000"/>
            <a:ext cx="7048500" cy="3683000"/>
          </a:xfrm>
          <a:prstGeom prst="roundRect">
            <a:avLst>
              <a:gd name="adj" fmla="val 8000"/>
            </a:avLst>
          </a:prstGeom>
          <a:solidFill>
            <a:srgbClr val="FD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8191500" y="1397000"/>
            <a:ext cx="7048500" cy="635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8191500" y="1397000"/>
            <a:ext cx="704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(Constantly Changing)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70900" y="2286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445500" y="2857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environment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changes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even while the agent thinks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soccer game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dynamic — players move while you plan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Requires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fast reactions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continuous updates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5050" y="5778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11150" y="44450"/>
                </a:moveTo>
                <a:cubicBezTo>
                  <a:pt x="384770" y="44450"/>
                  <a:pt x="444500" y="104180"/>
                  <a:pt x="444500" y="177800"/>
                </a:cubicBezTo>
                <a:cubicBezTo>
                  <a:pt x="444500" y="251420"/>
                  <a:pt x="384770" y="311150"/>
                  <a:pt x="311150" y="311150"/>
                </a:cubicBezTo>
                <a:lnTo>
                  <a:pt x="133350" y="311150"/>
                </a:lnTo>
                <a:cubicBezTo>
                  <a:pt x="59730" y="311150"/>
                  <a:pt x="0" y="251420"/>
                  <a:pt x="0" y="177800"/>
                </a:cubicBezTo>
                <a:cubicBezTo>
                  <a:pt x="0" y="104180"/>
                  <a:pt x="59730" y="44450"/>
                  <a:pt x="133350" y="44450"/>
                </a:cubicBezTo>
                <a:lnTo>
                  <a:pt x="311150" y="44450"/>
                </a:lnTo>
                <a:close/>
                <a:moveTo>
                  <a:pt x="133350" y="122238"/>
                </a:moveTo>
                <a:cubicBezTo>
                  <a:pt x="124113" y="122238"/>
                  <a:pt x="116681" y="129669"/>
                  <a:pt x="116681" y="138906"/>
                </a:cubicBezTo>
                <a:lnTo>
                  <a:pt x="116681" y="161131"/>
                </a:lnTo>
                <a:lnTo>
                  <a:pt x="94456" y="161131"/>
                </a:lnTo>
                <a:cubicBezTo>
                  <a:pt x="85219" y="161131"/>
                  <a:pt x="77788" y="168563"/>
                  <a:pt x="77788" y="177800"/>
                </a:cubicBezTo>
                <a:cubicBezTo>
                  <a:pt x="77788" y="187037"/>
                  <a:pt x="85219" y="194469"/>
                  <a:pt x="94456" y="194469"/>
                </a:cubicBezTo>
                <a:lnTo>
                  <a:pt x="116681" y="194469"/>
                </a:lnTo>
                <a:lnTo>
                  <a:pt x="116681" y="216694"/>
                </a:lnTo>
                <a:cubicBezTo>
                  <a:pt x="116681" y="225931"/>
                  <a:pt x="124113" y="233363"/>
                  <a:pt x="133350" y="233363"/>
                </a:cubicBezTo>
                <a:cubicBezTo>
                  <a:pt x="142587" y="233363"/>
                  <a:pt x="150019" y="225931"/>
                  <a:pt x="150019" y="216694"/>
                </a:cubicBezTo>
                <a:lnTo>
                  <a:pt x="150019" y="194469"/>
                </a:lnTo>
                <a:lnTo>
                  <a:pt x="172244" y="194469"/>
                </a:lnTo>
                <a:cubicBezTo>
                  <a:pt x="181481" y="194469"/>
                  <a:pt x="188913" y="187037"/>
                  <a:pt x="188913" y="177800"/>
                </a:cubicBezTo>
                <a:cubicBezTo>
                  <a:pt x="188913" y="168563"/>
                  <a:pt x="181481" y="161131"/>
                  <a:pt x="172244" y="161131"/>
                </a:cubicBezTo>
                <a:lnTo>
                  <a:pt x="150019" y="161131"/>
                </a:lnTo>
                <a:lnTo>
                  <a:pt x="150019" y="138906"/>
                </a:lnTo>
                <a:cubicBezTo>
                  <a:pt x="150019" y="129669"/>
                  <a:pt x="142587" y="122238"/>
                  <a:pt x="133350" y="122238"/>
                </a:cubicBezTo>
                <a:close/>
                <a:moveTo>
                  <a:pt x="300038" y="188913"/>
                </a:moveTo>
                <a:cubicBezTo>
                  <a:pt x="287771" y="188913"/>
                  <a:pt x="277813" y="198871"/>
                  <a:pt x="277813" y="211138"/>
                </a:cubicBezTo>
                <a:cubicBezTo>
                  <a:pt x="277813" y="223404"/>
                  <a:pt x="287771" y="233363"/>
                  <a:pt x="300038" y="233363"/>
                </a:cubicBezTo>
                <a:cubicBezTo>
                  <a:pt x="312304" y="233363"/>
                  <a:pt x="322263" y="223404"/>
                  <a:pt x="322263" y="211138"/>
                </a:cubicBezTo>
                <a:cubicBezTo>
                  <a:pt x="322263" y="198871"/>
                  <a:pt x="312304" y="188913"/>
                  <a:pt x="300038" y="188913"/>
                </a:cubicBezTo>
                <a:close/>
                <a:moveTo>
                  <a:pt x="344488" y="122238"/>
                </a:moveTo>
                <a:cubicBezTo>
                  <a:pt x="332221" y="122238"/>
                  <a:pt x="322263" y="132196"/>
                  <a:pt x="322263" y="144463"/>
                </a:cubicBezTo>
                <a:cubicBezTo>
                  <a:pt x="322263" y="156729"/>
                  <a:pt x="332221" y="166688"/>
                  <a:pt x="344488" y="166688"/>
                </a:cubicBezTo>
                <a:cubicBezTo>
                  <a:pt x="356754" y="166688"/>
                  <a:pt x="366712" y="156729"/>
                  <a:pt x="366712" y="144463"/>
                </a:cubicBezTo>
                <a:cubicBezTo>
                  <a:pt x="366712" y="132196"/>
                  <a:pt x="356754" y="122238"/>
                  <a:pt x="344488" y="12223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chess app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(static, board waits) vs.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drone racing game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(dynamic, obstacles move constantly).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Types at a Glance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3810000"/>
        </p:xfrm>
        <a:graphic>
          <a:graphicData uri="http://schemas.openxmlformats.org/drawingml/2006/table">
            <a:tbl>
              <a:tblPr/>
              <a:tblGrid>
                <a:gridCol w="3241040"/>
                <a:gridCol w="2872740"/>
                <a:gridCol w="2872740"/>
                <a:gridCol w="2872740"/>
                <a:gridCol w="287274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1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1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Accessible?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1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Deterministic?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1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Episodic?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1E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Static?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Chess Game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Self-Driving Car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Image Recognition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Stock Trading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Robot Vacuum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Partial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461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AI must handle the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hardest combination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inaccessible, non-deterministic, non-episodic, dynamic.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2000" y="6350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7" name="Shape 4"/>
          <p:cNvSpPr/>
          <p:nvPr/>
        </p:nvSpPr>
        <p:spPr>
          <a:xfrm>
            <a:off x="10795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5"/>
          <p:cNvSpPr/>
          <p:nvPr/>
        </p:nvSpPr>
        <p:spPr>
          <a:xfrm>
            <a:off x="1587500" y="660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9500" y="7048500"/>
            <a:ext cx="140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Self-driving cars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face the hardest environment type, which is why they are so difficult to build.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Matching Agents to Environments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874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 environments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Simple reflex agents work fine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Partially known environments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Model-based agents are needed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Goal-oriented tasks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Goal-based agents are required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Complex trade-off situations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Utility-based agents are best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harder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environment, 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smarter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agent needs to be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AI design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matches the right agent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the right environment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397000"/>
            <a:ext cx="6350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25000" y="17780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0" y="1778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Env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192000" y="2070100"/>
            <a:ext cx="508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2827000" y="1778000"/>
            <a:ext cx="2286000" cy="6350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12827000" y="1778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Reflex Agent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25000" y="26670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D8F3DC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0" y="2667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Partial Info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192000" y="2959100"/>
            <a:ext cx="508000" cy="0"/>
          </a:xfrm>
          <a:prstGeom prst="straightConnector1">
            <a:avLst/>
          </a:prstGeom>
          <a:noFill/>
          <a:ln w="25400">
            <a:solidFill>
              <a:srgbClr val="2D6A4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2827000" y="2667000"/>
            <a:ext cx="2286000" cy="6350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12827000" y="2667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Agent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25000" y="35560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FDE2D4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0" y="3556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 Tasks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92000" y="3848100"/>
            <a:ext cx="508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827000" y="3556000"/>
            <a:ext cx="2286000" cy="635000"/>
          </a:xfrm>
          <a:prstGeom prst="roundRect">
            <a:avLst>
              <a:gd name="adj" fmla="val 12000"/>
            </a:avLst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2827000" y="3556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 Agent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25000" y="44450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FDE2D4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0" y="4445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Trade-offs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192000" y="4737100"/>
            <a:ext cx="508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2827000" y="4445000"/>
            <a:ext cx="2286000" cy="635000"/>
          </a:xfrm>
          <a:prstGeom prst="roundRect">
            <a:avLst>
              <a:gd name="adj" fmla="val 12000"/>
            </a:avLst>
          </a:pr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2827000" y="4445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 Agent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6175" y="5778500"/>
            <a:ext cx="222250" cy="355600"/>
          </a:xfrm>
          <a:custGeom>
            <a:avLst/>
            <a:gdLst/>
            <a:ahLst/>
            <a:cxnLst/>
            <a:rect l="l" t="t" r="r" b="b"/>
            <a:pathLst>
              <a:path w="222250" h="355600">
                <a:moveTo>
                  <a:pt x="111125" y="0"/>
                </a:moveTo>
                <a:cubicBezTo>
                  <a:pt x="74315" y="0"/>
                  <a:pt x="44450" y="29865"/>
                  <a:pt x="44450" y="66675"/>
                </a:cubicBezTo>
                <a:lnTo>
                  <a:pt x="44450" y="181064"/>
                </a:lnTo>
                <a:cubicBezTo>
                  <a:pt x="23961" y="199330"/>
                  <a:pt x="11112" y="226000"/>
                  <a:pt x="11112" y="255587"/>
                </a:cubicBezTo>
                <a:cubicBezTo>
                  <a:pt x="11112" y="310803"/>
                  <a:pt x="55910" y="355600"/>
                  <a:pt x="111125" y="355600"/>
                </a:cubicBezTo>
                <a:cubicBezTo>
                  <a:pt x="166340" y="355600"/>
                  <a:pt x="211138" y="310803"/>
                  <a:pt x="211138" y="255587"/>
                </a:cubicBezTo>
                <a:cubicBezTo>
                  <a:pt x="211138" y="226000"/>
                  <a:pt x="198289" y="199330"/>
                  <a:pt x="177800" y="181064"/>
                </a:cubicBezTo>
                <a:lnTo>
                  <a:pt x="177800" y="66675"/>
                </a:lnTo>
                <a:cubicBezTo>
                  <a:pt x="177800" y="29865"/>
                  <a:pt x="147935" y="0"/>
                  <a:pt x="111125" y="0"/>
                </a:cubicBezTo>
                <a:close/>
                <a:moveTo>
                  <a:pt x="155575" y="255587"/>
                </a:moveTo>
                <a:cubicBezTo>
                  <a:pt x="155575" y="280104"/>
                  <a:pt x="135642" y="300038"/>
                  <a:pt x="111125" y="300038"/>
                </a:cubicBezTo>
                <a:cubicBezTo>
                  <a:pt x="86608" y="300038"/>
                  <a:pt x="66675" y="280104"/>
                  <a:pt x="66675" y="255587"/>
                </a:cubicBezTo>
                <a:cubicBezTo>
                  <a:pt x="66675" y="236905"/>
                  <a:pt x="78135" y="220930"/>
                  <a:pt x="94456" y="214402"/>
                </a:cubicBezTo>
                <a:lnTo>
                  <a:pt x="94456" y="150019"/>
                </a:lnTo>
                <a:cubicBezTo>
                  <a:pt x="94456" y="140781"/>
                  <a:pt x="101888" y="133350"/>
                  <a:pt x="111125" y="133350"/>
                </a:cubicBezTo>
                <a:cubicBezTo>
                  <a:pt x="120362" y="133350"/>
                  <a:pt x="127794" y="140781"/>
                  <a:pt x="127794" y="150019"/>
                </a:cubicBezTo>
                <a:lnTo>
                  <a:pt x="127794" y="214402"/>
                </a:lnTo>
                <a:cubicBezTo>
                  <a:pt x="144115" y="221000"/>
                  <a:pt x="155575" y="236974"/>
                  <a:pt x="155575" y="25558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1587500" y="5778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9500" y="6286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 thermostat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(simple, static) uses reflex rules.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self-driving car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(complex, dynamic) uses utility-based planning.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AI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0450" y="1587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33350" y="0"/>
                </a:moveTo>
                <a:cubicBezTo>
                  <a:pt x="96540" y="0"/>
                  <a:pt x="66675" y="29865"/>
                  <a:pt x="66675" y="66675"/>
                </a:cubicBezTo>
                <a:lnTo>
                  <a:pt x="66675" y="155575"/>
                </a:lnTo>
                <a:cubicBezTo>
                  <a:pt x="66675" y="192385"/>
                  <a:pt x="96540" y="222250"/>
                  <a:pt x="133350" y="222250"/>
                </a:cubicBezTo>
                <a:cubicBezTo>
                  <a:pt x="170160" y="222250"/>
                  <a:pt x="200025" y="192385"/>
                  <a:pt x="200025" y="155575"/>
                </a:cubicBezTo>
                <a:lnTo>
                  <a:pt x="200025" y="66675"/>
                </a:lnTo>
                <a:cubicBezTo>
                  <a:pt x="200025" y="29865"/>
                  <a:pt x="170160" y="0"/>
                  <a:pt x="133350" y="0"/>
                </a:cubicBezTo>
                <a:close/>
                <a:moveTo>
                  <a:pt x="33337" y="127794"/>
                </a:moveTo>
                <a:cubicBezTo>
                  <a:pt x="33337" y="118556"/>
                  <a:pt x="25906" y="111125"/>
                  <a:pt x="16669" y="111125"/>
                </a:cubicBezTo>
                <a:cubicBezTo>
                  <a:pt x="7431" y="111125"/>
                  <a:pt x="0" y="118556"/>
                  <a:pt x="0" y="127794"/>
                </a:cubicBezTo>
                <a:lnTo>
                  <a:pt x="0" y="155575"/>
                </a:lnTo>
                <a:cubicBezTo>
                  <a:pt x="0" y="223570"/>
                  <a:pt x="50909" y="279688"/>
                  <a:pt x="116681" y="287883"/>
                </a:cubicBezTo>
                <a:lnTo>
                  <a:pt x="116681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183356" y="355600"/>
                </a:lnTo>
                <a:cubicBezTo>
                  <a:pt x="192594" y="355600"/>
                  <a:pt x="200025" y="348169"/>
                  <a:pt x="200025" y="338931"/>
                </a:cubicBezTo>
                <a:cubicBezTo>
                  <a:pt x="200025" y="329694"/>
                  <a:pt x="192594" y="322263"/>
                  <a:pt x="183356" y="322263"/>
                </a:cubicBezTo>
                <a:lnTo>
                  <a:pt x="150019" y="322263"/>
                </a:lnTo>
                <a:lnTo>
                  <a:pt x="150019" y="287883"/>
                </a:lnTo>
                <a:cubicBezTo>
                  <a:pt x="215791" y="279688"/>
                  <a:pt x="266700" y="223570"/>
                  <a:pt x="266700" y="155575"/>
                </a:cubicBezTo>
                <a:lnTo>
                  <a:pt x="266700" y="127794"/>
                </a:lnTo>
                <a:cubicBezTo>
                  <a:pt x="266700" y="118556"/>
                  <a:pt x="259269" y="111125"/>
                  <a:pt x="250031" y="111125"/>
                </a:cubicBezTo>
                <a:cubicBezTo>
                  <a:pt x="240794" y="111125"/>
                  <a:pt x="233363" y="118556"/>
                  <a:pt x="233363" y="127794"/>
                </a:cubicBezTo>
                <a:lnTo>
                  <a:pt x="233363" y="155575"/>
                </a:lnTo>
                <a:cubicBezTo>
                  <a:pt x="233363" y="210790"/>
                  <a:pt x="188565" y="255587"/>
                  <a:pt x="133350" y="255587"/>
                </a:cubicBezTo>
                <a:cubicBezTo>
                  <a:pt x="78135" y="255587"/>
                  <a:pt x="33337" y="210790"/>
                  <a:pt x="33337" y="155575"/>
                </a:cubicBezTo>
                <a:lnTo>
                  <a:pt x="33337" y="127794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587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Assistants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95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Siri, Alexa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Model-based + Goal-based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Partially accessible, dynamic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78500" y="1397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5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54725" y="1587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66675"/>
                </a:move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66675"/>
                </a:lnTo>
                <a:close/>
                <a:moveTo>
                  <a:pt x="33337" y="255587"/>
                </a:moveTo>
                <a:lnTo>
                  <a:pt x="33337" y="277813"/>
                </a:lnTo>
                <a:cubicBezTo>
                  <a:pt x="33337" y="283924"/>
                  <a:pt x="38338" y="288925"/>
                  <a:pt x="44450" y="288925"/>
                </a:cubicBezTo>
                <a:lnTo>
                  <a:pt x="66675" y="288925"/>
                </a:lnTo>
                <a:cubicBezTo>
                  <a:pt x="72787" y="288925"/>
                  <a:pt x="77788" y="283924"/>
                  <a:pt x="77788" y="277813"/>
                </a:cubicBezTo>
                <a:lnTo>
                  <a:pt x="77788" y="255587"/>
                </a:lnTo>
                <a:cubicBezTo>
                  <a:pt x="77788" y="249476"/>
                  <a:pt x="72787" y="244475"/>
                  <a:pt x="66675" y="244475"/>
                </a:cubicBezTo>
                <a:lnTo>
                  <a:pt x="44450" y="244475"/>
                </a:lnTo>
                <a:cubicBezTo>
                  <a:pt x="38338" y="244475"/>
                  <a:pt x="33337" y="249476"/>
                  <a:pt x="33337" y="255587"/>
                </a:cubicBezTo>
                <a:close/>
                <a:moveTo>
                  <a:pt x="244475" y="244475"/>
                </a:moveTo>
                <a:cubicBezTo>
                  <a:pt x="238363" y="244475"/>
                  <a:pt x="233363" y="249476"/>
                  <a:pt x="233363" y="255587"/>
                </a:cubicBezTo>
                <a:lnTo>
                  <a:pt x="233363" y="277813"/>
                </a:lnTo>
                <a:cubicBezTo>
                  <a:pt x="233363" y="283924"/>
                  <a:pt x="238363" y="288925"/>
                  <a:pt x="244475" y="288925"/>
                </a:cubicBezTo>
                <a:lnTo>
                  <a:pt x="266700" y="288925"/>
                </a:lnTo>
                <a:cubicBezTo>
                  <a:pt x="272812" y="288925"/>
                  <a:pt x="277813" y="283924"/>
                  <a:pt x="277813" y="277813"/>
                </a:cubicBezTo>
                <a:lnTo>
                  <a:pt x="277813" y="255587"/>
                </a:lnTo>
                <a:cubicBezTo>
                  <a:pt x="277813" y="249476"/>
                  <a:pt x="272812" y="244475"/>
                  <a:pt x="266700" y="244475"/>
                </a:cubicBezTo>
                <a:lnTo>
                  <a:pt x="244475" y="244475"/>
                </a:lnTo>
                <a:close/>
                <a:moveTo>
                  <a:pt x="33337" y="166688"/>
                </a:moveTo>
                <a:lnTo>
                  <a:pt x="33337" y="188913"/>
                </a:lnTo>
                <a:cubicBezTo>
                  <a:pt x="33337" y="195024"/>
                  <a:pt x="38338" y="200025"/>
                  <a:pt x="44450" y="200025"/>
                </a:cubicBezTo>
                <a:lnTo>
                  <a:pt x="66675" y="200025"/>
                </a:lnTo>
                <a:cubicBezTo>
                  <a:pt x="72787" y="200025"/>
                  <a:pt x="77788" y="195024"/>
                  <a:pt x="77788" y="188913"/>
                </a:cubicBezTo>
                <a:lnTo>
                  <a:pt x="77788" y="166688"/>
                </a:lnTo>
                <a:cubicBezTo>
                  <a:pt x="77788" y="160576"/>
                  <a:pt x="72787" y="155575"/>
                  <a:pt x="66675" y="155575"/>
                </a:cubicBezTo>
                <a:lnTo>
                  <a:pt x="44450" y="155575"/>
                </a:lnTo>
                <a:cubicBezTo>
                  <a:pt x="38338" y="155575"/>
                  <a:pt x="33337" y="160576"/>
                  <a:pt x="33337" y="166688"/>
                </a:cubicBezTo>
                <a:close/>
                <a:moveTo>
                  <a:pt x="244475" y="155575"/>
                </a:moveTo>
                <a:cubicBezTo>
                  <a:pt x="238363" y="155575"/>
                  <a:pt x="233363" y="160576"/>
                  <a:pt x="233363" y="166688"/>
                </a:cubicBezTo>
                <a:lnTo>
                  <a:pt x="233363" y="188913"/>
                </a:lnTo>
                <a:cubicBezTo>
                  <a:pt x="233363" y="195024"/>
                  <a:pt x="238363" y="200025"/>
                  <a:pt x="244475" y="200025"/>
                </a:cubicBezTo>
                <a:lnTo>
                  <a:pt x="266700" y="200025"/>
                </a:lnTo>
                <a:cubicBezTo>
                  <a:pt x="272812" y="200025"/>
                  <a:pt x="277813" y="195024"/>
                  <a:pt x="277813" y="188913"/>
                </a:cubicBezTo>
                <a:lnTo>
                  <a:pt x="277813" y="166688"/>
                </a:lnTo>
                <a:cubicBezTo>
                  <a:pt x="277813" y="160576"/>
                  <a:pt x="272812" y="155575"/>
                  <a:pt x="266700" y="155575"/>
                </a:cubicBezTo>
                <a:lnTo>
                  <a:pt x="244475" y="155575"/>
                </a:lnTo>
                <a:close/>
                <a:moveTo>
                  <a:pt x="33337" y="77788"/>
                </a:moveTo>
                <a:lnTo>
                  <a:pt x="33337" y="100013"/>
                </a:lnTo>
                <a:cubicBezTo>
                  <a:pt x="33337" y="106124"/>
                  <a:pt x="38338" y="111125"/>
                  <a:pt x="44450" y="111125"/>
                </a:cubicBezTo>
                <a:lnTo>
                  <a:pt x="66675" y="111125"/>
                </a:lnTo>
                <a:cubicBezTo>
                  <a:pt x="72787" y="111125"/>
                  <a:pt x="77788" y="106124"/>
                  <a:pt x="77788" y="100013"/>
                </a:cubicBezTo>
                <a:lnTo>
                  <a:pt x="77788" y="77788"/>
                </a:lnTo>
                <a:cubicBezTo>
                  <a:pt x="77788" y="71676"/>
                  <a:pt x="72787" y="66675"/>
                  <a:pt x="66675" y="66675"/>
                </a:cubicBezTo>
                <a:lnTo>
                  <a:pt x="44450" y="66675"/>
                </a:lnTo>
                <a:cubicBezTo>
                  <a:pt x="38338" y="66675"/>
                  <a:pt x="33337" y="71676"/>
                  <a:pt x="33337" y="77788"/>
                </a:cubicBezTo>
                <a:close/>
                <a:moveTo>
                  <a:pt x="244475" y="66675"/>
                </a:moveTo>
                <a:cubicBezTo>
                  <a:pt x="238363" y="66675"/>
                  <a:pt x="233363" y="71676"/>
                  <a:pt x="233363" y="77788"/>
                </a:cubicBezTo>
                <a:lnTo>
                  <a:pt x="233363" y="100013"/>
                </a:lnTo>
                <a:cubicBezTo>
                  <a:pt x="233363" y="106124"/>
                  <a:pt x="238363" y="111125"/>
                  <a:pt x="244475" y="111125"/>
                </a:cubicBezTo>
                <a:lnTo>
                  <a:pt x="266700" y="111125"/>
                </a:lnTo>
                <a:cubicBezTo>
                  <a:pt x="272812" y="111125"/>
                  <a:pt x="277813" y="106124"/>
                  <a:pt x="277813" y="100013"/>
                </a:cubicBezTo>
                <a:lnTo>
                  <a:pt x="277813" y="77788"/>
                </a:lnTo>
                <a:cubicBezTo>
                  <a:pt x="277813" y="71676"/>
                  <a:pt x="272812" y="66675"/>
                  <a:pt x="266700" y="66675"/>
                </a:cubicBezTo>
                <a:lnTo>
                  <a:pt x="244475" y="66675"/>
                </a:ln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6540500" y="1587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Systems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095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Netflix, Amazon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Utility-based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Accessible, static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95000" y="1397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5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049000" y="158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6681" y="38894"/>
                </a:moveTo>
                <a:lnTo>
                  <a:pt x="116681" y="66675"/>
                </a:lnTo>
                <a:lnTo>
                  <a:pt x="62438" y="66675"/>
                </a:lnTo>
                <a:cubicBezTo>
                  <a:pt x="52507" y="66675"/>
                  <a:pt x="44450" y="74732"/>
                  <a:pt x="44450" y="84663"/>
                </a:cubicBezTo>
                <a:cubicBezTo>
                  <a:pt x="44450" y="87441"/>
                  <a:pt x="45075" y="90220"/>
                  <a:pt x="46325" y="92720"/>
                </a:cubicBezTo>
                <a:lnTo>
                  <a:pt x="69523" y="139115"/>
                </a:lnTo>
                <a:cubicBezTo>
                  <a:pt x="61605" y="140365"/>
                  <a:pt x="55493" y="147241"/>
                  <a:pt x="55493" y="155575"/>
                </a:cubicBezTo>
                <a:cubicBezTo>
                  <a:pt x="55493" y="164812"/>
                  <a:pt x="62925" y="172244"/>
                  <a:pt x="72162" y="172244"/>
                </a:cubicBezTo>
                <a:lnTo>
                  <a:pt x="76051" y="172244"/>
                </a:lnTo>
                <a:lnTo>
                  <a:pt x="66606" y="266700"/>
                </a:lnTo>
                <a:lnTo>
                  <a:pt x="27573" y="315526"/>
                </a:lnTo>
                <a:cubicBezTo>
                  <a:pt x="24100" y="319901"/>
                  <a:pt x="22156" y="325318"/>
                  <a:pt x="22156" y="330944"/>
                </a:cubicBezTo>
                <a:cubicBezTo>
                  <a:pt x="22156" y="344557"/>
                  <a:pt x="33199" y="355600"/>
                  <a:pt x="46811" y="355600"/>
                </a:cubicBezTo>
                <a:lnTo>
                  <a:pt x="219680" y="355600"/>
                </a:lnTo>
                <a:cubicBezTo>
                  <a:pt x="233293" y="355600"/>
                  <a:pt x="244336" y="344557"/>
                  <a:pt x="244336" y="330944"/>
                </a:cubicBezTo>
                <a:cubicBezTo>
                  <a:pt x="244336" y="325318"/>
                  <a:pt x="242461" y="319901"/>
                  <a:pt x="238919" y="315526"/>
                </a:cubicBezTo>
                <a:lnTo>
                  <a:pt x="200025" y="266700"/>
                </a:lnTo>
                <a:lnTo>
                  <a:pt x="190579" y="172244"/>
                </a:lnTo>
                <a:lnTo>
                  <a:pt x="194469" y="172244"/>
                </a:lnTo>
                <a:cubicBezTo>
                  <a:pt x="203706" y="172244"/>
                  <a:pt x="211138" y="164812"/>
                  <a:pt x="211138" y="155575"/>
                </a:cubicBezTo>
                <a:cubicBezTo>
                  <a:pt x="211138" y="147310"/>
                  <a:pt x="205095" y="140365"/>
                  <a:pt x="197108" y="139115"/>
                </a:cubicBezTo>
                <a:lnTo>
                  <a:pt x="220305" y="92720"/>
                </a:lnTo>
                <a:cubicBezTo>
                  <a:pt x="221555" y="90220"/>
                  <a:pt x="222181" y="87441"/>
                  <a:pt x="222181" y="84663"/>
                </a:cubicBezTo>
                <a:cubicBezTo>
                  <a:pt x="222181" y="74732"/>
                  <a:pt x="214124" y="66675"/>
                  <a:pt x="204192" y="66675"/>
                </a:cubicBezTo>
                <a:lnTo>
                  <a:pt x="149949" y="66675"/>
                </a:lnTo>
                <a:lnTo>
                  <a:pt x="149949" y="38894"/>
                </a:lnTo>
                <a:lnTo>
                  <a:pt x="161062" y="38894"/>
                </a:lnTo>
                <a:cubicBezTo>
                  <a:pt x="170299" y="38894"/>
                  <a:pt x="177731" y="31462"/>
                  <a:pt x="177731" y="22225"/>
                </a:cubicBezTo>
                <a:cubicBezTo>
                  <a:pt x="177731" y="12988"/>
                  <a:pt x="170369" y="5556"/>
                  <a:pt x="161131" y="5556"/>
                </a:cubicBezTo>
                <a:lnTo>
                  <a:pt x="150019" y="5556"/>
                </a:lnTo>
                <a:lnTo>
                  <a:pt x="150019" y="-5556"/>
                </a:lnTo>
                <a:cubicBezTo>
                  <a:pt x="150019" y="-14794"/>
                  <a:pt x="142587" y="-22225"/>
                  <a:pt x="133350" y="-22225"/>
                </a:cubicBezTo>
                <a:cubicBezTo>
                  <a:pt x="124113" y="-22225"/>
                  <a:pt x="116681" y="-14794"/>
                  <a:pt x="116681" y="-5556"/>
                </a:cubicBezTo>
                <a:lnTo>
                  <a:pt x="116681" y="5556"/>
                </a:lnTo>
                <a:lnTo>
                  <a:pt x="105569" y="5556"/>
                </a:lnTo>
                <a:cubicBezTo>
                  <a:pt x="96331" y="5556"/>
                  <a:pt x="88900" y="12988"/>
                  <a:pt x="88900" y="22225"/>
                </a:cubicBezTo>
                <a:cubicBezTo>
                  <a:pt x="88900" y="31462"/>
                  <a:pt x="96331" y="38894"/>
                  <a:pt x="105569" y="38894"/>
                </a:cubicBezTo>
                <a:lnTo>
                  <a:pt x="116681" y="38894"/>
                </a:lnTo>
                <a:close/>
                <a:moveTo>
                  <a:pt x="226278" y="194191"/>
                </a:moveTo>
                <a:lnTo>
                  <a:pt x="232182" y="253573"/>
                </a:lnTo>
                <a:lnTo>
                  <a:pt x="265103" y="294690"/>
                </a:lnTo>
                <a:lnTo>
                  <a:pt x="268020" y="298648"/>
                </a:lnTo>
                <a:cubicBezTo>
                  <a:pt x="274409" y="308164"/>
                  <a:pt x="277813" y="319415"/>
                  <a:pt x="277813" y="330944"/>
                </a:cubicBezTo>
                <a:cubicBezTo>
                  <a:pt x="277813" y="339765"/>
                  <a:pt x="275868" y="348169"/>
                  <a:pt x="272326" y="355600"/>
                </a:cubicBezTo>
                <a:lnTo>
                  <a:pt x="330041" y="355600"/>
                </a:lnTo>
                <a:cubicBezTo>
                  <a:pt x="344140" y="355600"/>
                  <a:pt x="355600" y="344140"/>
                  <a:pt x="355600" y="330041"/>
                </a:cubicBezTo>
                <a:cubicBezTo>
                  <a:pt x="355600" y="324971"/>
                  <a:pt x="354072" y="320040"/>
                  <a:pt x="351294" y="315873"/>
                </a:cubicBezTo>
                <a:lnTo>
                  <a:pt x="333375" y="288994"/>
                </a:lnTo>
                <a:lnTo>
                  <a:pt x="333375" y="244544"/>
                </a:lnTo>
                <a:lnTo>
                  <a:pt x="342612" y="235307"/>
                </a:lnTo>
                <a:cubicBezTo>
                  <a:pt x="350947" y="226973"/>
                  <a:pt x="355600" y="215652"/>
                  <a:pt x="355600" y="203845"/>
                </a:cubicBezTo>
                <a:lnTo>
                  <a:pt x="355600" y="133350"/>
                </a:lnTo>
                <a:cubicBezTo>
                  <a:pt x="355600" y="121057"/>
                  <a:pt x="345668" y="111125"/>
                  <a:pt x="333375" y="111125"/>
                </a:cubicBezTo>
                <a:cubicBezTo>
                  <a:pt x="321082" y="111125"/>
                  <a:pt x="311150" y="121057"/>
                  <a:pt x="311150" y="133350"/>
                </a:cubicBezTo>
                <a:lnTo>
                  <a:pt x="311150" y="144463"/>
                </a:lnTo>
                <a:lnTo>
                  <a:pt x="288925" y="144463"/>
                </a:lnTo>
                <a:lnTo>
                  <a:pt x="288925" y="133350"/>
                </a:lnTo>
                <a:cubicBezTo>
                  <a:pt x="288925" y="121057"/>
                  <a:pt x="278993" y="111125"/>
                  <a:pt x="266700" y="111125"/>
                </a:cubicBezTo>
                <a:cubicBezTo>
                  <a:pt x="254407" y="111125"/>
                  <a:pt x="244475" y="121057"/>
                  <a:pt x="244475" y="133350"/>
                </a:cubicBezTo>
                <a:lnTo>
                  <a:pt x="244475" y="155575"/>
                </a:lnTo>
                <a:cubicBezTo>
                  <a:pt x="244475" y="171133"/>
                  <a:pt x="237391" y="185023"/>
                  <a:pt x="226278" y="194191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57000" y="1587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Game-Playing 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2095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AlphaGo, Chess AI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Goal-based + Utility-based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Accessible, static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3746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3775" y="3937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33337"/>
                </a:moveTo>
                <a:cubicBezTo>
                  <a:pt x="22225" y="14932"/>
                  <a:pt x="37157" y="0"/>
                  <a:pt x="55563" y="0"/>
                </a:cubicBezTo>
                <a:lnTo>
                  <a:pt x="88900" y="0"/>
                </a:lnTo>
                <a:cubicBezTo>
                  <a:pt x="101193" y="0"/>
                  <a:pt x="111125" y="9932"/>
                  <a:pt x="111125" y="22225"/>
                </a:cubicBezTo>
                <a:cubicBezTo>
                  <a:pt x="111125" y="34518"/>
                  <a:pt x="101193" y="44450"/>
                  <a:pt x="88900" y="44450"/>
                </a:cubicBezTo>
                <a:lnTo>
                  <a:pt x="66675" y="44450"/>
                </a:lnTo>
                <a:lnTo>
                  <a:pt x="66675" y="133350"/>
                </a:lnTo>
                <a:cubicBezTo>
                  <a:pt x="66675" y="170160"/>
                  <a:pt x="96540" y="200025"/>
                  <a:pt x="133350" y="200025"/>
                </a:cubicBezTo>
                <a:cubicBezTo>
                  <a:pt x="170160" y="200025"/>
                  <a:pt x="200025" y="170160"/>
                  <a:pt x="200025" y="133350"/>
                </a:cubicBezTo>
                <a:lnTo>
                  <a:pt x="200025" y="44450"/>
                </a:lnTo>
                <a:lnTo>
                  <a:pt x="177800" y="44450"/>
                </a:lnTo>
                <a:cubicBezTo>
                  <a:pt x="165507" y="44450"/>
                  <a:pt x="155575" y="34518"/>
                  <a:pt x="155575" y="22225"/>
                </a:cubicBezTo>
                <a:cubicBezTo>
                  <a:pt x="155575" y="9932"/>
                  <a:pt x="165507" y="0"/>
                  <a:pt x="177800" y="0"/>
                </a:cubicBezTo>
                <a:lnTo>
                  <a:pt x="211138" y="0"/>
                </a:lnTo>
                <a:cubicBezTo>
                  <a:pt x="229543" y="0"/>
                  <a:pt x="244475" y="14932"/>
                  <a:pt x="244475" y="33337"/>
                </a:cubicBezTo>
                <a:lnTo>
                  <a:pt x="244475" y="133350"/>
                </a:lnTo>
                <a:cubicBezTo>
                  <a:pt x="244475" y="187107"/>
                  <a:pt x="206276" y="231973"/>
                  <a:pt x="155575" y="242253"/>
                </a:cubicBezTo>
                <a:lnTo>
                  <a:pt x="155575" y="255587"/>
                </a:lnTo>
                <a:cubicBezTo>
                  <a:pt x="155575" y="298579"/>
                  <a:pt x="190371" y="333375"/>
                  <a:pt x="233363" y="333375"/>
                </a:cubicBezTo>
                <a:cubicBezTo>
                  <a:pt x="276354" y="333375"/>
                  <a:pt x="311150" y="298579"/>
                  <a:pt x="311150" y="255587"/>
                </a:cubicBezTo>
                <a:lnTo>
                  <a:pt x="311150" y="196205"/>
                </a:lnTo>
                <a:cubicBezTo>
                  <a:pt x="285244" y="187037"/>
                  <a:pt x="266700" y="162381"/>
                  <a:pt x="266700" y="133350"/>
                </a:cubicBezTo>
                <a:cubicBezTo>
                  <a:pt x="266700" y="96540"/>
                  <a:pt x="296565" y="66675"/>
                  <a:pt x="333375" y="66675"/>
                </a:cubicBezTo>
                <a:cubicBezTo>
                  <a:pt x="370185" y="66675"/>
                  <a:pt x="400050" y="96540"/>
                  <a:pt x="400050" y="133350"/>
                </a:cubicBezTo>
                <a:cubicBezTo>
                  <a:pt x="400050" y="162381"/>
                  <a:pt x="381506" y="187107"/>
                  <a:pt x="355600" y="196205"/>
                </a:cubicBezTo>
                <a:lnTo>
                  <a:pt x="355600" y="255587"/>
                </a:lnTo>
                <a:cubicBezTo>
                  <a:pt x="355600" y="323096"/>
                  <a:pt x="300871" y="377825"/>
                  <a:pt x="233363" y="377825"/>
                </a:cubicBezTo>
                <a:cubicBezTo>
                  <a:pt x="165854" y="377825"/>
                  <a:pt x="111125" y="323096"/>
                  <a:pt x="111125" y="255587"/>
                </a:cubicBezTo>
                <a:lnTo>
                  <a:pt x="111125" y="242253"/>
                </a:lnTo>
                <a:cubicBezTo>
                  <a:pt x="60424" y="231973"/>
                  <a:pt x="22225" y="187107"/>
                  <a:pt x="22225" y="133350"/>
                </a:cubicBezTo>
                <a:lnTo>
                  <a:pt x="22225" y="33337"/>
                </a:lnTo>
                <a:close/>
                <a:moveTo>
                  <a:pt x="333375" y="155575"/>
                </a:moveTo>
                <a:cubicBezTo>
                  <a:pt x="345641" y="155575"/>
                  <a:pt x="355600" y="145616"/>
                  <a:pt x="355600" y="133350"/>
                </a:cubicBezTo>
                <a:cubicBezTo>
                  <a:pt x="355600" y="121084"/>
                  <a:pt x="345641" y="111125"/>
                  <a:pt x="333375" y="111125"/>
                </a:cubicBezTo>
                <a:cubicBezTo>
                  <a:pt x="321109" y="111125"/>
                  <a:pt x="311150" y="121084"/>
                  <a:pt x="311150" y="133350"/>
                </a:cubicBezTo>
                <a:cubicBezTo>
                  <a:pt x="311150" y="145616"/>
                  <a:pt x="321109" y="155575"/>
                  <a:pt x="333375" y="155575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3937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Diagnosis 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445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IBM Watson Health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Model-based + Utility-based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Partially accessible, static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78500" y="3746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5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8050" y="3937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6540500" y="3937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Industrial Robots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0" y="4445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Assembly Line Bots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 reflex or Model-based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Accessible, deterministic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795000" y="3746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705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049000" y="393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11557000" y="3937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Self-Driving Cars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0" y="4445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Tesla, Waymo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four types combined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Inaccessible, dynamic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2000" y="6096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7275" y="635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66675"/>
                </a:moveTo>
                <a:lnTo>
                  <a:pt x="44450" y="233363"/>
                </a:lnTo>
                <a:lnTo>
                  <a:pt x="355600" y="233363"/>
                </a:lnTo>
                <a:lnTo>
                  <a:pt x="355600" y="66675"/>
                </a:lnTo>
                <a:lnTo>
                  <a:pt x="44450" y="66675"/>
                </a:lnTo>
                <a:close/>
                <a:moveTo>
                  <a:pt x="0" y="66675"/>
                </a:moveTo>
                <a:cubicBezTo>
                  <a:pt x="0" y="42158"/>
                  <a:pt x="19933" y="22225"/>
                  <a:pt x="44450" y="22225"/>
                </a:cubicBezTo>
                <a:lnTo>
                  <a:pt x="355600" y="22225"/>
                </a:lnTo>
                <a:cubicBezTo>
                  <a:pt x="380117" y="22225"/>
                  <a:pt x="400050" y="42158"/>
                  <a:pt x="400050" y="66675"/>
                </a:cubicBezTo>
                <a:lnTo>
                  <a:pt x="400050" y="233363"/>
                </a:lnTo>
                <a:cubicBezTo>
                  <a:pt x="400050" y="257879"/>
                  <a:pt x="380117" y="277813"/>
                  <a:pt x="355600" y="277813"/>
                </a:cubicBezTo>
                <a:lnTo>
                  <a:pt x="44450" y="277813"/>
                </a:lnTo>
                <a:cubicBezTo>
                  <a:pt x="19933" y="277813"/>
                  <a:pt x="0" y="257879"/>
                  <a:pt x="0" y="233363"/>
                </a:cubicBezTo>
                <a:lnTo>
                  <a:pt x="0" y="66675"/>
                </a:lnTo>
                <a:close/>
                <a:moveTo>
                  <a:pt x="111125" y="311150"/>
                </a:move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111125" y="355600"/>
                </a:lnTo>
                <a:cubicBezTo>
                  <a:pt x="98832" y="355600"/>
                  <a:pt x="88900" y="345668"/>
                  <a:pt x="88900" y="333375"/>
                </a:cubicBezTo>
                <a:cubicBezTo>
                  <a:pt x="88900" y="321082"/>
                  <a:pt x="98832" y="311150"/>
                  <a:pt x="111125" y="3111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1587500" y="635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9500" y="6794500"/>
            <a:ext cx="140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Netflix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recommends movies by scoring options (utility) based on your viewing history (model).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Recap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1000" y="1524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agent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perceives its environment and acts to achieve objectives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78500" y="1397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8" name="Text 6"/>
          <p:cNvSpPr/>
          <p:nvPr/>
        </p:nvSpPr>
        <p:spPr>
          <a:xfrm>
            <a:off x="6032500" y="152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67500" y="1524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agent types: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Reflex, Model-Based, Goal-Based, Utility-Based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795000" y="1397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D8F3D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0" y="152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2D6A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684000" y="1524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type adds more capability: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memory, goals, and scoring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619500"/>
            <a:ext cx="7048500" cy="1905000"/>
          </a:xfrm>
          <a:prstGeom prst="roundRect">
            <a:avLst>
              <a:gd name="adj" fmla="val 8000"/>
            </a:avLst>
          </a:prstGeom>
          <a:solidFill>
            <a:srgbClr val="FDE2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74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1000" y="3746500"/>
            <a:ext cx="584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Environments differ 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visibility, predictability, time connection, and change speed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91500" y="3619500"/>
            <a:ext cx="7048500" cy="1905000"/>
          </a:xfrm>
          <a:prstGeom prst="roundRect">
            <a:avLst>
              <a:gd name="adj" fmla="val 8000"/>
            </a:avLst>
          </a:prstGeom>
          <a:solidFill>
            <a:srgbClr val="FDE2D4"/>
          </a:solidFill>
          <a:ln/>
        </p:spPr>
      </p:sp>
      <p:sp>
        <p:nvSpPr>
          <p:cNvPr id="17" name="Text 15"/>
          <p:cNvSpPr/>
          <p:nvPr/>
        </p:nvSpPr>
        <p:spPr>
          <a:xfrm>
            <a:off x="8445500" y="374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80500" y="37465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hardest environments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need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smartest agents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58420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9055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AI combines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agent types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handle complex, real-world tasks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239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FDE2D4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7239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simple door sensors to self-driving cars — the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principles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scale to all AI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ilo64jtmudb4/mnt/agents/output/ai_agents_env/images/8_AI_Technology_on_Black_Background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23">
                  <a:alpha val="88000"/>
                </a:srgbClr>
              </a:gs>
              <a:gs pos="50000">
                <a:srgbClr val="1B2A23">
                  <a:alpha val="82000"/>
                </a:srgbClr>
              </a:gs>
              <a:gs pos="100000">
                <a:srgbClr val="1B2A23">
                  <a:alpha val="69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48000" y="2286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spc="200" kern="0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3556000"/>
            <a:ext cx="2540000" cy="508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3810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5F1E8">
                    <a:alpha val="62745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048000" y="4826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5F1E8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— Intelligent Agents and Environment Properties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5F1E8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3 Lecture 5 &amp; 6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50000" y="6350000"/>
            <a:ext cx="1016000" cy="1016000"/>
          </a:xfrm>
          <a:prstGeom prst="ellipse">
            <a:avLst/>
          </a:prstGeom>
          <a:solidFill>
            <a:srgbClr val="2D6A4F">
              <a:alpha val="18824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890000" y="6604000"/>
            <a:ext cx="762000" cy="762000"/>
          </a:xfrm>
          <a:prstGeom prst="ellipse">
            <a:avLst/>
          </a:prstGeom>
          <a:solidFill>
            <a:srgbClr val="E07A5F">
              <a:alpha val="1451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– Intelligent Agents and Environment Properties</dc:title>
  <dc:subject>Artificial Intelligence – Intelligent Agents and Environment Properties</dc:subject>
  <dc:creator>Kimi</dc:creator>
  <cp:lastModifiedBy>Kimi</cp:lastModifiedBy>
  <cp:revision>1</cp:revision>
  <dcterms:created xsi:type="dcterms:W3CDTF">2026-05-04T06:22:43Z</dcterms:created>
  <dcterms:modified xsi:type="dcterms:W3CDTF">2026-05-04T06:22:43Z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– Intelligent Agents and Environment Properties","ContentProducer":"001191110108MACG2KBH8F10000","ProduceID":"19df16ee-65b2-85fb-8000-000059626092","ReservedCode1":"","ContentPropagator":"001191110108MACG2KBH8F20000","PropagateID":"19df16ee-65b2-85fb-8000-000059626092","ReservedCode2":""}</vt:lpwstr>
  </property>
</Properties>
</file>