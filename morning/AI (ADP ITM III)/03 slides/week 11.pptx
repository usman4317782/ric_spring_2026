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F7F50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FF7F50"/>
              </a:solidFill>
              <a:ln w="9525" cap="flat">
                <a:solidFill>
                  <a:srgbClr val="FF7F50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2</c:v>
                </c:pt>
                <c:pt idx="1">
                  <c:v>3</c:v>
                </c:pt>
                <c:pt idx="2">
                  <c:v>2.5</c:v>
                </c:pt>
                <c:pt idx="3">
                  <c:v>3</c:v>
                </c:pt>
                <c:pt idx="4">
                  <c:v>7</c:v>
                </c:pt>
                <c:pt idx="5">
                  <c:v>8</c:v>
                </c:pt>
                <c:pt idx="6">
                  <c:v>7.5</c:v>
                </c:pt>
                <c:pt idx="7">
                  <c:v>8</c:v>
                </c:pt>
                <c:pt idx="8">
                  <c:v>1</c:v>
                </c:pt>
                <c:pt idx="9">
                  <c:v>1.5</c:v>
                </c:pt>
                <c:pt idx="10">
                  <c:v>2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2</c:v>
                </c:pt>
                <c:pt idx="2">
                  <c:v>2.5</c:v>
                </c:pt>
                <c:pt idx="3">
                  <c:v>3.5</c:v>
                </c:pt>
                <c:pt idx="4">
                  <c:v>8</c:v>
                </c:pt>
                <c:pt idx="5">
                  <c:v>7</c:v>
                </c:pt>
                <c:pt idx="6">
                  <c:v>7.5</c:v>
                </c:pt>
                <c:pt idx="7">
                  <c:v>8.5</c:v>
                </c:pt>
                <c:pt idx="8">
                  <c:v>8</c:v>
                </c:pt>
                <c:pt idx="9">
                  <c:v>7</c:v>
                </c:pt>
                <c:pt idx="10">
                  <c:v>7.5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(K)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52</c:v>
                </c:pt>
                <c:pt idx="2">
                  <c:v>48</c:v>
                </c:pt>
                <c:pt idx="3">
                  <c:v>70</c:v>
                </c:pt>
                <c:pt idx="4">
                  <c:v>65</c:v>
                </c:pt>
                <c:pt idx="5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C4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9C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0" y="0"/>
                </a:moveTo>
                <a:lnTo>
                  <a:pt x="5080000" y="0"/>
                </a:lnTo>
                <a:lnTo>
                  <a:pt x="5080000" y="1270000"/>
                </a:lnTo>
                <a:quadBezTo>
                  <a:pt x="4445000" y="1693333"/>
                  <a:pt x="3810000" y="1693333"/>
                </a:quadBezTo>
                <a:lnTo>
                  <a:pt x="1270000" y="1693333"/>
                </a:lnTo>
                <a:quadBezTo>
                  <a:pt x="635000" y="1693333"/>
                  <a:pt x="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pic>
        <p:nvPicPr>
          <p:cNvPr id="4" name="Image 0" descr="https://kimi-img.moonshot.cn/pub/slides/okc/5d7c6cmeyc2ma/mnt/agents/output/ml-lectures/images/8_Artificial_intelligence_technology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0" b="0"/>
          <a:stretch/>
        </p:blipFill>
        <p:spPr>
          <a:xfrm>
            <a:off x="9906000" y="1524000"/>
            <a:ext cx="5334000" cy="53340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6000" y="2794000"/>
            <a:ext cx="889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1016000" y="3937000"/>
            <a:ext cx="889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800" b="1" spc="100" kern="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1016000" y="5334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11 — Lectures 19 &amp; 20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016000" y="6096000"/>
            <a:ext cx="2540000" cy="25400"/>
          </a:xfrm>
          <a:prstGeom prst="rect">
            <a:avLst/>
          </a:prstGeom>
          <a:solidFill>
            <a:srgbClr val="FF7F50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6477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Foundations, Types &amp; Python Essentials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54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Machine Learning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556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355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Machine Learning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572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4572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4572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Started with ML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58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5588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558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for Machine Learning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Machine Learning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5334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19 — Fundamentals, Applications, and Significance of ML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Machine Learning?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366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Definition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673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is a subset of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enables computers to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from experience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being explicitly programmed.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i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 computer program learns from experience E with respect to tasks T and performance P."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Tom Mitchell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017000" y="1905000"/>
            <a:ext cx="5969000" cy="2667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98000" y="2159000"/>
            <a:ext cx="520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 vs. ML Programming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98000" y="2794000"/>
            <a:ext cx="520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Rules + Data → Answers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+ Answers →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70000" y="5080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ML Pipeline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70000" y="57785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57785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02000" y="6096000"/>
            <a:ext cx="381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3810000" y="57785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3810000" y="57785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42000" y="6096000"/>
            <a:ext cx="381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350000" y="57785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000" y="57785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6096000"/>
            <a:ext cx="381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8890000" y="57785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0" y="57785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22000" y="6096000"/>
            <a:ext cx="381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430000" y="5778500"/>
            <a:ext cx="1905000" cy="635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0" y="57785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70000" y="69215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51000" y="717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7048500"/>
            <a:ext cx="1231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analogy: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Like a child learning to recognize fruits by seeing many examples rather than memorizing rules.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ML — Industry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1968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1590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6670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Disease diagnosis from medical images, drug discovery, personalized treatment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76200"/>
                </a:moveTo>
                <a:lnTo>
                  <a:pt x="101600" y="63500"/>
                </a:lnTo>
                <a:cubicBezTo>
                  <a:pt x="101600" y="28416"/>
                  <a:pt x="169863" y="0"/>
                  <a:pt x="254000" y="0"/>
                </a:cubicBezTo>
                <a:cubicBezTo>
                  <a:pt x="338138" y="0"/>
                  <a:pt x="406400" y="28416"/>
                  <a:pt x="406400" y="63500"/>
                </a:cubicBezTo>
                <a:lnTo>
                  <a:pt x="406400" y="76200"/>
                </a:lnTo>
                <a:cubicBezTo>
                  <a:pt x="406400" y="100489"/>
                  <a:pt x="373618" y="121603"/>
                  <a:pt x="325438" y="132318"/>
                </a:cubicBezTo>
                <a:cubicBezTo>
                  <a:pt x="323533" y="130096"/>
                  <a:pt x="321548" y="127953"/>
                  <a:pt x="319564" y="125968"/>
                </a:cubicBezTo>
                <a:cubicBezTo>
                  <a:pt x="307261" y="113824"/>
                  <a:pt x="291386" y="104616"/>
                  <a:pt x="274796" y="97790"/>
                </a:cubicBezTo>
                <a:cubicBezTo>
                  <a:pt x="241538" y="83899"/>
                  <a:pt x="198199" y="76279"/>
                  <a:pt x="152400" y="76279"/>
                </a:cubicBezTo>
                <a:cubicBezTo>
                  <a:pt x="135017" y="76279"/>
                  <a:pt x="118031" y="77391"/>
                  <a:pt x="101759" y="79534"/>
                </a:cubicBezTo>
                <a:cubicBezTo>
                  <a:pt x="101600" y="78502"/>
                  <a:pt x="101600" y="77391"/>
                  <a:pt x="101600" y="76279"/>
                </a:cubicBezTo>
                <a:close/>
                <a:moveTo>
                  <a:pt x="342900" y="280194"/>
                </a:moveTo>
                <a:lnTo>
                  <a:pt x="342900" y="243523"/>
                </a:lnTo>
                <a:cubicBezTo>
                  <a:pt x="354886" y="240427"/>
                  <a:pt x="366157" y="236776"/>
                  <a:pt x="376396" y="232489"/>
                </a:cubicBezTo>
                <a:cubicBezTo>
                  <a:pt x="386874" y="228124"/>
                  <a:pt x="397113" y="222806"/>
                  <a:pt x="406400" y="216376"/>
                </a:cubicBezTo>
                <a:lnTo>
                  <a:pt x="406400" y="228600"/>
                </a:lnTo>
                <a:cubicBezTo>
                  <a:pt x="406400" y="249873"/>
                  <a:pt x="381397" y="268684"/>
                  <a:pt x="342900" y="280194"/>
                </a:cubicBezTo>
                <a:close/>
                <a:moveTo>
                  <a:pt x="342900" y="203994"/>
                </a:moveTo>
                <a:lnTo>
                  <a:pt x="342900" y="177800"/>
                </a:lnTo>
                <a:cubicBezTo>
                  <a:pt x="342900" y="174228"/>
                  <a:pt x="342583" y="170815"/>
                  <a:pt x="342106" y="167481"/>
                </a:cubicBezTo>
                <a:cubicBezTo>
                  <a:pt x="354409" y="164386"/>
                  <a:pt x="365919" y="160655"/>
                  <a:pt x="376396" y="156210"/>
                </a:cubicBezTo>
                <a:cubicBezTo>
                  <a:pt x="386874" y="151765"/>
                  <a:pt x="397113" y="146526"/>
                  <a:pt x="406400" y="140097"/>
                </a:cubicBezTo>
                <a:lnTo>
                  <a:pt x="406400" y="152321"/>
                </a:lnTo>
                <a:cubicBezTo>
                  <a:pt x="406400" y="173593"/>
                  <a:pt x="381397" y="192405"/>
                  <a:pt x="342900" y="203914"/>
                </a:cubicBezTo>
                <a:close/>
                <a:moveTo>
                  <a:pt x="0" y="190500"/>
                </a:moveTo>
                <a:lnTo>
                  <a:pt x="0" y="177800"/>
                </a:lnTo>
                <a:cubicBezTo>
                  <a:pt x="0" y="142716"/>
                  <a:pt x="68263" y="114300"/>
                  <a:pt x="152400" y="114300"/>
                </a:cubicBezTo>
                <a:cubicBezTo>
                  <a:pt x="236538" y="114300"/>
                  <a:pt x="304800" y="142716"/>
                  <a:pt x="304800" y="177800"/>
                </a:cubicBezTo>
                <a:lnTo>
                  <a:pt x="304800" y="190500"/>
                </a:lnTo>
                <a:cubicBezTo>
                  <a:pt x="304800" y="225584"/>
                  <a:pt x="236538" y="254000"/>
                  <a:pt x="152400" y="254000"/>
                </a:cubicBezTo>
                <a:cubicBezTo>
                  <a:pt x="68263" y="254000"/>
                  <a:pt x="0" y="225584"/>
                  <a:pt x="0" y="190500"/>
                </a:cubicBezTo>
                <a:close/>
                <a:moveTo>
                  <a:pt x="304800" y="266700"/>
                </a:moveTo>
                <a:cubicBezTo>
                  <a:pt x="304800" y="301784"/>
                  <a:pt x="236538" y="330200"/>
                  <a:pt x="152400" y="330200"/>
                </a:cubicBezTo>
                <a:cubicBezTo>
                  <a:pt x="68263" y="330200"/>
                  <a:pt x="0" y="301784"/>
                  <a:pt x="0" y="266700"/>
                </a:cubicBezTo>
                <a:lnTo>
                  <a:pt x="0" y="254476"/>
                </a:lnTo>
                <a:cubicBezTo>
                  <a:pt x="9207" y="260906"/>
                  <a:pt x="19447" y="266144"/>
                  <a:pt x="30004" y="270589"/>
                </a:cubicBezTo>
                <a:cubicBezTo>
                  <a:pt x="63262" y="284480"/>
                  <a:pt x="106601" y="292100"/>
                  <a:pt x="152400" y="292100"/>
                </a:cubicBezTo>
                <a:cubicBezTo>
                  <a:pt x="198199" y="292100"/>
                  <a:pt x="241538" y="284401"/>
                  <a:pt x="274796" y="270589"/>
                </a:cubicBezTo>
                <a:cubicBezTo>
                  <a:pt x="285274" y="266224"/>
                  <a:pt x="295513" y="260906"/>
                  <a:pt x="304800" y="254476"/>
                </a:cubicBezTo>
                <a:lnTo>
                  <a:pt x="304800" y="266700"/>
                </a:lnTo>
                <a:close/>
                <a:moveTo>
                  <a:pt x="304800" y="330676"/>
                </a:moveTo>
                <a:lnTo>
                  <a:pt x="304800" y="342900"/>
                </a:lnTo>
                <a:cubicBezTo>
                  <a:pt x="304800" y="377984"/>
                  <a:pt x="236538" y="406400"/>
                  <a:pt x="152400" y="406400"/>
                </a:cubicBezTo>
                <a:cubicBezTo>
                  <a:pt x="68263" y="406400"/>
                  <a:pt x="0" y="377984"/>
                  <a:pt x="0" y="342900"/>
                </a:cubicBezTo>
                <a:lnTo>
                  <a:pt x="0" y="330676"/>
                </a:lnTo>
                <a:cubicBezTo>
                  <a:pt x="9207" y="337106"/>
                  <a:pt x="19447" y="342344"/>
                  <a:pt x="30004" y="346789"/>
                </a:cubicBezTo>
                <a:cubicBezTo>
                  <a:pt x="63262" y="360680"/>
                  <a:pt x="106601" y="368300"/>
                  <a:pt x="152400" y="368300"/>
                </a:cubicBezTo>
                <a:cubicBezTo>
                  <a:pt x="198199" y="368300"/>
                  <a:pt x="241538" y="360601"/>
                  <a:pt x="274796" y="346789"/>
                </a:cubicBezTo>
                <a:cubicBezTo>
                  <a:pt x="285274" y="342424"/>
                  <a:pt x="295513" y="337106"/>
                  <a:pt x="304800" y="33067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794500" y="21590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2667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Fraud detection, credit scoring, algorithmic trading, risk assessment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22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" y="-12700"/>
                </a:moveTo>
                <a:cubicBezTo>
                  <a:pt x="6795" y="-12700"/>
                  <a:pt x="0" y="-4207"/>
                  <a:pt x="0" y="6350"/>
                </a:cubicBezTo>
                <a:cubicBezTo>
                  <a:pt x="0" y="16907"/>
                  <a:pt x="6795" y="25400"/>
                  <a:pt x="15240" y="25400"/>
                </a:cubicBezTo>
                <a:lnTo>
                  <a:pt x="44006" y="25400"/>
                </a:lnTo>
                <a:cubicBezTo>
                  <a:pt x="46482" y="25400"/>
                  <a:pt x="48578" y="27622"/>
                  <a:pt x="49022" y="30639"/>
                </a:cubicBezTo>
                <a:lnTo>
                  <a:pt x="82106" y="257889"/>
                </a:lnTo>
                <a:cubicBezTo>
                  <a:pt x="86043" y="285036"/>
                  <a:pt x="104966" y="304800"/>
                  <a:pt x="127064" y="304800"/>
                </a:cubicBezTo>
                <a:lnTo>
                  <a:pt x="289560" y="304800"/>
                </a:lnTo>
                <a:cubicBezTo>
                  <a:pt x="298006" y="304800"/>
                  <a:pt x="304800" y="296307"/>
                  <a:pt x="304800" y="285750"/>
                </a:cubicBezTo>
                <a:cubicBezTo>
                  <a:pt x="304800" y="275193"/>
                  <a:pt x="298006" y="266700"/>
                  <a:pt x="289560" y="266700"/>
                </a:cubicBezTo>
                <a:lnTo>
                  <a:pt x="127064" y="266700"/>
                </a:lnTo>
                <a:cubicBezTo>
                  <a:pt x="119698" y="266700"/>
                  <a:pt x="113411" y="260112"/>
                  <a:pt x="112078" y="251063"/>
                </a:cubicBezTo>
                <a:lnTo>
                  <a:pt x="108839" y="228600"/>
                </a:lnTo>
                <a:lnTo>
                  <a:pt x="301625" y="228600"/>
                </a:lnTo>
                <a:cubicBezTo>
                  <a:pt x="321183" y="228600"/>
                  <a:pt x="337947" y="211217"/>
                  <a:pt x="341567" y="187166"/>
                </a:cubicBezTo>
                <a:lnTo>
                  <a:pt x="361252" y="55483"/>
                </a:lnTo>
                <a:cubicBezTo>
                  <a:pt x="363601" y="39846"/>
                  <a:pt x="354013" y="25400"/>
                  <a:pt x="341249" y="25400"/>
                </a:cubicBezTo>
                <a:lnTo>
                  <a:pt x="79185" y="25400"/>
                </a:lnTo>
                <a:lnTo>
                  <a:pt x="78931" y="23813"/>
                </a:lnTo>
                <a:cubicBezTo>
                  <a:pt x="75883" y="2699"/>
                  <a:pt x="61150" y="-12700"/>
                  <a:pt x="43942" y="-12700"/>
                </a:cubicBezTo>
                <a:lnTo>
                  <a:pt x="15240" y="-12700"/>
                </a:lnTo>
                <a:close/>
                <a:moveTo>
                  <a:pt x="132080" y="406400"/>
                </a:moveTo>
                <a:cubicBezTo>
                  <a:pt x="148902" y="406400"/>
                  <a:pt x="162560" y="389328"/>
                  <a:pt x="162560" y="368300"/>
                </a:cubicBezTo>
                <a:cubicBezTo>
                  <a:pt x="162560" y="347272"/>
                  <a:pt x="148902" y="330200"/>
                  <a:pt x="132080" y="330200"/>
                </a:cubicBezTo>
                <a:cubicBezTo>
                  <a:pt x="115258" y="330200"/>
                  <a:pt x="101600" y="347272"/>
                  <a:pt x="101600" y="368300"/>
                </a:cubicBezTo>
                <a:cubicBezTo>
                  <a:pt x="101600" y="389328"/>
                  <a:pt x="115258" y="406400"/>
                  <a:pt x="132080" y="406400"/>
                </a:cubicBezTo>
                <a:close/>
                <a:moveTo>
                  <a:pt x="274320" y="406400"/>
                </a:moveTo>
                <a:cubicBezTo>
                  <a:pt x="291142" y="406400"/>
                  <a:pt x="304800" y="389328"/>
                  <a:pt x="304800" y="368300"/>
                </a:cubicBezTo>
                <a:cubicBezTo>
                  <a:pt x="304800" y="347272"/>
                  <a:pt x="291142" y="330200"/>
                  <a:pt x="274320" y="330200"/>
                </a:cubicBezTo>
                <a:cubicBezTo>
                  <a:pt x="257498" y="330200"/>
                  <a:pt x="243840" y="347272"/>
                  <a:pt x="243840" y="368300"/>
                </a:cubicBezTo>
                <a:cubicBezTo>
                  <a:pt x="243840" y="389328"/>
                  <a:pt x="257498" y="406400"/>
                  <a:pt x="274320" y="4064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93500" y="21590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E-Commerce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2667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 recommendations, dynamic pricing, customer segmentation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064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2095500" y="43180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Transportation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4826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Self-driving cars, route optimization, predictive maintenance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064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3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11351" y="25400"/>
                  <a:pt x="0" y="36751"/>
                  <a:pt x="0" y="508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120809"/>
                </a:lnTo>
                <a:cubicBezTo>
                  <a:pt x="406400" y="106363"/>
                  <a:pt x="391001" y="97234"/>
                  <a:pt x="378301" y="104061"/>
                </a:cubicBezTo>
                <a:lnTo>
                  <a:pt x="254000" y="170974"/>
                </a:lnTo>
                <a:lnTo>
                  <a:pt x="254000" y="120809"/>
                </a:lnTo>
                <a:cubicBezTo>
                  <a:pt x="254000" y="106363"/>
                  <a:pt x="238601" y="97234"/>
                  <a:pt x="225901" y="104061"/>
                </a:cubicBezTo>
                <a:lnTo>
                  <a:pt x="101600" y="170974"/>
                </a:lnTo>
                <a:lnTo>
                  <a:pt x="101600" y="50800"/>
                </a:lnTo>
                <a:cubicBezTo>
                  <a:pt x="101600" y="36751"/>
                  <a:pt x="90249" y="25400"/>
                  <a:pt x="76200" y="25400"/>
                </a:cubicBezTo>
                <a:lnTo>
                  <a:pt x="25400" y="254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794500" y="43180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3000" y="4826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 control, supply chain optimization, defect detection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064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22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66077" y="15002"/>
                </a:moveTo>
                <a:cubicBezTo>
                  <a:pt x="375206" y="19050"/>
                  <a:pt x="381000" y="28099"/>
                  <a:pt x="381000" y="38100"/>
                </a:cubicBezTo>
                <a:lnTo>
                  <a:pt x="381000" y="368300"/>
                </a:lnTo>
                <a:cubicBezTo>
                  <a:pt x="381000" y="378301"/>
                  <a:pt x="375206" y="387350"/>
                  <a:pt x="366077" y="391398"/>
                </a:cubicBezTo>
                <a:cubicBezTo>
                  <a:pt x="356949" y="395446"/>
                  <a:pt x="346393" y="393938"/>
                  <a:pt x="338852" y="387350"/>
                </a:cubicBezTo>
                <a:lnTo>
                  <a:pt x="301863" y="355044"/>
                </a:lnTo>
                <a:cubicBezTo>
                  <a:pt x="267256" y="324803"/>
                  <a:pt x="223520" y="307181"/>
                  <a:pt x="177721" y="305038"/>
                </a:cubicBezTo>
                <a:lnTo>
                  <a:pt x="177721" y="381000"/>
                </a:lnTo>
                <a:cubicBezTo>
                  <a:pt x="177721" y="395049"/>
                  <a:pt x="166370" y="406400"/>
                  <a:pt x="152321" y="406400"/>
                </a:cubicBezTo>
                <a:lnTo>
                  <a:pt x="126921" y="406400"/>
                </a:lnTo>
                <a:cubicBezTo>
                  <a:pt x="112871" y="406400"/>
                  <a:pt x="101521" y="395049"/>
                  <a:pt x="101521" y="381000"/>
                </a:cubicBezTo>
                <a:lnTo>
                  <a:pt x="101521" y="304800"/>
                </a:lnTo>
                <a:cubicBezTo>
                  <a:pt x="45482" y="304800"/>
                  <a:pt x="0" y="259318"/>
                  <a:pt x="0" y="203200"/>
                </a:cubicBezTo>
                <a:cubicBezTo>
                  <a:pt x="0" y="147082"/>
                  <a:pt x="45482" y="101600"/>
                  <a:pt x="101600" y="101600"/>
                </a:cubicBezTo>
                <a:lnTo>
                  <a:pt x="168672" y="101600"/>
                </a:lnTo>
                <a:cubicBezTo>
                  <a:pt x="217726" y="101441"/>
                  <a:pt x="265033" y="83582"/>
                  <a:pt x="301943" y="51356"/>
                </a:cubicBezTo>
                <a:lnTo>
                  <a:pt x="338931" y="19050"/>
                </a:lnTo>
                <a:cubicBezTo>
                  <a:pt x="346393" y="12462"/>
                  <a:pt x="357108" y="10954"/>
                  <a:pt x="366157" y="15002"/>
                </a:cubicBezTo>
                <a:close/>
                <a:moveTo>
                  <a:pt x="177800" y="254000"/>
                </a:moveTo>
                <a:lnTo>
                  <a:pt x="177800" y="254159"/>
                </a:lnTo>
                <a:cubicBezTo>
                  <a:pt x="233601" y="256302"/>
                  <a:pt x="287179" y="276781"/>
                  <a:pt x="330200" y="312420"/>
                </a:cubicBezTo>
                <a:lnTo>
                  <a:pt x="330200" y="93901"/>
                </a:lnTo>
                <a:cubicBezTo>
                  <a:pt x="287179" y="129540"/>
                  <a:pt x="233601" y="150019"/>
                  <a:pt x="177800" y="152162"/>
                </a:cubicBezTo>
                <a:lnTo>
                  <a:pt x="177800" y="254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493500" y="43180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Marketing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22000" y="4826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Customer lifetime value, sentiment analysis, ad targeting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350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F7F50">
              <a:alpha val="6275"/>
            </a:srgbClr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51000" y="666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5666" y="-16877"/>
                </a:moveTo>
                <a:cubicBezTo>
                  <a:pt x="242411" y="-24021"/>
                  <a:pt x="235823" y="-28575"/>
                  <a:pt x="228679" y="-28575"/>
                </a:cubicBezTo>
                <a:cubicBezTo>
                  <a:pt x="221536" y="-28575"/>
                  <a:pt x="214948" y="-24021"/>
                  <a:pt x="211693" y="-16877"/>
                </a:cubicBezTo>
                <a:lnTo>
                  <a:pt x="153273" y="111889"/>
                </a:lnTo>
                <a:lnTo>
                  <a:pt x="26353" y="134570"/>
                </a:lnTo>
                <a:cubicBezTo>
                  <a:pt x="19288" y="135821"/>
                  <a:pt x="13414" y="141446"/>
                  <a:pt x="11192" y="149126"/>
                </a:cubicBezTo>
                <a:cubicBezTo>
                  <a:pt x="8969" y="156805"/>
                  <a:pt x="10795" y="165199"/>
                  <a:pt x="15796" y="170914"/>
                </a:cubicBezTo>
                <a:lnTo>
                  <a:pt x="106601" y="273159"/>
                </a:lnTo>
                <a:lnTo>
                  <a:pt x="86598" y="415945"/>
                </a:lnTo>
                <a:cubicBezTo>
                  <a:pt x="85487" y="423892"/>
                  <a:pt x="88424" y="431929"/>
                  <a:pt x="94218" y="436662"/>
                </a:cubicBezTo>
                <a:cubicBezTo>
                  <a:pt x="100013" y="441394"/>
                  <a:pt x="107633" y="442109"/>
                  <a:pt x="114062" y="438448"/>
                </a:cubicBezTo>
                <a:lnTo>
                  <a:pt x="228679" y="372904"/>
                </a:lnTo>
                <a:lnTo>
                  <a:pt x="343218" y="438448"/>
                </a:lnTo>
                <a:cubicBezTo>
                  <a:pt x="349568" y="442109"/>
                  <a:pt x="357267" y="441394"/>
                  <a:pt x="363061" y="436662"/>
                </a:cubicBezTo>
                <a:cubicBezTo>
                  <a:pt x="368856" y="431929"/>
                  <a:pt x="371793" y="423982"/>
                  <a:pt x="370681" y="415945"/>
                </a:cubicBezTo>
                <a:lnTo>
                  <a:pt x="350599" y="273159"/>
                </a:lnTo>
                <a:lnTo>
                  <a:pt x="441404" y="170914"/>
                </a:lnTo>
                <a:cubicBezTo>
                  <a:pt x="446484" y="165199"/>
                  <a:pt x="448231" y="156805"/>
                  <a:pt x="446008" y="149126"/>
                </a:cubicBezTo>
                <a:cubicBezTo>
                  <a:pt x="443786" y="141446"/>
                  <a:pt x="437991" y="135821"/>
                  <a:pt x="430847" y="134570"/>
                </a:cubicBezTo>
                <a:lnTo>
                  <a:pt x="304006" y="111889"/>
                </a:lnTo>
                <a:lnTo>
                  <a:pt x="245666" y="-16877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0" y="6540500"/>
            <a:ext cx="1244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example: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Netflix saves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 billion per year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using recommendation algorithms to reduce customer churn.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ML — Research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Processing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translation, sentiment analysis, chatbots &amp; LLMs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detection, facial recognition, medical imaging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RL for robot control, human-robot interaction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Scientific Discovery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AlphaFold, climate modeling, genomics</a:t>
            </a:r>
            <a:endParaRPr lang="en-US" sz="2000" dirty="0"/>
          </a:p>
        </p:txBody>
      </p:sp>
      <p:pic>
        <p:nvPicPr>
          <p:cNvPr id="5" name="Image 0" descr="https://kimi-img.moonshot.cn/pub/slides/okc/5d7c6cmeyc2ma/mnt/agents/output/ml-lectures/images/5_Abstract_Neural_Networks_Visualiz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36000" y="1905000"/>
            <a:ext cx="6350000" cy="3302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636000" y="5588000"/>
            <a:ext cx="6350000" cy="22225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90000" y="5715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200M+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890000" y="6477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Protein structures predicted by DeepMind's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AlphaFold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solving the 50-year protein folding problem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Machine Learning is Important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3175000" cy="228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13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04192"/>
                </a:moveTo>
                <a:cubicBezTo>
                  <a:pt x="491218" y="213916"/>
                  <a:pt x="471941" y="221754"/>
                  <a:pt x="451871" y="228005"/>
                </a:cubicBezTo>
                <a:cubicBezTo>
                  <a:pt x="398576" y="244673"/>
                  <a:pt x="328613" y="254000"/>
                  <a:pt x="254000" y="254000"/>
                </a:cubicBezTo>
                <a:cubicBezTo>
                  <a:pt x="179387" y="254000"/>
                  <a:pt x="109311" y="244574"/>
                  <a:pt x="56129" y="228005"/>
                </a:cubicBezTo>
                <a:cubicBezTo>
                  <a:pt x="36172" y="221754"/>
                  <a:pt x="16782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113733" y="365125"/>
                  <a:pt x="254000" y="365125"/>
                </a:cubicBezTo>
                <a:cubicBezTo>
                  <a:pt x="394267" y="365125"/>
                  <a:pt x="508000" y="329605"/>
                  <a:pt x="508000" y="285750"/>
                </a:cubicBezTo>
                <a:lnTo>
                  <a:pt x="508000" y="204192"/>
                </a:lnTo>
                <a:close/>
                <a:moveTo>
                  <a:pt x="508000" y="127000"/>
                </a:moveTo>
                <a:lnTo>
                  <a:pt x="508000" y="79375"/>
                </a:lnTo>
                <a:cubicBezTo>
                  <a:pt x="508000" y="35520"/>
                  <a:pt x="394267" y="0"/>
                  <a:pt x="254000" y="0"/>
                </a:cubicBezTo>
                <a:cubicBezTo>
                  <a:pt x="113733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113733" y="206375"/>
                  <a:pt x="254000" y="206375"/>
                </a:cubicBezTo>
                <a:cubicBezTo>
                  <a:pt x="394267" y="206375"/>
                  <a:pt x="508000" y="170855"/>
                  <a:pt x="508000" y="127000"/>
                </a:cubicBezTo>
                <a:close/>
                <a:moveTo>
                  <a:pt x="451871" y="386755"/>
                </a:moveTo>
                <a:cubicBezTo>
                  <a:pt x="398689" y="403324"/>
                  <a:pt x="328726" y="412750"/>
                  <a:pt x="254000" y="412750"/>
                </a:cubicBezTo>
                <a:cubicBezTo>
                  <a:pt x="179274" y="412750"/>
                  <a:pt x="109311" y="403324"/>
                  <a:pt x="56129" y="386755"/>
                </a:cubicBezTo>
                <a:cubicBezTo>
                  <a:pt x="36172" y="380504"/>
                  <a:pt x="16782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113733" y="508000"/>
                  <a:pt x="254000" y="508000"/>
                </a:cubicBezTo>
                <a:cubicBezTo>
                  <a:pt x="394267" y="508000"/>
                  <a:pt x="508000" y="472480"/>
                  <a:pt x="508000" y="428625"/>
                </a:cubicBezTo>
                <a:lnTo>
                  <a:pt x="508000" y="362942"/>
                </a:lnTo>
                <a:cubicBezTo>
                  <a:pt x="491218" y="372666"/>
                  <a:pt x="471941" y="380504"/>
                  <a:pt x="451871" y="38675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794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Handling Big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0500" y="3238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Processes massive volume, velocity &amp; variety efficiently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26000" y="1905000"/>
            <a:ext cx="3175000" cy="228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69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103188" y="214313"/>
                </a:moveTo>
                <a:lnTo>
                  <a:pt x="103188" y="277813"/>
                </a:lnTo>
                <a:cubicBezTo>
                  <a:pt x="103188" y="291009"/>
                  <a:pt x="113804" y="301625"/>
                  <a:pt x="127000" y="301625"/>
                </a:cubicBezTo>
                <a:cubicBezTo>
                  <a:pt x="140196" y="301625"/>
                  <a:pt x="150813" y="291009"/>
                  <a:pt x="150813" y="277813"/>
                </a:cubicBezTo>
                <a:lnTo>
                  <a:pt x="150813" y="214313"/>
                </a:lnTo>
                <a:cubicBezTo>
                  <a:pt x="150813" y="201116"/>
                  <a:pt x="140196" y="190500"/>
                  <a:pt x="127000" y="190500"/>
                </a:cubicBezTo>
                <a:cubicBezTo>
                  <a:pt x="113804" y="190500"/>
                  <a:pt x="103188" y="201116"/>
                  <a:pt x="103188" y="214313"/>
                </a:cubicBezTo>
                <a:close/>
                <a:moveTo>
                  <a:pt x="182563" y="119063"/>
                </a:moveTo>
                <a:lnTo>
                  <a:pt x="182563" y="277813"/>
                </a:lnTo>
                <a:cubicBezTo>
                  <a:pt x="182563" y="291009"/>
                  <a:pt x="193179" y="301625"/>
                  <a:pt x="206375" y="301625"/>
                </a:cubicBezTo>
                <a:cubicBezTo>
                  <a:pt x="219571" y="301625"/>
                  <a:pt x="230188" y="291009"/>
                  <a:pt x="230188" y="277813"/>
                </a:cubicBezTo>
                <a:lnTo>
                  <a:pt x="230188" y="119063"/>
                </a:lnTo>
                <a:cubicBezTo>
                  <a:pt x="230188" y="105866"/>
                  <a:pt x="219571" y="95250"/>
                  <a:pt x="206375" y="95250"/>
                </a:cubicBezTo>
                <a:cubicBezTo>
                  <a:pt x="193179" y="95250"/>
                  <a:pt x="182563" y="105866"/>
                  <a:pt x="182563" y="119063"/>
                </a:cubicBezTo>
                <a:close/>
                <a:moveTo>
                  <a:pt x="261937" y="182563"/>
                </a:moveTo>
                <a:lnTo>
                  <a:pt x="261937" y="277813"/>
                </a:lnTo>
                <a:cubicBezTo>
                  <a:pt x="261937" y="291009"/>
                  <a:pt x="272554" y="301625"/>
                  <a:pt x="285750" y="301625"/>
                </a:cubicBezTo>
                <a:cubicBezTo>
                  <a:pt x="298946" y="301625"/>
                  <a:pt x="309562" y="291009"/>
                  <a:pt x="309562" y="277813"/>
                </a:cubicBezTo>
                <a:lnTo>
                  <a:pt x="309562" y="182563"/>
                </a:lnTo>
                <a:cubicBezTo>
                  <a:pt x="309562" y="169366"/>
                  <a:pt x="298946" y="158750"/>
                  <a:pt x="285750" y="158750"/>
                </a:cubicBezTo>
                <a:cubicBezTo>
                  <a:pt x="272554" y="158750"/>
                  <a:pt x="261937" y="169366"/>
                  <a:pt x="261937" y="18256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4826000" y="2794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 Recognition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16500" y="3238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Discovers hidden patterns humans cannot detect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82000" y="1905000"/>
            <a:ext cx="3175000" cy="228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25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9400" y="0"/>
                </a:moveTo>
                <a:cubicBezTo>
                  <a:pt x="279400" y="-17562"/>
                  <a:pt x="268049" y="-31750"/>
                  <a:pt x="254000" y="-31750"/>
                </a:cubicBezTo>
                <a:cubicBezTo>
                  <a:pt x="239951" y="-31750"/>
                  <a:pt x="228600" y="-17562"/>
                  <a:pt x="228600" y="0"/>
                </a:cubicBezTo>
                <a:lnTo>
                  <a:pt x="228600" y="63500"/>
                </a:lnTo>
                <a:lnTo>
                  <a:pt x="152400" y="63500"/>
                </a:lnTo>
                <a:cubicBezTo>
                  <a:pt x="110331" y="63500"/>
                  <a:pt x="76200" y="106164"/>
                  <a:pt x="76200" y="158750"/>
                </a:cubicBezTo>
                <a:lnTo>
                  <a:pt x="76200" y="381000"/>
                </a:lnTo>
                <a:cubicBezTo>
                  <a:pt x="76200" y="433586"/>
                  <a:pt x="110331" y="476250"/>
                  <a:pt x="152400" y="476250"/>
                </a:cubicBezTo>
                <a:lnTo>
                  <a:pt x="355600" y="476250"/>
                </a:lnTo>
                <a:cubicBezTo>
                  <a:pt x="397669" y="476250"/>
                  <a:pt x="431800" y="433586"/>
                  <a:pt x="431800" y="381000"/>
                </a:cubicBezTo>
                <a:lnTo>
                  <a:pt x="431800" y="158750"/>
                </a:lnTo>
                <a:cubicBezTo>
                  <a:pt x="431800" y="106164"/>
                  <a:pt x="397669" y="63500"/>
                  <a:pt x="355600" y="63500"/>
                </a:cubicBezTo>
                <a:lnTo>
                  <a:pt x="279400" y="63500"/>
                </a:lnTo>
                <a:lnTo>
                  <a:pt x="279400" y="0"/>
                </a:lnTo>
                <a:close/>
                <a:moveTo>
                  <a:pt x="127000" y="365125"/>
                </a:moveTo>
                <a:cubicBezTo>
                  <a:pt x="127000" y="351929"/>
                  <a:pt x="135493" y="341313"/>
                  <a:pt x="146050" y="341313"/>
                </a:cubicBezTo>
                <a:lnTo>
                  <a:pt x="171450" y="341313"/>
                </a:lnTo>
                <a:cubicBezTo>
                  <a:pt x="182007" y="341313"/>
                  <a:pt x="190500" y="351929"/>
                  <a:pt x="190500" y="365125"/>
                </a:cubicBezTo>
                <a:cubicBezTo>
                  <a:pt x="190500" y="378321"/>
                  <a:pt x="182007" y="388938"/>
                  <a:pt x="171450" y="388938"/>
                </a:cubicBezTo>
                <a:lnTo>
                  <a:pt x="146050" y="388938"/>
                </a:lnTo>
                <a:cubicBezTo>
                  <a:pt x="135493" y="388938"/>
                  <a:pt x="127000" y="378321"/>
                  <a:pt x="127000" y="365125"/>
                </a:cubicBezTo>
                <a:close/>
                <a:moveTo>
                  <a:pt x="222250" y="365125"/>
                </a:moveTo>
                <a:cubicBezTo>
                  <a:pt x="222250" y="351929"/>
                  <a:pt x="230743" y="341313"/>
                  <a:pt x="241300" y="341313"/>
                </a:cubicBezTo>
                <a:lnTo>
                  <a:pt x="266700" y="341313"/>
                </a:lnTo>
                <a:cubicBezTo>
                  <a:pt x="277257" y="341313"/>
                  <a:pt x="285750" y="351929"/>
                  <a:pt x="285750" y="365125"/>
                </a:cubicBezTo>
                <a:cubicBezTo>
                  <a:pt x="285750" y="378321"/>
                  <a:pt x="277257" y="388938"/>
                  <a:pt x="266700" y="388938"/>
                </a:cubicBezTo>
                <a:lnTo>
                  <a:pt x="241300" y="388938"/>
                </a:lnTo>
                <a:cubicBezTo>
                  <a:pt x="230743" y="388938"/>
                  <a:pt x="222250" y="378321"/>
                  <a:pt x="222250" y="365125"/>
                </a:cubicBezTo>
                <a:close/>
                <a:moveTo>
                  <a:pt x="317500" y="365125"/>
                </a:moveTo>
                <a:cubicBezTo>
                  <a:pt x="317500" y="351929"/>
                  <a:pt x="325993" y="341313"/>
                  <a:pt x="336550" y="341313"/>
                </a:cubicBezTo>
                <a:lnTo>
                  <a:pt x="361950" y="341313"/>
                </a:lnTo>
                <a:cubicBezTo>
                  <a:pt x="372507" y="341313"/>
                  <a:pt x="381000" y="351929"/>
                  <a:pt x="381000" y="365125"/>
                </a:cubicBezTo>
                <a:cubicBezTo>
                  <a:pt x="381000" y="378321"/>
                  <a:pt x="372507" y="388938"/>
                  <a:pt x="361950" y="388938"/>
                </a:cubicBezTo>
                <a:lnTo>
                  <a:pt x="336550" y="388938"/>
                </a:lnTo>
                <a:cubicBezTo>
                  <a:pt x="325993" y="388938"/>
                  <a:pt x="317500" y="378321"/>
                  <a:pt x="317500" y="365125"/>
                </a:cubicBezTo>
                <a:close/>
                <a:moveTo>
                  <a:pt x="177800" y="174625"/>
                </a:moveTo>
                <a:cubicBezTo>
                  <a:pt x="198828" y="174625"/>
                  <a:pt x="215900" y="195965"/>
                  <a:pt x="215900" y="222250"/>
                </a:cubicBezTo>
                <a:cubicBezTo>
                  <a:pt x="215900" y="248535"/>
                  <a:pt x="198828" y="269875"/>
                  <a:pt x="177800" y="269875"/>
                </a:cubicBezTo>
                <a:cubicBezTo>
                  <a:pt x="156772" y="269875"/>
                  <a:pt x="139700" y="248535"/>
                  <a:pt x="139700" y="222250"/>
                </a:cubicBezTo>
                <a:cubicBezTo>
                  <a:pt x="139700" y="195965"/>
                  <a:pt x="156772" y="174625"/>
                  <a:pt x="177800" y="174625"/>
                </a:cubicBezTo>
                <a:close/>
                <a:moveTo>
                  <a:pt x="292100" y="222250"/>
                </a:moveTo>
                <a:cubicBezTo>
                  <a:pt x="292100" y="195965"/>
                  <a:pt x="309172" y="174625"/>
                  <a:pt x="330200" y="174625"/>
                </a:cubicBezTo>
                <a:cubicBezTo>
                  <a:pt x="351228" y="174625"/>
                  <a:pt x="368300" y="195965"/>
                  <a:pt x="368300" y="222250"/>
                </a:cubicBezTo>
                <a:cubicBezTo>
                  <a:pt x="368300" y="248535"/>
                  <a:pt x="351228" y="269875"/>
                  <a:pt x="330200" y="269875"/>
                </a:cubicBezTo>
                <a:cubicBezTo>
                  <a:pt x="309172" y="269875"/>
                  <a:pt x="292100" y="248535"/>
                  <a:pt x="292100" y="222250"/>
                </a:cubicBezTo>
                <a:close/>
                <a:moveTo>
                  <a:pt x="50800" y="222250"/>
                </a:moveTo>
                <a:cubicBezTo>
                  <a:pt x="50800" y="204688"/>
                  <a:pt x="39449" y="190500"/>
                  <a:pt x="25400" y="190500"/>
                </a:cubicBezTo>
                <a:cubicBezTo>
                  <a:pt x="11351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1351" y="349250"/>
                  <a:pt x="25400" y="349250"/>
                </a:cubicBezTo>
                <a:cubicBezTo>
                  <a:pt x="39449" y="349250"/>
                  <a:pt x="50800" y="335062"/>
                  <a:pt x="50800" y="317500"/>
                </a:cubicBezTo>
                <a:lnTo>
                  <a:pt x="50800" y="222250"/>
                </a:lnTo>
                <a:close/>
                <a:moveTo>
                  <a:pt x="482600" y="190500"/>
                </a:moveTo>
                <a:cubicBezTo>
                  <a:pt x="468551" y="190500"/>
                  <a:pt x="457200" y="204688"/>
                  <a:pt x="457200" y="222250"/>
                </a:cubicBezTo>
                <a:lnTo>
                  <a:pt x="457200" y="317500"/>
                </a:lnTo>
                <a:cubicBezTo>
                  <a:pt x="457200" y="335062"/>
                  <a:pt x="468551" y="349250"/>
                  <a:pt x="482600" y="349250"/>
                </a:cubicBezTo>
                <a:cubicBezTo>
                  <a:pt x="496649" y="349250"/>
                  <a:pt x="508000" y="335062"/>
                  <a:pt x="508000" y="31750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2794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72500" y="3238500"/>
            <a:ext cx="279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Automates decisions, reduces human error &amp; costs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938000" y="1905000"/>
            <a:ext cx="3048000" cy="2286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13081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03597" y="7938"/>
                </a:moveTo>
                <a:cubicBezTo>
                  <a:pt x="256167" y="7938"/>
                  <a:pt x="298847" y="61288"/>
                  <a:pt x="298847" y="127000"/>
                </a:cubicBezTo>
                <a:cubicBezTo>
                  <a:pt x="298847" y="192712"/>
                  <a:pt x="256167" y="246063"/>
                  <a:pt x="203597" y="246063"/>
                </a:cubicBezTo>
                <a:cubicBezTo>
                  <a:pt x="151027" y="246063"/>
                  <a:pt x="108347" y="192712"/>
                  <a:pt x="108347" y="127000"/>
                </a:cubicBezTo>
                <a:cubicBezTo>
                  <a:pt x="108347" y="61288"/>
                  <a:pt x="151027" y="7938"/>
                  <a:pt x="203597" y="7938"/>
                </a:cubicBezTo>
                <a:close/>
                <a:moveTo>
                  <a:pt x="179943" y="301625"/>
                </a:moveTo>
                <a:lnTo>
                  <a:pt x="227092" y="301625"/>
                </a:lnTo>
                <a:lnTo>
                  <a:pt x="228282" y="301625"/>
                </a:lnTo>
                <a:cubicBezTo>
                  <a:pt x="218043" y="328216"/>
                  <a:pt x="222091" y="359370"/>
                  <a:pt x="237411" y="380504"/>
                </a:cubicBezTo>
                <a:cubicBezTo>
                  <a:pt x="221377" y="402630"/>
                  <a:pt x="217726" y="435868"/>
                  <a:pt x="229949" y="463252"/>
                </a:cubicBezTo>
                <a:lnTo>
                  <a:pt x="247809" y="503337"/>
                </a:lnTo>
                <a:cubicBezTo>
                  <a:pt x="248523" y="504924"/>
                  <a:pt x="249317" y="506512"/>
                  <a:pt x="250111" y="508000"/>
                </a:cubicBezTo>
                <a:lnTo>
                  <a:pt x="61992" y="508000"/>
                </a:lnTo>
                <a:cubicBezTo>
                  <a:pt x="48974" y="508000"/>
                  <a:pt x="38417" y="494804"/>
                  <a:pt x="38417" y="478532"/>
                </a:cubicBezTo>
                <a:cubicBezTo>
                  <a:pt x="38417" y="380802"/>
                  <a:pt x="101759" y="301625"/>
                  <a:pt x="179943" y="301625"/>
                </a:cubicBezTo>
                <a:close/>
                <a:moveTo>
                  <a:pt x="343376" y="245666"/>
                </a:moveTo>
                <a:cubicBezTo>
                  <a:pt x="343376" y="232470"/>
                  <a:pt x="351869" y="221853"/>
                  <a:pt x="362426" y="221853"/>
                </a:cubicBezTo>
                <a:lnTo>
                  <a:pt x="400526" y="221853"/>
                </a:lnTo>
                <a:cubicBezTo>
                  <a:pt x="411083" y="221853"/>
                  <a:pt x="419576" y="232470"/>
                  <a:pt x="419576" y="245666"/>
                </a:cubicBezTo>
                <a:lnTo>
                  <a:pt x="419576" y="251718"/>
                </a:lnTo>
                <a:cubicBezTo>
                  <a:pt x="419576" y="270470"/>
                  <a:pt x="438706" y="284262"/>
                  <a:pt x="451723" y="274935"/>
                </a:cubicBezTo>
                <a:lnTo>
                  <a:pt x="455692" y="272058"/>
                </a:lnTo>
                <a:cubicBezTo>
                  <a:pt x="464899" y="265410"/>
                  <a:pt x="476726" y="269478"/>
                  <a:pt x="481886" y="281087"/>
                </a:cubicBezTo>
                <a:lnTo>
                  <a:pt x="499666" y="320973"/>
                </a:lnTo>
                <a:cubicBezTo>
                  <a:pt x="504587" y="332085"/>
                  <a:pt x="501729" y="345976"/>
                  <a:pt x="493157" y="352723"/>
                </a:cubicBezTo>
                <a:lnTo>
                  <a:pt x="489426" y="355600"/>
                </a:lnTo>
                <a:cubicBezTo>
                  <a:pt x="476567" y="365621"/>
                  <a:pt x="476567" y="395188"/>
                  <a:pt x="489426" y="405309"/>
                </a:cubicBezTo>
                <a:lnTo>
                  <a:pt x="493077" y="408186"/>
                </a:lnTo>
                <a:cubicBezTo>
                  <a:pt x="501650" y="414933"/>
                  <a:pt x="504587" y="428823"/>
                  <a:pt x="499666" y="439936"/>
                </a:cubicBezTo>
                <a:lnTo>
                  <a:pt x="481806" y="480020"/>
                </a:lnTo>
                <a:cubicBezTo>
                  <a:pt x="476647" y="491629"/>
                  <a:pt x="464820" y="495796"/>
                  <a:pt x="455613" y="489049"/>
                </a:cubicBezTo>
                <a:lnTo>
                  <a:pt x="451723" y="486172"/>
                </a:lnTo>
                <a:cubicBezTo>
                  <a:pt x="438706" y="476746"/>
                  <a:pt x="419576" y="490637"/>
                  <a:pt x="419576" y="509389"/>
                </a:cubicBezTo>
                <a:lnTo>
                  <a:pt x="419576" y="515441"/>
                </a:lnTo>
                <a:cubicBezTo>
                  <a:pt x="419576" y="528638"/>
                  <a:pt x="411083" y="539254"/>
                  <a:pt x="400526" y="539254"/>
                </a:cubicBezTo>
                <a:lnTo>
                  <a:pt x="362426" y="539254"/>
                </a:lnTo>
                <a:cubicBezTo>
                  <a:pt x="351869" y="539254"/>
                  <a:pt x="343376" y="528638"/>
                  <a:pt x="343376" y="515441"/>
                </a:cubicBezTo>
                <a:lnTo>
                  <a:pt x="343376" y="509588"/>
                </a:lnTo>
                <a:cubicBezTo>
                  <a:pt x="343376" y="490736"/>
                  <a:pt x="324168" y="476845"/>
                  <a:pt x="311071" y="486271"/>
                </a:cubicBezTo>
                <a:lnTo>
                  <a:pt x="307261" y="489049"/>
                </a:lnTo>
                <a:cubicBezTo>
                  <a:pt x="298053" y="495697"/>
                  <a:pt x="286306" y="491629"/>
                  <a:pt x="281067" y="480020"/>
                </a:cubicBezTo>
                <a:lnTo>
                  <a:pt x="263128" y="439936"/>
                </a:lnTo>
                <a:cubicBezTo>
                  <a:pt x="258207" y="428823"/>
                  <a:pt x="261064" y="414834"/>
                  <a:pt x="269716" y="408087"/>
                </a:cubicBezTo>
                <a:lnTo>
                  <a:pt x="273209" y="405408"/>
                </a:lnTo>
                <a:cubicBezTo>
                  <a:pt x="286147" y="395387"/>
                  <a:pt x="286147" y="365621"/>
                  <a:pt x="273209" y="355600"/>
                </a:cubicBezTo>
                <a:lnTo>
                  <a:pt x="269637" y="352822"/>
                </a:lnTo>
                <a:cubicBezTo>
                  <a:pt x="260985" y="346075"/>
                  <a:pt x="258128" y="332085"/>
                  <a:pt x="263049" y="320973"/>
                </a:cubicBezTo>
                <a:lnTo>
                  <a:pt x="280908" y="280988"/>
                </a:lnTo>
                <a:cubicBezTo>
                  <a:pt x="286068" y="269379"/>
                  <a:pt x="297894" y="265311"/>
                  <a:pt x="307023" y="271959"/>
                </a:cubicBezTo>
                <a:lnTo>
                  <a:pt x="310832" y="274737"/>
                </a:lnTo>
                <a:cubicBezTo>
                  <a:pt x="323929" y="284163"/>
                  <a:pt x="343138" y="270272"/>
                  <a:pt x="343138" y="251420"/>
                </a:cubicBezTo>
                <a:lnTo>
                  <a:pt x="343138" y="245566"/>
                </a:lnTo>
                <a:close/>
                <a:moveTo>
                  <a:pt x="422672" y="380802"/>
                </a:moveTo>
                <a:cubicBezTo>
                  <a:pt x="422672" y="352326"/>
                  <a:pt x="404177" y="329208"/>
                  <a:pt x="381397" y="329208"/>
                </a:cubicBezTo>
                <a:cubicBezTo>
                  <a:pt x="358617" y="329208"/>
                  <a:pt x="340122" y="352326"/>
                  <a:pt x="340122" y="380802"/>
                </a:cubicBezTo>
                <a:cubicBezTo>
                  <a:pt x="340122" y="409277"/>
                  <a:pt x="358617" y="432395"/>
                  <a:pt x="381397" y="432395"/>
                </a:cubicBezTo>
                <a:cubicBezTo>
                  <a:pt x="404177" y="432395"/>
                  <a:pt x="422672" y="409277"/>
                  <a:pt x="422672" y="38080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938000" y="2794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Personalization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28500" y="32385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Individual experiences for millions of users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70000" y="4699000"/>
            <a:ext cx="13716000" cy="3048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78000" y="4953000"/>
            <a:ext cx="1270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Continuous Improvement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Models improve over time as exposed to more data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Solving Unsolvable Problems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Speech recognition, image understanding become tractable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Competitive Advantage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Organizations report 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2-5x improvement</a:t>
            </a:r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key metrics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06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Problems Machine Learning Can Solve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604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Predicting discrete categories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Spam vs. Not Spam | Disease vs. Healthy | Churn or Stay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</a:t>
            </a:r>
            <a:pPr algn="l">
              <a:lnSpc>
                <a:spcPct val="160000"/>
              </a:lnSpc>
              <a:spcBef>
                <a:spcPts val="1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Predicting continuous values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House prices | Stock prices | Temperature forecasting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</a:t>
            </a:r>
            <a:pPr algn="l">
              <a:lnSpc>
                <a:spcPct val="160000"/>
              </a:lnSpc>
              <a:spcBef>
                <a:spcPts val="1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Grouping similar data points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segmentation | Document organization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800"/>
              </a:spcBef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Detection</a:t>
            </a:r>
            <a:pPr algn="l">
              <a:lnSpc>
                <a:spcPct val="160000"/>
              </a:lnSpc>
              <a:spcBef>
                <a:spcPts val="1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Identifying unusual patterns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Fraud detection | Network intrusion | Equipment failure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2000" y="1905000"/>
            <a:ext cx="6604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Dimensionality Reduction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Reducing variables while preserving information — feature extraction, data visualization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800"/>
              </a:spcBef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Modeling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series forecasting | NLP | DNA sequence analysis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800"/>
              </a:spcBef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Suggesting movies, products, content, connections to users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800"/>
              </a:spcBef>
            </a:pPr>
            <a:r>
              <a:rPr lang="en-US" sz="20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Making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playing | Robot control | Resource allocation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7493000"/>
            <a:ext cx="13716000" cy="635000"/>
          </a:xfrm>
          <a:prstGeom prst="roundRect">
            <a:avLst>
              <a:gd name="adj" fmla="val 10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78000" y="7493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principle: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a problem involves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patterns in data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that are too complex for explicit rules, ML can likely help.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Machine Learning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Supervised, Unsupervised, Semi-Supervised &amp; Reinforcement Learning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366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1440" y="85725"/>
                </a:moveTo>
                <a:cubicBezTo>
                  <a:pt x="91440" y="54203"/>
                  <a:pt x="111943" y="28575"/>
                  <a:pt x="137160" y="28575"/>
                </a:cubicBezTo>
                <a:lnTo>
                  <a:pt x="388620" y="28575"/>
                </a:lnTo>
                <a:cubicBezTo>
                  <a:pt x="413837" y="28575"/>
                  <a:pt x="434340" y="54203"/>
                  <a:pt x="434340" y="85725"/>
                </a:cubicBezTo>
                <a:lnTo>
                  <a:pt x="434340" y="300038"/>
                </a:lnTo>
                <a:lnTo>
                  <a:pt x="365760" y="300038"/>
                </a:lnTo>
                <a:lnTo>
                  <a:pt x="365760" y="285750"/>
                </a:lnTo>
                <a:cubicBezTo>
                  <a:pt x="365760" y="269944"/>
                  <a:pt x="355544" y="257175"/>
                  <a:pt x="342900" y="257175"/>
                </a:cubicBezTo>
                <a:lnTo>
                  <a:pt x="297180" y="257175"/>
                </a:lnTo>
                <a:cubicBezTo>
                  <a:pt x="284536" y="257175"/>
                  <a:pt x="274320" y="269944"/>
                  <a:pt x="274320" y="285750"/>
                </a:cubicBezTo>
                <a:lnTo>
                  <a:pt x="274320" y="300038"/>
                </a:lnTo>
                <a:lnTo>
                  <a:pt x="182094" y="300038"/>
                </a:lnTo>
                <a:cubicBezTo>
                  <a:pt x="189881" y="283250"/>
                  <a:pt x="194310" y="263694"/>
                  <a:pt x="194310" y="242888"/>
                </a:cubicBezTo>
                <a:cubicBezTo>
                  <a:pt x="194310" y="179755"/>
                  <a:pt x="153376" y="128588"/>
                  <a:pt x="102870" y="128588"/>
                </a:cubicBezTo>
                <a:cubicBezTo>
                  <a:pt x="99012" y="128588"/>
                  <a:pt x="95155" y="128855"/>
                  <a:pt x="91440" y="129480"/>
                </a:cubicBezTo>
                <a:lnTo>
                  <a:pt x="91440" y="85725"/>
                </a:lnTo>
                <a:close/>
                <a:moveTo>
                  <a:pt x="237887" y="400050"/>
                </a:moveTo>
                <a:cubicBezTo>
                  <a:pt x="234244" y="378440"/>
                  <a:pt x="226243" y="358884"/>
                  <a:pt x="214955" y="342900"/>
                </a:cubicBezTo>
                <a:lnTo>
                  <a:pt x="434340" y="342900"/>
                </a:lnTo>
                <a:cubicBezTo>
                  <a:pt x="434340" y="374422"/>
                  <a:pt x="413837" y="400050"/>
                  <a:pt x="388620" y="400050"/>
                </a:cubicBezTo>
                <a:lnTo>
                  <a:pt x="237887" y="400050"/>
                </a:lnTo>
                <a:close/>
                <a:moveTo>
                  <a:pt x="45720" y="242888"/>
                </a:moveTo>
                <a:cubicBezTo>
                  <a:pt x="45720" y="203460"/>
                  <a:pt x="71328" y="171450"/>
                  <a:pt x="102870" y="171450"/>
                </a:cubicBezTo>
                <a:cubicBezTo>
                  <a:pt x="134412" y="171450"/>
                  <a:pt x="160020" y="203460"/>
                  <a:pt x="160020" y="242888"/>
                </a:cubicBezTo>
                <a:cubicBezTo>
                  <a:pt x="160020" y="282315"/>
                  <a:pt x="134412" y="314325"/>
                  <a:pt x="102870" y="314325"/>
                </a:cubicBezTo>
                <a:cubicBezTo>
                  <a:pt x="71328" y="314325"/>
                  <a:pt x="45720" y="282315"/>
                  <a:pt x="45720" y="242888"/>
                </a:cubicBezTo>
                <a:close/>
                <a:moveTo>
                  <a:pt x="0" y="428625"/>
                </a:moveTo>
                <a:cubicBezTo>
                  <a:pt x="0" y="381298"/>
                  <a:pt x="30718" y="342900"/>
                  <a:pt x="68580" y="342900"/>
                </a:cubicBezTo>
                <a:lnTo>
                  <a:pt x="137160" y="342900"/>
                </a:lnTo>
                <a:cubicBezTo>
                  <a:pt x="175022" y="342900"/>
                  <a:pt x="205740" y="381298"/>
                  <a:pt x="205740" y="428625"/>
                </a:cubicBezTo>
                <a:cubicBezTo>
                  <a:pt x="205740" y="444431"/>
                  <a:pt x="195524" y="457200"/>
                  <a:pt x="182880" y="457200"/>
                </a:cubicBezTo>
                <a:lnTo>
                  <a:pt x="22860" y="457200"/>
                </a:lnTo>
                <a:cubicBezTo>
                  <a:pt x="10216" y="457200"/>
                  <a:pt x="0" y="444431"/>
                  <a:pt x="0" y="42862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673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from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labeled training data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where each example has input features and a correct output (label).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i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"Like a student learning with an answer key."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017000" y="1905000"/>
            <a:ext cx="5969000" cy="2540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98000" y="2159000"/>
            <a:ext cx="520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98000" y="2794000"/>
            <a:ext cx="520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Requires labeled input-output pairs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Two types: Classification &amp; Regression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Goal: Predict labels for new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70000" y="4826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Popular Algorithms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70000" y="5461000"/>
            <a:ext cx="2413000" cy="63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70000" y="54610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37000" y="5461000"/>
            <a:ext cx="2413000" cy="63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7000" y="54610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 Trees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04000" y="5461000"/>
            <a:ext cx="2413000" cy="63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4000" y="54610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71000" y="5461000"/>
            <a:ext cx="2413000" cy="635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1000" y="54610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938000" y="5461000"/>
            <a:ext cx="2413000" cy="635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11938000" y="54610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Neural Networks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70000" y="6604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F7F50">
              <a:alpha val="6275"/>
            </a:srgbClr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51000" y="692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85725"/>
                </a:lnTo>
                <a:cubicBezTo>
                  <a:pt x="457200" y="54203"/>
                  <a:pt x="427911" y="28575"/>
                  <a:pt x="391886" y="28575"/>
                </a:cubicBezTo>
                <a:lnTo>
                  <a:pt x="65314" y="28575"/>
                </a:lnTo>
                <a:close/>
                <a:moveTo>
                  <a:pt x="130629" y="100013"/>
                </a:moveTo>
                <a:cubicBezTo>
                  <a:pt x="157665" y="100013"/>
                  <a:pt x="179614" y="119219"/>
                  <a:pt x="179614" y="142875"/>
                </a:cubicBezTo>
                <a:cubicBezTo>
                  <a:pt x="179614" y="166531"/>
                  <a:pt x="157665" y="185738"/>
                  <a:pt x="130629" y="185738"/>
                </a:cubicBezTo>
                <a:cubicBezTo>
                  <a:pt x="103593" y="185738"/>
                  <a:pt x="81643" y="166531"/>
                  <a:pt x="81643" y="142875"/>
                </a:cubicBezTo>
                <a:cubicBezTo>
                  <a:pt x="81643" y="119219"/>
                  <a:pt x="103593" y="100013"/>
                  <a:pt x="130629" y="100013"/>
                </a:cubicBezTo>
                <a:close/>
                <a:moveTo>
                  <a:pt x="277586" y="200025"/>
                </a:moveTo>
                <a:cubicBezTo>
                  <a:pt x="286158" y="200025"/>
                  <a:pt x="294016" y="203954"/>
                  <a:pt x="298507" y="210294"/>
                </a:cubicBezTo>
                <a:lnTo>
                  <a:pt x="388314" y="338882"/>
                </a:lnTo>
                <a:cubicBezTo>
                  <a:pt x="392906" y="345490"/>
                  <a:pt x="393110" y="353794"/>
                  <a:pt x="388824" y="360581"/>
                </a:cubicBezTo>
                <a:cubicBezTo>
                  <a:pt x="384538" y="367367"/>
                  <a:pt x="376272" y="371475"/>
                  <a:pt x="367393" y="371475"/>
                </a:cubicBezTo>
                <a:lnTo>
                  <a:pt x="89807" y="371475"/>
                </a:lnTo>
                <a:cubicBezTo>
                  <a:pt x="80724" y="371475"/>
                  <a:pt x="72254" y="367010"/>
                  <a:pt x="68070" y="359956"/>
                </a:cubicBezTo>
                <a:cubicBezTo>
                  <a:pt x="63886" y="352901"/>
                  <a:pt x="64498" y="344329"/>
                  <a:pt x="69703" y="337810"/>
                </a:cubicBezTo>
                <a:lnTo>
                  <a:pt x="126853" y="266373"/>
                </a:lnTo>
                <a:cubicBezTo>
                  <a:pt x="131445" y="260658"/>
                  <a:pt x="138895" y="257264"/>
                  <a:pt x="146957" y="257264"/>
                </a:cubicBezTo>
                <a:cubicBezTo>
                  <a:pt x="155019" y="257264"/>
                  <a:pt x="162469" y="260658"/>
                  <a:pt x="167062" y="266373"/>
                </a:cubicBezTo>
                <a:lnTo>
                  <a:pt x="194004" y="300127"/>
                </a:lnTo>
                <a:lnTo>
                  <a:pt x="256665" y="210383"/>
                </a:lnTo>
                <a:cubicBezTo>
                  <a:pt x="261155" y="204043"/>
                  <a:pt x="269013" y="200114"/>
                  <a:pt x="277586" y="20011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6731000"/>
            <a:ext cx="1244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Training a model on thousands of labeled cat and dog images to classify new pet photos.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Metrics: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Accuracy, Precision, Recall, F1-Score, MSE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vs. Regression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5651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8453" y="34915"/>
                </a:moveTo>
                <a:lnTo>
                  <a:pt x="436086" y="169128"/>
                </a:lnTo>
                <a:cubicBezTo>
                  <a:pt x="458073" y="194221"/>
                  <a:pt x="458073" y="234404"/>
                  <a:pt x="436086" y="259497"/>
                </a:cubicBezTo>
                <a:lnTo>
                  <a:pt x="311944" y="400854"/>
                </a:lnTo>
                <a:cubicBezTo>
                  <a:pt x="304562" y="409248"/>
                  <a:pt x="292497" y="409337"/>
                  <a:pt x="285036" y="401032"/>
                </a:cubicBezTo>
                <a:cubicBezTo>
                  <a:pt x="277574" y="392728"/>
                  <a:pt x="277495" y="379155"/>
                  <a:pt x="284877" y="370761"/>
                </a:cubicBezTo>
                <a:lnTo>
                  <a:pt x="409019" y="229314"/>
                </a:lnTo>
                <a:cubicBezTo>
                  <a:pt x="416322" y="221010"/>
                  <a:pt x="416322" y="207526"/>
                  <a:pt x="409019" y="199221"/>
                </a:cubicBezTo>
                <a:lnTo>
                  <a:pt x="291306" y="65097"/>
                </a:lnTo>
                <a:cubicBezTo>
                  <a:pt x="283924" y="56704"/>
                  <a:pt x="284004" y="43130"/>
                  <a:pt x="291465" y="34826"/>
                </a:cubicBezTo>
                <a:cubicBezTo>
                  <a:pt x="298926" y="26521"/>
                  <a:pt x="310991" y="26610"/>
                  <a:pt x="318373" y="35004"/>
                </a:cubicBezTo>
                <a:close/>
                <a:moveTo>
                  <a:pt x="25479" y="204936"/>
                </a:moveTo>
                <a:lnTo>
                  <a:pt x="25479" y="85725"/>
                </a:lnTo>
                <a:cubicBezTo>
                  <a:pt x="25479" y="54203"/>
                  <a:pt x="48260" y="28575"/>
                  <a:pt x="76279" y="28575"/>
                </a:cubicBezTo>
                <a:lnTo>
                  <a:pt x="182245" y="28575"/>
                </a:lnTo>
                <a:cubicBezTo>
                  <a:pt x="195739" y="28575"/>
                  <a:pt x="208677" y="34558"/>
                  <a:pt x="218202" y="45274"/>
                </a:cubicBezTo>
                <a:lnTo>
                  <a:pt x="332502" y="173861"/>
                </a:lnTo>
                <a:cubicBezTo>
                  <a:pt x="352346" y="196185"/>
                  <a:pt x="352346" y="232350"/>
                  <a:pt x="332502" y="254675"/>
                </a:cubicBezTo>
                <a:lnTo>
                  <a:pt x="226536" y="373886"/>
                </a:lnTo>
                <a:cubicBezTo>
                  <a:pt x="206692" y="396210"/>
                  <a:pt x="174546" y="396210"/>
                  <a:pt x="154702" y="373886"/>
                </a:cubicBezTo>
                <a:lnTo>
                  <a:pt x="40402" y="245299"/>
                </a:lnTo>
                <a:cubicBezTo>
                  <a:pt x="30877" y="234583"/>
                  <a:pt x="25559" y="220027"/>
                  <a:pt x="25559" y="204847"/>
                </a:cubicBezTo>
                <a:close/>
                <a:moveTo>
                  <a:pt x="139779" y="128588"/>
                </a:moveTo>
                <a:cubicBezTo>
                  <a:pt x="139779" y="112817"/>
                  <a:pt x="128398" y="100013"/>
                  <a:pt x="114379" y="100013"/>
                </a:cubicBezTo>
                <a:cubicBezTo>
                  <a:pt x="100361" y="100013"/>
                  <a:pt x="88979" y="112817"/>
                  <a:pt x="88979" y="128588"/>
                </a:cubicBezTo>
                <a:cubicBezTo>
                  <a:pt x="88979" y="144358"/>
                  <a:pt x="100361" y="157163"/>
                  <a:pt x="114379" y="157163"/>
                </a:cubicBezTo>
                <a:cubicBezTo>
                  <a:pt x="128398" y="157163"/>
                  <a:pt x="139779" y="144358"/>
                  <a:pt x="139779" y="128588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222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Classification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84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Predicts discrete class labels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51000" y="3365500"/>
            <a:ext cx="5842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Binary Classification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Email: Spam / Not Spam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Tumor: Malignant / Benign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Multi-class Classification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Handwritten digits (0-9)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Animal species classification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Multi-label Classification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Photo tagged: "beach" + "sunset"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55000" y="1905000"/>
            <a:ext cx="6731000" cy="5461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36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271000" y="2222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Regression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36000" y="27940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Predicts continuous numerical values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36000" y="3365500"/>
            <a:ext cx="5969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Simple Linear Regression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House price from square footage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Linear Regression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Price from size, location, bedrooms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Polynomial Regression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Non-linear relationships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Growth curves, temperature trends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0000" y="7620000"/>
            <a:ext cx="13716000" cy="635000"/>
          </a:xfrm>
          <a:prstGeom prst="roundRect">
            <a:avLst>
              <a:gd name="adj" fmla="val 10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78000" y="7620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difference: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Classification output is a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category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Regression output is a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number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7366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025" y="0"/>
                </a:moveTo>
                <a:cubicBezTo>
                  <a:pt x="231547" y="0"/>
                  <a:pt x="257175" y="19199"/>
                  <a:pt x="257175" y="42863"/>
                </a:cubicBezTo>
                <a:cubicBezTo>
                  <a:pt x="257175" y="52149"/>
                  <a:pt x="253246" y="60722"/>
                  <a:pt x="246459" y="67776"/>
                </a:cubicBezTo>
                <a:cubicBezTo>
                  <a:pt x="240566" y="73938"/>
                  <a:pt x="235744" y="81439"/>
                  <a:pt x="235744" y="90011"/>
                </a:cubicBezTo>
                <a:cubicBezTo>
                  <a:pt x="235744" y="103406"/>
                  <a:pt x="246638" y="114300"/>
                  <a:pt x="260033" y="114300"/>
                </a:cubicBezTo>
                <a:lnTo>
                  <a:pt x="300038" y="114300"/>
                </a:lnTo>
                <a:cubicBezTo>
                  <a:pt x="323701" y="114300"/>
                  <a:pt x="342900" y="133499"/>
                  <a:pt x="342900" y="157163"/>
                </a:cubicBezTo>
                <a:lnTo>
                  <a:pt x="342900" y="197168"/>
                </a:lnTo>
                <a:cubicBezTo>
                  <a:pt x="342900" y="210562"/>
                  <a:pt x="353794" y="221456"/>
                  <a:pt x="367189" y="221456"/>
                </a:cubicBezTo>
                <a:cubicBezTo>
                  <a:pt x="375672" y="221456"/>
                  <a:pt x="383262" y="216634"/>
                  <a:pt x="389424" y="210741"/>
                </a:cubicBezTo>
                <a:cubicBezTo>
                  <a:pt x="396478" y="204043"/>
                  <a:pt x="405051" y="200025"/>
                  <a:pt x="414337" y="200025"/>
                </a:cubicBezTo>
                <a:cubicBezTo>
                  <a:pt x="438001" y="200025"/>
                  <a:pt x="457200" y="225653"/>
                  <a:pt x="457200" y="257175"/>
                </a:cubicBezTo>
                <a:cubicBezTo>
                  <a:pt x="457200" y="288697"/>
                  <a:pt x="438001" y="314325"/>
                  <a:pt x="414337" y="314325"/>
                </a:cubicBezTo>
                <a:cubicBezTo>
                  <a:pt x="405051" y="314325"/>
                  <a:pt x="396389" y="310396"/>
                  <a:pt x="389424" y="303609"/>
                </a:cubicBezTo>
                <a:cubicBezTo>
                  <a:pt x="383262" y="297716"/>
                  <a:pt x="375761" y="292894"/>
                  <a:pt x="367189" y="292894"/>
                </a:cubicBezTo>
                <a:cubicBezTo>
                  <a:pt x="353794" y="292894"/>
                  <a:pt x="342900" y="303788"/>
                  <a:pt x="342900" y="317183"/>
                </a:cubicBezTo>
                <a:lnTo>
                  <a:pt x="342900" y="414338"/>
                </a:lnTo>
                <a:cubicBezTo>
                  <a:pt x="342900" y="438001"/>
                  <a:pt x="323701" y="457200"/>
                  <a:pt x="300038" y="457200"/>
                </a:cubicBezTo>
                <a:lnTo>
                  <a:pt x="249317" y="457200"/>
                </a:lnTo>
                <a:cubicBezTo>
                  <a:pt x="237887" y="457200"/>
                  <a:pt x="228600" y="447913"/>
                  <a:pt x="228600" y="436483"/>
                </a:cubicBezTo>
                <a:cubicBezTo>
                  <a:pt x="228600" y="428268"/>
                  <a:pt x="233779" y="421035"/>
                  <a:pt x="240387" y="416123"/>
                </a:cubicBezTo>
                <a:cubicBezTo>
                  <a:pt x="250746" y="408355"/>
                  <a:pt x="257175" y="397639"/>
                  <a:pt x="257175" y="385763"/>
                </a:cubicBezTo>
                <a:cubicBezTo>
                  <a:pt x="257175" y="362099"/>
                  <a:pt x="231547" y="342900"/>
                  <a:pt x="200025" y="342900"/>
                </a:cubicBezTo>
                <a:cubicBezTo>
                  <a:pt x="168503" y="342900"/>
                  <a:pt x="142875" y="362099"/>
                  <a:pt x="142875" y="385763"/>
                </a:cubicBezTo>
                <a:cubicBezTo>
                  <a:pt x="142875" y="397639"/>
                  <a:pt x="149304" y="408355"/>
                  <a:pt x="159663" y="416123"/>
                </a:cubicBezTo>
                <a:cubicBezTo>
                  <a:pt x="166271" y="421035"/>
                  <a:pt x="171450" y="428179"/>
                  <a:pt x="171450" y="436483"/>
                </a:cubicBezTo>
                <a:cubicBezTo>
                  <a:pt x="171450" y="447913"/>
                  <a:pt x="162163" y="457200"/>
                  <a:pt x="150733" y="457200"/>
                </a:cubicBezTo>
                <a:lnTo>
                  <a:pt x="42863" y="457200"/>
                </a:lnTo>
                <a:cubicBezTo>
                  <a:pt x="19199" y="457200"/>
                  <a:pt x="0" y="438001"/>
                  <a:pt x="0" y="414338"/>
                </a:cubicBezTo>
                <a:lnTo>
                  <a:pt x="0" y="306467"/>
                </a:lnTo>
                <a:cubicBezTo>
                  <a:pt x="0" y="295037"/>
                  <a:pt x="9287" y="285750"/>
                  <a:pt x="20717" y="285750"/>
                </a:cubicBezTo>
                <a:cubicBezTo>
                  <a:pt x="28932" y="285750"/>
                  <a:pt x="36165" y="290929"/>
                  <a:pt x="41077" y="297537"/>
                </a:cubicBezTo>
                <a:cubicBezTo>
                  <a:pt x="48845" y="307896"/>
                  <a:pt x="59561" y="314325"/>
                  <a:pt x="71438" y="314325"/>
                </a:cubicBezTo>
                <a:cubicBezTo>
                  <a:pt x="95101" y="314325"/>
                  <a:pt x="114300" y="288697"/>
                  <a:pt x="114300" y="257175"/>
                </a:cubicBezTo>
                <a:cubicBezTo>
                  <a:pt x="114300" y="225653"/>
                  <a:pt x="95101" y="200025"/>
                  <a:pt x="71438" y="200025"/>
                </a:cubicBezTo>
                <a:cubicBezTo>
                  <a:pt x="59561" y="200025"/>
                  <a:pt x="48845" y="206454"/>
                  <a:pt x="41077" y="216813"/>
                </a:cubicBezTo>
                <a:cubicBezTo>
                  <a:pt x="36165" y="223421"/>
                  <a:pt x="29021" y="228600"/>
                  <a:pt x="20717" y="228600"/>
                </a:cubicBezTo>
                <a:cubicBezTo>
                  <a:pt x="9287" y="228600"/>
                  <a:pt x="0" y="219313"/>
                  <a:pt x="0" y="207883"/>
                </a:cubicBezTo>
                <a:lnTo>
                  <a:pt x="0" y="157163"/>
                </a:lnTo>
                <a:cubicBezTo>
                  <a:pt x="0" y="133499"/>
                  <a:pt x="19199" y="114300"/>
                  <a:pt x="42863" y="114300"/>
                </a:cubicBezTo>
                <a:lnTo>
                  <a:pt x="140018" y="114300"/>
                </a:lnTo>
                <a:cubicBezTo>
                  <a:pt x="153412" y="114300"/>
                  <a:pt x="164306" y="103406"/>
                  <a:pt x="164306" y="90011"/>
                </a:cubicBezTo>
                <a:cubicBezTo>
                  <a:pt x="164306" y="81528"/>
                  <a:pt x="159484" y="73938"/>
                  <a:pt x="153591" y="67776"/>
                </a:cubicBezTo>
                <a:cubicBezTo>
                  <a:pt x="146893" y="60722"/>
                  <a:pt x="142875" y="52149"/>
                  <a:pt x="142875" y="42863"/>
                </a:cubicBezTo>
                <a:cubicBezTo>
                  <a:pt x="142875" y="19199"/>
                  <a:pt x="168503" y="0"/>
                  <a:pt x="200025" y="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596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673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from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unlabeled data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discover hidden patterns without predefined answers. </a:t>
            </a:r>
            <a:pPr algn="l">
              <a:lnSpc>
                <a:spcPct val="160000"/>
              </a:lnSpc>
            </a:pPr>
            <a:r>
              <a:rPr lang="en-US" sz="2000" i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"Like a child sorting toys."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017000" y="1905000"/>
            <a:ext cx="5969000" cy="2540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98000" y="2159000"/>
            <a:ext cx="520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98000" y="2794000"/>
            <a:ext cx="520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Works with unlabeled data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Discovers natural groupings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Evaluation is more challenging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70000" y="4826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 Types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70000" y="5461000"/>
            <a:ext cx="3175000" cy="14605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40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756" y="82927"/>
                </a:moveTo>
                <a:cubicBezTo>
                  <a:pt x="7964" y="75287"/>
                  <a:pt x="0" y="60910"/>
                  <a:pt x="0" y="44450"/>
                </a:cubicBezTo>
                <a:cubicBezTo>
                  <a:pt x="0" y="19933"/>
                  <a:pt x="17718" y="0"/>
                  <a:pt x="39511" y="0"/>
                </a:cubicBezTo>
                <a:cubicBezTo>
                  <a:pt x="54143" y="0"/>
                  <a:pt x="66922" y="8959"/>
                  <a:pt x="73713" y="22225"/>
                </a:cubicBezTo>
                <a:lnTo>
                  <a:pt x="281825" y="22225"/>
                </a:lnTo>
                <a:cubicBezTo>
                  <a:pt x="288678" y="8959"/>
                  <a:pt x="301396" y="0"/>
                  <a:pt x="316027" y="0"/>
                </a:cubicBezTo>
                <a:cubicBezTo>
                  <a:pt x="337820" y="0"/>
                  <a:pt x="355538" y="19933"/>
                  <a:pt x="355538" y="44450"/>
                </a:cubicBezTo>
                <a:cubicBezTo>
                  <a:pt x="355538" y="60910"/>
                  <a:pt x="347574" y="75287"/>
                  <a:pt x="335783" y="82927"/>
                </a:cubicBezTo>
                <a:lnTo>
                  <a:pt x="335783" y="272604"/>
                </a:lnTo>
                <a:cubicBezTo>
                  <a:pt x="347574" y="280313"/>
                  <a:pt x="355538" y="294620"/>
                  <a:pt x="355538" y="311081"/>
                </a:cubicBezTo>
                <a:cubicBezTo>
                  <a:pt x="355538" y="335598"/>
                  <a:pt x="337820" y="355531"/>
                  <a:pt x="316027" y="355531"/>
                </a:cubicBezTo>
                <a:cubicBezTo>
                  <a:pt x="301396" y="355531"/>
                  <a:pt x="288616" y="346571"/>
                  <a:pt x="281825" y="333306"/>
                </a:cubicBezTo>
                <a:lnTo>
                  <a:pt x="73713" y="333306"/>
                </a:lnTo>
                <a:cubicBezTo>
                  <a:pt x="66860" y="346571"/>
                  <a:pt x="54143" y="355531"/>
                  <a:pt x="39511" y="355531"/>
                </a:cubicBezTo>
                <a:cubicBezTo>
                  <a:pt x="17718" y="355531"/>
                  <a:pt x="0" y="335598"/>
                  <a:pt x="0" y="311081"/>
                </a:cubicBezTo>
                <a:cubicBezTo>
                  <a:pt x="0" y="294620"/>
                  <a:pt x="7964" y="280243"/>
                  <a:pt x="19756" y="272604"/>
                </a:cubicBezTo>
                <a:lnTo>
                  <a:pt x="19756" y="82927"/>
                </a:lnTo>
                <a:close/>
                <a:moveTo>
                  <a:pt x="296333" y="82927"/>
                </a:moveTo>
                <a:cubicBezTo>
                  <a:pt x="290345" y="79038"/>
                  <a:pt x="285344" y="73412"/>
                  <a:pt x="281887" y="66675"/>
                </a:cubicBezTo>
                <a:lnTo>
                  <a:pt x="73713" y="66675"/>
                </a:lnTo>
                <a:cubicBezTo>
                  <a:pt x="70256" y="73412"/>
                  <a:pt x="65255" y="79038"/>
                  <a:pt x="59267" y="82927"/>
                </a:cubicBezTo>
                <a:lnTo>
                  <a:pt x="59267" y="272604"/>
                </a:lnTo>
                <a:cubicBezTo>
                  <a:pt x="65255" y="276493"/>
                  <a:pt x="70256" y="282119"/>
                  <a:pt x="73713" y="288856"/>
                </a:cubicBezTo>
                <a:lnTo>
                  <a:pt x="281825" y="288856"/>
                </a:lnTo>
                <a:cubicBezTo>
                  <a:pt x="285283" y="282119"/>
                  <a:pt x="290283" y="276493"/>
                  <a:pt x="296272" y="272604"/>
                </a:cubicBezTo>
                <a:lnTo>
                  <a:pt x="296272" y="82927"/>
                </a:lnTo>
                <a:close/>
                <a:moveTo>
                  <a:pt x="88900" y="122238"/>
                </a:moveTo>
                <a:cubicBezTo>
                  <a:pt x="88900" y="109944"/>
                  <a:pt x="97728" y="100013"/>
                  <a:pt x="108656" y="100013"/>
                </a:cubicBezTo>
                <a:lnTo>
                  <a:pt x="177800" y="100013"/>
                </a:lnTo>
                <a:cubicBezTo>
                  <a:pt x="188727" y="100013"/>
                  <a:pt x="197556" y="109944"/>
                  <a:pt x="197556" y="122238"/>
                </a:cubicBezTo>
                <a:lnTo>
                  <a:pt x="197556" y="166688"/>
                </a:lnTo>
                <a:cubicBezTo>
                  <a:pt x="197556" y="178981"/>
                  <a:pt x="188727" y="188913"/>
                  <a:pt x="177800" y="188913"/>
                </a:cubicBezTo>
                <a:lnTo>
                  <a:pt x="108656" y="188913"/>
                </a:lnTo>
                <a:cubicBezTo>
                  <a:pt x="97728" y="188913"/>
                  <a:pt x="88900" y="178981"/>
                  <a:pt x="88900" y="166688"/>
                </a:cubicBezTo>
                <a:lnTo>
                  <a:pt x="88900" y="122238"/>
                </a:lnTo>
                <a:close/>
                <a:moveTo>
                  <a:pt x="158044" y="222250"/>
                </a:moveTo>
                <a:lnTo>
                  <a:pt x="177800" y="222250"/>
                </a:lnTo>
                <a:cubicBezTo>
                  <a:pt x="205087" y="222250"/>
                  <a:pt x="227189" y="197386"/>
                  <a:pt x="227189" y="166688"/>
                </a:cubicBezTo>
                <a:lnTo>
                  <a:pt x="246944" y="166688"/>
                </a:lnTo>
                <a:cubicBezTo>
                  <a:pt x="257872" y="166688"/>
                  <a:pt x="266700" y="176619"/>
                  <a:pt x="266700" y="188913"/>
                </a:cubicBezTo>
                <a:lnTo>
                  <a:pt x="266700" y="233363"/>
                </a:lnTo>
                <a:cubicBezTo>
                  <a:pt x="266700" y="245656"/>
                  <a:pt x="257872" y="255587"/>
                  <a:pt x="246944" y="255587"/>
                </a:cubicBezTo>
                <a:lnTo>
                  <a:pt x="177800" y="255587"/>
                </a:lnTo>
                <a:cubicBezTo>
                  <a:pt x="166873" y="255587"/>
                  <a:pt x="158044" y="245656"/>
                  <a:pt x="158044" y="233363"/>
                </a:cubicBezTo>
                <a:lnTo>
                  <a:pt x="158044" y="2222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032000" y="5651500"/>
            <a:ext cx="2159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Grouping similar data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62500" y="5461000"/>
            <a:ext cx="3175000" cy="127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165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7000" y="44450"/>
                </a:moveTo>
                <a:cubicBezTo>
                  <a:pt x="127000" y="32157"/>
                  <a:pt x="115649" y="22225"/>
                  <a:pt x="101600" y="22225"/>
                </a:cubicBezTo>
                <a:cubicBezTo>
                  <a:pt x="87551" y="22225"/>
                  <a:pt x="76200" y="32157"/>
                  <a:pt x="76200" y="44450"/>
                </a:cubicBezTo>
                <a:lnTo>
                  <a:pt x="76200" y="88900"/>
                </a:lnTo>
                <a:lnTo>
                  <a:pt x="25400" y="88900"/>
                </a:lnTo>
                <a:cubicBezTo>
                  <a:pt x="11351" y="88900"/>
                  <a:pt x="0" y="98832"/>
                  <a:pt x="0" y="111125"/>
                </a:cubicBezTo>
                <a:cubicBezTo>
                  <a:pt x="0" y="123418"/>
                  <a:pt x="11351" y="133350"/>
                  <a:pt x="25400" y="133350"/>
                </a:cubicBezTo>
                <a:lnTo>
                  <a:pt x="101600" y="133350"/>
                </a:lnTo>
                <a:cubicBezTo>
                  <a:pt x="115649" y="133350"/>
                  <a:pt x="127000" y="123418"/>
                  <a:pt x="127000" y="111125"/>
                </a:cubicBezTo>
                <a:lnTo>
                  <a:pt x="127000" y="44450"/>
                </a:lnTo>
                <a:close/>
                <a:moveTo>
                  <a:pt x="25400" y="222250"/>
                </a:moveTo>
                <a:cubicBezTo>
                  <a:pt x="11351" y="222250"/>
                  <a:pt x="0" y="232182"/>
                  <a:pt x="0" y="244475"/>
                </a:cubicBezTo>
                <a:cubicBezTo>
                  <a:pt x="0" y="256768"/>
                  <a:pt x="11351" y="266700"/>
                  <a:pt x="25400" y="266700"/>
                </a:cubicBezTo>
                <a:lnTo>
                  <a:pt x="76200" y="266700"/>
                </a:lnTo>
                <a:lnTo>
                  <a:pt x="76200" y="311150"/>
                </a:lnTo>
                <a:cubicBezTo>
                  <a:pt x="76200" y="323443"/>
                  <a:pt x="87551" y="333375"/>
                  <a:pt x="101600" y="333375"/>
                </a:cubicBezTo>
                <a:cubicBezTo>
                  <a:pt x="115649" y="333375"/>
                  <a:pt x="127000" y="323443"/>
                  <a:pt x="127000" y="311150"/>
                </a:cubicBezTo>
                <a:lnTo>
                  <a:pt x="127000" y="244475"/>
                </a:lnTo>
                <a:cubicBezTo>
                  <a:pt x="127000" y="232182"/>
                  <a:pt x="115649" y="222250"/>
                  <a:pt x="101600" y="222250"/>
                </a:cubicBezTo>
                <a:lnTo>
                  <a:pt x="25400" y="222250"/>
                </a:lnTo>
                <a:close/>
                <a:moveTo>
                  <a:pt x="279400" y="44450"/>
                </a:moveTo>
                <a:cubicBezTo>
                  <a:pt x="279400" y="32157"/>
                  <a:pt x="268049" y="22225"/>
                  <a:pt x="254000" y="22225"/>
                </a:cubicBezTo>
                <a:cubicBezTo>
                  <a:pt x="239951" y="22225"/>
                  <a:pt x="228600" y="32157"/>
                  <a:pt x="228600" y="44450"/>
                </a:cubicBezTo>
                <a:lnTo>
                  <a:pt x="228600" y="111125"/>
                </a:lnTo>
                <a:cubicBezTo>
                  <a:pt x="228600" y="123418"/>
                  <a:pt x="239951" y="133350"/>
                  <a:pt x="254000" y="133350"/>
                </a:cubicBezTo>
                <a:lnTo>
                  <a:pt x="330200" y="133350"/>
                </a:lnTo>
                <a:cubicBezTo>
                  <a:pt x="344249" y="133350"/>
                  <a:pt x="355600" y="123418"/>
                  <a:pt x="355600" y="111125"/>
                </a:cubicBezTo>
                <a:cubicBezTo>
                  <a:pt x="355600" y="98832"/>
                  <a:pt x="344249" y="88900"/>
                  <a:pt x="330200" y="88900"/>
                </a:cubicBezTo>
                <a:lnTo>
                  <a:pt x="279400" y="88900"/>
                </a:lnTo>
                <a:lnTo>
                  <a:pt x="279400" y="44450"/>
                </a:lnTo>
                <a:close/>
                <a:moveTo>
                  <a:pt x="254000" y="222250"/>
                </a:moveTo>
                <a:cubicBezTo>
                  <a:pt x="239951" y="222250"/>
                  <a:pt x="228600" y="232182"/>
                  <a:pt x="228600" y="244475"/>
                </a:cubicBezTo>
                <a:lnTo>
                  <a:pt x="228600" y="311150"/>
                </a:lnTo>
                <a:cubicBezTo>
                  <a:pt x="228600" y="323443"/>
                  <a:pt x="239951" y="333375"/>
                  <a:pt x="254000" y="333375"/>
                </a:cubicBezTo>
                <a:cubicBezTo>
                  <a:pt x="268049" y="333375"/>
                  <a:pt x="279400" y="323443"/>
                  <a:pt x="279400" y="311150"/>
                </a:cubicBezTo>
                <a:lnTo>
                  <a:pt x="279400" y="266700"/>
                </a:lnTo>
                <a:lnTo>
                  <a:pt x="330200" y="266700"/>
                </a:lnTo>
                <a:cubicBezTo>
                  <a:pt x="344249" y="266700"/>
                  <a:pt x="355600" y="256768"/>
                  <a:pt x="355600" y="244475"/>
                </a:cubicBezTo>
                <a:cubicBezTo>
                  <a:pt x="355600" y="232182"/>
                  <a:pt x="344249" y="222250"/>
                  <a:pt x="330200" y="222250"/>
                </a:cubicBezTo>
                <a:lnTo>
                  <a:pt x="254000" y="2222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5524500" y="56515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Dim. Reduction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Reducing features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55000" y="5461000"/>
            <a:ext cx="3175000" cy="14605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90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8983" y="66675"/>
                </a:moveTo>
                <a:cubicBezTo>
                  <a:pt x="248735" y="66675"/>
                  <a:pt x="238795" y="69800"/>
                  <a:pt x="230090" y="75496"/>
                </a:cubicBezTo>
                <a:cubicBezTo>
                  <a:pt x="220336" y="64383"/>
                  <a:pt x="208977" y="55076"/>
                  <a:pt x="196444" y="48062"/>
                </a:cubicBezTo>
                <a:cubicBezTo>
                  <a:pt x="213854" y="31393"/>
                  <a:pt x="236017" y="22225"/>
                  <a:pt x="258983" y="22225"/>
                </a:cubicBezTo>
                <a:cubicBezTo>
                  <a:pt x="312323" y="22225"/>
                  <a:pt x="355600" y="70842"/>
                  <a:pt x="355600" y="130919"/>
                </a:cubicBezTo>
                <a:cubicBezTo>
                  <a:pt x="355600" y="159742"/>
                  <a:pt x="345414" y="187385"/>
                  <a:pt x="327325" y="207734"/>
                </a:cubicBezTo>
                <a:lnTo>
                  <a:pt x="283430" y="257115"/>
                </a:lnTo>
                <a:cubicBezTo>
                  <a:pt x="265342" y="277465"/>
                  <a:pt x="240771" y="288925"/>
                  <a:pt x="215150" y="288925"/>
                </a:cubicBezTo>
                <a:cubicBezTo>
                  <a:pt x="161810" y="288925"/>
                  <a:pt x="118533" y="240308"/>
                  <a:pt x="118533" y="180231"/>
                </a:cubicBezTo>
                <a:cubicBezTo>
                  <a:pt x="118533" y="179189"/>
                  <a:pt x="118533" y="178147"/>
                  <a:pt x="118595" y="177105"/>
                </a:cubicBezTo>
                <a:cubicBezTo>
                  <a:pt x="118904" y="164812"/>
                  <a:pt x="127979" y="155158"/>
                  <a:pt x="138906" y="155506"/>
                </a:cubicBezTo>
                <a:cubicBezTo>
                  <a:pt x="149834" y="155853"/>
                  <a:pt x="158415" y="166062"/>
                  <a:pt x="158106" y="178356"/>
                </a:cubicBezTo>
                <a:cubicBezTo>
                  <a:pt x="158106" y="178981"/>
                  <a:pt x="158106" y="179606"/>
                  <a:pt x="158106" y="180161"/>
                </a:cubicBezTo>
                <a:cubicBezTo>
                  <a:pt x="158106" y="215652"/>
                  <a:pt x="183665" y="244406"/>
                  <a:pt x="215212" y="244406"/>
                </a:cubicBezTo>
                <a:cubicBezTo>
                  <a:pt x="230337" y="244406"/>
                  <a:pt x="244845" y="237669"/>
                  <a:pt x="255588" y="225584"/>
                </a:cubicBezTo>
                <a:lnTo>
                  <a:pt x="299482" y="176203"/>
                </a:lnTo>
                <a:cubicBezTo>
                  <a:pt x="310162" y="164187"/>
                  <a:pt x="316212" y="147796"/>
                  <a:pt x="316212" y="130780"/>
                </a:cubicBezTo>
                <a:cubicBezTo>
                  <a:pt x="316212" y="95290"/>
                  <a:pt x="290654" y="66536"/>
                  <a:pt x="259106" y="66536"/>
                </a:cubicBezTo>
                <a:close/>
                <a:moveTo>
                  <a:pt x="169898" y="120362"/>
                </a:moveTo>
                <a:cubicBezTo>
                  <a:pt x="168725" y="119807"/>
                  <a:pt x="167552" y="119043"/>
                  <a:pt x="166502" y="118209"/>
                </a:cubicBezTo>
                <a:cubicBezTo>
                  <a:pt x="158724" y="113695"/>
                  <a:pt x="149834" y="111125"/>
                  <a:pt x="140511" y="111125"/>
                </a:cubicBezTo>
                <a:cubicBezTo>
                  <a:pt x="125386" y="111125"/>
                  <a:pt x="110878" y="117862"/>
                  <a:pt x="100136" y="129947"/>
                </a:cubicBezTo>
                <a:lnTo>
                  <a:pt x="56242" y="179328"/>
                </a:lnTo>
                <a:cubicBezTo>
                  <a:pt x="45561" y="191343"/>
                  <a:pt x="39511" y="207734"/>
                  <a:pt x="39511" y="224750"/>
                </a:cubicBezTo>
                <a:cubicBezTo>
                  <a:pt x="39511" y="260241"/>
                  <a:pt x="65070" y="288994"/>
                  <a:pt x="96617" y="288994"/>
                </a:cubicBezTo>
                <a:cubicBezTo>
                  <a:pt x="106803" y="288994"/>
                  <a:pt x="116743" y="285939"/>
                  <a:pt x="125448" y="280243"/>
                </a:cubicBezTo>
                <a:cubicBezTo>
                  <a:pt x="135202" y="291356"/>
                  <a:pt x="146562" y="300663"/>
                  <a:pt x="159156" y="307677"/>
                </a:cubicBezTo>
                <a:cubicBezTo>
                  <a:pt x="141746" y="324277"/>
                  <a:pt x="119645" y="333514"/>
                  <a:pt x="96617" y="333514"/>
                </a:cubicBezTo>
                <a:cubicBezTo>
                  <a:pt x="43277" y="333514"/>
                  <a:pt x="0" y="284897"/>
                  <a:pt x="0" y="224820"/>
                </a:cubicBezTo>
                <a:cubicBezTo>
                  <a:pt x="0" y="195997"/>
                  <a:pt x="10186" y="168354"/>
                  <a:pt x="28275" y="148005"/>
                </a:cubicBezTo>
                <a:lnTo>
                  <a:pt x="72170" y="98623"/>
                </a:lnTo>
                <a:cubicBezTo>
                  <a:pt x="90258" y="78274"/>
                  <a:pt x="114829" y="66814"/>
                  <a:pt x="140450" y="66814"/>
                </a:cubicBezTo>
                <a:cubicBezTo>
                  <a:pt x="193913" y="66814"/>
                  <a:pt x="237067" y="115848"/>
                  <a:pt x="237067" y="175786"/>
                </a:cubicBezTo>
                <a:cubicBezTo>
                  <a:pt x="237067" y="176689"/>
                  <a:pt x="237067" y="177592"/>
                  <a:pt x="237067" y="178495"/>
                </a:cubicBezTo>
                <a:cubicBezTo>
                  <a:pt x="236820" y="190788"/>
                  <a:pt x="227745" y="200442"/>
                  <a:pt x="216817" y="200164"/>
                </a:cubicBezTo>
                <a:cubicBezTo>
                  <a:pt x="205890" y="199886"/>
                  <a:pt x="197309" y="189676"/>
                  <a:pt x="197556" y="177383"/>
                </a:cubicBezTo>
                <a:cubicBezTo>
                  <a:pt x="197556" y="176828"/>
                  <a:pt x="197556" y="176341"/>
                  <a:pt x="197556" y="175786"/>
                </a:cubicBezTo>
                <a:cubicBezTo>
                  <a:pt x="197556" y="152380"/>
                  <a:pt x="186443" y="131822"/>
                  <a:pt x="169898" y="120501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9017000" y="5651500"/>
            <a:ext cx="2159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Association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Finding relationships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747500" y="5461000"/>
            <a:ext cx="3238500" cy="1270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09500" y="5651500"/>
            <a:ext cx="2222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Anomaly Detection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Finding outliers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70000" y="7239000"/>
            <a:ext cx="13716000" cy="762000"/>
          </a:xfrm>
          <a:prstGeom prst="roundRect">
            <a:avLst>
              <a:gd name="adj" fmla="val 10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78000" y="7239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retailer uses clustering to discover distinct customer groups based on purchasing behavior —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without knowing the groups in advance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Unsupervised Learning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Grouping similar data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Partitions into K clusters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Tree of clusters (dendrogram)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DBSCAN: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Density-based, finds arbitrary shapes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2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Dimensionality Reduction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PCA: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Projects onto principal components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t-SNE: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Non-linear, for 2D/3D visualization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Autoencoders: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Neural network compression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82000" y="1905000"/>
            <a:ext cx="6604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 Learning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Discovering relationships in large datasets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Apriori: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Finds frequent itemsets and rules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"Diapers + Beer" — Walmart discovery</a:t>
            </a:r>
            <a:endParaRPr lang="en-US" sz="2200" dirty="0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22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Detection</a:t>
            </a:r>
            <a:endParaRPr lang="en-US" sz="22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Identifying data points that deviate from normal patterns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382000" y="5969000"/>
          <a:ext cx="6604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Semi-Supervised Learning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5240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095500"/>
            <a:ext cx="1231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approach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using a small amount of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labeled data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a large amount of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unlabeled data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Labeling is expensive; unlabeled data is abundant and cheap.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70000" y="3810000"/>
            <a:ext cx="4191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940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021" y="85725"/>
                </a:moveTo>
                <a:lnTo>
                  <a:pt x="29021" y="219224"/>
                </a:lnTo>
                <a:cubicBezTo>
                  <a:pt x="29021" y="234404"/>
                  <a:pt x="35004" y="248960"/>
                  <a:pt x="45720" y="259675"/>
                </a:cubicBezTo>
                <a:lnTo>
                  <a:pt x="217170" y="431125"/>
                </a:lnTo>
                <a:cubicBezTo>
                  <a:pt x="239494" y="453450"/>
                  <a:pt x="275659" y="453450"/>
                  <a:pt x="297984" y="431125"/>
                </a:cubicBezTo>
                <a:lnTo>
                  <a:pt x="431483" y="297626"/>
                </a:lnTo>
                <a:cubicBezTo>
                  <a:pt x="453807" y="275302"/>
                  <a:pt x="453807" y="239137"/>
                  <a:pt x="431483" y="216813"/>
                </a:cubicBezTo>
                <a:lnTo>
                  <a:pt x="260033" y="45363"/>
                </a:lnTo>
                <a:cubicBezTo>
                  <a:pt x="249317" y="34558"/>
                  <a:pt x="234851" y="28575"/>
                  <a:pt x="219670" y="28575"/>
                </a:cubicBezTo>
                <a:lnTo>
                  <a:pt x="86171" y="28575"/>
                </a:lnTo>
                <a:cubicBezTo>
                  <a:pt x="54650" y="28575"/>
                  <a:pt x="29021" y="54203"/>
                  <a:pt x="29021" y="85725"/>
                </a:cubicBezTo>
                <a:close/>
                <a:moveTo>
                  <a:pt x="129034" y="100013"/>
                </a:moveTo>
                <a:cubicBezTo>
                  <a:pt x="144805" y="100013"/>
                  <a:pt x="157609" y="112817"/>
                  <a:pt x="157609" y="128588"/>
                </a:cubicBezTo>
                <a:cubicBezTo>
                  <a:pt x="157609" y="144358"/>
                  <a:pt x="144805" y="157163"/>
                  <a:pt x="129034" y="157163"/>
                </a:cubicBezTo>
                <a:cubicBezTo>
                  <a:pt x="113263" y="157163"/>
                  <a:pt x="100459" y="144358"/>
                  <a:pt x="100459" y="128588"/>
                </a:cubicBezTo>
                <a:cubicBezTo>
                  <a:pt x="100459" y="112817"/>
                  <a:pt x="113263" y="100013"/>
                  <a:pt x="129034" y="1000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699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Labeled Data (5%)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24000" y="520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 diagnosed X-rays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Expensive to obtain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Requires expert labels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24500" y="495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032500" y="3810000"/>
            <a:ext cx="4191000" cy="330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565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6286500" y="4699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Unlabeled Data (95%)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86500" y="520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9,500 raw X-rays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Cheap and abundant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labels needed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87000" y="4953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0795000" y="3810000"/>
            <a:ext cx="4191000" cy="330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123190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4699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Better Model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049000" y="5207000"/>
            <a:ext cx="36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80-95% of fully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supervised performance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with only 5-10% labels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70000" y="7493000"/>
            <a:ext cx="13716000" cy="508000"/>
          </a:xfrm>
          <a:prstGeom prst="roundRect">
            <a:avLst>
              <a:gd name="adj" fmla="val 10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78000" y="7493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approaches: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Self-training | Co-training | Graph-based methods | Label Propagation | Pseudo-labeling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1430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by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interacting with an environment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maximize cumulative reward through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trial and error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</a:t>
            </a:r>
            <a:pPr algn="l">
              <a:lnSpc>
                <a:spcPct val="150000"/>
              </a:lnSpc>
            </a:pPr>
            <a:r>
              <a:rPr lang="en-US" sz="20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"Like training a dog with treats."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3365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Components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70000" y="3937000"/>
            <a:ext cx="2540000" cy="1016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937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learner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7000" y="4445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445000" y="3937000"/>
            <a:ext cx="2540000" cy="1016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4445000" y="3937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Environment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world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12000" y="4445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620000" y="3937000"/>
            <a:ext cx="2159000" cy="101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0" y="3937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situation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906000" y="4445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414000" y="3937000"/>
            <a:ext cx="2159000" cy="1016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14000" y="3937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Action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agent does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700000" y="44450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3208000" y="3937000"/>
            <a:ext cx="1778000" cy="1016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3208000" y="39370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Reward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Feedback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70000" y="5334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Types of RL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70000" y="5905500"/>
            <a:ext cx="685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Model-Based RL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Builds environment model to plan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Model-Free RL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Learns directly from experience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Value-Based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Q-Learning, DQN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Policy-Based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REINFORCE, PPO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Actor-Critic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A3C, SAC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5905500"/>
            <a:ext cx="6604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63000" y="615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84480" y="50800"/>
                </a:moveTo>
                <a:cubicBezTo>
                  <a:pt x="351790" y="50800"/>
                  <a:pt x="406400" y="119063"/>
                  <a:pt x="406400" y="203200"/>
                </a:cubicBezTo>
                <a:cubicBezTo>
                  <a:pt x="406400" y="287338"/>
                  <a:pt x="351790" y="355600"/>
                  <a:pt x="284480" y="355600"/>
                </a:cubicBezTo>
                <a:lnTo>
                  <a:pt x="121920" y="355600"/>
                </a:lnTo>
                <a:cubicBezTo>
                  <a:pt x="54610" y="355600"/>
                  <a:pt x="0" y="287338"/>
                  <a:pt x="0" y="203200"/>
                </a:cubicBezTo>
                <a:cubicBezTo>
                  <a:pt x="0" y="119063"/>
                  <a:pt x="54610" y="50800"/>
                  <a:pt x="121920" y="50800"/>
                </a:cubicBezTo>
                <a:lnTo>
                  <a:pt x="284480" y="50800"/>
                </a:lnTo>
                <a:close/>
                <a:moveTo>
                  <a:pt x="121920" y="139700"/>
                </a:moveTo>
                <a:cubicBezTo>
                  <a:pt x="113475" y="139700"/>
                  <a:pt x="106680" y="148193"/>
                  <a:pt x="106680" y="158750"/>
                </a:cubicBezTo>
                <a:lnTo>
                  <a:pt x="106680" y="184150"/>
                </a:lnTo>
                <a:lnTo>
                  <a:pt x="86360" y="184150"/>
                </a:lnTo>
                <a:cubicBezTo>
                  <a:pt x="77915" y="184150"/>
                  <a:pt x="71120" y="192643"/>
                  <a:pt x="71120" y="203200"/>
                </a:cubicBezTo>
                <a:cubicBezTo>
                  <a:pt x="71120" y="213757"/>
                  <a:pt x="77915" y="222250"/>
                  <a:pt x="86360" y="222250"/>
                </a:cubicBezTo>
                <a:lnTo>
                  <a:pt x="106680" y="222250"/>
                </a:lnTo>
                <a:lnTo>
                  <a:pt x="106680" y="247650"/>
                </a:lnTo>
                <a:cubicBezTo>
                  <a:pt x="106680" y="258207"/>
                  <a:pt x="113475" y="266700"/>
                  <a:pt x="121920" y="266700"/>
                </a:cubicBezTo>
                <a:cubicBezTo>
                  <a:pt x="130366" y="266700"/>
                  <a:pt x="137160" y="258207"/>
                  <a:pt x="137160" y="247650"/>
                </a:cubicBezTo>
                <a:lnTo>
                  <a:pt x="137160" y="222250"/>
                </a:lnTo>
                <a:lnTo>
                  <a:pt x="157480" y="222250"/>
                </a:lnTo>
                <a:cubicBezTo>
                  <a:pt x="165926" y="222250"/>
                  <a:pt x="172720" y="213757"/>
                  <a:pt x="172720" y="203200"/>
                </a:cubicBezTo>
                <a:cubicBezTo>
                  <a:pt x="172720" y="192643"/>
                  <a:pt x="165926" y="184150"/>
                  <a:pt x="157480" y="184150"/>
                </a:cubicBezTo>
                <a:lnTo>
                  <a:pt x="137160" y="184150"/>
                </a:lnTo>
                <a:lnTo>
                  <a:pt x="137160" y="158750"/>
                </a:lnTo>
                <a:cubicBezTo>
                  <a:pt x="137160" y="148193"/>
                  <a:pt x="130366" y="139700"/>
                  <a:pt x="121920" y="139700"/>
                </a:cubicBezTo>
                <a:close/>
                <a:moveTo>
                  <a:pt x="274320" y="215900"/>
                </a:moveTo>
                <a:cubicBezTo>
                  <a:pt x="263105" y="215900"/>
                  <a:pt x="254000" y="227281"/>
                  <a:pt x="254000" y="241300"/>
                </a:cubicBezTo>
                <a:cubicBezTo>
                  <a:pt x="254000" y="255319"/>
                  <a:pt x="263105" y="266700"/>
                  <a:pt x="274320" y="266700"/>
                </a:cubicBezTo>
                <a:cubicBezTo>
                  <a:pt x="285535" y="266700"/>
                  <a:pt x="294640" y="255319"/>
                  <a:pt x="294640" y="241300"/>
                </a:cubicBezTo>
                <a:cubicBezTo>
                  <a:pt x="294640" y="227281"/>
                  <a:pt x="285535" y="215900"/>
                  <a:pt x="274320" y="215900"/>
                </a:cubicBezTo>
                <a:close/>
                <a:moveTo>
                  <a:pt x="314960" y="139700"/>
                </a:moveTo>
                <a:cubicBezTo>
                  <a:pt x="303745" y="139700"/>
                  <a:pt x="294640" y="151081"/>
                  <a:pt x="294640" y="165100"/>
                </a:cubicBezTo>
                <a:cubicBezTo>
                  <a:pt x="294640" y="179119"/>
                  <a:pt x="303745" y="190500"/>
                  <a:pt x="314960" y="190500"/>
                </a:cubicBezTo>
                <a:cubicBezTo>
                  <a:pt x="326175" y="190500"/>
                  <a:pt x="335280" y="179119"/>
                  <a:pt x="335280" y="165100"/>
                </a:cubicBezTo>
                <a:cubicBezTo>
                  <a:pt x="335280" y="151081"/>
                  <a:pt x="326175" y="139700"/>
                  <a:pt x="314960" y="1397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9334500" y="6159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763000" y="6667500"/>
            <a:ext cx="5969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AlphaGo defeating world champion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Autonomous driving systems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Robot walking &amp; manipulation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Started with ML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20 — Understanding Your Task, Data &amp; Dataset Preparation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 Your Task and Your Data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222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Your Task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596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Define the problem: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What are you trying to predict?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Identify task type: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Classification, regression, or clustering?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 metrics: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How will you measure performance?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Constraints: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Latency, interpretability, resources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4699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32229" y="127000"/>
                </a:moveTo>
                <a:lnTo>
                  <a:pt x="232229" y="203200"/>
                </a:lnTo>
                <a:lnTo>
                  <a:pt x="348343" y="203200"/>
                </a:lnTo>
                <a:lnTo>
                  <a:pt x="348343" y="127000"/>
                </a:lnTo>
                <a:lnTo>
                  <a:pt x="232229" y="127000"/>
                </a:lnTo>
                <a:close/>
                <a:moveTo>
                  <a:pt x="174171" y="127000"/>
                </a:moveTo>
                <a:lnTo>
                  <a:pt x="58057" y="127000"/>
                </a:lnTo>
                <a:lnTo>
                  <a:pt x="58057" y="203200"/>
                </a:lnTo>
                <a:lnTo>
                  <a:pt x="174171" y="203200"/>
                </a:lnTo>
                <a:lnTo>
                  <a:pt x="174171" y="127000"/>
                </a:lnTo>
                <a:close/>
                <a:moveTo>
                  <a:pt x="0" y="254000"/>
                </a:moveTo>
                <a:lnTo>
                  <a:pt x="0" y="76200"/>
                </a:lnTo>
                <a:cubicBezTo>
                  <a:pt x="0" y="48181"/>
                  <a:pt x="26035" y="25400"/>
                  <a:pt x="58057" y="25400"/>
                </a:cubicBezTo>
                <a:lnTo>
                  <a:pt x="348343" y="25400"/>
                </a:lnTo>
                <a:cubicBezTo>
                  <a:pt x="380365" y="25400"/>
                  <a:pt x="406400" y="48181"/>
                  <a:pt x="406400" y="76200"/>
                </a:cubicBezTo>
                <a:lnTo>
                  <a:pt x="406400" y="330200"/>
                </a:lnTo>
                <a:cubicBezTo>
                  <a:pt x="406400" y="358219"/>
                  <a:pt x="380365" y="381000"/>
                  <a:pt x="348343" y="381000"/>
                </a:cubicBezTo>
                <a:lnTo>
                  <a:pt x="58057" y="381000"/>
                </a:lnTo>
                <a:cubicBezTo>
                  <a:pt x="26035" y="381000"/>
                  <a:pt x="0" y="358219"/>
                  <a:pt x="0" y="330200"/>
                </a:cubicBezTo>
                <a:lnTo>
                  <a:pt x="0" y="254000"/>
                </a:lnTo>
                <a:close/>
                <a:moveTo>
                  <a:pt x="348343" y="254000"/>
                </a:moveTo>
                <a:lnTo>
                  <a:pt x="232229" y="254000"/>
                </a:lnTo>
                <a:lnTo>
                  <a:pt x="232229" y="330200"/>
                </a:lnTo>
                <a:lnTo>
                  <a:pt x="348343" y="330200"/>
                </a:lnTo>
                <a:lnTo>
                  <a:pt x="348343" y="254000"/>
                </a:lnTo>
                <a:close/>
                <a:moveTo>
                  <a:pt x="174171" y="330200"/>
                </a:moveTo>
                <a:lnTo>
                  <a:pt x="174171" y="254000"/>
                </a:lnTo>
                <a:lnTo>
                  <a:pt x="58057" y="254000"/>
                </a:lnTo>
                <a:lnTo>
                  <a:pt x="58057" y="330200"/>
                </a:lnTo>
                <a:lnTo>
                  <a:pt x="174171" y="3302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222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Your Data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857500"/>
            <a:ext cx="584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types: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Structured, Unstructured, Semi-structured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types: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Numerical, Categorical, Text, Time-series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 issues: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Missing values, outliers, duplicates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EDA: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Statistics, distributions, correlations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69850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FF7F50">
              <a:alpha val="6275"/>
            </a:srgbClr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51000" y="723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9565" y="25400"/>
                </a:moveTo>
                <a:lnTo>
                  <a:pt x="338667" y="25400"/>
                </a:lnTo>
                <a:cubicBezTo>
                  <a:pt x="376026" y="25400"/>
                  <a:pt x="406400" y="48181"/>
                  <a:pt x="406400" y="76200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30374" y="25400"/>
                  <a:pt x="67733" y="25400"/>
                </a:cubicBezTo>
                <a:lnTo>
                  <a:pt x="76835" y="25400"/>
                </a:lnTo>
                <a:cubicBezTo>
                  <a:pt x="88477" y="10239"/>
                  <a:pt x="110384" y="0"/>
                  <a:pt x="135467" y="0"/>
                </a:cubicBezTo>
                <a:lnTo>
                  <a:pt x="270933" y="0"/>
                </a:lnTo>
                <a:cubicBezTo>
                  <a:pt x="296016" y="0"/>
                  <a:pt x="317923" y="10239"/>
                  <a:pt x="329565" y="25400"/>
                </a:cubicBezTo>
                <a:close/>
                <a:moveTo>
                  <a:pt x="262467" y="88900"/>
                </a:moveTo>
                <a:cubicBezTo>
                  <a:pt x="276543" y="88900"/>
                  <a:pt x="287867" y="80407"/>
                  <a:pt x="287867" y="69850"/>
                </a:cubicBezTo>
                <a:cubicBezTo>
                  <a:pt x="287867" y="59293"/>
                  <a:pt x="276543" y="50800"/>
                  <a:pt x="262467" y="50800"/>
                </a:cubicBezTo>
                <a:lnTo>
                  <a:pt x="143933" y="50800"/>
                </a:lnTo>
                <a:cubicBezTo>
                  <a:pt x="129858" y="50800"/>
                  <a:pt x="118533" y="59293"/>
                  <a:pt x="118533" y="69850"/>
                </a:cubicBezTo>
                <a:cubicBezTo>
                  <a:pt x="118533" y="80407"/>
                  <a:pt x="129858" y="88900"/>
                  <a:pt x="143933" y="88900"/>
                </a:cubicBezTo>
                <a:lnTo>
                  <a:pt x="262467" y="88900"/>
                </a:lnTo>
                <a:close/>
                <a:moveTo>
                  <a:pt x="292523" y="206931"/>
                </a:moveTo>
                <a:cubicBezTo>
                  <a:pt x="299932" y="198041"/>
                  <a:pt x="296333" y="186293"/>
                  <a:pt x="284480" y="180658"/>
                </a:cubicBezTo>
                <a:cubicBezTo>
                  <a:pt x="272627" y="175022"/>
                  <a:pt x="256963" y="177800"/>
                  <a:pt x="249449" y="186690"/>
                </a:cubicBezTo>
                <a:lnTo>
                  <a:pt x="184467" y="264716"/>
                </a:lnTo>
                <a:lnTo>
                  <a:pt x="155892" y="236141"/>
                </a:lnTo>
                <a:cubicBezTo>
                  <a:pt x="147426" y="227727"/>
                  <a:pt x="131551" y="225981"/>
                  <a:pt x="120332" y="232331"/>
                </a:cubicBezTo>
                <a:cubicBezTo>
                  <a:pt x="109114" y="238681"/>
                  <a:pt x="106786" y="250587"/>
                  <a:pt x="115252" y="259001"/>
                </a:cubicBezTo>
                <a:lnTo>
                  <a:pt x="166052" y="309801"/>
                </a:lnTo>
                <a:cubicBezTo>
                  <a:pt x="171027" y="314801"/>
                  <a:pt x="179070" y="317659"/>
                  <a:pt x="187431" y="317421"/>
                </a:cubicBezTo>
                <a:cubicBezTo>
                  <a:pt x="195792" y="317183"/>
                  <a:pt x="203412" y="313849"/>
                  <a:pt x="207857" y="308451"/>
                </a:cubicBezTo>
                <a:lnTo>
                  <a:pt x="292523" y="206851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222500" y="7048500"/>
            <a:ext cx="1244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Data-Task Alignment Check: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Do you have enough data? Do features relate to the target? Is data representative? </a:t>
            </a:r>
            <a:pPr algn="l">
              <a:lnSpc>
                <a:spcPct val="120000"/>
              </a:lnSpc>
            </a:pPr>
            <a:r>
              <a:rPr lang="en-US" sz="18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"Garbage in, garbage out."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Preparation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286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86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349500" y="2349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Collection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49500" y="2794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Gather from databases, APIs, sensors, public datasets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3556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556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49500" y="3619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Cleaning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49500" y="4064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Handle missing values, remove duplicates, fix outliers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4826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4826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49500" y="4889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Transformation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49500" y="53340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Scaling, encoding, feature engineering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6000" y="2032000"/>
            <a:ext cx="7620000" cy="431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47000" y="2286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Operations in Detail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47000" y="2921000"/>
            <a:ext cx="685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Missing Values: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Deletion, mean/median imputation, KNN imputation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Outliers: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IQR method, Z-score detection, visual inspection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Scaling: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Normalization (0-1), Standardization (z-score)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Encoding: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One-hot, Label, Ordinal encoding for categories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70000" y="68580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51000" y="711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2222500" y="6921500"/>
            <a:ext cx="1244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Remember: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"Garbage in, garbage out" — model quality is fundamentally limited by data quality. In a customer dataset, age may have missing values, income may have outliers, gender needs encoding.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Training, Validation &amp; Test Data Split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191000" cy="2921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286000"/>
            <a:ext cx="4191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60-80%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270000" y="3175000"/>
            <a:ext cx="419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Training Set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4000" y="3746500"/>
            <a:ext cx="3683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learns patterns from this data. Used to fit the model parameters.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0" y="2032000"/>
            <a:ext cx="4191000" cy="292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42000" y="2286000"/>
            <a:ext cx="4191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10-20%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842000" y="3175000"/>
            <a:ext cx="419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 Set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0" y="3746500"/>
            <a:ext cx="3683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Tune hyperparameters and compare models during development.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14000" y="2032000"/>
            <a:ext cx="4572000" cy="2921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414000" y="2286000"/>
            <a:ext cx="457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10-20%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0414000" y="31750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Set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668000" y="3746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Evaluate final model performance. Used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only once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at the end.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5334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Splitting Methods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70000" y="5905500"/>
            <a:ext cx="685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Random Split: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Simple random sampling for uniform data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Stratified Split: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Preserves class proportions; essential for imbalanced data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Time-based Split: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Chronological split for time-series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5334000"/>
            <a:ext cx="6604000" cy="24765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63000" y="552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Code Example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3000" y="59690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sklearn.model_selection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train_test_split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X_train, X_test, y_train, y_test = train_test_split(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X, y, test_size=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random_state=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stratify=y)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for Machine Learning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20 — Python Language &amp; Essential Libraries for ML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Python Language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858000" cy="2286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51000" y="2095500"/>
            <a:ext cx="6096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a high-level, interpreted programming language created by Guido van Rossum in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1991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Used by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85%+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data scientists worldwide — the #1 language for data science and ML.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382000" y="1905000"/>
            <a:ext cx="6604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63000" y="20955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Python for ML?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63000" y="2603500"/>
            <a:ext cx="584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Simple, readable syntax close to English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Extensive data science library ecosystem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Large, active community &amp; support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Cross-platform (Windows, macOS, Linux)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572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70000" y="5207000"/>
            <a:ext cx="3175000" cy="127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240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2032000" y="5334000"/>
            <a:ext cx="215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Interpreted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 by line execution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62500" y="5207000"/>
            <a:ext cx="3175000" cy="127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165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2613" y="-18752"/>
                </a:moveTo>
                <a:lnTo>
                  <a:pt x="171750" y="6806"/>
                </a:lnTo>
                <a:lnTo>
                  <a:pt x="194469" y="17085"/>
                </a:lnTo>
                <a:cubicBezTo>
                  <a:pt x="196321" y="17919"/>
                  <a:pt x="197556" y="20003"/>
                  <a:pt x="197556" y="22225"/>
                </a:cubicBezTo>
                <a:cubicBezTo>
                  <a:pt x="197556" y="24448"/>
                  <a:pt x="196321" y="26531"/>
                  <a:pt x="194469" y="27365"/>
                </a:cubicBezTo>
                <a:lnTo>
                  <a:pt x="171750" y="37644"/>
                </a:lnTo>
                <a:lnTo>
                  <a:pt x="162613" y="63202"/>
                </a:lnTo>
                <a:cubicBezTo>
                  <a:pt x="161872" y="65286"/>
                  <a:pt x="160020" y="66675"/>
                  <a:pt x="158044" y="66675"/>
                </a:cubicBezTo>
                <a:cubicBezTo>
                  <a:pt x="156069" y="66675"/>
                  <a:pt x="154217" y="65286"/>
                  <a:pt x="153476" y="63202"/>
                </a:cubicBezTo>
                <a:lnTo>
                  <a:pt x="144339" y="37644"/>
                </a:lnTo>
                <a:lnTo>
                  <a:pt x="121620" y="27365"/>
                </a:lnTo>
                <a:cubicBezTo>
                  <a:pt x="119768" y="26531"/>
                  <a:pt x="118533" y="24447"/>
                  <a:pt x="118533" y="22225"/>
                </a:cubicBezTo>
                <a:cubicBezTo>
                  <a:pt x="118533" y="20003"/>
                  <a:pt x="119768" y="17919"/>
                  <a:pt x="121620" y="17085"/>
                </a:cubicBezTo>
                <a:lnTo>
                  <a:pt x="144339" y="6806"/>
                </a:lnTo>
                <a:lnTo>
                  <a:pt x="153476" y="-18752"/>
                </a:lnTo>
                <a:cubicBezTo>
                  <a:pt x="154217" y="-20836"/>
                  <a:pt x="156069" y="-22225"/>
                  <a:pt x="158044" y="-22225"/>
                </a:cubicBezTo>
                <a:cubicBezTo>
                  <a:pt x="160020" y="-22225"/>
                  <a:pt x="161872" y="-20836"/>
                  <a:pt x="162613" y="-18752"/>
                </a:cubicBezTo>
                <a:close/>
                <a:moveTo>
                  <a:pt x="68342" y="28962"/>
                </a:moveTo>
                <a:lnTo>
                  <a:pt x="81615" y="63758"/>
                </a:lnTo>
                <a:lnTo>
                  <a:pt x="112545" y="78690"/>
                </a:lnTo>
                <a:cubicBezTo>
                  <a:pt x="116187" y="80427"/>
                  <a:pt x="118533" y="84455"/>
                  <a:pt x="118533" y="88900"/>
                </a:cubicBezTo>
                <a:cubicBezTo>
                  <a:pt x="118533" y="93345"/>
                  <a:pt x="116187" y="97373"/>
                  <a:pt x="112545" y="99110"/>
                </a:cubicBezTo>
                <a:lnTo>
                  <a:pt x="81615" y="114042"/>
                </a:lnTo>
                <a:lnTo>
                  <a:pt x="68342" y="148838"/>
                </a:lnTo>
                <a:cubicBezTo>
                  <a:pt x="66798" y="152936"/>
                  <a:pt x="63218" y="155575"/>
                  <a:pt x="59267" y="155575"/>
                </a:cubicBezTo>
                <a:cubicBezTo>
                  <a:pt x="55316" y="155575"/>
                  <a:pt x="51735" y="152936"/>
                  <a:pt x="50191" y="148838"/>
                </a:cubicBezTo>
                <a:lnTo>
                  <a:pt x="36918" y="114042"/>
                </a:lnTo>
                <a:lnTo>
                  <a:pt x="5988" y="99110"/>
                </a:lnTo>
                <a:cubicBezTo>
                  <a:pt x="2346" y="97373"/>
                  <a:pt x="0" y="93345"/>
                  <a:pt x="0" y="88900"/>
                </a:cubicBezTo>
                <a:cubicBezTo>
                  <a:pt x="0" y="84455"/>
                  <a:pt x="2346" y="80427"/>
                  <a:pt x="5988" y="78690"/>
                </a:cubicBezTo>
                <a:lnTo>
                  <a:pt x="36918" y="63758"/>
                </a:lnTo>
                <a:lnTo>
                  <a:pt x="50191" y="28962"/>
                </a:lnTo>
                <a:cubicBezTo>
                  <a:pt x="51735" y="24864"/>
                  <a:pt x="55316" y="22225"/>
                  <a:pt x="59267" y="22225"/>
                </a:cubicBezTo>
                <a:cubicBezTo>
                  <a:pt x="63218" y="22225"/>
                  <a:pt x="66798" y="24864"/>
                  <a:pt x="68342" y="28962"/>
                </a:cubicBezTo>
                <a:close/>
                <a:moveTo>
                  <a:pt x="286456" y="211138"/>
                </a:moveTo>
                <a:cubicBezTo>
                  <a:pt x="290407" y="211138"/>
                  <a:pt x="293987" y="213777"/>
                  <a:pt x="295531" y="217874"/>
                </a:cubicBezTo>
                <a:lnTo>
                  <a:pt x="308804" y="252670"/>
                </a:lnTo>
                <a:lnTo>
                  <a:pt x="339734" y="267603"/>
                </a:lnTo>
                <a:cubicBezTo>
                  <a:pt x="343376" y="269339"/>
                  <a:pt x="345722" y="273368"/>
                  <a:pt x="345722" y="277813"/>
                </a:cubicBezTo>
                <a:cubicBezTo>
                  <a:pt x="345722" y="282257"/>
                  <a:pt x="343376" y="286286"/>
                  <a:pt x="339734" y="288022"/>
                </a:cubicBezTo>
                <a:lnTo>
                  <a:pt x="308804" y="302955"/>
                </a:lnTo>
                <a:lnTo>
                  <a:pt x="295531" y="337751"/>
                </a:lnTo>
                <a:cubicBezTo>
                  <a:pt x="293987" y="341848"/>
                  <a:pt x="290407" y="344488"/>
                  <a:pt x="286456" y="344488"/>
                </a:cubicBezTo>
                <a:cubicBezTo>
                  <a:pt x="282504" y="344488"/>
                  <a:pt x="278924" y="341848"/>
                  <a:pt x="277380" y="337751"/>
                </a:cubicBezTo>
                <a:lnTo>
                  <a:pt x="264107" y="302955"/>
                </a:lnTo>
                <a:lnTo>
                  <a:pt x="233177" y="288022"/>
                </a:lnTo>
                <a:cubicBezTo>
                  <a:pt x="229535" y="286286"/>
                  <a:pt x="227189" y="282257"/>
                  <a:pt x="227189" y="277813"/>
                </a:cubicBezTo>
                <a:cubicBezTo>
                  <a:pt x="227189" y="273368"/>
                  <a:pt x="229535" y="269339"/>
                  <a:pt x="233177" y="267603"/>
                </a:cubicBezTo>
                <a:lnTo>
                  <a:pt x="264107" y="252670"/>
                </a:lnTo>
                <a:lnTo>
                  <a:pt x="277380" y="217874"/>
                </a:lnTo>
                <a:cubicBezTo>
                  <a:pt x="278924" y="213777"/>
                  <a:pt x="282504" y="211138"/>
                  <a:pt x="286456" y="211138"/>
                </a:cubicBezTo>
                <a:close/>
                <a:moveTo>
                  <a:pt x="283986" y="0"/>
                </a:moveTo>
                <a:cubicBezTo>
                  <a:pt x="290777" y="0"/>
                  <a:pt x="297321" y="3056"/>
                  <a:pt x="302198" y="8473"/>
                </a:cubicBezTo>
                <a:lnTo>
                  <a:pt x="328313" y="37852"/>
                </a:lnTo>
                <a:cubicBezTo>
                  <a:pt x="333128" y="43339"/>
                  <a:pt x="335844" y="50701"/>
                  <a:pt x="335844" y="58341"/>
                </a:cubicBezTo>
                <a:cubicBezTo>
                  <a:pt x="335844" y="65980"/>
                  <a:pt x="333128" y="73343"/>
                  <a:pt x="328313" y="78829"/>
                </a:cubicBezTo>
                <a:lnTo>
                  <a:pt x="273861" y="140087"/>
                </a:lnTo>
                <a:lnTo>
                  <a:pt x="211323" y="69731"/>
                </a:lnTo>
                <a:lnTo>
                  <a:pt x="265774" y="8473"/>
                </a:lnTo>
                <a:cubicBezTo>
                  <a:pt x="270651" y="3056"/>
                  <a:pt x="277195" y="0"/>
                  <a:pt x="283986" y="0"/>
                </a:cubicBezTo>
                <a:close/>
                <a:moveTo>
                  <a:pt x="27287" y="276771"/>
                </a:moveTo>
                <a:lnTo>
                  <a:pt x="190394" y="93276"/>
                </a:lnTo>
                <a:lnTo>
                  <a:pt x="252933" y="163632"/>
                </a:lnTo>
                <a:lnTo>
                  <a:pt x="89826" y="347127"/>
                </a:lnTo>
                <a:cubicBezTo>
                  <a:pt x="84949" y="352544"/>
                  <a:pt x="78405" y="355600"/>
                  <a:pt x="71614" y="355600"/>
                </a:cubicBezTo>
                <a:cubicBezTo>
                  <a:pt x="64823" y="355600"/>
                  <a:pt x="58279" y="352544"/>
                  <a:pt x="53402" y="347127"/>
                </a:cubicBezTo>
                <a:lnTo>
                  <a:pt x="27287" y="317748"/>
                </a:lnTo>
                <a:cubicBezTo>
                  <a:pt x="22472" y="312261"/>
                  <a:pt x="19756" y="304899"/>
                  <a:pt x="19756" y="297259"/>
                </a:cubicBezTo>
                <a:cubicBezTo>
                  <a:pt x="19756" y="289620"/>
                  <a:pt x="22472" y="282257"/>
                  <a:pt x="27287" y="276771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5524500" y="5334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Dynamically Typed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Types at runtime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5207000"/>
            <a:ext cx="3175000" cy="127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90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7247" y="-903"/>
                </a:moveTo>
                <a:cubicBezTo>
                  <a:pt x="185231" y="-7848"/>
                  <a:pt x="170369" y="-7848"/>
                  <a:pt x="158353" y="-903"/>
                </a:cubicBezTo>
                <a:lnTo>
                  <a:pt x="99874" y="32851"/>
                </a:lnTo>
                <a:cubicBezTo>
                  <a:pt x="87858" y="39797"/>
                  <a:pt x="80427" y="52645"/>
                  <a:pt x="80427" y="66536"/>
                </a:cubicBezTo>
                <a:lnTo>
                  <a:pt x="80427" y="137309"/>
                </a:lnTo>
                <a:lnTo>
                  <a:pt x="19100" y="172730"/>
                </a:lnTo>
                <a:cubicBezTo>
                  <a:pt x="7084" y="179675"/>
                  <a:pt x="-347" y="192524"/>
                  <a:pt x="-347" y="206415"/>
                </a:cubicBezTo>
                <a:lnTo>
                  <a:pt x="-347" y="273993"/>
                </a:lnTo>
                <a:cubicBezTo>
                  <a:pt x="-347" y="287883"/>
                  <a:pt x="7084" y="300732"/>
                  <a:pt x="19100" y="307677"/>
                </a:cubicBezTo>
                <a:lnTo>
                  <a:pt x="77649" y="341432"/>
                </a:lnTo>
                <a:cubicBezTo>
                  <a:pt x="89664" y="348377"/>
                  <a:pt x="104527" y="348377"/>
                  <a:pt x="116542" y="341432"/>
                </a:cubicBezTo>
                <a:lnTo>
                  <a:pt x="177869" y="306010"/>
                </a:lnTo>
                <a:lnTo>
                  <a:pt x="239197" y="341432"/>
                </a:lnTo>
                <a:cubicBezTo>
                  <a:pt x="251212" y="348377"/>
                  <a:pt x="266075" y="348377"/>
                  <a:pt x="278090" y="341432"/>
                </a:cubicBezTo>
                <a:lnTo>
                  <a:pt x="336500" y="307677"/>
                </a:lnTo>
                <a:cubicBezTo>
                  <a:pt x="348516" y="300732"/>
                  <a:pt x="355947" y="287883"/>
                  <a:pt x="355947" y="273993"/>
                </a:cubicBezTo>
                <a:lnTo>
                  <a:pt x="355947" y="206415"/>
                </a:lnTo>
                <a:cubicBezTo>
                  <a:pt x="355947" y="192524"/>
                  <a:pt x="348516" y="179675"/>
                  <a:pt x="336500" y="172730"/>
                </a:cubicBezTo>
                <a:lnTo>
                  <a:pt x="275173" y="137309"/>
                </a:lnTo>
                <a:lnTo>
                  <a:pt x="275173" y="66536"/>
                </a:lnTo>
                <a:cubicBezTo>
                  <a:pt x="275173" y="52645"/>
                  <a:pt x="267742" y="39797"/>
                  <a:pt x="255726" y="32851"/>
                </a:cubicBezTo>
                <a:lnTo>
                  <a:pt x="197247" y="-903"/>
                </a:lnTo>
                <a:close/>
                <a:moveTo>
                  <a:pt x="161131" y="203220"/>
                </a:moveTo>
                <a:lnTo>
                  <a:pt x="161131" y="277187"/>
                </a:lnTo>
                <a:lnTo>
                  <a:pt x="99804" y="312609"/>
                </a:lnTo>
                <a:cubicBezTo>
                  <a:pt x="98971" y="313095"/>
                  <a:pt x="97998" y="313373"/>
                  <a:pt x="97026" y="313373"/>
                </a:cubicBezTo>
                <a:lnTo>
                  <a:pt x="97026" y="240238"/>
                </a:lnTo>
                <a:lnTo>
                  <a:pt x="161131" y="203220"/>
                </a:lnTo>
                <a:close/>
                <a:moveTo>
                  <a:pt x="321846" y="203637"/>
                </a:moveTo>
                <a:cubicBezTo>
                  <a:pt x="322332" y="204470"/>
                  <a:pt x="322610" y="205442"/>
                  <a:pt x="322610" y="206415"/>
                </a:cubicBezTo>
                <a:lnTo>
                  <a:pt x="322610" y="273993"/>
                </a:lnTo>
                <a:cubicBezTo>
                  <a:pt x="322610" y="276007"/>
                  <a:pt x="321568" y="277813"/>
                  <a:pt x="319832" y="278785"/>
                </a:cubicBezTo>
                <a:lnTo>
                  <a:pt x="261283" y="312539"/>
                </a:lnTo>
                <a:cubicBezTo>
                  <a:pt x="260449" y="313025"/>
                  <a:pt x="259477" y="313303"/>
                  <a:pt x="258505" y="313303"/>
                </a:cubicBezTo>
                <a:lnTo>
                  <a:pt x="258505" y="240169"/>
                </a:lnTo>
                <a:lnTo>
                  <a:pt x="321846" y="203637"/>
                </a:lnTo>
                <a:close/>
                <a:moveTo>
                  <a:pt x="241905" y="66536"/>
                </a:moveTo>
                <a:lnTo>
                  <a:pt x="241905" y="137309"/>
                </a:lnTo>
                <a:lnTo>
                  <a:pt x="177800" y="174327"/>
                </a:lnTo>
                <a:lnTo>
                  <a:pt x="177800" y="100360"/>
                </a:lnTo>
                <a:lnTo>
                  <a:pt x="241141" y="63827"/>
                </a:lnTo>
                <a:cubicBezTo>
                  <a:pt x="241627" y="64661"/>
                  <a:pt x="241905" y="65633"/>
                  <a:pt x="241905" y="6660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9017000" y="5334000"/>
            <a:ext cx="215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Object-Oriented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Classes &amp; objects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747500" y="5207000"/>
            <a:ext cx="3238500" cy="1270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8600" y="44450"/>
                </a:moveTo>
                <a:cubicBezTo>
                  <a:pt x="228600" y="56743"/>
                  <a:pt x="217249" y="66675"/>
                  <a:pt x="203200" y="66675"/>
                </a:cubicBezTo>
                <a:lnTo>
                  <a:pt x="25400" y="66675"/>
                </a:lnTo>
                <a:cubicBezTo>
                  <a:pt x="11351" y="66675"/>
                  <a:pt x="0" y="56743"/>
                  <a:pt x="0" y="44450"/>
                </a:cubicBezTo>
                <a:cubicBezTo>
                  <a:pt x="0" y="32157"/>
                  <a:pt x="11351" y="22225"/>
                  <a:pt x="25400" y="22225"/>
                </a:cubicBezTo>
                <a:lnTo>
                  <a:pt x="203200" y="22225"/>
                </a:lnTo>
                <a:cubicBezTo>
                  <a:pt x="217249" y="22225"/>
                  <a:pt x="228600" y="32157"/>
                  <a:pt x="228600" y="44450"/>
                </a:cubicBezTo>
                <a:close/>
                <a:moveTo>
                  <a:pt x="228600" y="222250"/>
                </a:moveTo>
                <a:cubicBezTo>
                  <a:pt x="228600" y="234543"/>
                  <a:pt x="217249" y="244475"/>
                  <a:pt x="203200" y="244475"/>
                </a:cubicBezTo>
                <a:lnTo>
                  <a:pt x="25400" y="244475"/>
                </a:lnTo>
                <a:cubicBezTo>
                  <a:pt x="11351" y="244475"/>
                  <a:pt x="0" y="234543"/>
                  <a:pt x="0" y="222250"/>
                </a:cubicBezTo>
                <a:cubicBezTo>
                  <a:pt x="0" y="209957"/>
                  <a:pt x="11351" y="200025"/>
                  <a:pt x="25400" y="200025"/>
                </a:cubicBezTo>
                <a:lnTo>
                  <a:pt x="203200" y="200025"/>
                </a:lnTo>
                <a:cubicBezTo>
                  <a:pt x="217249" y="200025"/>
                  <a:pt x="228600" y="209957"/>
                  <a:pt x="228600" y="222250"/>
                </a:cubicBezTo>
                <a:close/>
                <a:moveTo>
                  <a:pt x="0" y="133350"/>
                </a:moveTo>
                <a:cubicBezTo>
                  <a:pt x="0" y="121057"/>
                  <a:pt x="11351" y="111125"/>
                  <a:pt x="25400" y="111125"/>
                </a:cubicBezTo>
                <a:lnTo>
                  <a:pt x="330200" y="111125"/>
                </a:lnTo>
                <a:cubicBezTo>
                  <a:pt x="344249" y="111125"/>
                  <a:pt x="355600" y="121057"/>
                  <a:pt x="355600" y="133350"/>
                </a:cubicBezTo>
                <a:cubicBezTo>
                  <a:pt x="355600" y="145643"/>
                  <a:pt x="344249" y="155575"/>
                  <a:pt x="330200" y="155575"/>
                </a:cubicBezTo>
                <a:lnTo>
                  <a:pt x="25400" y="155575"/>
                </a:lnTo>
                <a:cubicBezTo>
                  <a:pt x="11351" y="155575"/>
                  <a:pt x="0" y="145643"/>
                  <a:pt x="0" y="133350"/>
                </a:cubicBezTo>
                <a:close/>
                <a:moveTo>
                  <a:pt x="355600" y="311150"/>
                </a:moveTo>
                <a:cubicBezTo>
                  <a:pt x="355600" y="323443"/>
                  <a:pt x="344249" y="333375"/>
                  <a:pt x="330200" y="333375"/>
                </a:cubicBezTo>
                <a:lnTo>
                  <a:pt x="25400" y="333375"/>
                </a:lnTo>
                <a:cubicBezTo>
                  <a:pt x="11351" y="333375"/>
                  <a:pt x="0" y="323443"/>
                  <a:pt x="0" y="311150"/>
                </a:cubicBezTo>
                <a:cubicBezTo>
                  <a:pt x="0" y="298857"/>
                  <a:pt x="11351" y="288925"/>
                  <a:pt x="25400" y="288925"/>
                </a:cubicBezTo>
                <a:lnTo>
                  <a:pt x="330200" y="288925"/>
                </a:lnTo>
                <a:cubicBezTo>
                  <a:pt x="344249" y="288925"/>
                  <a:pt x="355600" y="298857"/>
                  <a:pt x="355600" y="3111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12509500" y="5334000"/>
            <a:ext cx="222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Indentation-Based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Whitespace blocks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70000" y="6604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3C4A5A"/>
          </a:solidFill>
          <a:ln/>
        </p:spPr>
      </p:sp>
      <p:sp>
        <p:nvSpPr>
          <p:cNvPr id="23" name="Text 21"/>
          <p:cNvSpPr/>
          <p:nvPr/>
        </p:nvSpPr>
        <p:spPr>
          <a:xfrm>
            <a:off x="16510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 Syntax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51000" y="7175500"/>
            <a:ext cx="1295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 = 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|  name = 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"Alice"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|  numbers = [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1, 2, 3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 |  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greet(name): 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f"Hello, {name}!"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Essential Libraries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1905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67733" y="0"/>
                </a:moveTo>
                <a:cubicBezTo>
                  <a:pt x="30374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30374" y="406400"/>
                  <a:pt x="67733" y="406400"/>
                </a:cubicBezTo>
                <a:lnTo>
                  <a:pt x="338667" y="406400"/>
                </a:lnTo>
                <a:cubicBezTo>
                  <a:pt x="376026" y="406400"/>
                  <a:pt x="406400" y="383619"/>
                  <a:pt x="406400" y="355600"/>
                </a:cubicBezTo>
                <a:lnTo>
                  <a:pt x="406400" y="50800"/>
                </a:lnTo>
                <a:cubicBezTo>
                  <a:pt x="406400" y="22781"/>
                  <a:pt x="376026" y="0"/>
                  <a:pt x="338667" y="0"/>
                </a:cubicBezTo>
                <a:lnTo>
                  <a:pt x="67733" y="0"/>
                </a:lnTo>
                <a:close/>
                <a:moveTo>
                  <a:pt x="101600" y="50800"/>
                </a:moveTo>
                <a:lnTo>
                  <a:pt x="304800" y="50800"/>
                </a:lnTo>
                <a:cubicBezTo>
                  <a:pt x="323533" y="50800"/>
                  <a:pt x="338667" y="62151"/>
                  <a:pt x="338667" y="76200"/>
                </a:cubicBezTo>
                <a:lnTo>
                  <a:pt x="338667" y="101600"/>
                </a:lnTo>
                <a:cubicBezTo>
                  <a:pt x="338667" y="115649"/>
                  <a:pt x="323533" y="127000"/>
                  <a:pt x="304800" y="127000"/>
                </a:cubicBezTo>
                <a:lnTo>
                  <a:pt x="101600" y="127000"/>
                </a:lnTo>
                <a:cubicBezTo>
                  <a:pt x="82867" y="127000"/>
                  <a:pt x="67733" y="115649"/>
                  <a:pt x="67733" y="101600"/>
                </a:cubicBezTo>
                <a:lnTo>
                  <a:pt x="67733" y="76200"/>
                </a:lnTo>
                <a:cubicBezTo>
                  <a:pt x="67733" y="62151"/>
                  <a:pt x="82867" y="50800"/>
                  <a:pt x="101600" y="50800"/>
                </a:cubicBezTo>
                <a:close/>
                <a:moveTo>
                  <a:pt x="118533" y="184150"/>
                </a:moveTo>
                <a:cubicBezTo>
                  <a:pt x="118533" y="194664"/>
                  <a:pt x="107152" y="203200"/>
                  <a:pt x="93133" y="203200"/>
                </a:cubicBezTo>
                <a:cubicBezTo>
                  <a:pt x="79115" y="203200"/>
                  <a:pt x="67733" y="194664"/>
                  <a:pt x="67733" y="184150"/>
                </a:cubicBezTo>
                <a:cubicBezTo>
                  <a:pt x="67733" y="173636"/>
                  <a:pt x="79115" y="165100"/>
                  <a:pt x="93133" y="165100"/>
                </a:cubicBezTo>
                <a:cubicBezTo>
                  <a:pt x="107152" y="165100"/>
                  <a:pt x="118533" y="173636"/>
                  <a:pt x="118533" y="184150"/>
                </a:cubicBezTo>
                <a:close/>
                <a:moveTo>
                  <a:pt x="203200" y="203200"/>
                </a:moveTo>
                <a:cubicBezTo>
                  <a:pt x="189181" y="203200"/>
                  <a:pt x="177800" y="194664"/>
                  <a:pt x="177800" y="184150"/>
                </a:cubicBezTo>
                <a:cubicBezTo>
                  <a:pt x="177800" y="173636"/>
                  <a:pt x="189181" y="165100"/>
                  <a:pt x="203200" y="165100"/>
                </a:cubicBezTo>
                <a:cubicBezTo>
                  <a:pt x="217219" y="165100"/>
                  <a:pt x="228600" y="173636"/>
                  <a:pt x="228600" y="184150"/>
                </a:cubicBezTo>
                <a:cubicBezTo>
                  <a:pt x="228600" y="194664"/>
                  <a:pt x="217219" y="203200"/>
                  <a:pt x="203200" y="203200"/>
                </a:cubicBezTo>
                <a:close/>
                <a:moveTo>
                  <a:pt x="338667" y="184150"/>
                </a:moveTo>
                <a:cubicBezTo>
                  <a:pt x="338667" y="194664"/>
                  <a:pt x="327285" y="203200"/>
                  <a:pt x="313267" y="203200"/>
                </a:cubicBezTo>
                <a:cubicBezTo>
                  <a:pt x="299248" y="203200"/>
                  <a:pt x="287867" y="194664"/>
                  <a:pt x="287867" y="184150"/>
                </a:cubicBezTo>
                <a:cubicBezTo>
                  <a:pt x="287867" y="173636"/>
                  <a:pt x="299248" y="165100"/>
                  <a:pt x="313267" y="165100"/>
                </a:cubicBezTo>
                <a:cubicBezTo>
                  <a:pt x="327285" y="165100"/>
                  <a:pt x="338667" y="173636"/>
                  <a:pt x="338667" y="184150"/>
                </a:cubicBezTo>
                <a:close/>
                <a:moveTo>
                  <a:pt x="93133" y="279400"/>
                </a:moveTo>
                <a:cubicBezTo>
                  <a:pt x="79115" y="279400"/>
                  <a:pt x="67733" y="270864"/>
                  <a:pt x="67733" y="260350"/>
                </a:cubicBezTo>
                <a:cubicBezTo>
                  <a:pt x="67733" y="249836"/>
                  <a:pt x="79115" y="241300"/>
                  <a:pt x="93133" y="241300"/>
                </a:cubicBezTo>
                <a:cubicBezTo>
                  <a:pt x="107152" y="241300"/>
                  <a:pt x="118533" y="249836"/>
                  <a:pt x="118533" y="260350"/>
                </a:cubicBezTo>
                <a:cubicBezTo>
                  <a:pt x="118533" y="270864"/>
                  <a:pt x="107152" y="279400"/>
                  <a:pt x="93133" y="279400"/>
                </a:cubicBezTo>
                <a:close/>
                <a:moveTo>
                  <a:pt x="228600" y="260350"/>
                </a:moveTo>
                <a:cubicBezTo>
                  <a:pt x="228600" y="270864"/>
                  <a:pt x="217219" y="279400"/>
                  <a:pt x="203200" y="279400"/>
                </a:cubicBezTo>
                <a:cubicBezTo>
                  <a:pt x="189181" y="279400"/>
                  <a:pt x="177800" y="270864"/>
                  <a:pt x="177800" y="260350"/>
                </a:cubicBezTo>
                <a:cubicBezTo>
                  <a:pt x="177800" y="249836"/>
                  <a:pt x="189181" y="241300"/>
                  <a:pt x="203200" y="241300"/>
                </a:cubicBezTo>
                <a:cubicBezTo>
                  <a:pt x="217219" y="241300"/>
                  <a:pt x="228600" y="249836"/>
                  <a:pt x="228600" y="260350"/>
                </a:cubicBezTo>
                <a:close/>
                <a:moveTo>
                  <a:pt x="313267" y="279400"/>
                </a:moveTo>
                <a:cubicBezTo>
                  <a:pt x="299248" y="279400"/>
                  <a:pt x="287867" y="270864"/>
                  <a:pt x="287867" y="260350"/>
                </a:cubicBezTo>
                <a:cubicBezTo>
                  <a:pt x="287867" y="249836"/>
                  <a:pt x="299248" y="241300"/>
                  <a:pt x="313267" y="241300"/>
                </a:cubicBezTo>
                <a:cubicBezTo>
                  <a:pt x="327285" y="241300"/>
                  <a:pt x="338667" y="249836"/>
                  <a:pt x="338667" y="260350"/>
                </a:cubicBezTo>
                <a:cubicBezTo>
                  <a:pt x="338667" y="270864"/>
                  <a:pt x="327285" y="279400"/>
                  <a:pt x="313267" y="279400"/>
                </a:cubicBezTo>
                <a:close/>
                <a:moveTo>
                  <a:pt x="67733" y="336550"/>
                </a:moveTo>
                <a:cubicBezTo>
                  <a:pt x="67733" y="325993"/>
                  <a:pt x="79058" y="317500"/>
                  <a:pt x="93133" y="317500"/>
                </a:cubicBezTo>
                <a:lnTo>
                  <a:pt x="211667" y="317500"/>
                </a:lnTo>
                <a:cubicBezTo>
                  <a:pt x="225743" y="317500"/>
                  <a:pt x="237067" y="325993"/>
                  <a:pt x="237067" y="336550"/>
                </a:cubicBezTo>
                <a:cubicBezTo>
                  <a:pt x="237067" y="347107"/>
                  <a:pt x="225743" y="355600"/>
                  <a:pt x="211667" y="355600"/>
                </a:cubicBezTo>
                <a:lnTo>
                  <a:pt x="93133" y="355600"/>
                </a:lnTo>
                <a:cubicBezTo>
                  <a:pt x="79058" y="355600"/>
                  <a:pt x="67733" y="347107"/>
                  <a:pt x="67733" y="336550"/>
                </a:cubicBezTo>
                <a:close/>
                <a:moveTo>
                  <a:pt x="313267" y="317500"/>
                </a:moveTo>
                <a:cubicBezTo>
                  <a:pt x="327343" y="317500"/>
                  <a:pt x="338667" y="325993"/>
                  <a:pt x="338667" y="336550"/>
                </a:cubicBezTo>
                <a:cubicBezTo>
                  <a:pt x="338667" y="347107"/>
                  <a:pt x="327343" y="355600"/>
                  <a:pt x="313267" y="355600"/>
                </a:cubicBezTo>
                <a:cubicBezTo>
                  <a:pt x="299191" y="355600"/>
                  <a:pt x="287867" y="347107"/>
                  <a:pt x="287867" y="336550"/>
                </a:cubicBezTo>
                <a:cubicBezTo>
                  <a:pt x="287867" y="325993"/>
                  <a:pt x="299191" y="317500"/>
                  <a:pt x="313267" y="3175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2225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NumPy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87500" y="27940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Numerical computing — arrays, matrices, mathematical operations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2159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1257" y="0"/>
                </a:moveTo>
                <a:lnTo>
                  <a:pt x="116114" y="0"/>
                </a:lnTo>
                <a:cubicBezTo>
                  <a:pt x="100058" y="0"/>
                  <a:pt x="87086" y="11351"/>
                  <a:pt x="87086" y="25400"/>
                </a:cubicBezTo>
                <a:cubicBezTo>
                  <a:pt x="87086" y="39449"/>
                  <a:pt x="100058" y="50800"/>
                  <a:pt x="116114" y="50800"/>
                </a:cubicBezTo>
                <a:lnTo>
                  <a:pt x="116114" y="171053"/>
                </a:lnTo>
                <a:lnTo>
                  <a:pt x="6804" y="338376"/>
                </a:lnTo>
                <a:cubicBezTo>
                  <a:pt x="2359" y="345281"/>
                  <a:pt x="0" y="352981"/>
                  <a:pt x="0" y="360918"/>
                </a:cubicBezTo>
                <a:cubicBezTo>
                  <a:pt x="0" y="386080"/>
                  <a:pt x="23223" y="406400"/>
                  <a:pt x="51979" y="406400"/>
                </a:cubicBezTo>
                <a:lnTo>
                  <a:pt x="354421" y="406400"/>
                </a:lnTo>
                <a:cubicBezTo>
                  <a:pt x="383086" y="406400"/>
                  <a:pt x="406400" y="386080"/>
                  <a:pt x="406400" y="360918"/>
                </a:cubicBezTo>
                <a:cubicBezTo>
                  <a:pt x="406400" y="352981"/>
                  <a:pt x="404041" y="345202"/>
                  <a:pt x="399596" y="338376"/>
                </a:cubicBezTo>
                <a:lnTo>
                  <a:pt x="290286" y="171053"/>
                </a:lnTo>
                <a:lnTo>
                  <a:pt x="290286" y="50800"/>
                </a:lnTo>
                <a:cubicBezTo>
                  <a:pt x="306342" y="50800"/>
                  <a:pt x="319314" y="39449"/>
                  <a:pt x="319314" y="25400"/>
                </a:cubicBezTo>
                <a:cubicBezTo>
                  <a:pt x="319314" y="11351"/>
                  <a:pt x="306342" y="0"/>
                  <a:pt x="290286" y="0"/>
                </a:cubicBezTo>
                <a:lnTo>
                  <a:pt x="261257" y="0"/>
                </a:lnTo>
                <a:close/>
                <a:moveTo>
                  <a:pt x="174171" y="171053"/>
                </a:moveTo>
                <a:lnTo>
                  <a:pt x="174171" y="50800"/>
                </a:lnTo>
                <a:lnTo>
                  <a:pt x="232229" y="50800"/>
                </a:lnTo>
                <a:lnTo>
                  <a:pt x="232229" y="171053"/>
                </a:lnTo>
                <a:cubicBezTo>
                  <a:pt x="232229" y="179864"/>
                  <a:pt x="234859" y="188595"/>
                  <a:pt x="239849" y="196294"/>
                </a:cubicBezTo>
                <a:lnTo>
                  <a:pt x="277586" y="254000"/>
                </a:lnTo>
                <a:lnTo>
                  <a:pt x="128814" y="254000"/>
                </a:lnTo>
                <a:lnTo>
                  <a:pt x="166551" y="196294"/>
                </a:lnTo>
                <a:cubicBezTo>
                  <a:pt x="171541" y="188595"/>
                  <a:pt x="174171" y="179943"/>
                  <a:pt x="174171" y="17105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2225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SciPy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86500" y="2794000"/>
            <a:ext cx="368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Scientific computing — optimization, statistics, signal processing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190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85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39449" y="25400"/>
                  <a:pt x="50800" y="36751"/>
                  <a:pt x="50800" y="50800"/>
                </a:cubicBez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381000" y="330200"/>
                </a:lnTo>
                <a:cubicBezTo>
                  <a:pt x="395049" y="330200"/>
                  <a:pt x="406400" y="341551"/>
                  <a:pt x="406400" y="355600"/>
                </a:cubicBezTo>
                <a:cubicBezTo>
                  <a:pt x="406400" y="369649"/>
                  <a:pt x="395049" y="381000"/>
                  <a:pt x="381000" y="381000"/>
                </a:cubicBezTo>
                <a:lnTo>
                  <a:pt x="63500" y="381000"/>
                </a:lnTo>
                <a:cubicBezTo>
                  <a:pt x="28416" y="381000"/>
                  <a:pt x="0" y="352584"/>
                  <a:pt x="0" y="317500"/>
                </a:cubicBezTo>
                <a:lnTo>
                  <a:pt x="0" y="50800"/>
                </a:lnTo>
                <a:cubicBezTo>
                  <a:pt x="0" y="36751"/>
                  <a:pt x="11351" y="25400"/>
                  <a:pt x="25400" y="25400"/>
                </a:cubicBezTo>
                <a:close/>
                <a:moveTo>
                  <a:pt x="114300" y="177800"/>
                </a:moveTo>
                <a:cubicBezTo>
                  <a:pt x="128349" y="177800"/>
                  <a:pt x="139700" y="189151"/>
                  <a:pt x="139700" y="203200"/>
                </a:cubicBezTo>
                <a:lnTo>
                  <a:pt x="139700" y="254000"/>
                </a:lnTo>
                <a:cubicBezTo>
                  <a:pt x="139700" y="268049"/>
                  <a:pt x="128349" y="279400"/>
                  <a:pt x="114300" y="279400"/>
                </a:cubicBezTo>
                <a:cubicBezTo>
                  <a:pt x="100251" y="279400"/>
                  <a:pt x="88900" y="268049"/>
                  <a:pt x="88900" y="254000"/>
                </a:cubicBezTo>
                <a:lnTo>
                  <a:pt x="88900" y="203200"/>
                </a:lnTo>
                <a:cubicBezTo>
                  <a:pt x="88900" y="189151"/>
                  <a:pt x="100251" y="177800"/>
                  <a:pt x="114300" y="177800"/>
                </a:cubicBezTo>
                <a:close/>
                <a:moveTo>
                  <a:pt x="228600" y="127000"/>
                </a:moveTo>
                <a:lnTo>
                  <a:pt x="228600" y="254000"/>
                </a:lnTo>
                <a:cubicBezTo>
                  <a:pt x="228600" y="268049"/>
                  <a:pt x="217249" y="279400"/>
                  <a:pt x="203200" y="279400"/>
                </a:cubicBezTo>
                <a:cubicBezTo>
                  <a:pt x="189151" y="279400"/>
                  <a:pt x="177800" y="268049"/>
                  <a:pt x="177800" y="2540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292100" y="152400"/>
                </a:moveTo>
                <a:cubicBezTo>
                  <a:pt x="306149" y="152400"/>
                  <a:pt x="317500" y="163751"/>
                  <a:pt x="317500" y="177800"/>
                </a:cubicBezTo>
                <a:lnTo>
                  <a:pt x="317500" y="254000"/>
                </a:lnTo>
                <a:cubicBezTo>
                  <a:pt x="317500" y="268049"/>
                  <a:pt x="306149" y="279400"/>
                  <a:pt x="292100" y="279400"/>
                </a:cubicBezTo>
                <a:cubicBezTo>
                  <a:pt x="278051" y="279400"/>
                  <a:pt x="266700" y="268049"/>
                  <a:pt x="266700" y="254000"/>
                </a:cubicBezTo>
                <a:lnTo>
                  <a:pt x="266700" y="177800"/>
                </a:lnTo>
                <a:cubicBezTo>
                  <a:pt x="266700" y="163751"/>
                  <a:pt x="278051" y="152400"/>
                  <a:pt x="292100" y="152400"/>
                </a:cubicBezTo>
                <a:close/>
                <a:moveTo>
                  <a:pt x="406400" y="76200"/>
                </a:moveTo>
                <a:lnTo>
                  <a:pt x="406400" y="254000"/>
                </a:lnTo>
                <a:cubicBezTo>
                  <a:pt x="406400" y="268049"/>
                  <a:pt x="395049" y="279400"/>
                  <a:pt x="381000" y="279400"/>
                </a:cubicBezTo>
                <a:cubicBezTo>
                  <a:pt x="366951" y="279400"/>
                  <a:pt x="355600" y="268049"/>
                  <a:pt x="355600" y="254000"/>
                </a:cubicBezTo>
                <a:lnTo>
                  <a:pt x="355600" y="76200"/>
                </a:lnTo>
                <a:cubicBezTo>
                  <a:pt x="355600" y="62151"/>
                  <a:pt x="366951" y="50800"/>
                  <a:pt x="381000" y="50800"/>
                </a:cubicBezTo>
                <a:cubicBezTo>
                  <a:pt x="395049" y="50800"/>
                  <a:pt x="406400" y="62151"/>
                  <a:pt x="406400" y="762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57000" y="22225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Matplotlib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85500" y="27940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visualization — plots, charts, graphs for analysis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191000"/>
            <a:ext cx="4318000" cy="2159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87500" y="450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48343" y="76200"/>
                </a:moveTo>
                <a:lnTo>
                  <a:pt x="348343" y="127000"/>
                </a:lnTo>
                <a:lnTo>
                  <a:pt x="290286" y="127000"/>
                </a:lnTo>
                <a:lnTo>
                  <a:pt x="290286" y="76200"/>
                </a:lnTo>
                <a:lnTo>
                  <a:pt x="348343" y="76200"/>
                </a:lnTo>
                <a:close/>
                <a:moveTo>
                  <a:pt x="348343" y="177800"/>
                </a:moveTo>
                <a:lnTo>
                  <a:pt x="348343" y="228600"/>
                </a:lnTo>
                <a:lnTo>
                  <a:pt x="290286" y="228600"/>
                </a:lnTo>
                <a:lnTo>
                  <a:pt x="290286" y="177800"/>
                </a:lnTo>
                <a:lnTo>
                  <a:pt x="348343" y="177800"/>
                </a:lnTo>
                <a:close/>
                <a:moveTo>
                  <a:pt x="348343" y="279400"/>
                </a:moveTo>
                <a:lnTo>
                  <a:pt x="348343" y="330200"/>
                </a:lnTo>
                <a:lnTo>
                  <a:pt x="290286" y="330200"/>
                </a:lnTo>
                <a:lnTo>
                  <a:pt x="290286" y="279400"/>
                </a:lnTo>
                <a:lnTo>
                  <a:pt x="348343" y="279400"/>
                </a:lnTo>
                <a:close/>
                <a:moveTo>
                  <a:pt x="232229" y="228600"/>
                </a:moveTo>
                <a:lnTo>
                  <a:pt x="174171" y="228600"/>
                </a:lnTo>
                <a:lnTo>
                  <a:pt x="174171" y="177800"/>
                </a:lnTo>
                <a:lnTo>
                  <a:pt x="232229" y="177800"/>
                </a:lnTo>
                <a:lnTo>
                  <a:pt x="232229" y="228600"/>
                </a:lnTo>
                <a:close/>
                <a:moveTo>
                  <a:pt x="174171" y="279400"/>
                </a:moveTo>
                <a:lnTo>
                  <a:pt x="232229" y="279400"/>
                </a:lnTo>
                <a:lnTo>
                  <a:pt x="232229" y="330200"/>
                </a:lnTo>
                <a:lnTo>
                  <a:pt x="174171" y="330200"/>
                </a:lnTo>
                <a:lnTo>
                  <a:pt x="174171" y="279400"/>
                </a:lnTo>
                <a:close/>
                <a:moveTo>
                  <a:pt x="116114" y="228600"/>
                </a:moveTo>
                <a:lnTo>
                  <a:pt x="58057" y="228600"/>
                </a:lnTo>
                <a:lnTo>
                  <a:pt x="58057" y="177800"/>
                </a:lnTo>
                <a:lnTo>
                  <a:pt x="116114" y="177800"/>
                </a:lnTo>
                <a:lnTo>
                  <a:pt x="116114" y="228600"/>
                </a:lnTo>
                <a:close/>
                <a:moveTo>
                  <a:pt x="58057" y="279400"/>
                </a:moveTo>
                <a:lnTo>
                  <a:pt x="116114" y="279400"/>
                </a:lnTo>
                <a:lnTo>
                  <a:pt x="116114" y="330200"/>
                </a:lnTo>
                <a:lnTo>
                  <a:pt x="58057" y="330200"/>
                </a:lnTo>
                <a:lnTo>
                  <a:pt x="58057" y="279400"/>
                </a:lnTo>
                <a:close/>
                <a:moveTo>
                  <a:pt x="58057" y="127000"/>
                </a:moveTo>
                <a:lnTo>
                  <a:pt x="58057" y="76200"/>
                </a:lnTo>
                <a:lnTo>
                  <a:pt x="116114" y="76200"/>
                </a:lnTo>
                <a:lnTo>
                  <a:pt x="116114" y="127000"/>
                </a:lnTo>
                <a:lnTo>
                  <a:pt x="58057" y="127000"/>
                </a:lnTo>
                <a:close/>
                <a:moveTo>
                  <a:pt x="174171" y="127000"/>
                </a:moveTo>
                <a:lnTo>
                  <a:pt x="174171" y="76200"/>
                </a:lnTo>
                <a:lnTo>
                  <a:pt x="232229" y="76200"/>
                </a:lnTo>
                <a:lnTo>
                  <a:pt x="232229" y="127000"/>
                </a:lnTo>
                <a:lnTo>
                  <a:pt x="174171" y="127000"/>
                </a:lnTo>
                <a:close/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2159000" y="45085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Pandas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87500" y="50800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manipulation — DataFrames, cleaning, exploration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191000"/>
            <a:ext cx="4318000" cy="2159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86500" y="450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520" y="0"/>
                </a:moveTo>
                <a:cubicBezTo>
                  <a:pt x="223520" y="-14049"/>
                  <a:pt x="214440" y="-25400"/>
                  <a:pt x="203200" y="-25400"/>
                </a:cubicBezTo>
                <a:cubicBezTo>
                  <a:pt x="191961" y="-25400"/>
                  <a:pt x="182880" y="-14049"/>
                  <a:pt x="182880" y="0"/>
                </a:cubicBezTo>
                <a:lnTo>
                  <a:pt x="182880" y="50800"/>
                </a:lnTo>
                <a:lnTo>
                  <a:pt x="121920" y="50800"/>
                </a:lnTo>
                <a:cubicBezTo>
                  <a:pt x="88265" y="50800"/>
                  <a:pt x="60960" y="84931"/>
                  <a:pt x="60960" y="127000"/>
                </a:cubicBezTo>
                <a:lnTo>
                  <a:pt x="60960" y="304800"/>
                </a:lnTo>
                <a:cubicBezTo>
                  <a:pt x="60960" y="346869"/>
                  <a:pt x="88265" y="381000"/>
                  <a:pt x="121920" y="381000"/>
                </a:cubicBezTo>
                <a:lnTo>
                  <a:pt x="284480" y="381000"/>
                </a:lnTo>
                <a:cubicBezTo>
                  <a:pt x="318135" y="381000"/>
                  <a:pt x="345440" y="346869"/>
                  <a:pt x="345440" y="304800"/>
                </a:cubicBezTo>
                <a:lnTo>
                  <a:pt x="345440" y="127000"/>
                </a:lnTo>
                <a:cubicBezTo>
                  <a:pt x="345440" y="84931"/>
                  <a:pt x="318135" y="50800"/>
                  <a:pt x="284480" y="50800"/>
                </a:cubicBezTo>
                <a:lnTo>
                  <a:pt x="223520" y="50800"/>
                </a:lnTo>
                <a:lnTo>
                  <a:pt x="223520" y="0"/>
                </a:lnTo>
                <a:close/>
                <a:moveTo>
                  <a:pt x="101600" y="292100"/>
                </a:moveTo>
                <a:cubicBezTo>
                  <a:pt x="101600" y="281543"/>
                  <a:pt x="108394" y="273050"/>
                  <a:pt x="116840" y="273050"/>
                </a:cubicBezTo>
                <a:lnTo>
                  <a:pt x="137160" y="273050"/>
                </a:lnTo>
                <a:cubicBezTo>
                  <a:pt x="145606" y="273050"/>
                  <a:pt x="152400" y="281543"/>
                  <a:pt x="152400" y="292100"/>
                </a:cubicBezTo>
                <a:cubicBezTo>
                  <a:pt x="152400" y="302657"/>
                  <a:pt x="145606" y="311150"/>
                  <a:pt x="137160" y="311150"/>
                </a:cubicBezTo>
                <a:lnTo>
                  <a:pt x="116840" y="311150"/>
                </a:lnTo>
                <a:cubicBezTo>
                  <a:pt x="108394" y="311150"/>
                  <a:pt x="101600" y="302657"/>
                  <a:pt x="101600" y="292100"/>
                </a:cubicBezTo>
                <a:close/>
                <a:moveTo>
                  <a:pt x="177800" y="292100"/>
                </a:moveTo>
                <a:cubicBezTo>
                  <a:pt x="177800" y="281543"/>
                  <a:pt x="184595" y="273050"/>
                  <a:pt x="193040" y="273050"/>
                </a:cubicBezTo>
                <a:lnTo>
                  <a:pt x="213360" y="273050"/>
                </a:lnTo>
                <a:cubicBezTo>
                  <a:pt x="221806" y="273050"/>
                  <a:pt x="228600" y="281543"/>
                  <a:pt x="228600" y="292100"/>
                </a:cubicBezTo>
                <a:cubicBezTo>
                  <a:pt x="228600" y="302657"/>
                  <a:pt x="221806" y="311150"/>
                  <a:pt x="213360" y="311150"/>
                </a:cubicBezTo>
                <a:lnTo>
                  <a:pt x="193040" y="311150"/>
                </a:lnTo>
                <a:cubicBezTo>
                  <a:pt x="184595" y="311150"/>
                  <a:pt x="177800" y="302657"/>
                  <a:pt x="177800" y="292100"/>
                </a:cubicBezTo>
                <a:close/>
                <a:moveTo>
                  <a:pt x="254000" y="292100"/>
                </a:moveTo>
                <a:cubicBezTo>
                  <a:pt x="254000" y="281543"/>
                  <a:pt x="260795" y="273050"/>
                  <a:pt x="269240" y="273050"/>
                </a:cubicBezTo>
                <a:lnTo>
                  <a:pt x="289560" y="273050"/>
                </a:lnTo>
                <a:cubicBezTo>
                  <a:pt x="298006" y="273050"/>
                  <a:pt x="304800" y="281543"/>
                  <a:pt x="304800" y="292100"/>
                </a:cubicBezTo>
                <a:cubicBezTo>
                  <a:pt x="304800" y="302657"/>
                  <a:pt x="298006" y="311150"/>
                  <a:pt x="289560" y="311150"/>
                </a:cubicBezTo>
                <a:lnTo>
                  <a:pt x="269240" y="311150"/>
                </a:lnTo>
                <a:cubicBezTo>
                  <a:pt x="260795" y="311150"/>
                  <a:pt x="254000" y="302657"/>
                  <a:pt x="254000" y="292100"/>
                </a:cubicBezTo>
                <a:close/>
                <a:moveTo>
                  <a:pt x="142240" y="139700"/>
                </a:moveTo>
                <a:cubicBezTo>
                  <a:pt x="159062" y="139700"/>
                  <a:pt x="172720" y="156772"/>
                  <a:pt x="172720" y="177800"/>
                </a:cubicBezTo>
                <a:cubicBezTo>
                  <a:pt x="172720" y="198828"/>
                  <a:pt x="159062" y="215900"/>
                  <a:pt x="142240" y="215900"/>
                </a:cubicBezTo>
                <a:cubicBezTo>
                  <a:pt x="125418" y="215900"/>
                  <a:pt x="111760" y="198828"/>
                  <a:pt x="111760" y="177800"/>
                </a:cubicBezTo>
                <a:cubicBezTo>
                  <a:pt x="111760" y="156772"/>
                  <a:pt x="125418" y="139700"/>
                  <a:pt x="142240" y="139700"/>
                </a:cubicBezTo>
                <a:close/>
                <a:moveTo>
                  <a:pt x="233680" y="177800"/>
                </a:moveTo>
                <a:cubicBezTo>
                  <a:pt x="233680" y="156772"/>
                  <a:pt x="247338" y="139700"/>
                  <a:pt x="264160" y="139700"/>
                </a:cubicBezTo>
                <a:cubicBezTo>
                  <a:pt x="280982" y="139700"/>
                  <a:pt x="294640" y="156772"/>
                  <a:pt x="294640" y="177800"/>
                </a:cubicBezTo>
                <a:cubicBezTo>
                  <a:pt x="294640" y="198828"/>
                  <a:pt x="280982" y="215900"/>
                  <a:pt x="264160" y="215900"/>
                </a:cubicBezTo>
                <a:cubicBezTo>
                  <a:pt x="247338" y="215900"/>
                  <a:pt x="233680" y="198828"/>
                  <a:pt x="233680" y="177800"/>
                </a:cubicBezTo>
                <a:close/>
                <a:moveTo>
                  <a:pt x="40640" y="177800"/>
                </a:moveTo>
                <a:cubicBezTo>
                  <a:pt x="40640" y="163751"/>
                  <a:pt x="31560" y="152400"/>
                  <a:pt x="20320" y="152400"/>
                </a:cubicBezTo>
                <a:cubicBezTo>
                  <a:pt x="9080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9081" y="279400"/>
                  <a:pt x="20320" y="279400"/>
                </a:cubicBezTo>
                <a:cubicBezTo>
                  <a:pt x="31560" y="279400"/>
                  <a:pt x="40640" y="268049"/>
                  <a:pt x="40640" y="254000"/>
                </a:cubicBezTo>
                <a:lnTo>
                  <a:pt x="40640" y="177800"/>
                </a:lnTo>
                <a:close/>
                <a:moveTo>
                  <a:pt x="386080" y="152400"/>
                </a:moveTo>
                <a:cubicBezTo>
                  <a:pt x="374841" y="152400"/>
                  <a:pt x="365760" y="163751"/>
                  <a:pt x="365760" y="177800"/>
                </a:cubicBezTo>
                <a:lnTo>
                  <a:pt x="365760" y="254000"/>
                </a:lnTo>
                <a:cubicBezTo>
                  <a:pt x="365760" y="268049"/>
                  <a:pt x="374841" y="279400"/>
                  <a:pt x="386080" y="279400"/>
                </a:cubicBezTo>
                <a:cubicBezTo>
                  <a:pt x="397320" y="279400"/>
                  <a:pt x="406400" y="268049"/>
                  <a:pt x="406400" y="2540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45085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Scikit-Learn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86500" y="50800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— algorithms, preprocessing, evaluation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191000"/>
            <a:ext cx="4318000" cy="2159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85500" y="450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791" y="188278"/>
                </a:moveTo>
                <a:cubicBezTo>
                  <a:pt x="362395" y="197644"/>
                  <a:pt x="373761" y="199708"/>
                  <a:pt x="382334" y="192643"/>
                </a:cubicBezTo>
                <a:cubicBezTo>
                  <a:pt x="391668" y="184864"/>
                  <a:pt x="394208" y="169069"/>
                  <a:pt x="387985" y="157401"/>
                </a:cubicBezTo>
                <a:lnTo>
                  <a:pt x="357505" y="100251"/>
                </a:lnTo>
                <a:cubicBezTo>
                  <a:pt x="355727" y="96917"/>
                  <a:pt x="353314" y="94139"/>
                  <a:pt x="350456" y="92154"/>
                </a:cubicBezTo>
                <a:lnTo>
                  <a:pt x="223139" y="3731"/>
                </a:lnTo>
                <a:cubicBezTo>
                  <a:pt x="210884" y="-4762"/>
                  <a:pt x="195961" y="-4762"/>
                  <a:pt x="183642" y="3731"/>
                </a:cubicBezTo>
                <a:lnTo>
                  <a:pt x="56388" y="92075"/>
                </a:lnTo>
                <a:cubicBezTo>
                  <a:pt x="52959" y="94456"/>
                  <a:pt x="50229" y="97949"/>
                  <a:pt x="48387" y="102235"/>
                </a:cubicBezTo>
                <a:lnTo>
                  <a:pt x="17590" y="173593"/>
                </a:lnTo>
                <a:cubicBezTo>
                  <a:pt x="9589" y="192167"/>
                  <a:pt x="15177" y="215265"/>
                  <a:pt x="30036" y="225266"/>
                </a:cubicBezTo>
                <a:lnTo>
                  <a:pt x="50991" y="239316"/>
                </a:lnTo>
                <a:lnTo>
                  <a:pt x="50991" y="281622"/>
                </a:lnTo>
                <a:cubicBezTo>
                  <a:pt x="50991" y="299879"/>
                  <a:pt x="58865" y="316786"/>
                  <a:pt x="71565" y="325834"/>
                </a:cubicBezTo>
                <a:lnTo>
                  <a:pt x="183325" y="404971"/>
                </a:lnTo>
                <a:cubicBezTo>
                  <a:pt x="195771" y="413782"/>
                  <a:pt x="210947" y="413782"/>
                  <a:pt x="223393" y="404971"/>
                </a:cubicBezTo>
                <a:lnTo>
                  <a:pt x="335153" y="325834"/>
                </a:lnTo>
                <a:cubicBezTo>
                  <a:pt x="347917" y="316786"/>
                  <a:pt x="355727" y="299958"/>
                  <a:pt x="355727" y="281622"/>
                </a:cubicBezTo>
                <a:lnTo>
                  <a:pt x="355727" y="188357"/>
                </a:lnTo>
                <a:close/>
                <a:moveTo>
                  <a:pt x="203390" y="180499"/>
                </a:moveTo>
                <a:lnTo>
                  <a:pt x="108077" y="114300"/>
                </a:lnTo>
                <a:lnTo>
                  <a:pt x="203391" y="48101"/>
                </a:lnTo>
                <a:lnTo>
                  <a:pt x="298704" y="114300"/>
                </a:lnTo>
                <a:lnTo>
                  <a:pt x="203391" y="180499"/>
                </a:lnTo>
                <a:close/>
                <a:moveTo>
                  <a:pt x="177038" y="220345"/>
                </a:moveTo>
                <a:lnTo>
                  <a:pt x="163512" y="257016"/>
                </a:lnTo>
                <a:lnTo>
                  <a:pt x="58229" y="186531"/>
                </a:lnTo>
                <a:lnTo>
                  <a:pt x="74358" y="149066"/>
                </a:lnTo>
                <a:lnTo>
                  <a:pt x="177038" y="22034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557000" y="4508500"/>
            <a:ext cx="304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Anaconda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85500" y="50800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Distribution platform — package &amp; environment management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604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78000" y="6731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Typical Workflow: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Pandas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(load) →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 &amp; Transform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NumPy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(arrays) →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Scikit-Learn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(train) →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Matplotlib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(visualize)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Install: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 install numpy scipy matplotlib pandas scikit-learn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 use 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Anaconda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 — Numerical Computing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858000" cy="317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0" y="0"/>
                </a:moveTo>
                <a:cubicBezTo>
                  <a:pt x="34171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34171" y="457200"/>
                  <a:pt x="76200" y="457200"/>
                </a:cubicBezTo>
                <a:lnTo>
                  <a:pt x="381000" y="457200"/>
                </a:lnTo>
                <a:cubicBezTo>
                  <a:pt x="423029" y="457200"/>
                  <a:pt x="457200" y="431572"/>
                  <a:pt x="457200" y="400050"/>
                </a:cubicBezTo>
                <a:lnTo>
                  <a:pt x="457200" y="57150"/>
                </a:lnTo>
                <a:cubicBezTo>
                  <a:pt x="457200" y="25628"/>
                  <a:pt x="423029" y="0"/>
                  <a:pt x="381000" y="0"/>
                </a:cubicBezTo>
                <a:lnTo>
                  <a:pt x="76200" y="0"/>
                </a:lnTo>
                <a:close/>
                <a:moveTo>
                  <a:pt x="114300" y="57150"/>
                </a:moveTo>
                <a:lnTo>
                  <a:pt x="342900" y="57150"/>
                </a:lnTo>
                <a:cubicBezTo>
                  <a:pt x="363974" y="57150"/>
                  <a:pt x="381000" y="69919"/>
                  <a:pt x="381000" y="85725"/>
                </a:cubicBezTo>
                <a:lnTo>
                  <a:pt x="381000" y="114300"/>
                </a:lnTo>
                <a:cubicBezTo>
                  <a:pt x="381000" y="130106"/>
                  <a:pt x="363974" y="142875"/>
                  <a:pt x="342900" y="142875"/>
                </a:cubicBezTo>
                <a:lnTo>
                  <a:pt x="114300" y="142875"/>
                </a:lnTo>
                <a:cubicBezTo>
                  <a:pt x="93226" y="142875"/>
                  <a:pt x="76200" y="130106"/>
                  <a:pt x="76200" y="114300"/>
                </a:cubicBezTo>
                <a:lnTo>
                  <a:pt x="76200" y="85725"/>
                </a:lnTo>
                <a:cubicBezTo>
                  <a:pt x="76200" y="69919"/>
                  <a:pt x="93226" y="57150"/>
                  <a:pt x="114300" y="57150"/>
                </a:cubicBezTo>
                <a:close/>
                <a:moveTo>
                  <a:pt x="133350" y="207169"/>
                </a:moveTo>
                <a:cubicBezTo>
                  <a:pt x="133350" y="218997"/>
                  <a:pt x="120546" y="228600"/>
                  <a:pt x="104775" y="228600"/>
                </a:cubicBezTo>
                <a:cubicBezTo>
                  <a:pt x="89004" y="228600"/>
                  <a:pt x="76200" y="218997"/>
                  <a:pt x="76200" y="207169"/>
                </a:cubicBezTo>
                <a:cubicBezTo>
                  <a:pt x="76200" y="195341"/>
                  <a:pt x="89004" y="185738"/>
                  <a:pt x="104775" y="185738"/>
                </a:cubicBezTo>
                <a:cubicBezTo>
                  <a:pt x="120546" y="185738"/>
                  <a:pt x="133350" y="195341"/>
                  <a:pt x="133350" y="207169"/>
                </a:cubicBezTo>
                <a:close/>
                <a:moveTo>
                  <a:pt x="228600" y="228600"/>
                </a:moveTo>
                <a:cubicBezTo>
                  <a:pt x="212829" y="228600"/>
                  <a:pt x="200025" y="218997"/>
                  <a:pt x="200025" y="207169"/>
                </a:cubicBezTo>
                <a:cubicBezTo>
                  <a:pt x="200025" y="195341"/>
                  <a:pt x="212829" y="185738"/>
                  <a:pt x="228600" y="185738"/>
                </a:cubicBezTo>
                <a:cubicBezTo>
                  <a:pt x="244371" y="185738"/>
                  <a:pt x="257175" y="195341"/>
                  <a:pt x="257175" y="207169"/>
                </a:cubicBezTo>
                <a:cubicBezTo>
                  <a:pt x="257175" y="218997"/>
                  <a:pt x="244371" y="228600"/>
                  <a:pt x="228600" y="228600"/>
                </a:cubicBezTo>
                <a:close/>
                <a:moveTo>
                  <a:pt x="381000" y="207169"/>
                </a:moveTo>
                <a:cubicBezTo>
                  <a:pt x="381000" y="218997"/>
                  <a:pt x="368196" y="228600"/>
                  <a:pt x="352425" y="228600"/>
                </a:cubicBezTo>
                <a:cubicBezTo>
                  <a:pt x="336654" y="228600"/>
                  <a:pt x="323850" y="218997"/>
                  <a:pt x="323850" y="207169"/>
                </a:cubicBezTo>
                <a:cubicBezTo>
                  <a:pt x="323850" y="195341"/>
                  <a:pt x="336654" y="185738"/>
                  <a:pt x="352425" y="185738"/>
                </a:cubicBezTo>
                <a:cubicBezTo>
                  <a:pt x="368196" y="185738"/>
                  <a:pt x="381000" y="195341"/>
                  <a:pt x="381000" y="207169"/>
                </a:cubicBezTo>
                <a:close/>
                <a:moveTo>
                  <a:pt x="104775" y="314325"/>
                </a:moveTo>
                <a:cubicBezTo>
                  <a:pt x="89004" y="314325"/>
                  <a:pt x="76200" y="304722"/>
                  <a:pt x="76200" y="292894"/>
                </a:cubicBezTo>
                <a:cubicBezTo>
                  <a:pt x="76200" y="281066"/>
                  <a:pt x="89004" y="271463"/>
                  <a:pt x="104775" y="271463"/>
                </a:cubicBezTo>
                <a:cubicBezTo>
                  <a:pt x="120546" y="271463"/>
                  <a:pt x="133350" y="281066"/>
                  <a:pt x="133350" y="292894"/>
                </a:cubicBezTo>
                <a:cubicBezTo>
                  <a:pt x="133350" y="304722"/>
                  <a:pt x="120546" y="314325"/>
                  <a:pt x="104775" y="314325"/>
                </a:cubicBezTo>
                <a:close/>
                <a:moveTo>
                  <a:pt x="257175" y="292894"/>
                </a:moveTo>
                <a:cubicBezTo>
                  <a:pt x="257175" y="304722"/>
                  <a:pt x="244371" y="314325"/>
                  <a:pt x="228600" y="314325"/>
                </a:cubicBezTo>
                <a:cubicBezTo>
                  <a:pt x="212829" y="314325"/>
                  <a:pt x="200025" y="304722"/>
                  <a:pt x="200025" y="292894"/>
                </a:cubicBezTo>
                <a:cubicBezTo>
                  <a:pt x="200025" y="281066"/>
                  <a:pt x="212829" y="271463"/>
                  <a:pt x="228600" y="271463"/>
                </a:cubicBezTo>
                <a:cubicBezTo>
                  <a:pt x="244371" y="271463"/>
                  <a:pt x="257175" y="281066"/>
                  <a:pt x="257175" y="292894"/>
                </a:cubicBezTo>
                <a:close/>
                <a:moveTo>
                  <a:pt x="352425" y="314325"/>
                </a:moveTo>
                <a:cubicBezTo>
                  <a:pt x="336654" y="314325"/>
                  <a:pt x="323850" y="304722"/>
                  <a:pt x="323850" y="292894"/>
                </a:cubicBezTo>
                <a:cubicBezTo>
                  <a:pt x="323850" y="281066"/>
                  <a:pt x="336654" y="271463"/>
                  <a:pt x="352425" y="271463"/>
                </a:cubicBezTo>
                <a:cubicBezTo>
                  <a:pt x="368196" y="271463"/>
                  <a:pt x="381000" y="281066"/>
                  <a:pt x="381000" y="292894"/>
                </a:cubicBezTo>
                <a:cubicBezTo>
                  <a:pt x="381000" y="304722"/>
                  <a:pt x="368196" y="314325"/>
                  <a:pt x="352425" y="314325"/>
                </a:cubicBezTo>
                <a:close/>
                <a:moveTo>
                  <a:pt x="76200" y="378619"/>
                </a:moveTo>
                <a:cubicBezTo>
                  <a:pt x="76200" y="366742"/>
                  <a:pt x="88940" y="357188"/>
                  <a:pt x="104775" y="357188"/>
                </a:cubicBezTo>
                <a:lnTo>
                  <a:pt x="238125" y="357188"/>
                </a:lnTo>
                <a:cubicBezTo>
                  <a:pt x="253960" y="357188"/>
                  <a:pt x="266700" y="366742"/>
                  <a:pt x="266700" y="378619"/>
                </a:cubicBezTo>
                <a:cubicBezTo>
                  <a:pt x="266700" y="390495"/>
                  <a:pt x="253960" y="400050"/>
                  <a:pt x="238125" y="400050"/>
                </a:cubicBezTo>
                <a:lnTo>
                  <a:pt x="104775" y="400050"/>
                </a:lnTo>
                <a:cubicBezTo>
                  <a:pt x="88940" y="400050"/>
                  <a:pt x="76200" y="390495"/>
                  <a:pt x="76200" y="378619"/>
                </a:cubicBezTo>
                <a:close/>
                <a:moveTo>
                  <a:pt x="352425" y="357188"/>
                </a:moveTo>
                <a:cubicBezTo>
                  <a:pt x="368260" y="357188"/>
                  <a:pt x="381000" y="366742"/>
                  <a:pt x="381000" y="378619"/>
                </a:cubicBezTo>
                <a:cubicBezTo>
                  <a:pt x="381000" y="390495"/>
                  <a:pt x="368260" y="400050"/>
                  <a:pt x="352425" y="400050"/>
                </a:cubicBezTo>
                <a:cubicBezTo>
                  <a:pt x="336590" y="400050"/>
                  <a:pt x="323850" y="390495"/>
                  <a:pt x="323850" y="378619"/>
                </a:cubicBezTo>
                <a:cubicBezTo>
                  <a:pt x="323850" y="366742"/>
                  <a:pt x="336590" y="357188"/>
                  <a:pt x="352425" y="35718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546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NumPy (Numerical Python)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622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Fundamental package for scientific computing. Provides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ndarray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N-dimensional arrays that are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10-100x faster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than Python lists.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Features: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Broadcasting, Vectorization, Linear algebra, Random number generation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31750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63000" y="2095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63000" y="2540000"/>
            <a:ext cx="5842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numpy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np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 = np.array([[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], [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]])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print(arr.shape)      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(2, 3)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print(np.mean(arr))  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3.5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print(np.sum(arr))   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21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zeros = np.zeros((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70000" y="5461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Operations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6096000"/>
          <a:ext cx="13716000" cy="1778000"/>
        </p:xfrm>
        <a:graphic>
          <a:graphicData uri="http://schemas.openxmlformats.org/drawingml/2006/table">
            <a:tbl>
              <a:tblPr/>
              <a:tblGrid>
                <a:gridCol w="3429000"/>
                <a:gridCol w="4800600"/>
                <a:gridCol w="54864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Operation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Create array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np.array([1,2,3])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Create from list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Statistics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np.mean(), np.std()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Mean, standard deviation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SciPy — Scientific Computing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143000"/>
          </a:xfrm>
          <a:prstGeom prst="roundRect">
            <a:avLst>
              <a:gd name="adj" fmla="val 6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2032000"/>
            <a:ext cx="1295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SciPy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(Scientific Python) extends NumPy with advanced mathematical algorithms. </a:t>
            </a:r>
            <a:pPr algn="l">
              <a:lnSpc>
                <a:spcPct val="150000"/>
              </a:lnSpc>
            </a:pPr>
            <a:r>
              <a:rPr lang="en-US" sz="20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NumPy is the foundation, SciPy is the toolkit built on top.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429000"/>
            <a:ext cx="43180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24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2032000" y="3619500"/>
            <a:ext cx="330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scipy.optimize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Optimization, curve fitting, linear programming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69000" y="3429000"/>
            <a:ext cx="43180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23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6336" y="166688"/>
                </a:moveTo>
                <a:lnTo>
                  <a:pt x="207680" y="166688"/>
                </a:lnTo>
                <a:cubicBezTo>
                  <a:pt x="196753" y="166688"/>
                  <a:pt x="187925" y="156756"/>
                  <a:pt x="187925" y="144463"/>
                </a:cubicBezTo>
                <a:lnTo>
                  <a:pt x="187925" y="22225"/>
                </a:lnTo>
                <a:cubicBezTo>
                  <a:pt x="187925" y="9932"/>
                  <a:pt x="196815" y="-139"/>
                  <a:pt x="207619" y="1459"/>
                </a:cubicBezTo>
                <a:cubicBezTo>
                  <a:pt x="273676" y="11321"/>
                  <a:pt x="326028" y="70217"/>
                  <a:pt x="334795" y="144532"/>
                </a:cubicBezTo>
                <a:cubicBezTo>
                  <a:pt x="336215" y="156686"/>
                  <a:pt x="327263" y="166688"/>
                  <a:pt x="316336" y="166688"/>
                </a:cubicBezTo>
                <a:close/>
                <a:moveTo>
                  <a:pt x="137425" y="25837"/>
                </a:moveTo>
                <a:cubicBezTo>
                  <a:pt x="148599" y="23197"/>
                  <a:pt x="158291" y="33476"/>
                  <a:pt x="158291" y="46325"/>
                </a:cubicBezTo>
                <a:lnTo>
                  <a:pt x="158291" y="183356"/>
                </a:lnTo>
                <a:cubicBezTo>
                  <a:pt x="158291" y="187246"/>
                  <a:pt x="159526" y="190996"/>
                  <a:pt x="161687" y="193983"/>
                </a:cubicBezTo>
                <a:lnTo>
                  <a:pt x="243240" y="304691"/>
                </a:lnTo>
                <a:cubicBezTo>
                  <a:pt x="250463" y="314484"/>
                  <a:pt x="248920" y="329277"/>
                  <a:pt x="238980" y="335320"/>
                </a:cubicBezTo>
                <a:cubicBezTo>
                  <a:pt x="217928" y="348238"/>
                  <a:pt x="193790" y="355600"/>
                  <a:pt x="168169" y="355600"/>
                </a:cubicBezTo>
                <a:cubicBezTo>
                  <a:pt x="86369" y="355600"/>
                  <a:pt x="20003" y="280938"/>
                  <a:pt x="20003" y="188913"/>
                </a:cubicBezTo>
                <a:cubicBezTo>
                  <a:pt x="20003" y="108694"/>
                  <a:pt x="70317" y="41741"/>
                  <a:pt x="137425" y="25837"/>
                </a:cubicBezTo>
                <a:close/>
                <a:moveTo>
                  <a:pt x="294975" y="200025"/>
                </a:moveTo>
                <a:lnTo>
                  <a:pt x="334486" y="200025"/>
                </a:lnTo>
                <a:cubicBezTo>
                  <a:pt x="345907" y="200025"/>
                  <a:pt x="355044" y="210929"/>
                  <a:pt x="352698" y="223500"/>
                </a:cubicBezTo>
                <a:cubicBezTo>
                  <a:pt x="346401" y="257115"/>
                  <a:pt x="331091" y="286980"/>
                  <a:pt x="309730" y="309761"/>
                </a:cubicBezTo>
                <a:cubicBezTo>
                  <a:pt x="302137" y="317887"/>
                  <a:pt x="290221" y="316151"/>
                  <a:pt x="283554" y="307052"/>
                </a:cubicBezTo>
                <a:lnTo>
                  <a:pt x="231449" y="236418"/>
                </a:lnTo>
                <a:cubicBezTo>
                  <a:pt x="220768" y="221903"/>
                  <a:pt x="229967" y="200025"/>
                  <a:pt x="246636" y="200025"/>
                </a:cubicBezTo>
                <a:lnTo>
                  <a:pt x="294913" y="200025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6731000" y="3619500"/>
            <a:ext cx="330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scipy.stats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Probability distributions, hypothesis testing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3429000"/>
            <a:ext cx="43180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22000" y="3683000"/>
            <a:ext cx="355600" cy="355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0" y="3619500"/>
            <a:ext cx="330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scipy.linalg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Matrix decompositions, eigenvalue problems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70000" y="5143500"/>
            <a:ext cx="43180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240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66675"/>
                </a:moveTo>
                <a:cubicBezTo>
                  <a:pt x="44450" y="54382"/>
                  <a:pt x="54382" y="44450"/>
                  <a:pt x="66675" y="44450"/>
                </a:cubicBezTo>
                <a:lnTo>
                  <a:pt x="177800" y="44450"/>
                </a:lnTo>
                <a:cubicBezTo>
                  <a:pt x="190093" y="44450"/>
                  <a:pt x="200025" y="54382"/>
                  <a:pt x="200025" y="66675"/>
                </a:cubicBezTo>
                <a:lnTo>
                  <a:pt x="200025" y="266700"/>
                </a:lnTo>
                <a:lnTo>
                  <a:pt x="266700" y="266700"/>
                </a:lnTo>
                <a:lnTo>
                  <a:pt x="266700" y="177800"/>
                </a:lnTo>
                <a:cubicBezTo>
                  <a:pt x="266700" y="165507"/>
                  <a:pt x="276632" y="155575"/>
                  <a:pt x="288925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311150" y="200025"/>
                </a:lnTo>
                <a:lnTo>
                  <a:pt x="311150" y="288925"/>
                </a:lnTo>
                <a:cubicBezTo>
                  <a:pt x="311150" y="301218"/>
                  <a:pt x="301218" y="311150"/>
                  <a:pt x="288925" y="311150"/>
                </a:cubicBezTo>
                <a:lnTo>
                  <a:pt x="177800" y="311150"/>
                </a:lnTo>
                <a:cubicBezTo>
                  <a:pt x="165507" y="311150"/>
                  <a:pt x="155575" y="301218"/>
                  <a:pt x="155575" y="288925"/>
                </a:cubicBezTo>
                <a:lnTo>
                  <a:pt x="155575" y="88900"/>
                </a:lnTo>
                <a:lnTo>
                  <a:pt x="88900" y="88900"/>
                </a:lnTo>
                <a:lnTo>
                  <a:pt x="88900" y="177800"/>
                </a:lnTo>
                <a:cubicBezTo>
                  <a:pt x="88900" y="190093"/>
                  <a:pt x="78968" y="200025"/>
                  <a:pt x="66675" y="200025"/>
                </a:cubicBezTo>
                <a:lnTo>
                  <a:pt x="22225" y="200025"/>
                </a:lnTo>
                <a:cubicBezTo>
                  <a:pt x="9932" y="200025"/>
                  <a:pt x="0" y="190093"/>
                  <a:pt x="0" y="177800"/>
                </a:cubicBezTo>
                <a:cubicBezTo>
                  <a:pt x="0" y="165507"/>
                  <a:pt x="9932" y="155575"/>
                  <a:pt x="22225" y="155575"/>
                </a:cubicBezTo>
                <a:lnTo>
                  <a:pt x="44450" y="155575"/>
                </a:lnTo>
                <a:lnTo>
                  <a:pt x="44450" y="6667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2032000" y="5334000"/>
            <a:ext cx="330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scipy.signal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Filtering, spectral analysis, convolution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69000" y="5143500"/>
            <a:ext cx="43180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23000" y="5397500"/>
            <a:ext cx="355600" cy="3556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6731000" y="5334000"/>
            <a:ext cx="330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scipy.integrate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Numerical integration, ODE solvers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668000" y="5143500"/>
            <a:ext cx="43180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922000" y="539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0592" y="109666"/>
                </a:moveTo>
                <a:cubicBezTo>
                  <a:pt x="315109" y="103902"/>
                  <a:pt x="333375" y="81885"/>
                  <a:pt x="333375" y="55563"/>
                </a:cubicBezTo>
                <a:cubicBezTo>
                  <a:pt x="333375" y="24864"/>
                  <a:pt x="308511" y="0"/>
                  <a:pt x="277813" y="0"/>
                </a:cubicBezTo>
                <a:cubicBezTo>
                  <a:pt x="247670" y="0"/>
                  <a:pt x="223153" y="23961"/>
                  <a:pt x="222250" y="53826"/>
                </a:cubicBezTo>
                <a:lnTo>
                  <a:pt x="94595" y="104944"/>
                </a:lnTo>
                <a:cubicBezTo>
                  <a:pt x="84524" y="95012"/>
                  <a:pt x="70773" y="88900"/>
                  <a:pt x="55563" y="88900"/>
                </a:cubicBezTo>
                <a:cubicBezTo>
                  <a:pt x="24864" y="88900"/>
                  <a:pt x="0" y="113764"/>
                  <a:pt x="0" y="144463"/>
                </a:cubicBezTo>
                <a:cubicBezTo>
                  <a:pt x="0" y="175161"/>
                  <a:pt x="24864" y="200025"/>
                  <a:pt x="55563" y="200025"/>
                </a:cubicBezTo>
                <a:cubicBezTo>
                  <a:pt x="64036" y="200025"/>
                  <a:pt x="72092" y="198150"/>
                  <a:pt x="79246" y="194747"/>
                </a:cubicBezTo>
                <a:lnTo>
                  <a:pt x="180370" y="283230"/>
                </a:lnTo>
                <a:cubicBezTo>
                  <a:pt x="178703" y="288508"/>
                  <a:pt x="177800" y="294203"/>
                  <a:pt x="177800" y="300038"/>
                </a:cubicBezTo>
                <a:cubicBezTo>
                  <a:pt x="177800" y="330736"/>
                  <a:pt x="202664" y="355600"/>
                  <a:pt x="233363" y="355600"/>
                </a:cubicBezTo>
                <a:cubicBezTo>
                  <a:pt x="264061" y="355600"/>
                  <a:pt x="288925" y="330736"/>
                  <a:pt x="288925" y="300038"/>
                </a:cubicBezTo>
                <a:cubicBezTo>
                  <a:pt x="288925" y="280799"/>
                  <a:pt x="279202" y="263852"/>
                  <a:pt x="264339" y="253921"/>
                </a:cubicBezTo>
                <a:lnTo>
                  <a:pt x="290592" y="109666"/>
                </a:lnTo>
                <a:close/>
                <a:moveTo>
                  <a:pt x="108555" y="161270"/>
                </a:moveTo>
                <a:cubicBezTo>
                  <a:pt x="110083" y="156478"/>
                  <a:pt x="110986" y="151408"/>
                  <a:pt x="111125" y="146199"/>
                </a:cubicBezTo>
                <a:lnTo>
                  <a:pt x="238780" y="95151"/>
                </a:lnTo>
                <a:cubicBezTo>
                  <a:pt x="241280" y="97582"/>
                  <a:pt x="243919" y="99804"/>
                  <a:pt x="246836" y="101749"/>
                </a:cubicBezTo>
                <a:lnTo>
                  <a:pt x="220583" y="245934"/>
                </a:lnTo>
                <a:cubicBezTo>
                  <a:pt x="216763" y="246836"/>
                  <a:pt x="213082" y="248087"/>
                  <a:pt x="209610" y="249753"/>
                </a:cubicBezTo>
                <a:lnTo>
                  <a:pt x="108555" y="16127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0" y="5334000"/>
            <a:ext cx="330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scipy.sparse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Sparse matrices, efficient storage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70000" y="69215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3C4A5A"/>
          </a:solidFill>
          <a:ln/>
        </p:spPr>
      </p:sp>
      <p:sp>
        <p:nvSpPr>
          <p:cNvPr id="25" name="Text 23"/>
          <p:cNvSpPr/>
          <p:nvPr/>
        </p:nvSpPr>
        <p:spPr>
          <a:xfrm>
            <a:off x="1651000" y="7048500"/>
            <a:ext cx="1295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scipy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stats  |  data = [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23, 45, 56, 78, 32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 |  mean, std = stats.norm.fit(data)  |  t_stat, p_value = stats.ttest_1samp(data,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Matplotlib — Data Visualization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350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128588" y="200025"/>
                </a:moveTo>
                <a:cubicBezTo>
                  <a:pt x="144393" y="200025"/>
                  <a:pt x="157163" y="212794"/>
                  <a:pt x="157163" y="228600"/>
                </a:cubicBezTo>
                <a:lnTo>
                  <a:pt x="157163" y="285750"/>
                </a:lnTo>
                <a:cubicBezTo>
                  <a:pt x="157163" y="301556"/>
                  <a:pt x="144393" y="314325"/>
                  <a:pt x="128588" y="314325"/>
                </a:cubicBezTo>
                <a:cubicBezTo>
                  <a:pt x="112782" y="314325"/>
                  <a:pt x="100013" y="301556"/>
                  <a:pt x="100013" y="285750"/>
                </a:cubicBezTo>
                <a:lnTo>
                  <a:pt x="100013" y="228600"/>
                </a:lnTo>
                <a:cubicBezTo>
                  <a:pt x="100013" y="212794"/>
                  <a:pt x="112782" y="200025"/>
                  <a:pt x="128588" y="200025"/>
                </a:cubicBezTo>
                <a:close/>
                <a:moveTo>
                  <a:pt x="257175" y="142875"/>
                </a:moveTo>
                <a:lnTo>
                  <a:pt x="257175" y="285750"/>
                </a:lnTo>
                <a:cubicBezTo>
                  <a:pt x="257175" y="301556"/>
                  <a:pt x="244406" y="314325"/>
                  <a:pt x="228600" y="314325"/>
                </a:cubicBezTo>
                <a:cubicBezTo>
                  <a:pt x="212794" y="314325"/>
                  <a:pt x="200025" y="301556"/>
                  <a:pt x="200025" y="285750"/>
                </a:cubicBezTo>
                <a:lnTo>
                  <a:pt x="200025" y="142875"/>
                </a:lnTo>
                <a:cubicBezTo>
                  <a:pt x="200025" y="127069"/>
                  <a:pt x="212794" y="114300"/>
                  <a:pt x="228600" y="114300"/>
                </a:cubicBezTo>
                <a:cubicBezTo>
                  <a:pt x="244406" y="114300"/>
                  <a:pt x="257175" y="127069"/>
                  <a:pt x="257175" y="142875"/>
                </a:cubicBezTo>
                <a:close/>
                <a:moveTo>
                  <a:pt x="328613" y="171450"/>
                </a:moveTo>
                <a:cubicBezTo>
                  <a:pt x="344418" y="171450"/>
                  <a:pt x="357188" y="184219"/>
                  <a:pt x="357188" y="200025"/>
                </a:cubicBezTo>
                <a:lnTo>
                  <a:pt x="357188" y="285750"/>
                </a:lnTo>
                <a:cubicBezTo>
                  <a:pt x="357188" y="301556"/>
                  <a:pt x="344418" y="314325"/>
                  <a:pt x="328613" y="314325"/>
                </a:cubicBezTo>
                <a:cubicBezTo>
                  <a:pt x="312807" y="314325"/>
                  <a:pt x="300038" y="301556"/>
                  <a:pt x="300038" y="285750"/>
                </a:cubicBezTo>
                <a:lnTo>
                  <a:pt x="300038" y="200025"/>
                </a:lnTo>
                <a:cubicBezTo>
                  <a:pt x="300038" y="184219"/>
                  <a:pt x="312807" y="171450"/>
                  <a:pt x="328613" y="171450"/>
                </a:cubicBezTo>
                <a:close/>
                <a:moveTo>
                  <a:pt x="457200" y="85725"/>
                </a:moveTo>
                <a:lnTo>
                  <a:pt x="457200" y="285750"/>
                </a:lnTo>
                <a:cubicBezTo>
                  <a:pt x="457200" y="301556"/>
                  <a:pt x="444431" y="314325"/>
                  <a:pt x="428625" y="314325"/>
                </a:cubicBezTo>
                <a:cubicBezTo>
                  <a:pt x="412819" y="314325"/>
                  <a:pt x="400050" y="301556"/>
                  <a:pt x="400050" y="285750"/>
                </a:cubicBezTo>
                <a:lnTo>
                  <a:pt x="400050" y="85725"/>
                </a:lnTo>
                <a:cubicBezTo>
                  <a:pt x="400050" y="69919"/>
                  <a:pt x="412819" y="57150"/>
                  <a:pt x="428625" y="57150"/>
                </a:cubicBezTo>
                <a:cubicBezTo>
                  <a:pt x="444431" y="57150"/>
                  <a:pt x="457200" y="69919"/>
                  <a:pt x="457200" y="8572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0955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Comprehensive library for creating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static, animated, and interactive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visualizations. The most widely used plotting library in Python.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874000" y="1905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55000" y="2095500"/>
            <a:ext cx="6350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Components: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pyplot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(quick plotting),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Figure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(container),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(plotting area)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 picture is worth a thousand rows."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70000" y="3937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Plot Types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270000" y="4572000"/>
            <a:ext cx="2159000" cy="88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0000" y="4572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 Plot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plt.plot(x,y)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83000" y="4572000"/>
            <a:ext cx="2159000" cy="88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3000" y="4572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Scatter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plt.scatter(x,y)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4572000"/>
            <a:ext cx="2159000" cy="88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0" y="4572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Bar Chart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plt.bar(x,h)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5715000"/>
            <a:ext cx="2159000" cy="88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70000" y="5715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Histogram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plt.hist(d)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83000" y="5715000"/>
            <a:ext cx="2159000" cy="88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3000" y="5715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Pie Chart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plt.pie(sizes)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0" y="5715000"/>
            <a:ext cx="2159000" cy="889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0" y="5715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Box Plot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plt.boxplot(d)</a:t>
            </a:r>
            <a:endParaRPr lang="en-US" sz="16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8636000" y="3937000"/>
          <a:ext cx="6350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1270000" y="7175500"/>
            <a:ext cx="13716000" cy="508000"/>
          </a:xfrm>
          <a:prstGeom prst="roundRect">
            <a:avLst>
              <a:gd name="adj" fmla="val 10000"/>
            </a:avLst>
          </a:prstGeom>
          <a:solidFill>
            <a:srgbClr val="2E5E8A">
              <a:alpha val="3137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78000" y="7175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scientists spend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~30% of their time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visualizing data — Matplotlib is the go-to tool for exploratory data analysis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 — Data Manipulation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143000"/>
          </a:xfrm>
          <a:prstGeom prst="roundRect">
            <a:avLst>
              <a:gd name="adj" fmla="val 6000"/>
            </a:avLst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19685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fast, powerful, and flexible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library for data manipulation and analysis. Makes working with structured data as easy as Python dictionaries.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302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7500" y="368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57150"/>
                </a:moveTo>
                <a:cubicBezTo>
                  <a:pt x="0" y="46673"/>
                  <a:pt x="8493" y="38100"/>
                  <a:pt x="19050" y="38100"/>
                </a:cubicBezTo>
                <a:lnTo>
                  <a:pt x="57150" y="38100"/>
                </a:lnTo>
                <a:cubicBezTo>
                  <a:pt x="67707" y="38100"/>
                  <a:pt x="76200" y="46593"/>
                  <a:pt x="76200" y="57150"/>
                </a:cubicBezTo>
                <a:lnTo>
                  <a:pt x="76200" y="139700"/>
                </a:lnTo>
                <a:lnTo>
                  <a:pt x="95250" y="139700"/>
                </a:lnTo>
                <a:cubicBezTo>
                  <a:pt x="105807" y="139700"/>
                  <a:pt x="114300" y="148193"/>
                  <a:pt x="114300" y="158750"/>
                </a:cubicBezTo>
                <a:cubicBezTo>
                  <a:pt x="114300" y="169307"/>
                  <a:pt x="105807" y="177800"/>
                  <a:pt x="95250" y="177800"/>
                </a:cubicBezTo>
                <a:lnTo>
                  <a:pt x="19050" y="177800"/>
                </a:lnTo>
                <a:cubicBezTo>
                  <a:pt x="8493" y="177800"/>
                  <a:pt x="0" y="169307"/>
                  <a:pt x="0" y="158750"/>
                </a:cubicBezTo>
                <a:cubicBezTo>
                  <a:pt x="0" y="148193"/>
                  <a:pt x="8493" y="139700"/>
                  <a:pt x="19050" y="139700"/>
                </a:cubicBezTo>
                <a:lnTo>
                  <a:pt x="38100" y="139700"/>
                </a:lnTo>
                <a:lnTo>
                  <a:pt x="38100" y="76200"/>
                </a:lnTo>
                <a:lnTo>
                  <a:pt x="19050" y="76200"/>
                </a:lnTo>
                <a:cubicBezTo>
                  <a:pt x="8493" y="76200"/>
                  <a:pt x="0" y="67707"/>
                  <a:pt x="0" y="57150"/>
                </a:cubicBezTo>
                <a:close/>
                <a:moveTo>
                  <a:pt x="24130" y="239078"/>
                </a:moveTo>
                <a:cubicBezTo>
                  <a:pt x="33179" y="232251"/>
                  <a:pt x="44212" y="228600"/>
                  <a:pt x="55563" y="228600"/>
                </a:cubicBezTo>
                <a:lnTo>
                  <a:pt x="59452" y="228600"/>
                </a:lnTo>
                <a:cubicBezTo>
                  <a:pt x="86201" y="228600"/>
                  <a:pt x="107950" y="250349"/>
                  <a:pt x="107950" y="277098"/>
                </a:cubicBezTo>
                <a:cubicBezTo>
                  <a:pt x="107950" y="292656"/>
                  <a:pt x="100489" y="307181"/>
                  <a:pt x="87947" y="316309"/>
                </a:cubicBezTo>
                <a:lnTo>
                  <a:pt x="68898" y="330200"/>
                </a:lnTo>
                <a:lnTo>
                  <a:pt x="95250" y="330200"/>
                </a:lnTo>
                <a:cubicBezTo>
                  <a:pt x="105807" y="330200"/>
                  <a:pt x="114300" y="338693"/>
                  <a:pt x="114300" y="349250"/>
                </a:cubicBezTo>
                <a:cubicBezTo>
                  <a:pt x="114300" y="359807"/>
                  <a:pt x="105807" y="368300"/>
                  <a:pt x="95250" y="368300"/>
                </a:cubicBezTo>
                <a:lnTo>
                  <a:pt x="23257" y="368300"/>
                </a:lnTo>
                <a:cubicBezTo>
                  <a:pt x="10398" y="368300"/>
                  <a:pt x="0" y="357902"/>
                  <a:pt x="0" y="345043"/>
                </a:cubicBezTo>
                <a:cubicBezTo>
                  <a:pt x="0" y="337582"/>
                  <a:pt x="3572" y="330597"/>
                  <a:pt x="9604" y="326231"/>
                </a:cubicBezTo>
                <a:lnTo>
                  <a:pt x="65564" y="285512"/>
                </a:lnTo>
                <a:cubicBezTo>
                  <a:pt x="68263" y="283528"/>
                  <a:pt x="69850" y="280432"/>
                  <a:pt x="69850" y="277098"/>
                </a:cubicBezTo>
                <a:cubicBezTo>
                  <a:pt x="69850" y="271383"/>
                  <a:pt x="65167" y="266700"/>
                  <a:pt x="59452" y="266700"/>
                </a:cubicBezTo>
                <a:lnTo>
                  <a:pt x="55563" y="266700"/>
                </a:lnTo>
                <a:cubicBezTo>
                  <a:pt x="52467" y="266700"/>
                  <a:pt x="49451" y="267732"/>
                  <a:pt x="46990" y="269558"/>
                </a:cubicBezTo>
                <a:lnTo>
                  <a:pt x="30480" y="281940"/>
                </a:lnTo>
                <a:cubicBezTo>
                  <a:pt x="22066" y="288290"/>
                  <a:pt x="10160" y="286544"/>
                  <a:pt x="3810" y="278130"/>
                </a:cubicBezTo>
                <a:cubicBezTo>
                  <a:pt x="-2540" y="269716"/>
                  <a:pt x="-794" y="257810"/>
                  <a:pt x="7620" y="251460"/>
                </a:cubicBezTo>
                <a:lnTo>
                  <a:pt x="24130" y="239078"/>
                </a:lnTo>
                <a:close/>
                <a:moveTo>
                  <a:pt x="177800" y="50800"/>
                </a:moveTo>
                <a:lnTo>
                  <a:pt x="381000" y="50800"/>
                </a:lnTo>
                <a:cubicBezTo>
                  <a:pt x="395049" y="50800"/>
                  <a:pt x="406400" y="62151"/>
                  <a:pt x="406400" y="76200"/>
                </a:cubicBezTo>
                <a:cubicBezTo>
                  <a:pt x="406400" y="90249"/>
                  <a:pt x="395049" y="101600"/>
                  <a:pt x="381000" y="101600"/>
                </a:cubicBezTo>
                <a:lnTo>
                  <a:pt x="177800" y="101600"/>
                </a:lnTo>
                <a:cubicBezTo>
                  <a:pt x="163751" y="101600"/>
                  <a:pt x="152400" y="90249"/>
                  <a:pt x="152400" y="76200"/>
                </a:cubicBezTo>
                <a:cubicBezTo>
                  <a:pt x="152400" y="62151"/>
                  <a:pt x="163751" y="50800"/>
                  <a:pt x="177800" y="50800"/>
                </a:cubicBezTo>
                <a:close/>
                <a:moveTo>
                  <a:pt x="177800" y="177800"/>
                </a:move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177800" y="228600"/>
                </a:lnTo>
                <a:cubicBezTo>
                  <a:pt x="163751" y="228600"/>
                  <a:pt x="152400" y="217249"/>
                  <a:pt x="152400" y="203200"/>
                </a:cubicBezTo>
                <a:cubicBezTo>
                  <a:pt x="152400" y="189151"/>
                  <a:pt x="163751" y="177800"/>
                  <a:pt x="177800" y="177800"/>
                </a:cubicBezTo>
                <a:close/>
                <a:moveTo>
                  <a:pt x="177800" y="304800"/>
                </a:move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2159000" y="3619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Series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59000" y="4000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One-dimensional labeled array — like a column in a spreadsheet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28000" y="3302000"/>
            <a:ext cx="6858000" cy="1524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45500" y="368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32229" y="127000"/>
                </a:moveTo>
                <a:lnTo>
                  <a:pt x="232229" y="203200"/>
                </a:lnTo>
                <a:lnTo>
                  <a:pt x="348343" y="203200"/>
                </a:lnTo>
                <a:lnTo>
                  <a:pt x="348343" y="127000"/>
                </a:lnTo>
                <a:lnTo>
                  <a:pt x="232229" y="127000"/>
                </a:lnTo>
                <a:close/>
                <a:moveTo>
                  <a:pt x="174171" y="127000"/>
                </a:moveTo>
                <a:lnTo>
                  <a:pt x="58057" y="127000"/>
                </a:lnTo>
                <a:lnTo>
                  <a:pt x="58057" y="203200"/>
                </a:lnTo>
                <a:lnTo>
                  <a:pt x="174171" y="203200"/>
                </a:lnTo>
                <a:lnTo>
                  <a:pt x="174171" y="127000"/>
                </a:lnTo>
                <a:close/>
                <a:moveTo>
                  <a:pt x="0" y="254000"/>
                </a:moveTo>
                <a:lnTo>
                  <a:pt x="0" y="76200"/>
                </a:lnTo>
                <a:cubicBezTo>
                  <a:pt x="0" y="48181"/>
                  <a:pt x="26035" y="25400"/>
                  <a:pt x="58057" y="25400"/>
                </a:cubicBezTo>
                <a:lnTo>
                  <a:pt x="348343" y="25400"/>
                </a:lnTo>
                <a:cubicBezTo>
                  <a:pt x="380365" y="25400"/>
                  <a:pt x="406400" y="48181"/>
                  <a:pt x="406400" y="76200"/>
                </a:cubicBezTo>
                <a:lnTo>
                  <a:pt x="406400" y="330200"/>
                </a:lnTo>
                <a:cubicBezTo>
                  <a:pt x="406400" y="358219"/>
                  <a:pt x="380365" y="381000"/>
                  <a:pt x="348343" y="381000"/>
                </a:cubicBezTo>
                <a:lnTo>
                  <a:pt x="58057" y="381000"/>
                </a:lnTo>
                <a:cubicBezTo>
                  <a:pt x="26035" y="381000"/>
                  <a:pt x="0" y="358219"/>
                  <a:pt x="0" y="330200"/>
                </a:cubicBezTo>
                <a:lnTo>
                  <a:pt x="0" y="254000"/>
                </a:lnTo>
                <a:close/>
                <a:moveTo>
                  <a:pt x="348343" y="254000"/>
                </a:moveTo>
                <a:lnTo>
                  <a:pt x="232229" y="254000"/>
                </a:lnTo>
                <a:lnTo>
                  <a:pt x="232229" y="330200"/>
                </a:lnTo>
                <a:lnTo>
                  <a:pt x="348343" y="330200"/>
                </a:lnTo>
                <a:lnTo>
                  <a:pt x="348343" y="254000"/>
                </a:lnTo>
                <a:close/>
                <a:moveTo>
                  <a:pt x="174171" y="330200"/>
                </a:moveTo>
                <a:lnTo>
                  <a:pt x="174171" y="254000"/>
                </a:lnTo>
                <a:lnTo>
                  <a:pt x="58057" y="254000"/>
                </a:lnTo>
                <a:lnTo>
                  <a:pt x="58057" y="330200"/>
                </a:lnTo>
                <a:lnTo>
                  <a:pt x="174171" y="3302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017000" y="3619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DataFrame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17000" y="4000500"/>
            <a:ext cx="571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Two-dimensional labeled data — like an Excel sheet or SQL table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70000" y="5270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Capabilities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70000" y="58420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Loading: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pd.read_csv(), read_excel(), read_sql()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Inspection: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head(), tail(), info(), describe()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Selection: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Filtering, loc[], iloc[]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Cleaning: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dropna(), fillna(), drop_duplicates()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groupby(), merge(), sort()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5270500"/>
            <a:ext cx="6604000" cy="26035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63000" y="546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63000" y="5905500"/>
            <a:ext cx="584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pandas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pd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 = pd.read_csv(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'data.csv'</a:t>
            </a:r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print(df.head())      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First 5 rows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print(df.describe())  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Statistics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filtered = df[df[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'age'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 &gt;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Scikit-Learn &amp; Anaconda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85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1460" y="0"/>
                </a:moveTo>
                <a:cubicBezTo>
                  <a:pt x="251460" y="-15806"/>
                  <a:pt x="241244" y="-28575"/>
                  <a:pt x="228600" y="-28575"/>
                </a:cubicBezTo>
                <a:cubicBezTo>
                  <a:pt x="215956" y="-28575"/>
                  <a:pt x="205740" y="-15806"/>
                  <a:pt x="205740" y="0"/>
                </a:cubicBezTo>
                <a:lnTo>
                  <a:pt x="205740" y="57150"/>
                </a:lnTo>
                <a:lnTo>
                  <a:pt x="137160" y="57150"/>
                </a:lnTo>
                <a:cubicBezTo>
                  <a:pt x="99298" y="57150"/>
                  <a:pt x="68580" y="95548"/>
                  <a:pt x="68580" y="142875"/>
                </a:cubicBezTo>
                <a:lnTo>
                  <a:pt x="68580" y="342900"/>
                </a:lnTo>
                <a:cubicBezTo>
                  <a:pt x="68580" y="390227"/>
                  <a:pt x="99298" y="428625"/>
                  <a:pt x="137160" y="428625"/>
                </a:cubicBezTo>
                <a:lnTo>
                  <a:pt x="320040" y="428625"/>
                </a:lnTo>
                <a:cubicBezTo>
                  <a:pt x="357902" y="428625"/>
                  <a:pt x="388620" y="390227"/>
                  <a:pt x="388620" y="342900"/>
                </a:cubicBezTo>
                <a:lnTo>
                  <a:pt x="388620" y="142875"/>
                </a:lnTo>
                <a:cubicBezTo>
                  <a:pt x="388620" y="95548"/>
                  <a:pt x="357902" y="57150"/>
                  <a:pt x="320040" y="57150"/>
                </a:cubicBezTo>
                <a:lnTo>
                  <a:pt x="251460" y="57150"/>
                </a:lnTo>
                <a:lnTo>
                  <a:pt x="251460" y="0"/>
                </a:lnTo>
                <a:close/>
                <a:moveTo>
                  <a:pt x="114300" y="328613"/>
                </a:moveTo>
                <a:cubicBezTo>
                  <a:pt x="114300" y="316736"/>
                  <a:pt x="121944" y="307181"/>
                  <a:pt x="131445" y="307181"/>
                </a:cubicBezTo>
                <a:lnTo>
                  <a:pt x="154305" y="307181"/>
                </a:lnTo>
                <a:cubicBezTo>
                  <a:pt x="163806" y="307181"/>
                  <a:pt x="171450" y="316736"/>
                  <a:pt x="171450" y="328613"/>
                </a:cubicBezTo>
                <a:cubicBezTo>
                  <a:pt x="171450" y="340489"/>
                  <a:pt x="163806" y="350044"/>
                  <a:pt x="154305" y="350044"/>
                </a:cubicBezTo>
                <a:lnTo>
                  <a:pt x="131445" y="350044"/>
                </a:lnTo>
                <a:cubicBezTo>
                  <a:pt x="121944" y="350044"/>
                  <a:pt x="114300" y="340489"/>
                  <a:pt x="114300" y="328613"/>
                </a:cubicBezTo>
                <a:close/>
                <a:moveTo>
                  <a:pt x="200025" y="328613"/>
                </a:moveTo>
                <a:cubicBezTo>
                  <a:pt x="200025" y="316736"/>
                  <a:pt x="207669" y="307181"/>
                  <a:pt x="217170" y="307181"/>
                </a:cubicBezTo>
                <a:lnTo>
                  <a:pt x="240030" y="307181"/>
                </a:lnTo>
                <a:cubicBezTo>
                  <a:pt x="249531" y="307181"/>
                  <a:pt x="257175" y="316736"/>
                  <a:pt x="257175" y="328613"/>
                </a:cubicBezTo>
                <a:cubicBezTo>
                  <a:pt x="257175" y="340489"/>
                  <a:pt x="249531" y="350044"/>
                  <a:pt x="240030" y="350044"/>
                </a:cubicBezTo>
                <a:lnTo>
                  <a:pt x="217170" y="350044"/>
                </a:lnTo>
                <a:cubicBezTo>
                  <a:pt x="207669" y="350044"/>
                  <a:pt x="200025" y="340489"/>
                  <a:pt x="200025" y="328613"/>
                </a:cubicBezTo>
                <a:close/>
                <a:moveTo>
                  <a:pt x="285750" y="328613"/>
                </a:moveTo>
                <a:cubicBezTo>
                  <a:pt x="285750" y="316736"/>
                  <a:pt x="293394" y="307181"/>
                  <a:pt x="302895" y="307181"/>
                </a:cubicBezTo>
                <a:lnTo>
                  <a:pt x="325755" y="307181"/>
                </a:lnTo>
                <a:cubicBezTo>
                  <a:pt x="335256" y="307181"/>
                  <a:pt x="342900" y="316736"/>
                  <a:pt x="342900" y="328613"/>
                </a:cubicBezTo>
                <a:cubicBezTo>
                  <a:pt x="342900" y="340489"/>
                  <a:pt x="335256" y="350044"/>
                  <a:pt x="325755" y="350044"/>
                </a:cubicBezTo>
                <a:lnTo>
                  <a:pt x="302895" y="350044"/>
                </a:lnTo>
                <a:cubicBezTo>
                  <a:pt x="293394" y="350044"/>
                  <a:pt x="285750" y="340489"/>
                  <a:pt x="285750" y="328613"/>
                </a:cubicBezTo>
                <a:close/>
                <a:moveTo>
                  <a:pt x="160020" y="157163"/>
                </a:moveTo>
                <a:cubicBezTo>
                  <a:pt x="178945" y="157163"/>
                  <a:pt x="194310" y="176369"/>
                  <a:pt x="194310" y="200025"/>
                </a:cubicBezTo>
                <a:cubicBezTo>
                  <a:pt x="194310" y="223681"/>
                  <a:pt x="178945" y="242888"/>
                  <a:pt x="160020" y="242888"/>
                </a:cubicBezTo>
                <a:cubicBezTo>
                  <a:pt x="141095" y="242888"/>
                  <a:pt x="125730" y="223681"/>
                  <a:pt x="125730" y="200025"/>
                </a:cubicBezTo>
                <a:cubicBezTo>
                  <a:pt x="125730" y="176369"/>
                  <a:pt x="141095" y="157163"/>
                  <a:pt x="160020" y="157163"/>
                </a:cubicBezTo>
                <a:close/>
                <a:moveTo>
                  <a:pt x="262890" y="200025"/>
                </a:moveTo>
                <a:cubicBezTo>
                  <a:pt x="262890" y="176369"/>
                  <a:pt x="278255" y="157163"/>
                  <a:pt x="297180" y="157163"/>
                </a:cubicBezTo>
                <a:cubicBezTo>
                  <a:pt x="316105" y="157163"/>
                  <a:pt x="331470" y="176369"/>
                  <a:pt x="331470" y="200025"/>
                </a:cubicBezTo>
                <a:cubicBezTo>
                  <a:pt x="331470" y="223681"/>
                  <a:pt x="316105" y="242888"/>
                  <a:pt x="297180" y="242888"/>
                </a:cubicBezTo>
                <a:cubicBezTo>
                  <a:pt x="278255" y="242888"/>
                  <a:pt x="262890" y="223681"/>
                  <a:pt x="262890" y="200025"/>
                </a:cubicBezTo>
                <a:close/>
                <a:moveTo>
                  <a:pt x="45720" y="200025"/>
                </a:moveTo>
                <a:cubicBezTo>
                  <a:pt x="45720" y="184219"/>
                  <a:pt x="35504" y="171450"/>
                  <a:pt x="22860" y="171450"/>
                </a:cubicBezTo>
                <a:cubicBezTo>
                  <a:pt x="10216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0216" y="314325"/>
                  <a:pt x="22860" y="314325"/>
                </a:cubicBezTo>
                <a:cubicBezTo>
                  <a:pt x="35504" y="314325"/>
                  <a:pt x="45720" y="301556"/>
                  <a:pt x="45720" y="285750"/>
                </a:cubicBezTo>
                <a:lnTo>
                  <a:pt x="45720" y="200025"/>
                </a:lnTo>
                <a:close/>
                <a:moveTo>
                  <a:pt x="434340" y="171450"/>
                </a:moveTo>
                <a:cubicBezTo>
                  <a:pt x="421696" y="171450"/>
                  <a:pt x="411480" y="184219"/>
                  <a:pt x="411480" y="200025"/>
                </a:cubicBezTo>
                <a:lnTo>
                  <a:pt x="411480" y="285750"/>
                </a:lnTo>
                <a:cubicBezTo>
                  <a:pt x="411480" y="301556"/>
                  <a:pt x="421696" y="314325"/>
                  <a:pt x="434340" y="314325"/>
                </a:cubicBezTo>
                <a:cubicBezTo>
                  <a:pt x="446984" y="314325"/>
                  <a:pt x="457200" y="301556"/>
                  <a:pt x="457200" y="285750"/>
                </a:cubicBezTo>
                <a:lnTo>
                  <a:pt x="457200" y="200025"/>
                </a:lnTo>
                <a:cubicBezTo>
                  <a:pt x="457200" y="184219"/>
                  <a:pt x="446984" y="171450"/>
                  <a:pt x="434340" y="1714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222500"/>
            <a:ext cx="546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Scikit-Learn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most popular ML library in Python. Built on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NumPy, SciPy, Matplotlib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51000" y="3746500"/>
            <a:ext cx="6096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Classification: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Logistic Regression, SVM, Random Forest, k-NN, Naive Bayes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Regression: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Linear, Ridge, Lasso, Decision Tree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Clustering: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K-Means, DBSCAN, Hierarchical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Cross-validation, Grid Search, StandardScaler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1000" y="6223000"/>
            <a:ext cx="6096000" cy="1016000"/>
          </a:xfrm>
          <a:prstGeom prst="roundRect">
            <a:avLst>
              <a:gd name="adj" fmla="val 6000"/>
            </a:avLst>
          </a:prstGeom>
          <a:solidFill>
            <a:srgbClr val="3C4A5A"/>
          </a:solidFill>
          <a:ln/>
        </p:spPr>
      </p:sp>
      <p:sp>
        <p:nvSpPr>
          <p:cNvPr id="10" name="Text 8"/>
          <p:cNvSpPr/>
          <p:nvPr/>
        </p:nvSpPr>
        <p:spPr>
          <a:xfrm>
            <a:off x="1905000" y="6350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sklearn.linear_model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LinearRegression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= LinearRegression(); model.fit(X_train, y_train)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82000" y="1905000"/>
            <a:ext cx="6604000" cy="5588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63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264" y="211812"/>
                </a:moveTo>
                <a:cubicBezTo>
                  <a:pt x="407694" y="222349"/>
                  <a:pt x="420481" y="224671"/>
                  <a:pt x="430125" y="216724"/>
                </a:cubicBezTo>
                <a:cubicBezTo>
                  <a:pt x="440627" y="207972"/>
                  <a:pt x="443484" y="190202"/>
                  <a:pt x="436483" y="177076"/>
                </a:cubicBezTo>
                <a:lnTo>
                  <a:pt x="402193" y="112782"/>
                </a:lnTo>
                <a:cubicBezTo>
                  <a:pt x="400193" y="109031"/>
                  <a:pt x="397478" y="105906"/>
                  <a:pt x="394264" y="103674"/>
                </a:cubicBezTo>
                <a:lnTo>
                  <a:pt x="251031" y="4197"/>
                </a:lnTo>
                <a:cubicBezTo>
                  <a:pt x="237244" y="-5358"/>
                  <a:pt x="220456" y="-5358"/>
                  <a:pt x="206597" y="4197"/>
                </a:cubicBezTo>
                <a:lnTo>
                  <a:pt x="63437" y="103584"/>
                </a:lnTo>
                <a:cubicBezTo>
                  <a:pt x="59579" y="106263"/>
                  <a:pt x="56507" y="110192"/>
                  <a:pt x="54435" y="115014"/>
                </a:cubicBezTo>
                <a:lnTo>
                  <a:pt x="19788" y="195292"/>
                </a:lnTo>
                <a:cubicBezTo>
                  <a:pt x="10787" y="216188"/>
                  <a:pt x="17074" y="242173"/>
                  <a:pt x="33790" y="253425"/>
                </a:cubicBezTo>
                <a:lnTo>
                  <a:pt x="57364" y="269230"/>
                </a:lnTo>
                <a:lnTo>
                  <a:pt x="57364" y="316825"/>
                </a:lnTo>
                <a:cubicBezTo>
                  <a:pt x="57364" y="337364"/>
                  <a:pt x="66223" y="356384"/>
                  <a:pt x="80510" y="366564"/>
                </a:cubicBezTo>
                <a:lnTo>
                  <a:pt x="206240" y="455593"/>
                </a:lnTo>
                <a:cubicBezTo>
                  <a:pt x="220242" y="465505"/>
                  <a:pt x="237315" y="465505"/>
                  <a:pt x="251317" y="455593"/>
                </a:cubicBezTo>
                <a:lnTo>
                  <a:pt x="377047" y="366564"/>
                </a:lnTo>
                <a:cubicBezTo>
                  <a:pt x="391406" y="356384"/>
                  <a:pt x="400193" y="337453"/>
                  <a:pt x="400193" y="316825"/>
                </a:cubicBezTo>
                <a:lnTo>
                  <a:pt x="400193" y="211901"/>
                </a:lnTo>
                <a:close/>
                <a:moveTo>
                  <a:pt x="228814" y="203061"/>
                </a:moveTo>
                <a:lnTo>
                  <a:pt x="121587" y="128588"/>
                </a:lnTo>
                <a:lnTo>
                  <a:pt x="228814" y="54114"/>
                </a:lnTo>
                <a:lnTo>
                  <a:pt x="336042" y="128588"/>
                </a:lnTo>
                <a:lnTo>
                  <a:pt x="228814" y="203061"/>
                </a:lnTo>
                <a:close/>
                <a:moveTo>
                  <a:pt x="199168" y="247888"/>
                </a:moveTo>
                <a:lnTo>
                  <a:pt x="183952" y="289143"/>
                </a:lnTo>
                <a:lnTo>
                  <a:pt x="65508" y="209848"/>
                </a:lnTo>
                <a:lnTo>
                  <a:pt x="83653" y="167700"/>
                </a:lnTo>
                <a:lnTo>
                  <a:pt x="199168" y="247888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0" y="22225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Anaconda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63000" y="27940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 distribution of Python for scientific computing.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20M+ users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worldwide.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63000" y="37465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Conda: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Package &amp; environment manager — install, update, create isolated environments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Jupyter Notebook: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Interactive web-based coding environment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Pre-installed: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250+ packages including NumPy, Pandas, Matplotlib, Scikit-Learn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63000" y="6350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20M+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users worldwide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2159000"/>
          </a:xfrm>
          <a:custGeom>
            <a:avLst/>
            <a:gdLst/>
            <a:ahLst/>
            <a:cxnLst/>
            <a:rect l="l" t="t" r="r" b="b"/>
            <a:pathLst>
              <a:path w="8128000" h="2159000">
                <a:moveTo>
                  <a:pt x="0" y="0"/>
                </a:moveTo>
                <a:lnTo>
                  <a:pt x="8128000" y="0"/>
                </a:lnTo>
                <a:lnTo>
                  <a:pt x="8128000" y="1079500"/>
                </a:lnTo>
                <a:quadBezTo>
                  <a:pt x="6096000" y="2159000"/>
                  <a:pt x="4064000" y="2159000"/>
                </a:quadBezTo>
                <a:lnTo>
                  <a:pt x="2032000" y="2159000"/>
                </a:lnTo>
                <a:quadBezTo>
                  <a:pt x="0" y="2159000"/>
                  <a:pt x="0" y="10795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6985000"/>
            <a:ext cx="8128000" cy="2159000"/>
          </a:xfrm>
          <a:custGeom>
            <a:avLst/>
            <a:gdLst/>
            <a:ahLst/>
            <a:cxnLst/>
            <a:rect l="l" t="t" r="r" b="b"/>
            <a:pathLst>
              <a:path w="8128000" h="2159000">
                <a:moveTo>
                  <a:pt x="8128000" y="2159000"/>
                </a:moveTo>
                <a:lnTo>
                  <a:pt x="0" y="2159000"/>
                </a:lnTo>
                <a:lnTo>
                  <a:pt x="0" y="10795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10795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778000" y="3810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 is not just about algorithms — it's about asking the right questions,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your data, and building solutions that make a difference.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18000" y="5334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11 — Lectures 19 &amp; 20 Complete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6350000"/>
            <a:ext cx="2540000" cy="25400"/>
          </a:xfrm>
          <a:prstGeom prst="rect">
            <a:avLst/>
          </a:prstGeom>
          <a:solidFill>
            <a:srgbClr val="FF7F50">
              <a:alpha val="6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</dc:title>
  <dc:subject>week 11</dc:subject>
  <dc:creator>Kimi</dc:creator>
  <cp:lastModifiedBy>Kimi</cp:lastModifiedBy>
  <cp:revision>1</cp:revision>
  <dcterms:created xsi:type="dcterms:W3CDTF">2026-06-29T07:15:41Z</dcterms:created>
  <dcterms:modified xsi:type="dcterms:W3CDTF">2026-06-29T07:15:41Z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11","ContentProducer":"001191110108MACG2KBH8F10000","ProduceID":"19f12223-21d2-82f1-8000-0000dee5ddbb","ReservedCode1":"","ContentPropagator":"001191110108MACG2KBH8F20000","PropagateID":"19f121ec-c832-828c-8000-09f42d20d6a3","ReservedCode2":""}</vt:lpwstr>
  </property>
</Properties>
</file>