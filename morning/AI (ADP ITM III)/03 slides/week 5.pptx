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tnveiixtuxqi/mnt/agents/output/ai-course-week5/images/5_Abstract_technology_background_futuristic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328">
                  <a:alpha val="60000"/>
                </a:srgbClr>
              </a:gs>
              <a:gs pos="50000">
                <a:srgbClr val="1E2328">
                  <a:alpha val="80000"/>
                </a:srgbClr>
              </a:gs>
              <a:gs pos="100000">
                <a:srgbClr val="1E2328">
                  <a:alpha val="9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79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spc="400" kern="0" dirty="0">
                <a:solidFill>
                  <a:srgbClr val="C67A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COURSE WEEK 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413000" y="3429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112000" y="4572000"/>
            <a:ext cx="2032000" cy="381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4953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Knowledge-Based Agents &amp; Propositional Logic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Implementation Level · Syntax · Semantics · Rules of Inference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88000" y="7874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Lectures 9 &amp; 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032000"/>
            <a:ext cx="7048500" cy="60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2032000"/>
            <a:ext cx="7048500" cy="7620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476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23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619500"/>
            <a:ext cx="622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Implementation Level &amp; Knowledge-Based Agents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4699000"/>
            <a:ext cx="6223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Introduction to the Implementation Level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Approaches to Design KBA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Declarative vs. Procedural Approach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The Concept of Reasoning and Logic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Knowledge Representation Language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Syntax and Semantics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45500" y="2032000"/>
            <a:ext cx="7048500" cy="60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45500" y="2032000"/>
            <a:ext cx="7048500" cy="762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3" name="Text 11"/>
          <p:cNvSpPr/>
          <p:nvPr/>
        </p:nvSpPr>
        <p:spPr>
          <a:xfrm>
            <a:off x="8826500" y="2476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26500" y="323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10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26500" y="3619500"/>
            <a:ext cx="622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Propositional Logic — A Very Simple Logic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26500" y="4699000"/>
            <a:ext cx="6223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Introduction to Propositional Logic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Syntax Rules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Semantics in Propositional Logic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Rules of Inference in AI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The Rule of Implication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The Rule of Converse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tnveiixtuxqi/mnt/agents/output/ai-course-week5/images/2_Integrating_Knowledge_Graphs_into.png">    </p:cNvPr>
          <p:cNvPicPr>
            <a:picLocks noChangeAspect="1"/>
          </p:cNvPicPr>
          <p:nvPr/>
        </p:nvPicPr>
        <p:blipFill>
          <a:blip r:embed="rId1"/>
          <a:srcRect l="0" r="0" t="5000" b="50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328">
                  <a:alpha val="93000"/>
                </a:srgbClr>
              </a:gs>
              <a:gs pos="55000">
                <a:srgbClr val="1E2328">
                  <a:alpha val="80000"/>
                </a:srgbClr>
              </a:gs>
              <a:gs pos="100000">
                <a:srgbClr val="1E2328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778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68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400" kern="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9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4127500"/>
            <a:ext cx="1016000" cy="381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3815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Implementation Level</a:t>
            </a:r>
            <a:endParaRPr lang="en-US" sz="4000" dirty="0"/>
          </a:p>
          <a:p>
            <a:pPr>
              <a:lnSpc>
                <a:spcPct val="13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Knowledge-Based Agents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016000" y="6096000"/>
            <a:ext cx="762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Approaches to Design KBA · Declarative &amp; Procedural · Reasoning &amp; Logic · Syntax &amp; Semantics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Three Levels of Knowledge-Based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45720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778000"/>
            <a:ext cx="4572000" cy="6350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1B5E4B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27305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Level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238500"/>
            <a:ext cx="3937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level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abstraction. Describes </a:t>
            </a:r>
            <a:pPr>
              <a:lnSpc>
                <a:spcPct val="160000"/>
              </a:lnSpc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agent knows and its goals.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Specifies behavior without implementation details.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taxi agent knows the route from A to B.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1778000"/>
            <a:ext cx="45720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42000" y="1778000"/>
            <a:ext cx="4572000" cy="635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2" name="Shape 10"/>
          <p:cNvSpPr/>
          <p:nvPr/>
        </p:nvSpPr>
        <p:spPr>
          <a:xfrm>
            <a:off x="6134100" y="2159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86385" y="953"/>
                </a:moveTo>
                <a:cubicBezTo>
                  <a:pt x="272891" y="-2937"/>
                  <a:pt x="258842" y="4921"/>
                  <a:pt x="254953" y="18415"/>
                </a:cubicBezTo>
                <a:lnTo>
                  <a:pt x="153353" y="374015"/>
                </a:lnTo>
                <a:cubicBezTo>
                  <a:pt x="149463" y="387509"/>
                  <a:pt x="157321" y="401558"/>
                  <a:pt x="170815" y="405448"/>
                </a:cubicBezTo>
                <a:cubicBezTo>
                  <a:pt x="184309" y="409337"/>
                  <a:pt x="198358" y="401479"/>
                  <a:pt x="202248" y="387985"/>
                </a:cubicBezTo>
                <a:lnTo>
                  <a:pt x="303848" y="32385"/>
                </a:lnTo>
                <a:cubicBezTo>
                  <a:pt x="307737" y="18891"/>
                  <a:pt x="299879" y="4842"/>
                  <a:pt x="286385" y="953"/>
                </a:cubicBezTo>
                <a:close/>
                <a:moveTo>
                  <a:pt x="337661" y="108982"/>
                </a:moveTo>
                <a:cubicBezTo>
                  <a:pt x="327739" y="118904"/>
                  <a:pt x="327739" y="135017"/>
                  <a:pt x="337661" y="144939"/>
                </a:cubicBezTo>
                <a:lnTo>
                  <a:pt x="395922" y="203200"/>
                </a:lnTo>
                <a:lnTo>
                  <a:pt x="337661" y="261461"/>
                </a:lnTo>
                <a:cubicBezTo>
                  <a:pt x="327739" y="271383"/>
                  <a:pt x="327739" y="287496"/>
                  <a:pt x="337661" y="297418"/>
                </a:cubicBezTo>
                <a:cubicBezTo>
                  <a:pt x="347583" y="307340"/>
                  <a:pt x="363696" y="307340"/>
                  <a:pt x="373618" y="297418"/>
                </a:cubicBezTo>
                <a:lnTo>
                  <a:pt x="449818" y="221218"/>
                </a:lnTo>
                <a:cubicBezTo>
                  <a:pt x="459740" y="211296"/>
                  <a:pt x="459740" y="195183"/>
                  <a:pt x="449818" y="185261"/>
                </a:cubicBezTo>
                <a:lnTo>
                  <a:pt x="373618" y="109061"/>
                </a:lnTo>
                <a:cubicBezTo>
                  <a:pt x="363696" y="99139"/>
                  <a:pt x="347583" y="99139"/>
                  <a:pt x="337661" y="109061"/>
                </a:cubicBezTo>
                <a:close/>
                <a:moveTo>
                  <a:pt x="119618" y="108982"/>
                </a:moveTo>
                <a:cubicBezTo>
                  <a:pt x="109696" y="99060"/>
                  <a:pt x="93583" y="99060"/>
                  <a:pt x="83661" y="108982"/>
                </a:cubicBezTo>
                <a:lnTo>
                  <a:pt x="7461" y="185182"/>
                </a:lnTo>
                <a:cubicBezTo>
                  <a:pt x="-2461" y="195104"/>
                  <a:pt x="-2461" y="211217"/>
                  <a:pt x="7461" y="221139"/>
                </a:cubicBezTo>
                <a:lnTo>
                  <a:pt x="83661" y="297339"/>
                </a:lnTo>
                <a:cubicBezTo>
                  <a:pt x="93583" y="307261"/>
                  <a:pt x="109696" y="307261"/>
                  <a:pt x="119618" y="297339"/>
                </a:cubicBezTo>
                <a:cubicBezTo>
                  <a:pt x="129540" y="287417"/>
                  <a:pt x="129540" y="271304"/>
                  <a:pt x="119618" y="261382"/>
                </a:cubicBezTo>
                <a:lnTo>
                  <a:pt x="61357" y="203200"/>
                </a:lnTo>
                <a:lnTo>
                  <a:pt x="119539" y="144939"/>
                </a:lnTo>
                <a:cubicBezTo>
                  <a:pt x="129461" y="135017"/>
                  <a:pt x="129461" y="118904"/>
                  <a:pt x="119539" y="108982"/>
                </a:cubicBezTo>
                <a:close/>
              </a:path>
            </a:pathLst>
          </a:custGeom>
          <a:solidFill>
            <a:srgbClr val="C67A1E"/>
          </a:solidFill>
          <a:ln/>
        </p:spPr>
      </p:sp>
      <p:sp>
        <p:nvSpPr>
          <p:cNvPr id="13" name="Text 11"/>
          <p:cNvSpPr/>
          <p:nvPr/>
        </p:nvSpPr>
        <p:spPr>
          <a:xfrm>
            <a:off x="6159500" y="27305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Logical Level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9500" y="3238500"/>
            <a:ext cx="3937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intermediate level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Knowledge encoded into logical sentences.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a Knowledge Representation Language.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Route encoded as logical facts and rules.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22000" y="1778000"/>
            <a:ext cx="4572000" cy="482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22000" y="1778000"/>
            <a:ext cx="4572000" cy="635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95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6B7B8D"/>
          </a:solidFill>
          <a:ln/>
        </p:spPr>
      </p:sp>
      <p:sp>
        <p:nvSpPr>
          <p:cNvPr id="18" name="Text 16"/>
          <p:cNvSpPr/>
          <p:nvPr/>
        </p:nvSpPr>
        <p:spPr>
          <a:xfrm>
            <a:off x="11239500" y="27305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Level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39500" y="3238500"/>
            <a:ext cx="3937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lowest level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Physical representation of logic and knowledge.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performs actual actions here.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Navigation algorithms, sensor processing, motor control.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34000" y="4064000"/>
            <a:ext cx="508000" cy="0"/>
          </a:xfrm>
          <a:prstGeom prst="straightConnector1">
            <a:avLst/>
          </a:prstGeom>
          <a:noFill/>
          <a:ln w="25400">
            <a:solidFill>
              <a:srgbClr val="D0CBC4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0414000" y="4064000"/>
            <a:ext cx="508000" cy="0"/>
          </a:xfrm>
          <a:prstGeom prst="straightConnector1">
            <a:avLst/>
          </a:prstGeom>
          <a:noFill/>
          <a:ln w="25400">
            <a:solidFill>
              <a:srgbClr val="D0CBC4"/>
            </a:solidFill>
            <a:prstDash val="solid"/>
            <a:headEnd type="none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762000" y="6921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three levels form a pipeline: Knowledge defines </a:t>
            </a:r>
            <a:pPr algn="ctr">
              <a:lnSpc>
                <a:spcPct val="150000"/>
              </a:lnSpc>
            </a:pPr>
            <a:r>
              <a:rPr lang="en-US" sz="1500" b="1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</a:t>
            </a:r>
            <a:pPr algn="ctr">
              <a:lnSpc>
                <a:spcPct val="150000"/>
              </a:lnSpc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Logic defines </a:t>
            </a:r>
            <a:pPr algn="ctr">
              <a:lnSpc>
                <a:spcPct val="150000"/>
              </a:lnSpc>
            </a:pPr>
            <a:r>
              <a:rPr lang="en-US" sz="1500" b="1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</a:t>
            </a:r>
            <a:pPr algn="ctr">
              <a:lnSpc>
                <a:spcPct val="150000"/>
              </a:lnSpc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Implementation defines </a:t>
            </a:r>
            <a:pPr algn="ctr">
              <a:lnSpc>
                <a:spcPct val="150000"/>
              </a:lnSpc>
            </a:pPr>
            <a:r>
              <a:rPr lang="en-US" sz="1500" b="1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Level &amp; Logical Level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LEVEL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50800" cy="254000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22500"/>
            <a:ext cx="6477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level of abstraction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we specify what the agent knows and what its goals are.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these specifications, we can fix the agent's behavior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worrying about implementation.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medical diagnosis agent knows symptoms, diseases, and treatment options.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1778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LOGICAL LEVEL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222500"/>
            <a:ext cx="50800" cy="25400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2222500"/>
            <a:ext cx="673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intermediate level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knowledge representation is stored as logical sentences.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Sentences are encoded into different logics — this is where formal reasoning happens.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∀x: Man(x) → Mortal(x)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encodes "All men are mortal."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0800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Relationship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8420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Logical Level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bridges the gap between abstract knowledge and concrete implementation. At the Knowledge Level, we say </a:t>
            </a:r>
            <a:pPr>
              <a:lnSpc>
                <a:spcPct val="170000"/>
              </a:lnSpc>
            </a:pPr>
            <a:r>
              <a:rPr lang="en-US" sz="17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agent should diagnose diseases correctly"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at the Logical Level, we encode the medical rules and facts that enable this behavior; at the Implementation Level, these rules are executed as running code.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Level in Detail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14732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714500"/>
            <a:ext cx="50800" cy="7620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714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Level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physical representation of logic and knowledge — where the agent performs actions as per the logical and knowledge levels.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9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302000"/>
            <a:ext cx="685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Concerned with programming language details and algorithms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inference engine is physically implemented here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Knowledge base storage mechanisms are defined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Agent-environment interaction is executed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structures and memory management reside here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279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Taxi Agent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3302000"/>
            <a:ext cx="711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99500" y="3492500"/>
            <a:ext cx="6477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Level: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Knows the route from A to B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Logical Level: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Route encoded as logical rules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Level: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Navigation algorithms execute pathfinding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Sensor processing reads GPS, cameras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Motor control steers the vehicle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Real-time decision loop runs continuously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Approaches to Designing a Knowledge-Based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There are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main approaches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building a knowledge-based agent. A successful agent often combines both approaches for optimal results.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667000"/>
            <a:ext cx="7048500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667000"/>
            <a:ext cx="63500" cy="393700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8" name="Shape 6"/>
          <p:cNvSpPr/>
          <p:nvPr/>
        </p:nvSpPr>
        <p:spPr>
          <a:xfrm>
            <a:off x="1171575" y="2984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42900" y="457200"/>
                </a:moveTo>
                <a:lnTo>
                  <a:pt x="85725" y="457200"/>
                </a:lnTo>
                <a:cubicBezTo>
                  <a:pt x="38398" y="457200"/>
                  <a:pt x="0" y="418802"/>
                  <a:pt x="0" y="371475"/>
                </a:cubicBezTo>
                <a:lnTo>
                  <a:pt x="0" y="85725"/>
                </a:lnTo>
                <a:cubicBezTo>
                  <a:pt x="0" y="38398"/>
                  <a:pt x="38398" y="0"/>
                  <a:pt x="85725" y="0"/>
                </a:cubicBezTo>
                <a:lnTo>
                  <a:pt x="357188" y="0"/>
                </a:lnTo>
                <a:cubicBezTo>
                  <a:pt x="380851" y="0"/>
                  <a:pt x="400050" y="19199"/>
                  <a:pt x="400050" y="42863"/>
                </a:cubicBezTo>
                <a:lnTo>
                  <a:pt x="400050" y="300038"/>
                </a:lnTo>
                <a:cubicBezTo>
                  <a:pt x="400050" y="318701"/>
                  <a:pt x="388084" y="334595"/>
                  <a:pt x="371475" y="340489"/>
                </a:cubicBezTo>
                <a:lnTo>
                  <a:pt x="371475" y="400050"/>
                </a:lnTo>
                <a:cubicBezTo>
                  <a:pt x="387281" y="400050"/>
                  <a:pt x="400050" y="412819"/>
                  <a:pt x="400050" y="428625"/>
                </a:cubicBezTo>
                <a:cubicBezTo>
                  <a:pt x="400050" y="444431"/>
                  <a:pt x="387281" y="457200"/>
                  <a:pt x="371475" y="457200"/>
                </a:cubicBezTo>
                <a:lnTo>
                  <a:pt x="342900" y="457200"/>
                </a:lnTo>
                <a:close/>
                <a:moveTo>
                  <a:pt x="85725" y="342900"/>
                </a:moveTo>
                <a:cubicBezTo>
                  <a:pt x="69919" y="342900"/>
                  <a:pt x="57150" y="355669"/>
                  <a:pt x="57150" y="371475"/>
                </a:cubicBezTo>
                <a:cubicBezTo>
                  <a:pt x="57150" y="387281"/>
                  <a:pt x="69919" y="400050"/>
                  <a:pt x="85725" y="400050"/>
                </a:cubicBezTo>
                <a:lnTo>
                  <a:pt x="314325" y="400050"/>
                </a:lnTo>
                <a:lnTo>
                  <a:pt x="314325" y="342900"/>
                </a:lnTo>
                <a:lnTo>
                  <a:pt x="85725" y="342900"/>
                </a:lnTo>
                <a:close/>
                <a:moveTo>
                  <a:pt x="114300" y="135731"/>
                </a:moveTo>
                <a:cubicBezTo>
                  <a:pt x="114300" y="147608"/>
                  <a:pt x="123855" y="157163"/>
                  <a:pt x="135731" y="157163"/>
                </a:cubicBezTo>
                <a:lnTo>
                  <a:pt x="292894" y="157163"/>
                </a:lnTo>
                <a:cubicBezTo>
                  <a:pt x="304770" y="157163"/>
                  <a:pt x="314325" y="147608"/>
                  <a:pt x="314325" y="135731"/>
                </a:cubicBezTo>
                <a:cubicBezTo>
                  <a:pt x="314325" y="123855"/>
                  <a:pt x="304770" y="114300"/>
                  <a:pt x="292894" y="114300"/>
                </a:cubicBezTo>
                <a:lnTo>
                  <a:pt x="135731" y="114300"/>
                </a:lnTo>
                <a:cubicBezTo>
                  <a:pt x="123855" y="114300"/>
                  <a:pt x="114300" y="123855"/>
                  <a:pt x="114300" y="135731"/>
                </a:cubicBezTo>
                <a:close/>
                <a:moveTo>
                  <a:pt x="135731" y="200025"/>
                </a:moveTo>
                <a:cubicBezTo>
                  <a:pt x="123855" y="200025"/>
                  <a:pt x="114300" y="209580"/>
                  <a:pt x="114300" y="221456"/>
                </a:cubicBezTo>
                <a:cubicBezTo>
                  <a:pt x="114300" y="233333"/>
                  <a:pt x="123855" y="242888"/>
                  <a:pt x="135731" y="242888"/>
                </a:cubicBezTo>
                <a:lnTo>
                  <a:pt x="292894" y="242888"/>
                </a:lnTo>
                <a:cubicBezTo>
                  <a:pt x="304770" y="242888"/>
                  <a:pt x="314325" y="233333"/>
                  <a:pt x="314325" y="221456"/>
                </a:cubicBezTo>
                <a:cubicBezTo>
                  <a:pt x="314325" y="209580"/>
                  <a:pt x="304770" y="200025"/>
                  <a:pt x="292894" y="200025"/>
                </a:cubicBezTo>
                <a:lnTo>
                  <a:pt x="135731" y="200025"/>
                </a:lnTo>
                <a:close/>
              </a:path>
            </a:pathLst>
          </a:custGeom>
          <a:solidFill>
            <a:srgbClr val="1B5E4B"/>
          </a:solidFill>
          <a:ln/>
        </p:spPr>
      </p:sp>
      <p:sp>
        <p:nvSpPr>
          <p:cNvPr id="9" name="Text 7"/>
          <p:cNvSpPr/>
          <p:nvPr/>
        </p:nvSpPr>
        <p:spPr>
          <a:xfrm>
            <a:off x="1778000" y="2984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Declarative Approach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683000"/>
            <a:ext cx="635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Initialize with an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empty knowledge base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then tell the agent all the sentences with which we want to start.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is represented as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explicit facts and rules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independent of the algorithms used to manipulate it.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idea: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Separate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known from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use it.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45500" y="2667000"/>
            <a:ext cx="7048500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45500" y="2667000"/>
            <a:ext cx="63500" cy="39370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3" name="Shape 11"/>
          <p:cNvSpPr/>
          <p:nvPr/>
        </p:nvSpPr>
        <p:spPr>
          <a:xfrm>
            <a:off x="8769350" y="2984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C67A1E"/>
          </a:solidFill>
          <a:ln/>
        </p:spPr>
      </p:sp>
      <p:sp>
        <p:nvSpPr>
          <p:cNvPr id="14" name="Text 12"/>
          <p:cNvSpPr/>
          <p:nvPr/>
        </p:nvSpPr>
        <p:spPr>
          <a:xfrm>
            <a:off x="9461500" y="2984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Procedural Approach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26500" y="3683000"/>
            <a:ext cx="635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Directly encode desired behavior as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 code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Knowledge is embedded in the procedures themselves.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inference engine uses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hard-coded algorithms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draw inferences from the knowledge base.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idea: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Knowledge and reasoning are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inseparable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921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systems typically combine both approaches — declarative knowledge can often be compiled into more efficient procedural code.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Declarative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736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the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declarative approach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knowledge is represented in a declarative form — rules or factual statements — defined </a:t>
            </a:r>
            <a:pPr>
              <a:lnSpc>
                <a:spcPct val="170000"/>
              </a:lnSpc>
            </a:pPr>
            <a:r>
              <a:rPr lang="en-US" sz="17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independently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algorithms used to manipulate it.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agent starts with an empty KB and accumulates knowledge through explicit statements.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36000" y="1714500"/>
            <a:ext cx="6858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53500" y="1879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53500" y="2260600"/>
            <a:ext cx="622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Knowledge explicitly represented as facts and rules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Inference engine uses general algorithms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 transparency — knowledge is readable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Easy to modify — add or remove sentences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57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080000"/>
            <a:ext cx="14732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5080000"/>
            <a:ext cx="50800" cy="26670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2" name="Text 10"/>
          <p:cNvSpPr/>
          <p:nvPr/>
        </p:nvSpPr>
        <p:spPr>
          <a:xfrm>
            <a:off x="1079500" y="5270500"/>
            <a:ext cx="14097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 — TELL the KB: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"All men are mortal"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"Marcus is a man"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 — ASK the KB: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"Is Marcus mortal?"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 — Inference: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agent derives the answer through logical reasoning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knowledge is separate from the reasoning mechanism. You can change what the agent knows without changing how it reasons.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Procedural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736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the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procedural approach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desired behavior is directly encoded as program code. Knowledge is expressed in terms of the </a:t>
            </a:r>
            <a:pPr>
              <a:lnSpc>
                <a:spcPct val="170000"/>
              </a:lnSpc>
            </a:pPr>
            <a:r>
              <a:rPr lang="en-US" sz="17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used to manipulate it.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inference engine utilizes these hard-coded procedures to draw inferences.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36000" y="1714500"/>
            <a:ext cx="6858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53500" y="1879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53500" y="2260600"/>
            <a:ext cx="622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Knowledge embedded directly in program code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Behavior is hard-coded as procedures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efficient execution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Less transparent — knowledge is implicit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57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080000"/>
            <a:ext cx="14732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5080000"/>
            <a:ext cx="50800" cy="266700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12" name="Text 10"/>
          <p:cNvSpPr/>
          <p:nvPr/>
        </p:nvSpPr>
        <p:spPr>
          <a:xfrm>
            <a:off x="1079500" y="5270500"/>
            <a:ext cx="14097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IF-THEN program: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28"/>
                </a:solidFill>
                <a:highlight>
                  <a:srgbClr val="E8E4DD">
                    <a:alpha val="100000"/>
                  </a:srgbClr>
                </a:highlight>
                <a:latin typeface="monospace" pitchFamily="34" charset="0"/>
                <a:ea typeface="monospace" pitchFamily="34" charset="-122"/>
                <a:cs typeface="monospace" pitchFamily="34" charset="-120"/>
              </a:rPr>
              <a:t>IF symptom_fever AND symptom_cough THEN diagnosis = flu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28"/>
                </a:solidFill>
                <a:highlight>
                  <a:srgbClr val="E8E4DD">
                    <a:alpha val="100000"/>
                  </a:srgbClr>
                </a:highlight>
                <a:latin typeface="monospace" pitchFamily="34" charset="0"/>
                <a:ea typeface="monospace" pitchFamily="34" charset="-122"/>
                <a:cs typeface="monospace" pitchFamily="34" charset="-120"/>
              </a:rPr>
              <a:t>IF symptom_fever AND symptom_rash THEN diagnosis = measles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knowledge and reasoning are inseparable from the implementation. To change what the agent knows, you must modify the code itself.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Declarative vs. Procedural —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4826000"/>
        </p:xfrm>
        <a:graphic>
          <a:graphicData uri="http://schemas.openxmlformats.org/drawingml/2006/table">
            <a:tbl>
              <a:tblPr/>
              <a:tblGrid>
                <a:gridCol w="3683000"/>
                <a:gridCol w="5524500"/>
                <a:gridCol w="5524500"/>
              </a:tblGrid>
              <a:tr h="676661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Declarative Approach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Procedural Approach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</a:tr>
              <a:tr h="82986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Knowledge Representation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Explicit facts and rules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Embedded in code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986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Modifiability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Easy — add/remove sentences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Hard — requires code changes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82986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Transparency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 — knowledge is readable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 — knowledge is implicit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986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Efficiency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May be slower (general reasoning)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Faster (optimized code)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82986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Domains where knowledge changes frequently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Stable, well-understood domains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921500"/>
            <a:ext cx="14732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2000" y="6921500"/>
            <a:ext cx="50800" cy="7620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6921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Real-world systems typically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both approaches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 declarative for flexibility and procedural for performance-critical components.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Concept of Reasoning and Logic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1473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Reasoning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process of deriving new knowledge from existing knowledge.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the formal foundation ensuring conclusions follow validly from premises.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667000"/>
            <a:ext cx="4572000" cy="349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667000"/>
            <a:ext cx="4572000" cy="6350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8" name="Shape 6"/>
          <p:cNvSpPr/>
          <p:nvPr/>
        </p:nvSpPr>
        <p:spPr>
          <a:xfrm>
            <a:off x="1127125" y="29464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1B5E4B"/>
          </a:solidFill>
          <a:ln/>
        </p:spPr>
      </p:sp>
      <p:sp>
        <p:nvSpPr>
          <p:cNvPr id="9" name="Text 7"/>
          <p:cNvSpPr/>
          <p:nvPr/>
        </p:nvSpPr>
        <p:spPr>
          <a:xfrm>
            <a:off x="1587500" y="29464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Deductive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3492500"/>
            <a:ext cx="393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Deriving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conclusions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general rules.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 to be correct if premises are true.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men are mortal. Marcus is a man. ∴ Marcus is mortal.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2000" y="2667000"/>
            <a:ext cx="457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42000" y="2667000"/>
            <a:ext cx="4572000" cy="635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207125" y="29464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59693" y="12948"/>
                </a:moveTo>
                <a:cubicBezTo>
                  <a:pt x="150391" y="3646"/>
                  <a:pt x="135285" y="3646"/>
                  <a:pt x="125983" y="12948"/>
                </a:cubicBezTo>
                <a:lnTo>
                  <a:pt x="6921" y="132011"/>
                </a:lnTo>
                <a:cubicBezTo>
                  <a:pt x="-2381" y="141312"/>
                  <a:pt x="-2381" y="156418"/>
                  <a:pt x="6921" y="165720"/>
                </a:cubicBezTo>
                <a:cubicBezTo>
                  <a:pt x="16222" y="175022"/>
                  <a:pt x="31328" y="175022"/>
                  <a:pt x="40630" y="165720"/>
                </a:cubicBezTo>
                <a:lnTo>
                  <a:pt x="119063" y="87288"/>
                </a:lnTo>
                <a:lnTo>
                  <a:pt x="119063" y="363141"/>
                </a:lnTo>
                <a:cubicBezTo>
                  <a:pt x="119063" y="376312"/>
                  <a:pt x="129704" y="386953"/>
                  <a:pt x="142875" y="386953"/>
                </a:cubicBezTo>
                <a:cubicBezTo>
                  <a:pt x="156046" y="386953"/>
                  <a:pt x="166688" y="376312"/>
                  <a:pt x="166688" y="363141"/>
                </a:cubicBezTo>
                <a:lnTo>
                  <a:pt x="166688" y="87288"/>
                </a:lnTo>
                <a:lnTo>
                  <a:pt x="245120" y="165720"/>
                </a:lnTo>
                <a:cubicBezTo>
                  <a:pt x="254422" y="175022"/>
                  <a:pt x="269528" y="175022"/>
                  <a:pt x="278829" y="165720"/>
                </a:cubicBezTo>
                <a:cubicBezTo>
                  <a:pt x="288131" y="156418"/>
                  <a:pt x="288131" y="141312"/>
                  <a:pt x="278829" y="132011"/>
                </a:cubicBezTo>
                <a:lnTo>
                  <a:pt x="159767" y="12948"/>
                </a:lnTo>
                <a:close/>
              </a:path>
            </a:pathLst>
          </a:custGeom>
          <a:solidFill>
            <a:srgbClr val="C67A1E"/>
          </a:solidFill>
          <a:ln/>
        </p:spPr>
      </p:sp>
      <p:sp>
        <p:nvSpPr>
          <p:cNvPr id="14" name="Text 12"/>
          <p:cNvSpPr/>
          <p:nvPr/>
        </p:nvSpPr>
        <p:spPr>
          <a:xfrm>
            <a:off x="6667500" y="29464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Inductive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59500" y="3492500"/>
            <a:ext cx="393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Deriving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rules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specific observations.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Conclusions are probable, not certain.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swan I've seen is white. ∴ All swans are probably white.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22000" y="2667000"/>
            <a:ext cx="4572000" cy="349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22000" y="2667000"/>
            <a:ext cx="4572000" cy="635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39500" y="2946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9563" y="154781"/>
                </a:moveTo>
                <a:cubicBezTo>
                  <a:pt x="309563" y="188937"/>
                  <a:pt x="298475" y="220489"/>
                  <a:pt x="279797" y="246087"/>
                </a:cubicBezTo>
                <a:lnTo>
                  <a:pt x="374005" y="340370"/>
                </a:lnTo>
                <a:cubicBezTo>
                  <a:pt x="383307" y="349672"/>
                  <a:pt x="383307" y="364778"/>
                  <a:pt x="374005" y="374079"/>
                </a:cubicBezTo>
                <a:cubicBezTo>
                  <a:pt x="364703" y="383381"/>
                  <a:pt x="349597" y="383381"/>
                  <a:pt x="340296" y="374079"/>
                </a:cubicBezTo>
                <a:lnTo>
                  <a:pt x="246087" y="279797"/>
                </a:lnTo>
                <a:cubicBezTo>
                  <a:pt x="220489" y="298475"/>
                  <a:pt x="188937" y="309563"/>
                  <a:pt x="154781" y="309563"/>
                </a:cubicBezTo>
                <a:cubicBezTo>
                  <a:pt x="69279" y="309563"/>
                  <a:pt x="0" y="240283"/>
                  <a:pt x="0" y="154781"/>
                </a:cubicBezTo>
                <a:cubicBezTo>
                  <a:pt x="0" y="69279"/>
                  <a:pt x="69279" y="0"/>
                  <a:pt x="154781" y="0"/>
                </a:cubicBezTo>
                <a:cubicBezTo>
                  <a:pt x="240283" y="0"/>
                  <a:pt x="309563" y="69279"/>
                  <a:pt x="309563" y="154781"/>
                </a:cubicBezTo>
                <a:close/>
                <a:moveTo>
                  <a:pt x="154781" y="261938"/>
                </a:moveTo>
                <a:cubicBezTo>
                  <a:pt x="213922" y="261938"/>
                  <a:pt x="261938" y="213922"/>
                  <a:pt x="261938" y="154781"/>
                </a:cubicBezTo>
                <a:cubicBezTo>
                  <a:pt x="261938" y="95640"/>
                  <a:pt x="213922" y="47625"/>
                  <a:pt x="154781" y="47625"/>
                </a:cubicBezTo>
                <a:cubicBezTo>
                  <a:pt x="95640" y="47625"/>
                  <a:pt x="47625" y="95640"/>
                  <a:pt x="47625" y="154781"/>
                </a:cubicBezTo>
                <a:cubicBezTo>
                  <a:pt x="47625" y="213922"/>
                  <a:pt x="95640" y="261938"/>
                  <a:pt x="154781" y="261938"/>
                </a:cubicBezTo>
                <a:close/>
              </a:path>
            </a:pathLst>
          </a:custGeom>
          <a:solidFill>
            <a:srgbClr val="6B7B8D"/>
          </a:solidFill>
          <a:ln/>
        </p:spPr>
      </p:sp>
      <p:sp>
        <p:nvSpPr>
          <p:cNvPr id="19" name="Text 17"/>
          <p:cNvSpPr/>
          <p:nvPr/>
        </p:nvSpPr>
        <p:spPr>
          <a:xfrm>
            <a:off x="11747500" y="29464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Abductive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239500" y="3492500"/>
            <a:ext cx="393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Inferring the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explanation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observations.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for diagnosis and hypothesis generation.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ground is wet. ∴ It probably rained.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6350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knowledge-based agent uses its </a:t>
            </a:r>
            <a:pPr algn="ctr">
              <a:lnSpc>
                <a:spcPct val="150000"/>
              </a:lnSpc>
            </a:pPr>
            <a:r>
              <a:rPr lang="en-US" sz="1600" b="1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 system</a:t>
            </a:r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perform reasoning over its knowledge base,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deriving new facts and making informed decisions.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 Language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14732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714500"/>
            <a:ext cx="50800" cy="88900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714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Representation Language (KRL)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gives AI a formal way to organize facts, concepts, and rules so software can interpret them, reason over them, and act on them. It bridges the gap between </a:t>
            </a:r>
            <a:pPr>
              <a:lnSpc>
                <a:spcPct val="160000"/>
              </a:lnSpc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meaning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reasoning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85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365500"/>
            <a:ext cx="685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Formal Syntax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defines how statements must be written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Formal Semantics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defines what statements mean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Expressiveness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represents objects, properties, relations, events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 Support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enables automated reasoning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285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KRLs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3365500"/>
            <a:ext cx="7112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Logic-based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Propositional / Predicate logic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Networks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Graph-based representation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Frame-based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Structured templates with slots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Rules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IF-THEN rule systems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Ontologies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Shared domain vocabularies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350000"/>
            <a:ext cx="1473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" y="6350000"/>
            <a:ext cx="50800" cy="12700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6477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useful knowledge model does not just store facts — it makes those facts usable for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inference, classification, and action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Without a KRL, a system has "a database full of strings" but no real understanding.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 and Semantics in Knowledge Representation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 and semantics are the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fundamental components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any knowledge representation language.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13000"/>
            <a:ext cx="70485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413000"/>
            <a:ext cx="7048500" cy="6350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8" name="Shape 6"/>
          <p:cNvSpPr/>
          <p:nvPr/>
        </p:nvSpPr>
        <p:spPr>
          <a:xfrm>
            <a:off x="1054100" y="2730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95250" y="25400"/>
                </a:moveTo>
                <a:cubicBezTo>
                  <a:pt x="56674" y="25400"/>
                  <a:pt x="25400" y="56674"/>
                  <a:pt x="25400" y="95250"/>
                </a:cubicBezTo>
                <a:lnTo>
                  <a:pt x="25400" y="228600"/>
                </a:lnTo>
                <a:cubicBezTo>
                  <a:pt x="25400" y="242649"/>
                  <a:pt x="36751" y="254000"/>
                  <a:pt x="50800" y="254000"/>
                </a:cubicBezTo>
                <a:cubicBezTo>
                  <a:pt x="64849" y="254000"/>
                  <a:pt x="76200" y="242649"/>
                  <a:pt x="76200" y="228600"/>
                </a:cubicBezTo>
                <a:lnTo>
                  <a:pt x="76200" y="177800"/>
                </a:lnTo>
                <a:lnTo>
                  <a:pt x="127000" y="177800"/>
                </a:lnTo>
                <a:lnTo>
                  <a:pt x="127000" y="228600"/>
                </a:lnTo>
                <a:cubicBezTo>
                  <a:pt x="127000" y="242649"/>
                  <a:pt x="138351" y="254000"/>
                  <a:pt x="152400" y="254000"/>
                </a:cubicBezTo>
                <a:cubicBezTo>
                  <a:pt x="166449" y="254000"/>
                  <a:pt x="177800" y="242649"/>
                  <a:pt x="177800" y="228600"/>
                </a:cubicBezTo>
                <a:lnTo>
                  <a:pt x="177800" y="95250"/>
                </a:lnTo>
                <a:cubicBezTo>
                  <a:pt x="177800" y="56674"/>
                  <a:pt x="146526" y="25400"/>
                  <a:pt x="107950" y="25400"/>
                </a:cubicBezTo>
                <a:lnTo>
                  <a:pt x="95250" y="25400"/>
                </a:lnTo>
                <a:close/>
                <a:moveTo>
                  <a:pt x="127000" y="127000"/>
                </a:moveTo>
                <a:lnTo>
                  <a:pt x="76200" y="127000"/>
                </a:lnTo>
                <a:lnTo>
                  <a:pt x="76200" y="95250"/>
                </a:lnTo>
                <a:cubicBezTo>
                  <a:pt x="76200" y="84693"/>
                  <a:pt x="84693" y="76200"/>
                  <a:pt x="95250" y="76200"/>
                </a:cubicBezTo>
                <a:lnTo>
                  <a:pt x="107950" y="76200"/>
                </a:lnTo>
                <a:cubicBezTo>
                  <a:pt x="118507" y="76200"/>
                  <a:pt x="127000" y="84693"/>
                  <a:pt x="127000" y="95250"/>
                </a:cubicBezTo>
                <a:lnTo>
                  <a:pt x="127000" y="127000"/>
                </a:lnTo>
                <a:close/>
                <a:moveTo>
                  <a:pt x="241300" y="25400"/>
                </a:moveTo>
                <a:cubicBezTo>
                  <a:pt x="227251" y="25400"/>
                  <a:pt x="215900" y="36751"/>
                  <a:pt x="215900" y="50800"/>
                </a:cubicBezTo>
                <a:lnTo>
                  <a:pt x="215900" y="228600"/>
                </a:lnTo>
                <a:cubicBezTo>
                  <a:pt x="215900" y="242649"/>
                  <a:pt x="227251" y="254000"/>
                  <a:pt x="241300" y="254000"/>
                </a:cubicBezTo>
                <a:lnTo>
                  <a:pt x="298450" y="254000"/>
                </a:lnTo>
                <a:cubicBezTo>
                  <a:pt x="337026" y="254000"/>
                  <a:pt x="368300" y="222726"/>
                  <a:pt x="368300" y="184150"/>
                </a:cubicBezTo>
                <a:cubicBezTo>
                  <a:pt x="368300" y="165418"/>
                  <a:pt x="360918" y="148431"/>
                  <a:pt x="348933" y="135890"/>
                </a:cubicBezTo>
                <a:cubicBezTo>
                  <a:pt x="357108" y="124460"/>
                  <a:pt x="361950" y="110411"/>
                  <a:pt x="361950" y="95250"/>
                </a:cubicBezTo>
                <a:cubicBezTo>
                  <a:pt x="361950" y="56674"/>
                  <a:pt x="330676" y="25400"/>
                  <a:pt x="292100" y="25400"/>
                </a:cubicBezTo>
                <a:lnTo>
                  <a:pt x="241300" y="25400"/>
                </a:lnTo>
                <a:close/>
                <a:moveTo>
                  <a:pt x="292100" y="114300"/>
                </a:moveTo>
                <a:lnTo>
                  <a:pt x="266700" y="114300"/>
                </a:lnTo>
                <a:lnTo>
                  <a:pt x="266700" y="76200"/>
                </a:lnTo>
                <a:lnTo>
                  <a:pt x="292100" y="76200"/>
                </a:lnTo>
                <a:cubicBezTo>
                  <a:pt x="302657" y="76200"/>
                  <a:pt x="311150" y="84693"/>
                  <a:pt x="311150" y="95250"/>
                </a:cubicBezTo>
                <a:cubicBezTo>
                  <a:pt x="311150" y="105807"/>
                  <a:pt x="302657" y="114300"/>
                  <a:pt x="292100" y="114300"/>
                </a:cubicBezTo>
                <a:close/>
                <a:moveTo>
                  <a:pt x="266700" y="203200"/>
                </a:moveTo>
                <a:lnTo>
                  <a:pt x="266700" y="165100"/>
                </a:lnTo>
                <a:lnTo>
                  <a:pt x="298450" y="165100"/>
                </a:lnTo>
                <a:cubicBezTo>
                  <a:pt x="309007" y="165100"/>
                  <a:pt x="317500" y="173593"/>
                  <a:pt x="317500" y="184150"/>
                </a:cubicBezTo>
                <a:cubicBezTo>
                  <a:pt x="317500" y="194707"/>
                  <a:pt x="309007" y="203200"/>
                  <a:pt x="298450" y="203200"/>
                </a:cubicBezTo>
                <a:lnTo>
                  <a:pt x="266700" y="203200"/>
                </a:lnTo>
                <a:close/>
                <a:moveTo>
                  <a:pt x="451644" y="269875"/>
                </a:moveTo>
                <a:cubicBezTo>
                  <a:pt x="460375" y="258921"/>
                  <a:pt x="458629" y="242967"/>
                  <a:pt x="447675" y="234156"/>
                </a:cubicBezTo>
                <a:cubicBezTo>
                  <a:pt x="436721" y="225346"/>
                  <a:pt x="420767" y="227171"/>
                  <a:pt x="411956" y="238125"/>
                </a:cubicBezTo>
                <a:lnTo>
                  <a:pt x="328057" y="342979"/>
                </a:lnTo>
                <a:lnTo>
                  <a:pt x="297339" y="312261"/>
                </a:lnTo>
                <a:cubicBezTo>
                  <a:pt x="287417" y="302339"/>
                  <a:pt x="271304" y="302339"/>
                  <a:pt x="261382" y="312261"/>
                </a:cubicBezTo>
                <a:cubicBezTo>
                  <a:pt x="251460" y="322183"/>
                  <a:pt x="251460" y="338296"/>
                  <a:pt x="261382" y="348218"/>
                </a:cubicBezTo>
                <a:lnTo>
                  <a:pt x="312182" y="399018"/>
                </a:lnTo>
                <a:cubicBezTo>
                  <a:pt x="317262" y="404098"/>
                  <a:pt x="324326" y="406797"/>
                  <a:pt x="331549" y="406400"/>
                </a:cubicBezTo>
                <a:cubicBezTo>
                  <a:pt x="338772" y="406003"/>
                  <a:pt x="345440" y="402511"/>
                  <a:pt x="349964" y="396875"/>
                </a:cubicBezTo>
                <a:lnTo>
                  <a:pt x="451644" y="269875"/>
                </a:lnTo>
                <a:close/>
              </a:path>
            </a:pathLst>
          </a:custGeom>
          <a:solidFill>
            <a:srgbClr val="1B5E4B"/>
          </a:solidFill>
          <a:ln/>
        </p:spPr>
      </p:sp>
      <p:sp>
        <p:nvSpPr>
          <p:cNvPr id="9" name="Text 7"/>
          <p:cNvSpPr/>
          <p:nvPr/>
        </p:nvSpPr>
        <p:spPr>
          <a:xfrm>
            <a:off x="1651000" y="2730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3365500"/>
            <a:ext cx="6413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Defines the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valid statements.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Determines which symbols can be used and how they combine to form well-formed formulas.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Grammar in natural language.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syntax, machines cannot parse statements.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45500" y="2413000"/>
            <a:ext cx="70485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45500" y="2413000"/>
            <a:ext cx="7048500" cy="635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3" name="Shape 11"/>
          <p:cNvSpPr/>
          <p:nvPr/>
        </p:nvSpPr>
        <p:spPr>
          <a:xfrm>
            <a:off x="8763000" y="273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/>
            </a:pathLst>
          </a:custGeom>
          <a:solidFill>
            <a:srgbClr val="C67A1E"/>
          </a:solidFill>
          <a:ln/>
        </p:spPr>
      </p:sp>
      <p:sp>
        <p:nvSpPr>
          <p:cNvPr id="14" name="Text 12"/>
          <p:cNvSpPr/>
          <p:nvPr/>
        </p:nvSpPr>
        <p:spPr>
          <a:xfrm>
            <a:off x="9334500" y="2730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63000" y="3365500"/>
            <a:ext cx="6413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Defines the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statements.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interpretation connecting formal symbols to the real world, assigning truth values.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Meaning in natural language.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semantics, machines cannot understand statements.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540500"/>
            <a:ext cx="14732000" cy="107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6540500"/>
            <a:ext cx="50800" cy="10795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6604000"/>
            <a:ext cx="142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syntactically correct sentence may be semantically meaningless. Example: </a:t>
            </a:r>
            <a:pPr>
              <a:lnSpc>
                <a:spcPct val="160000"/>
              </a:lnSpc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"Colorless green ideas sleep furiously"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grammatically valid but semantically absurd. Both syntax and semantics are essential for meaningful knowledge representation.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9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841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24000" y="1778000"/>
            <a:ext cx="13970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78000" y="1778000"/>
            <a:ext cx="1346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KBAs have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levels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Knowledge Level (what), Logical Level (how), and Implementation Level (execution).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984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24000" y="2921000"/>
            <a:ext cx="13970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78000" y="2921000"/>
            <a:ext cx="1346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design approaches: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Declarative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(knowledge explicit, flexible) and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Procedural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(knowledge in code, efficient).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127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24000" y="4064000"/>
            <a:ext cx="13970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78000" y="4064000"/>
            <a:ext cx="1346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Reasoning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derives new knowledge from existing knowledge using logic — deductive, inductive, and abuctive.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270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24000" y="5207000"/>
            <a:ext cx="13970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78000" y="5207000"/>
            <a:ext cx="1346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Representation Languages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bridge human meaning and machine reasoning through formal syntax and semantics.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6413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24000" y="6350000"/>
            <a:ext cx="13970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78000" y="6350000"/>
            <a:ext cx="1346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structure and form;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meaning and interpretation. Both are essential for KRLs.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tnveiixtuxqi/mnt/agents/output/ai-course-week5/images/4_Abstract_Math_Formulas_On_A_Dark.png">    </p:cNvPr>
          <p:cNvPicPr>
            <a:picLocks noChangeAspect="1"/>
          </p:cNvPicPr>
          <p:nvPr/>
        </p:nvPicPr>
        <p:blipFill>
          <a:blip r:embed="rId1"/>
          <a:srcRect l="0" r="0" t="7771" b="777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328">
                  <a:alpha val="93000"/>
                </a:srgbClr>
              </a:gs>
              <a:gs pos="55000">
                <a:srgbClr val="1E2328">
                  <a:alpha val="80000"/>
                </a:srgbClr>
              </a:gs>
              <a:gs pos="100000">
                <a:srgbClr val="1E2328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778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68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400" kern="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10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4127500"/>
            <a:ext cx="1016000" cy="381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3815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Propositional Logic</a:t>
            </a:r>
            <a:endParaRPr lang="en-US" sz="4000" dirty="0"/>
          </a:p>
          <a:p>
            <a:pPr>
              <a:lnSpc>
                <a:spcPct val="13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A Very Simple Logic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016000" y="6096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 Rules · Semantics · Rules of Inference · Modus Ponens · Converse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Propositional Logic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14732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714500"/>
            <a:ext cx="50800" cy="88900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714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Propositional logic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(also called propositional calculus or statement logic) is the simplest form of logic used in AI. It deals with </a:t>
            </a:r>
            <a:pPr>
              <a:lnSpc>
                <a:spcPct val="160000"/>
              </a:lnSpc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propositions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statements that can be either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85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3655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simplest yet foundational logic system in AI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propositional symbols (P, Q, R...) for atomic statements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Combines propositions using logical connectives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Basis for more complex logics (predicate, first-order)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285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3365500"/>
            <a:ext cx="711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99500" y="3556000"/>
            <a:ext cx="647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"It is raining"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ground is wet"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Propositional logic allows us to express: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 → Q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"If it is raining, then the ground is wet"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286500"/>
            <a:ext cx="1473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000" y="6286500"/>
            <a:ext cx="50800" cy="12700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6413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it matters: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Despite its simplicity, propositional logic is powerful enough for many AI applications including expert systems, automated planning (STRIPS), and decision-making systems. It forms the foundation upon which more expressive logics are built.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Propositional Symbols &amp; Connectives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25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Propositional symbols represent atomic statements.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Logical connectives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 symbols to form complex expressions.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22500"/>
          <a:ext cx="14732000" cy="5334000"/>
        </p:xfrm>
        <a:graphic>
          <a:graphicData uri="http://schemas.openxmlformats.org/drawingml/2006/table">
            <a:tbl>
              <a:tblPr/>
              <a:tblGrid>
                <a:gridCol w="2209800"/>
                <a:gridCol w="1767840"/>
                <a:gridCol w="2946400"/>
                <a:gridCol w="780796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Connective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Symbol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Negation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¬ or ~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¬P = "It is not raining"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Conjunction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∧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∧ Q = "It is raining AND the ground is wet"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Disjunction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∨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∨ Q = "It is raining OR the ground is wet"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Implication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→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IF-THEN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→ Q = "If it rains, then the ground is wet"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Biconditional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IFF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↔ Q = "It rains if and only if the ground is wet"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7747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Implication (→) is highlighted as it is the foundation for the Rule of Implication (Modus Ponens).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 Rules in Propositional Logic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 rules define which combinations of symbols form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 (well-formed) formulas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propositional logic.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413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Formation Rules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921000"/>
            <a:ext cx="70485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9000" y="2921000"/>
            <a:ext cx="508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0500" y="2921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propositions (P, Q, R, ...) are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well-formed formulas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0" y="2921000"/>
            <a:ext cx="70485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2500" y="2921000"/>
            <a:ext cx="508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0" y="2921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α is well-formed, then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¬α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also well-formed.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000500"/>
            <a:ext cx="14732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9000" y="4000500"/>
            <a:ext cx="508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0500" y="40005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α and β are well-formed, then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(α ∧ β), (α ∨ β), (α → β),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(α ↔ β)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well-formed.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080000"/>
            <a:ext cx="14732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9000" y="5080000"/>
            <a:ext cx="508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0500" y="50800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Nothing else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well-formed formula.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(Closure rule — limits valid formulas to those generated by rules 1-3.)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223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731000"/>
            <a:ext cx="7048500" cy="1016000"/>
          </a:xfrm>
          <a:prstGeom prst="rect">
            <a:avLst/>
          </a:prstGeom>
          <a:solidFill>
            <a:srgbClr val="F0F7F4"/>
          </a:solidFill>
          <a:ln w="12700">
            <a:solidFill>
              <a:srgbClr val="1B5E4B">
                <a:alpha val="25098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000" y="679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 VALID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7137400"/>
            <a:ext cx="647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P, ¬P, (P ∧ Q), (P → (Q ∨ R))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45500" y="6731000"/>
            <a:ext cx="7048500" cy="1016000"/>
          </a:xfrm>
          <a:prstGeom prst="rect">
            <a:avLst/>
          </a:prstGeom>
          <a:solidFill>
            <a:srgbClr val="FFF5F0"/>
          </a:solidFill>
          <a:ln w="12700">
            <a:solidFill>
              <a:srgbClr val="C67A1E">
                <a:alpha val="25098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99500" y="679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 INVALID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99500" y="7137400"/>
            <a:ext cx="647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P∧, →Q, P∧∨Q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7937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 is purely about form — it says nothing about whether the formula is true or false.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Semantics in Propositional Logic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assigns meaning to syntactically correct formulas by specifying their truth values using </a:t>
            </a:r>
            <a:pPr>
              <a:lnSpc>
                <a:spcPct val="150000"/>
              </a:lnSpc>
            </a:pPr>
            <a:r>
              <a:rPr lang="en-US" sz="17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truth assignments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(interpretations).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60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111500"/>
            <a:ext cx="457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32385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Assigns True/False to each propositional symbol.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3111500"/>
            <a:ext cx="457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0" y="32385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interpretation that makes a formula true.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22000" y="3111500"/>
            <a:ext cx="457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76000" y="32385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Satisfiable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formula with at least one model.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953000"/>
            <a:ext cx="7048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6000" y="5080000"/>
            <a:ext cx="6540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 (Tautology)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in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possible interpretations. Example: P ∨ ¬P is always true.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45500" y="4953000"/>
            <a:ext cx="7048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99500" y="5080000"/>
            <a:ext cx="6540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Unsatisfiable (Contradiction)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in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interpretations. Example: P ∧ ¬P is always false.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794500"/>
            <a:ext cx="1473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000" y="6794500"/>
            <a:ext cx="50800" cy="10160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6921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Semantics bridges formal symbols and their real-world meaning. The truth value of complex formulas is determined by the truth values of their components and the semantics of the connectives.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Truth Tables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25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Truth tables provide a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way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determine the truth value of a formula under all possible interpretations.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22500"/>
          <a:ext cx="14732000" cy="3175000"/>
        </p:xfrm>
        <a:graphic>
          <a:graphicData uri="http://schemas.openxmlformats.org/drawingml/2006/table">
            <a:tbl>
              <a:tblPr/>
              <a:tblGrid>
                <a:gridCol w="1473200"/>
                <a:gridCol w="1473200"/>
                <a:gridCol w="2357120"/>
                <a:gridCol w="2357120"/>
                <a:gridCol w="2357120"/>
                <a:gridCol w="2357120"/>
                <a:gridCol w="2357120"/>
              </a:tblGrid>
              <a:tr h="614516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¬P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∧ Q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∨ Q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→ Q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↔ Q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</a:tr>
              <a:tr h="64012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5E4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5E4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5E4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5E4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12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5E4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64012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5E4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5E4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5E4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12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5E4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5E4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5E4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635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6858000"/>
            <a:ext cx="1473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Conjunction (∧)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True only when both operands are True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Disjunction (∨)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False only when both operands are False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Implication (→)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False only when P is True and Q is False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 of Inference in AI —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 of inference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syntactic rules that allow us to derive new formulas from existing ones. They are the </a:t>
            </a:r>
            <a:pPr>
              <a:lnSpc>
                <a:spcPct val="150000"/>
              </a:lnSpc>
            </a:pPr>
            <a:r>
              <a:rPr lang="en-US" sz="17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 of logical reasoning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AI.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60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Properties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1115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3111500"/>
            <a:ext cx="50800" cy="139700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2385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Soundness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KB derives α, then KB entails α.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"Nothing but the truth" — all derivations are valid.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0" y="3111500"/>
            <a:ext cx="7048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45500" y="3111500"/>
            <a:ext cx="50800" cy="13970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2" name="Text 10"/>
          <p:cNvSpPr/>
          <p:nvPr/>
        </p:nvSpPr>
        <p:spPr>
          <a:xfrm>
            <a:off x="8699500" y="32385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Completeness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KB entails α, then KB derives α.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whole truth" — all valid conclusions can be derived.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826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Inference Rules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334000"/>
            <a:ext cx="1473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Modus Ponens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From P → Q and P, derive Q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Modus Tollens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From P → Q and ¬Q, derive ¬P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Hypothetical Syllogism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From P → Q and Q → R, derive P → R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Disjunctive Syllogism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From P ∨ Q and ¬P, derive Q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Resolution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From P ∨ Q and ¬P ∨ R, derive Q ∨ 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Modus Ponens — The Rule of Implication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14732000" cy="177800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841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300" kern="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 OF IMPLICATION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222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 → Q, P ⊢ Q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857500"/>
            <a:ext cx="1397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"P implies Q" and "P is true", we can conclude "Q must be true". (⊢ reads as "proves")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318000"/>
            <a:ext cx="70485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9500" y="4508500"/>
            <a:ext cx="6413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b="1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1: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"If it rains, then the ground is wet" (P → Q)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b="1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2: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"It is raining" (P)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Conclusion: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"The ground is wet" (Q)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the most fundamental inference rule in logic.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45500" y="381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Properties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45500" y="4318000"/>
            <a:ext cx="70485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63000" y="4508500"/>
            <a:ext cx="6413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Sound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all conclusions are valid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Incomplete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full propositional logic (cannot handle ∨)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restricted to Horn clauses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Backbone of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forward chaining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rule-based systems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6921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Modus Ponens (Latin: "affirming mode") is the backbone of automated reasoning in expert systems and rule-based AI.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Modus Tollens &amp; Hypothetical Syllogism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7048500" cy="469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778000"/>
            <a:ext cx="7048500" cy="6350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057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MODUS TOLLENS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476500"/>
            <a:ext cx="6413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 → Q, ¬Q ⊢ ¬P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022600"/>
            <a:ext cx="6413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Latin: "denying mode"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9500" y="3492500"/>
            <a:ext cx="64135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3683000"/>
            <a:ext cx="6413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1: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"If it rains, then the ground is wet" (P → Q)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2: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"The ground is not wet" (¬Q)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Conclusion: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"It did not rain" (¬P)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Denies the consequent to deny the antecedent.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45500" y="1778000"/>
            <a:ext cx="7048500" cy="469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45500" y="1778000"/>
            <a:ext cx="7048500" cy="635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0" y="2057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HYPOTHETICAL SYLLOGISM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63000" y="2476500"/>
            <a:ext cx="6413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 → Q, Q → R ⊢ P → 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63000" y="3022600"/>
            <a:ext cx="6413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 rule — transitive property of implication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763000" y="3492500"/>
            <a:ext cx="64135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18" name="Text 16"/>
          <p:cNvSpPr/>
          <p:nvPr/>
        </p:nvSpPr>
        <p:spPr>
          <a:xfrm>
            <a:off x="8763000" y="3683000"/>
            <a:ext cx="6413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1: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"If it rains, the ground gets wet" (P → Q)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2: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"If the ground is wet, grass grows" (Q → R)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Conclusion: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"If it rains, grass grows" (P → R)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Chains implications transitively.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731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rules are valid and widely used in logical reasoning and AI systems for automated deduction.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of Converse &amp; Common Fallacies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14732000" cy="107950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7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300" kern="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 OF CONVERSE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1336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converse of P → Q is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 → P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An implication and its converse are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logically equivalent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11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Fallacy 1: Affirming the Consequent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619500"/>
            <a:ext cx="7048500" cy="2476500"/>
          </a:xfrm>
          <a:prstGeom prst="rect">
            <a:avLst/>
          </a:prstGeom>
          <a:solidFill>
            <a:srgbClr val="FFF5F0"/>
          </a:solidFill>
          <a:ln w="12700">
            <a:solidFill>
              <a:srgbClr val="C67A1E">
                <a:alpha val="25098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3619500"/>
            <a:ext cx="50800" cy="24765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3746500"/>
            <a:ext cx="6413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INVALID: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P → Q and Q, concluding P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Premise: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"If it rains, the ground is wet" (P → Q)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"The ground is wet" (Q)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Invalid Conclusion: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"It rained" (P)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Ground could be wet from sprinklers!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45500" y="3111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Fallacy 2: Denying the Antecedent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45500" y="3619500"/>
            <a:ext cx="7048500" cy="2476500"/>
          </a:xfrm>
          <a:prstGeom prst="rect">
            <a:avLst/>
          </a:prstGeom>
          <a:solidFill>
            <a:srgbClr val="FFF5F0"/>
          </a:solidFill>
          <a:ln w="12700">
            <a:solidFill>
              <a:srgbClr val="C67A1E">
                <a:alpha val="25098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5500" y="3619500"/>
            <a:ext cx="50800" cy="24765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0" y="3746500"/>
            <a:ext cx="6413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INVALID: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P → Q and ¬P, concluding ¬Q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Premise: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"If it rains, the ground is wet" (P → Q)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"It is not raining" (¬P)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Invalid Conclusion: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"Ground is not wet" (¬Q)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Sprinklers could still make it wet!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477000"/>
            <a:ext cx="1473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6477000"/>
            <a:ext cx="50800" cy="10160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6604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are among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common reasoning errors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both human reasoning and AI systems. Always verify that your inference follows valid rules, not just intuitive patterns.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Inference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25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essential rules for propositional logic reasoning, completing the inference system.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469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222500"/>
            <a:ext cx="4699000" cy="5080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4384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And-Elimination (∧E)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P ∧ Q, derive P (or Q)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 a conjunction into parts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222500"/>
            <a:ext cx="469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78500" y="2222500"/>
            <a:ext cx="4699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24384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And-Introduction (∧I)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P and Q, derive P ∧ Q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two true statements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0" y="2222500"/>
            <a:ext cx="469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95000" y="2222500"/>
            <a:ext cx="4699000" cy="508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24384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Or-Introduction (∨I)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P, derive P ∨ Q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Weaken a statement with 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445000"/>
            <a:ext cx="469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000" y="4445000"/>
            <a:ext cx="4699000" cy="50800"/>
          </a:xfrm>
          <a:prstGeom prst="rect">
            <a:avLst/>
          </a:prstGeom>
          <a:solidFill>
            <a:srgbClr val="1B5E4B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46609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B5E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Disjunctive Syllogism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P ∨ Q and ¬P, derive Q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of elimination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78500" y="4445000"/>
            <a:ext cx="4699000" cy="1905000"/>
          </a:xfrm>
          <a:prstGeom prst="rect">
            <a:avLst/>
          </a:prstGeom>
          <a:solidFill>
            <a:srgbClr val="1B5E4B"/>
          </a:solidFill>
          <a:ln w="12700">
            <a:solidFill>
              <a:srgbClr val="1B5E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2500" y="46609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Resolution ★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P ∨ Q and ¬P ∨ R, derive Q ∨ 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powerful — sound AND complete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95000" y="4445000"/>
            <a:ext cx="469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95000" y="4445000"/>
            <a:ext cx="4699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0" y="46609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Constructive Dilemma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(P→Q), (R→S), (P∨R), derive (Q∨S)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Case analysis reasoning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6731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rules, combined with </a:t>
            </a:r>
            <a:pPr algn="ctr">
              <a:lnSpc>
                <a:spcPct val="150000"/>
              </a:lnSpc>
            </a:pPr>
            <a:r>
              <a:rPr lang="en-US" sz="1500" b="1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Modus Ponens</a:t>
            </a:r>
            <a:pPr algn="ctr">
              <a:lnSpc>
                <a:spcPct val="150000"/>
              </a:lnSpc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provide a complete inference system for propositional logic.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 Rules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14500"/>
          <a:ext cx="14732000" cy="5334000"/>
        </p:xfrm>
        <a:graphic>
          <a:graphicData uri="http://schemas.openxmlformats.org/drawingml/2006/table">
            <a:tbl>
              <a:tblPr/>
              <a:tblGrid>
                <a:gridCol w="4124960"/>
                <a:gridCol w="4419600"/>
                <a:gridCol w="6187440"/>
              </a:tblGrid>
              <a:tr h="630496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Inference Rule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4B"/>
                    </a:solidFill>
                  </a:tcPr>
                </a:tc>
              </a:tr>
              <a:tr h="66832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Modus Ponens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→ Q, P ⊢ Q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Fundamental rule of implication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832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Modus Tollens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→ Q, ¬Q ⊢ ¬P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Deny the consequent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66832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Hypothetical Syllogism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→ Q, Q → R ⊢ P → 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Chain implications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832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Disjunctive Syllogism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∨ Q, ¬P ⊢ Q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Process of elimination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66832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And-Elimination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∧ Q ⊢ P (or Q)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Extract a conjunct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832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And-Introduction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P, Q ⊢ P ∧ Q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Combine statements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69354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5E4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Resolution ★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∨ Q, ¬P ∨ R ⊢ Q ∨ 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Most powerful — sound and complete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7302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rule enables a specific pattern of valid reasoning. Together they form a </a:t>
            </a:r>
            <a:pPr algn="ctr">
              <a:lnSpc>
                <a:spcPct val="150000"/>
              </a:lnSpc>
            </a:pPr>
            <a:r>
              <a:rPr lang="en-US" sz="1500" b="1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system</a:t>
            </a:r>
            <a:pPr algn="ctr">
              <a:lnSpc>
                <a:spcPct val="150000"/>
              </a:lnSpc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propositional logic inference.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10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732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24000" y="1778000"/>
            <a:ext cx="13970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78000" y="17780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Propositional logic uses </a:t>
            </a:r>
            <a:pPr>
              <a:lnSpc>
                <a:spcPct val="14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symbols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(P, Q, R...) and </a:t>
            </a:r>
            <a:pPr>
              <a:lnSpc>
                <a:spcPct val="14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connectives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(¬, ∧, ∨, →, ↔) to represent statements.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667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24000" y="2667000"/>
            <a:ext cx="13970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78000" y="26670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defines valid formulas; </a:t>
            </a:r>
            <a:pPr>
              <a:lnSpc>
                <a:spcPct val="14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Semantics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assigns truth values via interpretations.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556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24000" y="3556000"/>
            <a:ext cx="13970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78000" y="35560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Truth tables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systematically show all possible truth values for any formula.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445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24000" y="4445000"/>
            <a:ext cx="13970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78000" y="44450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Modus Ponens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fundamental rule: P → Q, P ⊢ Q.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334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24000" y="5334000"/>
            <a:ext cx="13970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78000" y="53340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converse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an implication is NOT equivalent to the original statement.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6223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67A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524000" y="6223000"/>
            <a:ext cx="13970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78000" y="62230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fallacies: </a:t>
            </a:r>
            <a:pPr>
              <a:lnSpc>
                <a:spcPct val="14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Affirming the Consequent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Denying the Antecedent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must be avoided.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7112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B5E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524000" y="7112000"/>
            <a:ext cx="13970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78000" y="71120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Resolution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most powerful complete inference rule for propositional logic.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tnveiixtuxqi/mnt/agents/output/ai-course-week5/images/1_Abstract_Neural_Network_Web_on_Dark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328">
                  <a:alpha val="60000"/>
                </a:srgbClr>
              </a:gs>
              <a:gs pos="50000">
                <a:srgbClr val="1E2328">
                  <a:alpha val="80000"/>
                </a:srgbClr>
              </a:gs>
              <a:gs pos="100000">
                <a:srgbClr val="1E2328">
                  <a:alpha val="9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92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400" kern="0" dirty="0">
                <a:solidFill>
                  <a:srgbClr val="C67A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83000" y="3556000"/>
            <a:ext cx="889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112000" y="4635500"/>
            <a:ext cx="2032000" cy="38100"/>
          </a:xfrm>
          <a:prstGeom prst="rect">
            <a:avLst/>
          </a:prstGeom>
          <a:solidFill>
            <a:srgbClr val="C67A1E"/>
          </a:solidFill>
          <a:ln/>
        </p:spPr>
      </p:sp>
      <p:sp>
        <p:nvSpPr>
          <p:cNvPr id="7" name="Text 4"/>
          <p:cNvSpPr/>
          <p:nvPr/>
        </p:nvSpPr>
        <p:spPr>
          <a:xfrm>
            <a:off x="3683000" y="4953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5 — Knowledge-Based Agents &amp; Propositional Logic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533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Continue exploring the foundations of intelligent systems.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- Week 5</dc:title>
  <dc:subject>Artificial Intelligence - Week 5</dc:subject>
  <dc:creator>Kimi</dc:creator>
  <cp:lastModifiedBy>Kimi</cp:lastModifiedBy>
  <cp:revision>1</cp:revision>
  <dcterms:created xsi:type="dcterms:W3CDTF">2026-05-25T21:04:57Z</dcterms:created>
  <dcterms:modified xsi:type="dcterms:W3CDTF">2026-05-25T21:04:57Z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{"Label":"Artificial Intelligence - Week 5","ContentProducer":"001191110108MACG2KBH8F10000","ProduceID":"19e60c76-c962-8795-8000-00007ef541ee","ReservedCode1":"","ContentPropagator":"001191110108MACG2KBH8F20000","PropagateID":"19e60c76-c962-8795-8000-00007ef541ee","ReservedCode2":""}</vt:lpwstr>
  </property>
</Properties>
</file>