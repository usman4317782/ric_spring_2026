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6256000" cy="9144000"/>
  <p:notesSz cx="9144000" cy="16256000"/>
  <p:embeddedFontLst>
    <p:embeddedFont>
      <p:font typeface="Liter" charset="-122" pitchFamily="34"/>
      <p:regular r:id="rId37"/>
    </p:embeddedFont>
    <p:embeddedFont>
      <p:font typeface="Quattrocento Sans" charset="-122" pitchFamily="34"/>
      <p:regular r:id="rId3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2l36pdkpmxwlu/mnt/agents/output/ai-course-week2/images/7_Abstract_technology_background_futuristic.png">    </p:cNvPr>
          <p:cNvPicPr>
            <a:picLocks noChangeAspect="1"/>
          </p:cNvPicPr>
          <p:nvPr/>
        </p:nvPicPr>
        <p:blipFill>
          <a:blip r:embed="rId1"/>
          <a:srcRect l="160" r="160"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3D4A">
                  <a:alpha val="90000"/>
                </a:srgbClr>
              </a:gs>
              <a:gs pos="50000">
                <a:srgbClr val="0A3D4A">
                  <a:alpha val="80000"/>
                </a:srgbClr>
              </a:gs>
              <a:gs pos="100000">
                <a:srgbClr val="0A3D4A">
                  <a:alpha val="94000"/>
                </a:srgbClr>
              </a:gs>
            </a:gsLst>
            <a:lin ang="5400000" scaled="1"/>
          </a:gradFill>
          <a:ln w="12700">
            <a:solidFill>
              <a:srgbClr val="333333"/>
            </a:solidFill>
            <a:prstDash val="solid"/>
          </a:ln>
        </p:spPr>
      </p:sp>
      <p:sp>
        <p:nvSpPr>
          <p:cNvPr id="4" name="Text 1"/>
          <p:cNvSpPr/>
          <p:nvPr/>
        </p:nvSpPr>
        <p:spPr>
          <a:xfrm>
            <a:off x="5588000" y="2794000"/>
            <a:ext cx="5080000" cy="279400"/>
          </a:xfrm>
          <a:prstGeom prst="rect">
            <a:avLst/>
          </a:prstGeom>
          <a:noFill/>
          <a:ln/>
        </p:spPr>
        <p:txBody>
          <a:bodyPr wrap="none" lIns="0" tIns="0" rIns="0" bIns="0" rtlCol="0" anchor="ctr"/>
          <a:lstStyle/>
          <a:p>
            <a:pPr algn="ctr">
              <a:lnSpc>
                <a:spcPct val="120000"/>
              </a:lnSpc>
            </a:pPr>
            <a:r>
              <a:rPr lang="en-US" sz="1400" spc="200" kern="0" dirty="0">
                <a:solidFill>
                  <a:srgbClr val="FFFFFF">
                    <a:alpha val="60000"/>
                  </a:srgbClr>
                </a:solidFill>
                <a:latin typeface="Liter" pitchFamily="34" charset="0"/>
                <a:ea typeface="Liter" pitchFamily="34" charset="-122"/>
                <a:cs typeface="Liter" pitchFamily="34" charset="-120"/>
              </a:rPr>
              <a:t>COURSE MATERIAL</a:t>
            </a:r>
            <a:endParaRPr lang="en-US" sz="1400" dirty="0"/>
          </a:p>
        </p:txBody>
      </p:sp>
      <p:sp>
        <p:nvSpPr>
          <p:cNvPr id="5" name="Shape 2"/>
          <p:cNvSpPr/>
          <p:nvPr/>
        </p:nvSpPr>
        <p:spPr>
          <a:xfrm>
            <a:off x="7493000" y="3238500"/>
            <a:ext cx="1270000" cy="38100"/>
          </a:xfrm>
          <a:prstGeom prst="rect">
            <a:avLst/>
          </a:prstGeom>
          <a:solidFill>
            <a:srgbClr val="D97706"/>
          </a:solidFill>
          <a:ln/>
        </p:spPr>
      </p:sp>
      <p:sp>
        <p:nvSpPr>
          <p:cNvPr id="6" name="Text 3"/>
          <p:cNvSpPr/>
          <p:nvPr/>
        </p:nvSpPr>
        <p:spPr>
          <a:xfrm>
            <a:off x="2413000" y="3492500"/>
            <a:ext cx="11430000" cy="762000"/>
          </a:xfrm>
          <a:prstGeom prst="rect">
            <a:avLst/>
          </a:prstGeom>
          <a:noFill/>
          <a:ln/>
        </p:spPr>
        <p:txBody>
          <a:bodyPr wrap="none" lIns="0" tIns="0" rIns="0" bIns="0" rtlCol="0" anchor="ctr"/>
          <a:lstStyle/>
          <a:p>
            <a:pPr algn="ctr">
              <a:lnSpc>
                <a:spcPct val="120000"/>
              </a:lnSpc>
            </a:pPr>
            <a:r>
              <a:rPr lang="en-US" sz="4400" dirty="0">
                <a:solidFill>
                  <a:srgbClr val="FFFFFF"/>
                </a:solidFill>
                <a:latin typeface="Liter" pitchFamily="34" charset="0"/>
                <a:ea typeface="Liter" pitchFamily="34" charset="-122"/>
                <a:cs typeface="Liter" pitchFamily="34" charset="-120"/>
              </a:rPr>
              <a:t>ARTIFICIAL INTELLIGENCE</a:t>
            </a:r>
            <a:endParaRPr lang="en-US" sz="4400" dirty="0"/>
          </a:p>
        </p:txBody>
      </p:sp>
      <p:sp>
        <p:nvSpPr>
          <p:cNvPr id="7" name="Text 4"/>
          <p:cNvSpPr/>
          <p:nvPr/>
        </p:nvSpPr>
        <p:spPr>
          <a:xfrm>
            <a:off x="4318000" y="4445000"/>
            <a:ext cx="7620000" cy="457200"/>
          </a:xfrm>
          <a:prstGeom prst="rect">
            <a:avLst/>
          </a:prstGeom>
          <a:noFill/>
          <a:ln/>
        </p:spPr>
        <p:txBody>
          <a:bodyPr wrap="none" lIns="0" tIns="0" rIns="0" bIns="0" rtlCol="0" anchor="ctr"/>
          <a:lstStyle/>
          <a:p>
            <a:pPr algn="ctr">
              <a:lnSpc>
                <a:spcPct val="140000"/>
              </a:lnSpc>
            </a:pPr>
            <a:r>
              <a:rPr lang="en-US" sz="2200" dirty="0">
                <a:solidFill>
                  <a:srgbClr val="FFFFFF">
                    <a:alpha val="80000"/>
                  </a:srgbClr>
                </a:solidFill>
                <a:latin typeface="QuattrocentoSans" pitchFamily="34" charset="0"/>
                <a:ea typeface="QuattrocentoSans" pitchFamily="34" charset="-122"/>
                <a:cs typeface="QuattrocentoSans" pitchFamily="34" charset="-120"/>
              </a:rPr>
              <a:t>Week 2 — Foundations of AI &amp; Intelligent Agents</a:t>
            </a:r>
            <a:endParaRPr lang="en-US" sz="2200" dirty="0"/>
          </a:p>
        </p:txBody>
      </p:sp>
      <p:sp>
        <p:nvSpPr>
          <p:cNvPr id="8" name="Shape 5"/>
          <p:cNvSpPr/>
          <p:nvPr/>
        </p:nvSpPr>
        <p:spPr>
          <a:xfrm>
            <a:off x="6858000" y="5334000"/>
            <a:ext cx="2540000" cy="25400"/>
          </a:xfrm>
          <a:prstGeom prst="rect">
            <a:avLst/>
          </a:prstGeom>
          <a:solidFill>
            <a:srgbClr val="FFFFFF">
              <a:alpha val="25098"/>
            </a:srgbClr>
          </a:solidFill>
          <a:ln/>
        </p:spPr>
      </p:sp>
      <p:sp>
        <p:nvSpPr>
          <p:cNvPr id="9" name="Text 6"/>
          <p:cNvSpPr/>
          <p:nvPr/>
        </p:nvSpPr>
        <p:spPr>
          <a:xfrm>
            <a:off x="4953000" y="5588000"/>
            <a:ext cx="6350000" cy="304800"/>
          </a:xfrm>
          <a:prstGeom prst="rect">
            <a:avLst/>
          </a:prstGeom>
          <a:noFill/>
          <a:ln/>
        </p:spPr>
        <p:txBody>
          <a:bodyPr wrap="none" lIns="0" tIns="0" rIns="0" bIns="0" rtlCol="0" anchor="ctr"/>
          <a:lstStyle/>
          <a:p>
            <a:pPr algn="ctr">
              <a:lnSpc>
                <a:spcPct val="140000"/>
              </a:lnSpc>
            </a:pPr>
            <a:r>
              <a:rPr lang="en-US" sz="1400" dirty="0">
                <a:solidFill>
                  <a:srgbClr val="FFFFFF">
                    <a:alpha val="50196"/>
                  </a:srgbClr>
                </a:solidFill>
                <a:latin typeface="QuattrocentoSans" pitchFamily="34" charset="0"/>
                <a:ea typeface="QuattrocentoSans" pitchFamily="34" charset="-122"/>
                <a:cs typeface="QuattrocentoSans" pitchFamily="34" charset="-120"/>
              </a:rPr>
              <a:t>Lecture 3 &amp; Lecture 4</a:t>
            </a:r>
            <a:endParaRPr lang="en-US" sz="14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2032000"/>
            <a:ext cx="5080000" cy="762000"/>
          </a:xfrm>
          <a:prstGeom prst="rect">
            <a:avLst/>
          </a:prstGeom>
          <a:noFill/>
          <a:ln/>
        </p:spPr>
        <p:txBody>
          <a:bodyPr wrap="none" lIns="0" tIns="0" rIns="0" bIns="0" rtlCol="0" anchor="ctr"/>
          <a:lstStyle/>
          <a:p>
            <a:pPr>
              <a:lnSpc>
                <a:spcPct val="120000"/>
              </a:lnSpc>
            </a:pPr>
            <a:r>
              <a:rPr lang="en-US" sz="4800" spc="400" kern="0" dirty="0">
                <a:solidFill>
                  <a:srgbClr val="0F4C5C"/>
                </a:solidFill>
                <a:latin typeface="Liter" pitchFamily="34" charset="0"/>
                <a:ea typeface="Liter" pitchFamily="34" charset="-122"/>
                <a:cs typeface="Liter" pitchFamily="34" charset="-120"/>
              </a:rPr>
              <a:t>CONTENTS</a:t>
            </a:r>
            <a:endParaRPr lang="en-US" sz="1600" dirty="0"/>
          </a:p>
        </p:txBody>
      </p:sp>
      <p:sp>
        <p:nvSpPr>
          <p:cNvPr id="4" name="Text 2"/>
          <p:cNvSpPr/>
          <p:nvPr/>
        </p:nvSpPr>
        <p:spPr>
          <a:xfrm>
            <a:off x="762000" y="2921000"/>
            <a:ext cx="5080000" cy="355600"/>
          </a:xfrm>
          <a:prstGeom prst="rect">
            <a:avLst/>
          </a:prstGeom>
          <a:noFill/>
          <a:ln/>
        </p:spPr>
        <p:txBody>
          <a:bodyPr wrap="none" lIns="0" tIns="0" rIns="0" bIns="0" rtlCol="0" anchor="ctr"/>
          <a:lstStyle/>
          <a:p>
            <a:pPr>
              <a:lnSpc>
                <a:spcPct val="140000"/>
              </a:lnSpc>
            </a:pPr>
            <a:r>
              <a:rPr lang="en-US" sz="2200" dirty="0">
                <a:solidFill>
                  <a:srgbClr val="0F4C5C"/>
                </a:solidFill>
                <a:latin typeface="QuattrocentoSans" pitchFamily="34" charset="0"/>
                <a:ea typeface="QuattrocentoSans" pitchFamily="34" charset="-122"/>
                <a:cs typeface="QuattrocentoSans" pitchFamily="34" charset="-120"/>
              </a:rPr>
              <a:t>Week 2 Overview</a:t>
            </a:r>
            <a:endParaRPr lang="en-US" sz="2200" dirty="0"/>
          </a:p>
        </p:txBody>
      </p:sp>
      <p:sp>
        <p:nvSpPr>
          <p:cNvPr id="5" name="Shape 3"/>
          <p:cNvSpPr/>
          <p:nvPr/>
        </p:nvSpPr>
        <p:spPr>
          <a:xfrm>
            <a:off x="6350000" y="1778000"/>
            <a:ext cx="25400" cy="5588000"/>
          </a:xfrm>
          <a:prstGeom prst="rect">
            <a:avLst/>
          </a:prstGeom>
          <a:solidFill>
            <a:srgbClr val="0F4C5C">
              <a:alpha val="12549"/>
            </a:srgbClr>
          </a:solidFill>
          <a:ln/>
        </p:spPr>
      </p:sp>
      <p:sp>
        <p:nvSpPr>
          <p:cNvPr id="6" name="Text 4"/>
          <p:cNvSpPr/>
          <p:nvPr/>
        </p:nvSpPr>
        <p:spPr>
          <a:xfrm>
            <a:off x="6858000" y="2032000"/>
            <a:ext cx="1016000" cy="762000"/>
          </a:xfrm>
          <a:prstGeom prst="rect">
            <a:avLst/>
          </a:prstGeom>
          <a:noFill/>
          <a:ln/>
        </p:spPr>
        <p:txBody>
          <a:bodyPr wrap="none" lIns="0" tIns="0" rIns="0" bIns="0" rtlCol="0" anchor="ctr"/>
          <a:lstStyle/>
          <a:p>
            <a:pPr>
              <a:lnSpc>
                <a:spcPct val="100000"/>
              </a:lnSpc>
            </a:pPr>
            <a:r>
              <a:rPr lang="en-US" sz="4800" dirty="0">
                <a:solidFill>
                  <a:srgbClr val="D97706"/>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8001000" y="2095500"/>
            <a:ext cx="6350000" cy="457200"/>
          </a:xfrm>
          <a:prstGeom prst="rect">
            <a:avLst/>
          </a:prstGeom>
          <a:noFill/>
          <a:ln/>
        </p:spPr>
        <p:txBody>
          <a:bodyPr wrap="none" lIns="0" tIns="0" rIns="0" bIns="0" rtlCol="0" anchor="ctr"/>
          <a:lstStyle/>
          <a:p>
            <a:pPr>
              <a:lnSpc>
                <a:spcPct val="100000"/>
              </a:lnSpc>
            </a:pPr>
            <a:r>
              <a:rPr lang="en-US" sz="2400" dirty="0">
                <a:solidFill>
                  <a:srgbClr val="0F4C5C"/>
                </a:solidFill>
                <a:latin typeface="Liter" pitchFamily="34" charset="0"/>
                <a:ea typeface="Liter" pitchFamily="34" charset="-122"/>
                <a:cs typeface="Liter" pitchFamily="34" charset="-120"/>
              </a:rPr>
              <a:t>Foundations of AI</a:t>
            </a:r>
            <a:endParaRPr lang="en-US" sz="1600" dirty="0"/>
          </a:p>
        </p:txBody>
      </p:sp>
      <p:sp>
        <p:nvSpPr>
          <p:cNvPr id="8" name="Text 6"/>
          <p:cNvSpPr/>
          <p:nvPr/>
        </p:nvSpPr>
        <p:spPr>
          <a:xfrm>
            <a:off x="8001000" y="2603500"/>
            <a:ext cx="7112000" cy="762000"/>
          </a:xfrm>
          <a:prstGeom prst="rect">
            <a:avLst/>
          </a:prstGeom>
          <a:noFill/>
          <a:ln/>
        </p:spPr>
        <p:txBody>
          <a:bodyPr wrap="square" lIns="0" tIns="0" rIns="0" bIns="0" rtlCol="0" anchor="t"/>
          <a:lstStyle/>
          <a:p>
            <a:pPr>
              <a:lnSpc>
                <a:spcPct val="160000"/>
              </a:lnSpc>
            </a:pPr>
            <a:r>
              <a:rPr lang="en-US" sz="1600" dirty="0">
                <a:solidFill>
                  <a:srgbClr val="64748B"/>
                </a:solidFill>
                <a:latin typeface="QuattrocentoSans" pitchFamily="34" charset="0"/>
                <a:ea typeface="QuattrocentoSans" pitchFamily="34" charset="-122"/>
                <a:cs typeface="QuattrocentoSans" pitchFamily="34" charset="-120"/>
              </a:rPr>
              <a:t>Exploring the interdisciplinary roots of AI — Philosophy, Mathematics, Psychology, and Computer Engineering — and their real-world applications.</a:t>
            </a:r>
            <a:endParaRPr lang="en-US" sz="1800" dirty="0"/>
          </a:p>
        </p:txBody>
      </p:sp>
      <p:sp>
        <p:nvSpPr>
          <p:cNvPr id="9" name="Shape 7"/>
          <p:cNvSpPr/>
          <p:nvPr/>
        </p:nvSpPr>
        <p:spPr>
          <a:xfrm>
            <a:off x="6858000" y="3683000"/>
            <a:ext cx="8382000" cy="12700"/>
          </a:xfrm>
          <a:prstGeom prst="rect">
            <a:avLst/>
          </a:prstGeom>
          <a:solidFill>
            <a:srgbClr val="0F4C5C">
              <a:alpha val="8235"/>
            </a:srgbClr>
          </a:solidFill>
          <a:ln/>
        </p:spPr>
      </p:sp>
      <p:sp>
        <p:nvSpPr>
          <p:cNvPr id="10" name="Text 8"/>
          <p:cNvSpPr/>
          <p:nvPr/>
        </p:nvSpPr>
        <p:spPr>
          <a:xfrm>
            <a:off x="6858000" y="4191000"/>
            <a:ext cx="1016000" cy="762000"/>
          </a:xfrm>
          <a:prstGeom prst="rect">
            <a:avLst/>
          </a:prstGeom>
          <a:noFill/>
          <a:ln/>
        </p:spPr>
        <p:txBody>
          <a:bodyPr wrap="none" lIns="0" tIns="0" rIns="0" bIns="0" rtlCol="0" anchor="ctr"/>
          <a:lstStyle/>
          <a:p>
            <a:pPr>
              <a:lnSpc>
                <a:spcPct val="100000"/>
              </a:lnSpc>
            </a:pPr>
            <a:r>
              <a:rPr lang="en-US" sz="4800" dirty="0">
                <a:solidFill>
                  <a:srgbClr val="D97706"/>
                </a:solidFill>
                <a:latin typeface="Liter" pitchFamily="34" charset="0"/>
                <a:ea typeface="Liter" pitchFamily="34" charset="-122"/>
                <a:cs typeface="Liter" pitchFamily="34" charset="-120"/>
              </a:rPr>
              <a:t>02</a:t>
            </a:r>
            <a:endParaRPr lang="en-US" sz="1600" dirty="0"/>
          </a:p>
        </p:txBody>
      </p:sp>
      <p:sp>
        <p:nvSpPr>
          <p:cNvPr id="11" name="Text 9"/>
          <p:cNvSpPr/>
          <p:nvPr/>
        </p:nvSpPr>
        <p:spPr>
          <a:xfrm>
            <a:off x="8001000" y="4254500"/>
            <a:ext cx="6350000" cy="457200"/>
          </a:xfrm>
          <a:prstGeom prst="rect">
            <a:avLst/>
          </a:prstGeom>
          <a:noFill/>
          <a:ln/>
        </p:spPr>
        <p:txBody>
          <a:bodyPr wrap="none" lIns="0" tIns="0" rIns="0" bIns="0" rtlCol="0" anchor="ctr"/>
          <a:lstStyle/>
          <a:p>
            <a:pPr>
              <a:lnSpc>
                <a:spcPct val="100000"/>
              </a:lnSpc>
            </a:pPr>
            <a:r>
              <a:rPr lang="en-US" sz="2400" dirty="0">
                <a:solidFill>
                  <a:srgbClr val="0F4C5C"/>
                </a:solidFill>
                <a:latin typeface="Liter" pitchFamily="34" charset="0"/>
                <a:ea typeface="Liter" pitchFamily="34" charset="-122"/>
                <a:cs typeface="Liter" pitchFamily="34" charset="-120"/>
              </a:rPr>
              <a:t>Artificial Agents</a:t>
            </a:r>
            <a:endParaRPr lang="en-US" sz="1600" dirty="0"/>
          </a:p>
        </p:txBody>
      </p:sp>
      <p:sp>
        <p:nvSpPr>
          <p:cNvPr id="12" name="Text 10"/>
          <p:cNvSpPr/>
          <p:nvPr/>
        </p:nvSpPr>
        <p:spPr>
          <a:xfrm>
            <a:off x="8001000" y="4762500"/>
            <a:ext cx="7112000" cy="762000"/>
          </a:xfrm>
          <a:prstGeom prst="rect">
            <a:avLst/>
          </a:prstGeom>
          <a:noFill/>
          <a:ln/>
        </p:spPr>
        <p:txBody>
          <a:bodyPr wrap="square" lIns="0" tIns="0" rIns="0" bIns="0" rtlCol="0" anchor="t"/>
          <a:lstStyle/>
          <a:p>
            <a:pPr>
              <a:lnSpc>
                <a:spcPct val="160000"/>
              </a:lnSpc>
            </a:pPr>
            <a:r>
              <a:rPr lang="en-US" sz="1600" dirty="0">
                <a:solidFill>
                  <a:srgbClr val="64748B"/>
                </a:solidFill>
                <a:latin typeface="QuattrocentoSans" pitchFamily="34" charset="0"/>
                <a:ea typeface="QuattrocentoSans" pitchFamily="34" charset="-122"/>
                <a:cs typeface="QuattrocentoSans" pitchFamily="34" charset="-120"/>
              </a:rPr>
              <a:t>Understanding intelligent agents, the PEAS framework, rationality, omniscience, and the five types of agent programs.</a:t>
            </a:r>
            <a:endParaRPr lang="en-US" sz="1800" dirty="0"/>
          </a:p>
        </p:txBody>
      </p:sp>
      <p:sp>
        <p:nvSpPr>
          <p:cNvPr id="13" name="Shape 11"/>
          <p:cNvSpPr/>
          <p:nvPr/>
        </p:nvSpPr>
        <p:spPr>
          <a:xfrm>
            <a:off x="6858000" y="5842000"/>
            <a:ext cx="8382000" cy="12700"/>
          </a:xfrm>
          <a:prstGeom prst="rect">
            <a:avLst/>
          </a:prstGeom>
          <a:solidFill>
            <a:srgbClr val="0F4C5C">
              <a:alpha val="8235"/>
            </a:srgbClr>
          </a:solidFill>
          <a:ln/>
        </p:spPr>
      </p:sp>
      <p:sp>
        <p:nvSpPr>
          <p:cNvPr id="14" name="Text 12"/>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15" name="Text 13"/>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ttps://kimi-img.moonshot.cn/pub/slides/okc/2l36pdkpmxwlu/mnt/agents/output/ai-course-week2/images/2_Digital_Brain_with_Glowing_Icons.png">    </p:cNvPr>
          <p:cNvPicPr>
            <a:picLocks noChangeAspect="1"/>
          </p:cNvPicPr>
          <p:nvPr/>
        </p:nvPicPr>
        <p:blipFill>
          <a:blip r:embed="rId1"/>
          <a:srcRect l="1444" r="1444"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3D4A">
                  <a:alpha val="94000"/>
                </a:srgbClr>
              </a:gs>
              <a:gs pos="55000">
                <a:srgbClr val="0A3D4A">
                  <a:alpha val="82000"/>
                </a:srgbClr>
              </a:gs>
              <a:gs pos="100000">
                <a:srgbClr val="0A3D4A">
                  <a:alpha val="50000"/>
                </a:srgbClr>
              </a:gs>
            </a:gsLst>
            <a:lin ang="0" scaled="1"/>
          </a:gradFill>
          <a:ln w="12700">
            <a:solidFill>
              <a:srgbClr val="333333"/>
            </a:solidFill>
            <a:prstDash val="solid"/>
          </a:ln>
        </p:spPr>
      </p:sp>
      <p:sp>
        <p:nvSpPr>
          <p:cNvPr id="4" name="Text 1"/>
          <p:cNvSpPr/>
          <p:nvPr/>
        </p:nvSpPr>
        <p:spPr>
          <a:xfrm>
            <a:off x="508000" y="1270000"/>
            <a:ext cx="5080000" cy="2286000"/>
          </a:xfrm>
          <a:prstGeom prst="rect">
            <a:avLst/>
          </a:prstGeom>
          <a:noFill/>
          <a:ln/>
        </p:spPr>
        <p:txBody>
          <a:bodyPr wrap="none" lIns="0" tIns="0" rIns="0" bIns="0" rtlCol="0" anchor="ctr"/>
          <a:lstStyle/>
          <a:p>
            <a:pPr>
              <a:lnSpc>
                <a:spcPct val="100000"/>
              </a:lnSpc>
            </a:pPr>
            <a:r>
              <a:rPr lang="en-US" sz="16000" dirty="0">
                <a:solidFill>
                  <a:srgbClr val="FFFFFF">
                    <a:alpha val="6275"/>
                  </a:srgbClr>
                </a:solidFill>
                <a:latin typeface="Liter" pitchFamily="34" charset="0"/>
                <a:ea typeface="Liter" pitchFamily="34" charset="-122"/>
                <a:cs typeface="Liter" pitchFamily="34" charset="-120"/>
              </a:rPr>
              <a:t>03</a:t>
            </a:r>
            <a:endParaRPr lang="en-US" sz="1600" dirty="0"/>
          </a:p>
        </p:txBody>
      </p:sp>
      <p:sp>
        <p:nvSpPr>
          <p:cNvPr id="5" name="Text 2"/>
          <p:cNvSpPr/>
          <p:nvPr/>
        </p:nvSpPr>
        <p:spPr>
          <a:xfrm>
            <a:off x="762000" y="3302000"/>
            <a:ext cx="2540000" cy="279400"/>
          </a:xfrm>
          <a:prstGeom prst="rect">
            <a:avLst/>
          </a:prstGeom>
          <a:noFill/>
          <a:ln/>
        </p:spPr>
        <p:txBody>
          <a:bodyPr wrap="none" lIns="0" tIns="0" rIns="0" bIns="0" rtlCol="0" anchor="ctr"/>
          <a:lstStyle/>
          <a:p>
            <a:pPr>
              <a:lnSpc>
                <a:spcPct val="120000"/>
              </a:lnSpc>
            </a:pPr>
            <a:r>
              <a:rPr lang="en-US" sz="1400" spc="200" kern="0" dirty="0">
                <a:solidFill>
                  <a:srgbClr val="FFFFFF">
                    <a:alpha val="50196"/>
                  </a:srgbClr>
                </a:solidFill>
                <a:latin typeface="Liter" pitchFamily="34" charset="0"/>
                <a:ea typeface="Liter" pitchFamily="34" charset="-122"/>
                <a:cs typeface="Liter" pitchFamily="34" charset="-120"/>
              </a:rPr>
              <a:t>LECTURE</a:t>
            </a:r>
            <a:endParaRPr lang="en-US" sz="1400" dirty="0"/>
          </a:p>
        </p:txBody>
      </p:sp>
      <p:sp>
        <p:nvSpPr>
          <p:cNvPr id="6" name="Shape 3"/>
          <p:cNvSpPr/>
          <p:nvPr/>
        </p:nvSpPr>
        <p:spPr>
          <a:xfrm>
            <a:off x="762000" y="3746500"/>
            <a:ext cx="1016000" cy="38100"/>
          </a:xfrm>
          <a:prstGeom prst="rect">
            <a:avLst/>
          </a:prstGeom>
          <a:solidFill>
            <a:srgbClr val="D97706"/>
          </a:solidFill>
          <a:ln/>
        </p:spPr>
      </p:sp>
      <p:sp>
        <p:nvSpPr>
          <p:cNvPr id="7" name="Text 4"/>
          <p:cNvSpPr/>
          <p:nvPr/>
        </p:nvSpPr>
        <p:spPr>
          <a:xfrm>
            <a:off x="762000" y="4000500"/>
            <a:ext cx="8890000" cy="698500"/>
          </a:xfrm>
          <a:prstGeom prst="rect">
            <a:avLst/>
          </a:prstGeom>
          <a:noFill/>
          <a:ln/>
        </p:spPr>
        <p:txBody>
          <a:bodyPr wrap="none" lIns="0" tIns="0" rIns="0" bIns="0" rtlCol="0" anchor="ctr"/>
          <a:lstStyle/>
          <a:p>
            <a:pPr>
              <a:lnSpc>
                <a:spcPct val="100000"/>
              </a:lnSpc>
            </a:pPr>
            <a:r>
              <a:rPr lang="en-US" sz="4000" dirty="0">
                <a:solidFill>
                  <a:srgbClr val="FFFFFF"/>
                </a:solidFill>
                <a:latin typeface="Liter" pitchFamily="34" charset="0"/>
                <a:ea typeface="Liter" pitchFamily="34" charset="-122"/>
                <a:cs typeface="Liter" pitchFamily="34" charset="-120"/>
              </a:rPr>
              <a:t>Foundations of AI</a:t>
            </a:r>
            <a:endParaRPr lang="en-US" sz="1600" dirty="0"/>
          </a:p>
        </p:txBody>
      </p:sp>
      <p:sp>
        <p:nvSpPr>
          <p:cNvPr id="8" name="Text 5"/>
          <p:cNvSpPr/>
          <p:nvPr/>
        </p:nvSpPr>
        <p:spPr>
          <a:xfrm>
            <a:off x="762000" y="4889500"/>
            <a:ext cx="7620000" cy="889000"/>
          </a:xfrm>
          <a:prstGeom prst="rect">
            <a:avLst/>
          </a:prstGeom>
          <a:noFill/>
          <a:ln/>
        </p:spPr>
        <p:txBody>
          <a:bodyPr wrap="square" lIns="0" tIns="0" rIns="0" bIns="0" rtlCol="0" anchor="t"/>
          <a:lstStyle/>
          <a:p>
            <a:pPr>
              <a:lnSpc>
                <a:spcPct val="140000"/>
              </a:lnSpc>
            </a:pPr>
            <a:r>
              <a:rPr lang="en-US" sz="1800" dirty="0">
                <a:solidFill>
                  <a:srgbClr val="FFFFFF">
                    <a:alpha val="80000"/>
                  </a:srgbClr>
                </a:solidFill>
                <a:latin typeface="QuattrocentoSans" pitchFamily="34" charset="0"/>
                <a:ea typeface="QuattrocentoSans" pitchFamily="34" charset="-122"/>
                <a:cs typeface="QuattrocentoSans" pitchFamily="34" charset="-120"/>
              </a:rPr>
              <a:t>Exploring the interdisciplinary roots and real-world applications of Artificial Intelligence</a:t>
            </a:r>
            <a:endParaRPr lang="en-US" sz="22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889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What is Artificial Intelligence?</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33500"/>
            <a:ext cx="14732000" cy="1143000"/>
          </a:xfrm>
          <a:prstGeom prst="rect">
            <a:avLst/>
          </a:prstGeom>
          <a:solidFill>
            <a:srgbClr val="E0F2F1"/>
          </a:solidFill>
          <a:ln/>
        </p:spPr>
      </p:sp>
      <p:sp>
        <p:nvSpPr>
          <p:cNvPr id="6" name="Shape 4"/>
          <p:cNvSpPr/>
          <p:nvPr/>
        </p:nvSpPr>
        <p:spPr>
          <a:xfrm>
            <a:off x="1016000" y="15875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0F4C5C"/>
          </a:solidFill>
          <a:ln/>
        </p:spPr>
      </p:sp>
      <p:sp>
        <p:nvSpPr>
          <p:cNvPr id="7" name="Text 5"/>
          <p:cNvSpPr/>
          <p:nvPr/>
        </p:nvSpPr>
        <p:spPr>
          <a:xfrm>
            <a:off x="1651000" y="1397000"/>
            <a:ext cx="13589000" cy="1016000"/>
          </a:xfrm>
          <a:prstGeom prst="rect">
            <a:avLst/>
          </a:prstGeom>
          <a:noFill/>
          <a:ln/>
        </p:spPr>
        <p:txBody>
          <a:bodyPr wrap="square" lIns="0" tIns="0" rIns="0" bIns="0" rtlCol="0" anchor="ctr"/>
          <a:lstStyle/>
          <a:p>
            <a:pPr>
              <a:lnSpc>
                <a:spcPct val="160000"/>
              </a:lnSpc>
            </a:pPr>
            <a:r>
              <a:rPr lang="en-US" sz="1800" b="1" dirty="0">
                <a:solidFill>
                  <a:srgbClr val="1C1917"/>
                </a:solidFill>
                <a:latin typeface="QuattrocentoSans" pitchFamily="34" charset="0"/>
                <a:ea typeface="QuattrocentoSans" pitchFamily="34" charset="-122"/>
                <a:cs typeface="QuattrocentoSans" pitchFamily="34" charset="-120"/>
              </a:rPr>
              <a:t>AI</a:t>
            </a:r>
            <a:pPr>
              <a:lnSpc>
                <a:spcPct val="160000"/>
              </a:lnSpc>
            </a:pPr>
            <a:r>
              <a:rPr lang="en-US" sz="1800" dirty="0">
                <a:solidFill>
                  <a:srgbClr val="1C1917"/>
                </a:solidFill>
                <a:latin typeface="QuattrocentoSans" pitchFamily="34" charset="0"/>
                <a:ea typeface="QuattrocentoSans" pitchFamily="34" charset="-122"/>
                <a:cs typeface="QuattrocentoSans" pitchFamily="34" charset="-120"/>
              </a:rPr>
              <a:t> is the study and construction of agent programs that perform well in a given environment. It seeks to build systems that can </a:t>
            </a:r>
            <a:pPr>
              <a:lnSpc>
                <a:spcPct val="160000"/>
              </a:lnSpc>
            </a:pPr>
            <a:r>
              <a:rPr lang="en-US" sz="1800" b="1" dirty="0">
                <a:solidFill>
                  <a:srgbClr val="D97706"/>
                </a:solidFill>
                <a:latin typeface="QuattrocentoSans" pitchFamily="34" charset="0"/>
                <a:ea typeface="QuattrocentoSans" pitchFamily="34" charset="-122"/>
                <a:cs typeface="QuattrocentoSans" pitchFamily="34" charset="-120"/>
              </a:rPr>
              <a:t>perceive, reason, learn, and act autonomously</a:t>
            </a:r>
            <a:pPr>
              <a:lnSpc>
                <a:spcPct val="160000"/>
              </a:lnSpc>
            </a:pPr>
            <a:r>
              <a:rPr lang="en-US" sz="1800" dirty="0">
                <a:solidFill>
                  <a:srgbClr val="1C1917"/>
                </a:solidFill>
                <a:latin typeface="QuattrocentoSans" pitchFamily="34" charset="0"/>
                <a:ea typeface="QuattrocentoSans" pitchFamily="34" charset="-122"/>
                <a:cs typeface="QuattrocentoSans" pitchFamily="34" charset="-120"/>
              </a:rPr>
              <a:t>.</a:t>
            </a:r>
            <a:endParaRPr lang="en-US" sz="1800" dirty="0"/>
          </a:p>
        </p:txBody>
      </p:sp>
      <p:sp>
        <p:nvSpPr>
          <p:cNvPr id="8" name="Text 6"/>
          <p:cNvSpPr/>
          <p:nvPr/>
        </p:nvSpPr>
        <p:spPr>
          <a:xfrm>
            <a:off x="762000" y="27940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FOUR FOUNDATIONAL DISCIPLINES</a:t>
            </a:r>
            <a:endParaRPr lang="en-US" sz="1400" dirty="0"/>
          </a:p>
        </p:txBody>
      </p:sp>
      <p:sp>
        <p:nvSpPr>
          <p:cNvPr id="9" name="Shape 7"/>
          <p:cNvSpPr/>
          <p:nvPr/>
        </p:nvSpPr>
        <p:spPr>
          <a:xfrm>
            <a:off x="762000" y="3302000"/>
            <a:ext cx="3429000" cy="3556000"/>
          </a:xfrm>
          <a:prstGeom prst="rect">
            <a:avLst/>
          </a:prstGeom>
          <a:solidFill>
            <a:srgbClr val="FFFFFF"/>
          </a:solidFill>
          <a:ln/>
          <a:effectLst>
            <a:outerShdw sx="100000" sy="100000" kx="0" ky="0" algn="bl" rotWithShape="0" blurRad="101600" dist="25400" dir="5400000">
              <a:srgbClr val="000000">
                <a:alpha val="6275"/>
              </a:srgbClr>
            </a:outerShdw>
          </a:effectLst>
        </p:spPr>
      </p:sp>
      <p:sp>
        <p:nvSpPr>
          <p:cNvPr id="10" name="Shape 8"/>
          <p:cNvSpPr/>
          <p:nvPr/>
        </p:nvSpPr>
        <p:spPr>
          <a:xfrm>
            <a:off x="1016000" y="3556000"/>
            <a:ext cx="406400" cy="406400"/>
          </a:xfrm>
          <a:custGeom>
            <a:avLst/>
            <a:gdLst/>
            <a:ahLst/>
            <a:cxnLst/>
            <a:rect l="l" t="t" r="r" b="b"/>
            <a:pathLst>
              <a:path w="406400" h="406400">
                <a:moveTo>
                  <a:pt x="189468" y="4048"/>
                </a:moveTo>
                <a:cubicBezTo>
                  <a:pt x="197802" y="-1349"/>
                  <a:pt x="208598" y="-1349"/>
                  <a:pt x="216932" y="4048"/>
                </a:cubicBezTo>
                <a:lnTo>
                  <a:pt x="394732" y="118348"/>
                </a:lnTo>
                <a:cubicBezTo>
                  <a:pt x="404178" y="124460"/>
                  <a:pt x="408543" y="136049"/>
                  <a:pt x="405368" y="146844"/>
                </a:cubicBezTo>
                <a:cubicBezTo>
                  <a:pt x="402193" y="157639"/>
                  <a:pt x="392271" y="165100"/>
                  <a:pt x="381000" y="165100"/>
                </a:cubicBezTo>
                <a:lnTo>
                  <a:pt x="355600" y="165100"/>
                </a:lnTo>
                <a:lnTo>
                  <a:pt x="355600" y="330200"/>
                </a:lnTo>
                <a:lnTo>
                  <a:pt x="396240" y="360680"/>
                </a:lnTo>
                <a:cubicBezTo>
                  <a:pt x="402669" y="365442"/>
                  <a:pt x="406400" y="372983"/>
                  <a:pt x="406400" y="381000"/>
                </a:cubicBezTo>
                <a:cubicBezTo>
                  <a:pt x="406400" y="395049"/>
                  <a:pt x="395049" y="406400"/>
                  <a:pt x="381000" y="406400"/>
                </a:cubicBezTo>
                <a:lnTo>
                  <a:pt x="25400" y="406400"/>
                </a:lnTo>
                <a:cubicBezTo>
                  <a:pt x="11351" y="406400"/>
                  <a:pt x="0" y="395049"/>
                  <a:pt x="0" y="381000"/>
                </a:cubicBezTo>
                <a:cubicBezTo>
                  <a:pt x="0" y="372983"/>
                  <a:pt x="3731" y="365442"/>
                  <a:pt x="10160" y="360680"/>
                </a:cubicBezTo>
                <a:lnTo>
                  <a:pt x="50800" y="330200"/>
                </a:lnTo>
                <a:lnTo>
                  <a:pt x="50800" y="330200"/>
                </a:lnTo>
                <a:lnTo>
                  <a:pt x="50800" y="165100"/>
                </a:lnTo>
                <a:lnTo>
                  <a:pt x="25400" y="165100"/>
                </a:lnTo>
                <a:cubicBezTo>
                  <a:pt x="14129" y="165100"/>
                  <a:pt x="4207" y="157639"/>
                  <a:pt x="1032" y="146844"/>
                </a:cubicBezTo>
                <a:cubicBezTo>
                  <a:pt x="-2143" y="136049"/>
                  <a:pt x="2223" y="124381"/>
                  <a:pt x="11668" y="118348"/>
                </a:cubicBezTo>
                <a:lnTo>
                  <a:pt x="189468" y="4048"/>
                </a:lnTo>
                <a:close/>
                <a:moveTo>
                  <a:pt x="266700" y="165100"/>
                </a:moveTo>
                <a:lnTo>
                  <a:pt x="266700" y="330200"/>
                </a:lnTo>
                <a:lnTo>
                  <a:pt x="317500" y="330200"/>
                </a:lnTo>
                <a:lnTo>
                  <a:pt x="317500" y="165100"/>
                </a:lnTo>
                <a:lnTo>
                  <a:pt x="266700" y="165100"/>
                </a:lnTo>
                <a:close/>
                <a:moveTo>
                  <a:pt x="177800" y="330200"/>
                </a:moveTo>
                <a:lnTo>
                  <a:pt x="228600" y="330200"/>
                </a:lnTo>
                <a:lnTo>
                  <a:pt x="228600" y="165100"/>
                </a:lnTo>
                <a:lnTo>
                  <a:pt x="177800" y="165100"/>
                </a:lnTo>
                <a:lnTo>
                  <a:pt x="177800" y="330200"/>
                </a:lnTo>
                <a:close/>
                <a:moveTo>
                  <a:pt x="88900" y="165100"/>
                </a:moveTo>
                <a:lnTo>
                  <a:pt x="88900" y="330200"/>
                </a:lnTo>
                <a:lnTo>
                  <a:pt x="139700" y="330200"/>
                </a:lnTo>
                <a:lnTo>
                  <a:pt x="139700" y="165100"/>
                </a:lnTo>
                <a:lnTo>
                  <a:pt x="88900" y="165100"/>
                </a:lnTo>
                <a:close/>
              </a:path>
            </a:pathLst>
          </a:custGeom>
          <a:solidFill>
            <a:srgbClr val="0F4C5C"/>
          </a:solidFill>
          <a:ln/>
        </p:spPr>
      </p:sp>
      <p:sp>
        <p:nvSpPr>
          <p:cNvPr id="11" name="Text 9"/>
          <p:cNvSpPr/>
          <p:nvPr/>
        </p:nvSpPr>
        <p:spPr>
          <a:xfrm>
            <a:off x="1016000" y="4089400"/>
            <a:ext cx="2921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Philosophy</a:t>
            </a:r>
            <a:endParaRPr lang="en-US" sz="1600" dirty="0"/>
          </a:p>
        </p:txBody>
      </p:sp>
      <p:sp>
        <p:nvSpPr>
          <p:cNvPr id="12" name="Text 10"/>
          <p:cNvSpPr/>
          <p:nvPr/>
        </p:nvSpPr>
        <p:spPr>
          <a:xfrm>
            <a:off x="1016000" y="4508500"/>
            <a:ext cx="2921000" cy="2159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Questions of reasoning, mind, and knowledge. Can machines think? What can be computed?</a:t>
            </a:r>
            <a:endParaRPr lang="en-US" sz="1600" dirty="0"/>
          </a:p>
        </p:txBody>
      </p:sp>
      <p:sp>
        <p:nvSpPr>
          <p:cNvPr id="13" name="Shape 11"/>
          <p:cNvSpPr/>
          <p:nvPr/>
        </p:nvSpPr>
        <p:spPr>
          <a:xfrm>
            <a:off x="4521200" y="3302000"/>
            <a:ext cx="3429000" cy="3556000"/>
          </a:xfrm>
          <a:prstGeom prst="rect">
            <a:avLst/>
          </a:prstGeom>
          <a:solidFill>
            <a:srgbClr val="FFFFFF"/>
          </a:solidFill>
          <a:ln/>
          <a:effectLst>
            <a:outerShdw sx="100000" sy="100000" kx="0" ky="0" algn="bl" rotWithShape="0" blurRad="101600" dist="25400" dir="5400000">
              <a:srgbClr val="000000">
                <a:alpha val="6275"/>
              </a:srgbClr>
            </a:outerShdw>
          </a:effectLst>
        </p:spPr>
      </p:sp>
      <p:sp>
        <p:nvSpPr>
          <p:cNvPr id="14" name="Shape 12"/>
          <p:cNvSpPr/>
          <p:nvPr/>
        </p:nvSpPr>
        <p:spPr>
          <a:xfrm>
            <a:off x="4749800" y="3556000"/>
            <a:ext cx="457200" cy="406400"/>
          </a:xfrm>
          <a:custGeom>
            <a:avLst/>
            <a:gdLst/>
            <a:ahLst/>
            <a:cxnLst/>
            <a:rect l="l" t="t" r="r" b="b"/>
            <a:pathLst>
              <a:path w="457200" h="406400">
                <a:moveTo>
                  <a:pt x="224314" y="61992"/>
                </a:moveTo>
                <a:cubicBezTo>
                  <a:pt x="230664" y="40322"/>
                  <a:pt x="250508" y="25400"/>
                  <a:pt x="273050" y="25400"/>
                </a:cubicBezTo>
                <a:lnTo>
                  <a:pt x="431800" y="25400"/>
                </a:lnTo>
                <a:cubicBezTo>
                  <a:pt x="445849" y="25400"/>
                  <a:pt x="457200" y="36751"/>
                  <a:pt x="457200" y="50800"/>
                </a:cubicBezTo>
                <a:cubicBezTo>
                  <a:pt x="457200" y="64849"/>
                  <a:pt x="445849" y="76200"/>
                  <a:pt x="431800" y="76200"/>
                </a:cubicBezTo>
                <a:lnTo>
                  <a:pt x="273050" y="76200"/>
                </a:lnTo>
                <a:lnTo>
                  <a:pt x="189468" y="362744"/>
                </a:lnTo>
                <a:cubicBezTo>
                  <a:pt x="186611" y="372507"/>
                  <a:pt x="178276" y="379571"/>
                  <a:pt x="168196" y="380841"/>
                </a:cubicBezTo>
                <a:cubicBezTo>
                  <a:pt x="158115" y="382111"/>
                  <a:pt x="148272" y="377190"/>
                  <a:pt x="143192" y="368459"/>
                </a:cubicBezTo>
                <a:lnTo>
                  <a:pt x="61595" y="228600"/>
                </a:lnTo>
                <a:lnTo>
                  <a:pt x="25400" y="228600"/>
                </a:lnTo>
                <a:cubicBezTo>
                  <a:pt x="11351" y="228600"/>
                  <a:pt x="0" y="217249"/>
                  <a:pt x="0" y="203200"/>
                </a:cubicBezTo>
                <a:cubicBezTo>
                  <a:pt x="0" y="189151"/>
                  <a:pt x="11351" y="177800"/>
                  <a:pt x="25400" y="177800"/>
                </a:cubicBezTo>
                <a:lnTo>
                  <a:pt x="61595" y="177800"/>
                </a:lnTo>
                <a:cubicBezTo>
                  <a:pt x="79693" y="177800"/>
                  <a:pt x="96361" y="187404"/>
                  <a:pt x="105489" y="203041"/>
                </a:cubicBezTo>
                <a:lnTo>
                  <a:pt x="157242" y="291783"/>
                </a:lnTo>
                <a:lnTo>
                  <a:pt x="224234" y="61992"/>
                </a:lnTo>
                <a:close/>
                <a:moveTo>
                  <a:pt x="312261" y="185261"/>
                </a:moveTo>
                <a:cubicBezTo>
                  <a:pt x="322183" y="175339"/>
                  <a:pt x="338296" y="175339"/>
                  <a:pt x="348218" y="185261"/>
                </a:cubicBezTo>
                <a:lnTo>
                  <a:pt x="381079" y="218123"/>
                </a:lnTo>
                <a:lnTo>
                  <a:pt x="413941" y="185261"/>
                </a:lnTo>
                <a:cubicBezTo>
                  <a:pt x="423863" y="175339"/>
                  <a:pt x="439976" y="175339"/>
                  <a:pt x="449898" y="185261"/>
                </a:cubicBezTo>
                <a:cubicBezTo>
                  <a:pt x="459819" y="195183"/>
                  <a:pt x="459819" y="211296"/>
                  <a:pt x="449898" y="221218"/>
                </a:cubicBezTo>
                <a:lnTo>
                  <a:pt x="417036" y="254079"/>
                </a:lnTo>
                <a:lnTo>
                  <a:pt x="449898" y="286941"/>
                </a:lnTo>
                <a:cubicBezTo>
                  <a:pt x="459819" y="296862"/>
                  <a:pt x="459819" y="312976"/>
                  <a:pt x="449898" y="322897"/>
                </a:cubicBezTo>
                <a:cubicBezTo>
                  <a:pt x="439976" y="332819"/>
                  <a:pt x="423863" y="332819"/>
                  <a:pt x="413941" y="322897"/>
                </a:cubicBezTo>
                <a:lnTo>
                  <a:pt x="381079" y="290036"/>
                </a:lnTo>
                <a:lnTo>
                  <a:pt x="348218" y="322897"/>
                </a:lnTo>
                <a:cubicBezTo>
                  <a:pt x="338296" y="332819"/>
                  <a:pt x="322183" y="332819"/>
                  <a:pt x="312261" y="322897"/>
                </a:cubicBezTo>
                <a:cubicBezTo>
                  <a:pt x="302339" y="312976"/>
                  <a:pt x="302339" y="296862"/>
                  <a:pt x="312261" y="286941"/>
                </a:cubicBezTo>
                <a:lnTo>
                  <a:pt x="345123" y="254079"/>
                </a:lnTo>
                <a:lnTo>
                  <a:pt x="312261" y="221218"/>
                </a:lnTo>
                <a:cubicBezTo>
                  <a:pt x="302339" y="211296"/>
                  <a:pt x="302339" y="195183"/>
                  <a:pt x="312261" y="185261"/>
                </a:cubicBezTo>
                <a:close/>
              </a:path>
            </a:pathLst>
          </a:custGeom>
          <a:solidFill>
            <a:srgbClr val="0F4C5C"/>
          </a:solidFill>
          <a:ln/>
        </p:spPr>
      </p:sp>
      <p:sp>
        <p:nvSpPr>
          <p:cNvPr id="15" name="Text 13"/>
          <p:cNvSpPr/>
          <p:nvPr/>
        </p:nvSpPr>
        <p:spPr>
          <a:xfrm>
            <a:off x="4775200" y="4089400"/>
            <a:ext cx="2921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Mathematics</a:t>
            </a:r>
            <a:endParaRPr lang="en-US" sz="1600" dirty="0"/>
          </a:p>
        </p:txBody>
      </p:sp>
      <p:sp>
        <p:nvSpPr>
          <p:cNvPr id="16" name="Text 14"/>
          <p:cNvSpPr/>
          <p:nvPr/>
        </p:nvSpPr>
        <p:spPr>
          <a:xfrm>
            <a:off x="4775200" y="4508500"/>
            <a:ext cx="2921000" cy="2159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Formal logic, computation theory, probability, and optimization that power AI algorithms.</a:t>
            </a:r>
            <a:endParaRPr lang="en-US" sz="1600" dirty="0"/>
          </a:p>
        </p:txBody>
      </p:sp>
      <p:sp>
        <p:nvSpPr>
          <p:cNvPr id="17" name="Shape 15"/>
          <p:cNvSpPr/>
          <p:nvPr/>
        </p:nvSpPr>
        <p:spPr>
          <a:xfrm>
            <a:off x="8293100" y="3302000"/>
            <a:ext cx="3429000" cy="3556000"/>
          </a:xfrm>
          <a:prstGeom prst="rect">
            <a:avLst/>
          </a:prstGeom>
          <a:solidFill>
            <a:srgbClr val="FFFFFF"/>
          </a:solidFill>
          <a:ln/>
          <a:effectLst>
            <a:outerShdw sx="100000" sy="100000" kx="0" ky="0" algn="bl" rotWithShape="0" blurRad="101600" dist="25400" dir="5400000">
              <a:srgbClr val="000000">
                <a:alpha val="6275"/>
              </a:srgbClr>
            </a:outerShdw>
          </a:effectLst>
        </p:spPr>
      </p:sp>
      <p:sp>
        <p:nvSpPr>
          <p:cNvPr id="18" name="Shape 16"/>
          <p:cNvSpPr/>
          <p:nvPr/>
        </p:nvSpPr>
        <p:spPr>
          <a:xfrm>
            <a:off x="8547100" y="3556000"/>
            <a:ext cx="406400" cy="406400"/>
          </a:xfrm>
          <a:custGeom>
            <a:avLst/>
            <a:gdLst/>
            <a:ahLst/>
            <a:cxnLst/>
            <a:rect l="l" t="t" r="r" b="b"/>
            <a:pathLst>
              <a:path w="406400" h="406400">
                <a:moveTo>
                  <a:pt x="261699" y="355600"/>
                </a:moveTo>
                <a:cubicBezTo>
                  <a:pt x="257651" y="355600"/>
                  <a:pt x="254000" y="358537"/>
                  <a:pt x="254000" y="362585"/>
                </a:cubicBezTo>
                <a:lnTo>
                  <a:pt x="254000" y="368300"/>
                </a:lnTo>
                <a:cubicBezTo>
                  <a:pt x="254000" y="389334"/>
                  <a:pt x="236934" y="406400"/>
                  <a:pt x="215900" y="406400"/>
                </a:cubicBezTo>
                <a:lnTo>
                  <a:pt x="88900" y="406400"/>
                </a:lnTo>
                <a:cubicBezTo>
                  <a:pt x="67866" y="406400"/>
                  <a:pt x="50800" y="389334"/>
                  <a:pt x="50800" y="368300"/>
                </a:cubicBezTo>
                <a:lnTo>
                  <a:pt x="50800" y="317818"/>
                </a:lnTo>
                <a:cubicBezTo>
                  <a:pt x="50800" y="307816"/>
                  <a:pt x="46752" y="298371"/>
                  <a:pt x="40402" y="290671"/>
                </a:cubicBezTo>
                <a:cubicBezTo>
                  <a:pt x="15161" y="259953"/>
                  <a:pt x="0" y="220663"/>
                  <a:pt x="0" y="177800"/>
                </a:cubicBezTo>
                <a:cubicBezTo>
                  <a:pt x="0" y="79613"/>
                  <a:pt x="79613" y="0"/>
                  <a:pt x="177800" y="0"/>
                </a:cubicBezTo>
                <a:cubicBezTo>
                  <a:pt x="267256" y="0"/>
                  <a:pt x="341313" y="66119"/>
                  <a:pt x="353774" y="152162"/>
                </a:cubicBezTo>
                <a:cubicBezTo>
                  <a:pt x="354092" y="154543"/>
                  <a:pt x="355124" y="156845"/>
                  <a:pt x="356632" y="158750"/>
                </a:cubicBezTo>
                <a:lnTo>
                  <a:pt x="385048" y="192802"/>
                </a:lnTo>
                <a:cubicBezTo>
                  <a:pt x="390604" y="199469"/>
                  <a:pt x="393700" y="207963"/>
                  <a:pt x="393700" y="216694"/>
                </a:cubicBezTo>
                <a:cubicBezTo>
                  <a:pt x="393700" y="237252"/>
                  <a:pt x="377031" y="254000"/>
                  <a:pt x="356394" y="254000"/>
                </a:cubicBezTo>
                <a:lnTo>
                  <a:pt x="355600" y="254000"/>
                </a:lnTo>
                <a:cubicBezTo>
                  <a:pt x="348615" y="254000"/>
                  <a:pt x="342900" y="259715"/>
                  <a:pt x="342900" y="266700"/>
                </a:cubicBezTo>
                <a:lnTo>
                  <a:pt x="342900" y="304800"/>
                </a:lnTo>
                <a:cubicBezTo>
                  <a:pt x="342900" y="332819"/>
                  <a:pt x="320119" y="355600"/>
                  <a:pt x="292100" y="355600"/>
                </a:cubicBezTo>
                <a:lnTo>
                  <a:pt x="261699" y="355600"/>
                </a:lnTo>
                <a:close/>
                <a:moveTo>
                  <a:pt x="177800" y="50800"/>
                </a:moveTo>
                <a:cubicBezTo>
                  <a:pt x="167243" y="50800"/>
                  <a:pt x="158750" y="59293"/>
                  <a:pt x="158750" y="69850"/>
                </a:cubicBezTo>
                <a:cubicBezTo>
                  <a:pt x="158750" y="88027"/>
                  <a:pt x="136763" y="97155"/>
                  <a:pt x="123904" y="84296"/>
                </a:cubicBezTo>
                <a:cubicBezTo>
                  <a:pt x="116443" y="76835"/>
                  <a:pt x="104378" y="76835"/>
                  <a:pt x="96996" y="84296"/>
                </a:cubicBezTo>
                <a:cubicBezTo>
                  <a:pt x="89614" y="91758"/>
                  <a:pt x="89535" y="103823"/>
                  <a:pt x="96996" y="111204"/>
                </a:cubicBezTo>
                <a:cubicBezTo>
                  <a:pt x="109855" y="124063"/>
                  <a:pt x="100727" y="146050"/>
                  <a:pt x="82550" y="146050"/>
                </a:cubicBezTo>
                <a:cubicBezTo>
                  <a:pt x="71993" y="146050"/>
                  <a:pt x="63500" y="154543"/>
                  <a:pt x="63500" y="165100"/>
                </a:cubicBezTo>
                <a:cubicBezTo>
                  <a:pt x="63500" y="175657"/>
                  <a:pt x="71993" y="184150"/>
                  <a:pt x="82550" y="184150"/>
                </a:cubicBezTo>
                <a:cubicBezTo>
                  <a:pt x="100727" y="184150"/>
                  <a:pt x="109855" y="206137"/>
                  <a:pt x="96996" y="218996"/>
                </a:cubicBezTo>
                <a:cubicBezTo>
                  <a:pt x="89535" y="226457"/>
                  <a:pt x="89535" y="238522"/>
                  <a:pt x="96996" y="245904"/>
                </a:cubicBezTo>
                <a:cubicBezTo>
                  <a:pt x="104458" y="253286"/>
                  <a:pt x="116522" y="253365"/>
                  <a:pt x="123904" y="245904"/>
                </a:cubicBezTo>
                <a:cubicBezTo>
                  <a:pt x="136763" y="233045"/>
                  <a:pt x="158750" y="242173"/>
                  <a:pt x="158750" y="260350"/>
                </a:cubicBezTo>
                <a:cubicBezTo>
                  <a:pt x="158750" y="270907"/>
                  <a:pt x="167243" y="279400"/>
                  <a:pt x="177800" y="279400"/>
                </a:cubicBezTo>
                <a:cubicBezTo>
                  <a:pt x="188357" y="279400"/>
                  <a:pt x="196850" y="270907"/>
                  <a:pt x="196850" y="260350"/>
                </a:cubicBezTo>
                <a:cubicBezTo>
                  <a:pt x="196850" y="242173"/>
                  <a:pt x="218837" y="233045"/>
                  <a:pt x="231696" y="245904"/>
                </a:cubicBezTo>
                <a:cubicBezTo>
                  <a:pt x="239157" y="253365"/>
                  <a:pt x="251222" y="253365"/>
                  <a:pt x="258604" y="245904"/>
                </a:cubicBezTo>
                <a:cubicBezTo>
                  <a:pt x="265986" y="238442"/>
                  <a:pt x="266065" y="226377"/>
                  <a:pt x="258604" y="218996"/>
                </a:cubicBezTo>
                <a:cubicBezTo>
                  <a:pt x="245745" y="206137"/>
                  <a:pt x="254873" y="184150"/>
                  <a:pt x="273050" y="184150"/>
                </a:cubicBezTo>
                <a:cubicBezTo>
                  <a:pt x="283607" y="184150"/>
                  <a:pt x="292100" y="175657"/>
                  <a:pt x="292100" y="165100"/>
                </a:cubicBezTo>
                <a:cubicBezTo>
                  <a:pt x="292100" y="154543"/>
                  <a:pt x="283607" y="146050"/>
                  <a:pt x="273050" y="146050"/>
                </a:cubicBezTo>
                <a:cubicBezTo>
                  <a:pt x="254873" y="146050"/>
                  <a:pt x="245745" y="124063"/>
                  <a:pt x="258604" y="111204"/>
                </a:cubicBezTo>
                <a:cubicBezTo>
                  <a:pt x="266065" y="103743"/>
                  <a:pt x="266065" y="91678"/>
                  <a:pt x="258604" y="84296"/>
                </a:cubicBezTo>
                <a:cubicBezTo>
                  <a:pt x="251142" y="76914"/>
                  <a:pt x="239077" y="76835"/>
                  <a:pt x="231696" y="84296"/>
                </a:cubicBezTo>
                <a:cubicBezTo>
                  <a:pt x="218837" y="97155"/>
                  <a:pt x="196850" y="88027"/>
                  <a:pt x="196850" y="69850"/>
                </a:cubicBezTo>
                <a:cubicBezTo>
                  <a:pt x="196850" y="59293"/>
                  <a:pt x="188357" y="50800"/>
                  <a:pt x="177800" y="50800"/>
                </a:cubicBezTo>
                <a:close/>
                <a:moveTo>
                  <a:pt x="152400" y="120650"/>
                </a:moveTo>
                <a:cubicBezTo>
                  <a:pt x="162914" y="120650"/>
                  <a:pt x="171450" y="129186"/>
                  <a:pt x="171450" y="139700"/>
                </a:cubicBezTo>
                <a:cubicBezTo>
                  <a:pt x="171450" y="150214"/>
                  <a:pt x="162914" y="158750"/>
                  <a:pt x="152400" y="158750"/>
                </a:cubicBezTo>
                <a:cubicBezTo>
                  <a:pt x="141886" y="158750"/>
                  <a:pt x="133350" y="150214"/>
                  <a:pt x="133350" y="139700"/>
                </a:cubicBezTo>
                <a:cubicBezTo>
                  <a:pt x="133350" y="129186"/>
                  <a:pt x="141886" y="120650"/>
                  <a:pt x="152400" y="120650"/>
                </a:cubicBezTo>
                <a:close/>
                <a:moveTo>
                  <a:pt x="184150" y="190500"/>
                </a:moveTo>
                <a:cubicBezTo>
                  <a:pt x="184150" y="179986"/>
                  <a:pt x="192686" y="171450"/>
                  <a:pt x="203200" y="171450"/>
                </a:cubicBezTo>
                <a:cubicBezTo>
                  <a:pt x="213714" y="171450"/>
                  <a:pt x="222250" y="179986"/>
                  <a:pt x="222250" y="190500"/>
                </a:cubicBezTo>
                <a:cubicBezTo>
                  <a:pt x="222250" y="201014"/>
                  <a:pt x="213714" y="209550"/>
                  <a:pt x="203200" y="209550"/>
                </a:cubicBezTo>
                <a:cubicBezTo>
                  <a:pt x="192686" y="209550"/>
                  <a:pt x="184150" y="201014"/>
                  <a:pt x="184150" y="190500"/>
                </a:cubicBezTo>
                <a:close/>
              </a:path>
            </a:pathLst>
          </a:custGeom>
          <a:solidFill>
            <a:srgbClr val="0F4C5C"/>
          </a:solidFill>
          <a:ln/>
        </p:spPr>
      </p:sp>
      <p:sp>
        <p:nvSpPr>
          <p:cNvPr id="19" name="Text 17"/>
          <p:cNvSpPr/>
          <p:nvPr/>
        </p:nvSpPr>
        <p:spPr>
          <a:xfrm>
            <a:off x="8547100" y="4089400"/>
            <a:ext cx="2921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Psychology</a:t>
            </a:r>
            <a:endParaRPr lang="en-US" sz="1600" dirty="0"/>
          </a:p>
        </p:txBody>
      </p:sp>
      <p:sp>
        <p:nvSpPr>
          <p:cNvPr id="20" name="Text 18"/>
          <p:cNvSpPr/>
          <p:nvPr/>
        </p:nvSpPr>
        <p:spPr>
          <a:xfrm>
            <a:off x="8547100" y="4508500"/>
            <a:ext cx="2921000" cy="2159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Understanding human cognition, learning, and problem-solving to inspire AI architectures.</a:t>
            </a:r>
            <a:endParaRPr lang="en-US" sz="1600" dirty="0"/>
          </a:p>
        </p:txBody>
      </p:sp>
      <p:sp>
        <p:nvSpPr>
          <p:cNvPr id="21" name="Shape 19"/>
          <p:cNvSpPr/>
          <p:nvPr/>
        </p:nvSpPr>
        <p:spPr>
          <a:xfrm>
            <a:off x="12065000" y="3302000"/>
            <a:ext cx="3429000" cy="3556000"/>
          </a:xfrm>
          <a:prstGeom prst="rect">
            <a:avLst/>
          </a:prstGeom>
          <a:solidFill>
            <a:srgbClr val="FFFFFF"/>
          </a:solidFill>
          <a:ln/>
          <a:effectLst>
            <a:outerShdw sx="100000" sy="100000" kx="0" ky="0" algn="bl" rotWithShape="0" blurRad="101600" dist="25400" dir="5400000">
              <a:srgbClr val="000000">
                <a:alpha val="6275"/>
              </a:srgbClr>
            </a:outerShdw>
          </a:effectLst>
        </p:spPr>
      </p:sp>
      <p:sp>
        <p:nvSpPr>
          <p:cNvPr id="22" name="Shape 20"/>
          <p:cNvSpPr/>
          <p:nvPr/>
        </p:nvSpPr>
        <p:spPr>
          <a:xfrm>
            <a:off x="12319000" y="35560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0F4C5C"/>
          </a:solidFill>
          <a:ln/>
        </p:spPr>
      </p:sp>
      <p:sp>
        <p:nvSpPr>
          <p:cNvPr id="23" name="Text 21"/>
          <p:cNvSpPr/>
          <p:nvPr/>
        </p:nvSpPr>
        <p:spPr>
          <a:xfrm>
            <a:off x="12319000" y="4089400"/>
            <a:ext cx="2921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Computer Eng.</a:t>
            </a:r>
            <a:endParaRPr lang="en-US" sz="1600" dirty="0"/>
          </a:p>
        </p:txBody>
      </p:sp>
      <p:sp>
        <p:nvSpPr>
          <p:cNvPr id="24" name="Text 22"/>
          <p:cNvSpPr/>
          <p:nvPr/>
        </p:nvSpPr>
        <p:spPr>
          <a:xfrm>
            <a:off x="12319000" y="4508500"/>
            <a:ext cx="2921000" cy="2159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Hardware, software systems, and algorithms that transform AI theory into working systems.</a:t>
            </a:r>
            <a:endParaRPr lang="en-US" sz="1600" dirty="0"/>
          </a:p>
        </p:txBody>
      </p:sp>
      <p:sp>
        <p:nvSpPr>
          <p:cNvPr id="25" name="Shape 23"/>
          <p:cNvSpPr/>
          <p:nvPr/>
        </p:nvSpPr>
        <p:spPr>
          <a:xfrm>
            <a:off x="762000" y="7239000"/>
            <a:ext cx="14732000" cy="635000"/>
          </a:xfrm>
          <a:prstGeom prst="rect">
            <a:avLst/>
          </a:prstGeom>
          <a:solidFill>
            <a:srgbClr val="0F4C5C"/>
          </a:solidFill>
          <a:ln/>
        </p:spPr>
      </p:sp>
      <p:sp>
        <p:nvSpPr>
          <p:cNvPr id="26" name="Text 24"/>
          <p:cNvSpPr/>
          <p:nvPr/>
        </p:nvSpPr>
        <p:spPr>
          <a:xfrm>
            <a:off x="1016000" y="7264400"/>
            <a:ext cx="14224000" cy="508000"/>
          </a:xfrm>
          <a:prstGeom prst="rect">
            <a:avLst/>
          </a:prstGeom>
          <a:noFill/>
          <a:ln/>
        </p:spPr>
        <p:txBody>
          <a:bodyPr wrap="squar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Key Insight:</a:t>
            </a:r>
            <a:pPr algn="ctr">
              <a:lnSpc>
                <a:spcPct val="100000"/>
              </a:lnSpc>
            </a:pPr>
            <a:r>
              <a:rPr lang="en-US" sz="1600" dirty="0">
                <a:solidFill>
                  <a:srgbClr val="FFFFFF"/>
                </a:solidFill>
                <a:latin typeface="Quattrocento Sans" pitchFamily="34" charset="0"/>
                <a:ea typeface="Quattrocento Sans" pitchFamily="34" charset="-122"/>
                <a:cs typeface="Quattrocento Sans" pitchFamily="34" charset="-120"/>
              </a:rPr>
              <a:t> Modern AI is the convergence of these four disciplines — each contributed essential concepts that enable intelligent systems.</a:t>
            </a:r>
            <a:endParaRPr lang="en-US" sz="1600" dirty="0"/>
          </a:p>
        </p:txBody>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Role of Philosophers in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6985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Philosophers laid the conceptual groundwork for AI by asking fundamental questions that directly shaped the field's goals of building </a:t>
            </a:r>
            <a:pPr>
              <a:lnSpc>
                <a:spcPct val="160000"/>
              </a:lnSpc>
            </a:pPr>
            <a:r>
              <a:rPr lang="en-US" sz="1600" b="1" dirty="0">
                <a:solidFill>
                  <a:srgbClr val="1C1917"/>
                </a:solidFill>
                <a:latin typeface="QuattrocentoSans" pitchFamily="34" charset="0"/>
                <a:ea typeface="QuattrocentoSans" pitchFamily="34" charset="-122"/>
                <a:cs typeface="QuattrocentoSans" pitchFamily="34" charset="-120"/>
              </a:rPr>
              <a:t>thinking machines</a:t>
            </a:r>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a:t>
            </a:r>
            <a:endParaRPr lang="en-US" sz="1800" dirty="0"/>
          </a:p>
        </p:txBody>
      </p:sp>
      <p:sp>
        <p:nvSpPr>
          <p:cNvPr id="6" name="Shape 4"/>
          <p:cNvSpPr/>
          <p:nvPr/>
        </p:nvSpPr>
        <p:spPr>
          <a:xfrm>
            <a:off x="762000" y="2159000"/>
            <a:ext cx="7112000" cy="1460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7" name="Shape 5"/>
          <p:cNvSpPr/>
          <p:nvPr/>
        </p:nvSpPr>
        <p:spPr>
          <a:xfrm>
            <a:off x="1016000" y="23876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97706"/>
          </a:solidFill>
          <a:ln/>
        </p:spPr>
      </p:sp>
      <p:sp>
        <p:nvSpPr>
          <p:cNvPr id="8" name="Text 6"/>
          <p:cNvSpPr/>
          <p:nvPr/>
        </p:nvSpPr>
        <p:spPr>
          <a:xfrm>
            <a:off x="1524000" y="2286000"/>
            <a:ext cx="6096000" cy="1206500"/>
          </a:xfrm>
          <a:prstGeom prst="rect">
            <a:avLst/>
          </a:prstGeom>
          <a:noFill/>
          <a:ln/>
        </p:spPr>
        <p:txBody>
          <a:bodyPr wrap="square" lIns="0" tIns="0" rIns="0" bIns="0" rtlCol="0" anchor="t"/>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Can formal rules draw valid conclusions?</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Aristotle's syllogisms → Boole's logic → Computational reasoning</a:t>
            </a:r>
            <a:endParaRPr lang="en-US" sz="1600" dirty="0"/>
          </a:p>
        </p:txBody>
      </p:sp>
      <p:sp>
        <p:nvSpPr>
          <p:cNvPr id="9" name="Shape 7"/>
          <p:cNvSpPr/>
          <p:nvPr/>
        </p:nvSpPr>
        <p:spPr>
          <a:xfrm>
            <a:off x="8382000" y="2159000"/>
            <a:ext cx="7112000" cy="1460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0" name="Shape 8"/>
          <p:cNvSpPr/>
          <p:nvPr/>
        </p:nvSpPr>
        <p:spPr>
          <a:xfrm>
            <a:off x="8636000" y="23876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97706"/>
          </a:solidFill>
          <a:ln/>
        </p:spPr>
      </p:sp>
      <p:sp>
        <p:nvSpPr>
          <p:cNvPr id="11" name="Text 9"/>
          <p:cNvSpPr/>
          <p:nvPr/>
        </p:nvSpPr>
        <p:spPr>
          <a:xfrm>
            <a:off x="9144000" y="2286000"/>
            <a:ext cx="6096000" cy="1206500"/>
          </a:xfrm>
          <a:prstGeom prst="rect">
            <a:avLst/>
          </a:prstGeom>
          <a:noFill/>
          <a:ln/>
        </p:spPr>
        <p:txBody>
          <a:bodyPr wrap="square" lIns="0" tIns="0" rIns="0" bIns="0" rtlCol="0" anchor="t"/>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How does the mind arise from the brain?</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Descartes' dualism → Neural networks → Computational mind</a:t>
            </a:r>
            <a:endParaRPr lang="en-US" sz="1600" dirty="0"/>
          </a:p>
        </p:txBody>
      </p:sp>
      <p:sp>
        <p:nvSpPr>
          <p:cNvPr id="12" name="Shape 10"/>
          <p:cNvSpPr/>
          <p:nvPr/>
        </p:nvSpPr>
        <p:spPr>
          <a:xfrm>
            <a:off x="762000" y="3873500"/>
            <a:ext cx="7112000" cy="1460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3" name="Shape 11"/>
          <p:cNvSpPr/>
          <p:nvPr/>
        </p:nvSpPr>
        <p:spPr>
          <a:xfrm>
            <a:off x="1016000" y="41021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97706"/>
          </a:solidFill>
          <a:ln/>
        </p:spPr>
      </p:sp>
      <p:sp>
        <p:nvSpPr>
          <p:cNvPr id="14" name="Text 12"/>
          <p:cNvSpPr/>
          <p:nvPr/>
        </p:nvSpPr>
        <p:spPr>
          <a:xfrm>
            <a:off x="1524000" y="4000500"/>
            <a:ext cx="6096000" cy="1206500"/>
          </a:xfrm>
          <a:prstGeom prst="rect">
            <a:avLst/>
          </a:prstGeom>
          <a:noFill/>
          <a:ln/>
        </p:spPr>
        <p:txBody>
          <a:bodyPr wrap="square" lIns="0" tIns="0" rIns="0" bIns="0" rtlCol="0" anchor="t"/>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Where does knowledge come from?</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Rationalism vs. Empiricism → Knowledge representation in AI</a:t>
            </a:r>
            <a:endParaRPr lang="en-US" sz="1600" dirty="0"/>
          </a:p>
        </p:txBody>
      </p:sp>
      <p:sp>
        <p:nvSpPr>
          <p:cNvPr id="15" name="Shape 13"/>
          <p:cNvSpPr/>
          <p:nvPr/>
        </p:nvSpPr>
        <p:spPr>
          <a:xfrm>
            <a:off x="8382000" y="3873500"/>
            <a:ext cx="7112000" cy="1460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6" name="Shape 14"/>
          <p:cNvSpPr/>
          <p:nvPr/>
        </p:nvSpPr>
        <p:spPr>
          <a:xfrm>
            <a:off x="8636000" y="41021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77800" y="122238"/>
                </a:moveTo>
                <a:cubicBezTo>
                  <a:pt x="165507" y="122238"/>
                  <a:pt x="155575" y="132169"/>
                  <a:pt x="155575" y="144463"/>
                </a:cubicBezTo>
                <a:cubicBezTo>
                  <a:pt x="155575" y="153700"/>
                  <a:pt x="148144" y="161131"/>
                  <a:pt x="138906" y="161131"/>
                </a:cubicBezTo>
                <a:cubicBezTo>
                  <a:pt x="129669" y="161131"/>
                  <a:pt x="122238" y="153700"/>
                  <a:pt x="122238" y="144463"/>
                </a:cubicBezTo>
                <a:cubicBezTo>
                  <a:pt x="122238" y="113764"/>
                  <a:pt x="147102" y="88900"/>
                  <a:pt x="177800" y="88900"/>
                </a:cubicBezTo>
                <a:cubicBezTo>
                  <a:pt x="208498" y="88900"/>
                  <a:pt x="233363" y="113764"/>
                  <a:pt x="233363" y="144463"/>
                </a:cubicBezTo>
                <a:cubicBezTo>
                  <a:pt x="233363" y="177244"/>
                  <a:pt x="208359" y="191135"/>
                  <a:pt x="194469" y="196205"/>
                </a:cubicBezTo>
                <a:lnTo>
                  <a:pt x="194469" y="198844"/>
                </a:lnTo>
                <a:cubicBezTo>
                  <a:pt x="194469" y="208082"/>
                  <a:pt x="187037" y="215513"/>
                  <a:pt x="177800" y="215513"/>
                </a:cubicBezTo>
                <a:cubicBezTo>
                  <a:pt x="168563" y="215513"/>
                  <a:pt x="161131" y="208082"/>
                  <a:pt x="161131" y="198844"/>
                </a:cubicBezTo>
                <a:lnTo>
                  <a:pt x="161131" y="193219"/>
                </a:lnTo>
                <a:cubicBezTo>
                  <a:pt x="161131" y="178981"/>
                  <a:pt x="171410" y="168771"/>
                  <a:pt x="182037" y="165298"/>
                </a:cubicBezTo>
                <a:cubicBezTo>
                  <a:pt x="186482" y="163840"/>
                  <a:pt x="191204" y="161479"/>
                  <a:pt x="194677" y="158145"/>
                </a:cubicBezTo>
                <a:cubicBezTo>
                  <a:pt x="197664" y="155228"/>
                  <a:pt x="200025" y="151199"/>
                  <a:pt x="200025" y="144532"/>
                </a:cubicBezTo>
                <a:cubicBezTo>
                  <a:pt x="200025" y="132239"/>
                  <a:pt x="190093" y="122307"/>
                  <a:pt x="177800" y="122307"/>
                </a:cubicBezTo>
                <a:close/>
                <a:moveTo>
                  <a:pt x="155575" y="255587"/>
                </a:moveTo>
                <a:cubicBezTo>
                  <a:pt x="155575" y="243321"/>
                  <a:pt x="165534" y="233363"/>
                  <a:pt x="177800" y="233363"/>
                </a:cubicBezTo>
                <a:cubicBezTo>
                  <a:pt x="190066" y="233363"/>
                  <a:pt x="200025" y="243321"/>
                  <a:pt x="200025" y="255587"/>
                </a:cubicBezTo>
                <a:cubicBezTo>
                  <a:pt x="200025" y="267854"/>
                  <a:pt x="190066" y="277813"/>
                  <a:pt x="177800" y="277813"/>
                </a:cubicBezTo>
                <a:cubicBezTo>
                  <a:pt x="165534" y="277813"/>
                  <a:pt x="155575" y="267854"/>
                  <a:pt x="155575" y="255587"/>
                </a:cubicBezTo>
                <a:close/>
              </a:path>
            </a:pathLst>
          </a:custGeom>
          <a:solidFill>
            <a:srgbClr val="D97706"/>
          </a:solidFill>
          <a:ln/>
        </p:spPr>
      </p:sp>
      <p:sp>
        <p:nvSpPr>
          <p:cNvPr id="17" name="Text 15"/>
          <p:cNvSpPr/>
          <p:nvPr/>
        </p:nvSpPr>
        <p:spPr>
          <a:xfrm>
            <a:off x="9144000" y="4000500"/>
            <a:ext cx="6096000" cy="1206500"/>
          </a:xfrm>
          <a:prstGeom prst="rect">
            <a:avLst/>
          </a:prstGeom>
          <a:noFill/>
          <a:ln/>
        </p:spPr>
        <p:txBody>
          <a:bodyPr wrap="square" lIns="0" tIns="0" rIns="0" bIns="0" rtlCol="0" anchor="t"/>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How does knowledge lead to action?</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Practical reasoning → Planning and decision-making in AI</a:t>
            </a:r>
            <a:endParaRPr lang="en-US" sz="1600" dirty="0"/>
          </a:p>
        </p:txBody>
      </p:sp>
      <p:sp>
        <p:nvSpPr>
          <p:cNvPr id="18" name="Text 16"/>
          <p:cNvSpPr/>
          <p:nvPr/>
        </p:nvSpPr>
        <p:spPr>
          <a:xfrm>
            <a:off x="762000" y="5715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KEY FIGURES</a:t>
            </a:r>
            <a:endParaRPr lang="en-US" sz="1400" dirty="0"/>
          </a:p>
        </p:txBody>
      </p:sp>
      <p:sp>
        <p:nvSpPr>
          <p:cNvPr id="19" name="Shape 17"/>
          <p:cNvSpPr/>
          <p:nvPr/>
        </p:nvSpPr>
        <p:spPr>
          <a:xfrm>
            <a:off x="762000" y="6159500"/>
            <a:ext cx="3429000" cy="889000"/>
          </a:xfrm>
          <a:prstGeom prst="rect">
            <a:avLst/>
          </a:prstGeom>
          <a:solidFill>
            <a:srgbClr val="E0F2F1"/>
          </a:solidFill>
          <a:ln/>
        </p:spPr>
      </p:sp>
      <p:sp>
        <p:nvSpPr>
          <p:cNvPr id="20" name="Text 18"/>
          <p:cNvSpPr/>
          <p:nvPr/>
        </p:nvSpPr>
        <p:spPr>
          <a:xfrm>
            <a:off x="952500" y="6223000"/>
            <a:ext cx="3048000" cy="762000"/>
          </a:xfrm>
          <a:prstGeom prst="rect">
            <a:avLst/>
          </a:prstGeom>
          <a:noFill/>
          <a:ln/>
        </p:spPr>
        <p:txBody>
          <a:bodyPr wrap="square" lIns="0" tIns="0" rIns="0" bIns="0" rtlCol="0" anchor="ctr"/>
          <a:lstStyle/>
          <a:p>
            <a:pPr>
              <a:lnSpc>
                <a:spcPct val="140000"/>
              </a:lnSpc>
            </a:pPr>
            <a:r>
              <a:rPr lang="en-US" sz="1500" b="1" dirty="0">
                <a:solidFill>
                  <a:srgbClr val="1C1917"/>
                </a:solidFill>
                <a:latin typeface="Quattrocento Sans" pitchFamily="34" charset="0"/>
                <a:ea typeface="Quattrocento Sans" pitchFamily="34" charset="-122"/>
                <a:cs typeface="Quattrocento Sans" pitchFamily="34" charset="-120"/>
              </a:rPr>
              <a:t>Aristotle</a:t>
            </a:r>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 — Logic &amp; reasoning</a:t>
            </a:r>
            <a:endParaRPr lang="en-US" sz="1600" dirty="0"/>
          </a:p>
        </p:txBody>
      </p:sp>
      <p:sp>
        <p:nvSpPr>
          <p:cNvPr id="21" name="Shape 19"/>
          <p:cNvSpPr/>
          <p:nvPr/>
        </p:nvSpPr>
        <p:spPr>
          <a:xfrm>
            <a:off x="4521200" y="6159500"/>
            <a:ext cx="3429000" cy="889000"/>
          </a:xfrm>
          <a:prstGeom prst="rect">
            <a:avLst/>
          </a:prstGeom>
          <a:solidFill>
            <a:srgbClr val="E0F2F1"/>
          </a:solidFill>
          <a:ln/>
        </p:spPr>
      </p:sp>
      <p:sp>
        <p:nvSpPr>
          <p:cNvPr id="22" name="Text 20"/>
          <p:cNvSpPr/>
          <p:nvPr/>
        </p:nvSpPr>
        <p:spPr>
          <a:xfrm>
            <a:off x="4711700" y="6223000"/>
            <a:ext cx="3048000" cy="762000"/>
          </a:xfrm>
          <a:prstGeom prst="rect">
            <a:avLst/>
          </a:prstGeom>
          <a:noFill/>
          <a:ln/>
        </p:spPr>
        <p:txBody>
          <a:bodyPr wrap="square" lIns="0" tIns="0" rIns="0" bIns="0" rtlCol="0" anchor="ctr"/>
          <a:lstStyle/>
          <a:p>
            <a:pPr>
              <a:lnSpc>
                <a:spcPct val="140000"/>
              </a:lnSpc>
            </a:pPr>
            <a:r>
              <a:rPr lang="en-US" sz="1500" b="1" dirty="0">
                <a:solidFill>
                  <a:srgbClr val="1C1917"/>
                </a:solidFill>
                <a:latin typeface="Quattrocento Sans" pitchFamily="34" charset="0"/>
                <a:ea typeface="Quattrocento Sans" pitchFamily="34" charset="-122"/>
                <a:cs typeface="Quattrocento Sans" pitchFamily="34" charset="-120"/>
              </a:rPr>
              <a:t>Descartes</a:t>
            </a:r>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 — Mind &amp; body</a:t>
            </a:r>
            <a:endParaRPr lang="en-US" sz="1600" dirty="0"/>
          </a:p>
        </p:txBody>
      </p:sp>
      <p:sp>
        <p:nvSpPr>
          <p:cNvPr id="23" name="Shape 21"/>
          <p:cNvSpPr/>
          <p:nvPr/>
        </p:nvSpPr>
        <p:spPr>
          <a:xfrm>
            <a:off x="8293100" y="6159500"/>
            <a:ext cx="3429000" cy="889000"/>
          </a:xfrm>
          <a:prstGeom prst="rect">
            <a:avLst/>
          </a:prstGeom>
          <a:solidFill>
            <a:srgbClr val="E0F2F1"/>
          </a:solidFill>
          <a:ln/>
        </p:spPr>
      </p:sp>
      <p:sp>
        <p:nvSpPr>
          <p:cNvPr id="24" name="Text 22"/>
          <p:cNvSpPr/>
          <p:nvPr/>
        </p:nvSpPr>
        <p:spPr>
          <a:xfrm>
            <a:off x="8483600" y="6223000"/>
            <a:ext cx="3048000" cy="762000"/>
          </a:xfrm>
          <a:prstGeom prst="rect">
            <a:avLst/>
          </a:prstGeom>
          <a:noFill/>
          <a:ln/>
        </p:spPr>
        <p:txBody>
          <a:bodyPr wrap="square" lIns="0" tIns="0" rIns="0" bIns="0" rtlCol="0" anchor="ctr"/>
          <a:lstStyle/>
          <a:p>
            <a:pPr>
              <a:lnSpc>
                <a:spcPct val="140000"/>
              </a:lnSpc>
            </a:pPr>
            <a:r>
              <a:rPr lang="en-US" sz="1500" b="1" dirty="0">
                <a:solidFill>
                  <a:srgbClr val="1C1917"/>
                </a:solidFill>
                <a:latin typeface="Quattrocento Sans" pitchFamily="34" charset="0"/>
                <a:ea typeface="Quattrocento Sans" pitchFamily="34" charset="-122"/>
                <a:cs typeface="Quattrocento Sans" pitchFamily="34" charset="-120"/>
              </a:rPr>
              <a:t>Hume</a:t>
            </a:r>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 — Empiricism</a:t>
            </a:r>
            <a:endParaRPr lang="en-US" sz="1600" dirty="0"/>
          </a:p>
        </p:txBody>
      </p:sp>
      <p:sp>
        <p:nvSpPr>
          <p:cNvPr id="25" name="Shape 23"/>
          <p:cNvSpPr/>
          <p:nvPr/>
        </p:nvSpPr>
        <p:spPr>
          <a:xfrm>
            <a:off x="12065000" y="6159500"/>
            <a:ext cx="3429000" cy="889000"/>
          </a:xfrm>
          <a:prstGeom prst="rect">
            <a:avLst/>
          </a:prstGeom>
          <a:solidFill>
            <a:srgbClr val="E0F2F1"/>
          </a:solidFill>
          <a:ln/>
        </p:spPr>
      </p:sp>
      <p:sp>
        <p:nvSpPr>
          <p:cNvPr id="26" name="Text 24"/>
          <p:cNvSpPr/>
          <p:nvPr/>
        </p:nvSpPr>
        <p:spPr>
          <a:xfrm>
            <a:off x="12255500" y="6223000"/>
            <a:ext cx="3048000" cy="762000"/>
          </a:xfrm>
          <a:prstGeom prst="rect">
            <a:avLst/>
          </a:prstGeom>
          <a:noFill/>
          <a:ln/>
        </p:spPr>
        <p:txBody>
          <a:bodyPr wrap="square" lIns="0" tIns="0" rIns="0" bIns="0" rtlCol="0" anchor="ctr"/>
          <a:lstStyle/>
          <a:p>
            <a:pPr>
              <a:lnSpc>
                <a:spcPct val="140000"/>
              </a:lnSpc>
            </a:pPr>
            <a:r>
              <a:rPr lang="en-US" sz="1500" b="1" dirty="0">
                <a:solidFill>
                  <a:srgbClr val="1C1917"/>
                </a:solidFill>
                <a:latin typeface="Quattrocento Sans" pitchFamily="34" charset="0"/>
                <a:ea typeface="Quattrocento Sans" pitchFamily="34" charset="-122"/>
                <a:cs typeface="Quattrocento Sans" pitchFamily="34" charset="-120"/>
              </a:rPr>
              <a:t>Kant</a:t>
            </a:r>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 — Synthesis of reason</a:t>
            </a:r>
            <a:endParaRPr lang="en-US" sz="1600" dirty="0"/>
          </a:p>
        </p:txBody>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Role of Mathematicians in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Mathematicians provided the formal tools that make AI possible — from logic to computation theory.</a:t>
            </a:r>
            <a:endParaRPr lang="en-US" sz="1800" dirty="0"/>
          </a:p>
        </p:txBody>
      </p:sp>
      <p:sp>
        <p:nvSpPr>
          <p:cNvPr id="6" name="Shape 4"/>
          <p:cNvSpPr/>
          <p:nvPr/>
        </p:nvSpPr>
        <p:spPr>
          <a:xfrm>
            <a:off x="1524000" y="2159000"/>
            <a:ext cx="0" cy="5461000"/>
          </a:xfrm>
          <a:prstGeom prst="straightConnector1">
            <a:avLst/>
          </a:prstGeom>
          <a:noFill/>
          <a:ln w="25400">
            <a:solidFill>
              <a:srgbClr val="0F4C5C"/>
            </a:solidFill>
            <a:prstDash val="solid"/>
            <a:headEnd type="none"/>
            <a:tailEnd type="none"/>
          </a:ln>
        </p:spPr>
      </p:sp>
      <p:sp>
        <p:nvSpPr>
          <p:cNvPr id="7" name="Shape 5"/>
          <p:cNvSpPr/>
          <p:nvPr/>
        </p:nvSpPr>
        <p:spPr>
          <a:xfrm>
            <a:off x="1422400" y="2222500"/>
            <a:ext cx="203200" cy="203200"/>
          </a:xfrm>
          <a:prstGeom prst="ellipse">
            <a:avLst/>
          </a:prstGeom>
          <a:solidFill>
            <a:srgbClr val="D97706"/>
          </a:solidFill>
          <a:ln/>
        </p:spPr>
      </p:sp>
      <p:sp>
        <p:nvSpPr>
          <p:cNvPr id="8" name="Shape 6"/>
          <p:cNvSpPr/>
          <p:nvPr/>
        </p:nvSpPr>
        <p:spPr>
          <a:xfrm>
            <a:off x="1905000" y="2032000"/>
            <a:ext cx="6350000" cy="952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9" name="Text 7"/>
          <p:cNvSpPr/>
          <p:nvPr/>
        </p:nvSpPr>
        <p:spPr>
          <a:xfrm>
            <a:off x="2095500" y="2095500"/>
            <a:ext cx="5969000" cy="825500"/>
          </a:xfrm>
          <a:prstGeom prst="rect">
            <a:avLst/>
          </a:prstGeom>
          <a:noFill/>
          <a:ln/>
        </p:spPr>
        <p:txBody>
          <a:bodyPr wrap="square" lIns="0" tIns="0" rIns="0" bIns="0" rtlCol="0" anchor="t"/>
          <a:lstStyle/>
          <a:p>
            <a:pP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George Boole (1847)</a:t>
            </a:r>
            <a:endParaRPr lang="en-US" sz="1600" dirty="0"/>
          </a:p>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Formalized binary logic and Boolean algebra</a:t>
            </a:r>
            <a:endParaRPr lang="en-US" sz="1600" dirty="0"/>
          </a:p>
        </p:txBody>
      </p:sp>
      <p:sp>
        <p:nvSpPr>
          <p:cNvPr id="10" name="Shape 8"/>
          <p:cNvSpPr/>
          <p:nvPr/>
        </p:nvSpPr>
        <p:spPr>
          <a:xfrm>
            <a:off x="1422400" y="3429000"/>
            <a:ext cx="203200" cy="203200"/>
          </a:xfrm>
          <a:prstGeom prst="ellipse">
            <a:avLst/>
          </a:prstGeom>
          <a:solidFill>
            <a:srgbClr val="D97706"/>
          </a:solidFill>
          <a:ln/>
        </p:spPr>
      </p:sp>
      <p:sp>
        <p:nvSpPr>
          <p:cNvPr id="11" name="Shape 9"/>
          <p:cNvSpPr/>
          <p:nvPr/>
        </p:nvSpPr>
        <p:spPr>
          <a:xfrm>
            <a:off x="1905000" y="3238500"/>
            <a:ext cx="6350000" cy="952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Text 10"/>
          <p:cNvSpPr/>
          <p:nvPr/>
        </p:nvSpPr>
        <p:spPr>
          <a:xfrm>
            <a:off x="2095500" y="3302000"/>
            <a:ext cx="5969000" cy="825500"/>
          </a:xfrm>
          <a:prstGeom prst="rect">
            <a:avLst/>
          </a:prstGeom>
          <a:noFill/>
          <a:ln/>
        </p:spPr>
        <p:txBody>
          <a:bodyPr wrap="square" lIns="0" tIns="0" rIns="0" bIns="0" rtlCol="0" anchor="t"/>
          <a:lstStyle/>
          <a:p>
            <a:pP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Gottlob Frege (1879)</a:t>
            </a:r>
            <a:endParaRPr lang="en-US" sz="1600" dirty="0"/>
          </a:p>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Created first-order predicate calculus</a:t>
            </a:r>
            <a:endParaRPr lang="en-US" sz="1600" dirty="0"/>
          </a:p>
        </p:txBody>
      </p:sp>
      <p:sp>
        <p:nvSpPr>
          <p:cNvPr id="13" name="Shape 11"/>
          <p:cNvSpPr/>
          <p:nvPr/>
        </p:nvSpPr>
        <p:spPr>
          <a:xfrm>
            <a:off x="1422400" y="4635500"/>
            <a:ext cx="203200" cy="203200"/>
          </a:xfrm>
          <a:prstGeom prst="ellipse">
            <a:avLst/>
          </a:prstGeom>
          <a:solidFill>
            <a:srgbClr val="D97706"/>
          </a:solidFill>
          <a:ln/>
        </p:spPr>
      </p:sp>
      <p:sp>
        <p:nvSpPr>
          <p:cNvPr id="14" name="Shape 12"/>
          <p:cNvSpPr/>
          <p:nvPr/>
        </p:nvSpPr>
        <p:spPr>
          <a:xfrm>
            <a:off x="1905000" y="4445000"/>
            <a:ext cx="6350000" cy="952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Text 13"/>
          <p:cNvSpPr/>
          <p:nvPr/>
        </p:nvSpPr>
        <p:spPr>
          <a:xfrm>
            <a:off x="2095500" y="4508500"/>
            <a:ext cx="5969000" cy="825500"/>
          </a:xfrm>
          <a:prstGeom prst="rect">
            <a:avLst/>
          </a:prstGeom>
          <a:noFill/>
          <a:ln/>
        </p:spPr>
        <p:txBody>
          <a:bodyPr wrap="square" lIns="0" tIns="0" rIns="0" bIns="0" rtlCol="0" anchor="t"/>
          <a:lstStyle/>
          <a:p>
            <a:pP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Whitehead &amp; Russell (1910)</a:t>
            </a:r>
            <a:endParaRPr lang="en-US" sz="1600" dirty="0"/>
          </a:p>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Formalized mathematical reasoning in Principia Mathematica</a:t>
            </a:r>
            <a:endParaRPr lang="en-US" sz="1600" dirty="0"/>
          </a:p>
        </p:txBody>
      </p:sp>
      <p:sp>
        <p:nvSpPr>
          <p:cNvPr id="16" name="Shape 14"/>
          <p:cNvSpPr/>
          <p:nvPr/>
        </p:nvSpPr>
        <p:spPr>
          <a:xfrm>
            <a:off x="1422400" y="5842000"/>
            <a:ext cx="203200" cy="203200"/>
          </a:xfrm>
          <a:prstGeom prst="ellipse">
            <a:avLst/>
          </a:prstGeom>
          <a:solidFill>
            <a:srgbClr val="D97706"/>
          </a:solidFill>
          <a:ln/>
        </p:spPr>
      </p:sp>
      <p:sp>
        <p:nvSpPr>
          <p:cNvPr id="17" name="Shape 15"/>
          <p:cNvSpPr/>
          <p:nvPr/>
        </p:nvSpPr>
        <p:spPr>
          <a:xfrm>
            <a:off x="1905000" y="5651500"/>
            <a:ext cx="6350000" cy="952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8" name="Text 16"/>
          <p:cNvSpPr/>
          <p:nvPr/>
        </p:nvSpPr>
        <p:spPr>
          <a:xfrm>
            <a:off x="2095500" y="5715000"/>
            <a:ext cx="5969000" cy="825500"/>
          </a:xfrm>
          <a:prstGeom prst="rect">
            <a:avLst/>
          </a:prstGeom>
          <a:noFill/>
          <a:ln/>
        </p:spPr>
        <p:txBody>
          <a:bodyPr wrap="square" lIns="0" tIns="0" rIns="0" bIns="0" rtlCol="0" anchor="t"/>
          <a:lstStyle/>
          <a:p>
            <a:pP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Alan Turing (1950)</a:t>
            </a:r>
            <a:endParaRPr lang="en-US" sz="1600" dirty="0"/>
          </a:p>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Turing Machine, computability, and the Imitation Game</a:t>
            </a:r>
            <a:endParaRPr lang="en-US" sz="1600" dirty="0"/>
          </a:p>
        </p:txBody>
      </p:sp>
      <p:sp>
        <p:nvSpPr>
          <p:cNvPr id="19" name="Shape 17"/>
          <p:cNvSpPr/>
          <p:nvPr/>
        </p:nvSpPr>
        <p:spPr>
          <a:xfrm>
            <a:off x="1422400" y="7048500"/>
            <a:ext cx="203200" cy="203200"/>
          </a:xfrm>
          <a:prstGeom prst="ellipse">
            <a:avLst/>
          </a:prstGeom>
          <a:solidFill>
            <a:srgbClr val="D97706"/>
          </a:solidFill>
          <a:ln/>
        </p:spPr>
      </p:sp>
      <p:sp>
        <p:nvSpPr>
          <p:cNvPr id="20" name="Shape 18"/>
          <p:cNvSpPr/>
          <p:nvPr/>
        </p:nvSpPr>
        <p:spPr>
          <a:xfrm>
            <a:off x="1905000" y="6858000"/>
            <a:ext cx="6350000" cy="952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1" name="Text 19"/>
          <p:cNvSpPr/>
          <p:nvPr/>
        </p:nvSpPr>
        <p:spPr>
          <a:xfrm>
            <a:off x="2095500" y="6921500"/>
            <a:ext cx="5969000" cy="825500"/>
          </a:xfrm>
          <a:prstGeom prst="rect">
            <a:avLst/>
          </a:prstGeom>
          <a:noFill/>
          <a:ln/>
        </p:spPr>
        <p:txBody>
          <a:bodyPr wrap="square" lIns="0" tIns="0" rIns="0" bIns="0" rtlCol="0" anchor="t"/>
          <a:lstStyle/>
          <a:p>
            <a:pP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John von Neumann &amp; Kurt Gödel</a:t>
            </a:r>
            <a:endParaRPr lang="en-US" sz="1600" dirty="0"/>
          </a:p>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Computer architecture and limits of formal systems</a:t>
            </a:r>
            <a:endParaRPr lang="en-US" sz="1600" dirty="0"/>
          </a:p>
        </p:txBody>
      </p:sp>
      <p:sp>
        <p:nvSpPr>
          <p:cNvPr id="22" name="Shape 20"/>
          <p:cNvSpPr/>
          <p:nvPr/>
        </p:nvSpPr>
        <p:spPr>
          <a:xfrm>
            <a:off x="8890000" y="2032000"/>
            <a:ext cx="6604000" cy="5842000"/>
          </a:xfrm>
          <a:prstGeom prst="rect">
            <a:avLst/>
          </a:prstGeom>
          <a:solidFill>
            <a:srgbClr val="0F4C5C"/>
          </a:solidFill>
          <a:ln/>
        </p:spPr>
      </p:sp>
      <p:sp>
        <p:nvSpPr>
          <p:cNvPr id="23" name="Text 21"/>
          <p:cNvSpPr/>
          <p:nvPr/>
        </p:nvSpPr>
        <p:spPr>
          <a:xfrm>
            <a:off x="9271000" y="2286000"/>
            <a:ext cx="5842000" cy="457200"/>
          </a:xfrm>
          <a:prstGeom prst="rect">
            <a:avLst/>
          </a:prstGeom>
          <a:noFill/>
          <a:ln/>
        </p:spPr>
        <p:txBody>
          <a:bodyPr wrap="none" lIns="0" tIns="0" rIns="0" bIns="0" rtlCol="0" anchor="ctr"/>
          <a:lstStyle/>
          <a:p>
            <a:pPr>
              <a:lnSpc>
                <a:spcPct val="100000"/>
              </a:lnSpc>
            </a:pPr>
            <a:r>
              <a:rPr lang="en-US" sz="2200" dirty="0">
                <a:solidFill>
                  <a:srgbClr val="FFFFFF"/>
                </a:solidFill>
                <a:latin typeface="Liter" pitchFamily="34" charset="0"/>
                <a:ea typeface="Liter" pitchFamily="34" charset="-122"/>
                <a:cs typeface="Liter" pitchFamily="34" charset="-120"/>
              </a:rPr>
              <a:t>Mathematical Contributions</a:t>
            </a:r>
            <a:endParaRPr lang="en-US" sz="1600" dirty="0"/>
          </a:p>
        </p:txBody>
      </p:sp>
      <p:sp>
        <p:nvSpPr>
          <p:cNvPr id="24" name="Shape 22"/>
          <p:cNvSpPr/>
          <p:nvPr/>
        </p:nvSpPr>
        <p:spPr>
          <a:xfrm>
            <a:off x="9271000" y="2857500"/>
            <a:ext cx="635000" cy="25400"/>
          </a:xfrm>
          <a:prstGeom prst="rect">
            <a:avLst/>
          </a:prstGeom>
          <a:solidFill>
            <a:srgbClr val="D97706"/>
          </a:solidFill>
          <a:ln/>
        </p:spPr>
      </p:sp>
      <p:sp>
        <p:nvSpPr>
          <p:cNvPr id="25" name="Text 23"/>
          <p:cNvSpPr/>
          <p:nvPr/>
        </p:nvSpPr>
        <p:spPr>
          <a:xfrm>
            <a:off x="9271000" y="3111500"/>
            <a:ext cx="5842000" cy="4445000"/>
          </a:xfrm>
          <a:prstGeom prst="rect">
            <a:avLst/>
          </a:prstGeom>
          <a:noFill/>
          <a:ln/>
        </p:spPr>
        <p:txBody>
          <a:bodyPr wrap="square" lIns="0" tIns="0" rIns="0" bIns="0" rtlCol="0" anchor="t"/>
          <a:lstStyle/>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Boolean algebra → Digital circuits &amp; logic programming</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Predicate calculus → Knowledge representation</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Computability theory → What problems AI can solve</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Probability theory → Bayesian networks &amp; ML</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Optimization → Training neural networks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Linear algebra → Deep learning foundations</a:t>
            </a:r>
            <a:endParaRPr lang="en-US" sz="1600" dirty="0"/>
          </a:p>
        </p:txBody>
      </p:sp>
      <p:sp>
        <p:nvSpPr>
          <p:cNvPr id="26" name="Text 24"/>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7" name="Text 25"/>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Role of Psychologists in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Psychologists contributed understanding of how humans think, learn, and solve problems — directly inspiring AI approaches.</a:t>
            </a:r>
            <a:endParaRPr lang="en-US" sz="1800" dirty="0"/>
          </a:p>
        </p:txBody>
      </p:sp>
      <p:sp>
        <p:nvSpPr>
          <p:cNvPr id="6" name="Shape 4"/>
          <p:cNvSpPr/>
          <p:nvPr/>
        </p:nvSpPr>
        <p:spPr>
          <a:xfrm>
            <a:off x="762000" y="1968500"/>
            <a:ext cx="4699000" cy="6223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7" name="Shape 5"/>
          <p:cNvSpPr/>
          <p:nvPr/>
        </p:nvSpPr>
        <p:spPr>
          <a:xfrm>
            <a:off x="1016000" y="2222500"/>
            <a:ext cx="457200" cy="457200"/>
          </a:xfrm>
          <a:custGeom>
            <a:avLst/>
            <a:gdLst/>
            <a:ahLst/>
            <a:cxnLst/>
            <a:rect l="l" t="t" r="r" b="b"/>
            <a:pathLst>
              <a:path w="457200" h="45720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0F4C5C"/>
          </a:solidFill>
          <a:ln/>
        </p:spPr>
      </p:sp>
      <p:sp>
        <p:nvSpPr>
          <p:cNvPr id="8" name="Text 6"/>
          <p:cNvSpPr/>
          <p:nvPr/>
        </p:nvSpPr>
        <p:spPr>
          <a:xfrm>
            <a:off x="1016000" y="2819400"/>
            <a:ext cx="4191000" cy="3810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Behaviorism</a:t>
            </a:r>
            <a:endParaRPr lang="en-US" sz="1600" dirty="0"/>
          </a:p>
        </p:txBody>
      </p:sp>
      <p:sp>
        <p:nvSpPr>
          <p:cNvPr id="9" name="Text 7"/>
          <p:cNvSpPr/>
          <p:nvPr/>
        </p:nvSpPr>
        <p:spPr>
          <a:xfrm>
            <a:off x="1016000" y="3302000"/>
            <a:ext cx="4191000" cy="20955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Skinner and Watson studied stimulus-response patterns, inspiring early AI systems based on input-output mappings.</a:t>
            </a:r>
            <a:endParaRPr lang="en-US" sz="1600" dirty="0"/>
          </a:p>
          <a:p>
            <a:pPr>
              <a:lnSpc>
                <a:spcPct val="150000"/>
              </a:lnSpc>
              <a:spcBef>
                <a:spcPts val="800"/>
              </a:spcBef>
            </a:pPr>
            <a:r>
              <a:rPr lang="en-US" sz="1400" b="1" dirty="0">
                <a:solidFill>
                  <a:srgbClr val="1C1917"/>
                </a:solidFill>
                <a:latin typeface="Quattrocento Sans" pitchFamily="34" charset="0"/>
                <a:ea typeface="Quattrocento Sans" pitchFamily="34" charset="-122"/>
                <a:cs typeface="Quattrocento Sans" pitchFamily="34" charset="-120"/>
              </a:rPr>
              <a:t>AI Impact:</a:t>
            </a:r>
            <a:pPr>
              <a:lnSpc>
                <a:spcPct val="150000"/>
              </a:lnSpc>
              <a:spcBef>
                <a:spcPts val="800"/>
              </a:spcBef>
            </a:pPr>
            <a:r>
              <a:rPr lang="en-US" sz="1400" dirty="0">
                <a:solidFill>
                  <a:srgbClr val="1C1917"/>
                </a:solidFill>
                <a:latin typeface="Quattrocento Sans" pitchFamily="34" charset="0"/>
                <a:ea typeface="Quattrocento Sans" pitchFamily="34" charset="-122"/>
                <a:cs typeface="Quattrocento Sans" pitchFamily="34" charset="-120"/>
              </a:rPr>
              <a:t> Reinforcement learning</a:t>
            </a:r>
            <a:endParaRPr lang="en-US" sz="1600" dirty="0"/>
          </a:p>
        </p:txBody>
      </p:sp>
      <p:sp>
        <p:nvSpPr>
          <p:cNvPr id="10" name="Shape 8"/>
          <p:cNvSpPr/>
          <p:nvPr/>
        </p:nvSpPr>
        <p:spPr>
          <a:xfrm>
            <a:off x="5778500" y="1968500"/>
            <a:ext cx="4699000" cy="6223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1" name="Shape 9"/>
          <p:cNvSpPr/>
          <p:nvPr/>
        </p:nvSpPr>
        <p:spPr>
          <a:xfrm>
            <a:off x="6089650" y="2222500"/>
            <a:ext cx="342900" cy="457200"/>
          </a:xfrm>
          <a:custGeom>
            <a:avLst/>
            <a:gdLst/>
            <a:ahLst/>
            <a:cxnLst/>
            <a:rect l="l" t="t" r="r" b="b"/>
            <a:pathLst>
              <a:path w="342900" h="457200">
                <a:moveTo>
                  <a:pt x="261551" y="342900"/>
                </a:moveTo>
                <a:cubicBezTo>
                  <a:pt x="268069" y="322987"/>
                  <a:pt x="281107" y="304949"/>
                  <a:pt x="295841" y="289411"/>
                </a:cubicBezTo>
                <a:cubicBezTo>
                  <a:pt x="325041" y="258693"/>
                  <a:pt x="342900" y="217170"/>
                  <a:pt x="342900" y="171450"/>
                </a:cubicBezTo>
                <a:cubicBezTo>
                  <a:pt x="342900" y="76795"/>
                  <a:pt x="266105" y="0"/>
                  <a:pt x="171450" y="0"/>
                </a:cubicBezTo>
                <a:cubicBezTo>
                  <a:pt x="76795" y="0"/>
                  <a:pt x="0" y="76795"/>
                  <a:pt x="0" y="171450"/>
                </a:cubicBezTo>
                <a:cubicBezTo>
                  <a:pt x="0" y="217170"/>
                  <a:pt x="17859" y="258693"/>
                  <a:pt x="47059" y="289411"/>
                </a:cubicBezTo>
                <a:cubicBezTo>
                  <a:pt x="61793" y="304949"/>
                  <a:pt x="74920" y="322987"/>
                  <a:pt x="81349" y="342900"/>
                </a:cubicBezTo>
                <a:lnTo>
                  <a:pt x="261461" y="342900"/>
                </a:lnTo>
                <a:close/>
                <a:moveTo>
                  <a:pt x="257175" y="385763"/>
                </a:moveTo>
                <a:lnTo>
                  <a:pt x="85725" y="385763"/>
                </a:lnTo>
                <a:lnTo>
                  <a:pt x="85725" y="400050"/>
                </a:lnTo>
                <a:cubicBezTo>
                  <a:pt x="85725" y="439519"/>
                  <a:pt x="117693" y="471488"/>
                  <a:pt x="157163" y="471488"/>
                </a:cubicBezTo>
                <a:lnTo>
                  <a:pt x="185738" y="471488"/>
                </a:lnTo>
                <a:cubicBezTo>
                  <a:pt x="225207" y="471488"/>
                  <a:pt x="257175" y="439519"/>
                  <a:pt x="257175" y="400050"/>
                </a:cubicBezTo>
                <a:lnTo>
                  <a:pt x="257175" y="385763"/>
                </a:lnTo>
                <a:close/>
                <a:moveTo>
                  <a:pt x="164306" y="100013"/>
                </a:moveTo>
                <a:cubicBezTo>
                  <a:pt x="128766" y="100013"/>
                  <a:pt x="100013" y="128766"/>
                  <a:pt x="100013" y="164306"/>
                </a:cubicBezTo>
                <a:cubicBezTo>
                  <a:pt x="100013" y="176183"/>
                  <a:pt x="90458" y="185738"/>
                  <a:pt x="78581" y="185738"/>
                </a:cubicBezTo>
                <a:cubicBezTo>
                  <a:pt x="66705" y="185738"/>
                  <a:pt x="57150" y="176183"/>
                  <a:pt x="57150" y="164306"/>
                </a:cubicBezTo>
                <a:cubicBezTo>
                  <a:pt x="57150" y="105102"/>
                  <a:pt x="105102" y="57150"/>
                  <a:pt x="164306" y="57150"/>
                </a:cubicBezTo>
                <a:cubicBezTo>
                  <a:pt x="176183" y="57150"/>
                  <a:pt x="185738" y="66705"/>
                  <a:pt x="185738" y="78581"/>
                </a:cubicBezTo>
                <a:cubicBezTo>
                  <a:pt x="185738" y="90458"/>
                  <a:pt x="176183" y="100013"/>
                  <a:pt x="164306" y="100013"/>
                </a:cubicBezTo>
                <a:close/>
              </a:path>
            </a:pathLst>
          </a:custGeom>
          <a:solidFill>
            <a:srgbClr val="0F4C5C"/>
          </a:solidFill>
          <a:ln/>
        </p:spPr>
      </p:sp>
      <p:sp>
        <p:nvSpPr>
          <p:cNvPr id="12" name="Text 10"/>
          <p:cNvSpPr/>
          <p:nvPr/>
        </p:nvSpPr>
        <p:spPr>
          <a:xfrm>
            <a:off x="6032500" y="2819400"/>
            <a:ext cx="4191000" cy="3810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Cognitive Psychology</a:t>
            </a:r>
            <a:endParaRPr lang="en-US" sz="1600" dirty="0"/>
          </a:p>
        </p:txBody>
      </p:sp>
      <p:sp>
        <p:nvSpPr>
          <p:cNvPr id="13" name="Text 11"/>
          <p:cNvSpPr/>
          <p:nvPr/>
        </p:nvSpPr>
        <p:spPr>
          <a:xfrm>
            <a:off x="6032500" y="3302000"/>
            <a:ext cx="4191000" cy="2286000"/>
          </a:xfrm>
          <a:prstGeom prst="rect">
            <a:avLst/>
          </a:prstGeom>
          <a:noFill/>
          <a:ln/>
        </p:spPr>
        <p:txBody>
          <a:bodyPr wrap="square" lIns="0" tIns="0" rIns="0" bIns="0" rtlCol="0" anchor="t"/>
          <a:lstStyle/>
          <a:p>
            <a:pPr>
              <a:lnSpc>
                <a:spcPct val="160000"/>
              </a:lnSpc>
            </a:pPr>
            <a:r>
              <a:rPr lang="en-US" sz="1500" dirty="0">
                <a:solidFill>
                  <a:srgbClr val="1C1917"/>
                </a:solidFill>
                <a:latin typeface="Quattrocento Sans" pitchFamily="34" charset="0"/>
                <a:ea typeface="Quattrocento Sans" pitchFamily="34" charset="-122"/>
                <a:cs typeface="Quattrocento Sans" pitchFamily="34" charset="-120"/>
              </a:rPr>
              <a:t>Bartlett and Piaget explored memory organization, schemas, and mental models — how humans structure and process information.</a:t>
            </a:r>
            <a:endParaRPr lang="en-US" sz="1600" dirty="0"/>
          </a:p>
          <a:p>
            <a:pPr>
              <a:lnSpc>
                <a:spcPct val="160000"/>
              </a:lnSpc>
              <a:spcBef>
                <a:spcPts val="1000"/>
              </a:spcBef>
            </a:pPr>
            <a:r>
              <a:rPr lang="en-US" sz="1500" b="1" dirty="0">
                <a:solidFill>
                  <a:srgbClr val="1C1917"/>
                </a:solidFill>
                <a:latin typeface="Quattrocento Sans" pitchFamily="34" charset="0"/>
                <a:ea typeface="Quattrocento Sans" pitchFamily="34" charset="-122"/>
                <a:cs typeface="Quattrocento Sans" pitchFamily="34" charset="-120"/>
              </a:rPr>
              <a:t>AI Impact:</a:t>
            </a:r>
            <a:pPr>
              <a:lnSpc>
                <a:spcPct val="160000"/>
              </a:lnSpc>
              <a:spcBef>
                <a:spcPts val="1000"/>
              </a:spcBef>
            </a:pPr>
            <a:r>
              <a:rPr lang="en-US" sz="1500" dirty="0">
                <a:solidFill>
                  <a:srgbClr val="1C1917"/>
                </a:solidFill>
                <a:latin typeface="Quattrocento Sans" pitchFamily="34" charset="0"/>
                <a:ea typeface="Quattrocento Sans" pitchFamily="34" charset="-122"/>
                <a:cs typeface="Quattrocento Sans" pitchFamily="34" charset="-120"/>
              </a:rPr>
              <a:t> Semantic networks, knowledge graphs</a:t>
            </a:r>
            <a:endParaRPr lang="en-US" sz="1600" dirty="0"/>
          </a:p>
        </p:txBody>
      </p:sp>
      <p:sp>
        <p:nvSpPr>
          <p:cNvPr id="14" name="Shape 12"/>
          <p:cNvSpPr/>
          <p:nvPr/>
        </p:nvSpPr>
        <p:spPr>
          <a:xfrm>
            <a:off x="10795000" y="1968500"/>
            <a:ext cx="4699000" cy="6223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Shape 13"/>
          <p:cNvSpPr/>
          <p:nvPr/>
        </p:nvSpPr>
        <p:spPr>
          <a:xfrm>
            <a:off x="11020425" y="2222500"/>
            <a:ext cx="514350" cy="457200"/>
          </a:xfrm>
          <a:custGeom>
            <a:avLst/>
            <a:gdLst/>
            <a:ahLst/>
            <a:cxnLst/>
            <a:rect l="l" t="t" r="r" b="b"/>
            <a:pathLst>
              <a:path w="514350" h="457200">
                <a:moveTo>
                  <a:pt x="221456" y="78581"/>
                </a:moveTo>
                <a:lnTo>
                  <a:pt x="292894" y="78581"/>
                </a:lnTo>
                <a:lnTo>
                  <a:pt x="292894" y="121444"/>
                </a:lnTo>
                <a:lnTo>
                  <a:pt x="221456" y="121444"/>
                </a:lnTo>
                <a:lnTo>
                  <a:pt x="221456" y="78581"/>
                </a:lnTo>
                <a:close/>
                <a:moveTo>
                  <a:pt x="214313" y="28575"/>
                </a:moveTo>
                <a:cubicBezTo>
                  <a:pt x="190649" y="28575"/>
                  <a:pt x="171450" y="47774"/>
                  <a:pt x="171450" y="71438"/>
                </a:cubicBezTo>
                <a:lnTo>
                  <a:pt x="171450" y="128588"/>
                </a:lnTo>
                <a:cubicBezTo>
                  <a:pt x="171450" y="152251"/>
                  <a:pt x="190649" y="171450"/>
                  <a:pt x="214313" y="171450"/>
                </a:cubicBezTo>
                <a:lnTo>
                  <a:pt x="228600" y="171450"/>
                </a:lnTo>
                <a:lnTo>
                  <a:pt x="228600" y="200025"/>
                </a:lnTo>
                <a:lnTo>
                  <a:pt x="28575" y="200025"/>
                </a:lnTo>
                <a:cubicBezTo>
                  <a:pt x="12769" y="200025"/>
                  <a:pt x="0" y="212794"/>
                  <a:pt x="0" y="228600"/>
                </a:cubicBezTo>
                <a:cubicBezTo>
                  <a:pt x="0" y="244406"/>
                  <a:pt x="12769" y="257175"/>
                  <a:pt x="28575" y="257175"/>
                </a:cubicBezTo>
                <a:lnTo>
                  <a:pt x="114300" y="257175"/>
                </a:lnTo>
                <a:lnTo>
                  <a:pt x="114300" y="285750"/>
                </a:lnTo>
                <a:lnTo>
                  <a:pt x="100013" y="285750"/>
                </a:lnTo>
                <a:cubicBezTo>
                  <a:pt x="76349" y="285750"/>
                  <a:pt x="57150" y="304949"/>
                  <a:pt x="57150" y="328613"/>
                </a:cubicBezTo>
                <a:lnTo>
                  <a:pt x="57150" y="385763"/>
                </a:lnTo>
                <a:cubicBezTo>
                  <a:pt x="57150" y="409426"/>
                  <a:pt x="76349" y="428625"/>
                  <a:pt x="100013" y="428625"/>
                </a:cubicBezTo>
                <a:lnTo>
                  <a:pt x="185738" y="428625"/>
                </a:lnTo>
                <a:cubicBezTo>
                  <a:pt x="209401" y="428625"/>
                  <a:pt x="228600" y="409426"/>
                  <a:pt x="228600" y="385763"/>
                </a:cubicBezTo>
                <a:lnTo>
                  <a:pt x="228600" y="328613"/>
                </a:lnTo>
                <a:cubicBezTo>
                  <a:pt x="228600" y="304949"/>
                  <a:pt x="209401" y="285750"/>
                  <a:pt x="185738" y="285750"/>
                </a:cubicBezTo>
                <a:lnTo>
                  <a:pt x="171450" y="285750"/>
                </a:lnTo>
                <a:lnTo>
                  <a:pt x="171450" y="257175"/>
                </a:lnTo>
                <a:lnTo>
                  <a:pt x="342900" y="257175"/>
                </a:lnTo>
                <a:lnTo>
                  <a:pt x="342900" y="285750"/>
                </a:lnTo>
                <a:lnTo>
                  <a:pt x="328613" y="285750"/>
                </a:lnTo>
                <a:cubicBezTo>
                  <a:pt x="304949" y="285750"/>
                  <a:pt x="285750" y="304949"/>
                  <a:pt x="285750" y="328613"/>
                </a:cubicBezTo>
                <a:lnTo>
                  <a:pt x="285750" y="385763"/>
                </a:lnTo>
                <a:cubicBezTo>
                  <a:pt x="285750" y="409426"/>
                  <a:pt x="304949" y="428625"/>
                  <a:pt x="328613" y="428625"/>
                </a:cubicBezTo>
                <a:lnTo>
                  <a:pt x="414338" y="428625"/>
                </a:lnTo>
                <a:cubicBezTo>
                  <a:pt x="438001" y="428625"/>
                  <a:pt x="457200" y="409426"/>
                  <a:pt x="457200" y="385763"/>
                </a:cubicBezTo>
                <a:lnTo>
                  <a:pt x="457200" y="328613"/>
                </a:lnTo>
                <a:cubicBezTo>
                  <a:pt x="457200" y="304949"/>
                  <a:pt x="438001" y="285750"/>
                  <a:pt x="414338" y="285750"/>
                </a:cubicBezTo>
                <a:lnTo>
                  <a:pt x="400050" y="285750"/>
                </a:lnTo>
                <a:lnTo>
                  <a:pt x="400050" y="257175"/>
                </a:lnTo>
                <a:lnTo>
                  <a:pt x="485775" y="257175"/>
                </a:lnTo>
                <a:cubicBezTo>
                  <a:pt x="501581" y="257175"/>
                  <a:pt x="514350" y="244406"/>
                  <a:pt x="514350" y="228600"/>
                </a:cubicBezTo>
                <a:cubicBezTo>
                  <a:pt x="514350" y="212794"/>
                  <a:pt x="501581" y="200025"/>
                  <a:pt x="485775" y="200025"/>
                </a:cubicBezTo>
                <a:lnTo>
                  <a:pt x="285750" y="200025"/>
                </a:lnTo>
                <a:lnTo>
                  <a:pt x="285750" y="171450"/>
                </a:lnTo>
                <a:lnTo>
                  <a:pt x="300038" y="171450"/>
                </a:lnTo>
                <a:cubicBezTo>
                  <a:pt x="323701" y="171450"/>
                  <a:pt x="342900" y="152251"/>
                  <a:pt x="342900" y="128588"/>
                </a:cubicBezTo>
                <a:lnTo>
                  <a:pt x="342900" y="71438"/>
                </a:lnTo>
                <a:cubicBezTo>
                  <a:pt x="342900" y="47774"/>
                  <a:pt x="323701" y="28575"/>
                  <a:pt x="300038" y="28575"/>
                </a:cubicBezTo>
                <a:lnTo>
                  <a:pt x="214313" y="28575"/>
                </a:lnTo>
                <a:close/>
                <a:moveTo>
                  <a:pt x="400050" y="335756"/>
                </a:moveTo>
                <a:lnTo>
                  <a:pt x="407194" y="335756"/>
                </a:lnTo>
                <a:lnTo>
                  <a:pt x="407194" y="378619"/>
                </a:lnTo>
                <a:lnTo>
                  <a:pt x="335756" y="378619"/>
                </a:lnTo>
                <a:lnTo>
                  <a:pt x="335756" y="335756"/>
                </a:lnTo>
                <a:lnTo>
                  <a:pt x="400050" y="335756"/>
                </a:lnTo>
                <a:close/>
                <a:moveTo>
                  <a:pt x="171450" y="335756"/>
                </a:moveTo>
                <a:lnTo>
                  <a:pt x="178594" y="335756"/>
                </a:lnTo>
                <a:lnTo>
                  <a:pt x="178594" y="378619"/>
                </a:lnTo>
                <a:lnTo>
                  <a:pt x="107156" y="378619"/>
                </a:lnTo>
                <a:lnTo>
                  <a:pt x="107156" y="335756"/>
                </a:lnTo>
                <a:lnTo>
                  <a:pt x="171450" y="335756"/>
                </a:lnTo>
                <a:close/>
              </a:path>
            </a:pathLst>
          </a:custGeom>
          <a:solidFill>
            <a:srgbClr val="0F4C5C"/>
          </a:solidFill>
          <a:ln/>
        </p:spPr>
      </p:sp>
      <p:sp>
        <p:nvSpPr>
          <p:cNvPr id="16" name="Text 14"/>
          <p:cNvSpPr/>
          <p:nvPr/>
        </p:nvSpPr>
        <p:spPr>
          <a:xfrm>
            <a:off x="11049000" y="2819400"/>
            <a:ext cx="4191000" cy="3810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Information Processing</a:t>
            </a:r>
            <a:endParaRPr lang="en-US" sz="1600" dirty="0"/>
          </a:p>
        </p:txBody>
      </p:sp>
      <p:sp>
        <p:nvSpPr>
          <p:cNvPr id="17" name="Text 15"/>
          <p:cNvSpPr/>
          <p:nvPr/>
        </p:nvSpPr>
        <p:spPr>
          <a:xfrm>
            <a:off x="11049000" y="3302000"/>
            <a:ext cx="4191000" cy="2286000"/>
          </a:xfrm>
          <a:prstGeom prst="rect">
            <a:avLst/>
          </a:prstGeom>
          <a:noFill/>
          <a:ln/>
        </p:spPr>
        <p:txBody>
          <a:bodyPr wrap="square" lIns="0" tIns="0" rIns="0" bIns="0" rtlCol="0" anchor="t"/>
          <a:lstStyle/>
          <a:p>
            <a:pPr>
              <a:lnSpc>
                <a:spcPct val="160000"/>
              </a:lnSpc>
            </a:pPr>
            <a:r>
              <a:rPr lang="en-US" sz="1500" dirty="0">
                <a:solidFill>
                  <a:srgbClr val="1C1917"/>
                </a:solidFill>
                <a:latin typeface="Quattrocento Sans" pitchFamily="34" charset="0"/>
                <a:ea typeface="Quattrocento Sans" pitchFamily="34" charset="-122"/>
                <a:cs typeface="Quattrocento Sans" pitchFamily="34" charset="-120"/>
              </a:rPr>
              <a:t>The human mind as an information-processing system. Associationism explains how repeated experiences create knowledge structures.</a:t>
            </a:r>
            <a:endParaRPr lang="en-US" sz="1600" dirty="0"/>
          </a:p>
          <a:p>
            <a:pPr>
              <a:lnSpc>
                <a:spcPct val="160000"/>
              </a:lnSpc>
              <a:spcBef>
                <a:spcPts val="1000"/>
              </a:spcBef>
            </a:pPr>
            <a:r>
              <a:rPr lang="en-US" sz="1500" b="1" dirty="0">
                <a:solidFill>
                  <a:srgbClr val="1C1917"/>
                </a:solidFill>
                <a:latin typeface="Quattrocento Sans" pitchFamily="34" charset="0"/>
                <a:ea typeface="Quattrocento Sans" pitchFamily="34" charset="-122"/>
                <a:cs typeface="Quattrocento Sans" pitchFamily="34" charset="-120"/>
              </a:rPr>
              <a:t>AI Impact:</a:t>
            </a:r>
            <a:pPr>
              <a:lnSpc>
                <a:spcPct val="160000"/>
              </a:lnSpc>
              <a:spcBef>
                <a:spcPts val="1000"/>
              </a:spcBef>
            </a:pPr>
            <a:r>
              <a:rPr lang="en-US" sz="1500" dirty="0">
                <a:solidFill>
                  <a:srgbClr val="1C1917"/>
                </a:solidFill>
                <a:latin typeface="Quattrocento Sans" pitchFamily="34" charset="0"/>
                <a:ea typeface="Quattrocento Sans" pitchFamily="34" charset="-122"/>
                <a:cs typeface="Quattrocento Sans" pitchFamily="34" charset="-120"/>
              </a:rPr>
              <a:t> Neural networks, machine learning</a:t>
            </a:r>
            <a:endParaRPr lang="en-US" sz="1600" dirty="0"/>
          </a:p>
        </p:txBody>
      </p:sp>
      <p:sp>
        <p:nvSpPr>
          <p:cNvPr id="18" name="Text 16"/>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19" name="Text 17"/>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Role of Computer Engineers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Computer Engineers transformed theoretical AI concepts into working systems through hardware and software innovations.</a:t>
            </a:r>
            <a:endParaRPr lang="en-US" sz="1800" dirty="0"/>
          </a:p>
        </p:txBody>
      </p:sp>
      <p:sp>
        <p:nvSpPr>
          <p:cNvPr id="6" name="Shape 4"/>
          <p:cNvSpPr/>
          <p:nvPr/>
        </p:nvSpPr>
        <p:spPr>
          <a:xfrm>
            <a:off x="762000" y="19685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7" name="Shape 5"/>
          <p:cNvSpPr/>
          <p:nvPr/>
        </p:nvSpPr>
        <p:spPr>
          <a:xfrm>
            <a:off x="1016000" y="23495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D97706"/>
          </a:solidFill>
          <a:ln/>
        </p:spPr>
      </p:sp>
      <p:sp>
        <p:nvSpPr>
          <p:cNvPr id="8" name="Text 6"/>
          <p:cNvSpPr/>
          <p:nvPr/>
        </p:nvSpPr>
        <p:spPr>
          <a:xfrm>
            <a:off x="1587500" y="2159000"/>
            <a:ext cx="60325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Hardware Advances</a:t>
            </a:r>
            <a:endParaRPr lang="en-US" sz="1600" dirty="0"/>
          </a:p>
        </p:txBody>
      </p:sp>
      <p:sp>
        <p:nvSpPr>
          <p:cNvPr id="9" name="Text 7"/>
          <p:cNvSpPr/>
          <p:nvPr/>
        </p:nvSpPr>
        <p:spPr>
          <a:xfrm>
            <a:off x="1587500" y="2540000"/>
            <a:ext cx="6032500" cy="762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From vacuum tubes to GPUs and TPUs enabling massive parallel computation for deep learning.</a:t>
            </a:r>
            <a:endParaRPr lang="en-US" sz="1600" dirty="0"/>
          </a:p>
        </p:txBody>
      </p:sp>
      <p:sp>
        <p:nvSpPr>
          <p:cNvPr id="10" name="Shape 8"/>
          <p:cNvSpPr/>
          <p:nvPr/>
        </p:nvSpPr>
        <p:spPr>
          <a:xfrm>
            <a:off x="8382000" y="19685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1" name="Shape 9"/>
          <p:cNvSpPr/>
          <p:nvPr/>
        </p:nvSpPr>
        <p:spPr>
          <a:xfrm>
            <a:off x="8610600" y="2349500"/>
            <a:ext cx="457200" cy="406400"/>
          </a:xfrm>
          <a:custGeom>
            <a:avLst/>
            <a:gdLst/>
            <a:ahLst/>
            <a:cxnLst/>
            <a:rect l="l" t="t" r="r" b="b"/>
            <a:pathLst>
              <a:path w="457200" h="406400">
                <a:moveTo>
                  <a:pt x="286385" y="953"/>
                </a:moveTo>
                <a:cubicBezTo>
                  <a:pt x="272891" y="-2937"/>
                  <a:pt x="258842" y="4921"/>
                  <a:pt x="254953" y="18415"/>
                </a:cubicBezTo>
                <a:lnTo>
                  <a:pt x="153353" y="374015"/>
                </a:lnTo>
                <a:cubicBezTo>
                  <a:pt x="149463" y="387509"/>
                  <a:pt x="157321" y="401558"/>
                  <a:pt x="170815" y="405448"/>
                </a:cubicBezTo>
                <a:cubicBezTo>
                  <a:pt x="184309" y="409337"/>
                  <a:pt x="198358" y="401479"/>
                  <a:pt x="202248" y="387985"/>
                </a:cubicBezTo>
                <a:lnTo>
                  <a:pt x="303848" y="32385"/>
                </a:lnTo>
                <a:cubicBezTo>
                  <a:pt x="307737" y="18891"/>
                  <a:pt x="299879" y="4842"/>
                  <a:pt x="286385" y="953"/>
                </a:cubicBezTo>
                <a:close/>
                <a:moveTo>
                  <a:pt x="337661" y="108982"/>
                </a:moveTo>
                <a:cubicBezTo>
                  <a:pt x="327739" y="118904"/>
                  <a:pt x="327739" y="135017"/>
                  <a:pt x="337661" y="144939"/>
                </a:cubicBezTo>
                <a:lnTo>
                  <a:pt x="395922" y="203200"/>
                </a:lnTo>
                <a:lnTo>
                  <a:pt x="337661" y="261461"/>
                </a:lnTo>
                <a:cubicBezTo>
                  <a:pt x="327739" y="271383"/>
                  <a:pt x="327739" y="287496"/>
                  <a:pt x="337661" y="297418"/>
                </a:cubicBezTo>
                <a:cubicBezTo>
                  <a:pt x="347583" y="307340"/>
                  <a:pt x="363696" y="307340"/>
                  <a:pt x="373618" y="297418"/>
                </a:cubicBezTo>
                <a:lnTo>
                  <a:pt x="449818" y="221218"/>
                </a:lnTo>
                <a:cubicBezTo>
                  <a:pt x="459740" y="211296"/>
                  <a:pt x="459740" y="195183"/>
                  <a:pt x="449818" y="185261"/>
                </a:cubicBezTo>
                <a:lnTo>
                  <a:pt x="373618" y="109061"/>
                </a:lnTo>
                <a:cubicBezTo>
                  <a:pt x="363696" y="99139"/>
                  <a:pt x="347583" y="99139"/>
                  <a:pt x="337661" y="109061"/>
                </a:cubicBezTo>
                <a:close/>
                <a:moveTo>
                  <a:pt x="119618" y="108982"/>
                </a:moveTo>
                <a:cubicBezTo>
                  <a:pt x="109696" y="99060"/>
                  <a:pt x="93583" y="99060"/>
                  <a:pt x="83661" y="108982"/>
                </a:cubicBezTo>
                <a:lnTo>
                  <a:pt x="7461" y="185182"/>
                </a:lnTo>
                <a:cubicBezTo>
                  <a:pt x="-2461" y="195104"/>
                  <a:pt x="-2461" y="211217"/>
                  <a:pt x="7461" y="221139"/>
                </a:cubicBezTo>
                <a:lnTo>
                  <a:pt x="83661" y="297339"/>
                </a:lnTo>
                <a:cubicBezTo>
                  <a:pt x="93583" y="307261"/>
                  <a:pt x="109696" y="307261"/>
                  <a:pt x="119618" y="297339"/>
                </a:cubicBezTo>
                <a:cubicBezTo>
                  <a:pt x="129540" y="287417"/>
                  <a:pt x="129540" y="271304"/>
                  <a:pt x="119618" y="261382"/>
                </a:cubicBezTo>
                <a:lnTo>
                  <a:pt x="61357" y="203200"/>
                </a:lnTo>
                <a:lnTo>
                  <a:pt x="119539" y="144939"/>
                </a:lnTo>
                <a:cubicBezTo>
                  <a:pt x="129461" y="135017"/>
                  <a:pt x="129461" y="118904"/>
                  <a:pt x="119539" y="108982"/>
                </a:cubicBezTo>
                <a:close/>
              </a:path>
            </a:pathLst>
          </a:custGeom>
          <a:solidFill>
            <a:srgbClr val="D97706"/>
          </a:solidFill>
          <a:ln/>
        </p:spPr>
      </p:sp>
      <p:sp>
        <p:nvSpPr>
          <p:cNvPr id="12" name="Text 10"/>
          <p:cNvSpPr/>
          <p:nvPr/>
        </p:nvSpPr>
        <p:spPr>
          <a:xfrm>
            <a:off x="9207500" y="2159000"/>
            <a:ext cx="60325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Software Engineering</a:t>
            </a:r>
            <a:endParaRPr lang="en-US" sz="1600" dirty="0"/>
          </a:p>
        </p:txBody>
      </p:sp>
      <p:sp>
        <p:nvSpPr>
          <p:cNvPr id="13" name="Text 11"/>
          <p:cNvSpPr/>
          <p:nvPr/>
        </p:nvSpPr>
        <p:spPr>
          <a:xfrm>
            <a:off x="9207500" y="2540000"/>
            <a:ext cx="6032500" cy="762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Operating systems, programming languages, and development frameworks that host AI applications.</a:t>
            </a:r>
            <a:endParaRPr lang="en-US" sz="1600" dirty="0"/>
          </a:p>
        </p:txBody>
      </p:sp>
      <p:sp>
        <p:nvSpPr>
          <p:cNvPr id="14" name="Shape 12"/>
          <p:cNvSpPr/>
          <p:nvPr/>
        </p:nvSpPr>
        <p:spPr>
          <a:xfrm>
            <a:off x="762000" y="37465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Shape 13"/>
          <p:cNvSpPr/>
          <p:nvPr/>
        </p:nvSpPr>
        <p:spPr>
          <a:xfrm>
            <a:off x="1016000" y="4127500"/>
            <a:ext cx="406400" cy="406400"/>
          </a:xfrm>
          <a:custGeom>
            <a:avLst/>
            <a:gdLst/>
            <a:ahLst/>
            <a:cxnLst/>
            <a:rect l="l" t="t" r="r" b="b"/>
            <a:pathLst>
              <a:path w="406400" h="406400">
                <a:moveTo>
                  <a:pt x="381079" y="152400"/>
                </a:moveTo>
                <a:lnTo>
                  <a:pt x="387350" y="152400"/>
                </a:lnTo>
                <a:cubicBezTo>
                  <a:pt x="397907" y="152400"/>
                  <a:pt x="406400" y="143907"/>
                  <a:pt x="406400" y="133350"/>
                </a:cubicBezTo>
                <a:lnTo>
                  <a:pt x="406400" y="19050"/>
                </a:lnTo>
                <a:cubicBezTo>
                  <a:pt x="406400" y="11351"/>
                  <a:pt x="401796" y="4366"/>
                  <a:pt x="394652" y="1429"/>
                </a:cubicBezTo>
                <a:cubicBezTo>
                  <a:pt x="387509" y="-1508"/>
                  <a:pt x="379333" y="159"/>
                  <a:pt x="373856" y="5556"/>
                </a:cubicBezTo>
                <a:lnTo>
                  <a:pt x="332819" y="46673"/>
                </a:lnTo>
                <a:cubicBezTo>
                  <a:pt x="297656" y="17542"/>
                  <a:pt x="252413" y="0"/>
                  <a:pt x="203200" y="0"/>
                </a:cubicBezTo>
                <a:cubicBezTo>
                  <a:pt x="100806" y="0"/>
                  <a:pt x="16113" y="75724"/>
                  <a:pt x="2064" y="174228"/>
                </a:cubicBezTo>
                <a:cubicBezTo>
                  <a:pt x="79" y="188119"/>
                  <a:pt x="9684" y="200978"/>
                  <a:pt x="23574" y="202962"/>
                </a:cubicBezTo>
                <a:cubicBezTo>
                  <a:pt x="37465" y="204946"/>
                  <a:pt x="50324" y="195263"/>
                  <a:pt x="52308" y="181451"/>
                </a:cubicBezTo>
                <a:cubicBezTo>
                  <a:pt x="62865" y="107553"/>
                  <a:pt x="126444" y="50800"/>
                  <a:pt x="203200" y="50800"/>
                </a:cubicBezTo>
                <a:cubicBezTo>
                  <a:pt x="238442" y="50800"/>
                  <a:pt x="270828" y="62706"/>
                  <a:pt x="296624" y="82788"/>
                </a:cubicBezTo>
                <a:lnTo>
                  <a:pt x="259556" y="119856"/>
                </a:lnTo>
                <a:cubicBezTo>
                  <a:pt x="254079" y="125333"/>
                  <a:pt x="252492" y="133509"/>
                  <a:pt x="255429" y="140652"/>
                </a:cubicBezTo>
                <a:cubicBezTo>
                  <a:pt x="258366" y="147796"/>
                  <a:pt x="265351" y="152400"/>
                  <a:pt x="273050" y="152400"/>
                </a:cubicBezTo>
                <a:lnTo>
                  <a:pt x="381079" y="152400"/>
                </a:lnTo>
                <a:close/>
                <a:moveTo>
                  <a:pt x="404416" y="232172"/>
                </a:moveTo>
                <a:cubicBezTo>
                  <a:pt x="406400" y="218281"/>
                  <a:pt x="396716" y="205423"/>
                  <a:pt x="382905" y="203438"/>
                </a:cubicBezTo>
                <a:cubicBezTo>
                  <a:pt x="369094" y="201454"/>
                  <a:pt x="356156" y="211138"/>
                  <a:pt x="354171" y="224949"/>
                </a:cubicBezTo>
                <a:cubicBezTo>
                  <a:pt x="343614" y="298768"/>
                  <a:pt x="280035" y="355521"/>
                  <a:pt x="203279" y="355521"/>
                </a:cubicBezTo>
                <a:cubicBezTo>
                  <a:pt x="168037" y="355521"/>
                  <a:pt x="135652" y="343614"/>
                  <a:pt x="109855" y="323533"/>
                </a:cubicBezTo>
                <a:lnTo>
                  <a:pt x="146844" y="286544"/>
                </a:lnTo>
                <a:cubicBezTo>
                  <a:pt x="152321" y="281067"/>
                  <a:pt x="153908" y="272891"/>
                  <a:pt x="150971" y="265748"/>
                </a:cubicBezTo>
                <a:cubicBezTo>
                  <a:pt x="148034" y="258604"/>
                  <a:pt x="141049" y="254000"/>
                  <a:pt x="133350" y="254000"/>
                </a:cubicBezTo>
                <a:lnTo>
                  <a:pt x="19050" y="254000"/>
                </a:lnTo>
                <a:cubicBezTo>
                  <a:pt x="8493" y="254000"/>
                  <a:pt x="0" y="262493"/>
                  <a:pt x="0" y="273050"/>
                </a:cubicBezTo>
                <a:lnTo>
                  <a:pt x="0" y="387350"/>
                </a:lnTo>
                <a:cubicBezTo>
                  <a:pt x="0" y="395049"/>
                  <a:pt x="4604" y="402034"/>
                  <a:pt x="11748" y="404971"/>
                </a:cubicBezTo>
                <a:cubicBezTo>
                  <a:pt x="18891" y="407908"/>
                  <a:pt x="27067" y="406241"/>
                  <a:pt x="32544" y="400844"/>
                </a:cubicBezTo>
                <a:lnTo>
                  <a:pt x="73660" y="359728"/>
                </a:lnTo>
                <a:cubicBezTo>
                  <a:pt x="108744" y="388858"/>
                  <a:pt x="153988" y="406400"/>
                  <a:pt x="203200" y="406400"/>
                </a:cubicBezTo>
                <a:cubicBezTo>
                  <a:pt x="305594" y="406400"/>
                  <a:pt x="390287" y="330676"/>
                  <a:pt x="404336" y="232172"/>
                </a:cubicBezTo>
                <a:close/>
              </a:path>
            </a:pathLst>
          </a:custGeom>
          <a:solidFill>
            <a:srgbClr val="D97706"/>
          </a:solidFill>
          <a:ln/>
        </p:spPr>
      </p:sp>
      <p:sp>
        <p:nvSpPr>
          <p:cNvPr id="16" name="Text 14"/>
          <p:cNvSpPr/>
          <p:nvPr/>
        </p:nvSpPr>
        <p:spPr>
          <a:xfrm>
            <a:off x="1587500" y="3937000"/>
            <a:ext cx="60325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Cybernetics &amp; Control Theory</a:t>
            </a:r>
            <a:endParaRPr lang="en-US" sz="1600" dirty="0"/>
          </a:p>
        </p:txBody>
      </p:sp>
      <p:sp>
        <p:nvSpPr>
          <p:cNvPr id="17" name="Text 15"/>
          <p:cNvSpPr/>
          <p:nvPr/>
        </p:nvSpPr>
        <p:spPr>
          <a:xfrm>
            <a:off x="1587500" y="4318000"/>
            <a:ext cx="6032500" cy="762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Norbert Wiener's feedback loops and self-regulating systems — foundational for autonomous agents.</a:t>
            </a:r>
            <a:endParaRPr lang="en-US" sz="1600" dirty="0"/>
          </a:p>
        </p:txBody>
      </p:sp>
      <p:sp>
        <p:nvSpPr>
          <p:cNvPr id="18" name="Shape 16"/>
          <p:cNvSpPr/>
          <p:nvPr/>
        </p:nvSpPr>
        <p:spPr>
          <a:xfrm>
            <a:off x="8382000" y="37465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9" name="Shape 17"/>
          <p:cNvSpPr/>
          <p:nvPr/>
        </p:nvSpPr>
        <p:spPr>
          <a:xfrm>
            <a:off x="8636000" y="4127500"/>
            <a:ext cx="406400" cy="406400"/>
          </a:xfrm>
          <a:custGeom>
            <a:avLst/>
            <a:gdLst/>
            <a:ahLst/>
            <a:cxnLst/>
            <a:rect l="l" t="t" r="r" b="b"/>
            <a:pathLst>
              <a:path w="406400" h="406400">
                <a:moveTo>
                  <a:pt x="0" y="63500"/>
                </a:moveTo>
                <a:cubicBezTo>
                  <a:pt x="0" y="42466"/>
                  <a:pt x="17066" y="25400"/>
                  <a:pt x="38100" y="25400"/>
                </a:cubicBezTo>
                <a:lnTo>
                  <a:pt x="114300" y="25400"/>
                </a:lnTo>
                <a:cubicBezTo>
                  <a:pt x="135334" y="25400"/>
                  <a:pt x="152400" y="42466"/>
                  <a:pt x="152400" y="63500"/>
                </a:cubicBezTo>
                <a:lnTo>
                  <a:pt x="152400" y="76200"/>
                </a:lnTo>
                <a:lnTo>
                  <a:pt x="254000" y="76200"/>
                </a:lnTo>
                <a:lnTo>
                  <a:pt x="254000" y="63500"/>
                </a:lnTo>
                <a:cubicBezTo>
                  <a:pt x="254000" y="42466"/>
                  <a:pt x="271066" y="25400"/>
                  <a:pt x="292100" y="25400"/>
                </a:cubicBezTo>
                <a:lnTo>
                  <a:pt x="368300" y="25400"/>
                </a:lnTo>
                <a:cubicBezTo>
                  <a:pt x="389334" y="25400"/>
                  <a:pt x="406400" y="42466"/>
                  <a:pt x="406400" y="63500"/>
                </a:cubicBezTo>
                <a:lnTo>
                  <a:pt x="406400" y="139700"/>
                </a:lnTo>
                <a:cubicBezTo>
                  <a:pt x="406400" y="160734"/>
                  <a:pt x="389334" y="177800"/>
                  <a:pt x="368300" y="177800"/>
                </a:cubicBezTo>
                <a:lnTo>
                  <a:pt x="292100" y="177800"/>
                </a:lnTo>
                <a:cubicBezTo>
                  <a:pt x="271066" y="177800"/>
                  <a:pt x="254000" y="160734"/>
                  <a:pt x="254000" y="139700"/>
                </a:cubicBezTo>
                <a:lnTo>
                  <a:pt x="254000" y="127000"/>
                </a:lnTo>
                <a:lnTo>
                  <a:pt x="152400" y="127000"/>
                </a:lnTo>
                <a:lnTo>
                  <a:pt x="152400" y="139700"/>
                </a:lnTo>
                <a:cubicBezTo>
                  <a:pt x="152400" y="145494"/>
                  <a:pt x="151051" y="151051"/>
                  <a:pt x="148749" y="155972"/>
                </a:cubicBezTo>
                <a:lnTo>
                  <a:pt x="203200" y="228600"/>
                </a:lnTo>
                <a:lnTo>
                  <a:pt x="266700" y="228600"/>
                </a:lnTo>
                <a:cubicBezTo>
                  <a:pt x="287734" y="228600"/>
                  <a:pt x="304800" y="245666"/>
                  <a:pt x="304800" y="266700"/>
                </a:cubicBezTo>
                <a:lnTo>
                  <a:pt x="304800" y="342900"/>
                </a:lnTo>
                <a:cubicBezTo>
                  <a:pt x="304800" y="363934"/>
                  <a:pt x="287734" y="381000"/>
                  <a:pt x="266700" y="381000"/>
                </a:cubicBezTo>
                <a:lnTo>
                  <a:pt x="190500" y="381000"/>
                </a:lnTo>
                <a:cubicBezTo>
                  <a:pt x="169466" y="381000"/>
                  <a:pt x="152400" y="363934"/>
                  <a:pt x="152400" y="342900"/>
                </a:cubicBezTo>
                <a:lnTo>
                  <a:pt x="152400" y="266700"/>
                </a:lnTo>
                <a:cubicBezTo>
                  <a:pt x="152400" y="260906"/>
                  <a:pt x="153749" y="255349"/>
                  <a:pt x="156051" y="250428"/>
                </a:cubicBezTo>
                <a:lnTo>
                  <a:pt x="101600" y="177800"/>
                </a:lnTo>
                <a:lnTo>
                  <a:pt x="38100" y="177800"/>
                </a:lnTo>
                <a:cubicBezTo>
                  <a:pt x="17066" y="177800"/>
                  <a:pt x="0" y="160734"/>
                  <a:pt x="0" y="139700"/>
                </a:cubicBezTo>
                <a:lnTo>
                  <a:pt x="0" y="63500"/>
                </a:lnTo>
                <a:close/>
              </a:path>
            </a:pathLst>
          </a:custGeom>
          <a:solidFill>
            <a:srgbClr val="D97706"/>
          </a:solidFill>
          <a:ln/>
        </p:spPr>
      </p:sp>
      <p:sp>
        <p:nvSpPr>
          <p:cNvPr id="20" name="Text 18"/>
          <p:cNvSpPr/>
          <p:nvPr/>
        </p:nvSpPr>
        <p:spPr>
          <a:xfrm>
            <a:off x="9207500" y="3937000"/>
            <a:ext cx="60325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Algorithm Design</a:t>
            </a:r>
            <a:endParaRPr lang="en-US" sz="1600" dirty="0"/>
          </a:p>
        </p:txBody>
      </p:sp>
      <p:sp>
        <p:nvSpPr>
          <p:cNvPr id="21" name="Text 19"/>
          <p:cNvSpPr/>
          <p:nvPr/>
        </p:nvSpPr>
        <p:spPr>
          <a:xfrm>
            <a:off x="9207500" y="4318000"/>
            <a:ext cx="6032500" cy="762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Efficient data structures, search algorithms, and optimization techniques powering AI systems.</a:t>
            </a:r>
            <a:endParaRPr lang="en-US" sz="1600" dirty="0"/>
          </a:p>
        </p:txBody>
      </p:sp>
      <p:sp>
        <p:nvSpPr>
          <p:cNvPr id="22" name="Shape 20"/>
          <p:cNvSpPr/>
          <p:nvPr/>
        </p:nvSpPr>
        <p:spPr>
          <a:xfrm>
            <a:off x="762000" y="5524500"/>
            <a:ext cx="14732000" cy="1524000"/>
          </a:xfrm>
          <a:prstGeom prst="rect">
            <a:avLst/>
          </a:prstGeom>
          <a:solidFill>
            <a:srgbClr val="0F4C5C"/>
          </a:solidFill>
          <a:ln/>
        </p:spPr>
      </p:sp>
      <p:sp>
        <p:nvSpPr>
          <p:cNvPr id="23" name="Shape 21"/>
          <p:cNvSpPr/>
          <p:nvPr/>
        </p:nvSpPr>
        <p:spPr>
          <a:xfrm>
            <a:off x="1016000" y="5905500"/>
            <a:ext cx="406400" cy="406400"/>
          </a:xfrm>
          <a:custGeom>
            <a:avLst/>
            <a:gdLst/>
            <a:ahLst/>
            <a:cxnLst/>
            <a:rect l="l" t="t" r="r" b="b"/>
            <a:pathLst>
              <a:path w="406400" h="406400">
                <a:moveTo>
                  <a:pt x="279321" y="222250"/>
                </a:moveTo>
                <a:lnTo>
                  <a:pt x="127794" y="222250"/>
                </a:lnTo>
                <a:cubicBezTo>
                  <a:pt x="130096" y="273447"/>
                  <a:pt x="141446" y="320596"/>
                  <a:pt x="157559" y="355124"/>
                </a:cubicBezTo>
                <a:cubicBezTo>
                  <a:pt x="166608" y="374571"/>
                  <a:pt x="176371" y="388303"/>
                  <a:pt x="185420" y="396716"/>
                </a:cubicBezTo>
                <a:cubicBezTo>
                  <a:pt x="194310" y="405051"/>
                  <a:pt x="200422" y="406400"/>
                  <a:pt x="203597" y="406400"/>
                </a:cubicBezTo>
                <a:cubicBezTo>
                  <a:pt x="206772" y="406400"/>
                  <a:pt x="212884" y="405051"/>
                  <a:pt x="221774" y="396716"/>
                </a:cubicBezTo>
                <a:cubicBezTo>
                  <a:pt x="230822" y="388302"/>
                  <a:pt x="240586" y="374491"/>
                  <a:pt x="249634" y="355124"/>
                </a:cubicBezTo>
                <a:cubicBezTo>
                  <a:pt x="265747" y="320596"/>
                  <a:pt x="277098" y="273447"/>
                  <a:pt x="279400" y="222250"/>
                </a:cubicBezTo>
                <a:close/>
                <a:moveTo>
                  <a:pt x="127714" y="184150"/>
                </a:moveTo>
                <a:lnTo>
                  <a:pt x="279241" y="184150"/>
                </a:lnTo>
                <a:cubicBezTo>
                  <a:pt x="277019" y="132953"/>
                  <a:pt x="265668" y="85804"/>
                  <a:pt x="249555" y="51276"/>
                </a:cubicBezTo>
                <a:cubicBezTo>
                  <a:pt x="240506" y="31909"/>
                  <a:pt x="230743" y="18098"/>
                  <a:pt x="221694" y="9684"/>
                </a:cubicBezTo>
                <a:cubicBezTo>
                  <a:pt x="212804" y="1349"/>
                  <a:pt x="206692" y="0"/>
                  <a:pt x="203518" y="0"/>
                </a:cubicBezTo>
                <a:cubicBezTo>
                  <a:pt x="200342" y="0"/>
                  <a:pt x="194231" y="1349"/>
                  <a:pt x="185341" y="9684"/>
                </a:cubicBezTo>
                <a:cubicBezTo>
                  <a:pt x="176292" y="18098"/>
                  <a:pt x="166529" y="31909"/>
                  <a:pt x="157480" y="51276"/>
                </a:cubicBezTo>
                <a:cubicBezTo>
                  <a:pt x="141367" y="85804"/>
                  <a:pt x="130016" y="132953"/>
                  <a:pt x="127714" y="184150"/>
                </a:cubicBezTo>
                <a:close/>
                <a:moveTo>
                  <a:pt x="89614" y="184150"/>
                </a:moveTo>
                <a:cubicBezTo>
                  <a:pt x="92393" y="116205"/>
                  <a:pt x="109934" y="53102"/>
                  <a:pt x="135573" y="11668"/>
                </a:cubicBezTo>
                <a:cubicBezTo>
                  <a:pt x="62468" y="37544"/>
                  <a:pt x="8652" y="104140"/>
                  <a:pt x="1191" y="184150"/>
                </a:cubicBezTo>
                <a:lnTo>
                  <a:pt x="89614" y="184150"/>
                </a:lnTo>
                <a:close/>
                <a:moveTo>
                  <a:pt x="1191" y="222250"/>
                </a:moveTo>
                <a:cubicBezTo>
                  <a:pt x="8652" y="302260"/>
                  <a:pt x="62468" y="368856"/>
                  <a:pt x="135573" y="394732"/>
                </a:cubicBezTo>
                <a:cubicBezTo>
                  <a:pt x="109934" y="353298"/>
                  <a:pt x="92393" y="290195"/>
                  <a:pt x="89614" y="222250"/>
                </a:cubicBezTo>
                <a:lnTo>
                  <a:pt x="1191" y="222250"/>
                </a:lnTo>
                <a:close/>
                <a:moveTo>
                  <a:pt x="317421" y="222250"/>
                </a:moveTo>
                <a:cubicBezTo>
                  <a:pt x="314643" y="290195"/>
                  <a:pt x="297101" y="353298"/>
                  <a:pt x="271463" y="394732"/>
                </a:cubicBezTo>
                <a:cubicBezTo>
                  <a:pt x="344567" y="368776"/>
                  <a:pt x="398383" y="302260"/>
                  <a:pt x="405844" y="222250"/>
                </a:cubicBezTo>
                <a:lnTo>
                  <a:pt x="317421" y="222250"/>
                </a:lnTo>
                <a:close/>
                <a:moveTo>
                  <a:pt x="405844" y="184150"/>
                </a:moveTo>
                <a:cubicBezTo>
                  <a:pt x="398383" y="104140"/>
                  <a:pt x="344567" y="37544"/>
                  <a:pt x="271463" y="11668"/>
                </a:cubicBezTo>
                <a:cubicBezTo>
                  <a:pt x="297101" y="53102"/>
                  <a:pt x="314643" y="116205"/>
                  <a:pt x="317421" y="184150"/>
                </a:cubicBezTo>
                <a:lnTo>
                  <a:pt x="405844" y="184150"/>
                </a:lnTo>
                <a:close/>
              </a:path>
            </a:pathLst>
          </a:custGeom>
          <a:solidFill>
            <a:srgbClr val="D97706"/>
          </a:solidFill>
          <a:ln/>
        </p:spPr>
      </p:sp>
      <p:sp>
        <p:nvSpPr>
          <p:cNvPr id="24" name="Text 22"/>
          <p:cNvSpPr/>
          <p:nvPr/>
        </p:nvSpPr>
        <p:spPr>
          <a:xfrm>
            <a:off x="1587500" y="5715000"/>
            <a:ext cx="6032500" cy="3302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Internet &amp; Distributed Computing</a:t>
            </a:r>
            <a:endParaRPr lang="en-US" sz="1600" dirty="0"/>
          </a:p>
        </p:txBody>
      </p:sp>
      <p:sp>
        <p:nvSpPr>
          <p:cNvPr id="25" name="Text 23"/>
          <p:cNvSpPr/>
          <p:nvPr/>
        </p:nvSpPr>
        <p:spPr>
          <a:xfrm>
            <a:off x="1587500" y="6096000"/>
            <a:ext cx="13589000" cy="762000"/>
          </a:xfrm>
          <a:prstGeom prst="rect">
            <a:avLst/>
          </a:prstGeom>
          <a:noFill/>
          <a:ln/>
        </p:spPr>
        <p:txBody>
          <a:bodyPr wrap="square" lIns="0" tIns="0" rIns="0" bIns="0" rtlCol="0" anchor="t"/>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Enabling large-scale AI training and deployment through cloud computing, distributed systems, and high-speed networks.</a:t>
            </a:r>
            <a:endParaRPr lang="en-US" sz="1600" dirty="0"/>
          </a:p>
        </p:txBody>
      </p:sp>
      <p:sp>
        <p:nvSpPr>
          <p:cNvPr id="26" name="Text 24"/>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7" name="Text 25"/>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Four Pillars of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6223000" y="3048000"/>
            <a:ext cx="3810000" cy="3810000"/>
          </a:xfrm>
          <a:prstGeom prst="ellipse">
            <a:avLst/>
          </a:prstGeom>
          <a:solidFill>
            <a:srgbClr val="0F4C5C"/>
          </a:solidFill>
          <a:ln/>
        </p:spPr>
      </p:sp>
      <p:sp>
        <p:nvSpPr>
          <p:cNvPr id="6" name="Text 4"/>
          <p:cNvSpPr/>
          <p:nvPr/>
        </p:nvSpPr>
        <p:spPr>
          <a:xfrm>
            <a:off x="6477000" y="4318000"/>
            <a:ext cx="3302000" cy="1016000"/>
          </a:xfrm>
          <a:prstGeom prst="rect">
            <a:avLst/>
          </a:prstGeom>
          <a:noFill/>
          <a:ln/>
        </p:spPr>
        <p:txBody>
          <a:bodyPr wrap="square" lIns="0" tIns="0" rIns="0" bIns="0" rtlCol="0" anchor="ctr"/>
          <a:lstStyle/>
          <a:p>
            <a:pPr algn="ctr">
              <a:lnSpc>
                <a:spcPct val="100000"/>
              </a:lnSpc>
            </a:pPr>
            <a:r>
              <a:rPr lang="en-US" sz="2200" b="1" dirty="0">
                <a:solidFill>
                  <a:srgbClr val="FFFFFF"/>
                </a:solidFill>
                <a:latin typeface="Liter" pitchFamily="34" charset="0"/>
                <a:ea typeface="Liter" pitchFamily="34" charset="-122"/>
                <a:cs typeface="Liter" pitchFamily="34" charset="-120"/>
              </a:rPr>
              <a:t>ARTIFICIAL</a:t>
            </a:r>
            <a:endParaRPr lang="en-US" sz="1600" dirty="0"/>
          </a:p>
          <a:p>
            <a:pPr algn="ctr">
              <a:lnSpc>
                <a:spcPct val="100000"/>
              </a:lnSpc>
            </a:pPr>
            <a:r>
              <a:rPr lang="en-US" sz="2200" b="1" dirty="0">
                <a:solidFill>
                  <a:srgbClr val="FFFFFF"/>
                </a:solidFill>
                <a:latin typeface="Liter" pitchFamily="34" charset="0"/>
                <a:ea typeface="Liter" pitchFamily="34" charset="-122"/>
                <a:cs typeface="Liter" pitchFamily="34" charset="-120"/>
              </a:rPr>
              <a:t>INTELLIGENCE</a:t>
            </a:r>
            <a:endParaRPr lang="en-US" sz="1600" dirty="0"/>
          </a:p>
        </p:txBody>
      </p:sp>
      <p:sp>
        <p:nvSpPr>
          <p:cNvPr id="7" name="Shape 5"/>
          <p:cNvSpPr/>
          <p:nvPr/>
        </p:nvSpPr>
        <p:spPr>
          <a:xfrm>
            <a:off x="762000" y="1778000"/>
            <a:ext cx="4826000" cy="165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8" name="Shape 6"/>
          <p:cNvSpPr/>
          <p:nvPr/>
        </p:nvSpPr>
        <p:spPr>
          <a:xfrm>
            <a:off x="1016000" y="2095500"/>
            <a:ext cx="381000" cy="381000"/>
          </a:xfrm>
          <a:custGeom>
            <a:avLst/>
            <a:gdLst/>
            <a:ahLst/>
            <a:cxnLst/>
            <a:rect l="l" t="t" r="r" b="b"/>
            <a:pathLst>
              <a:path w="381000" h="381000">
                <a:moveTo>
                  <a:pt x="177626" y="3795"/>
                </a:moveTo>
                <a:cubicBezTo>
                  <a:pt x="185440" y="-1265"/>
                  <a:pt x="195560" y="-1265"/>
                  <a:pt x="203374" y="3795"/>
                </a:cubicBezTo>
                <a:lnTo>
                  <a:pt x="370061" y="110951"/>
                </a:lnTo>
                <a:cubicBezTo>
                  <a:pt x="378916" y="116681"/>
                  <a:pt x="383009" y="127546"/>
                  <a:pt x="380033" y="137666"/>
                </a:cubicBezTo>
                <a:cubicBezTo>
                  <a:pt x="377056" y="147786"/>
                  <a:pt x="367754" y="154781"/>
                  <a:pt x="357188" y="154781"/>
                </a:cubicBezTo>
                <a:lnTo>
                  <a:pt x="333375" y="154781"/>
                </a:lnTo>
                <a:lnTo>
                  <a:pt x="333375" y="309563"/>
                </a:lnTo>
                <a:lnTo>
                  <a:pt x="371475" y="338137"/>
                </a:lnTo>
                <a:cubicBezTo>
                  <a:pt x="377503" y="342602"/>
                  <a:pt x="381000" y="349672"/>
                  <a:pt x="381000" y="357188"/>
                </a:cubicBezTo>
                <a:cubicBezTo>
                  <a:pt x="381000" y="370359"/>
                  <a:pt x="370359" y="381000"/>
                  <a:pt x="357188" y="381000"/>
                </a:cubicBezTo>
                <a:lnTo>
                  <a:pt x="23812" y="381000"/>
                </a:lnTo>
                <a:cubicBezTo>
                  <a:pt x="10641" y="381000"/>
                  <a:pt x="0" y="370359"/>
                  <a:pt x="0" y="357188"/>
                </a:cubicBezTo>
                <a:cubicBezTo>
                  <a:pt x="0" y="349672"/>
                  <a:pt x="3497" y="342602"/>
                  <a:pt x="9525" y="338137"/>
                </a:cubicBezTo>
                <a:lnTo>
                  <a:pt x="47625" y="309563"/>
                </a:lnTo>
                <a:lnTo>
                  <a:pt x="47625" y="309563"/>
                </a:lnTo>
                <a:lnTo>
                  <a:pt x="47625" y="154781"/>
                </a:lnTo>
                <a:lnTo>
                  <a:pt x="23812" y="154781"/>
                </a:lnTo>
                <a:cubicBezTo>
                  <a:pt x="13246" y="154781"/>
                  <a:pt x="3944" y="147786"/>
                  <a:pt x="967" y="137666"/>
                </a:cubicBezTo>
                <a:cubicBezTo>
                  <a:pt x="-2009" y="127546"/>
                  <a:pt x="2084" y="116607"/>
                  <a:pt x="10939" y="110951"/>
                </a:cubicBezTo>
                <a:lnTo>
                  <a:pt x="177626" y="3795"/>
                </a:lnTo>
                <a:close/>
                <a:moveTo>
                  <a:pt x="250031" y="154781"/>
                </a:moveTo>
                <a:lnTo>
                  <a:pt x="250031" y="309563"/>
                </a:lnTo>
                <a:lnTo>
                  <a:pt x="297656" y="309563"/>
                </a:lnTo>
                <a:lnTo>
                  <a:pt x="297656" y="154781"/>
                </a:lnTo>
                <a:lnTo>
                  <a:pt x="250031" y="154781"/>
                </a:lnTo>
                <a:close/>
                <a:moveTo>
                  <a:pt x="166688" y="309563"/>
                </a:moveTo>
                <a:lnTo>
                  <a:pt x="214313" y="309563"/>
                </a:lnTo>
                <a:lnTo>
                  <a:pt x="214313" y="154781"/>
                </a:lnTo>
                <a:lnTo>
                  <a:pt x="166688" y="154781"/>
                </a:lnTo>
                <a:lnTo>
                  <a:pt x="166688" y="309563"/>
                </a:lnTo>
                <a:close/>
                <a:moveTo>
                  <a:pt x="83344" y="154781"/>
                </a:moveTo>
                <a:lnTo>
                  <a:pt x="83344" y="309563"/>
                </a:lnTo>
                <a:lnTo>
                  <a:pt x="130969" y="309563"/>
                </a:lnTo>
                <a:lnTo>
                  <a:pt x="130969" y="154781"/>
                </a:lnTo>
                <a:lnTo>
                  <a:pt x="83344" y="154781"/>
                </a:lnTo>
                <a:close/>
              </a:path>
            </a:pathLst>
          </a:custGeom>
          <a:solidFill>
            <a:srgbClr val="0F4C5C"/>
          </a:solidFill>
          <a:ln/>
        </p:spPr>
      </p:sp>
      <p:sp>
        <p:nvSpPr>
          <p:cNvPr id="9" name="Text 7"/>
          <p:cNvSpPr/>
          <p:nvPr/>
        </p:nvSpPr>
        <p:spPr>
          <a:xfrm>
            <a:off x="1524000" y="2032000"/>
            <a:ext cx="3810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Philosophers</a:t>
            </a:r>
            <a:endParaRPr lang="en-US" sz="1600" dirty="0"/>
          </a:p>
        </p:txBody>
      </p:sp>
      <p:sp>
        <p:nvSpPr>
          <p:cNvPr id="10" name="Text 8"/>
          <p:cNvSpPr/>
          <p:nvPr/>
        </p:nvSpPr>
        <p:spPr>
          <a:xfrm>
            <a:off x="1016000" y="2540000"/>
            <a:ext cx="4318000" cy="6985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"Can machines think?" — Questions of reasoning, mind, and knowledge</a:t>
            </a:r>
            <a:endParaRPr lang="en-US" sz="1600" dirty="0"/>
          </a:p>
        </p:txBody>
      </p:sp>
      <p:sp>
        <p:nvSpPr>
          <p:cNvPr id="11" name="Shape 9"/>
          <p:cNvSpPr/>
          <p:nvPr/>
        </p:nvSpPr>
        <p:spPr>
          <a:xfrm>
            <a:off x="5588000" y="3556000"/>
            <a:ext cx="762000" cy="762000"/>
          </a:xfrm>
          <a:prstGeom prst="straightConnector1">
            <a:avLst/>
          </a:prstGeom>
          <a:noFill/>
          <a:ln w="25400">
            <a:solidFill>
              <a:srgbClr val="D97706"/>
            </a:solidFill>
            <a:prstDash val="solid"/>
            <a:headEnd type="none"/>
            <a:tailEnd type="arrow"/>
          </a:ln>
        </p:spPr>
      </p:sp>
      <p:sp>
        <p:nvSpPr>
          <p:cNvPr id="12" name="Shape 10"/>
          <p:cNvSpPr/>
          <p:nvPr/>
        </p:nvSpPr>
        <p:spPr>
          <a:xfrm>
            <a:off x="10668000" y="1778000"/>
            <a:ext cx="4826000" cy="165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3" name="Shape 11"/>
          <p:cNvSpPr/>
          <p:nvPr/>
        </p:nvSpPr>
        <p:spPr>
          <a:xfrm>
            <a:off x="10898188" y="2095500"/>
            <a:ext cx="428625" cy="381000"/>
          </a:xfrm>
          <a:custGeom>
            <a:avLst/>
            <a:gdLst/>
            <a:ahLst/>
            <a:cxnLst/>
            <a:rect l="l" t="t" r="r" b="b"/>
            <a:pathLst>
              <a:path w="428625" h="381000">
                <a:moveTo>
                  <a:pt x="210294" y="58117"/>
                </a:moveTo>
                <a:cubicBezTo>
                  <a:pt x="216247" y="37802"/>
                  <a:pt x="234851" y="23812"/>
                  <a:pt x="255984" y="23812"/>
                </a:cubicBezTo>
                <a:lnTo>
                  <a:pt x="404813" y="23812"/>
                </a:lnTo>
                <a:cubicBezTo>
                  <a:pt x="417984" y="23812"/>
                  <a:pt x="428625" y="34454"/>
                  <a:pt x="428625" y="47625"/>
                </a:cubicBezTo>
                <a:cubicBezTo>
                  <a:pt x="428625" y="60796"/>
                  <a:pt x="417984" y="71438"/>
                  <a:pt x="404813" y="71438"/>
                </a:cubicBezTo>
                <a:lnTo>
                  <a:pt x="255984" y="71438"/>
                </a:lnTo>
                <a:lnTo>
                  <a:pt x="177626" y="340072"/>
                </a:lnTo>
                <a:cubicBezTo>
                  <a:pt x="174947" y="349225"/>
                  <a:pt x="167134" y="355848"/>
                  <a:pt x="157683" y="357039"/>
                </a:cubicBezTo>
                <a:cubicBezTo>
                  <a:pt x="148233" y="358229"/>
                  <a:pt x="139005" y="353616"/>
                  <a:pt x="134243" y="345430"/>
                </a:cubicBezTo>
                <a:lnTo>
                  <a:pt x="57745" y="214313"/>
                </a:lnTo>
                <a:lnTo>
                  <a:pt x="23812" y="214313"/>
                </a:lnTo>
                <a:cubicBezTo>
                  <a:pt x="10641" y="214313"/>
                  <a:pt x="0" y="203671"/>
                  <a:pt x="0" y="190500"/>
                </a:cubicBezTo>
                <a:cubicBezTo>
                  <a:pt x="0" y="177329"/>
                  <a:pt x="10641" y="166688"/>
                  <a:pt x="23812" y="166688"/>
                </a:cubicBezTo>
                <a:lnTo>
                  <a:pt x="57745" y="166688"/>
                </a:lnTo>
                <a:cubicBezTo>
                  <a:pt x="74712" y="166688"/>
                  <a:pt x="90339" y="175692"/>
                  <a:pt x="98896" y="190351"/>
                </a:cubicBezTo>
                <a:lnTo>
                  <a:pt x="147414" y="273546"/>
                </a:lnTo>
                <a:lnTo>
                  <a:pt x="210220" y="58117"/>
                </a:lnTo>
                <a:close/>
                <a:moveTo>
                  <a:pt x="292745" y="173682"/>
                </a:moveTo>
                <a:cubicBezTo>
                  <a:pt x="302047" y="164381"/>
                  <a:pt x="317153" y="164381"/>
                  <a:pt x="326454" y="173682"/>
                </a:cubicBezTo>
                <a:lnTo>
                  <a:pt x="357262" y="204490"/>
                </a:lnTo>
                <a:lnTo>
                  <a:pt x="388069" y="173682"/>
                </a:lnTo>
                <a:cubicBezTo>
                  <a:pt x="397371" y="164381"/>
                  <a:pt x="412477" y="164381"/>
                  <a:pt x="421779" y="173682"/>
                </a:cubicBezTo>
                <a:cubicBezTo>
                  <a:pt x="431081" y="182984"/>
                  <a:pt x="431081" y="198090"/>
                  <a:pt x="421779" y="207392"/>
                </a:cubicBezTo>
                <a:lnTo>
                  <a:pt x="390971" y="238199"/>
                </a:lnTo>
                <a:lnTo>
                  <a:pt x="421779" y="269007"/>
                </a:lnTo>
                <a:cubicBezTo>
                  <a:pt x="431081" y="278309"/>
                  <a:pt x="431081" y="293415"/>
                  <a:pt x="421779" y="302716"/>
                </a:cubicBezTo>
                <a:cubicBezTo>
                  <a:pt x="412477" y="312018"/>
                  <a:pt x="397371" y="312018"/>
                  <a:pt x="388069" y="302716"/>
                </a:cubicBezTo>
                <a:lnTo>
                  <a:pt x="357262" y="271909"/>
                </a:lnTo>
                <a:lnTo>
                  <a:pt x="326454" y="302716"/>
                </a:lnTo>
                <a:cubicBezTo>
                  <a:pt x="317153" y="312018"/>
                  <a:pt x="302047" y="312018"/>
                  <a:pt x="292745" y="302716"/>
                </a:cubicBezTo>
                <a:cubicBezTo>
                  <a:pt x="283443" y="293415"/>
                  <a:pt x="283443" y="278309"/>
                  <a:pt x="292745" y="269007"/>
                </a:cubicBezTo>
                <a:lnTo>
                  <a:pt x="323552" y="238199"/>
                </a:lnTo>
                <a:lnTo>
                  <a:pt x="292745" y="207392"/>
                </a:lnTo>
                <a:cubicBezTo>
                  <a:pt x="283443" y="198090"/>
                  <a:pt x="283443" y="182984"/>
                  <a:pt x="292745" y="173682"/>
                </a:cubicBezTo>
                <a:close/>
              </a:path>
            </a:pathLst>
          </a:custGeom>
          <a:solidFill>
            <a:srgbClr val="0F4C5C"/>
          </a:solidFill>
          <a:ln/>
        </p:spPr>
      </p:sp>
      <p:sp>
        <p:nvSpPr>
          <p:cNvPr id="14" name="Text 12"/>
          <p:cNvSpPr/>
          <p:nvPr/>
        </p:nvSpPr>
        <p:spPr>
          <a:xfrm>
            <a:off x="11430000" y="2032000"/>
            <a:ext cx="3810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Mathematicians</a:t>
            </a:r>
            <a:endParaRPr lang="en-US" sz="1600" dirty="0"/>
          </a:p>
        </p:txBody>
      </p:sp>
      <p:sp>
        <p:nvSpPr>
          <p:cNvPr id="15" name="Text 13"/>
          <p:cNvSpPr/>
          <p:nvPr/>
        </p:nvSpPr>
        <p:spPr>
          <a:xfrm>
            <a:off x="10922000" y="2540000"/>
            <a:ext cx="4318000" cy="6985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"What can be computed?" — Logic, algorithms, and formal systems</a:t>
            </a:r>
            <a:endParaRPr lang="en-US" sz="1600" dirty="0"/>
          </a:p>
        </p:txBody>
      </p:sp>
      <p:sp>
        <p:nvSpPr>
          <p:cNvPr id="16" name="Shape 14"/>
          <p:cNvSpPr/>
          <p:nvPr/>
        </p:nvSpPr>
        <p:spPr>
          <a:xfrm>
            <a:off x="9906000" y="3556000"/>
            <a:ext cx="762000" cy="762000"/>
          </a:xfrm>
          <a:prstGeom prst="straightConnector1">
            <a:avLst/>
          </a:prstGeom>
          <a:noFill/>
          <a:ln w="25400">
            <a:solidFill>
              <a:srgbClr val="D97706"/>
            </a:solidFill>
            <a:prstDash val="solid"/>
            <a:headEnd type="arrow"/>
            <a:tailEnd type="none"/>
          </a:ln>
        </p:spPr>
      </p:sp>
      <p:sp>
        <p:nvSpPr>
          <p:cNvPr id="17" name="Shape 15"/>
          <p:cNvSpPr/>
          <p:nvPr/>
        </p:nvSpPr>
        <p:spPr>
          <a:xfrm>
            <a:off x="762000" y="6350000"/>
            <a:ext cx="4826000" cy="165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8" name="Shape 16"/>
          <p:cNvSpPr/>
          <p:nvPr/>
        </p:nvSpPr>
        <p:spPr>
          <a:xfrm>
            <a:off x="1016000" y="6667500"/>
            <a:ext cx="381000" cy="381000"/>
          </a:xfrm>
          <a:custGeom>
            <a:avLst/>
            <a:gdLst/>
            <a:ahLst/>
            <a:cxnLst/>
            <a:rect l="l" t="t" r="r" b="b"/>
            <a:pathLst>
              <a:path w="381000" h="381000">
                <a:moveTo>
                  <a:pt x="245343" y="333375"/>
                </a:moveTo>
                <a:cubicBezTo>
                  <a:pt x="241548" y="333375"/>
                  <a:pt x="238125" y="336128"/>
                  <a:pt x="238125" y="339923"/>
                </a:cubicBezTo>
                <a:lnTo>
                  <a:pt x="238125" y="345281"/>
                </a:lnTo>
                <a:cubicBezTo>
                  <a:pt x="238125" y="365001"/>
                  <a:pt x="222126" y="381000"/>
                  <a:pt x="202406" y="381000"/>
                </a:cubicBezTo>
                <a:lnTo>
                  <a:pt x="83344" y="381000"/>
                </a:lnTo>
                <a:cubicBezTo>
                  <a:pt x="63624" y="381000"/>
                  <a:pt x="47625" y="365001"/>
                  <a:pt x="47625" y="345281"/>
                </a:cubicBezTo>
                <a:lnTo>
                  <a:pt x="47625" y="297954"/>
                </a:lnTo>
                <a:cubicBezTo>
                  <a:pt x="47625" y="288578"/>
                  <a:pt x="43830" y="279722"/>
                  <a:pt x="37877" y="272504"/>
                </a:cubicBezTo>
                <a:cubicBezTo>
                  <a:pt x="14213" y="243706"/>
                  <a:pt x="0" y="206871"/>
                  <a:pt x="0" y="166688"/>
                </a:cubicBezTo>
                <a:cubicBezTo>
                  <a:pt x="0" y="74637"/>
                  <a:pt x="74637" y="0"/>
                  <a:pt x="166688" y="0"/>
                </a:cubicBezTo>
                <a:cubicBezTo>
                  <a:pt x="250552" y="0"/>
                  <a:pt x="319980" y="61987"/>
                  <a:pt x="331663" y="142652"/>
                </a:cubicBezTo>
                <a:cubicBezTo>
                  <a:pt x="331961" y="144884"/>
                  <a:pt x="332929" y="147042"/>
                  <a:pt x="334342" y="148828"/>
                </a:cubicBezTo>
                <a:lnTo>
                  <a:pt x="360983" y="180752"/>
                </a:lnTo>
                <a:cubicBezTo>
                  <a:pt x="366192" y="187003"/>
                  <a:pt x="369094" y="194965"/>
                  <a:pt x="369094" y="203150"/>
                </a:cubicBezTo>
                <a:cubicBezTo>
                  <a:pt x="369094" y="222424"/>
                  <a:pt x="353467" y="238125"/>
                  <a:pt x="334119" y="238125"/>
                </a:cubicBezTo>
                <a:lnTo>
                  <a:pt x="333375" y="238125"/>
                </a:lnTo>
                <a:cubicBezTo>
                  <a:pt x="326827" y="238125"/>
                  <a:pt x="321469" y="243483"/>
                  <a:pt x="321469" y="250031"/>
                </a:cubicBezTo>
                <a:lnTo>
                  <a:pt x="321469" y="285750"/>
                </a:lnTo>
                <a:cubicBezTo>
                  <a:pt x="321469" y="312018"/>
                  <a:pt x="300112" y="333375"/>
                  <a:pt x="273844" y="333375"/>
                </a:cubicBezTo>
                <a:lnTo>
                  <a:pt x="245343" y="333375"/>
                </a:lnTo>
                <a:close/>
                <a:moveTo>
                  <a:pt x="166688" y="47625"/>
                </a:moveTo>
                <a:cubicBezTo>
                  <a:pt x="156790" y="47625"/>
                  <a:pt x="148828" y="55587"/>
                  <a:pt x="148828" y="65484"/>
                </a:cubicBezTo>
                <a:cubicBezTo>
                  <a:pt x="148828" y="82525"/>
                  <a:pt x="128215" y="91083"/>
                  <a:pt x="116160" y="79028"/>
                </a:cubicBezTo>
                <a:cubicBezTo>
                  <a:pt x="109165" y="72033"/>
                  <a:pt x="97854" y="72033"/>
                  <a:pt x="90934" y="79028"/>
                </a:cubicBezTo>
                <a:cubicBezTo>
                  <a:pt x="84013" y="86023"/>
                  <a:pt x="83939" y="97334"/>
                  <a:pt x="90934" y="104254"/>
                </a:cubicBezTo>
                <a:cubicBezTo>
                  <a:pt x="102989" y="116309"/>
                  <a:pt x="94431" y="136922"/>
                  <a:pt x="77391" y="136922"/>
                </a:cubicBezTo>
                <a:cubicBezTo>
                  <a:pt x="67494" y="136922"/>
                  <a:pt x="59531" y="144884"/>
                  <a:pt x="59531" y="154781"/>
                </a:cubicBezTo>
                <a:cubicBezTo>
                  <a:pt x="59531" y="164678"/>
                  <a:pt x="67494" y="172641"/>
                  <a:pt x="77391" y="172641"/>
                </a:cubicBezTo>
                <a:cubicBezTo>
                  <a:pt x="94431" y="172641"/>
                  <a:pt x="102989" y="193253"/>
                  <a:pt x="90934" y="205308"/>
                </a:cubicBezTo>
                <a:cubicBezTo>
                  <a:pt x="83939" y="212303"/>
                  <a:pt x="83939" y="223614"/>
                  <a:pt x="90934" y="230535"/>
                </a:cubicBezTo>
                <a:cubicBezTo>
                  <a:pt x="97929" y="237455"/>
                  <a:pt x="109240" y="237530"/>
                  <a:pt x="116160" y="230535"/>
                </a:cubicBezTo>
                <a:cubicBezTo>
                  <a:pt x="128215" y="218480"/>
                  <a:pt x="148828" y="227037"/>
                  <a:pt x="148828" y="244078"/>
                </a:cubicBezTo>
                <a:cubicBezTo>
                  <a:pt x="148828" y="253975"/>
                  <a:pt x="156790" y="261937"/>
                  <a:pt x="166688" y="261937"/>
                </a:cubicBezTo>
                <a:cubicBezTo>
                  <a:pt x="176585" y="261937"/>
                  <a:pt x="184547" y="253975"/>
                  <a:pt x="184547" y="244078"/>
                </a:cubicBezTo>
                <a:cubicBezTo>
                  <a:pt x="184547" y="227037"/>
                  <a:pt x="205160" y="218480"/>
                  <a:pt x="217215" y="230535"/>
                </a:cubicBezTo>
                <a:cubicBezTo>
                  <a:pt x="224210" y="237530"/>
                  <a:pt x="235521" y="237530"/>
                  <a:pt x="242441" y="230535"/>
                </a:cubicBezTo>
                <a:cubicBezTo>
                  <a:pt x="249362" y="223540"/>
                  <a:pt x="249436" y="212229"/>
                  <a:pt x="242441" y="205308"/>
                </a:cubicBezTo>
                <a:cubicBezTo>
                  <a:pt x="230386" y="193253"/>
                  <a:pt x="238944" y="172641"/>
                  <a:pt x="255984" y="172641"/>
                </a:cubicBezTo>
                <a:cubicBezTo>
                  <a:pt x="265881" y="172641"/>
                  <a:pt x="273844" y="164678"/>
                  <a:pt x="273844" y="154781"/>
                </a:cubicBezTo>
                <a:cubicBezTo>
                  <a:pt x="273844" y="144884"/>
                  <a:pt x="265881" y="136922"/>
                  <a:pt x="255984" y="136922"/>
                </a:cubicBezTo>
                <a:cubicBezTo>
                  <a:pt x="238944" y="136922"/>
                  <a:pt x="230386" y="116309"/>
                  <a:pt x="242441" y="104254"/>
                </a:cubicBezTo>
                <a:cubicBezTo>
                  <a:pt x="249436" y="97259"/>
                  <a:pt x="249436" y="85948"/>
                  <a:pt x="242441" y="79028"/>
                </a:cubicBezTo>
                <a:cubicBezTo>
                  <a:pt x="235446" y="72107"/>
                  <a:pt x="224135" y="72033"/>
                  <a:pt x="217215" y="79028"/>
                </a:cubicBezTo>
                <a:cubicBezTo>
                  <a:pt x="205160" y="91083"/>
                  <a:pt x="184547" y="82525"/>
                  <a:pt x="184547" y="65484"/>
                </a:cubicBezTo>
                <a:cubicBezTo>
                  <a:pt x="184547" y="55587"/>
                  <a:pt x="176585" y="47625"/>
                  <a:pt x="166687" y="47625"/>
                </a:cubicBezTo>
                <a:close/>
                <a:moveTo>
                  <a:pt x="142875" y="113109"/>
                </a:moveTo>
                <a:cubicBezTo>
                  <a:pt x="152732" y="113109"/>
                  <a:pt x="160734" y="121112"/>
                  <a:pt x="160734" y="130969"/>
                </a:cubicBezTo>
                <a:cubicBezTo>
                  <a:pt x="160734" y="140826"/>
                  <a:pt x="152732" y="148828"/>
                  <a:pt x="142875" y="148828"/>
                </a:cubicBezTo>
                <a:cubicBezTo>
                  <a:pt x="133018" y="148828"/>
                  <a:pt x="125016" y="140826"/>
                  <a:pt x="125016" y="130969"/>
                </a:cubicBezTo>
                <a:cubicBezTo>
                  <a:pt x="125016" y="121112"/>
                  <a:pt x="133018" y="113109"/>
                  <a:pt x="142875" y="113109"/>
                </a:cubicBezTo>
                <a:close/>
                <a:moveTo>
                  <a:pt x="172641" y="178594"/>
                </a:moveTo>
                <a:cubicBezTo>
                  <a:pt x="172641" y="168737"/>
                  <a:pt x="180643" y="160734"/>
                  <a:pt x="190500" y="160734"/>
                </a:cubicBezTo>
                <a:cubicBezTo>
                  <a:pt x="200357" y="160734"/>
                  <a:pt x="208359" y="168737"/>
                  <a:pt x="208359" y="178594"/>
                </a:cubicBezTo>
                <a:cubicBezTo>
                  <a:pt x="208359" y="188451"/>
                  <a:pt x="200357" y="196453"/>
                  <a:pt x="190500" y="196453"/>
                </a:cubicBezTo>
                <a:cubicBezTo>
                  <a:pt x="180643" y="196453"/>
                  <a:pt x="172641" y="188451"/>
                  <a:pt x="172641" y="178594"/>
                </a:cubicBezTo>
                <a:close/>
              </a:path>
            </a:pathLst>
          </a:custGeom>
          <a:solidFill>
            <a:srgbClr val="0F4C5C"/>
          </a:solidFill>
          <a:ln/>
        </p:spPr>
      </p:sp>
      <p:sp>
        <p:nvSpPr>
          <p:cNvPr id="19" name="Text 17"/>
          <p:cNvSpPr/>
          <p:nvPr/>
        </p:nvSpPr>
        <p:spPr>
          <a:xfrm>
            <a:off x="1524000" y="6604000"/>
            <a:ext cx="3810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Psychologists</a:t>
            </a:r>
            <a:endParaRPr lang="en-US" sz="1600" dirty="0"/>
          </a:p>
        </p:txBody>
      </p:sp>
      <p:sp>
        <p:nvSpPr>
          <p:cNvPr id="20" name="Text 18"/>
          <p:cNvSpPr/>
          <p:nvPr/>
        </p:nvSpPr>
        <p:spPr>
          <a:xfrm>
            <a:off x="1016000" y="7112000"/>
            <a:ext cx="4318000" cy="6985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"How do humans think?" — Cognition, learning, and problem-solving</a:t>
            </a:r>
            <a:endParaRPr lang="en-US" sz="1600" dirty="0"/>
          </a:p>
        </p:txBody>
      </p:sp>
      <p:sp>
        <p:nvSpPr>
          <p:cNvPr id="21" name="Shape 19"/>
          <p:cNvSpPr/>
          <p:nvPr/>
        </p:nvSpPr>
        <p:spPr>
          <a:xfrm flipV="1">
            <a:off x="5588000" y="5588000"/>
            <a:ext cx="762000" cy="762000"/>
          </a:xfrm>
          <a:prstGeom prst="straightConnector1">
            <a:avLst/>
          </a:prstGeom>
          <a:noFill/>
          <a:ln w="25400">
            <a:solidFill>
              <a:srgbClr val="D97706"/>
            </a:solidFill>
            <a:prstDash val="solid"/>
            <a:headEnd type="none"/>
            <a:tailEnd type="arrow"/>
          </a:ln>
        </p:spPr>
      </p:sp>
      <p:sp>
        <p:nvSpPr>
          <p:cNvPr id="22" name="Shape 20"/>
          <p:cNvSpPr/>
          <p:nvPr/>
        </p:nvSpPr>
        <p:spPr>
          <a:xfrm>
            <a:off x="10668000" y="6350000"/>
            <a:ext cx="4826000" cy="165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3" name="Shape 21"/>
          <p:cNvSpPr/>
          <p:nvPr/>
        </p:nvSpPr>
        <p:spPr>
          <a:xfrm>
            <a:off x="10922000" y="6667500"/>
            <a:ext cx="381000" cy="381000"/>
          </a:xfrm>
          <a:custGeom>
            <a:avLst/>
            <a:gdLst/>
            <a:ahLst/>
            <a:cxnLst/>
            <a:rect l="l" t="t" r="r" b="b"/>
            <a:pathLst>
              <a:path w="381000" h="381000">
                <a:moveTo>
                  <a:pt x="130969" y="17859"/>
                </a:moveTo>
                <a:cubicBezTo>
                  <a:pt x="130969" y="7962"/>
                  <a:pt x="123006" y="0"/>
                  <a:pt x="113109" y="0"/>
                </a:cubicBezTo>
                <a:cubicBezTo>
                  <a:pt x="103212" y="0"/>
                  <a:pt x="95250" y="7962"/>
                  <a:pt x="95250" y="17859"/>
                </a:cubicBezTo>
                <a:lnTo>
                  <a:pt x="95250" y="47625"/>
                </a:lnTo>
                <a:cubicBezTo>
                  <a:pt x="68982" y="47625"/>
                  <a:pt x="47625" y="68982"/>
                  <a:pt x="47625" y="95250"/>
                </a:cubicBezTo>
                <a:lnTo>
                  <a:pt x="17859" y="95250"/>
                </a:lnTo>
                <a:cubicBezTo>
                  <a:pt x="7962" y="95250"/>
                  <a:pt x="0" y="103212"/>
                  <a:pt x="0" y="113109"/>
                </a:cubicBezTo>
                <a:cubicBezTo>
                  <a:pt x="0" y="123006"/>
                  <a:pt x="7962" y="130969"/>
                  <a:pt x="17859" y="130969"/>
                </a:cubicBezTo>
                <a:lnTo>
                  <a:pt x="47625" y="130969"/>
                </a:lnTo>
                <a:lnTo>
                  <a:pt x="47625" y="172641"/>
                </a:lnTo>
                <a:lnTo>
                  <a:pt x="17859" y="172641"/>
                </a:lnTo>
                <a:cubicBezTo>
                  <a:pt x="7962" y="172641"/>
                  <a:pt x="0" y="180603"/>
                  <a:pt x="0" y="190500"/>
                </a:cubicBezTo>
                <a:cubicBezTo>
                  <a:pt x="0" y="200397"/>
                  <a:pt x="7962" y="208359"/>
                  <a:pt x="17859" y="208359"/>
                </a:cubicBezTo>
                <a:lnTo>
                  <a:pt x="47625" y="208359"/>
                </a:lnTo>
                <a:lnTo>
                  <a:pt x="47625" y="250031"/>
                </a:lnTo>
                <a:lnTo>
                  <a:pt x="17859" y="250031"/>
                </a:lnTo>
                <a:cubicBezTo>
                  <a:pt x="7962" y="250031"/>
                  <a:pt x="0" y="257994"/>
                  <a:pt x="0" y="267891"/>
                </a:cubicBezTo>
                <a:cubicBezTo>
                  <a:pt x="0" y="277788"/>
                  <a:pt x="7962" y="285750"/>
                  <a:pt x="17859" y="285750"/>
                </a:cubicBezTo>
                <a:lnTo>
                  <a:pt x="47625" y="285750"/>
                </a:lnTo>
                <a:cubicBezTo>
                  <a:pt x="47625" y="312018"/>
                  <a:pt x="68982" y="333375"/>
                  <a:pt x="95250" y="333375"/>
                </a:cubicBezTo>
                <a:lnTo>
                  <a:pt x="95250" y="363141"/>
                </a:lnTo>
                <a:cubicBezTo>
                  <a:pt x="95250" y="373038"/>
                  <a:pt x="103212" y="381000"/>
                  <a:pt x="113109" y="381000"/>
                </a:cubicBezTo>
                <a:cubicBezTo>
                  <a:pt x="123006" y="381000"/>
                  <a:pt x="130969" y="373038"/>
                  <a:pt x="130969" y="363141"/>
                </a:cubicBezTo>
                <a:lnTo>
                  <a:pt x="130969" y="333375"/>
                </a:lnTo>
                <a:lnTo>
                  <a:pt x="172641" y="333375"/>
                </a:lnTo>
                <a:lnTo>
                  <a:pt x="172641" y="363141"/>
                </a:lnTo>
                <a:cubicBezTo>
                  <a:pt x="172641" y="373038"/>
                  <a:pt x="180603" y="381000"/>
                  <a:pt x="190500" y="381000"/>
                </a:cubicBezTo>
                <a:cubicBezTo>
                  <a:pt x="200397" y="381000"/>
                  <a:pt x="208359" y="373038"/>
                  <a:pt x="208359" y="363141"/>
                </a:cubicBezTo>
                <a:lnTo>
                  <a:pt x="208359" y="333375"/>
                </a:lnTo>
                <a:lnTo>
                  <a:pt x="250031" y="333375"/>
                </a:lnTo>
                <a:lnTo>
                  <a:pt x="250031" y="363141"/>
                </a:lnTo>
                <a:cubicBezTo>
                  <a:pt x="250031" y="373038"/>
                  <a:pt x="257994" y="381000"/>
                  <a:pt x="267891" y="381000"/>
                </a:cubicBezTo>
                <a:cubicBezTo>
                  <a:pt x="277788" y="381000"/>
                  <a:pt x="285750" y="373038"/>
                  <a:pt x="285750" y="363141"/>
                </a:cubicBezTo>
                <a:lnTo>
                  <a:pt x="285750" y="333375"/>
                </a:lnTo>
                <a:cubicBezTo>
                  <a:pt x="312018" y="333375"/>
                  <a:pt x="333375" y="312018"/>
                  <a:pt x="333375" y="285750"/>
                </a:cubicBezTo>
                <a:lnTo>
                  <a:pt x="363141" y="285750"/>
                </a:lnTo>
                <a:cubicBezTo>
                  <a:pt x="373038" y="285750"/>
                  <a:pt x="381000" y="277788"/>
                  <a:pt x="381000" y="267891"/>
                </a:cubicBezTo>
                <a:cubicBezTo>
                  <a:pt x="381000" y="257994"/>
                  <a:pt x="373038" y="250031"/>
                  <a:pt x="363141" y="250031"/>
                </a:cubicBezTo>
                <a:lnTo>
                  <a:pt x="333375" y="250031"/>
                </a:lnTo>
                <a:lnTo>
                  <a:pt x="333375" y="208359"/>
                </a:lnTo>
                <a:lnTo>
                  <a:pt x="363141" y="208359"/>
                </a:lnTo>
                <a:cubicBezTo>
                  <a:pt x="373038" y="208359"/>
                  <a:pt x="381000" y="200397"/>
                  <a:pt x="381000" y="190500"/>
                </a:cubicBezTo>
                <a:cubicBezTo>
                  <a:pt x="381000" y="180603"/>
                  <a:pt x="373038" y="172641"/>
                  <a:pt x="363141" y="172641"/>
                </a:cubicBezTo>
                <a:lnTo>
                  <a:pt x="333375" y="172641"/>
                </a:lnTo>
                <a:lnTo>
                  <a:pt x="333375" y="130969"/>
                </a:lnTo>
                <a:lnTo>
                  <a:pt x="363141" y="130969"/>
                </a:lnTo>
                <a:cubicBezTo>
                  <a:pt x="373038" y="130969"/>
                  <a:pt x="381000" y="123006"/>
                  <a:pt x="381000" y="113109"/>
                </a:cubicBezTo>
                <a:cubicBezTo>
                  <a:pt x="381000" y="103212"/>
                  <a:pt x="373038" y="95250"/>
                  <a:pt x="363141" y="95250"/>
                </a:cubicBezTo>
                <a:lnTo>
                  <a:pt x="333375" y="95250"/>
                </a:lnTo>
                <a:cubicBezTo>
                  <a:pt x="333375" y="68982"/>
                  <a:pt x="312018" y="47625"/>
                  <a:pt x="285750" y="47625"/>
                </a:cubicBezTo>
                <a:lnTo>
                  <a:pt x="285750" y="17859"/>
                </a:lnTo>
                <a:cubicBezTo>
                  <a:pt x="285750" y="7962"/>
                  <a:pt x="277788" y="0"/>
                  <a:pt x="267891" y="0"/>
                </a:cubicBezTo>
                <a:cubicBezTo>
                  <a:pt x="257994" y="0"/>
                  <a:pt x="250031" y="7962"/>
                  <a:pt x="250031" y="17859"/>
                </a:cubicBezTo>
                <a:lnTo>
                  <a:pt x="250031" y="47625"/>
                </a:lnTo>
                <a:lnTo>
                  <a:pt x="208359" y="47625"/>
                </a:lnTo>
                <a:lnTo>
                  <a:pt x="208359" y="17859"/>
                </a:lnTo>
                <a:cubicBezTo>
                  <a:pt x="208359" y="7962"/>
                  <a:pt x="200397" y="0"/>
                  <a:pt x="190500" y="0"/>
                </a:cubicBezTo>
                <a:cubicBezTo>
                  <a:pt x="180603" y="0"/>
                  <a:pt x="172641" y="7962"/>
                  <a:pt x="172641" y="17859"/>
                </a:cubicBezTo>
                <a:lnTo>
                  <a:pt x="172641" y="47625"/>
                </a:lnTo>
                <a:lnTo>
                  <a:pt x="130969" y="47625"/>
                </a:lnTo>
                <a:lnTo>
                  <a:pt x="130969" y="17859"/>
                </a:lnTo>
                <a:close/>
                <a:moveTo>
                  <a:pt x="119063" y="95250"/>
                </a:moveTo>
                <a:lnTo>
                  <a:pt x="261938" y="95250"/>
                </a:lnTo>
                <a:cubicBezTo>
                  <a:pt x="275109" y="95250"/>
                  <a:pt x="285750" y="105891"/>
                  <a:pt x="285750" y="119063"/>
                </a:cubicBezTo>
                <a:lnTo>
                  <a:pt x="285750" y="261938"/>
                </a:lnTo>
                <a:cubicBezTo>
                  <a:pt x="285750" y="275109"/>
                  <a:pt x="275109" y="285750"/>
                  <a:pt x="261938" y="285750"/>
                </a:cubicBezTo>
                <a:lnTo>
                  <a:pt x="119063" y="285750"/>
                </a:lnTo>
                <a:cubicBezTo>
                  <a:pt x="105891" y="285750"/>
                  <a:pt x="95250" y="275109"/>
                  <a:pt x="95250" y="261938"/>
                </a:cubicBezTo>
                <a:lnTo>
                  <a:pt x="95250" y="119063"/>
                </a:lnTo>
                <a:cubicBezTo>
                  <a:pt x="95250" y="105891"/>
                  <a:pt x="105891" y="95250"/>
                  <a:pt x="119063" y="95250"/>
                </a:cubicBezTo>
                <a:close/>
                <a:moveTo>
                  <a:pt x="130969" y="130969"/>
                </a:moveTo>
                <a:lnTo>
                  <a:pt x="130969" y="250031"/>
                </a:lnTo>
                <a:lnTo>
                  <a:pt x="250031" y="250031"/>
                </a:lnTo>
                <a:lnTo>
                  <a:pt x="250031" y="130969"/>
                </a:lnTo>
                <a:lnTo>
                  <a:pt x="130969" y="130969"/>
                </a:lnTo>
                <a:close/>
              </a:path>
            </a:pathLst>
          </a:custGeom>
          <a:solidFill>
            <a:srgbClr val="0F4C5C"/>
          </a:solidFill>
          <a:ln/>
        </p:spPr>
      </p:sp>
      <p:sp>
        <p:nvSpPr>
          <p:cNvPr id="24" name="Text 22"/>
          <p:cNvSpPr/>
          <p:nvPr/>
        </p:nvSpPr>
        <p:spPr>
          <a:xfrm>
            <a:off x="11430000" y="6604000"/>
            <a:ext cx="3810000" cy="355600"/>
          </a:xfrm>
          <a:prstGeom prst="rect">
            <a:avLst/>
          </a:prstGeom>
          <a:noFill/>
          <a:ln/>
        </p:spPr>
        <p:txBody>
          <a:bodyPr wrap="none" lIns="0" tIns="0" rIns="0" bIns="0" rtlCol="0" anchor="ctr"/>
          <a:lstStyle/>
          <a:p>
            <a:pPr>
              <a:lnSpc>
                <a:spcPct val="100000"/>
              </a:lnSpc>
            </a:pPr>
            <a:r>
              <a:rPr lang="en-US" sz="1800" b="1" dirty="0">
                <a:solidFill>
                  <a:srgbClr val="0F4C5C"/>
                </a:solidFill>
                <a:latin typeface="Liter" pitchFamily="34" charset="0"/>
                <a:ea typeface="Liter" pitchFamily="34" charset="-122"/>
                <a:cs typeface="Liter" pitchFamily="34" charset="-120"/>
              </a:rPr>
              <a:t>Computer Engineers</a:t>
            </a:r>
            <a:endParaRPr lang="en-US" sz="1600" dirty="0"/>
          </a:p>
        </p:txBody>
      </p:sp>
      <p:sp>
        <p:nvSpPr>
          <p:cNvPr id="25" name="Text 23"/>
          <p:cNvSpPr/>
          <p:nvPr/>
        </p:nvSpPr>
        <p:spPr>
          <a:xfrm>
            <a:off x="10922000" y="7112000"/>
            <a:ext cx="4318000" cy="6985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"How can we implement it?" — Hardware, software, and systems</a:t>
            </a:r>
            <a:endParaRPr lang="en-US" sz="1600" dirty="0"/>
          </a:p>
        </p:txBody>
      </p:sp>
      <p:sp>
        <p:nvSpPr>
          <p:cNvPr id="26" name="Shape 24"/>
          <p:cNvSpPr/>
          <p:nvPr/>
        </p:nvSpPr>
        <p:spPr>
          <a:xfrm flipV="1">
            <a:off x="9906000" y="5588000"/>
            <a:ext cx="762000" cy="762000"/>
          </a:xfrm>
          <a:prstGeom prst="straightConnector1">
            <a:avLst/>
          </a:prstGeom>
          <a:noFill/>
          <a:ln w="25400">
            <a:solidFill>
              <a:srgbClr val="D97706"/>
            </a:solidFill>
            <a:prstDash val="solid"/>
            <a:headEnd type="arrow"/>
            <a:tailEnd type="none"/>
          </a:ln>
        </p:spPr>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Programming Without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6858000" cy="6731000"/>
          </a:xfrm>
          <a:prstGeom prst="rect">
            <a:avLst/>
          </a:prstGeom>
          <a:solidFill>
            <a:srgbClr val="0F4C5C"/>
          </a:solidFill>
          <a:ln/>
        </p:spPr>
      </p:sp>
      <p:sp>
        <p:nvSpPr>
          <p:cNvPr id="6" name="Text 4"/>
          <p:cNvSpPr/>
          <p:nvPr/>
        </p:nvSpPr>
        <p:spPr>
          <a:xfrm>
            <a:off x="1143000" y="1651000"/>
            <a:ext cx="6096000" cy="457200"/>
          </a:xfrm>
          <a:prstGeom prst="rect">
            <a:avLst/>
          </a:prstGeom>
          <a:noFill/>
          <a:ln/>
        </p:spPr>
        <p:txBody>
          <a:bodyPr wrap="none" lIns="0" tIns="0" rIns="0" bIns="0" rtlCol="0" anchor="ctr"/>
          <a:lstStyle/>
          <a:p>
            <a:pPr>
              <a:lnSpc>
                <a:spcPct val="100000"/>
              </a:lnSpc>
            </a:pPr>
            <a:r>
              <a:rPr lang="en-US" sz="2400" dirty="0">
                <a:solidFill>
                  <a:srgbClr val="FFFFFF"/>
                </a:solidFill>
                <a:latin typeface="Liter" pitchFamily="34" charset="0"/>
                <a:ea typeface="Liter" pitchFamily="34" charset="-122"/>
                <a:cs typeface="Liter" pitchFamily="34" charset="-120"/>
              </a:rPr>
              <a:t>Deterministic Approach</a:t>
            </a:r>
            <a:endParaRPr lang="en-US" sz="1600" dirty="0"/>
          </a:p>
        </p:txBody>
      </p:sp>
      <p:sp>
        <p:nvSpPr>
          <p:cNvPr id="7" name="Shape 5"/>
          <p:cNvSpPr/>
          <p:nvPr/>
        </p:nvSpPr>
        <p:spPr>
          <a:xfrm>
            <a:off x="1143000" y="2222500"/>
            <a:ext cx="635000" cy="25400"/>
          </a:xfrm>
          <a:prstGeom prst="rect">
            <a:avLst/>
          </a:prstGeom>
          <a:solidFill>
            <a:srgbClr val="D97706"/>
          </a:solidFill>
          <a:ln/>
        </p:spPr>
      </p:sp>
      <p:sp>
        <p:nvSpPr>
          <p:cNvPr id="8" name="Text 6"/>
          <p:cNvSpPr/>
          <p:nvPr/>
        </p:nvSpPr>
        <p:spPr>
          <a:xfrm>
            <a:off x="1143000" y="2476500"/>
            <a:ext cx="6096000" cy="5334000"/>
          </a:xfrm>
          <a:prstGeom prst="rect">
            <a:avLst/>
          </a:prstGeom>
          <a:noFill/>
          <a:ln/>
        </p:spPr>
        <p:txBody>
          <a:bodyPr wrap="square" lIns="0" tIns="0" rIns="0" bIns="0" rtlCol="0" anchor="t"/>
          <a:lstStyle/>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Programmer defines exact rules for every scenario</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Programs follow explicit step-by-step instructions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Output is entirely predictable from input</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Limited to well-defined, finite rule sets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Cannot handle ambiguity or novel situations</a:t>
            </a:r>
            <a:endParaRPr lang="en-US" sz="1600" dirty="0"/>
          </a:p>
          <a:p>
            <a:pPr>
              <a:lnSpc>
                <a:spcPct val="170000"/>
              </a:lnSpc>
              <a:spcBef>
                <a:spcPts val="2000"/>
              </a:spcBef>
            </a:pPr>
            <a:r>
              <a:rPr lang="en-US" sz="1600" b="1" dirty="0">
                <a:solidFill>
                  <a:srgbClr val="FFFFFF"/>
                </a:solidFill>
                <a:latin typeface="Quattrocento Sans" pitchFamily="34" charset="0"/>
                <a:ea typeface="Quattrocento Sans" pitchFamily="34" charset="-122"/>
                <a:cs typeface="Quattrocento Sans" pitchFamily="34" charset="-120"/>
              </a:rPr>
              <a:t>Example:</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A calculator has explicit code for every operation. The programmer must anticipate every scenario.</a:t>
            </a:r>
            <a:endParaRPr lang="en-US" sz="1600" dirty="0"/>
          </a:p>
        </p:txBody>
      </p:sp>
      <p:sp>
        <p:nvSpPr>
          <p:cNvPr id="9" name="Shape 7"/>
          <p:cNvSpPr/>
          <p:nvPr/>
        </p:nvSpPr>
        <p:spPr>
          <a:xfrm>
            <a:off x="8128000" y="1397000"/>
            <a:ext cx="7366000" cy="203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0" name="Shape 8"/>
          <p:cNvSpPr/>
          <p:nvPr/>
        </p:nvSpPr>
        <p:spPr>
          <a:xfrm>
            <a:off x="8445500" y="1714500"/>
            <a:ext cx="406400" cy="406400"/>
          </a:xfrm>
          <a:custGeom>
            <a:avLst/>
            <a:gdLst/>
            <a:ahLst/>
            <a:cxnLst/>
            <a:rect l="l" t="t" r="r" b="b"/>
            <a:pathLst>
              <a:path w="406400" h="406400">
                <a:moveTo>
                  <a:pt x="106204" y="28813"/>
                </a:moveTo>
                <a:cubicBezTo>
                  <a:pt x="114856" y="34846"/>
                  <a:pt x="116919" y="46752"/>
                  <a:pt x="110887" y="55324"/>
                </a:cubicBezTo>
                <a:lnTo>
                  <a:pt x="66437" y="118824"/>
                </a:lnTo>
                <a:cubicBezTo>
                  <a:pt x="63183" y="123428"/>
                  <a:pt x="58103" y="126365"/>
                  <a:pt x="52467" y="126841"/>
                </a:cubicBezTo>
                <a:cubicBezTo>
                  <a:pt x="46831" y="127317"/>
                  <a:pt x="41275" y="125413"/>
                  <a:pt x="37306" y="121444"/>
                </a:cubicBezTo>
                <a:lnTo>
                  <a:pt x="5556" y="89694"/>
                </a:lnTo>
                <a:cubicBezTo>
                  <a:pt x="-1826" y="82233"/>
                  <a:pt x="-1826" y="70168"/>
                  <a:pt x="5556" y="62706"/>
                </a:cubicBezTo>
                <a:cubicBezTo>
                  <a:pt x="12938" y="55245"/>
                  <a:pt x="25083" y="55324"/>
                  <a:pt x="32544" y="62706"/>
                </a:cubicBezTo>
                <a:lnTo>
                  <a:pt x="48260" y="78423"/>
                </a:lnTo>
                <a:lnTo>
                  <a:pt x="79693" y="33496"/>
                </a:lnTo>
                <a:cubicBezTo>
                  <a:pt x="85725" y="24844"/>
                  <a:pt x="97631" y="22781"/>
                  <a:pt x="106204" y="28813"/>
                </a:cubicBezTo>
                <a:close/>
                <a:moveTo>
                  <a:pt x="106204" y="155813"/>
                </a:moveTo>
                <a:cubicBezTo>
                  <a:pt x="114856" y="161846"/>
                  <a:pt x="116919" y="173752"/>
                  <a:pt x="110887" y="182324"/>
                </a:cubicBezTo>
                <a:lnTo>
                  <a:pt x="66437" y="245824"/>
                </a:lnTo>
                <a:cubicBezTo>
                  <a:pt x="63183" y="250428"/>
                  <a:pt x="58103" y="253365"/>
                  <a:pt x="52467" y="253841"/>
                </a:cubicBezTo>
                <a:cubicBezTo>
                  <a:pt x="46831" y="254318"/>
                  <a:pt x="41275" y="252413"/>
                  <a:pt x="37306" y="248444"/>
                </a:cubicBezTo>
                <a:lnTo>
                  <a:pt x="5556" y="216694"/>
                </a:lnTo>
                <a:cubicBezTo>
                  <a:pt x="-1905" y="209233"/>
                  <a:pt x="-1905" y="197168"/>
                  <a:pt x="5556" y="189786"/>
                </a:cubicBezTo>
                <a:cubicBezTo>
                  <a:pt x="13017" y="182404"/>
                  <a:pt x="25083" y="182324"/>
                  <a:pt x="32464" y="189786"/>
                </a:cubicBezTo>
                <a:lnTo>
                  <a:pt x="48181" y="205502"/>
                </a:lnTo>
                <a:lnTo>
                  <a:pt x="79613" y="160576"/>
                </a:lnTo>
                <a:cubicBezTo>
                  <a:pt x="85646" y="151924"/>
                  <a:pt x="97552" y="149860"/>
                  <a:pt x="106124" y="155892"/>
                </a:cubicBezTo>
                <a:close/>
                <a:moveTo>
                  <a:pt x="177800" y="76200"/>
                </a:moveTo>
                <a:cubicBezTo>
                  <a:pt x="177800" y="62151"/>
                  <a:pt x="189151" y="50800"/>
                  <a:pt x="203200" y="50800"/>
                </a:cubicBezTo>
                <a:lnTo>
                  <a:pt x="381000" y="50800"/>
                </a:lnTo>
                <a:cubicBezTo>
                  <a:pt x="395049" y="50800"/>
                  <a:pt x="406400" y="62151"/>
                  <a:pt x="406400" y="76200"/>
                </a:cubicBezTo>
                <a:cubicBezTo>
                  <a:pt x="406400" y="90249"/>
                  <a:pt x="395049" y="101600"/>
                  <a:pt x="381000" y="101600"/>
                </a:cubicBezTo>
                <a:lnTo>
                  <a:pt x="203200" y="101600"/>
                </a:lnTo>
                <a:cubicBezTo>
                  <a:pt x="189151" y="101600"/>
                  <a:pt x="177800" y="90249"/>
                  <a:pt x="177800" y="76200"/>
                </a:cubicBezTo>
                <a:close/>
                <a:moveTo>
                  <a:pt x="177800" y="203200"/>
                </a:moveTo>
                <a:cubicBezTo>
                  <a:pt x="177800" y="189151"/>
                  <a:pt x="189151" y="177800"/>
                  <a:pt x="203200" y="177800"/>
                </a:cubicBezTo>
                <a:lnTo>
                  <a:pt x="381000" y="177800"/>
                </a:lnTo>
                <a:cubicBezTo>
                  <a:pt x="395049" y="177800"/>
                  <a:pt x="406400" y="189151"/>
                  <a:pt x="406400" y="203200"/>
                </a:cubicBezTo>
                <a:cubicBezTo>
                  <a:pt x="406400" y="217249"/>
                  <a:pt x="395049" y="228600"/>
                  <a:pt x="381000" y="228600"/>
                </a:cubicBezTo>
                <a:lnTo>
                  <a:pt x="203200" y="228600"/>
                </a:lnTo>
                <a:cubicBezTo>
                  <a:pt x="189151" y="228600"/>
                  <a:pt x="177800" y="217249"/>
                  <a:pt x="177800" y="203200"/>
                </a:cubicBezTo>
                <a:close/>
                <a:moveTo>
                  <a:pt x="127000" y="330200"/>
                </a:moveTo>
                <a:cubicBezTo>
                  <a:pt x="127000" y="316151"/>
                  <a:pt x="138351" y="304800"/>
                  <a:pt x="152400" y="304800"/>
                </a:cubicBezTo>
                <a:lnTo>
                  <a:pt x="381000" y="304800"/>
                </a:lnTo>
                <a:cubicBezTo>
                  <a:pt x="395049" y="304800"/>
                  <a:pt x="406400" y="316151"/>
                  <a:pt x="406400" y="330200"/>
                </a:cubicBezTo>
                <a:cubicBezTo>
                  <a:pt x="406400" y="344249"/>
                  <a:pt x="395049" y="355600"/>
                  <a:pt x="381000" y="355600"/>
                </a:cubicBezTo>
                <a:lnTo>
                  <a:pt x="152400" y="355600"/>
                </a:lnTo>
                <a:cubicBezTo>
                  <a:pt x="138351" y="355600"/>
                  <a:pt x="127000" y="344249"/>
                  <a:pt x="127000" y="330200"/>
                </a:cubicBezTo>
                <a:close/>
                <a:moveTo>
                  <a:pt x="50800" y="298450"/>
                </a:moveTo>
                <a:cubicBezTo>
                  <a:pt x="68323" y="298450"/>
                  <a:pt x="82550" y="312677"/>
                  <a:pt x="82550" y="330200"/>
                </a:cubicBezTo>
                <a:cubicBezTo>
                  <a:pt x="82550" y="347723"/>
                  <a:pt x="68323" y="361950"/>
                  <a:pt x="50800" y="361950"/>
                </a:cubicBezTo>
                <a:cubicBezTo>
                  <a:pt x="33277" y="361950"/>
                  <a:pt x="19050" y="347723"/>
                  <a:pt x="19050" y="330200"/>
                </a:cubicBezTo>
                <a:cubicBezTo>
                  <a:pt x="19050" y="312677"/>
                  <a:pt x="33277" y="298450"/>
                  <a:pt x="50800" y="298450"/>
                </a:cubicBezTo>
                <a:close/>
              </a:path>
            </a:pathLst>
          </a:custGeom>
          <a:solidFill>
            <a:srgbClr val="0F4C5C"/>
          </a:solidFill>
          <a:ln/>
        </p:spPr>
      </p:sp>
      <p:sp>
        <p:nvSpPr>
          <p:cNvPr id="11" name="Text 9"/>
          <p:cNvSpPr/>
          <p:nvPr/>
        </p:nvSpPr>
        <p:spPr>
          <a:xfrm>
            <a:off x="9017000" y="16510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Rule-Based Systems</a:t>
            </a:r>
            <a:endParaRPr lang="en-US" sz="1600" dirty="0"/>
          </a:p>
        </p:txBody>
      </p:sp>
      <p:sp>
        <p:nvSpPr>
          <p:cNvPr id="12" name="Text 10"/>
          <p:cNvSpPr/>
          <p:nvPr/>
        </p:nvSpPr>
        <p:spPr>
          <a:xfrm>
            <a:off x="9017000" y="2095500"/>
            <a:ext cx="6223000" cy="1143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Every decision is hard-coded. If input A, then output B. The system cannot adapt to inputs it has not been explicitly programmed to handle.</a:t>
            </a:r>
            <a:endParaRPr lang="en-US" sz="1600" dirty="0"/>
          </a:p>
        </p:txBody>
      </p:sp>
      <p:sp>
        <p:nvSpPr>
          <p:cNvPr id="13" name="Shape 11"/>
          <p:cNvSpPr/>
          <p:nvPr/>
        </p:nvSpPr>
        <p:spPr>
          <a:xfrm>
            <a:off x="8128000" y="3746500"/>
            <a:ext cx="7366000" cy="203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4" name="Shape 12"/>
          <p:cNvSpPr/>
          <p:nvPr/>
        </p:nvSpPr>
        <p:spPr>
          <a:xfrm>
            <a:off x="8496300" y="4064000"/>
            <a:ext cx="304800" cy="406400"/>
          </a:xfrm>
          <a:custGeom>
            <a:avLst/>
            <a:gdLst/>
            <a:ahLst/>
            <a:cxnLst/>
            <a:rect l="l" t="t" r="r" b="b"/>
            <a:pathLst>
              <a:path w="304800" h="406400">
                <a:moveTo>
                  <a:pt x="101600" y="76200"/>
                </a:moveTo>
                <a:lnTo>
                  <a:pt x="101600" y="127000"/>
                </a:lnTo>
                <a:lnTo>
                  <a:pt x="203200" y="127000"/>
                </a:lnTo>
                <a:lnTo>
                  <a:pt x="203200" y="76200"/>
                </a:lnTo>
                <a:cubicBezTo>
                  <a:pt x="203200" y="48181"/>
                  <a:pt x="180419" y="25400"/>
                  <a:pt x="152400" y="25400"/>
                </a:cubicBezTo>
                <a:cubicBezTo>
                  <a:pt x="124381" y="25400"/>
                  <a:pt x="101600" y="48181"/>
                  <a:pt x="101600" y="76200"/>
                </a:cubicBezTo>
                <a:close/>
                <a:moveTo>
                  <a:pt x="50800" y="127000"/>
                </a:moveTo>
                <a:lnTo>
                  <a:pt x="50800" y="76200"/>
                </a:lnTo>
                <a:cubicBezTo>
                  <a:pt x="50800" y="20082"/>
                  <a:pt x="96282" y="-25400"/>
                  <a:pt x="152400" y="-25400"/>
                </a:cubicBezTo>
                <a:cubicBezTo>
                  <a:pt x="208518" y="-25400"/>
                  <a:pt x="254000" y="20082"/>
                  <a:pt x="254000" y="76200"/>
                </a:cubicBezTo>
                <a:lnTo>
                  <a:pt x="254000" y="127000"/>
                </a:lnTo>
                <a:cubicBezTo>
                  <a:pt x="282019" y="127000"/>
                  <a:pt x="304800" y="149781"/>
                  <a:pt x="304800" y="177800"/>
                </a:cubicBezTo>
                <a:lnTo>
                  <a:pt x="304800" y="355600"/>
                </a:lnTo>
                <a:cubicBezTo>
                  <a:pt x="304800" y="383619"/>
                  <a:pt x="282019" y="406400"/>
                  <a:pt x="254000" y="406400"/>
                </a:cubicBezTo>
                <a:lnTo>
                  <a:pt x="50800" y="406400"/>
                </a:lnTo>
                <a:cubicBezTo>
                  <a:pt x="22781" y="406400"/>
                  <a:pt x="0" y="383619"/>
                  <a:pt x="0" y="355600"/>
                </a:cubicBezTo>
                <a:lnTo>
                  <a:pt x="0" y="177800"/>
                </a:lnTo>
                <a:cubicBezTo>
                  <a:pt x="0" y="149781"/>
                  <a:pt x="22781" y="127000"/>
                  <a:pt x="50800" y="127000"/>
                </a:cubicBezTo>
                <a:close/>
              </a:path>
            </a:pathLst>
          </a:custGeom>
          <a:solidFill>
            <a:srgbClr val="0F4C5C"/>
          </a:solidFill>
          <a:ln/>
        </p:spPr>
      </p:sp>
      <p:sp>
        <p:nvSpPr>
          <p:cNvPr id="15" name="Text 13"/>
          <p:cNvSpPr/>
          <p:nvPr/>
        </p:nvSpPr>
        <p:spPr>
          <a:xfrm>
            <a:off x="9017000" y="40005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Fixed &amp; Inflexible</a:t>
            </a:r>
            <a:endParaRPr lang="en-US" sz="1600" dirty="0"/>
          </a:p>
        </p:txBody>
      </p:sp>
      <p:sp>
        <p:nvSpPr>
          <p:cNvPr id="16" name="Text 14"/>
          <p:cNvSpPr/>
          <p:nvPr/>
        </p:nvSpPr>
        <p:spPr>
          <a:xfrm>
            <a:off x="9017000" y="4445000"/>
            <a:ext cx="6223000" cy="1143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Traditional programs break when encountering edge cases. They require manual updates for every new scenario the developer must foresee.</a:t>
            </a:r>
            <a:endParaRPr lang="en-US" sz="1600" dirty="0"/>
          </a:p>
        </p:txBody>
      </p:sp>
      <p:sp>
        <p:nvSpPr>
          <p:cNvPr id="17" name="Shape 15"/>
          <p:cNvSpPr/>
          <p:nvPr/>
        </p:nvSpPr>
        <p:spPr>
          <a:xfrm>
            <a:off x="8128000" y="6096000"/>
            <a:ext cx="7366000" cy="203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8" name="Shape 16"/>
          <p:cNvSpPr/>
          <p:nvPr/>
        </p:nvSpPr>
        <p:spPr>
          <a:xfrm>
            <a:off x="8445500" y="6413500"/>
            <a:ext cx="406400" cy="406400"/>
          </a:xfrm>
          <a:custGeom>
            <a:avLst/>
            <a:gdLst/>
            <a:ahLst/>
            <a:cxnLst/>
            <a:rect l="l" t="t" r="r" b="b"/>
            <a:pathLst>
              <a:path w="406400" h="406400">
                <a:moveTo>
                  <a:pt x="203200" y="0"/>
                </a:moveTo>
                <a:cubicBezTo>
                  <a:pt x="214868" y="0"/>
                  <a:pt x="225584" y="6429"/>
                  <a:pt x="231140" y="16669"/>
                </a:cubicBezTo>
                <a:lnTo>
                  <a:pt x="402590" y="334169"/>
                </a:lnTo>
                <a:cubicBezTo>
                  <a:pt x="407908" y="344011"/>
                  <a:pt x="407670" y="355918"/>
                  <a:pt x="401955" y="365522"/>
                </a:cubicBezTo>
                <a:cubicBezTo>
                  <a:pt x="396240" y="375126"/>
                  <a:pt x="385842" y="381000"/>
                  <a:pt x="374650" y="381000"/>
                </a:cubicBezTo>
                <a:lnTo>
                  <a:pt x="31750" y="381000"/>
                </a:lnTo>
                <a:cubicBezTo>
                  <a:pt x="20558" y="381000"/>
                  <a:pt x="10239" y="375126"/>
                  <a:pt x="4445" y="365522"/>
                </a:cubicBezTo>
                <a:cubicBezTo>
                  <a:pt x="-1349" y="355918"/>
                  <a:pt x="-1508" y="344011"/>
                  <a:pt x="3810" y="334169"/>
                </a:cubicBezTo>
                <a:lnTo>
                  <a:pt x="175260" y="16669"/>
                </a:lnTo>
                <a:cubicBezTo>
                  <a:pt x="180816" y="6429"/>
                  <a:pt x="191532" y="0"/>
                  <a:pt x="203200" y="0"/>
                </a:cubicBezTo>
                <a:close/>
                <a:moveTo>
                  <a:pt x="203200" y="133350"/>
                </a:moveTo>
                <a:cubicBezTo>
                  <a:pt x="192643" y="133350"/>
                  <a:pt x="184150" y="141843"/>
                  <a:pt x="184150" y="152400"/>
                </a:cubicBezTo>
                <a:lnTo>
                  <a:pt x="184150" y="241300"/>
                </a:lnTo>
                <a:cubicBezTo>
                  <a:pt x="184150" y="251857"/>
                  <a:pt x="192643" y="260350"/>
                  <a:pt x="203200" y="260350"/>
                </a:cubicBezTo>
                <a:cubicBezTo>
                  <a:pt x="213757" y="260350"/>
                  <a:pt x="222250" y="251857"/>
                  <a:pt x="222250" y="241300"/>
                </a:cubicBezTo>
                <a:lnTo>
                  <a:pt x="222250" y="152400"/>
                </a:lnTo>
                <a:cubicBezTo>
                  <a:pt x="222250" y="141843"/>
                  <a:pt x="213757" y="133350"/>
                  <a:pt x="203200" y="133350"/>
                </a:cubicBezTo>
                <a:close/>
                <a:moveTo>
                  <a:pt x="224393" y="304800"/>
                </a:moveTo>
                <a:cubicBezTo>
                  <a:pt x="224875" y="296933"/>
                  <a:pt x="220952" y="289449"/>
                  <a:pt x="214208" y="285370"/>
                </a:cubicBezTo>
                <a:cubicBezTo>
                  <a:pt x="207465" y="281291"/>
                  <a:pt x="199015" y="281291"/>
                  <a:pt x="192271" y="285370"/>
                </a:cubicBezTo>
                <a:cubicBezTo>
                  <a:pt x="185527" y="289449"/>
                  <a:pt x="181604" y="296933"/>
                  <a:pt x="182086" y="304800"/>
                </a:cubicBezTo>
                <a:cubicBezTo>
                  <a:pt x="181604" y="312667"/>
                  <a:pt x="185527" y="320151"/>
                  <a:pt x="192271" y="324230"/>
                </a:cubicBezTo>
                <a:cubicBezTo>
                  <a:pt x="199015" y="328309"/>
                  <a:pt x="207465" y="328309"/>
                  <a:pt x="214208" y="324230"/>
                </a:cubicBezTo>
                <a:cubicBezTo>
                  <a:pt x="220952" y="320151"/>
                  <a:pt x="224875" y="312667"/>
                  <a:pt x="224393" y="304800"/>
                </a:cubicBezTo>
                <a:close/>
              </a:path>
            </a:pathLst>
          </a:custGeom>
          <a:solidFill>
            <a:srgbClr val="D97706"/>
          </a:solidFill>
          <a:ln/>
        </p:spPr>
      </p:sp>
      <p:sp>
        <p:nvSpPr>
          <p:cNvPr id="19" name="Text 17"/>
          <p:cNvSpPr/>
          <p:nvPr/>
        </p:nvSpPr>
        <p:spPr>
          <a:xfrm>
            <a:off x="9017000" y="63500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Key Limitation</a:t>
            </a:r>
            <a:endParaRPr lang="en-US" sz="1600" dirty="0"/>
          </a:p>
        </p:txBody>
      </p:sp>
      <p:sp>
        <p:nvSpPr>
          <p:cNvPr id="20" name="Text 18"/>
          <p:cNvSpPr/>
          <p:nvPr/>
        </p:nvSpPr>
        <p:spPr>
          <a:xfrm>
            <a:off x="9017000" y="6794500"/>
            <a:ext cx="6223000" cy="1143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Scaling rule-based systems becomes exponentially complex. A chess program would need billions of hard-coded rules to play competently.</a:t>
            </a:r>
            <a:endParaRPr lang="en-US" sz="1600" dirty="0"/>
          </a:p>
        </p:txBody>
      </p:sp>
      <p:sp>
        <p:nvSpPr>
          <p:cNvPr id="21" name="Text 19"/>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2" name="Text 20"/>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Programming With AI</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6858000" cy="6731000"/>
          </a:xfrm>
          <a:prstGeom prst="rect">
            <a:avLst/>
          </a:prstGeom>
          <a:solidFill>
            <a:srgbClr val="0F4C5C"/>
          </a:solidFill>
          <a:ln/>
        </p:spPr>
      </p:sp>
      <p:sp>
        <p:nvSpPr>
          <p:cNvPr id="6" name="Text 4"/>
          <p:cNvSpPr/>
          <p:nvPr/>
        </p:nvSpPr>
        <p:spPr>
          <a:xfrm>
            <a:off x="1143000" y="1651000"/>
            <a:ext cx="6096000" cy="457200"/>
          </a:xfrm>
          <a:prstGeom prst="rect">
            <a:avLst/>
          </a:prstGeom>
          <a:noFill/>
          <a:ln/>
        </p:spPr>
        <p:txBody>
          <a:bodyPr wrap="none" lIns="0" tIns="0" rIns="0" bIns="0" rtlCol="0" anchor="ctr"/>
          <a:lstStyle/>
          <a:p>
            <a:pPr>
              <a:lnSpc>
                <a:spcPct val="100000"/>
              </a:lnSpc>
            </a:pPr>
            <a:r>
              <a:rPr lang="en-US" sz="2400" dirty="0">
                <a:solidFill>
                  <a:srgbClr val="FFFFFF"/>
                </a:solidFill>
                <a:latin typeface="Liter" pitchFamily="34" charset="0"/>
                <a:ea typeface="Liter" pitchFamily="34" charset="-122"/>
                <a:cs typeface="Liter" pitchFamily="34" charset="-120"/>
              </a:rPr>
              <a:t>Learning-Based Approach</a:t>
            </a:r>
            <a:endParaRPr lang="en-US" sz="1600" dirty="0"/>
          </a:p>
        </p:txBody>
      </p:sp>
      <p:sp>
        <p:nvSpPr>
          <p:cNvPr id="7" name="Shape 5"/>
          <p:cNvSpPr/>
          <p:nvPr/>
        </p:nvSpPr>
        <p:spPr>
          <a:xfrm>
            <a:off x="1143000" y="2222500"/>
            <a:ext cx="635000" cy="25400"/>
          </a:xfrm>
          <a:prstGeom prst="rect">
            <a:avLst/>
          </a:prstGeom>
          <a:solidFill>
            <a:srgbClr val="D97706"/>
          </a:solidFill>
          <a:ln/>
        </p:spPr>
      </p:sp>
      <p:sp>
        <p:nvSpPr>
          <p:cNvPr id="8" name="Text 6"/>
          <p:cNvSpPr/>
          <p:nvPr/>
        </p:nvSpPr>
        <p:spPr>
          <a:xfrm>
            <a:off x="1143000" y="2476500"/>
            <a:ext cx="6096000" cy="5334000"/>
          </a:xfrm>
          <a:prstGeom prst="rect">
            <a:avLst/>
          </a:prstGeom>
          <a:noFill/>
          <a:ln/>
        </p:spPr>
        <p:txBody>
          <a:bodyPr wrap="square" lIns="0" tIns="0" rIns="0" bIns="0" rtlCol="0" anchor="t"/>
          <a:lstStyle/>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Systems learn patterns from data</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Handles uncertainty and ambiguity</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Generalizes to new situations</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Improves with more data</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Uses ML, neural networks, statistics</a:t>
            </a:r>
            <a:endParaRPr lang="en-US" sz="1600" dirty="0"/>
          </a:p>
          <a:p>
            <a:pPr>
              <a:lnSpc>
                <a:spcPct val="170000"/>
              </a:lnSpc>
              <a:spcBef>
                <a:spcPts val="2000"/>
              </a:spcBef>
            </a:pPr>
            <a:r>
              <a:rPr lang="en-US" sz="1600" b="1" dirty="0">
                <a:solidFill>
                  <a:srgbClr val="FFFFFF"/>
                </a:solidFill>
                <a:latin typeface="Quattrocento Sans" pitchFamily="34" charset="0"/>
                <a:ea typeface="Quattrocento Sans" pitchFamily="34" charset="-122"/>
                <a:cs typeface="Quattrocento Sans" pitchFamily="34" charset="-120"/>
              </a:rPr>
              <a:t>Example:</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A spam filter learns from examples rather than following fixed rules — it discovers patterns autonomously.</a:t>
            </a:r>
            <a:endParaRPr lang="en-US" sz="1600" dirty="0"/>
          </a:p>
        </p:txBody>
      </p:sp>
      <p:sp>
        <p:nvSpPr>
          <p:cNvPr id="9" name="Shape 7"/>
          <p:cNvSpPr/>
          <p:nvPr/>
        </p:nvSpPr>
        <p:spPr>
          <a:xfrm>
            <a:off x="8128000" y="1397000"/>
            <a:ext cx="7366000" cy="203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0" name="Shape 8"/>
          <p:cNvSpPr/>
          <p:nvPr/>
        </p:nvSpPr>
        <p:spPr>
          <a:xfrm>
            <a:off x="8470900" y="1714500"/>
            <a:ext cx="355600" cy="406400"/>
          </a:xfrm>
          <a:custGeom>
            <a:avLst/>
            <a:gdLst/>
            <a:ahLst/>
            <a:cxnLst/>
            <a:rect l="l" t="t" r="r" b="b"/>
            <a:pathLst>
              <a:path w="355600" h="406400">
                <a:moveTo>
                  <a:pt x="355600" y="163354"/>
                </a:moveTo>
                <a:cubicBezTo>
                  <a:pt x="343853" y="171133"/>
                  <a:pt x="330359" y="177403"/>
                  <a:pt x="316309" y="182404"/>
                </a:cubicBezTo>
                <a:cubicBezTo>
                  <a:pt x="279003" y="195739"/>
                  <a:pt x="230029" y="203200"/>
                  <a:pt x="177800" y="203200"/>
                </a:cubicBezTo>
                <a:cubicBezTo>
                  <a:pt x="125571" y="203200"/>
                  <a:pt x="76518" y="195659"/>
                  <a:pt x="39291" y="182404"/>
                </a:cubicBezTo>
                <a:cubicBezTo>
                  <a:pt x="25321" y="177403"/>
                  <a:pt x="11747" y="171133"/>
                  <a:pt x="0" y="163354"/>
                </a:cubicBezTo>
                <a:lnTo>
                  <a:pt x="0" y="228600"/>
                </a:lnTo>
                <a:cubicBezTo>
                  <a:pt x="0" y="263684"/>
                  <a:pt x="79613" y="292100"/>
                  <a:pt x="177800" y="292100"/>
                </a:cubicBezTo>
                <a:cubicBezTo>
                  <a:pt x="275987" y="292100"/>
                  <a:pt x="355600" y="263684"/>
                  <a:pt x="355600" y="228600"/>
                </a:cubicBezTo>
                <a:lnTo>
                  <a:pt x="355600" y="163354"/>
                </a:lnTo>
                <a:close/>
                <a:moveTo>
                  <a:pt x="355600" y="101600"/>
                </a:moveTo>
                <a:lnTo>
                  <a:pt x="355600" y="63500"/>
                </a:lnTo>
                <a:cubicBezTo>
                  <a:pt x="355600" y="28416"/>
                  <a:pt x="275987" y="0"/>
                  <a:pt x="177800" y="0"/>
                </a:cubicBezTo>
                <a:cubicBezTo>
                  <a:pt x="79613" y="0"/>
                  <a:pt x="0" y="28416"/>
                  <a:pt x="0" y="63500"/>
                </a:cubicBezTo>
                <a:lnTo>
                  <a:pt x="0" y="101600"/>
                </a:lnTo>
                <a:cubicBezTo>
                  <a:pt x="0" y="136684"/>
                  <a:pt x="79613" y="165100"/>
                  <a:pt x="177800" y="165100"/>
                </a:cubicBezTo>
                <a:cubicBezTo>
                  <a:pt x="275987" y="165100"/>
                  <a:pt x="355600" y="136684"/>
                  <a:pt x="355600" y="101600"/>
                </a:cubicBezTo>
                <a:close/>
                <a:moveTo>
                  <a:pt x="316309" y="309404"/>
                </a:moveTo>
                <a:cubicBezTo>
                  <a:pt x="279083" y="322659"/>
                  <a:pt x="230108" y="330200"/>
                  <a:pt x="177800" y="330200"/>
                </a:cubicBezTo>
                <a:cubicBezTo>
                  <a:pt x="125492" y="330200"/>
                  <a:pt x="76518" y="322659"/>
                  <a:pt x="39291" y="309404"/>
                </a:cubicBezTo>
                <a:cubicBezTo>
                  <a:pt x="25321" y="304403"/>
                  <a:pt x="11747" y="298133"/>
                  <a:pt x="0" y="290354"/>
                </a:cubicBezTo>
                <a:lnTo>
                  <a:pt x="0" y="342900"/>
                </a:lnTo>
                <a:cubicBezTo>
                  <a:pt x="0" y="377984"/>
                  <a:pt x="79613" y="406400"/>
                  <a:pt x="177800" y="406400"/>
                </a:cubicBezTo>
                <a:cubicBezTo>
                  <a:pt x="275987" y="406400"/>
                  <a:pt x="355600" y="377984"/>
                  <a:pt x="355600" y="342900"/>
                </a:cubicBezTo>
                <a:lnTo>
                  <a:pt x="355600" y="290354"/>
                </a:lnTo>
                <a:cubicBezTo>
                  <a:pt x="343853" y="298133"/>
                  <a:pt x="330359" y="304403"/>
                  <a:pt x="316309" y="309404"/>
                </a:cubicBezTo>
                <a:close/>
              </a:path>
            </a:pathLst>
          </a:custGeom>
          <a:solidFill>
            <a:srgbClr val="0F4C5C"/>
          </a:solidFill>
          <a:ln/>
        </p:spPr>
      </p:sp>
      <p:sp>
        <p:nvSpPr>
          <p:cNvPr id="11" name="Text 9"/>
          <p:cNvSpPr/>
          <p:nvPr/>
        </p:nvSpPr>
        <p:spPr>
          <a:xfrm>
            <a:off x="9017000" y="16510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Data-Driven Learning</a:t>
            </a:r>
            <a:endParaRPr lang="en-US" sz="1600" dirty="0"/>
          </a:p>
        </p:txBody>
      </p:sp>
      <p:sp>
        <p:nvSpPr>
          <p:cNvPr id="12" name="Text 10"/>
          <p:cNvSpPr/>
          <p:nvPr/>
        </p:nvSpPr>
        <p:spPr>
          <a:xfrm>
            <a:off x="9017000" y="2095500"/>
            <a:ext cx="6223000" cy="1143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Instead of explicit rules, AI systems extract patterns from training data. The more diverse the data, the better the system performs.</a:t>
            </a:r>
            <a:endParaRPr lang="en-US" sz="1600" dirty="0"/>
          </a:p>
        </p:txBody>
      </p:sp>
      <p:sp>
        <p:nvSpPr>
          <p:cNvPr id="13" name="Shape 11"/>
          <p:cNvSpPr/>
          <p:nvPr/>
        </p:nvSpPr>
        <p:spPr>
          <a:xfrm>
            <a:off x="8128000" y="3746500"/>
            <a:ext cx="7366000" cy="203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4" name="Shape 12"/>
          <p:cNvSpPr/>
          <p:nvPr/>
        </p:nvSpPr>
        <p:spPr>
          <a:xfrm>
            <a:off x="8445500" y="4064000"/>
            <a:ext cx="406400" cy="406400"/>
          </a:xfrm>
          <a:custGeom>
            <a:avLst/>
            <a:gdLst/>
            <a:ahLst/>
            <a:cxnLst/>
            <a:rect l="l" t="t" r="r" b="b"/>
            <a:pathLst>
              <a:path w="406400" h="406400">
                <a:moveTo>
                  <a:pt x="382349" y="190579"/>
                </a:moveTo>
                <a:cubicBezTo>
                  <a:pt x="368379" y="189627"/>
                  <a:pt x="356235" y="200104"/>
                  <a:pt x="355203" y="214154"/>
                </a:cubicBezTo>
                <a:cubicBezTo>
                  <a:pt x="352584" y="251460"/>
                  <a:pt x="336471" y="285115"/>
                  <a:pt x="311706" y="310198"/>
                </a:cubicBezTo>
                <a:lnTo>
                  <a:pt x="286544" y="284956"/>
                </a:lnTo>
                <a:cubicBezTo>
                  <a:pt x="281067" y="279479"/>
                  <a:pt x="272891" y="277892"/>
                  <a:pt x="265748" y="280829"/>
                </a:cubicBezTo>
                <a:cubicBezTo>
                  <a:pt x="258604" y="283766"/>
                  <a:pt x="254000" y="290751"/>
                  <a:pt x="254000" y="298450"/>
                </a:cubicBezTo>
                <a:lnTo>
                  <a:pt x="254000" y="387350"/>
                </a:lnTo>
                <a:cubicBezTo>
                  <a:pt x="254000" y="397907"/>
                  <a:pt x="262493" y="406400"/>
                  <a:pt x="273050" y="406400"/>
                </a:cubicBezTo>
                <a:lnTo>
                  <a:pt x="361950" y="406400"/>
                </a:lnTo>
                <a:cubicBezTo>
                  <a:pt x="369649" y="406400"/>
                  <a:pt x="376634" y="401796"/>
                  <a:pt x="379571" y="394652"/>
                </a:cubicBezTo>
                <a:cubicBezTo>
                  <a:pt x="382508" y="387509"/>
                  <a:pt x="380921" y="379333"/>
                  <a:pt x="375444" y="373856"/>
                </a:cubicBezTo>
                <a:lnTo>
                  <a:pt x="347663" y="346075"/>
                </a:lnTo>
                <a:cubicBezTo>
                  <a:pt x="380762" y="312579"/>
                  <a:pt x="402352" y="267653"/>
                  <a:pt x="405924" y="217646"/>
                </a:cubicBezTo>
                <a:cubicBezTo>
                  <a:pt x="406876" y="203676"/>
                  <a:pt x="396399" y="191532"/>
                  <a:pt x="382349" y="190500"/>
                </a:cubicBezTo>
                <a:close/>
                <a:moveTo>
                  <a:pt x="30956" y="32544"/>
                </a:moveTo>
                <a:lnTo>
                  <a:pt x="58737" y="60325"/>
                </a:lnTo>
                <a:cubicBezTo>
                  <a:pt x="25638" y="93821"/>
                  <a:pt x="4048" y="138748"/>
                  <a:pt x="476" y="188754"/>
                </a:cubicBezTo>
                <a:cubicBezTo>
                  <a:pt x="-476" y="202724"/>
                  <a:pt x="10001" y="214868"/>
                  <a:pt x="24051" y="215900"/>
                </a:cubicBezTo>
                <a:cubicBezTo>
                  <a:pt x="38100" y="216932"/>
                  <a:pt x="50165" y="206375"/>
                  <a:pt x="51197" y="192326"/>
                </a:cubicBezTo>
                <a:cubicBezTo>
                  <a:pt x="53816" y="155019"/>
                  <a:pt x="69929" y="121364"/>
                  <a:pt x="94694" y="96282"/>
                </a:cubicBezTo>
                <a:lnTo>
                  <a:pt x="119856" y="121444"/>
                </a:lnTo>
                <a:cubicBezTo>
                  <a:pt x="125333" y="126921"/>
                  <a:pt x="133509" y="128508"/>
                  <a:pt x="140652" y="125571"/>
                </a:cubicBezTo>
                <a:cubicBezTo>
                  <a:pt x="147796" y="122634"/>
                  <a:pt x="152400" y="115649"/>
                  <a:pt x="152400" y="107950"/>
                </a:cubicBezTo>
                <a:lnTo>
                  <a:pt x="152400" y="19050"/>
                </a:lnTo>
                <a:cubicBezTo>
                  <a:pt x="152400" y="8493"/>
                  <a:pt x="143907" y="0"/>
                  <a:pt x="133350" y="0"/>
                </a:cubicBezTo>
                <a:lnTo>
                  <a:pt x="44450" y="0"/>
                </a:lnTo>
                <a:cubicBezTo>
                  <a:pt x="36751" y="0"/>
                  <a:pt x="29766" y="4604"/>
                  <a:pt x="26829" y="11748"/>
                </a:cubicBezTo>
                <a:cubicBezTo>
                  <a:pt x="23892" y="18891"/>
                  <a:pt x="25559" y="27067"/>
                  <a:pt x="30956" y="32544"/>
                </a:cubicBezTo>
                <a:close/>
                <a:moveTo>
                  <a:pt x="190500" y="24051"/>
                </a:moveTo>
                <a:cubicBezTo>
                  <a:pt x="189548" y="38021"/>
                  <a:pt x="200025" y="50165"/>
                  <a:pt x="214074" y="51197"/>
                </a:cubicBezTo>
                <a:cubicBezTo>
                  <a:pt x="251381" y="53816"/>
                  <a:pt x="285036" y="69929"/>
                  <a:pt x="310118" y="94694"/>
                </a:cubicBezTo>
                <a:lnTo>
                  <a:pt x="284956" y="119856"/>
                </a:lnTo>
                <a:cubicBezTo>
                  <a:pt x="279479" y="125333"/>
                  <a:pt x="277892" y="133509"/>
                  <a:pt x="280829" y="140652"/>
                </a:cubicBezTo>
                <a:cubicBezTo>
                  <a:pt x="283766" y="147796"/>
                  <a:pt x="290751" y="152400"/>
                  <a:pt x="298450" y="152400"/>
                </a:cubicBezTo>
                <a:lnTo>
                  <a:pt x="387350" y="152400"/>
                </a:lnTo>
                <a:cubicBezTo>
                  <a:pt x="397907" y="152400"/>
                  <a:pt x="406400" y="143907"/>
                  <a:pt x="406400" y="133350"/>
                </a:cubicBezTo>
                <a:lnTo>
                  <a:pt x="406400" y="44450"/>
                </a:lnTo>
                <a:cubicBezTo>
                  <a:pt x="406400" y="36751"/>
                  <a:pt x="401796" y="29766"/>
                  <a:pt x="394652" y="26829"/>
                </a:cubicBezTo>
                <a:cubicBezTo>
                  <a:pt x="387509" y="23892"/>
                  <a:pt x="379333" y="25559"/>
                  <a:pt x="373856" y="30956"/>
                </a:cubicBezTo>
                <a:lnTo>
                  <a:pt x="346075" y="58737"/>
                </a:lnTo>
                <a:cubicBezTo>
                  <a:pt x="312579" y="25638"/>
                  <a:pt x="267653" y="4048"/>
                  <a:pt x="217646" y="476"/>
                </a:cubicBezTo>
                <a:cubicBezTo>
                  <a:pt x="203676" y="-476"/>
                  <a:pt x="191532" y="10001"/>
                  <a:pt x="190500" y="24051"/>
                </a:cubicBezTo>
                <a:close/>
                <a:moveTo>
                  <a:pt x="32544" y="375444"/>
                </a:moveTo>
                <a:lnTo>
                  <a:pt x="60325" y="347663"/>
                </a:lnTo>
                <a:cubicBezTo>
                  <a:pt x="93821" y="380762"/>
                  <a:pt x="138748" y="402352"/>
                  <a:pt x="188754" y="405924"/>
                </a:cubicBezTo>
                <a:cubicBezTo>
                  <a:pt x="202724" y="406876"/>
                  <a:pt x="214868" y="396399"/>
                  <a:pt x="215900" y="382349"/>
                </a:cubicBezTo>
                <a:cubicBezTo>
                  <a:pt x="216932" y="368300"/>
                  <a:pt x="206375" y="356235"/>
                  <a:pt x="192326" y="355203"/>
                </a:cubicBezTo>
                <a:cubicBezTo>
                  <a:pt x="155019" y="352584"/>
                  <a:pt x="121364" y="336471"/>
                  <a:pt x="96282" y="311706"/>
                </a:cubicBezTo>
                <a:lnTo>
                  <a:pt x="121444" y="286544"/>
                </a:lnTo>
                <a:cubicBezTo>
                  <a:pt x="126921" y="281067"/>
                  <a:pt x="128508" y="272891"/>
                  <a:pt x="125571" y="265748"/>
                </a:cubicBezTo>
                <a:cubicBezTo>
                  <a:pt x="122634" y="258604"/>
                  <a:pt x="115649" y="254000"/>
                  <a:pt x="107950" y="254000"/>
                </a:cubicBezTo>
                <a:lnTo>
                  <a:pt x="19050" y="254000"/>
                </a:lnTo>
                <a:cubicBezTo>
                  <a:pt x="8493" y="254000"/>
                  <a:pt x="0" y="262493"/>
                  <a:pt x="0" y="273050"/>
                </a:cubicBezTo>
                <a:lnTo>
                  <a:pt x="0" y="361950"/>
                </a:lnTo>
                <a:cubicBezTo>
                  <a:pt x="0" y="369649"/>
                  <a:pt x="4604" y="376634"/>
                  <a:pt x="11748" y="379571"/>
                </a:cubicBezTo>
                <a:cubicBezTo>
                  <a:pt x="18891" y="382508"/>
                  <a:pt x="27067" y="380841"/>
                  <a:pt x="32544" y="375444"/>
                </a:cubicBezTo>
                <a:close/>
              </a:path>
            </a:pathLst>
          </a:custGeom>
          <a:solidFill>
            <a:srgbClr val="0F4C5C"/>
          </a:solidFill>
          <a:ln/>
        </p:spPr>
      </p:sp>
      <p:sp>
        <p:nvSpPr>
          <p:cNvPr id="15" name="Text 13"/>
          <p:cNvSpPr/>
          <p:nvPr/>
        </p:nvSpPr>
        <p:spPr>
          <a:xfrm>
            <a:off x="9017000" y="40005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Adaptive &amp; Flexible</a:t>
            </a:r>
            <a:endParaRPr lang="en-US" sz="1600" dirty="0"/>
          </a:p>
        </p:txBody>
      </p:sp>
      <p:sp>
        <p:nvSpPr>
          <p:cNvPr id="16" name="Text 14"/>
          <p:cNvSpPr/>
          <p:nvPr/>
        </p:nvSpPr>
        <p:spPr>
          <a:xfrm>
            <a:off x="9017000" y="4445000"/>
            <a:ext cx="6223000" cy="1143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AI programs adapt to new inputs without manual updates. They handle edge cases gracefully by generalizing from learned patterns.</a:t>
            </a:r>
            <a:endParaRPr lang="en-US" sz="1600" dirty="0"/>
          </a:p>
        </p:txBody>
      </p:sp>
      <p:sp>
        <p:nvSpPr>
          <p:cNvPr id="17" name="Shape 15"/>
          <p:cNvSpPr/>
          <p:nvPr/>
        </p:nvSpPr>
        <p:spPr>
          <a:xfrm>
            <a:off x="8128000" y="6096000"/>
            <a:ext cx="7366000" cy="2032000"/>
          </a:xfrm>
          <a:prstGeom prst="rect">
            <a:avLst/>
          </a:prstGeom>
          <a:solidFill>
            <a:srgbClr val="E0F2F1"/>
          </a:solidFill>
          <a:ln/>
          <a:effectLst>
            <a:outerShdw sx="100000" sy="100000" kx="0" ky="0" algn="bl" rotWithShape="0" blurRad="76200" dist="25400" dir="5400000">
              <a:srgbClr val="000000">
                <a:alpha val="3137"/>
              </a:srgbClr>
            </a:outerShdw>
          </a:effectLst>
        </p:spPr>
      </p:sp>
      <p:sp>
        <p:nvSpPr>
          <p:cNvPr id="18" name="Shape 16"/>
          <p:cNvSpPr/>
          <p:nvPr/>
        </p:nvSpPr>
        <p:spPr>
          <a:xfrm>
            <a:off x="8445500" y="6413500"/>
            <a:ext cx="406400" cy="406400"/>
          </a:xfrm>
          <a:custGeom>
            <a:avLst/>
            <a:gdLst/>
            <a:ahLst/>
            <a:cxnLst/>
            <a:rect l="l" t="t" r="r" b="b"/>
            <a:pathLst>
              <a:path w="406400" h="406400">
                <a:moveTo>
                  <a:pt x="266700" y="279400"/>
                </a:moveTo>
                <a:cubicBezTo>
                  <a:pt x="343853" y="279400"/>
                  <a:pt x="406400" y="216853"/>
                  <a:pt x="406400" y="139700"/>
                </a:cubicBezTo>
                <a:cubicBezTo>
                  <a:pt x="406400" y="62548"/>
                  <a:pt x="343853" y="0"/>
                  <a:pt x="266700" y="0"/>
                </a:cubicBezTo>
                <a:cubicBezTo>
                  <a:pt x="189548" y="0"/>
                  <a:pt x="127000" y="62547"/>
                  <a:pt x="127000" y="139700"/>
                </a:cubicBezTo>
                <a:cubicBezTo>
                  <a:pt x="127000" y="154543"/>
                  <a:pt x="129302" y="168910"/>
                  <a:pt x="133588" y="182324"/>
                </a:cubicBezTo>
                <a:lnTo>
                  <a:pt x="5556" y="310356"/>
                </a:lnTo>
                <a:cubicBezTo>
                  <a:pt x="1984" y="313928"/>
                  <a:pt x="0" y="318770"/>
                  <a:pt x="0" y="323850"/>
                </a:cubicBezTo>
                <a:lnTo>
                  <a:pt x="0" y="387350"/>
                </a:lnTo>
                <a:cubicBezTo>
                  <a:pt x="0" y="397907"/>
                  <a:pt x="8493" y="406400"/>
                  <a:pt x="19050" y="406400"/>
                </a:cubicBezTo>
                <a:lnTo>
                  <a:pt x="82550" y="406400"/>
                </a:lnTo>
                <a:cubicBezTo>
                  <a:pt x="93107" y="406400"/>
                  <a:pt x="101600" y="397907"/>
                  <a:pt x="101600" y="387350"/>
                </a:cubicBezTo>
                <a:lnTo>
                  <a:pt x="101600" y="355600"/>
                </a:lnTo>
                <a:lnTo>
                  <a:pt x="133350" y="355600"/>
                </a:lnTo>
                <a:cubicBezTo>
                  <a:pt x="143907" y="355600"/>
                  <a:pt x="152400" y="347107"/>
                  <a:pt x="152400" y="336550"/>
                </a:cubicBezTo>
                <a:lnTo>
                  <a:pt x="152400" y="304800"/>
                </a:lnTo>
                <a:lnTo>
                  <a:pt x="184150" y="304800"/>
                </a:lnTo>
                <a:cubicBezTo>
                  <a:pt x="189230" y="304800"/>
                  <a:pt x="194072" y="302816"/>
                  <a:pt x="197644" y="299244"/>
                </a:cubicBezTo>
                <a:lnTo>
                  <a:pt x="224076" y="272812"/>
                </a:lnTo>
                <a:cubicBezTo>
                  <a:pt x="237490" y="277098"/>
                  <a:pt x="251857" y="279400"/>
                  <a:pt x="266700" y="279400"/>
                </a:cubicBezTo>
                <a:close/>
                <a:moveTo>
                  <a:pt x="298450" y="76200"/>
                </a:moveTo>
                <a:cubicBezTo>
                  <a:pt x="315973" y="76200"/>
                  <a:pt x="330200" y="90427"/>
                  <a:pt x="330200" y="107950"/>
                </a:cubicBezTo>
                <a:cubicBezTo>
                  <a:pt x="330200" y="125473"/>
                  <a:pt x="315973" y="139700"/>
                  <a:pt x="298450" y="139700"/>
                </a:cubicBezTo>
                <a:cubicBezTo>
                  <a:pt x="280927" y="139700"/>
                  <a:pt x="266700" y="125473"/>
                  <a:pt x="266700" y="107950"/>
                </a:cubicBezTo>
                <a:cubicBezTo>
                  <a:pt x="266700" y="90427"/>
                  <a:pt x="280927" y="76200"/>
                  <a:pt x="298450" y="76200"/>
                </a:cubicBezTo>
                <a:close/>
              </a:path>
            </a:pathLst>
          </a:custGeom>
          <a:solidFill>
            <a:srgbClr val="D97706"/>
          </a:solidFill>
          <a:ln/>
        </p:spPr>
      </p:sp>
      <p:sp>
        <p:nvSpPr>
          <p:cNvPr id="19" name="Text 17"/>
          <p:cNvSpPr/>
          <p:nvPr/>
        </p:nvSpPr>
        <p:spPr>
          <a:xfrm>
            <a:off x="9017000" y="6350000"/>
            <a:ext cx="6223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Key Difference</a:t>
            </a:r>
            <a:endParaRPr lang="en-US" sz="1600" dirty="0"/>
          </a:p>
        </p:txBody>
      </p:sp>
      <p:sp>
        <p:nvSpPr>
          <p:cNvPr id="20" name="Text 18"/>
          <p:cNvSpPr/>
          <p:nvPr/>
        </p:nvSpPr>
        <p:spPr>
          <a:xfrm>
            <a:off x="9017000" y="6794500"/>
            <a:ext cx="6223000" cy="1143000"/>
          </a:xfrm>
          <a:prstGeom prst="rect">
            <a:avLst/>
          </a:prstGeom>
          <a:noFill/>
          <a:ln/>
        </p:spPr>
        <p:txBody>
          <a:bodyPr wrap="square" lIns="0" tIns="0" rIns="0" bIns="0" rtlCol="0" anchor="t"/>
          <a:lstStyle/>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Traditional:</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Human writes rules → Machine follows</a:t>
            </a:r>
            <a:endParaRPr lang="en-US" sz="1600" dirty="0"/>
          </a:p>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AI:</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Machine discovers rules → Human guides</a:t>
            </a:r>
            <a:endParaRPr lang="en-US" sz="1600" dirty="0"/>
          </a:p>
        </p:txBody>
      </p:sp>
      <p:sp>
        <p:nvSpPr>
          <p:cNvPr id="21" name="Text 19"/>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2" name="Text 20"/>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889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AI in Gaming</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6" name="Shape 4"/>
          <p:cNvSpPr/>
          <p:nvPr/>
        </p:nvSpPr>
        <p:spPr>
          <a:xfrm>
            <a:off x="958850" y="1651000"/>
            <a:ext cx="571500" cy="457200"/>
          </a:xfrm>
          <a:custGeom>
            <a:avLst/>
            <a:gdLst/>
            <a:ahLst/>
            <a:cxnLst/>
            <a:rect l="l" t="t" r="r" b="b"/>
            <a:pathLst>
              <a:path w="571500" h="457200">
                <a:moveTo>
                  <a:pt x="400050" y="57150"/>
                </a:moveTo>
                <a:cubicBezTo>
                  <a:pt x="494705" y="57150"/>
                  <a:pt x="571500" y="133945"/>
                  <a:pt x="571500" y="228600"/>
                </a:cubicBezTo>
                <a:cubicBezTo>
                  <a:pt x="571500" y="323255"/>
                  <a:pt x="494705" y="400050"/>
                  <a:pt x="400050" y="400050"/>
                </a:cubicBezTo>
                <a:lnTo>
                  <a:pt x="171450" y="400050"/>
                </a:lnTo>
                <a:cubicBezTo>
                  <a:pt x="76795" y="400050"/>
                  <a:pt x="0" y="323255"/>
                  <a:pt x="0" y="228600"/>
                </a:cubicBezTo>
                <a:cubicBezTo>
                  <a:pt x="0" y="133945"/>
                  <a:pt x="76795" y="57150"/>
                  <a:pt x="171450" y="57150"/>
                </a:cubicBezTo>
                <a:lnTo>
                  <a:pt x="400050" y="57150"/>
                </a:lnTo>
                <a:close/>
                <a:moveTo>
                  <a:pt x="171450" y="157163"/>
                </a:moveTo>
                <a:cubicBezTo>
                  <a:pt x="159574" y="157163"/>
                  <a:pt x="150019" y="166717"/>
                  <a:pt x="150019" y="178594"/>
                </a:cubicBezTo>
                <a:lnTo>
                  <a:pt x="150019" y="207169"/>
                </a:lnTo>
                <a:lnTo>
                  <a:pt x="121444" y="207169"/>
                </a:lnTo>
                <a:cubicBezTo>
                  <a:pt x="109567" y="207169"/>
                  <a:pt x="100013" y="216724"/>
                  <a:pt x="100013" y="228600"/>
                </a:cubicBezTo>
                <a:cubicBezTo>
                  <a:pt x="100013" y="240476"/>
                  <a:pt x="109567" y="250031"/>
                  <a:pt x="121444" y="250031"/>
                </a:cubicBezTo>
                <a:lnTo>
                  <a:pt x="150019" y="250031"/>
                </a:lnTo>
                <a:lnTo>
                  <a:pt x="150019" y="278606"/>
                </a:lnTo>
                <a:cubicBezTo>
                  <a:pt x="150019" y="290483"/>
                  <a:pt x="159574" y="300038"/>
                  <a:pt x="171450" y="300038"/>
                </a:cubicBezTo>
                <a:cubicBezTo>
                  <a:pt x="183326" y="300038"/>
                  <a:pt x="192881" y="290483"/>
                  <a:pt x="192881" y="278606"/>
                </a:cubicBezTo>
                <a:lnTo>
                  <a:pt x="192881" y="250031"/>
                </a:lnTo>
                <a:lnTo>
                  <a:pt x="221456" y="250031"/>
                </a:lnTo>
                <a:cubicBezTo>
                  <a:pt x="233333" y="250031"/>
                  <a:pt x="242888" y="240476"/>
                  <a:pt x="242888" y="228600"/>
                </a:cubicBezTo>
                <a:cubicBezTo>
                  <a:pt x="242888" y="216724"/>
                  <a:pt x="233333" y="207169"/>
                  <a:pt x="221456" y="207169"/>
                </a:cubicBezTo>
                <a:lnTo>
                  <a:pt x="192881" y="207169"/>
                </a:lnTo>
                <a:lnTo>
                  <a:pt x="192881" y="178594"/>
                </a:lnTo>
                <a:cubicBezTo>
                  <a:pt x="192881" y="166717"/>
                  <a:pt x="183326" y="157163"/>
                  <a:pt x="171450" y="157163"/>
                </a:cubicBezTo>
                <a:close/>
                <a:moveTo>
                  <a:pt x="385763" y="242888"/>
                </a:moveTo>
                <a:cubicBezTo>
                  <a:pt x="369992" y="242888"/>
                  <a:pt x="357188" y="255692"/>
                  <a:pt x="357188" y="271463"/>
                </a:cubicBezTo>
                <a:cubicBezTo>
                  <a:pt x="357188" y="287233"/>
                  <a:pt x="369992" y="300038"/>
                  <a:pt x="385763" y="300038"/>
                </a:cubicBezTo>
                <a:cubicBezTo>
                  <a:pt x="401533" y="300038"/>
                  <a:pt x="414338" y="287233"/>
                  <a:pt x="414338" y="271463"/>
                </a:cubicBezTo>
                <a:cubicBezTo>
                  <a:pt x="414338" y="255692"/>
                  <a:pt x="401533" y="242888"/>
                  <a:pt x="385763" y="242888"/>
                </a:cubicBezTo>
                <a:close/>
                <a:moveTo>
                  <a:pt x="442913" y="157163"/>
                </a:moveTo>
                <a:cubicBezTo>
                  <a:pt x="427142" y="157163"/>
                  <a:pt x="414338" y="169967"/>
                  <a:pt x="414338" y="185738"/>
                </a:cubicBezTo>
                <a:cubicBezTo>
                  <a:pt x="414338" y="201508"/>
                  <a:pt x="427142" y="214313"/>
                  <a:pt x="442913" y="214313"/>
                </a:cubicBezTo>
                <a:cubicBezTo>
                  <a:pt x="458683" y="214313"/>
                  <a:pt x="471488" y="201508"/>
                  <a:pt x="471488" y="185738"/>
                </a:cubicBezTo>
                <a:cubicBezTo>
                  <a:pt x="471488" y="169967"/>
                  <a:pt x="458683" y="157163"/>
                  <a:pt x="442913" y="157163"/>
                </a:cubicBezTo>
                <a:close/>
              </a:path>
            </a:pathLst>
          </a:custGeom>
          <a:solidFill>
            <a:srgbClr val="0F4C5C"/>
          </a:solidFill>
          <a:ln/>
        </p:spPr>
      </p:sp>
      <p:sp>
        <p:nvSpPr>
          <p:cNvPr id="7" name="Text 5"/>
          <p:cNvSpPr/>
          <p:nvPr/>
        </p:nvSpPr>
        <p:spPr>
          <a:xfrm>
            <a:off x="1016000" y="2260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Game AI &amp; NPCs</a:t>
            </a:r>
            <a:endParaRPr lang="en-US" sz="1600" dirty="0"/>
          </a:p>
        </p:txBody>
      </p:sp>
      <p:sp>
        <p:nvSpPr>
          <p:cNvPr id="8" name="Text 6"/>
          <p:cNvSpPr/>
          <p:nvPr/>
        </p:nvSpPr>
        <p:spPr>
          <a:xfrm>
            <a:off x="1016000" y="2692400"/>
            <a:ext cx="4191000" cy="1778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Realistic NPC behaviors using pathfinding algorithms (A*), decision trees, and finite state machines for believable game worlds.</a:t>
            </a:r>
            <a:endParaRPr lang="en-US" sz="1600" dirty="0"/>
          </a:p>
        </p:txBody>
      </p:sp>
      <p:sp>
        <p:nvSpPr>
          <p:cNvPr id="9" name="Shape 7"/>
          <p:cNvSpPr/>
          <p:nvPr/>
        </p:nvSpPr>
        <p:spPr>
          <a:xfrm>
            <a:off x="5778500" y="1397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0" name="Shape 8"/>
          <p:cNvSpPr/>
          <p:nvPr/>
        </p:nvSpPr>
        <p:spPr>
          <a:xfrm>
            <a:off x="6003925" y="1651000"/>
            <a:ext cx="514350" cy="457200"/>
          </a:xfrm>
          <a:custGeom>
            <a:avLst/>
            <a:gdLst/>
            <a:ahLst/>
            <a:cxnLst/>
            <a:rect l="l" t="t" r="r" b="b"/>
            <a:pathLst>
              <a:path w="514350" h="457200">
                <a:moveTo>
                  <a:pt x="235208" y="-24110"/>
                </a:moveTo>
                <a:lnTo>
                  <a:pt x="248424" y="8751"/>
                </a:lnTo>
                <a:lnTo>
                  <a:pt x="281285" y="21967"/>
                </a:lnTo>
                <a:cubicBezTo>
                  <a:pt x="283964" y="23039"/>
                  <a:pt x="285750" y="25718"/>
                  <a:pt x="285750" y="28575"/>
                </a:cubicBezTo>
                <a:cubicBezTo>
                  <a:pt x="285750" y="31433"/>
                  <a:pt x="283964" y="34111"/>
                  <a:pt x="281285" y="35183"/>
                </a:cubicBezTo>
                <a:lnTo>
                  <a:pt x="248424" y="48399"/>
                </a:lnTo>
                <a:lnTo>
                  <a:pt x="235208" y="81260"/>
                </a:lnTo>
                <a:cubicBezTo>
                  <a:pt x="234136" y="83939"/>
                  <a:pt x="231458" y="85725"/>
                  <a:pt x="228600" y="85725"/>
                </a:cubicBezTo>
                <a:cubicBezTo>
                  <a:pt x="225742" y="85725"/>
                  <a:pt x="223064" y="83939"/>
                  <a:pt x="221992" y="81260"/>
                </a:cubicBezTo>
                <a:lnTo>
                  <a:pt x="208776" y="48399"/>
                </a:lnTo>
                <a:lnTo>
                  <a:pt x="175915" y="35183"/>
                </a:lnTo>
                <a:cubicBezTo>
                  <a:pt x="173236" y="34111"/>
                  <a:pt x="171450" y="31432"/>
                  <a:pt x="171450" y="28575"/>
                </a:cubicBezTo>
                <a:cubicBezTo>
                  <a:pt x="171450" y="25718"/>
                  <a:pt x="173236" y="23039"/>
                  <a:pt x="175915" y="21967"/>
                </a:cubicBezTo>
                <a:lnTo>
                  <a:pt x="208776" y="8751"/>
                </a:lnTo>
                <a:lnTo>
                  <a:pt x="221992" y="-24110"/>
                </a:lnTo>
                <a:cubicBezTo>
                  <a:pt x="223064" y="-26789"/>
                  <a:pt x="225743" y="-28575"/>
                  <a:pt x="228600" y="-28575"/>
                </a:cubicBezTo>
                <a:cubicBezTo>
                  <a:pt x="231458" y="-28575"/>
                  <a:pt x="234136" y="-26789"/>
                  <a:pt x="235208" y="-24110"/>
                </a:cubicBezTo>
                <a:close/>
                <a:moveTo>
                  <a:pt x="98852" y="37237"/>
                </a:moveTo>
                <a:lnTo>
                  <a:pt x="118050" y="81975"/>
                </a:lnTo>
                <a:lnTo>
                  <a:pt x="162788" y="101173"/>
                </a:lnTo>
                <a:cubicBezTo>
                  <a:pt x="168057" y="103406"/>
                  <a:pt x="171450" y="108585"/>
                  <a:pt x="171450" y="114300"/>
                </a:cubicBezTo>
                <a:cubicBezTo>
                  <a:pt x="171450" y="120015"/>
                  <a:pt x="168057" y="125194"/>
                  <a:pt x="162788" y="127427"/>
                </a:cubicBezTo>
                <a:lnTo>
                  <a:pt x="118050" y="146625"/>
                </a:lnTo>
                <a:lnTo>
                  <a:pt x="98852" y="191363"/>
                </a:lnTo>
                <a:cubicBezTo>
                  <a:pt x="96619" y="196632"/>
                  <a:pt x="91440" y="200025"/>
                  <a:pt x="85725" y="200025"/>
                </a:cubicBezTo>
                <a:cubicBezTo>
                  <a:pt x="80010" y="200025"/>
                  <a:pt x="74831" y="196632"/>
                  <a:pt x="72598" y="191363"/>
                </a:cubicBezTo>
                <a:lnTo>
                  <a:pt x="53400" y="146625"/>
                </a:lnTo>
                <a:lnTo>
                  <a:pt x="8662" y="127427"/>
                </a:lnTo>
                <a:cubicBezTo>
                  <a:pt x="3393" y="125194"/>
                  <a:pt x="0" y="120015"/>
                  <a:pt x="0" y="114300"/>
                </a:cubicBezTo>
                <a:cubicBezTo>
                  <a:pt x="0" y="108585"/>
                  <a:pt x="3393" y="103406"/>
                  <a:pt x="8662" y="101173"/>
                </a:cubicBezTo>
                <a:lnTo>
                  <a:pt x="53400" y="81975"/>
                </a:lnTo>
                <a:lnTo>
                  <a:pt x="72598" y="37237"/>
                </a:lnTo>
                <a:cubicBezTo>
                  <a:pt x="74831" y="31968"/>
                  <a:pt x="80010" y="28575"/>
                  <a:pt x="85725" y="28575"/>
                </a:cubicBezTo>
                <a:cubicBezTo>
                  <a:pt x="91440" y="28575"/>
                  <a:pt x="96619" y="31968"/>
                  <a:pt x="98852" y="37237"/>
                </a:cubicBezTo>
                <a:close/>
                <a:moveTo>
                  <a:pt x="414338" y="271463"/>
                </a:moveTo>
                <a:cubicBezTo>
                  <a:pt x="420053" y="271463"/>
                  <a:pt x="425232" y="274856"/>
                  <a:pt x="427464" y="280124"/>
                </a:cubicBezTo>
                <a:lnTo>
                  <a:pt x="446663" y="324862"/>
                </a:lnTo>
                <a:lnTo>
                  <a:pt x="491401" y="344061"/>
                </a:lnTo>
                <a:cubicBezTo>
                  <a:pt x="496669" y="346293"/>
                  <a:pt x="500063" y="351473"/>
                  <a:pt x="500063" y="357188"/>
                </a:cubicBezTo>
                <a:cubicBezTo>
                  <a:pt x="500063" y="362903"/>
                  <a:pt x="496669" y="368082"/>
                  <a:pt x="491401" y="370314"/>
                </a:cubicBezTo>
                <a:lnTo>
                  <a:pt x="446663" y="389513"/>
                </a:lnTo>
                <a:lnTo>
                  <a:pt x="427464" y="434251"/>
                </a:lnTo>
                <a:cubicBezTo>
                  <a:pt x="425232" y="439519"/>
                  <a:pt x="420052" y="442913"/>
                  <a:pt x="414337" y="442913"/>
                </a:cubicBezTo>
                <a:cubicBezTo>
                  <a:pt x="408622" y="442913"/>
                  <a:pt x="403443" y="439519"/>
                  <a:pt x="401211" y="434251"/>
                </a:cubicBezTo>
                <a:lnTo>
                  <a:pt x="382012" y="389513"/>
                </a:lnTo>
                <a:lnTo>
                  <a:pt x="337274" y="370314"/>
                </a:lnTo>
                <a:cubicBezTo>
                  <a:pt x="332006" y="368082"/>
                  <a:pt x="328613" y="362903"/>
                  <a:pt x="328613" y="357188"/>
                </a:cubicBezTo>
                <a:cubicBezTo>
                  <a:pt x="328613" y="351473"/>
                  <a:pt x="332006" y="346293"/>
                  <a:pt x="337274" y="344061"/>
                </a:cubicBezTo>
                <a:lnTo>
                  <a:pt x="382012" y="324862"/>
                </a:lnTo>
                <a:lnTo>
                  <a:pt x="401211" y="280124"/>
                </a:lnTo>
                <a:cubicBezTo>
                  <a:pt x="403443" y="274856"/>
                  <a:pt x="408622" y="271463"/>
                  <a:pt x="414337" y="271463"/>
                </a:cubicBezTo>
                <a:close/>
                <a:moveTo>
                  <a:pt x="410766" y="0"/>
                </a:moveTo>
                <a:cubicBezTo>
                  <a:pt x="420588" y="0"/>
                  <a:pt x="430054" y="3929"/>
                  <a:pt x="437108" y="10894"/>
                </a:cubicBezTo>
                <a:lnTo>
                  <a:pt x="474881" y="48667"/>
                </a:lnTo>
                <a:cubicBezTo>
                  <a:pt x="481846" y="55721"/>
                  <a:pt x="485775" y="65187"/>
                  <a:pt x="485775" y="75009"/>
                </a:cubicBezTo>
                <a:cubicBezTo>
                  <a:pt x="485775" y="84832"/>
                  <a:pt x="481846" y="94298"/>
                  <a:pt x="474881" y="101352"/>
                </a:cubicBezTo>
                <a:lnTo>
                  <a:pt x="396121" y="180112"/>
                </a:lnTo>
                <a:lnTo>
                  <a:pt x="305663" y="89654"/>
                </a:lnTo>
                <a:lnTo>
                  <a:pt x="384423" y="10894"/>
                </a:lnTo>
                <a:cubicBezTo>
                  <a:pt x="391478" y="3929"/>
                  <a:pt x="400943" y="0"/>
                  <a:pt x="410766" y="0"/>
                </a:cubicBezTo>
                <a:close/>
                <a:moveTo>
                  <a:pt x="39469" y="355848"/>
                </a:moveTo>
                <a:lnTo>
                  <a:pt x="275392" y="119926"/>
                </a:lnTo>
                <a:lnTo>
                  <a:pt x="365849" y="210383"/>
                </a:lnTo>
                <a:lnTo>
                  <a:pt x="129927" y="446306"/>
                </a:lnTo>
                <a:cubicBezTo>
                  <a:pt x="122873" y="453271"/>
                  <a:pt x="113407" y="457200"/>
                  <a:pt x="103584" y="457200"/>
                </a:cubicBezTo>
                <a:cubicBezTo>
                  <a:pt x="93762" y="457200"/>
                  <a:pt x="84296" y="453271"/>
                  <a:pt x="77242" y="446306"/>
                </a:cubicBezTo>
                <a:lnTo>
                  <a:pt x="39469" y="408533"/>
                </a:lnTo>
                <a:cubicBezTo>
                  <a:pt x="32504" y="401479"/>
                  <a:pt x="28575" y="392013"/>
                  <a:pt x="28575" y="382191"/>
                </a:cubicBezTo>
                <a:cubicBezTo>
                  <a:pt x="28575" y="372368"/>
                  <a:pt x="32504" y="362903"/>
                  <a:pt x="39469" y="355848"/>
                </a:cubicBezTo>
                <a:close/>
              </a:path>
            </a:pathLst>
          </a:custGeom>
          <a:solidFill>
            <a:srgbClr val="0F4C5C"/>
          </a:solidFill>
          <a:ln/>
        </p:spPr>
      </p:sp>
      <p:sp>
        <p:nvSpPr>
          <p:cNvPr id="11" name="Text 9"/>
          <p:cNvSpPr/>
          <p:nvPr/>
        </p:nvSpPr>
        <p:spPr>
          <a:xfrm>
            <a:off x="6032500" y="2260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Procedural Generation</a:t>
            </a:r>
            <a:endParaRPr lang="en-US" sz="1600" dirty="0"/>
          </a:p>
        </p:txBody>
      </p:sp>
      <p:sp>
        <p:nvSpPr>
          <p:cNvPr id="12" name="Text 10"/>
          <p:cNvSpPr/>
          <p:nvPr/>
        </p:nvSpPr>
        <p:spPr>
          <a:xfrm>
            <a:off x="6032500" y="2692400"/>
            <a:ext cx="4191000" cy="1778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Automatically creating game levels, maps, quests, and content using AI algorithms, enabling infinite replayability.</a:t>
            </a:r>
            <a:endParaRPr lang="en-US" sz="1600" dirty="0"/>
          </a:p>
        </p:txBody>
      </p:sp>
      <p:sp>
        <p:nvSpPr>
          <p:cNvPr id="13" name="Shape 11"/>
          <p:cNvSpPr/>
          <p:nvPr/>
        </p:nvSpPr>
        <p:spPr>
          <a:xfrm>
            <a:off x="10795000" y="1397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4" name="Shape 12"/>
          <p:cNvSpPr/>
          <p:nvPr/>
        </p:nvSpPr>
        <p:spPr>
          <a:xfrm>
            <a:off x="11049000" y="1651000"/>
            <a:ext cx="457200" cy="457200"/>
          </a:xfrm>
          <a:custGeom>
            <a:avLst/>
            <a:gdLst/>
            <a:ahLst/>
            <a:cxnLst/>
            <a:rect l="l" t="t" r="r" b="b"/>
            <a:pathLst>
              <a:path w="457200" h="457200">
                <a:moveTo>
                  <a:pt x="128855" y="0"/>
                </a:moveTo>
                <a:lnTo>
                  <a:pt x="328880" y="0"/>
                </a:lnTo>
                <a:cubicBezTo>
                  <a:pt x="352544" y="0"/>
                  <a:pt x="371832" y="19467"/>
                  <a:pt x="370939" y="43041"/>
                </a:cubicBezTo>
                <a:cubicBezTo>
                  <a:pt x="370761" y="47774"/>
                  <a:pt x="370582" y="52507"/>
                  <a:pt x="370314" y="57150"/>
                </a:cubicBezTo>
                <a:lnTo>
                  <a:pt x="414605" y="57150"/>
                </a:lnTo>
                <a:cubicBezTo>
                  <a:pt x="437912" y="57150"/>
                  <a:pt x="458450" y="76438"/>
                  <a:pt x="456664" y="101620"/>
                </a:cubicBezTo>
                <a:cubicBezTo>
                  <a:pt x="449967" y="194221"/>
                  <a:pt x="402640" y="245120"/>
                  <a:pt x="351294" y="271730"/>
                </a:cubicBezTo>
                <a:cubicBezTo>
                  <a:pt x="337185" y="279053"/>
                  <a:pt x="322808" y="284500"/>
                  <a:pt x="309146" y="288518"/>
                </a:cubicBezTo>
                <a:cubicBezTo>
                  <a:pt x="291108" y="314057"/>
                  <a:pt x="272355" y="327541"/>
                  <a:pt x="257443" y="334774"/>
                </a:cubicBezTo>
                <a:lnTo>
                  <a:pt x="257443" y="400050"/>
                </a:lnTo>
                <a:lnTo>
                  <a:pt x="314593" y="400050"/>
                </a:lnTo>
                <a:cubicBezTo>
                  <a:pt x="330398" y="400050"/>
                  <a:pt x="343168" y="412819"/>
                  <a:pt x="343168" y="428625"/>
                </a:cubicBezTo>
                <a:cubicBezTo>
                  <a:pt x="343168" y="444431"/>
                  <a:pt x="330398" y="457200"/>
                  <a:pt x="314593" y="457200"/>
                </a:cubicBezTo>
                <a:lnTo>
                  <a:pt x="143143" y="457200"/>
                </a:lnTo>
                <a:cubicBezTo>
                  <a:pt x="127337" y="457200"/>
                  <a:pt x="114568" y="444431"/>
                  <a:pt x="114568" y="428625"/>
                </a:cubicBezTo>
                <a:cubicBezTo>
                  <a:pt x="114568" y="412819"/>
                  <a:pt x="127337" y="400050"/>
                  <a:pt x="143143" y="400050"/>
                </a:cubicBezTo>
                <a:lnTo>
                  <a:pt x="200293" y="400050"/>
                </a:lnTo>
                <a:lnTo>
                  <a:pt x="200293" y="334774"/>
                </a:lnTo>
                <a:cubicBezTo>
                  <a:pt x="186005" y="327898"/>
                  <a:pt x="168235" y="315129"/>
                  <a:pt x="150912" y="291644"/>
                </a:cubicBezTo>
                <a:cubicBezTo>
                  <a:pt x="134481" y="287357"/>
                  <a:pt x="116622" y="280839"/>
                  <a:pt x="99209" y="271016"/>
                </a:cubicBezTo>
                <a:cubicBezTo>
                  <a:pt x="50899" y="243959"/>
                  <a:pt x="7322" y="192971"/>
                  <a:pt x="1072" y="101441"/>
                </a:cubicBezTo>
                <a:cubicBezTo>
                  <a:pt x="-625" y="76349"/>
                  <a:pt x="19824" y="57061"/>
                  <a:pt x="43130" y="57061"/>
                </a:cubicBezTo>
                <a:lnTo>
                  <a:pt x="87422" y="57061"/>
                </a:lnTo>
                <a:cubicBezTo>
                  <a:pt x="87154" y="52417"/>
                  <a:pt x="86975" y="47774"/>
                  <a:pt x="86797" y="42952"/>
                </a:cubicBezTo>
                <a:cubicBezTo>
                  <a:pt x="85904" y="19288"/>
                  <a:pt x="105192" y="-89"/>
                  <a:pt x="128855" y="-89"/>
                </a:cubicBezTo>
                <a:close/>
                <a:moveTo>
                  <a:pt x="90636" y="100013"/>
                </a:moveTo>
                <a:lnTo>
                  <a:pt x="43845" y="100013"/>
                </a:lnTo>
                <a:cubicBezTo>
                  <a:pt x="49381" y="175647"/>
                  <a:pt x="84118" y="213509"/>
                  <a:pt x="119926" y="233601"/>
                </a:cubicBezTo>
                <a:cubicBezTo>
                  <a:pt x="107067" y="200293"/>
                  <a:pt x="96441" y="156805"/>
                  <a:pt x="90636" y="100013"/>
                </a:cubicBezTo>
                <a:close/>
                <a:moveTo>
                  <a:pt x="339328" y="229314"/>
                </a:moveTo>
                <a:cubicBezTo>
                  <a:pt x="375493" y="208062"/>
                  <a:pt x="408176" y="170289"/>
                  <a:pt x="413712" y="100013"/>
                </a:cubicBezTo>
                <a:lnTo>
                  <a:pt x="367010" y="100013"/>
                </a:lnTo>
                <a:cubicBezTo>
                  <a:pt x="361474" y="154394"/>
                  <a:pt x="351473" y="196632"/>
                  <a:pt x="339328" y="229314"/>
                </a:cubicBezTo>
                <a:close/>
              </a:path>
            </a:pathLst>
          </a:custGeom>
          <a:solidFill>
            <a:srgbClr val="D97706"/>
          </a:solidFill>
          <a:ln/>
        </p:spPr>
      </p:sp>
      <p:sp>
        <p:nvSpPr>
          <p:cNvPr id="15" name="Text 13"/>
          <p:cNvSpPr/>
          <p:nvPr/>
        </p:nvSpPr>
        <p:spPr>
          <a:xfrm>
            <a:off x="11049000" y="2260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AlphaGo &amp; AlphaZero</a:t>
            </a:r>
            <a:endParaRPr lang="en-US" sz="1600" dirty="0"/>
          </a:p>
        </p:txBody>
      </p:sp>
      <p:sp>
        <p:nvSpPr>
          <p:cNvPr id="16" name="Text 14"/>
          <p:cNvSpPr/>
          <p:nvPr/>
        </p:nvSpPr>
        <p:spPr>
          <a:xfrm>
            <a:off x="11049000" y="2692400"/>
            <a:ext cx="4191000" cy="1778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DeepMind's reinforcement learning AI defeated world champions at Go and Chess, mastering games through self-play.</a:t>
            </a:r>
            <a:endParaRPr lang="en-US" sz="1600" dirty="0"/>
          </a:p>
        </p:txBody>
      </p:sp>
      <p:sp>
        <p:nvSpPr>
          <p:cNvPr id="17" name="Shape 15"/>
          <p:cNvSpPr/>
          <p:nvPr/>
        </p:nvSpPr>
        <p:spPr>
          <a:xfrm>
            <a:off x="762000" y="5080000"/>
            <a:ext cx="14732000" cy="2921000"/>
          </a:xfrm>
          <a:prstGeom prst="rect">
            <a:avLst/>
          </a:prstGeom>
          <a:solidFill>
            <a:srgbClr val="0F4C5C"/>
          </a:solidFill>
          <a:ln/>
        </p:spPr>
      </p:sp>
      <p:sp>
        <p:nvSpPr>
          <p:cNvPr id="18" name="Text 16"/>
          <p:cNvSpPr/>
          <p:nvPr/>
        </p:nvSpPr>
        <p:spPr>
          <a:xfrm>
            <a:off x="1143000" y="5270500"/>
            <a:ext cx="6350000" cy="406400"/>
          </a:xfrm>
          <a:prstGeom prst="rect">
            <a:avLst/>
          </a:prstGeom>
          <a:noFill/>
          <a:ln/>
        </p:spPr>
        <p:txBody>
          <a:bodyPr wrap="none" lIns="0" tIns="0" rIns="0" bIns="0" rtlCol="0" anchor="ctr"/>
          <a:lstStyle/>
          <a:p>
            <a:pPr>
              <a:lnSpc>
                <a:spcPct val="100000"/>
              </a:lnSpc>
            </a:pPr>
            <a:r>
              <a:rPr lang="en-US" sz="2200" dirty="0">
                <a:solidFill>
                  <a:srgbClr val="FFFFFF"/>
                </a:solidFill>
                <a:latin typeface="Liter" pitchFamily="34" charset="0"/>
                <a:ea typeface="Liter" pitchFamily="34" charset="-122"/>
                <a:cs typeface="Liter" pitchFamily="34" charset="-120"/>
              </a:rPr>
              <a:t>Why Games Matter for AI</a:t>
            </a:r>
            <a:endParaRPr lang="en-US" sz="1600" dirty="0"/>
          </a:p>
        </p:txBody>
      </p:sp>
      <p:sp>
        <p:nvSpPr>
          <p:cNvPr id="19" name="Shape 17"/>
          <p:cNvSpPr/>
          <p:nvPr/>
        </p:nvSpPr>
        <p:spPr>
          <a:xfrm>
            <a:off x="1143000" y="5778500"/>
            <a:ext cx="635000" cy="25400"/>
          </a:xfrm>
          <a:prstGeom prst="rect">
            <a:avLst/>
          </a:prstGeom>
          <a:solidFill>
            <a:srgbClr val="D97706"/>
          </a:solidFill>
          <a:ln/>
        </p:spPr>
      </p:sp>
      <p:sp>
        <p:nvSpPr>
          <p:cNvPr id="20" name="Text 18"/>
          <p:cNvSpPr/>
          <p:nvPr/>
        </p:nvSpPr>
        <p:spPr>
          <a:xfrm>
            <a:off x="1143000" y="5969000"/>
            <a:ext cx="13970000" cy="1778000"/>
          </a:xfrm>
          <a:prstGeom prst="rect">
            <a:avLst/>
          </a:prstGeom>
          <a:noFill/>
          <a:ln/>
        </p:spPr>
        <p:txBody>
          <a:bodyPr wrap="square" lIns="0" tIns="0" rIns="0" bIns="0" rtlCol="0" anchor="t"/>
          <a:lstStyle/>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Well-defined rules and measurable outcomes make games ideal testbeds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Real-time strategy adaptation — AI opponents learn player strategies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Player experience modeling — AI dynamically adjusts difficulty</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Games provide a safe environment to test decision-making algorithms</a:t>
            </a:r>
            <a:endParaRPr lang="en-US" sz="1600" dirty="0"/>
          </a:p>
        </p:txBody>
      </p:sp>
      <p:sp>
        <p:nvSpPr>
          <p:cNvPr id="21" name="Text 19"/>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2" name="Text 20"/>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AI in Natural Language Processing</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NLP enables machines to understand, interpret, and generate human language using deep learning and transformer architectures.</a:t>
            </a:r>
            <a:endParaRPr lang="en-US" sz="1800" dirty="0"/>
          </a:p>
        </p:txBody>
      </p:sp>
      <p:sp>
        <p:nvSpPr>
          <p:cNvPr id="6" name="Shape 4"/>
          <p:cNvSpPr/>
          <p:nvPr/>
        </p:nvSpPr>
        <p:spPr>
          <a:xfrm>
            <a:off x="762000" y="1968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7" name="Shape 5"/>
          <p:cNvSpPr/>
          <p:nvPr/>
        </p:nvSpPr>
        <p:spPr>
          <a:xfrm>
            <a:off x="993775" y="2184400"/>
            <a:ext cx="400050" cy="355600"/>
          </a:xfrm>
          <a:custGeom>
            <a:avLst/>
            <a:gdLst/>
            <a:ahLst/>
            <a:cxnLst/>
            <a:rect l="l" t="t" r="r" b="b"/>
            <a:pathLst>
              <a:path w="400050" h="355600">
                <a:moveTo>
                  <a:pt x="111125" y="0"/>
                </a:moveTo>
                <a:cubicBezTo>
                  <a:pt x="123418" y="0"/>
                  <a:pt x="133350" y="9932"/>
                  <a:pt x="133350" y="22225"/>
                </a:cubicBezTo>
                <a:lnTo>
                  <a:pt x="133350" y="44450"/>
                </a:lnTo>
                <a:lnTo>
                  <a:pt x="222250" y="44450"/>
                </a:lnTo>
                <a:cubicBezTo>
                  <a:pt x="234543" y="44450"/>
                  <a:pt x="244475" y="54382"/>
                  <a:pt x="244475" y="66675"/>
                </a:cubicBezTo>
                <a:cubicBezTo>
                  <a:pt x="244475" y="78968"/>
                  <a:pt x="234543" y="88900"/>
                  <a:pt x="222250" y="88900"/>
                </a:cubicBezTo>
                <a:lnTo>
                  <a:pt x="215583" y="88900"/>
                </a:lnTo>
                <a:lnTo>
                  <a:pt x="209748" y="104944"/>
                </a:lnTo>
                <a:cubicBezTo>
                  <a:pt x="198358" y="136336"/>
                  <a:pt x="181203" y="165021"/>
                  <a:pt x="159603" y="189676"/>
                </a:cubicBezTo>
                <a:cubicBezTo>
                  <a:pt x="169466" y="195788"/>
                  <a:pt x="179745" y="201206"/>
                  <a:pt x="190440" y="205998"/>
                </a:cubicBezTo>
                <a:lnTo>
                  <a:pt x="225445" y="221555"/>
                </a:lnTo>
                <a:lnTo>
                  <a:pt x="268645" y="124321"/>
                </a:lnTo>
                <a:cubicBezTo>
                  <a:pt x="272187" y="116265"/>
                  <a:pt x="280174" y="111125"/>
                  <a:pt x="288925" y="111125"/>
                </a:cubicBezTo>
                <a:cubicBezTo>
                  <a:pt x="297676" y="111125"/>
                  <a:pt x="305663" y="116265"/>
                  <a:pt x="309205" y="124321"/>
                </a:cubicBezTo>
                <a:lnTo>
                  <a:pt x="398105" y="324346"/>
                </a:lnTo>
                <a:cubicBezTo>
                  <a:pt x="403106" y="335598"/>
                  <a:pt x="398036" y="348724"/>
                  <a:pt x="386854" y="353655"/>
                </a:cubicBezTo>
                <a:cubicBezTo>
                  <a:pt x="375672" y="358586"/>
                  <a:pt x="362476" y="353586"/>
                  <a:pt x="357545" y="342404"/>
                </a:cubicBezTo>
                <a:lnTo>
                  <a:pt x="343654" y="311150"/>
                </a:lnTo>
                <a:lnTo>
                  <a:pt x="234265" y="311150"/>
                </a:lnTo>
                <a:lnTo>
                  <a:pt x="220375" y="342404"/>
                </a:lnTo>
                <a:cubicBezTo>
                  <a:pt x="215374" y="353655"/>
                  <a:pt x="202247" y="358656"/>
                  <a:pt x="191066" y="353655"/>
                </a:cubicBezTo>
                <a:cubicBezTo>
                  <a:pt x="179884" y="348655"/>
                  <a:pt x="174814" y="335528"/>
                  <a:pt x="179814" y="324346"/>
                </a:cubicBezTo>
                <a:lnTo>
                  <a:pt x="207456" y="262186"/>
                </a:lnTo>
                <a:lnTo>
                  <a:pt x="172452" y="246628"/>
                </a:lnTo>
                <a:cubicBezTo>
                  <a:pt x="156478" y="239544"/>
                  <a:pt x="141198" y="231071"/>
                  <a:pt x="126752" y="221347"/>
                </a:cubicBezTo>
                <a:cubicBezTo>
                  <a:pt x="111958" y="233293"/>
                  <a:pt x="95776" y="243711"/>
                  <a:pt x="78482" y="252393"/>
                </a:cubicBezTo>
                <a:lnTo>
                  <a:pt x="54382" y="264339"/>
                </a:lnTo>
                <a:cubicBezTo>
                  <a:pt x="43408" y="269825"/>
                  <a:pt x="30073" y="265380"/>
                  <a:pt x="24586" y="254407"/>
                </a:cubicBezTo>
                <a:cubicBezTo>
                  <a:pt x="19100" y="243433"/>
                  <a:pt x="23545" y="230098"/>
                  <a:pt x="34518" y="224611"/>
                </a:cubicBezTo>
                <a:lnTo>
                  <a:pt x="58480" y="212596"/>
                </a:lnTo>
                <a:cubicBezTo>
                  <a:pt x="69800" y="206901"/>
                  <a:pt x="80566" y="200303"/>
                  <a:pt x="90706" y="192941"/>
                </a:cubicBezTo>
                <a:cubicBezTo>
                  <a:pt x="81121" y="184120"/>
                  <a:pt x="72092" y="174605"/>
                  <a:pt x="63689" y="164534"/>
                </a:cubicBezTo>
                <a:lnTo>
                  <a:pt x="56674" y="156061"/>
                </a:lnTo>
                <a:cubicBezTo>
                  <a:pt x="48826" y="146616"/>
                  <a:pt x="50076" y="132586"/>
                  <a:pt x="59521" y="124738"/>
                </a:cubicBezTo>
                <a:cubicBezTo>
                  <a:pt x="68967" y="116890"/>
                  <a:pt x="82996" y="118140"/>
                  <a:pt x="90845" y="127585"/>
                </a:cubicBezTo>
                <a:lnTo>
                  <a:pt x="97929" y="136059"/>
                </a:lnTo>
                <a:cubicBezTo>
                  <a:pt x="105916" y="145713"/>
                  <a:pt x="114667" y="154672"/>
                  <a:pt x="123904" y="162937"/>
                </a:cubicBezTo>
                <a:cubicBezTo>
                  <a:pt x="143004" y="141823"/>
                  <a:pt x="158075" y="117029"/>
                  <a:pt x="168007" y="89733"/>
                </a:cubicBezTo>
                <a:lnTo>
                  <a:pt x="168354" y="88900"/>
                </a:lnTo>
                <a:lnTo>
                  <a:pt x="22294" y="88900"/>
                </a:lnTo>
                <a:cubicBezTo>
                  <a:pt x="9932" y="88900"/>
                  <a:pt x="0" y="78968"/>
                  <a:pt x="0" y="66675"/>
                </a:cubicBezTo>
                <a:cubicBezTo>
                  <a:pt x="0" y="54382"/>
                  <a:pt x="9932" y="44450"/>
                  <a:pt x="22225" y="44450"/>
                </a:cubicBezTo>
                <a:lnTo>
                  <a:pt x="88900" y="44450"/>
                </a:lnTo>
                <a:lnTo>
                  <a:pt x="88900" y="22225"/>
                </a:lnTo>
                <a:cubicBezTo>
                  <a:pt x="88900" y="9932"/>
                  <a:pt x="98832" y="0"/>
                  <a:pt x="111125" y="0"/>
                </a:cubicBezTo>
                <a:close/>
                <a:moveTo>
                  <a:pt x="288925" y="188079"/>
                </a:moveTo>
                <a:lnTo>
                  <a:pt x="253990" y="266700"/>
                </a:lnTo>
                <a:lnTo>
                  <a:pt x="323860" y="266700"/>
                </a:lnTo>
                <a:lnTo>
                  <a:pt x="288925" y="188079"/>
                </a:lnTo>
                <a:close/>
              </a:path>
            </a:pathLst>
          </a:custGeom>
          <a:solidFill>
            <a:srgbClr val="0F4C5C"/>
          </a:solidFill>
          <a:ln/>
        </p:spPr>
      </p:sp>
      <p:sp>
        <p:nvSpPr>
          <p:cNvPr id="8" name="Text 6"/>
          <p:cNvSpPr/>
          <p:nvPr/>
        </p:nvSpPr>
        <p:spPr>
          <a:xfrm>
            <a:off x="1498600" y="2159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Machine Translation</a:t>
            </a:r>
            <a:endParaRPr lang="en-US" sz="1600" dirty="0"/>
          </a:p>
        </p:txBody>
      </p:sp>
      <p:sp>
        <p:nvSpPr>
          <p:cNvPr id="9" name="Text 7"/>
          <p:cNvSpPr/>
          <p:nvPr/>
        </p:nvSpPr>
        <p:spPr>
          <a:xfrm>
            <a:off x="1016000" y="2603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Real-time multilingual communication powered by neural machine translation systems like Google Translate.</a:t>
            </a:r>
            <a:endParaRPr lang="en-US" sz="1600" dirty="0"/>
          </a:p>
        </p:txBody>
      </p:sp>
      <p:sp>
        <p:nvSpPr>
          <p:cNvPr id="10" name="Shape 8"/>
          <p:cNvSpPr/>
          <p:nvPr/>
        </p:nvSpPr>
        <p:spPr>
          <a:xfrm>
            <a:off x="5778500" y="1968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1" name="Shape 9"/>
          <p:cNvSpPr/>
          <p:nvPr/>
        </p:nvSpPr>
        <p:spPr>
          <a:xfrm>
            <a:off x="6032500" y="21844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14875" y="223570"/>
                </a:moveTo>
                <a:cubicBezTo>
                  <a:pt x="129044" y="243016"/>
                  <a:pt x="151963" y="255587"/>
                  <a:pt x="177800" y="255587"/>
                </a:cubicBezTo>
                <a:cubicBezTo>
                  <a:pt x="203637" y="255587"/>
                  <a:pt x="226556" y="243016"/>
                  <a:pt x="240725" y="223570"/>
                </a:cubicBezTo>
                <a:cubicBezTo>
                  <a:pt x="246142" y="216138"/>
                  <a:pt x="256560" y="214471"/>
                  <a:pt x="263991" y="219889"/>
                </a:cubicBezTo>
                <a:cubicBezTo>
                  <a:pt x="271423" y="225306"/>
                  <a:pt x="273090" y="235724"/>
                  <a:pt x="267672" y="243155"/>
                </a:cubicBezTo>
                <a:cubicBezTo>
                  <a:pt x="247461" y="270867"/>
                  <a:pt x="214749" y="288925"/>
                  <a:pt x="177800" y="288925"/>
                </a:cubicBezTo>
                <a:cubicBezTo>
                  <a:pt x="140851" y="288925"/>
                  <a:pt x="108139" y="270867"/>
                  <a:pt x="87928" y="243155"/>
                </a:cubicBezTo>
                <a:cubicBezTo>
                  <a:pt x="82510" y="235724"/>
                  <a:pt x="84177" y="225306"/>
                  <a:pt x="91609" y="219889"/>
                </a:cubicBezTo>
                <a:cubicBezTo>
                  <a:pt x="99040" y="214471"/>
                  <a:pt x="109458" y="216138"/>
                  <a:pt x="114875" y="223570"/>
                </a:cubicBezTo>
                <a:close/>
                <a:moveTo>
                  <a:pt x="100013" y="144463"/>
                </a:moveTo>
                <a:cubicBezTo>
                  <a:pt x="100013" y="132196"/>
                  <a:pt x="109971" y="122238"/>
                  <a:pt x="122238" y="122238"/>
                </a:cubicBezTo>
                <a:cubicBezTo>
                  <a:pt x="134504" y="122238"/>
                  <a:pt x="144463" y="132196"/>
                  <a:pt x="144463" y="144463"/>
                </a:cubicBezTo>
                <a:cubicBezTo>
                  <a:pt x="144463" y="156729"/>
                  <a:pt x="134504" y="166688"/>
                  <a:pt x="122238" y="166688"/>
                </a:cubicBezTo>
                <a:cubicBezTo>
                  <a:pt x="109971" y="166688"/>
                  <a:pt x="100013" y="156729"/>
                  <a:pt x="100013" y="144463"/>
                </a:cubicBezTo>
                <a:close/>
                <a:moveTo>
                  <a:pt x="233363" y="122238"/>
                </a:moveTo>
                <a:cubicBezTo>
                  <a:pt x="245629" y="122238"/>
                  <a:pt x="255587" y="132196"/>
                  <a:pt x="255587" y="144463"/>
                </a:cubicBezTo>
                <a:cubicBezTo>
                  <a:pt x="255587" y="156729"/>
                  <a:pt x="245629" y="166688"/>
                  <a:pt x="233363" y="166688"/>
                </a:cubicBezTo>
                <a:cubicBezTo>
                  <a:pt x="221096" y="166688"/>
                  <a:pt x="211138" y="156729"/>
                  <a:pt x="211138" y="144463"/>
                </a:cubicBezTo>
                <a:cubicBezTo>
                  <a:pt x="211138" y="132196"/>
                  <a:pt x="221096" y="122238"/>
                  <a:pt x="233363" y="122238"/>
                </a:cubicBezTo>
                <a:close/>
              </a:path>
            </a:pathLst>
          </a:custGeom>
          <a:solidFill>
            <a:srgbClr val="0F4C5C"/>
          </a:solidFill>
          <a:ln/>
        </p:spPr>
      </p:sp>
      <p:sp>
        <p:nvSpPr>
          <p:cNvPr id="12" name="Text 10"/>
          <p:cNvSpPr/>
          <p:nvPr/>
        </p:nvSpPr>
        <p:spPr>
          <a:xfrm>
            <a:off x="6515100" y="2159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Sentiment Analysis</a:t>
            </a:r>
            <a:endParaRPr lang="en-US" sz="1600" dirty="0"/>
          </a:p>
        </p:txBody>
      </p:sp>
      <p:sp>
        <p:nvSpPr>
          <p:cNvPr id="13" name="Text 11"/>
          <p:cNvSpPr/>
          <p:nvPr/>
        </p:nvSpPr>
        <p:spPr>
          <a:xfrm>
            <a:off x="6032500" y="2603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Analyzing emotions and opinions in text for business intelligence and customer feedback processing.</a:t>
            </a:r>
            <a:endParaRPr lang="en-US" sz="1600" dirty="0"/>
          </a:p>
        </p:txBody>
      </p:sp>
      <p:sp>
        <p:nvSpPr>
          <p:cNvPr id="14" name="Shape 12"/>
          <p:cNvSpPr/>
          <p:nvPr/>
        </p:nvSpPr>
        <p:spPr>
          <a:xfrm>
            <a:off x="10795000" y="1968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Shape 13"/>
          <p:cNvSpPr/>
          <p:nvPr/>
        </p:nvSpPr>
        <p:spPr>
          <a:xfrm>
            <a:off x="11004550" y="2184400"/>
            <a:ext cx="444500" cy="355600"/>
          </a:xfrm>
          <a:custGeom>
            <a:avLst/>
            <a:gdLst/>
            <a:ahLst/>
            <a:cxnLst/>
            <a:rect l="l" t="t" r="r" b="b"/>
            <a:pathLst>
              <a:path w="444500" h="355600">
                <a:moveTo>
                  <a:pt x="244475" y="0"/>
                </a:moveTo>
                <a:cubicBezTo>
                  <a:pt x="244475" y="-12293"/>
                  <a:pt x="234543" y="-22225"/>
                  <a:pt x="222250" y="-22225"/>
                </a:cubicBezTo>
                <a:cubicBezTo>
                  <a:pt x="209957" y="-22225"/>
                  <a:pt x="200025" y="-12293"/>
                  <a:pt x="200025" y="0"/>
                </a:cubicBezTo>
                <a:lnTo>
                  <a:pt x="200025" y="44450"/>
                </a:lnTo>
                <a:lnTo>
                  <a:pt x="133350" y="44450"/>
                </a:lnTo>
                <a:cubicBezTo>
                  <a:pt x="96540" y="44450"/>
                  <a:pt x="66675" y="74315"/>
                  <a:pt x="66675" y="111125"/>
                </a:cubicBezTo>
                <a:lnTo>
                  <a:pt x="66675" y="266700"/>
                </a:lnTo>
                <a:cubicBezTo>
                  <a:pt x="66675" y="303510"/>
                  <a:pt x="96540" y="333375"/>
                  <a:pt x="133350" y="333375"/>
                </a:cubicBezTo>
                <a:lnTo>
                  <a:pt x="311150" y="333375"/>
                </a:lnTo>
                <a:cubicBezTo>
                  <a:pt x="347960" y="333375"/>
                  <a:pt x="377825" y="303510"/>
                  <a:pt x="377825" y="266700"/>
                </a:cubicBezTo>
                <a:lnTo>
                  <a:pt x="377825" y="111125"/>
                </a:lnTo>
                <a:cubicBezTo>
                  <a:pt x="377825" y="74315"/>
                  <a:pt x="347960" y="44450"/>
                  <a:pt x="311150" y="44450"/>
                </a:cubicBezTo>
                <a:lnTo>
                  <a:pt x="244475" y="44450"/>
                </a:lnTo>
                <a:lnTo>
                  <a:pt x="244475" y="0"/>
                </a:lnTo>
                <a:close/>
                <a:moveTo>
                  <a:pt x="111125" y="255587"/>
                </a:moveTo>
                <a:cubicBezTo>
                  <a:pt x="111125" y="246350"/>
                  <a:pt x="118556" y="238919"/>
                  <a:pt x="127794" y="238919"/>
                </a:cubicBezTo>
                <a:lnTo>
                  <a:pt x="150019" y="238919"/>
                </a:lnTo>
                <a:cubicBezTo>
                  <a:pt x="159256" y="238919"/>
                  <a:pt x="166688" y="246350"/>
                  <a:pt x="166688" y="255587"/>
                </a:cubicBezTo>
                <a:cubicBezTo>
                  <a:pt x="166688" y="264825"/>
                  <a:pt x="159256" y="272256"/>
                  <a:pt x="150019" y="272256"/>
                </a:cubicBezTo>
                <a:lnTo>
                  <a:pt x="127794" y="272256"/>
                </a:lnTo>
                <a:cubicBezTo>
                  <a:pt x="118556" y="272256"/>
                  <a:pt x="111125" y="264825"/>
                  <a:pt x="111125" y="255587"/>
                </a:cubicBezTo>
                <a:close/>
                <a:moveTo>
                  <a:pt x="194469" y="255587"/>
                </a:moveTo>
                <a:cubicBezTo>
                  <a:pt x="194469" y="246350"/>
                  <a:pt x="201900" y="238919"/>
                  <a:pt x="211138" y="238919"/>
                </a:cubicBezTo>
                <a:lnTo>
                  <a:pt x="233363" y="238919"/>
                </a:lnTo>
                <a:cubicBezTo>
                  <a:pt x="242600" y="238919"/>
                  <a:pt x="250031" y="246350"/>
                  <a:pt x="250031" y="255587"/>
                </a:cubicBezTo>
                <a:cubicBezTo>
                  <a:pt x="250031" y="264825"/>
                  <a:pt x="242600" y="272256"/>
                  <a:pt x="233363" y="272256"/>
                </a:cubicBezTo>
                <a:lnTo>
                  <a:pt x="211138" y="272256"/>
                </a:lnTo>
                <a:cubicBezTo>
                  <a:pt x="201900" y="272256"/>
                  <a:pt x="194469" y="264825"/>
                  <a:pt x="194469" y="255587"/>
                </a:cubicBezTo>
                <a:close/>
                <a:moveTo>
                  <a:pt x="277813" y="255587"/>
                </a:moveTo>
                <a:cubicBezTo>
                  <a:pt x="277813" y="246350"/>
                  <a:pt x="285244" y="238919"/>
                  <a:pt x="294481" y="238919"/>
                </a:cubicBezTo>
                <a:lnTo>
                  <a:pt x="316706" y="238919"/>
                </a:lnTo>
                <a:cubicBezTo>
                  <a:pt x="325944" y="238919"/>
                  <a:pt x="333375" y="246350"/>
                  <a:pt x="333375" y="255587"/>
                </a:cubicBezTo>
                <a:cubicBezTo>
                  <a:pt x="333375" y="264825"/>
                  <a:pt x="325944" y="272256"/>
                  <a:pt x="316706" y="272256"/>
                </a:cubicBezTo>
                <a:lnTo>
                  <a:pt x="294481" y="272256"/>
                </a:lnTo>
                <a:cubicBezTo>
                  <a:pt x="285244" y="272256"/>
                  <a:pt x="277813" y="264825"/>
                  <a:pt x="277813" y="255587"/>
                </a:cubicBezTo>
                <a:close/>
                <a:moveTo>
                  <a:pt x="155575" y="122238"/>
                </a:moveTo>
                <a:cubicBezTo>
                  <a:pt x="173974" y="122238"/>
                  <a:pt x="188913" y="137176"/>
                  <a:pt x="188913" y="155575"/>
                </a:cubicBezTo>
                <a:cubicBezTo>
                  <a:pt x="188913" y="173974"/>
                  <a:pt x="173974" y="188913"/>
                  <a:pt x="155575" y="188913"/>
                </a:cubicBezTo>
                <a:cubicBezTo>
                  <a:pt x="137176" y="188913"/>
                  <a:pt x="122238" y="173974"/>
                  <a:pt x="122238" y="155575"/>
                </a:cubicBezTo>
                <a:cubicBezTo>
                  <a:pt x="122238" y="137176"/>
                  <a:pt x="137176" y="122238"/>
                  <a:pt x="155575" y="122238"/>
                </a:cubicBezTo>
                <a:close/>
                <a:moveTo>
                  <a:pt x="255587" y="155575"/>
                </a:moveTo>
                <a:cubicBezTo>
                  <a:pt x="255587" y="137176"/>
                  <a:pt x="270526" y="122238"/>
                  <a:pt x="288925" y="122238"/>
                </a:cubicBezTo>
                <a:cubicBezTo>
                  <a:pt x="307324" y="122238"/>
                  <a:pt x="322263" y="137176"/>
                  <a:pt x="322263" y="155575"/>
                </a:cubicBezTo>
                <a:cubicBezTo>
                  <a:pt x="322263" y="173974"/>
                  <a:pt x="307324" y="188913"/>
                  <a:pt x="288925" y="188913"/>
                </a:cubicBezTo>
                <a:cubicBezTo>
                  <a:pt x="270526" y="188913"/>
                  <a:pt x="255587" y="173974"/>
                  <a:pt x="255587" y="155575"/>
                </a:cubicBezTo>
                <a:close/>
                <a:moveTo>
                  <a:pt x="44450" y="155575"/>
                </a:moveTo>
                <a:cubicBezTo>
                  <a:pt x="44450" y="143282"/>
                  <a:pt x="34518" y="133350"/>
                  <a:pt x="22225" y="133350"/>
                </a:cubicBezTo>
                <a:cubicBezTo>
                  <a:pt x="9932" y="133350"/>
                  <a:pt x="0" y="143282"/>
                  <a:pt x="0" y="155575"/>
                </a:cubicBezTo>
                <a:lnTo>
                  <a:pt x="0" y="222250"/>
                </a:lnTo>
                <a:cubicBezTo>
                  <a:pt x="0" y="234543"/>
                  <a:pt x="9932" y="244475"/>
                  <a:pt x="22225" y="244475"/>
                </a:cubicBezTo>
                <a:cubicBezTo>
                  <a:pt x="34518" y="244475"/>
                  <a:pt x="44450" y="234543"/>
                  <a:pt x="44450" y="222250"/>
                </a:cubicBezTo>
                <a:lnTo>
                  <a:pt x="44450" y="155575"/>
                </a:lnTo>
                <a:close/>
                <a:moveTo>
                  <a:pt x="422275" y="133350"/>
                </a:moveTo>
                <a:cubicBezTo>
                  <a:pt x="409982" y="133350"/>
                  <a:pt x="400050" y="143282"/>
                  <a:pt x="400050" y="155575"/>
                </a:cubicBezTo>
                <a:lnTo>
                  <a:pt x="400050" y="222250"/>
                </a:lnTo>
                <a:cubicBezTo>
                  <a:pt x="400050" y="234543"/>
                  <a:pt x="409982" y="244475"/>
                  <a:pt x="422275" y="244475"/>
                </a:cubicBezTo>
                <a:cubicBezTo>
                  <a:pt x="434568" y="244475"/>
                  <a:pt x="444500" y="234543"/>
                  <a:pt x="444500" y="222250"/>
                </a:cubicBezTo>
                <a:lnTo>
                  <a:pt x="444500" y="155575"/>
                </a:lnTo>
                <a:cubicBezTo>
                  <a:pt x="444500" y="143282"/>
                  <a:pt x="434568" y="133350"/>
                  <a:pt x="422275" y="133350"/>
                </a:cubicBezTo>
                <a:close/>
              </a:path>
            </a:pathLst>
          </a:custGeom>
          <a:solidFill>
            <a:srgbClr val="0F4C5C"/>
          </a:solidFill>
          <a:ln/>
        </p:spPr>
      </p:sp>
      <p:sp>
        <p:nvSpPr>
          <p:cNvPr id="16" name="Text 14"/>
          <p:cNvSpPr/>
          <p:nvPr/>
        </p:nvSpPr>
        <p:spPr>
          <a:xfrm>
            <a:off x="11531600" y="2159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Chatbots &amp; Assistants</a:t>
            </a:r>
            <a:endParaRPr lang="en-US" sz="1600" dirty="0"/>
          </a:p>
        </p:txBody>
      </p:sp>
      <p:sp>
        <p:nvSpPr>
          <p:cNvPr id="17" name="Text 15"/>
          <p:cNvSpPr/>
          <p:nvPr/>
        </p:nvSpPr>
        <p:spPr>
          <a:xfrm>
            <a:off x="11049000" y="2603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Siri, Alexa, and ChatGPT use large language models for natural conversation and task completion.</a:t>
            </a:r>
            <a:endParaRPr lang="en-US" sz="1600" dirty="0"/>
          </a:p>
        </p:txBody>
      </p:sp>
      <p:sp>
        <p:nvSpPr>
          <p:cNvPr id="18" name="Shape 16"/>
          <p:cNvSpPr/>
          <p:nvPr/>
        </p:nvSpPr>
        <p:spPr>
          <a:xfrm>
            <a:off x="762000" y="4254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9" name="Shape 17"/>
          <p:cNvSpPr/>
          <p:nvPr/>
        </p:nvSpPr>
        <p:spPr>
          <a:xfrm>
            <a:off x="1060450" y="4470400"/>
            <a:ext cx="266700" cy="355600"/>
          </a:xfrm>
          <a:custGeom>
            <a:avLst/>
            <a:gdLst/>
            <a:ahLst/>
            <a:cxnLst/>
            <a:rect l="l" t="t" r="r" b="b"/>
            <a:pathLst>
              <a:path w="266700" h="355600">
                <a:moveTo>
                  <a:pt x="133350" y="0"/>
                </a:moveTo>
                <a:cubicBezTo>
                  <a:pt x="96540" y="0"/>
                  <a:pt x="66675" y="29865"/>
                  <a:pt x="66675" y="66675"/>
                </a:cubicBezTo>
                <a:lnTo>
                  <a:pt x="66675" y="155575"/>
                </a:lnTo>
                <a:cubicBezTo>
                  <a:pt x="66675" y="192385"/>
                  <a:pt x="96540" y="222250"/>
                  <a:pt x="133350" y="222250"/>
                </a:cubicBezTo>
                <a:cubicBezTo>
                  <a:pt x="170160" y="222250"/>
                  <a:pt x="200025" y="192385"/>
                  <a:pt x="200025" y="155575"/>
                </a:cubicBezTo>
                <a:lnTo>
                  <a:pt x="200025" y="66675"/>
                </a:lnTo>
                <a:cubicBezTo>
                  <a:pt x="200025" y="29865"/>
                  <a:pt x="170160" y="0"/>
                  <a:pt x="133350" y="0"/>
                </a:cubicBezTo>
                <a:close/>
                <a:moveTo>
                  <a:pt x="33337" y="127794"/>
                </a:moveTo>
                <a:cubicBezTo>
                  <a:pt x="33337" y="118556"/>
                  <a:pt x="25906" y="111125"/>
                  <a:pt x="16669" y="111125"/>
                </a:cubicBezTo>
                <a:cubicBezTo>
                  <a:pt x="7431" y="111125"/>
                  <a:pt x="0" y="118556"/>
                  <a:pt x="0" y="127794"/>
                </a:cubicBezTo>
                <a:lnTo>
                  <a:pt x="0" y="155575"/>
                </a:lnTo>
                <a:cubicBezTo>
                  <a:pt x="0" y="223570"/>
                  <a:pt x="50909" y="279688"/>
                  <a:pt x="116681" y="287883"/>
                </a:cubicBezTo>
                <a:lnTo>
                  <a:pt x="116681" y="322263"/>
                </a:lnTo>
                <a:lnTo>
                  <a:pt x="83344" y="322263"/>
                </a:lnTo>
                <a:cubicBezTo>
                  <a:pt x="74106" y="322263"/>
                  <a:pt x="66675" y="329694"/>
                  <a:pt x="66675" y="338931"/>
                </a:cubicBezTo>
                <a:cubicBezTo>
                  <a:pt x="66675" y="348169"/>
                  <a:pt x="74106" y="355600"/>
                  <a:pt x="83344" y="355600"/>
                </a:cubicBezTo>
                <a:lnTo>
                  <a:pt x="183356" y="355600"/>
                </a:lnTo>
                <a:cubicBezTo>
                  <a:pt x="192594" y="355600"/>
                  <a:pt x="200025" y="348169"/>
                  <a:pt x="200025" y="338931"/>
                </a:cubicBezTo>
                <a:cubicBezTo>
                  <a:pt x="200025" y="329694"/>
                  <a:pt x="192594" y="322263"/>
                  <a:pt x="183356" y="322263"/>
                </a:cubicBezTo>
                <a:lnTo>
                  <a:pt x="150019" y="322263"/>
                </a:lnTo>
                <a:lnTo>
                  <a:pt x="150019" y="287883"/>
                </a:lnTo>
                <a:cubicBezTo>
                  <a:pt x="215791" y="279688"/>
                  <a:pt x="266700" y="223570"/>
                  <a:pt x="266700" y="155575"/>
                </a:cubicBezTo>
                <a:lnTo>
                  <a:pt x="266700" y="127794"/>
                </a:lnTo>
                <a:cubicBezTo>
                  <a:pt x="266700" y="118556"/>
                  <a:pt x="259269" y="111125"/>
                  <a:pt x="250031" y="111125"/>
                </a:cubicBezTo>
                <a:cubicBezTo>
                  <a:pt x="240794" y="111125"/>
                  <a:pt x="233363" y="118556"/>
                  <a:pt x="233363" y="127794"/>
                </a:cubicBezTo>
                <a:lnTo>
                  <a:pt x="233363" y="155575"/>
                </a:lnTo>
                <a:cubicBezTo>
                  <a:pt x="233363" y="210790"/>
                  <a:pt x="188565" y="255587"/>
                  <a:pt x="133350" y="255587"/>
                </a:cubicBezTo>
                <a:cubicBezTo>
                  <a:pt x="78135" y="255587"/>
                  <a:pt x="33337" y="210790"/>
                  <a:pt x="33337" y="155575"/>
                </a:cubicBezTo>
                <a:lnTo>
                  <a:pt x="33337" y="127794"/>
                </a:lnTo>
                <a:close/>
              </a:path>
            </a:pathLst>
          </a:custGeom>
          <a:solidFill>
            <a:srgbClr val="0F4C5C"/>
          </a:solidFill>
          <a:ln/>
        </p:spPr>
      </p:sp>
      <p:sp>
        <p:nvSpPr>
          <p:cNvPr id="20" name="Text 18"/>
          <p:cNvSpPr/>
          <p:nvPr/>
        </p:nvSpPr>
        <p:spPr>
          <a:xfrm>
            <a:off x="1498600" y="4445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Speech Recognition</a:t>
            </a:r>
            <a:endParaRPr lang="en-US" sz="1600" dirty="0"/>
          </a:p>
        </p:txBody>
      </p:sp>
      <p:sp>
        <p:nvSpPr>
          <p:cNvPr id="21" name="Text 19"/>
          <p:cNvSpPr/>
          <p:nvPr/>
        </p:nvSpPr>
        <p:spPr>
          <a:xfrm>
            <a:off x="1016000" y="4889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Converting speech to text (ASR) enabling voice commands, transcription, and hands-free interfaces.</a:t>
            </a:r>
            <a:endParaRPr lang="en-US" sz="1600" dirty="0"/>
          </a:p>
        </p:txBody>
      </p:sp>
      <p:sp>
        <p:nvSpPr>
          <p:cNvPr id="22" name="Shape 20"/>
          <p:cNvSpPr/>
          <p:nvPr/>
        </p:nvSpPr>
        <p:spPr>
          <a:xfrm>
            <a:off x="5778500" y="4254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3" name="Shape 21"/>
          <p:cNvSpPr/>
          <p:nvPr/>
        </p:nvSpPr>
        <p:spPr>
          <a:xfrm>
            <a:off x="6076950" y="4470400"/>
            <a:ext cx="266700" cy="355600"/>
          </a:xfrm>
          <a:custGeom>
            <a:avLst/>
            <a:gdLst/>
            <a:ahLst/>
            <a:cxnLst/>
            <a:rect l="l" t="t" r="r" b="b"/>
            <a:pathLst>
              <a:path w="266700" h="355600">
                <a:moveTo>
                  <a:pt x="0" y="44450"/>
                </a:moveTo>
                <a:cubicBezTo>
                  <a:pt x="0" y="19933"/>
                  <a:pt x="19933" y="0"/>
                  <a:pt x="44450" y="0"/>
                </a:cubicBezTo>
                <a:lnTo>
                  <a:pt x="148282" y="0"/>
                </a:lnTo>
                <a:cubicBezTo>
                  <a:pt x="160089" y="0"/>
                  <a:pt x="171410" y="4653"/>
                  <a:pt x="179745" y="12988"/>
                </a:cubicBezTo>
                <a:lnTo>
                  <a:pt x="253712" y="87025"/>
                </a:lnTo>
                <a:cubicBezTo>
                  <a:pt x="262047" y="95359"/>
                  <a:pt x="266700" y="106680"/>
                  <a:pt x="266700" y="118487"/>
                </a:cubicBezTo>
                <a:lnTo>
                  <a:pt x="266700" y="311150"/>
                </a:lnTo>
                <a:cubicBezTo>
                  <a:pt x="266700" y="335667"/>
                  <a:pt x="246767" y="355600"/>
                  <a:pt x="222250" y="355600"/>
                </a:cubicBezTo>
                <a:lnTo>
                  <a:pt x="44450" y="355600"/>
                </a:lnTo>
                <a:cubicBezTo>
                  <a:pt x="19933" y="355600"/>
                  <a:pt x="0" y="335667"/>
                  <a:pt x="0" y="311150"/>
                </a:cubicBezTo>
                <a:lnTo>
                  <a:pt x="0" y="44450"/>
                </a:lnTo>
                <a:close/>
                <a:moveTo>
                  <a:pt x="144463" y="40630"/>
                </a:moveTo>
                <a:lnTo>
                  <a:pt x="144463" y="105569"/>
                </a:lnTo>
                <a:cubicBezTo>
                  <a:pt x="144463" y="114806"/>
                  <a:pt x="151894" y="122238"/>
                  <a:pt x="161131" y="122238"/>
                </a:cubicBezTo>
                <a:lnTo>
                  <a:pt x="226070" y="122238"/>
                </a:lnTo>
                <a:lnTo>
                  <a:pt x="144463" y="40630"/>
                </a:lnTo>
                <a:close/>
                <a:moveTo>
                  <a:pt x="83344" y="177800"/>
                </a:moveTo>
                <a:cubicBezTo>
                  <a:pt x="74106" y="177800"/>
                  <a:pt x="66675" y="185231"/>
                  <a:pt x="66675" y="194469"/>
                </a:cubicBezTo>
                <a:cubicBezTo>
                  <a:pt x="66675" y="203706"/>
                  <a:pt x="74106" y="211138"/>
                  <a:pt x="83344" y="211138"/>
                </a:cubicBezTo>
                <a:lnTo>
                  <a:pt x="183356" y="211138"/>
                </a:lnTo>
                <a:cubicBezTo>
                  <a:pt x="192594" y="211138"/>
                  <a:pt x="200025" y="203706"/>
                  <a:pt x="200025" y="194469"/>
                </a:cubicBezTo>
                <a:cubicBezTo>
                  <a:pt x="200025" y="185231"/>
                  <a:pt x="192594" y="177800"/>
                  <a:pt x="183356" y="177800"/>
                </a:cubicBezTo>
                <a:lnTo>
                  <a:pt x="83344" y="177800"/>
                </a:lnTo>
                <a:close/>
                <a:moveTo>
                  <a:pt x="83344" y="244475"/>
                </a:moveTo>
                <a:cubicBezTo>
                  <a:pt x="74106" y="244475"/>
                  <a:pt x="66675" y="251906"/>
                  <a:pt x="66675" y="261144"/>
                </a:cubicBezTo>
                <a:cubicBezTo>
                  <a:pt x="66675" y="270381"/>
                  <a:pt x="74106" y="277813"/>
                  <a:pt x="83344" y="277813"/>
                </a:cubicBezTo>
                <a:lnTo>
                  <a:pt x="183356" y="277813"/>
                </a:lnTo>
                <a:cubicBezTo>
                  <a:pt x="192594" y="277813"/>
                  <a:pt x="200025" y="270381"/>
                  <a:pt x="200025" y="261144"/>
                </a:cubicBezTo>
                <a:cubicBezTo>
                  <a:pt x="200025" y="251906"/>
                  <a:pt x="192594" y="244475"/>
                  <a:pt x="183356" y="244475"/>
                </a:cubicBezTo>
                <a:lnTo>
                  <a:pt x="83344" y="244475"/>
                </a:lnTo>
                <a:close/>
              </a:path>
            </a:pathLst>
          </a:custGeom>
          <a:solidFill>
            <a:srgbClr val="0F4C5C"/>
          </a:solidFill>
          <a:ln/>
        </p:spPr>
      </p:sp>
      <p:sp>
        <p:nvSpPr>
          <p:cNvPr id="24" name="Text 22"/>
          <p:cNvSpPr/>
          <p:nvPr/>
        </p:nvSpPr>
        <p:spPr>
          <a:xfrm>
            <a:off x="6515100" y="4445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Text Summarization</a:t>
            </a:r>
            <a:endParaRPr lang="en-US" sz="1600" dirty="0"/>
          </a:p>
        </p:txBody>
      </p:sp>
      <p:sp>
        <p:nvSpPr>
          <p:cNvPr id="25" name="Text 23"/>
          <p:cNvSpPr/>
          <p:nvPr/>
        </p:nvSpPr>
        <p:spPr>
          <a:xfrm>
            <a:off x="6032500" y="4889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Automatically condensing documents and articles while preserving key information and meaning.</a:t>
            </a:r>
            <a:endParaRPr lang="en-US" sz="1600" dirty="0"/>
          </a:p>
        </p:txBody>
      </p:sp>
      <p:sp>
        <p:nvSpPr>
          <p:cNvPr id="26" name="Shape 24"/>
          <p:cNvSpPr/>
          <p:nvPr/>
        </p:nvSpPr>
        <p:spPr>
          <a:xfrm>
            <a:off x="10795000" y="4254500"/>
            <a:ext cx="4699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7" name="Shape 25"/>
          <p:cNvSpPr/>
          <p:nvPr/>
        </p:nvSpPr>
        <p:spPr>
          <a:xfrm>
            <a:off x="11026775" y="4470400"/>
            <a:ext cx="400050" cy="355600"/>
          </a:xfrm>
          <a:custGeom>
            <a:avLst/>
            <a:gdLst/>
            <a:ahLst/>
            <a:cxnLst/>
            <a:rect l="l" t="t" r="r" b="b"/>
            <a:pathLst>
              <a:path w="400050" h="355600">
                <a:moveTo>
                  <a:pt x="278646" y="27156"/>
                </a:moveTo>
                <a:lnTo>
                  <a:pt x="381575" y="131544"/>
                </a:lnTo>
                <a:cubicBezTo>
                  <a:pt x="400814" y="151061"/>
                  <a:pt x="400814" y="182314"/>
                  <a:pt x="381575" y="201831"/>
                </a:cubicBezTo>
                <a:lnTo>
                  <a:pt x="272951" y="311775"/>
                </a:lnTo>
                <a:cubicBezTo>
                  <a:pt x="266492" y="318304"/>
                  <a:pt x="255935" y="318373"/>
                  <a:pt x="249406" y="311914"/>
                </a:cubicBezTo>
                <a:cubicBezTo>
                  <a:pt x="242878" y="305455"/>
                  <a:pt x="242808" y="294898"/>
                  <a:pt x="249267" y="288369"/>
                </a:cubicBezTo>
                <a:lnTo>
                  <a:pt x="357892" y="178356"/>
                </a:lnTo>
                <a:cubicBezTo>
                  <a:pt x="364282" y="171896"/>
                  <a:pt x="364282" y="161409"/>
                  <a:pt x="357892" y="154950"/>
                </a:cubicBezTo>
                <a:lnTo>
                  <a:pt x="254893" y="50631"/>
                </a:lnTo>
                <a:cubicBezTo>
                  <a:pt x="248434" y="44103"/>
                  <a:pt x="248503" y="33546"/>
                  <a:pt x="255032" y="27087"/>
                </a:cubicBezTo>
                <a:cubicBezTo>
                  <a:pt x="261560" y="20628"/>
                  <a:pt x="272117" y="20697"/>
                  <a:pt x="278576" y="27226"/>
                </a:cubicBezTo>
                <a:close/>
                <a:moveTo>
                  <a:pt x="22294" y="159395"/>
                </a:moveTo>
                <a:lnTo>
                  <a:pt x="22294" y="66675"/>
                </a:lnTo>
                <a:cubicBezTo>
                  <a:pt x="22294" y="42158"/>
                  <a:pt x="42228" y="22225"/>
                  <a:pt x="66744" y="22225"/>
                </a:cubicBezTo>
                <a:lnTo>
                  <a:pt x="159464" y="22225"/>
                </a:lnTo>
                <a:cubicBezTo>
                  <a:pt x="171271" y="22225"/>
                  <a:pt x="182592" y="26878"/>
                  <a:pt x="190927" y="35213"/>
                </a:cubicBezTo>
                <a:lnTo>
                  <a:pt x="290939" y="135225"/>
                </a:lnTo>
                <a:cubicBezTo>
                  <a:pt x="308302" y="152589"/>
                  <a:pt x="308302" y="180717"/>
                  <a:pt x="290939" y="198080"/>
                </a:cubicBezTo>
                <a:lnTo>
                  <a:pt x="198219" y="290800"/>
                </a:lnTo>
                <a:cubicBezTo>
                  <a:pt x="180856" y="308164"/>
                  <a:pt x="152727" y="308164"/>
                  <a:pt x="135364" y="290800"/>
                </a:cubicBezTo>
                <a:lnTo>
                  <a:pt x="35352" y="190788"/>
                </a:lnTo>
                <a:cubicBezTo>
                  <a:pt x="27017" y="182453"/>
                  <a:pt x="22364" y="171133"/>
                  <a:pt x="22364" y="159325"/>
                </a:cubicBezTo>
                <a:close/>
                <a:moveTo>
                  <a:pt x="122307" y="100013"/>
                </a:moveTo>
                <a:cubicBezTo>
                  <a:pt x="122307" y="87746"/>
                  <a:pt x="112348" y="77788"/>
                  <a:pt x="100082" y="77788"/>
                </a:cubicBezTo>
                <a:cubicBezTo>
                  <a:pt x="87816" y="77788"/>
                  <a:pt x="77857" y="87746"/>
                  <a:pt x="77857" y="100013"/>
                </a:cubicBezTo>
                <a:cubicBezTo>
                  <a:pt x="77857" y="112279"/>
                  <a:pt x="87816" y="122238"/>
                  <a:pt x="100082" y="122238"/>
                </a:cubicBezTo>
                <a:cubicBezTo>
                  <a:pt x="112348" y="122238"/>
                  <a:pt x="122307" y="112279"/>
                  <a:pt x="122307" y="100013"/>
                </a:cubicBezTo>
                <a:close/>
              </a:path>
            </a:pathLst>
          </a:custGeom>
          <a:solidFill>
            <a:srgbClr val="0F4C5C"/>
          </a:solidFill>
          <a:ln/>
        </p:spPr>
      </p:sp>
      <p:sp>
        <p:nvSpPr>
          <p:cNvPr id="28" name="Text 26"/>
          <p:cNvSpPr/>
          <p:nvPr/>
        </p:nvSpPr>
        <p:spPr>
          <a:xfrm>
            <a:off x="11531600" y="4445000"/>
            <a:ext cx="3708400" cy="330200"/>
          </a:xfrm>
          <a:prstGeom prst="rect">
            <a:avLst/>
          </a:prstGeom>
          <a:noFill/>
          <a:ln/>
        </p:spPr>
        <p:txBody>
          <a:bodyPr wrap="none" lIns="0" tIns="0" rIns="0" bIns="0" rtlCol="0" anchor="ctr"/>
          <a:lstStyle/>
          <a:p>
            <a:pPr>
              <a:lnSpc>
                <a:spcPct val="100000"/>
              </a:lnSpc>
            </a:pPr>
            <a:r>
              <a:rPr lang="en-US" sz="1600" b="1" dirty="0">
                <a:solidFill>
                  <a:srgbClr val="0F4C5C"/>
                </a:solidFill>
                <a:latin typeface="Liter" pitchFamily="34" charset="0"/>
                <a:ea typeface="Liter" pitchFamily="34" charset="-122"/>
                <a:cs typeface="Liter" pitchFamily="34" charset="-120"/>
              </a:rPr>
              <a:t>Named Entity Recognition</a:t>
            </a:r>
            <a:endParaRPr lang="en-US" sz="1600" dirty="0"/>
          </a:p>
        </p:txBody>
      </p:sp>
      <p:sp>
        <p:nvSpPr>
          <p:cNvPr id="29" name="Text 27"/>
          <p:cNvSpPr/>
          <p:nvPr/>
        </p:nvSpPr>
        <p:spPr>
          <a:xfrm>
            <a:off x="11049000" y="4889500"/>
            <a:ext cx="4191000" cy="1143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Extracting people, places, organizations, and entities from unstructured text data.</a:t>
            </a:r>
            <a:endParaRPr lang="en-US" sz="1600" dirty="0"/>
          </a:p>
        </p:txBody>
      </p:sp>
      <p:sp>
        <p:nvSpPr>
          <p:cNvPr id="30" name="Shape 28"/>
          <p:cNvSpPr/>
          <p:nvPr/>
        </p:nvSpPr>
        <p:spPr>
          <a:xfrm>
            <a:off x="762000" y="6604000"/>
            <a:ext cx="14732000" cy="1524000"/>
          </a:xfrm>
          <a:prstGeom prst="rect">
            <a:avLst/>
          </a:prstGeom>
          <a:solidFill>
            <a:srgbClr val="E0F2F1"/>
          </a:solidFill>
          <a:ln/>
        </p:spPr>
      </p:sp>
      <p:sp>
        <p:nvSpPr>
          <p:cNvPr id="31" name="Text 29"/>
          <p:cNvSpPr/>
          <p:nvPr/>
        </p:nvSpPr>
        <p:spPr>
          <a:xfrm>
            <a:off x="1016000" y="6794500"/>
            <a:ext cx="14224000" cy="1143000"/>
          </a:xfrm>
          <a:prstGeom prst="rect">
            <a:avLst/>
          </a:prstGeom>
          <a:noFill/>
          <a:ln/>
        </p:spPr>
        <p:txBody>
          <a:bodyPr wrap="square" lIns="0" tIns="0" rIns="0" bIns="0" rtlCol="0" anchor="ctr"/>
          <a:lstStyle/>
          <a:p>
            <a:pPr algn="ct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Modern NLP</a:t>
            </a:r>
            <a:pPr algn="ct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uses </a:t>
            </a:r>
            <a:pPr algn="ct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transformer architectures</a:t>
            </a:r>
            <a:pPr algn="ct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(like GPT, BERT) to achieve state-of-the-art results across all language tasks, revolutionizing human-computer interaction.</a:t>
            </a:r>
            <a:endParaRPr lang="en-US" sz="1600" dirty="0"/>
          </a:p>
        </p:txBody>
      </p:sp>
      <p:sp>
        <p:nvSpPr>
          <p:cNvPr id="32" name="Text 30"/>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33" name="Text 31"/>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13</a:t>
            </a:r>
            <a:endParaRPr lang="en-US" sz="14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AI in Expert Systems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Expert systems capture human expertise in software to solve specialized, domain-specific problems.</a:t>
            </a:r>
            <a:endParaRPr lang="en-US" sz="1800" dirty="0"/>
          </a:p>
        </p:txBody>
      </p:sp>
      <p:sp>
        <p:nvSpPr>
          <p:cNvPr id="6" name="Text 4"/>
          <p:cNvSpPr/>
          <p:nvPr/>
        </p:nvSpPr>
        <p:spPr>
          <a:xfrm>
            <a:off x="762000" y="1905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SYSTEM ARCHITECTURE</a:t>
            </a:r>
            <a:endParaRPr lang="en-US" sz="1400" dirty="0"/>
          </a:p>
        </p:txBody>
      </p:sp>
      <p:sp>
        <p:nvSpPr>
          <p:cNvPr id="7" name="Shape 5"/>
          <p:cNvSpPr/>
          <p:nvPr/>
        </p:nvSpPr>
        <p:spPr>
          <a:xfrm>
            <a:off x="762000" y="2413000"/>
            <a:ext cx="4445000" cy="1651000"/>
          </a:xfrm>
          <a:prstGeom prst="rect">
            <a:avLst/>
          </a:prstGeom>
          <a:solidFill>
            <a:srgbClr val="0F4C5C"/>
          </a:solidFill>
          <a:ln/>
        </p:spPr>
      </p:sp>
      <p:sp>
        <p:nvSpPr>
          <p:cNvPr id="8" name="Shape 6"/>
          <p:cNvSpPr/>
          <p:nvPr/>
        </p:nvSpPr>
        <p:spPr>
          <a:xfrm>
            <a:off x="1041400" y="2730500"/>
            <a:ext cx="355600" cy="406400"/>
          </a:xfrm>
          <a:custGeom>
            <a:avLst/>
            <a:gdLst/>
            <a:ahLst/>
            <a:cxnLst/>
            <a:rect l="l" t="t" r="r" b="b"/>
            <a:pathLst>
              <a:path w="355600" h="406400">
                <a:moveTo>
                  <a:pt x="304800" y="406400"/>
                </a:moveTo>
                <a:lnTo>
                  <a:pt x="76200" y="406400"/>
                </a:lnTo>
                <a:cubicBezTo>
                  <a:pt x="34131" y="406400"/>
                  <a:pt x="0" y="372269"/>
                  <a:pt x="0" y="330200"/>
                </a:cubicBezTo>
                <a:lnTo>
                  <a:pt x="0" y="76200"/>
                </a:lnTo>
                <a:cubicBezTo>
                  <a:pt x="0" y="34131"/>
                  <a:pt x="34131" y="0"/>
                  <a:pt x="76200" y="0"/>
                </a:cubicBezTo>
                <a:lnTo>
                  <a:pt x="317500" y="0"/>
                </a:lnTo>
                <a:cubicBezTo>
                  <a:pt x="338534" y="0"/>
                  <a:pt x="355600" y="17066"/>
                  <a:pt x="355600" y="38100"/>
                </a:cubicBezTo>
                <a:lnTo>
                  <a:pt x="355600" y="266700"/>
                </a:lnTo>
                <a:cubicBezTo>
                  <a:pt x="355600" y="283289"/>
                  <a:pt x="344964" y="297418"/>
                  <a:pt x="330200" y="302657"/>
                </a:cubicBezTo>
                <a:lnTo>
                  <a:pt x="330200" y="355600"/>
                </a:lnTo>
                <a:cubicBezTo>
                  <a:pt x="344249" y="355600"/>
                  <a:pt x="355600" y="366951"/>
                  <a:pt x="355600" y="381000"/>
                </a:cubicBezTo>
                <a:cubicBezTo>
                  <a:pt x="355600" y="395049"/>
                  <a:pt x="344249" y="406400"/>
                  <a:pt x="330200" y="406400"/>
                </a:cubicBezTo>
                <a:lnTo>
                  <a:pt x="304800" y="406400"/>
                </a:lnTo>
                <a:close/>
                <a:moveTo>
                  <a:pt x="76200" y="304800"/>
                </a:moveTo>
                <a:cubicBezTo>
                  <a:pt x="62151" y="304800"/>
                  <a:pt x="50800" y="316151"/>
                  <a:pt x="50800" y="330200"/>
                </a:cubicBezTo>
                <a:cubicBezTo>
                  <a:pt x="50800" y="344249"/>
                  <a:pt x="62151" y="355600"/>
                  <a:pt x="76200" y="355600"/>
                </a:cubicBezTo>
                <a:lnTo>
                  <a:pt x="279400" y="355600"/>
                </a:lnTo>
                <a:lnTo>
                  <a:pt x="279400" y="304800"/>
                </a:lnTo>
                <a:lnTo>
                  <a:pt x="76200" y="304800"/>
                </a:lnTo>
                <a:close/>
                <a:moveTo>
                  <a:pt x="101600" y="120650"/>
                </a:moveTo>
                <a:cubicBezTo>
                  <a:pt x="101600" y="131207"/>
                  <a:pt x="110093" y="139700"/>
                  <a:pt x="120650" y="139700"/>
                </a:cubicBezTo>
                <a:lnTo>
                  <a:pt x="260350" y="139700"/>
                </a:lnTo>
                <a:cubicBezTo>
                  <a:pt x="270907" y="139700"/>
                  <a:pt x="279400" y="131207"/>
                  <a:pt x="279400" y="120650"/>
                </a:cubicBezTo>
                <a:cubicBezTo>
                  <a:pt x="279400" y="110093"/>
                  <a:pt x="270907" y="101600"/>
                  <a:pt x="260350" y="101600"/>
                </a:cubicBezTo>
                <a:lnTo>
                  <a:pt x="120650" y="101600"/>
                </a:lnTo>
                <a:cubicBezTo>
                  <a:pt x="110093" y="101600"/>
                  <a:pt x="101600" y="110093"/>
                  <a:pt x="101600" y="120650"/>
                </a:cubicBezTo>
                <a:close/>
                <a:moveTo>
                  <a:pt x="120650" y="177800"/>
                </a:moveTo>
                <a:cubicBezTo>
                  <a:pt x="110093" y="177800"/>
                  <a:pt x="101600" y="186293"/>
                  <a:pt x="101600" y="196850"/>
                </a:cubicBezTo>
                <a:cubicBezTo>
                  <a:pt x="101600" y="207407"/>
                  <a:pt x="110093" y="215900"/>
                  <a:pt x="120650" y="215900"/>
                </a:cubicBezTo>
                <a:lnTo>
                  <a:pt x="260350" y="215900"/>
                </a:lnTo>
                <a:cubicBezTo>
                  <a:pt x="270907" y="215900"/>
                  <a:pt x="279400" y="207407"/>
                  <a:pt x="279400" y="196850"/>
                </a:cubicBezTo>
                <a:cubicBezTo>
                  <a:pt x="279400" y="186293"/>
                  <a:pt x="270907" y="177800"/>
                  <a:pt x="260350" y="177800"/>
                </a:cubicBezTo>
                <a:lnTo>
                  <a:pt x="120650" y="177800"/>
                </a:lnTo>
                <a:close/>
              </a:path>
            </a:pathLst>
          </a:custGeom>
          <a:solidFill>
            <a:srgbClr val="D97706"/>
          </a:solidFill>
          <a:ln/>
        </p:spPr>
      </p:sp>
      <p:sp>
        <p:nvSpPr>
          <p:cNvPr id="9" name="Text 7"/>
          <p:cNvSpPr/>
          <p:nvPr/>
        </p:nvSpPr>
        <p:spPr>
          <a:xfrm>
            <a:off x="1587500" y="2667000"/>
            <a:ext cx="33655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Knowledge Base</a:t>
            </a:r>
            <a:endParaRPr lang="en-US" sz="1600" dirty="0"/>
          </a:p>
        </p:txBody>
      </p:sp>
      <p:sp>
        <p:nvSpPr>
          <p:cNvPr id="10" name="Text 8"/>
          <p:cNvSpPr/>
          <p:nvPr/>
        </p:nvSpPr>
        <p:spPr>
          <a:xfrm>
            <a:off x="1016000" y="3175000"/>
            <a:ext cx="3937000" cy="698500"/>
          </a:xfrm>
          <a:prstGeom prst="rect">
            <a:avLst/>
          </a:prstGeom>
          <a:noFill/>
          <a:ln/>
        </p:spPr>
        <p:txBody>
          <a:bodyPr wrap="square" lIns="0" tIns="0" rIns="0" bIns="0" rtlCol="0" anchor="t"/>
          <a:lstStyle/>
          <a:p>
            <a:pPr>
              <a:lnSpc>
                <a:spcPct val="14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Stores domain-specific facts, rules, and heuristics from human experts</a:t>
            </a:r>
            <a:endParaRPr lang="en-US" sz="1600" dirty="0"/>
          </a:p>
        </p:txBody>
      </p:sp>
      <p:sp>
        <p:nvSpPr>
          <p:cNvPr id="11" name="Shape 9"/>
          <p:cNvSpPr/>
          <p:nvPr/>
        </p:nvSpPr>
        <p:spPr>
          <a:xfrm>
            <a:off x="2857500" y="4064000"/>
            <a:ext cx="0" cy="381000"/>
          </a:xfrm>
          <a:prstGeom prst="straightConnector1">
            <a:avLst/>
          </a:prstGeom>
          <a:noFill/>
          <a:ln w="25400">
            <a:solidFill>
              <a:srgbClr val="D97706"/>
            </a:solidFill>
            <a:prstDash val="solid"/>
            <a:headEnd type="none"/>
            <a:tailEnd type="arrow"/>
          </a:ln>
        </p:spPr>
      </p:sp>
      <p:sp>
        <p:nvSpPr>
          <p:cNvPr id="12" name="Shape 10"/>
          <p:cNvSpPr/>
          <p:nvPr/>
        </p:nvSpPr>
        <p:spPr>
          <a:xfrm>
            <a:off x="762000" y="4445000"/>
            <a:ext cx="4445000" cy="1651000"/>
          </a:xfrm>
          <a:prstGeom prst="rect">
            <a:avLst/>
          </a:prstGeom>
          <a:solidFill>
            <a:srgbClr val="0F4C5C"/>
          </a:solidFill>
          <a:ln/>
        </p:spPr>
      </p:sp>
      <p:sp>
        <p:nvSpPr>
          <p:cNvPr id="13" name="Shape 11"/>
          <p:cNvSpPr/>
          <p:nvPr/>
        </p:nvSpPr>
        <p:spPr>
          <a:xfrm>
            <a:off x="965200" y="4762500"/>
            <a:ext cx="508000" cy="406400"/>
          </a:xfrm>
          <a:custGeom>
            <a:avLst/>
            <a:gdLst/>
            <a:ahLst/>
            <a:cxnLst/>
            <a:rect l="l" t="t" r="r" b="b"/>
            <a:pathLst>
              <a:path w="508000" h="406400">
                <a:moveTo>
                  <a:pt x="330121" y="167084"/>
                </a:moveTo>
                <a:cubicBezTo>
                  <a:pt x="339804" y="164465"/>
                  <a:pt x="349964" y="169069"/>
                  <a:pt x="354330" y="178038"/>
                </a:cubicBezTo>
                <a:lnTo>
                  <a:pt x="369094" y="207883"/>
                </a:lnTo>
                <a:cubicBezTo>
                  <a:pt x="377269" y="208994"/>
                  <a:pt x="385286" y="211217"/>
                  <a:pt x="392827" y="214313"/>
                </a:cubicBezTo>
                <a:lnTo>
                  <a:pt x="420608" y="195818"/>
                </a:lnTo>
                <a:cubicBezTo>
                  <a:pt x="428943" y="190262"/>
                  <a:pt x="439976" y="191373"/>
                  <a:pt x="447040" y="198438"/>
                </a:cubicBezTo>
                <a:lnTo>
                  <a:pt x="462280" y="213678"/>
                </a:lnTo>
                <a:cubicBezTo>
                  <a:pt x="469344" y="220742"/>
                  <a:pt x="470456" y="231854"/>
                  <a:pt x="464899" y="240109"/>
                </a:cubicBezTo>
                <a:lnTo>
                  <a:pt x="446405" y="267811"/>
                </a:lnTo>
                <a:cubicBezTo>
                  <a:pt x="447913" y="271542"/>
                  <a:pt x="449263" y="275431"/>
                  <a:pt x="450374" y="279479"/>
                </a:cubicBezTo>
                <a:cubicBezTo>
                  <a:pt x="451485" y="283528"/>
                  <a:pt x="452199" y="287496"/>
                  <a:pt x="452755" y="291544"/>
                </a:cubicBezTo>
                <a:lnTo>
                  <a:pt x="482679" y="306308"/>
                </a:lnTo>
                <a:cubicBezTo>
                  <a:pt x="491649" y="310753"/>
                  <a:pt x="496253" y="320913"/>
                  <a:pt x="493633" y="330518"/>
                </a:cubicBezTo>
                <a:lnTo>
                  <a:pt x="488077" y="351314"/>
                </a:lnTo>
                <a:cubicBezTo>
                  <a:pt x="485458" y="360918"/>
                  <a:pt x="476488" y="367427"/>
                  <a:pt x="466487" y="366792"/>
                </a:cubicBezTo>
                <a:lnTo>
                  <a:pt x="433149" y="364649"/>
                </a:lnTo>
                <a:cubicBezTo>
                  <a:pt x="428149" y="371078"/>
                  <a:pt x="422354" y="377031"/>
                  <a:pt x="415766" y="382111"/>
                </a:cubicBezTo>
                <a:lnTo>
                  <a:pt x="417909" y="415369"/>
                </a:lnTo>
                <a:cubicBezTo>
                  <a:pt x="418544" y="425371"/>
                  <a:pt x="412036" y="434419"/>
                  <a:pt x="402431" y="436959"/>
                </a:cubicBezTo>
                <a:lnTo>
                  <a:pt x="381635" y="442516"/>
                </a:lnTo>
                <a:cubicBezTo>
                  <a:pt x="371951" y="445135"/>
                  <a:pt x="361871" y="440531"/>
                  <a:pt x="357426" y="431562"/>
                </a:cubicBezTo>
                <a:lnTo>
                  <a:pt x="342662" y="401717"/>
                </a:lnTo>
                <a:cubicBezTo>
                  <a:pt x="334486" y="400606"/>
                  <a:pt x="326469" y="398383"/>
                  <a:pt x="318929" y="395288"/>
                </a:cubicBezTo>
                <a:lnTo>
                  <a:pt x="291148" y="413782"/>
                </a:lnTo>
                <a:cubicBezTo>
                  <a:pt x="282813" y="419338"/>
                  <a:pt x="271780" y="418227"/>
                  <a:pt x="264716" y="411163"/>
                </a:cubicBezTo>
                <a:lnTo>
                  <a:pt x="249476" y="395923"/>
                </a:lnTo>
                <a:cubicBezTo>
                  <a:pt x="242411" y="388858"/>
                  <a:pt x="241300" y="377825"/>
                  <a:pt x="246856" y="369491"/>
                </a:cubicBezTo>
                <a:lnTo>
                  <a:pt x="265351" y="341709"/>
                </a:lnTo>
                <a:cubicBezTo>
                  <a:pt x="263843" y="337979"/>
                  <a:pt x="262493" y="334089"/>
                  <a:pt x="261382" y="330041"/>
                </a:cubicBezTo>
                <a:cubicBezTo>
                  <a:pt x="260271" y="325993"/>
                  <a:pt x="259556" y="321945"/>
                  <a:pt x="259001" y="317976"/>
                </a:cubicBezTo>
                <a:lnTo>
                  <a:pt x="229076" y="303213"/>
                </a:lnTo>
                <a:cubicBezTo>
                  <a:pt x="220107" y="298768"/>
                  <a:pt x="215583" y="288608"/>
                  <a:pt x="218123" y="279003"/>
                </a:cubicBezTo>
                <a:lnTo>
                  <a:pt x="223679" y="258207"/>
                </a:lnTo>
                <a:cubicBezTo>
                  <a:pt x="226298" y="248602"/>
                  <a:pt x="235268" y="242094"/>
                  <a:pt x="245269" y="242729"/>
                </a:cubicBezTo>
                <a:lnTo>
                  <a:pt x="278527" y="244872"/>
                </a:lnTo>
                <a:cubicBezTo>
                  <a:pt x="283528" y="238442"/>
                  <a:pt x="289322" y="232489"/>
                  <a:pt x="295910" y="227409"/>
                </a:cubicBezTo>
                <a:lnTo>
                  <a:pt x="293767" y="194231"/>
                </a:lnTo>
                <a:cubicBezTo>
                  <a:pt x="293132" y="184229"/>
                  <a:pt x="299641" y="175181"/>
                  <a:pt x="309245" y="172641"/>
                </a:cubicBezTo>
                <a:lnTo>
                  <a:pt x="330041" y="167084"/>
                </a:lnTo>
                <a:close/>
                <a:moveTo>
                  <a:pt x="355918" y="269875"/>
                </a:moveTo>
                <a:cubicBezTo>
                  <a:pt x="336642" y="269897"/>
                  <a:pt x="321010" y="285564"/>
                  <a:pt x="321032" y="304840"/>
                </a:cubicBezTo>
                <a:cubicBezTo>
                  <a:pt x="321054" y="324115"/>
                  <a:pt x="336721" y="339747"/>
                  <a:pt x="355997" y="339725"/>
                </a:cubicBezTo>
                <a:cubicBezTo>
                  <a:pt x="375273" y="339703"/>
                  <a:pt x="390904" y="324036"/>
                  <a:pt x="390882" y="304760"/>
                </a:cubicBezTo>
                <a:cubicBezTo>
                  <a:pt x="390860" y="285485"/>
                  <a:pt x="375193" y="269853"/>
                  <a:pt x="355918" y="269875"/>
                </a:cubicBezTo>
                <a:close/>
                <a:moveTo>
                  <a:pt x="178514" y="-36116"/>
                </a:moveTo>
                <a:lnTo>
                  <a:pt x="199311" y="-30559"/>
                </a:lnTo>
                <a:cubicBezTo>
                  <a:pt x="208915" y="-27940"/>
                  <a:pt x="215424" y="-18891"/>
                  <a:pt x="214789" y="-8969"/>
                </a:cubicBezTo>
                <a:lnTo>
                  <a:pt x="212646" y="24209"/>
                </a:lnTo>
                <a:cubicBezTo>
                  <a:pt x="219234" y="29289"/>
                  <a:pt x="225028" y="35163"/>
                  <a:pt x="230029" y="41672"/>
                </a:cubicBezTo>
                <a:lnTo>
                  <a:pt x="263366" y="39529"/>
                </a:lnTo>
                <a:cubicBezTo>
                  <a:pt x="273288" y="38894"/>
                  <a:pt x="282337" y="45403"/>
                  <a:pt x="284956" y="55007"/>
                </a:cubicBezTo>
                <a:lnTo>
                  <a:pt x="290513" y="75803"/>
                </a:lnTo>
                <a:cubicBezTo>
                  <a:pt x="293053" y="85408"/>
                  <a:pt x="288528" y="95568"/>
                  <a:pt x="279559" y="100013"/>
                </a:cubicBezTo>
                <a:lnTo>
                  <a:pt x="249634" y="114776"/>
                </a:lnTo>
                <a:cubicBezTo>
                  <a:pt x="249079" y="118824"/>
                  <a:pt x="248285" y="122873"/>
                  <a:pt x="247253" y="126841"/>
                </a:cubicBezTo>
                <a:cubicBezTo>
                  <a:pt x="246221" y="130810"/>
                  <a:pt x="244793" y="134779"/>
                  <a:pt x="243284" y="138509"/>
                </a:cubicBezTo>
                <a:lnTo>
                  <a:pt x="261779" y="166291"/>
                </a:lnTo>
                <a:cubicBezTo>
                  <a:pt x="267335" y="174625"/>
                  <a:pt x="266224" y="185658"/>
                  <a:pt x="259159" y="192722"/>
                </a:cubicBezTo>
                <a:lnTo>
                  <a:pt x="243919" y="207963"/>
                </a:lnTo>
                <a:cubicBezTo>
                  <a:pt x="236855" y="215027"/>
                  <a:pt x="225822" y="216138"/>
                  <a:pt x="217488" y="210582"/>
                </a:cubicBezTo>
                <a:lnTo>
                  <a:pt x="189706" y="192088"/>
                </a:lnTo>
                <a:cubicBezTo>
                  <a:pt x="182166" y="195183"/>
                  <a:pt x="174149" y="197406"/>
                  <a:pt x="165973" y="198517"/>
                </a:cubicBezTo>
                <a:lnTo>
                  <a:pt x="151209" y="228362"/>
                </a:lnTo>
                <a:cubicBezTo>
                  <a:pt x="146764" y="237331"/>
                  <a:pt x="136604" y="241856"/>
                  <a:pt x="127000" y="239316"/>
                </a:cubicBezTo>
                <a:lnTo>
                  <a:pt x="106204" y="233759"/>
                </a:lnTo>
                <a:cubicBezTo>
                  <a:pt x="96520" y="231140"/>
                  <a:pt x="90091" y="222091"/>
                  <a:pt x="90726" y="212169"/>
                </a:cubicBezTo>
                <a:lnTo>
                  <a:pt x="92869" y="178911"/>
                </a:lnTo>
                <a:cubicBezTo>
                  <a:pt x="86281" y="173831"/>
                  <a:pt x="80486" y="167958"/>
                  <a:pt x="75486" y="161449"/>
                </a:cubicBezTo>
                <a:lnTo>
                  <a:pt x="42148" y="163592"/>
                </a:lnTo>
                <a:cubicBezTo>
                  <a:pt x="32226" y="164227"/>
                  <a:pt x="23178" y="157718"/>
                  <a:pt x="20558" y="148114"/>
                </a:cubicBezTo>
                <a:lnTo>
                  <a:pt x="15002" y="127318"/>
                </a:lnTo>
                <a:cubicBezTo>
                  <a:pt x="12462" y="117713"/>
                  <a:pt x="16986" y="107553"/>
                  <a:pt x="25956" y="103108"/>
                </a:cubicBezTo>
                <a:lnTo>
                  <a:pt x="55880" y="88344"/>
                </a:lnTo>
                <a:cubicBezTo>
                  <a:pt x="56436" y="84296"/>
                  <a:pt x="57229" y="80328"/>
                  <a:pt x="58261" y="76279"/>
                </a:cubicBezTo>
                <a:cubicBezTo>
                  <a:pt x="59373" y="72231"/>
                  <a:pt x="60643" y="68342"/>
                  <a:pt x="62230" y="64611"/>
                </a:cubicBezTo>
                <a:lnTo>
                  <a:pt x="43736" y="36909"/>
                </a:lnTo>
                <a:cubicBezTo>
                  <a:pt x="38179" y="28575"/>
                  <a:pt x="39291" y="17542"/>
                  <a:pt x="46355" y="10478"/>
                </a:cubicBezTo>
                <a:lnTo>
                  <a:pt x="61595" y="-4762"/>
                </a:lnTo>
                <a:cubicBezTo>
                  <a:pt x="68659" y="-11827"/>
                  <a:pt x="79693" y="-12938"/>
                  <a:pt x="88027" y="-7382"/>
                </a:cubicBezTo>
                <a:lnTo>
                  <a:pt x="115808" y="11113"/>
                </a:lnTo>
                <a:cubicBezTo>
                  <a:pt x="123349" y="8017"/>
                  <a:pt x="131366" y="5794"/>
                  <a:pt x="139541" y="4683"/>
                </a:cubicBezTo>
                <a:lnTo>
                  <a:pt x="154305" y="-25162"/>
                </a:lnTo>
                <a:cubicBezTo>
                  <a:pt x="158750" y="-34131"/>
                  <a:pt x="168831" y="-38656"/>
                  <a:pt x="178514" y="-36116"/>
                </a:cubicBezTo>
                <a:close/>
                <a:moveTo>
                  <a:pt x="152718" y="66675"/>
                </a:moveTo>
                <a:cubicBezTo>
                  <a:pt x="133442" y="66675"/>
                  <a:pt x="117793" y="82324"/>
                  <a:pt x="117793" y="101600"/>
                </a:cubicBezTo>
                <a:cubicBezTo>
                  <a:pt x="117793" y="120876"/>
                  <a:pt x="133442" y="136525"/>
                  <a:pt x="152718" y="136525"/>
                </a:cubicBezTo>
                <a:cubicBezTo>
                  <a:pt x="171993" y="136525"/>
                  <a:pt x="187643" y="120876"/>
                  <a:pt x="187643" y="101600"/>
                </a:cubicBezTo>
                <a:cubicBezTo>
                  <a:pt x="187643" y="82324"/>
                  <a:pt x="171993" y="66675"/>
                  <a:pt x="152718" y="66675"/>
                </a:cubicBezTo>
                <a:close/>
              </a:path>
            </a:pathLst>
          </a:custGeom>
          <a:solidFill>
            <a:srgbClr val="D97706"/>
          </a:solidFill>
          <a:ln/>
        </p:spPr>
      </p:sp>
      <p:sp>
        <p:nvSpPr>
          <p:cNvPr id="14" name="Text 12"/>
          <p:cNvSpPr/>
          <p:nvPr/>
        </p:nvSpPr>
        <p:spPr>
          <a:xfrm>
            <a:off x="1587500" y="4699000"/>
            <a:ext cx="33655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Inference Engine</a:t>
            </a:r>
            <a:endParaRPr lang="en-US" sz="1600" dirty="0"/>
          </a:p>
        </p:txBody>
      </p:sp>
      <p:sp>
        <p:nvSpPr>
          <p:cNvPr id="15" name="Text 13"/>
          <p:cNvSpPr/>
          <p:nvPr/>
        </p:nvSpPr>
        <p:spPr>
          <a:xfrm>
            <a:off x="1016000" y="5207000"/>
            <a:ext cx="3937000" cy="698500"/>
          </a:xfrm>
          <a:prstGeom prst="rect">
            <a:avLst/>
          </a:prstGeom>
          <a:noFill/>
          <a:ln/>
        </p:spPr>
        <p:txBody>
          <a:bodyPr wrap="square" lIns="0" tIns="0" rIns="0" bIns="0" rtlCol="0" anchor="t"/>
          <a:lstStyle/>
          <a:p>
            <a:pPr>
              <a:lnSpc>
                <a:spcPct val="14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Applies logical reasoning to derive conclusions from the knowledge base</a:t>
            </a:r>
            <a:endParaRPr lang="en-US" sz="1600" dirty="0"/>
          </a:p>
        </p:txBody>
      </p:sp>
      <p:sp>
        <p:nvSpPr>
          <p:cNvPr id="16" name="Shape 14"/>
          <p:cNvSpPr/>
          <p:nvPr/>
        </p:nvSpPr>
        <p:spPr>
          <a:xfrm>
            <a:off x="2857500" y="6096000"/>
            <a:ext cx="0" cy="381000"/>
          </a:xfrm>
          <a:prstGeom prst="straightConnector1">
            <a:avLst/>
          </a:prstGeom>
          <a:noFill/>
          <a:ln w="25400">
            <a:solidFill>
              <a:srgbClr val="D97706"/>
            </a:solidFill>
            <a:prstDash val="solid"/>
            <a:headEnd type="none"/>
            <a:tailEnd type="arrow"/>
          </a:ln>
        </p:spPr>
      </p:sp>
      <p:sp>
        <p:nvSpPr>
          <p:cNvPr id="17" name="Shape 15"/>
          <p:cNvSpPr/>
          <p:nvPr/>
        </p:nvSpPr>
        <p:spPr>
          <a:xfrm>
            <a:off x="762000" y="6477000"/>
            <a:ext cx="4445000" cy="1651000"/>
          </a:xfrm>
          <a:prstGeom prst="rect">
            <a:avLst/>
          </a:prstGeom>
          <a:solidFill>
            <a:srgbClr val="0F4C5C"/>
          </a:solidFill>
          <a:ln/>
        </p:spPr>
      </p:sp>
      <p:sp>
        <p:nvSpPr>
          <p:cNvPr id="18" name="Shape 16"/>
          <p:cNvSpPr/>
          <p:nvPr/>
        </p:nvSpPr>
        <p:spPr>
          <a:xfrm>
            <a:off x="1016000" y="6794500"/>
            <a:ext cx="406400" cy="406400"/>
          </a:xfrm>
          <a:custGeom>
            <a:avLst/>
            <a:gdLst/>
            <a:ahLst/>
            <a:cxnLst/>
            <a:rect l="l" t="t" r="r" b="b"/>
            <a:pathLst>
              <a:path w="406400" h="406400">
                <a:moveTo>
                  <a:pt x="50800" y="25400"/>
                </a:moveTo>
                <a:cubicBezTo>
                  <a:pt x="22781" y="25400"/>
                  <a:pt x="0" y="48181"/>
                  <a:pt x="0" y="76200"/>
                </a:cubicBezTo>
                <a:lnTo>
                  <a:pt x="0" y="279400"/>
                </a:lnTo>
                <a:cubicBezTo>
                  <a:pt x="0" y="307419"/>
                  <a:pt x="22781" y="330200"/>
                  <a:pt x="50800" y="330200"/>
                </a:cubicBezTo>
                <a:lnTo>
                  <a:pt x="165100" y="330200"/>
                </a:lnTo>
                <a:lnTo>
                  <a:pt x="152400" y="368300"/>
                </a:lnTo>
                <a:lnTo>
                  <a:pt x="95250" y="368300"/>
                </a:lnTo>
                <a:cubicBezTo>
                  <a:pt x="84693" y="368300"/>
                  <a:pt x="76200" y="376793"/>
                  <a:pt x="76200" y="387350"/>
                </a:cubicBezTo>
                <a:cubicBezTo>
                  <a:pt x="76200" y="397907"/>
                  <a:pt x="84693" y="406400"/>
                  <a:pt x="95250" y="406400"/>
                </a:cubicBezTo>
                <a:lnTo>
                  <a:pt x="311150" y="406400"/>
                </a:lnTo>
                <a:cubicBezTo>
                  <a:pt x="321707" y="406400"/>
                  <a:pt x="330200" y="397907"/>
                  <a:pt x="330200" y="387350"/>
                </a:cubicBezTo>
                <a:cubicBezTo>
                  <a:pt x="330200" y="376793"/>
                  <a:pt x="321707" y="368300"/>
                  <a:pt x="311150" y="368300"/>
                </a:cubicBezTo>
                <a:lnTo>
                  <a:pt x="254000" y="368300"/>
                </a:lnTo>
                <a:lnTo>
                  <a:pt x="241300" y="330200"/>
                </a:lnTo>
                <a:lnTo>
                  <a:pt x="355600" y="330200"/>
                </a:lnTo>
                <a:cubicBezTo>
                  <a:pt x="383619" y="330200"/>
                  <a:pt x="406400" y="307419"/>
                  <a:pt x="406400" y="279400"/>
                </a:cubicBezTo>
                <a:lnTo>
                  <a:pt x="406400" y="76200"/>
                </a:lnTo>
                <a:cubicBezTo>
                  <a:pt x="406400" y="48181"/>
                  <a:pt x="383619" y="25400"/>
                  <a:pt x="355600" y="25400"/>
                </a:cubicBezTo>
                <a:lnTo>
                  <a:pt x="50800" y="25400"/>
                </a:lnTo>
                <a:close/>
                <a:moveTo>
                  <a:pt x="76200" y="76200"/>
                </a:moveTo>
                <a:lnTo>
                  <a:pt x="330200" y="76200"/>
                </a:lnTo>
                <a:cubicBezTo>
                  <a:pt x="344249" y="76200"/>
                  <a:pt x="355600" y="87551"/>
                  <a:pt x="355600" y="101600"/>
                </a:cubicBezTo>
                <a:lnTo>
                  <a:pt x="355600" y="228600"/>
                </a:lnTo>
                <a:cubicBezTo>
                  <a:pt x="355600" y="242649"/>
                  <a:pt x="344249" y="254000"/>
                  <a:pt x="330200" y="254000"/>
                </a:cubicBezTo>
                <a:lnTo>
                  <a:pt x="76200" y="254000"/>
                </a:lnTo>
                <a:cubicBezTo>
                  <a:pt x="62151" y="254000"/>
                  <a:pt x="50800" y="242649"/>
                  <a:pt x="50800" y="228600"/>
                </a:cubicBezTo>
                <a:lnTo>
                  <a:pt x="50800" y="101600"/>
                </a:lnTo>
                <a:cubicBezTo>
                  <a:pt x="50800" y="87551"/>
                  <a:pt x="62151" y="76200"/>
                  <a:pt x="76200" y="76200"/>
                </a:cubicBezTo>
                <a:close/>
              </a:path>
            </a:pathLst>
          </a:custGeom>
          <a:solidFill>
            <a:srgbClr val="D97706"/>
          </a:solidFill>
          <a:ln/>
        </p:spPr>
      </p:sp>
      <p:sp>
        <p:nvSpPr>
          <p:cNvPr id="19" name="Text 17"/>
          <p:cNvSpPr/>
          <p:nvPr/>
        </p:nvSpPr>
        <p:spPr>
          <a:xfrm>
            <a:off x="1587500" y="6731000"/>
            <a:ext cx="3365500" cy="3556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User Interface</a:t>
            </a:r>
            <a:endParaRPr lang="en-US" sz="1600" dirty="0"/>
          </a:p>
        </p:txBody>
      </p:sp>
      <p:sp>
        <p:nvSpPr>
          <p:cNvPr id="20" name="Text 18"/>
          <p:cNvSpPr/>
          <p:nvPr/>
        </p:nvSpPr>
        <p:spPr>
          <a:xfrm>
            <a:off x="1016000" y="7239000"/>
            <a:ext cx="3937000" cy="698500"/>
          </a:xfrm>
          <a:prstGeom prst="rect">
            <a:avLst/>
          </a:prstGeom>
          <a:noFill/>
          <a:ln/>
        </p:spPr>
        <p:txBody>
          <a:bodyPr wrap="square" lIns="0" tIns="0" rIns="0" bIns="0" rtlCol="0" anchor="t"/>
          <a:lstStyle/>
          <a:p>
            <a:pPr>
              <a:lnSpc>
                <a:spcPct val="14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Interacts with users to gather facts and present solutions</a:t>
            </a:r>
            <a:endParaRPr lang="en-US" sz="1600" dirty="0"/>
          </a:p>
        </p:txBody>
      </p:sp>
      <p:sp>
        <p:nvSpPr>
          <p:cNvPr id="21" name="Text 19"/>
          <p:cNvSpPr/>
          <p:nvPr/>
        </p:nvSpPr>
        <p:spPr>
          <a:xfrm>
            <a:off x="6096000" y="1905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APPLICATIONS</a:t>
            </a:r>
            <a:endParaRPr lang="en-US" sz="1400" dirty="0"/>
          </a:p>
        </p:txBody>
      </p:sp>
      <p:sp>
        <p:nvSpPr>
          <p:cNvPr id="22" name="Shape 20"/>
          <p:cNvSpPr/>
          <p:nvPr/>
        </p:nvSpPr>
        <p:spPr>
          <a:xfrm>
            <a:off x="6096000" y="2413000"/>
            <a:ext cx="4699000" cy="1397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3" name="Shape 21"/>
          <p:cNvSpPr/>
          <p:nvPr/>
        </p:nvSpPr>
        <p:spPr>
          <a:xfrm>
            <a:off x="6327775" y="2794000"/>
            <a:ext cx="400050" cy="355600"/>
          </a:xfrm>
          <a:custGeom>
            <a:avLst/>
            <a:gdLst/>
            <a:ahLst/>
            <a:cxnLst/>
            <a:rect l="l" t="t" r="r" b="b"/>
            <a:pathLst>
              <a:path w="400050" h="355600">
                <a:moveTo>
                  <a:pt x="22225" y="33337"/>
                </a:moveTo>
                <a:cubicBezTo>
                  <a:pt x="22225" y="14932"/>
                  <a:pt x="37157" y="0"/>
                  <a:pt x="55563" y="0"/>
                </a:cubicBezTo>
                <a:lnTo>
                  <a:pt x="88900" y="0"/>
                </a:lnTo>
                <a:cubicBezTo>
                  <a:pt x="101193" y="0"/>
                  <a:pt x="111125" y="9932"/>
                  <a:pt x="111125" y="22225"/>
                </a:cubicBezTo>
                <a:cubicBezTo>
                  <a:pt x="111125" y="34518"/>
                  <a:pt x="101193" y="44450"/>
                  <a:pt x="88900" y="44450"/>
                </a:cubicBezTo>
                <a:lnTo>
                  <a:pt x="66675" y="44450"/>
                </a:lnTo>
                <a:lnTo>
                  <a:pt x="66675" y="133350"/>
                </a:lnTo>
                <a:cubicBezTo>
                  <a:pt x="66675" y="170160"/>
                  <a:pt x="96540" y="200025"/>
                  <a:pt x="133350" y="200025"/>
                </a:cubicBezTo>
                <a:cubicBezTo>
                  <a:pt x="170160" y="200025"/>
                  <a:pt x="200025" y="170160"/>
                  <a:pt x="200025" y="133350"/>
                </a:cubicBezTo>
                <a:lnTo>
                  <a:pt x="200025" y="44450"/>
                </a:lnTo>
                <a:lnTo>
                  <a:pt x="177800" y="44450"/>
                </a:lnTo>
                <a:cubicBezTo>
                  <a:pt x="165507" y="44450"/>
                  <a:pt x="155575" y="34518"/>
                  <a:pt x="155575" y="22225"/>
                </a:cubicBezTo>
                <a:cubicBezTo>
                  <a:pt x="155575" y="9932"/>
                  <a:pt x="165507" y="0"/>
                  <a:pt x="177800" y="0"/>
                </a:cubicBezTo>
                <a:lnTo>
                  <a:pt x="211138" y="0"/>
                </a:lnTo>
                <a:cubicBezTo>
                  <a:pt x="229543" y="0"/>
                  <a:pt x="244475" y="14932"/>
                  <a:pt x="244475" y="33337"/>
                </a:cubicBezTo>
                <a:lnTo>
                  <a:pt x="244475" y="133350"/>
                </a:lnTo>
                <a:cubicBezTo>
                  <a:pt x="244475" y="187107"/>
                  <a:pt x="206276" y="231973"/>
                  <a:pt x="155575" y="242253"/>
                </a:cubicBezTo>
                <a:lnTo>
                  <a:pt x="155575" y="255587"/>
                </a:lnTo>
                <a:cubicBezTo>
                  <a:pt x="155575" y="298579"/>
                  <a:pt x="190371" y="333375"/>
                  <a:pt x="233363" y="333375"/>
                </a:cubicBezTo>
                <a:cubicBezTo>
                  <a:pt x="276354" y="333375"/>
                  <a:pt x="311150" y="298579"/>
                  <a:pt x="311150" y="255587"/>
                </a:cubicBezTo>
                <a:lnTo>
                  <a:pt x="311150" y="196205"/>
                </a:lnTo>
                <a:cubicBezTo>
                  <a:pt x="285244" y="187037"/>
                  <a:pt x="266700" y="162381"/>
                  <a:pt x="266700" y="133350"/>
                </a:cubicBezTo>
                <a:cubicBezTo>
                  <a:pt x="266700" y="96540"/>
                  <a:pt x="296565" y="66675"/>
                  <a:pt x="333375" y="66675"/>
                </a:cubicBezTo>
                <a:cubicBezTo>
                  <a:pt x="370185" y="66675"/>
                  <a:pt x="400050" y="96540"/>
                  <a:pt x="400050" y="133350"/>
                </a:cubicBezTo>
                <a:cubicBezTo>
                  <a:pt x="400050" y="162381"/>
                  <a:pt x="381506" y="187107"/>
                  <a:pt x="355600" y="196205"/>
                </a:cubicBezTo>
                <a:lnTo>
                  <a:pt x="355600" y="255587"/>
                </a:lnTo>
                <a:cubicBezTo>
                  <a:pt x="355600" y="323096"/>
                  <a:pt x="300871" y="377825"/>
                  <a:pt x="233363" y="377825"/>
                </a:cubicBezTo>
                <a:cubicBezTo>
                  <a:pt x="165854" y="377825"/>
                  <a:pt x="111125" y="323096"/>
                  <a:pt x="111125" y="255587"/>
                </a:cubicBezTo>
                <a:lnTo>
                  <a:pt x="111125" y="242253"/>
                </a:lnTo>
                <a:cubicBezTo>
                  <a:pt x="60424" y="231973"/>
                  <a:pt x="22225" y="187107"/>
                  <a:pt x="22225" y="133350"/>
                </a:cubicBezTo>
                <a:lnTo>
                  <a:pt x="22225" y="33337"/>
                </a:lnTo>
                <a:close/>
                <a:moveTo>
                  <a:pt x="333375" y="155575"/>
                </a:moveTo>
                <a:cubicBezTo>
                  <a:pt x="345641" y="155575"/>
                  <a:pt x="355600" y="145616"/>
                  <a:pt x="355600" y="133350"/>
                </a:cubicBezTo>
                <a:cubicBezTo>
                  <a:pt x="355600" y="121084"/>
                  <a:pt x="345641" y="111125"/>
                  <a:pt x="333375" y="111125"/>
                </a:cubicBezTo>
                <a:cubicBezTo>
                  <a:pt x="321109" y="111125"/>
                  <a:pt x="311150" y="121084"/>
                  <a:pt x="311150" y="133350"/>
                </a:cubicBezTo>
                <a:cubicBezTo>
                  <a:pt x="311150" y="145616"/>
                  <a:pt x="321109" y="155575"/>
                  <a:pt x="333375" y="155575"/>
                </a:cubicBezTo>
                <a:close/>
              </a:path>
            </a:pathLst>
          </a:custGeom>
          <a:solidFill>
            <a:srgbClr val="0F4C5C"/>
          </a:solidFill>
          <a:ln/>
        </p:spPr>
      </p:sp>
      <p:sp>
        <p:nvSpPr>
          <p:cNvPr id="24" name="Text 22"/>
          <p:cNvSpPr/>
          <p:nvPr/>
        </p:nvSpPr>
        <p:spPr>
          <a:xfrm>
            <a:off x="6858000" y="2603500"/>
            <a:ext cx="3683000" cy="1016000"/>
          </a:xfrm>
          <a:prstGeom prst="rect">
            <a:avLst/>
          </a:prstGeom>
          <a:noFill/>
          <a:ln/>
        </p:spPr>
        <p:txBody>
          <a:bodyPr wrap="square" lIns="0" tIns="0" rIns="0" bIns="0" rtlCol="0" anchor="ctr"/>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Medical Diagnosis</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MYCIN, DENDRAL for disease identification</a:t>
            </a:r>
            <a:endParaRPr lang="en-US" sz="1600" dirty="0"/>
          </a:p>
        </p:txBody>
      </p:sp>
      <p:sp>
        <p:nvSpPr>
          <p:cNvPr id="25" name="Shape 23"/>
          <p:cNvSpPr/>
          <p:nvPr/>
        </p:nvSpPr>
        <p:spPr>
          <a:xfrm>
            <a:off x="11049000" y="2413000"/>
            <a:ext cx="4445000" cy="1397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6" name="Shape 24"/>
          <p:cNvSpPr/>
          <p:nvPr/>
        </p:nvSpPr>
        <p:spPr>
          <a:xfrm>
            <a:off x="11303000" y="279400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0F4C5C"/>
          </a:solidFill>
          <a:ln/>
        </p:spPr>
      </p:sp>
      <p:sp>
        <p:nvSpPr>
          <p:cNvPr id="27" name="Text 25"/>
          <p:cNvSpPr/>
          <p:nvPr/>
        </p:nvSpPr>
        <p:spPr>
          <a:xfrm>
            <a:off x="11811000" y="2603500"/>
            <a:ext cx="3429000" cy="1016000"/>
          </a:xfrm>
          <a:prstGeom prst="rect">
            <a:avLst/>
          </a:prstGeom>
          <a:noFill/>
          <a:ln/>
        </p:spPr>
        <p:txBody>
          <a:bodyPr wrap="square" lIns="0" tIns="0" rIns="0" bIns="0" rtlCol="0" anchor="ctr"/>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Financial Planning</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Investment advice and tax preparation</a:t>
            </a:r>
            <a:endParaRPr lang="en-US" sz="1600" dirty="0"/>
          </a:p>
        </p:txBody>
      </p:sp>
      <p:sp>
        <p:nvSpPr>
          <p:cNvPr id="28" name="Shape 26"/>
          <p:cNvSpPr/>
          <p:nvPr/>
        </p:nvSpPr>
        <p:spPr>
          <a:xfrm>
            <a:off x="6096000" y="4064000"/>
            <a:ext cx="4699000" cy="1397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9" name="Shape 27"/>
          <p:cNvSpPr/>
          <p:nvPr/>
        </p:nvSpPr>
        <p:spPr>
          <a:xfrm>
            <a:off x="6327775" y="4445000"/>
            <a:ext cx="400050" cy="355600"/>
          </a:xfrm>
          <a:custGeom>
            <a:avLst/>
            <a:gdLst/>
            <a:ahLst/>
            <a:cxnLst/>
            <a:rect l="l" t="t" r="r" b="b"/>
            <a:pathLst>
              <a:path w="400050" h="355600">
                <a:moveTo>
                  <a:pt x="353794" y="68481"/>
                </a:moveTo>
                <a:cubicBezTo>
                  <a:pt x="359073" y="63202"/>
                  <a:pt x="367893" y="64522"/>
                  <a:pt x="370532" y="71467"/>
                </a:cubicBezTo>
                <a:cubicBezTo>
                  <a:pt x="375255" y="83760"/>
                  <a:pt x="377825" y="97165"/>
                  <a:pt x="377825" y="111125"/>
                </a:cubicBezTo>
                <a:cubicBezTo>
                  <a:pt x="377825" y="172522"/>
                  <a:pt x="328097" y="222250"/>
                  <a:pt x="266700" y="222250"/>
                </a:cubicBezTo>
                <a:cubicBezTo>
                  <a:pt x="254546" y="222250"/>
                  <a:pt x="242808" y="220305"/>
                  <a:pt x="231835" y="216694"/>
                </a:cubicBezTo>
                <a:lnTo>
                  <a:pt x="102027" y="346502"/>
                </a:lnTo>
                <a:cubicBezTo>
                  <a:pt x="82510" y="366018"/>
                  <a:pt x="50840" y="366018"/>
                  <a:pt x="31323" y="346502"/>
                </a:cubicBezTo>
                <a:cubicBezTo>
                  <a:pt x="11807" y="326985"/>
                  <a:pt x="11807" y="295315"/>
                  <a:pt x="31323" y="275798"/>
                </a:cubicBezTo>
                <a:lnTo>
                  <a:pt x="161131" y="145990"/>
                </a:lnTo>
                <a:cubicBezTo>
                  <a:pt x="157520" y="135017"/>
                  <a:pt x="155575" y="123349"/>
                  <a:pt x="155575" y="111125"/>
                </a:cubicBezTo>
                <a:cubicBezTo>
                  <a:pt x="155575" y="49728"/>
                  <a:pt x="205303" y="0"/>
                  <a:pt x="266700" y="0"/>
                </a:cubicBezTo>
                <a:cubicBezTo>
                  <a:pt x="280660" y="0"/>
                  <a:pt x="294065" y="2570"/>
                  <a:pt x="306358" y="7293"/>
                </a:cubicBezTo>
                <a:cubicBezTo>
                  <a:pt x="313303" y="9932"/>
                  <a:pt x="314553" y="18752"/>
                  <a:pt x="309344" y="24031"/>
                </a:cubicBezTo>
                <a:lnTo>
                  <a:pt x="247739" y="85636"/>
                </a:lnTo>
                <a:cubicBezTo>
                  <a:pt x="245656" y="87719"/>
                  <a:pt x="244475" y="90567"/>
                  <a:pt x="244475" y="93484"/>
                </a:cubicBezTo>
                <a:lnTo>
                  <a:pt x="244475" y="122238"/>
                </a:lnTo>
                <a:cubicBezTo>
                  <a:pt x="244475" y="128349"/>
                  <a:pt x="249476" y="133350"/>
                  <a:pt x="255588" y="133350"/>
                </a:cubicBezTo>
                <a:lnTo>
                  <a:pt x="284341" y="133350"/>
                </a:lnTo>
                <a:cubicBezTo>
                  <a:pt x="287258" y="133350"/>
                  <a:pt x="290106" y="132169"/>
                  <a:pt x="292189" y="130086"/>
                </a:cubicBezTo>
                <a:lnTo>
                  <a:pt x="353794" y="68481"/>
                </a:lnTo>
                <a:close/>
              </a:path>
            </a:pathLst>
          </a:custGeom>
          <a:solidFill>
            <a:srgbClr val="0F4C5C"/>
          </a:solidFill>
          <a:ln/>
        </p:spPr>
      </p:sp>
      <p:sp>
        <p:nvSpPr>
          <p:cNvPr id="30" name="Text 28"/>
          <p:cNvSpPr/>
          <p:nvPr/>
        </p:nvSpPr>
        <p:spPr>
          <a:xfrm>
            <a:off x="6858000" y="4254500"/>
            <a:ext cx="3683000" cy="1016000"/>
          </a:xfrm>
          <a:prstGeom prst="rect">
            <a:avLst/>
          </a:prstGeom>
          <a:noFill/>
          <a:ln/>
        </p:spPr>
        <p:txBody>
          <a:bodyPr wrap="square" lIns="0" tIns="0" rIns="0" bIns="0" rtlCol="0" anchor="ctr"/>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Engineering</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Troubleshooting and system diagnostics</a:t>
            </a:r>
            <a:endParaRPr lang="en-US" sz="1600" dirty="0"/>
          </a:p>
        </p:txBody>
      </p:sp>
      <p:sp>
        <p:nvSpPr>
          <p:cNvPr id="31" name="Shape 29"/>
          <p:cNvSpPr/>
          <p:nvPr/>
        </p:nvSpPr>
        <p:spPr>
          <a:xfrm>
            <a:off x="11049000" y="4064000"/>
            <a:ext cx="4445000" cy="1397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32" name="Shape 30"/>
          <p:cNvSpPr/>
          <p:nvPr/>
        </p:nvSpPr>
        <p:spPr>
          <a:xfrm>
            <a:off x="11258550" y="4445000"/>
            <a:ext cx="444500" cy="355600"/>
          </a:xfrm>
          <a:custGeom>
            <a:avLst/>
            <a:gdLst/>
            <a:ahLst/>
            <a:cxnLst/>
            <a:rect l="l" t="t" r="r" b="b"/>
            <a:pathLst>
              <a:path w="444500" h="355600">
                <a:moveTo>
                  <a:pt x="266700" y="22225"/>
                </a:moveTo>
                <a:lnTo>
                  <a:pt x="355600" y="22225"/>
                </a:lnTo>
                <a:cubicBezTo>
                  <a:pt x="367893" y="22225"/>
                  <a:pt x="377825" y="32157"/>
                  <a:pt x="377825" y="44450"/>
                </a:cubicBezTo>
                <a:cubicBezTo>
                  <a:pt x="377825" y="56743"/>
                  <a:pt x="367893" y="66675"/>
                  <a:pt x="355600" y="66675"/>
                </a:cubicBezTo>
                <a:lnTo>
                  <a:pt x="276701" y="66675"/>
                </a:lnTo>
                <a:cubicBezTo>
                  <a:pt x="273090" y="84594"/>
                  <a:pt x="260796" y="99387"/>
                  <a:pt x="244475" y="106472"/>
                </a:cubicBezTo>
                <a:lnTo>
                  <a:pt x="244475" y="311150"/>
                </a:lnTo>
                <a:lnTo>
                  <a:pt x="355600" y="311150"/>
                </a:lnTo>
                <a:cubicBezTo>
                  <a:pt x="367893" y="311150"/>
                  <a:pt x="377825" y="321082"/>
                  <a:pt x="377825" y="333375"/>
                </a:cubicBezTo>
                <a:cubicBezTo>
                  <a:pt x="377825" y="345668"/>
                  <a:pt x="367893" y="355600"/>
                  <a:pt x="355600" y="355600"/>
                </a:cubicBezTo>
                <a:lnTo>
                  <a:pt x="88900" y="355600"/>
                </a:lnTo>
                <a:cubicBezTo>
                  <a:pt x="76607" y="355600"/>
                  <a:pt x="66675" y="345668"/>
                  <a:pt x="66675" y="333375"/>
                </a:cubicBezTo>
                <a:cubicBezTo>
                  <a:pt x="66675" y="321082"/>
                  <a:pt x="76607" y="311150"/>
                  <a:pt x="88900" y="311150"/>
                </a:cubicBezTo>
                <a:lnTo>
                  <a:pt x="200025" y="311150"/>
                </a:lnTo>
                <a:lnTo>
                  <a:pt x="200025" y="106472"/>
                </a:lnTo>
                <a:cubicBezTo>
                  <a:pt x="183704" y="99318"/>
                  <a:pt x="171410" y="84524"/>
                  <a:pt x="167799" y="66675"/>
                </a:cubicBezTo>
                <a:lnTo>
                  <a:pt x="88900" y="66675"/>
                </a:lnTo>
                <a:cubicBezTo>
                  <a:pt x="76607" y="66675"/>
                  <a:pt x="66675" y="56743"/>
                  <a:pt x="66675" y="44450"/>
                </a:cubicBezTo>
                <a:cubicBezTo>
                  <a:pt x="66675" y="32157"/>
                  <a:pt x="76607" y="22225"/>
                  <a:pt x="88900" y="22225"/>
                </a:cubicBezTo>
                <a:lnTo>
                  <a:pt x="177800" y="22225"/>
                </a:lnTo>
                <a:cubicBezTo>
                  <a:pt x="187940" y="8751"/>
                  <a:pt x="204053" y="0"/>
                  <a:pt x="222250" y="0"/>
                </a:cubicBezTo>
                <a:cubicBezTo>
                  <a:pt x="240447" y="0"/>
                  <a:pt x="256560" y="8751"/>
                  <a:pt x="266700" y="22225"/>
                </a:cubicBezTo>
                <a:close/>
                <a:moveTo>
                  <a:pt x="305316" y="222250"/>
                </a:moveTo>
                <a:lnTo>
                  <a:pt x="405884" y="222250"/>
                </a:lnTo>
                <a:lnTo>
                  <a:pt x="355600" y="135989"/>
                </a:lnTo>
                <a:lnTo>
                  <a:pt x="305316" y="222250"/>
                </a:lnTo>
                <a:close/>
                <a:moveTo>
                  <a:pt x="355600" y="288925"/>
                </a:moveTo>
                <a:cubicBezTo>
                  <a:pt x="311914" y="288925"/>
                  <a:pt x="275590" y="265311"/>
                  <a:pt x="268089" y="234126"/>
                </a:cubicBezTo>
                <a:cubicBezTo>
                  <a:pt x="266283" y="226487"/>
                  <a:pt x="268784" y="218638"/>
                  <a:pt x="272742" y="211832"/>
                </a:cubicBezTo>
                <a:lnTo>
                  <a:pt x="338862" y="98485"/>
                </a:lnTo>
                <a:cubicBezTo>
                  <a:pt x="342334" y="92512"/>
                  <a:pt x="348724" y="88900"/>
                  <a:pt x="355600" y="88900"/>
                </a:cubicBezTo>
                <a:cubicBezTo>
                  <a:pt x="362476" y="88900"/>
                  <a:pt x="368866" y="92581"/>
                  <a:pt x="372338" y="98485"/>
                </a:cubicBezTo>
                <a:lnTo>
                  <a:pt x="438458" y="211832"/>
                </a:lnTo>
                <a:cubicBezTo>
                  <a:pt x="442416" y="218638"/>
                  <a:pt x="444917" y="226487"/>
                  <a:pt x="443111" y="234126"/>
                </a:cubicBezTo>
                <a:cubicBezTo>
                  <a:pt x="435610" y="265241"/>
                  <a:pt x="399286" y="288925"/>
                  <a:pt x="355600" y="288925"/>
                </a:cubicBezTo>
                <a:close/>
                <a:moveTo>
                  <a:pt x="88067" y="135989"/>
                </a:moveTo>
                <a:lnTo>
                  <a:pt x="37783" y="222250"/>
                </a:lnTo>
                <a:lnTo>
                  <a:pt x="138420" y="222250"/>
                </a:lnTo>
                <a:lnTo>
                  <a:pt x="88067" y="135989"/>
                </a:lnTo>
                <a:close/>
                <a:moveTo>
                  <a:pt x="625" y="234126"/>
                </a:moveTo>
                <a:cubicBezTo>
                  <a:pt x="-1181" y="226487"/>
                  <a:pt x="1320" y="218638"/>
                  <a:pt x="5278" y="211832"/>
                </a:cubicBezTo>
                <a:lnTo>
                  <a:pt x="71398" y="98485"/>
                </a:lnTo>
                <a:cubicBezTo>
                  <a:pt x="74870" y="92512"/>
                  <a:pt x="81260" y="88900"/>
                  <a:pt x="88136" y="88900"/>
                </a:cubicBezTo>
                <a:cubicBezTo>
                  <a:pt x="95012" y="88900"/>
                  <a:pt x="101402" y="92581"/>
                  <a:pt x="104874" y="98485"/>
                </a:cubicBezTo>
                <a:lnTo>
                  <a:pt x="170994" y="211832"/>
                </a:lnTo>
                <a:cubicBezTo>
                  <a:pt x="174952" y="218638"/>
                  <a:pt x="177453" y="226487"/>
                  <a:pt x="175647" y="234126"/>
                </a:cubicBezTo>
                <a:cubicBezTo>
                  <a:pt x="168146" y="265241"/>
                  <a:pt x="131822" y="288925"/>
                  <a:pt x="88136" y="288925"/>
                </a:cubicBezTo>
                <a:cubicBezTo>
                  <a:pt x="44450" y="288925"/>
                  <a:pt x="8126" y="265311"/>
                  <a:pt x="625" y="234126"/>
                </a:cubicBezTo>
                <a:close/>
              </a:path>
            </a:pathLst>
          </a:custGeom>
          <a:solidFill>
            <a:srgbClr val="0F4C5C"/>
          </a:solidFill>
          <a:ln/>
        </p:spPr>
      </p:sp>
      <p:sp>
        <p:nvSpPr>
          <p:cNvPr id="33" name="Text 31"/>
          <p:cNvSpPr/>
          <p:nvPr/>
        </p:nvSpPr>
        <p:spPr>
          <a:xfrm>
            <a:off x="11811000" y="4254500"/>
            <a:ext cx="3429000" cy="1016000"/>
          </a:xfrm>
          <a:prstGeom prst="rect">
            <a:avLst/>
          </a:prstGeom>
          <a:noFill/>
          <a:ln/>
        </p:spPr>
        <p:txBody>
          <a:bodyPr wrap="square" lIns="0" tIns="0" rIns="0" bIns="0" rtlCol="0" anchor="ctr"/>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Legal Analysis</a:t>
            </a:r>
            <a:endParaRPr lang="en-US" sz="1600" dirty="0"/>
          </a:p>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Case analysis and compliance monitoring</a:t>
            </a:r>
            <a:endParaRPr lang="en-US" sz="1600" dirty="0"/>
          </a:p>
        </p:txBody>
      </p:sp>
      <p:sp>
        <p:nvSpPr>
          <p:cNvPr id="34" name="Shape 32"/>
          <p:cNvSpPr/>
          <p:nvPr/>
        </p:nvSpPr>
        <p:spPr>
          <a:xfrm>
            <a:off x="6096000" y="5842000"/>
            <a:ext cx="9398000" cy="2286000"/>
          </a:xfrm>
          <a:prstGeom prst="rect">
            <a:avLst/>
          </a:prstGeom>
          <a:solidFill>
            <a:srgbClr val="E0F2F1"/>
          </a:solidFill>
          <a:ln/>
        </p:spPr>
      </p:sp>
      <p:sp>
        <p:nvSpPr>
          <p:cNvPr id="35" name="Text 33"/>
          <p:cNvSpPr/>
          <p:nvPr/>
        </p:nvSpPr>
        <p:spPr>
          <a:xfrm>
            <a:off x="6350000" y="6032500"/>
            <a:ext cx="8890000" cy="1905000"/>
          </a:xfrm>
          <a:prstGeom prst="rect">
            <a:avLst/>
          </a:prstGeom>
          <a:noFill/>
          <a:ln/>
        </p:spPr>
        <p:txBody>
          <a:bodyPr wrap="square" lIns="0" tIns="0" rIns="0" bIns="0" rtlCol="0" anchor="t"/>
          <a:lstStyle/>
          <a:p>
            <a:pPr>
              <a:lnSpc>
                <a:spcPct val="160000"/>
              </a:lnSpc>
            </a:pPr>
            <a:r>
              <a:rPr lang="en-US" sz="1600" b="1" dirty="0">
                <a:solidFill>
                  <a:srgbClr val="0F4C5C"/>
                </a:solidFill>
                <a:latin typeface="Quattrocento Sans" pitchFamily="34" charset="0"/>
                <a:ea typeface="Quattrocento Sans" pitchFamily="34" charset="-122"/>
                <a:cs typeface="Quattrocento Sans" pitchFamily="34" charset="-120"/>
              </a:rPr>
              <a:t>Historical Significance:</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Expert systems were among the first successful commercial AI applications, demonstrating that machines could perform specialized reasoning tasks previously requiring human expertise.</a:t>
            </a:r>
            <a:endParaRPr lang="en-US" sz="1600" dirty="0"/>
          </a:p>
          <a:p>
            <a:pPr>
              <a:lnSpc>
                <a:spcPct val="160000"/>
              </a:lnSpc>
              <a:spcBef>
                <a:spcPts val="1000"/>
              </a:spcBef>
            </a:pPr>
            <a:r>
              <a:rPr lang="en-US" sz="1600" dirty="0">
                <a:solidFill>
                  <a:srgbClr val="1C1917"/>
                </a:solidFill>
                <a:latin typeface="Quattrocento Sans" pitchFamily="34" charset="0"/>
                <a:ea typeface="Quattrocento Sans" pitchFamily="34" charset="-122"/>
                <a:cs typeface="Quattrocento Sans" pitchFamily="34" charset="-120"/>
              </a:rPr>
              <a:t>They proved AI's practical value and paved the way for modern AI systems.</a:t>
            </a:r>
            <a:endParaRPr lang="en-US" sz="1600" dirty="0"/>
          </a:p>
        </p:txBody>
      </p:sp>
      <p:sp>
        <p:nvSpPr>
          <p:cNvPr id="36" name="Text 34"/>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37" name="Text 35"/>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14</a:t>
            </a:r>
            <a:endParaRPr lang="en-US" sz="1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AI in Computer Vision &amp; Robotics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3335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COMPUTER VISION</a:t>
            </a:r>
            <a:endParaRPr lang="en-US" sz="1400" dirty="0"/>
          </a:p>
        </p:txBody>
      </p:sp>
      <p:sp>
        <p:nvSpPr>
          <p:cNvPr id="6" name="Text 4"/>
          <p:cNvSpPr/>
          <p:nvPr/>
        </p:nvSpPr>
        <p:spPr>
          <a:xfrm>
            <a:off x="762000" y="1714500"/>
            <a:ext cx="6858000" cy="3556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Enabling machines to interpret and understand visual information.</a:t>
            </a:r>
            <a:endParaRPr lang="en-US" sz="1800" dirty="0"/>
          </a:p>
        </p:txBody>
      </p:sp>
      <p:sp>
        <p:nvSpPr>
          <p:cNvPr id="7" name="Shape 5"/>
          <p:cNvSpPr/>
          <p:nvPr/>
        </p:nvSpPr>
        <p:spPr>
          <a:xfrm>
            <a:off x="762000" y="2286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8" name="Shape 6"/>
          <p:cNvSpPr/>
          <p:nvPr/>
        </p:nvSpPr>
        <p:spPr>
          <a:xfrm>
            <a:off x="993775" y="2540000"/>
            <a:ext cx="400050" cy="355600"/>
          </a:xfrm>
          <a:custGeom>
            <a:avLst/>
            <a:gdLst/>
            <a:ahLst/>
            <a:cxnLst/>
            <a:rect l="l" t="t" r="r" b="b"/>
            <a:pathLst>
              <a:path w="400050" h="355600">
                <a:moveTo>
                  <a:pt x="200025" y="22225"/>
                </a:moveTo>
                <a:cubicBezTo>
                  <a:pt x="143907" y="22225"/>
                  <a:pt x="98971" y="47784"/>
                  <a:pt x="66258" y="78204"/>
                </a:cubicBezTo>
                <a:cubicBezTo>
                  <a:pt x="33754" y="108416"/>
                  <a:pt x="12015" y="144463"/>
                  <a:pt x="1667" y="169257"/>
                </a:cubicBezTo>
                <a:cubicBezTo>
                  <a:pt x="-625" y="174744"/>
                  <a:pt x="-625" y="180856"/>
                  <a:pt x="1667" y="186343"/>
                </a:cubicBezTo>
                <a:cubicBezTo>
                  <a:pt x="12015" y="211138"/>
                  <a:pt x="33754" y="247253"/>
                  <a:pt x="66258" y="277396"/>
                </a:cubicBezTo>
                <a:cubicBezTo>
                  <a:pt x="98971" y="307747"/>
                  <a:pt x="143907" y="333375"/>
                  <a:pt x="200025" y="333375"/>
                </a:cubicBezTo>
                <a:cubicBezTo>
                  <a:pt x="256143" y="333375"/>
                  <a:pt x="301079" y="307816"/>
                  <a:pt x="333792" y="277396"/>
                </a:cubicBezTo>
                <a:cubicBezTo>
                  <a:pt x="366296" y="247184"/>
                  <a:pt x="388035" y="211138"/>
                  <a:pt x="398383" y="186343"/>
                </a:cubicBezTo>
                <a:cubicBezTo>
                  <a:pt x="400675" y="180856"/>
                  <a:pt x="400675" y="174744"/>
                  <a:pt x="398383" y="169257"/>
                </a:cubicBezTo>
                <a:cubicBezTo>
                  <a:pt x="388035" y="144462"/>
                  <a:pt x="366296" y="108347"/>
                  <a:pt x="333792" y="78204"/>
                </a:cubicBezTo>
                <a:cubicBezTo>
                  <a:pt x="301079" y="47853"/>
                  <a:pt x="256143" y="22225"/>
                  <a:pt x="200025" y="22225"/>
                </a:cubicBezTo>
                <a:close/>
                <a:moveTo>
                  <a:pt x="100013" y="177800"/>
                </a:moveTo>
                <a:cubicBezTo>
                  <a:pt x="100013" y="122602"/>
                  <a:pt x="144827" y="77788"/>
                  <a:pt x="200025" y="77788"/>
                </a:cubicBezTo>
                <a:cubicBezTo>
                  <a:pt x="255223" y="77788"/>
                  <a:pt x="300038" y="122602"/>
                  <a:pt x="300038" y="177800"/>
                </a:cubicBezTo>
                <a:cubicBezTo>
                  <a:pt x="300038" y="232998"/>
                  <a:pt x="255223" y="277813"/>
                  <a:pt x="200025" y="277813"/>
                </a:cubicBezTo>
                <a:cubicBezTo>
                  <a:pt x="144827" y="277813"/>
                  <a:pt x="100013" y="232998"/>
                  <a:pt x="100013" y="177800"/>
                </a:cubicBezTo>
                <a:close/>
                <a:moveTo>
                  <a:pt x="200025" y="133350"/>
                </a:moveTo>
                <a:cubicBezTo>
                  <a:pt x="200025" y="157867"/>
                  <a:pt x="180092" y="177800"/>
                  <a:pt x="155575" y="177800"/>
                </a:cubicBezTo>
                <a:cubicBezTo>
                  <a:pt x="147588" y="177800"/>
                  <a:pt x="140087" y="175716"/>
                  <a:pt x="133558" y="171966"/>
                </a:cubicBezTo>
                <a:cubicBezTo>
                  <a:pt x="132864" y="179536"/>
                  <a:pt x="133489" y="187315"/>
                  <a:pt x="135573" y="195024"/>
                </a:cubicBezTo>
                <a:cubicBezTo>
                  <a:pt x="145088" y="230584"/>
                  <a:pt x="181689" y="251698"/>
                  <a:pt x="217249" y="242183"/>
                </a:cubicBezTo>
                <a:cubicBezTo>
                  <a:pt x="252809" y="232668"/>
                  <a:pt x="273923" y="196066"/>
                  <a:pt x="264408" y="160506"/>
                </a:cubicBezTo>
                <a:cubicBezTo>
                  <a:pt x="255935" y="128766"/>
                  <a:pt x="225862" y="108555"/>
                  <a:pt x="194191" y="111333"/>
                </a:cubicBezTo>
                <a:cubicBezTo>
                  <a:pt x="197872" y="117793"/>
                  <a:pt x="200025" y="125293"/>
                  <a:pt x="200025" y="133350"/>
                </a:cubicBezTo>
                <a:close/>
              </a:path>
            </a:pathLst>
          </a:custGeom>
          <a:solidFill>
            <a:srgbClr val="0F4C5C"/>
          </a:solidFill>
          <a:ln/>
        </p:spPr>
      </p:sp>
      <p:sp>
        <p:nvSpPr>
          <p:cNvPr id="9" name="Text 7"/>
          <p:cNvSpPr/>
          <p:nvPr/>
        </p:nvSpPr>
        <p:spPr>
          <a:xfrm>
            <a:off x="1016000" y="2984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Object Detection</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YOLO, R-CNN</a:t>
            </a:r>
            <a:endParaRPr lang="en-US" sz="1600" dirty="0"/>
          </a:p>
        </p:txBody>
      </p:sp>
      <p:sp>
        <p:nvSpPr>
          <p:cNvPr id="10" name="Shape 8"/>
          <p:cNvSpPr/>
          <p:nvPr/>
        </p:nvSpPr>
        <p:spPr>
          <a:xfrm>
            <a:off x="4318000" y="2286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1" name="Shape 9"/>
          <p:cNvSpPr/>
          <p:nvPr/>
        </p:nvSpPr>
        <p:spPr>
          <a:xfrm>
            <a:off x="4594225" y="2540000"/>
            <a:ext cx="311150" cy="355600"/>
          </a:xfrm>
          <a:custGeom>
            <a:avLst/>
            <a:gdLst/>
            <a:ahLst/>
            <a:cxnLst/>
            <a:rect l="l" t="t" r="r" b="b"/>
            <a:pathLst>
              <a:path w="311150" h="355600">
                <a:moveTo>
                  <a:pt x="155575" y="172244"/>
                </a:moveTo>
                <a:cubicBezTo>
                  <a:pt x="201574" y="172244"/>
                  <a:pt x="238919" y="134899"/>
                  <a:pt x="238919" y="88900"/>
                </a:cubicBezTo>
                <a:cubicBezTo>
                  <a:pt x="238919" y="42901"/>
                  <a:pt x="201574" y="5556"/>
                  <a:pt x="155575" y="5556"/>
                </a:cubicBezTo>
                <a:cubicBezTo>
                  <a:pt x="109576" y="5556"/>
                  <a:pt x="72231" y="42901"/>
                  <a:pt x="72231" y="88900"/>
                </a:cubicBezTo>
                <a:cubicBezTo>
                  <a:pt x="72231" y="134899"/>
                  <a:pt x="109576" y="172244"/>
                  <a:pt x="155575" y="172244"/>
                </a:cubicBezTo>
                <a:close/>
                <a:moveTo>
                  <a:pt x="134947" y="211138"/>
                </a:moveTo>
                <a:cubicBezTo>
                  <a:pt x="66536" y="211138"/>
                  <a:pt x="11112" y="266561"/>
                  <a:pt x="11112" y="334972"/>
                </a:cubicBezTo>
                <a:cubicBezTo>
                  <a:pt x="11112" y="346363"/>
                  <a:pt x="20350" y="355600"/>
                  <a:pt x="31740" y="355600"/>
                </a:cubicBezTo>
                <a:lnTo>
                  <a:pt x="279410" y="355600"/>
                </a:lnTo>
                <a:cubicBezTo>
                  <a:pt x="290800" y="355600"/>
                  <a:pt x="300038" y="346363"/>
                  <a:pt x="300038" y="334972"/>
                </a:cubicBezTo>
                <a:cubicBezTo>
                  <a:pt x="300038" y="266561"/>
                  <a:pt x="244614" y="211138"/>
                  <a:pt x="176203" y="211138"/>
                </a:cubicBezTo>
                <a:lnTo>
                  <a:pt x="134947" y="211138"/>
                </a:lnTo>
                <a:close/>
              </a:path>
            </a:pathLst>
          </a:custGeom>
          <a:solidFill>
            <a:srgbClr val="0F4C5C"/>
          </a:solidFill>
          <a:ln/>
        </p:spPr>
      </p:sp>
      <p:sp>
        <p:nvSpPr>
          <p:cNvPr id="12" name="Text 10"/>
          <p:cNvSpPr/>
          <p:nvPr/>
        </p:nvSpPr>
        <p:spPr>
          <a:xfrm>
            <a:off x="4572000" y="2984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Facial Recognition</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Biometrics</a:t>
            </a:r>
            <a:endParaRPr lang="en-US" sz="1600" dirty="0"/>
          </a:p>
        </p:txBody>
      </p:sp>
      <p:sp>
        <p:nvSpPr>
          <p:cNvPr id="13" name="Shape 11"/>
          <p:cNvSpPr/>
          <p:nvPr/>
        </p:nvSpPr>
        <p:spPr>
          <a:xfrm>
            <a:off x="762000" y="4064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4" name="Shape 12"/>
          <p:cNvSpPr/>
          <p:nvPr/>
        </p:nvSpPr>
        <p:spPr>
          <a:xfrm>
            <a:off x="1016000" y="4318000"/>
            <a:ext cx="355600" cy="355600"/>
          </a:xfrm>
          <a:custGeom>
            <a:avLst/>
            <a:gdLst/>
            <a:ahLst/>
            <a:cxnLst/>
            <a:rect l="l" t="t" r="r" b="b"/>
            <a:pathLst>
              <a:path w="355600" h="355600">
                <a:moveTo>
                  <a:pt x="0" y="44450"/>
                </a:moveTo>
                <a:cubicBezTo>
                  <a:pt x="0" y="32157"/>
                  <a:pt x="9932" y="22225"/>
                  <a:pt x="22225" y="22225"/>
                </a:cubicBezTo>
                <a:lnTo>
                  <a:pt x="333375" y="22225"/>
                </a:lnTo>
                <a:cubicBezTo>
                  <a:pt x="345668" y="22225"/>
                  <a:pt x="355600" y="32157"/>
                  <a:pt x="355600" y="44450"/>
                </a:cubicBezTo>
                <a:cubicBezTo>
                  <a:pt x="355600" y="56743"/>
                  <a:pt x="345668" y="66675"/>
                  <a:pt x="333375" y="66675"/>
                </a:cubicBezTo>
                <a:lnTo>
                  <a:pt x="333375" y="288925"/>
                </a:lnTo>
                <a:cubicBezTo>
                  <a:pt x="345668" y="288925"/>
                  <a:pt x="355600" y="298857"/>
                  <a:pt x="355600" y="311150"/>
                </a:cubicBezTo>
                <a:cubicBezTo>
                  <a:pt x="355600" y="323443"/>
                  <a:pt x="345668" y="333375"/>
                  <a:pt x="333375" y="333375"/>
                </a:cubicBezTo>
                <a:lnTo>
                  <a:pt x="22225" y="333375"/>
                </a:lnTo>
                <a:cubicBezTo>
                  <a:pt x="9932" y="333375"/>
                  <a:pt x="0" y="323443"/>
                  <a:pt x="0" y="311150"/>
                </a:cubicBezTo>
                <a:cubicBezTo>
                  <a:pt x="0" y="298857"/>
                  <a:pt x="9932" y="288925"/>
                  <a:pt x="22225" y="288925"/>
                </a:cubicBezTo>
                <a:lnTo>
                  <a:pt x="22225" y="66675"/>
                </a:lnTo>
                <a:cubicBezTo>
                  <a:pt x="9932" y="66675"/>
                  <a:pt x="0" y="56743"/>
                  <a:pt x="0" y="44450"/>
                </a:cubicBezTo>
                <a:close/>
                <a:moveTo>
                  <a:pt x="194469" y="83344"/>
                </a:moveTo>
                <a:cubicBezTo>
                  <a:pt x="194469" y="74106"/>
                  <a:pt x="187037" y="66675"/>
                  <a:pt x="177800" y="66675"/>
                </a:cubicBezTo>
                <a:cubicBezTo>
                  <a:pt x="168563" y="66675"/>
                  <a:pt x="161131" y="74106"/>
                  <a:pt x="161131" y="83344"/>
                </a:cubicBezTo>
                <a:lnTo>
                  <a:pt x="161131" y="94456"/>
                </a:lnTo>
                <a:lnTo>
                  <a:pt x="116681" y="94456"/>
                </a:lnTo>
                <a:cubicBezTo>
                  <a:pt x="107444" y="94456"/>
                  <a:pt x="100013" y="101888"/>
                  <a:pt x="100013" y="111125"/>
                </a:cubicBezTo>
                <a:cubicBezTo>
                  <a:pt x="100013" y="120362"/>
                  <a:pt x="107444" y="127794"/>
                  <a:pt x="116681" y="127794"/>
                </a:cubicBezTo>
                <a:lnTo>
                  <a:pt x="161131" y="127794"/>
                </a:lnTo>
                <a:lnTo>
                  <a:pt x="161131" y="161131"/>
                </a:lnTo>
                <a:lnTo>
                  <a:pt x="105569" y="161131"/>
                </a:lnTo>
                <a:cubicBezTo>
                  <a:pt x="96331" y="161131"/>
                  <a:pt x="88900" y="168563"/>
                  <a:pt x="88900" y="177800"/>
                </a:cubicBezTo>
                <a:cubicBezTo>
                  <a:pt x="88900" y="187037"/>
                  <a:pt x="96331" y="194469"/>
                  <a:pt x="105569" y="194469"/>
                </a:cubicBezTo>
                <a:lnTo>
                  <a:pt x="161131" y="194469"/>
                </a:lnTo>
                <a:lnTo>
                  <a:pt x="161131" y="227806"/>
                </a:lnTo>
                <a:lnTo>
                  <a:pt x="116681" y="227806"/>
                </a:lnTo>
                <a:cubicBezTo>
                  <a:pt x="107444" y="227806"/>
                  <a:pt x="100013" y="235238"/>
                  <a:pt x="100013" y="244475"/>
                </a:cubicBezTo>
                <a:cubicBezTo>
                  <a:pt x="100013" y="253712"/>
                  <a:pt x="107444" y="261144"/>
                  <a:pt x="116681" y="261144"/>
                </a:cubicBezTo>
                <a:lnTo>
                  <a:pt x="161131" y="261144"/>
                </a:lnTo>
                <a:lnTo>
                  <a:pt x="161131" y="272256"/>
                </a:lnTo>
                <a:cubicBezTo>
                  <a:pt x="161131" y="281494"/>
                  <a:pt x="168563" y="288925"/>
                  <a:pt x="177800" y="288925"/>
                </a:cubicBezTo>
                <a:cubicBezTo>
                  <a:pt x="187037" y="288925"/>
                  <a:pt x="194469" y="281494"/>
                  <a:pt x="194469" y="272256"/>
                </a:cubicBezTo>
                <a:lnTo>
                  <a:pt x="194469" y="261144"/>
                </a:lnTo>
                <a:lnTo>
                  <a:pt x="238919" y="261144"/>
                </a:lnTo>
                <a:cubicBezTo>
                  <a:pt x="248156" y="261144"/>
                  <a:pt x="255587" y="253712"/>
                  <a:pt x="255587" y="244475"/>
                </a:cubicBezTo>
                <a:cubicBezTo>
                  <a:pt x="255587" y="235238"/>
                  <a:pt x="248156" y="227806"/>
                  <a:pt x="238919" y="227806"/>
                </a:cubicBezTo>
                <a:lnTo>
                  <a:pt x="194469" y="227806"/>
                </a:lnTo>
                <a:lnTo>
                  <a:pt x="194469" y="194469"/>
                </a:lnTo>
                <a:lnTo>
                  <a:pt x="250031" y="194469"/>
                </a:lnTo>
                <a:cubicBezTo>
                  <a:pt x="259269" y="194469"/>
                  <a:pt x="266700" y="187037"/>
                  <a:pt x="266700" y="177800"/>
                </a:cubicBezTo>
                <a:cubicBezTo>
                  <a:pt x="266700" y="168563"/>
                  <a:pt x="259269" y="161131"/>
                  <a:pt x="250031" y="161131"/>
                </a:cubicBezTo>
                <a:lnTo>
                  <a:pt x="194469" y="161131"/>
                </a:lnTo>
                <a:lnTo>
                  <a:pt x="194469" y="127794"/>
                </a:lnTo>
                <a:lnTo>
                  <a:pt x="238919" y="127794"/>
                </a:lnTo>
                <a:cubicBezTo>
                  <a:pt x="248156" y="127794"/>
                  <a:pt x="255587" y="120362"/>
                  <a:pt x="255587" y="111125"/>
                </a:cubicBezTo>
                <a:cubicBezTo>
                  <a:pt x="255587" y="101888"/>
                  <a:pt x="248156" y="94456"/>
                  <a:pt x="238919" y="94456"/>
                </a:cubicBezTo>
                <a:lnTo>
                  <a:pt x="194469" y="94456"/>
                </a:lnTo>
                <a:lnTo>
                  <a:pt x="194469" y="83344"/>
                </a:lnTo>
                <a:close/>
              </a:path>
            </a:pathLst>
          </a:custGeom>
          <a:solidFill>
            <a:srgbClr val="0F4C5C"/>
          </a:solidFill>
          <a:ln/>
        </p:spPr>
      </p:sp>
      <p:sp>
        <p:nvSpPr>
          <p:cNvPr id="15" name="Text 13"/>
          <p:cNvSpPr/>
          <p:nvPr/>
        </p:nvSpPr>
        <p:spPr>
          <a:xfrm>
            <a:off x="1016000" y="4762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Medical Imaging</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X-rays, MRIs</a:t>
            </a:r>
            <a:endParaRPr lang="en-US" sz="1600" dirty="0"/>
          </a:p>
        </p:txBody>
      </p:sp>
      <p:sp>
        <p:nvSpPr>
          <p:cNvPr id="16" name="Shape 14"/>
          <p:cNvSpPr/>
          <p:nvPr/>
        </p:nvSpPr>
        <p:spPr>
          <a:xfrm>
            <a:off x="4318000" y="4064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7" name="Shape 15"/>
          <p:cNvSpPr/>
          <p:nvPr/>
        </p:nvSpPr>
        <p:spPr>
          <a:xfrm>
            <a:off x="4572000" y="4318000"/>
            <a:ext cx="355600" cy="355600"/>
          </a:xfrm>
          <a:custGeom>
            <a:avLst/>
            <a:gdLst/>
            <a:ahLst/>
            <a:cxnLst/>
            <a:rect l="l" t="t" r="r" b="b"/>
            <a:pathLst>
              <a:path w="355600" h="355600">
                <a:moveTo>
                  <a:pt x="93901" y="81538"/>
                </a:moveTo>
                <a:lnTo>
                  <a:pt x="75773" y="133350"/>
                </a:lnTo>
                <a:lnTo>
                  <a:pt x="279827" y="133350"/>
                </a:lnTo>
                <a:lnTo>
                  <a:pt x="261699" y="81538"/>
                </a:lnTo>
                <a:cubicBezTo>
                  <a:pt x="258574" y="72648"/>
                  <a:pt x="250170" y="66675"/>
                  <a:pt x="240725" y="66675"/>
                </a:cubicBezTo>
                <a:lnTo>
                  <a:pt x="114875" y="66675"/>
                </a:lnTo>
                <a:cubicBezTo>
                  <a:pt x="105430" y="66675"/>
                  <a:pt x="97026" y="72648"/>
                  <a:pt x="93901" y="81538"/>
                </a:cubicBezTo>
                <a:close/>
                <a:moveTo>
                  <a:pt x="27503" y="136684"/>
                </a:moveTo>
                <a:lnTo>
                  <a:pt x="51951" y="66883"/>
                </a:lnTo>
                <a:cubicBezTo>
                  <a:pt x="61327" y="40144"/>
                  <a:pt x="86539" y="22225"/>
                  <a:pt x="114875" y="22225"/>
                </a:cubicBezTo>
                <a:lnTo>
                  <a:pt x="240725" y="22225"/>
                </a:lnTo>
                <a:cubicBezTo>
                  <a:pt x="269061" y="22225"/>
                  <a:pt x="294273" y="40144"/>
                  <a:pt x="303649" y="66883"/>
                </a:cubicBezTo>
                <a:lnTo>
                  <a:pt x="328097" y="136684"/>
                </a:lnTo>
                <a:cubicBezTo>
                  <a:pt x="344210" y="143351"/>
                  <a:pt x="355600" y="159256"/>
                  <a:pt x="355600" y="177800"/>
                </a:cubicBezTo>
                <a:lnTo>
                  <a:pt x="355600" y="311150"/>
                </a:lnTo>
                <a:cubicBezTo>
                  <a:pt x="355600" y="323443"/>
                  <a:pt x="345668" y="333375"/>
                  <a:pt x="333375" y="333375"/>
                </a:cubicBezTo>
                <a:lnTo>
                  <a:pt x="311150" y="333375"/>
                </a:lnTo>
                <a:cubicBezTo>
                  <a:pt x="298857" y="333375"/>
                  <a:pt x="288925" y="323443"/>
                  <a:pt x="288925" y="311150"/>
                </a:cubicBezTo>
                <a:lnTo>
                  <a:pt x="288925" y="288925"/>
                </a:lnTo>
                <a:lnTo>
                  <a:pt x="66675" y="288925"/>
                </a:lnTo>
                <a:lnTo>
                  <a:pt x="66675" y="311150"/>
                </a:lnTo>
                <a:cubicBezTo>
                  <a:pt x="66675" y="323443"/>
                  <a:pt x="56743" y="333375"/>
                  <a:pt x="44450" y="333375"/>
                </a:cubicBezTo>
                <a:lnTo>
                  <a:pt x="22225" y="333375"/>
                </a:lnTo>
                <a:cubicBezTo>
                  <a:pt x="9932" y="333375"/>
                  <a:pt x="0" y="323443"/>
                  <a:pt x="0" y="311150"/>
                </a:cubicBezTo>
                <a:lnTo>
                  <a:pt x="0" y="177800"/>
                </a:lnTo>
                <a:cubicBezTo>
                  <a:pt x="0" y="159256"/>
                  <a:pt x="11390" y="143351"/>
                  <a:pt x="27503" y="136684"/>
                </a:cubicBezTo>
                <a:close/>
                <a:moveTo>
                  <a:pt x="88900" y="211138"/>
                </a:moveTo>
                <a:cubicBezTo>
                  <a:pt x="88900" y="198871"/>
                  <a:pt x="78941" y="188913"/>
                  <a:pt x="66675" y="188913"/>
                </a:cubicBezTo>
                <a:cubicBezTo>
                  <a:pt x="54409" y="188913"/>
                  <a:pt x="44450" y="198871"/>
                  <a:pt x="44450" y="211138"/>
                </a:cubicBezTo>
                <a:cubicBezTo>
                  <a:pt x="44450" y="223404"/>
                  <a:pt x="54409" y="233363"/>
                  <a:pt x="66675" y="233363"/>
                </a:cubicBezTo>
                <a:cubicBezTo>
                  <a:pt x="78941" y="233363"/>
                  <a:pt x="88900" y="223404"/>
                  <a:pt x="88900" y="211138"/>
                </a:cubicBezTo>
                <a:close/>
                <a:moveTo>
                  <a:pt x="288925" y="233363"/>
                </a:moveTo>
                <a:cubicBezTo>
                  <a:pt x="301191" y="233363"/>
                  <a:pt x="311150" y="223404"/>
                  <a:pt x="311150" y="211138"/>
                </a:cubicBezTo>
                <a:cubicBezTo>
                  <a:pt x="311150" y="198871"/>
                  <a:pt x="301191" y="188913"/>
                  <a:pt x="288925" y="188913"/>
                </a:cubicBezTo>
                <a:cubicBezTo>
                  <a:pt x="276659" y="188913"/>
                  <a:pt x="266700" y="198871"/>
                  <a:pt x="266700" y="211138"/>
                </a:cubicBezTo>
                <a:cubicBezTo>
                  <a:pt x="266700" y="223404"/>
                  <a:pt x="276659" y="233363"/>
                  <a:pt x="288925" y="233363"/>
                </a:cubicBezTo>
                <a:close/>
              </a:path>
            </a:pathLst>
          </a:custGeom>
          <a:solidFill>
            <a:srgbClr val="0F4C5C"/>
          </a:solidFill>
          <a:ln/>
        </p:spPr>
      </p:sp>
      <p:sp>
        <p:nvSpPr>
          <p:cNvPr id="18" name="Text 16"/>
          <p:cNvSpPr/>
          <p:nvPr/>
        </p:nvSpPr>
        <p:spPr>
          <a:xfrm>
            <a:off x="4572000" y="4762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Autonomous Vehicles</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LiDAR</a:t>
            </a:r>
            <a:endParaRPr lang="en-US" sz="1600" dirty="0"/>
          </a:p>
        </p:txBody>
      </p:sp>
      <p:sp>
        <p:nvSpPr>
          <p:cNvPr id="19" name="Shape 17"/>
          <p:cNvSpPr/>
          <p:nvPr/>
        </p:nvSpPr>
        <p:spPr>
          <a:xfrm>
            <a:off x="8128000" y="1333500"/>
            <a:ext cx="25400" cy="4445000"/>
          </a:xfrm>
          <a:prstGeom prst="rect">
            <a:avLst/>
          </a:prstGeom>
          <a:solidFill>
            <a:srgbClr val="0F4C5C">
              <a:alpha val="12549"/>
            </a:srgbClr>
          </a:solidFill>
          <a:ln/>
        </p:spPr>
      </p:sp>
      <p:sp>
        <p:nvSpPr>
          <p:cNvPr id="20" name="Text 18"/>
          <p:cNvSpPr/>
          <p:nvPr/>
        </p:nvSpPr>
        <p:spPr>
          <a:xfrm>
            <a:off x="8636000" y="13335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INTELLIGENT ROBOTS</a:t>
            </a:r>
            <a:endParaRPr lang="en-US" sz="1400" dirty="0"/>
          </a:p>
        </p:txBody>
      </p:sp>
      <p:sp>
        <p:nvSpPr>
          <p:cNvPr id="21" name="Text 19"/>
          <p:cNvSpPr/>
          <p:nvPr/>
        </p:nvSpPr>
        <p:spPr>
          <a:xfrm>
            <a:off x="8636000" y="1714500"/>
            <a:ext cx="6858000" cy="3556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Combining perception with action in physical systems.</a:t>
            </a:r>
            <a:endParaRPr lang="en-US" sz="1800" dirty="0"/>
          </a:p>
        </p:txBody>
      </p:sp>
      <p:sp>
        <p:nvSpPr>
          <p:cNvPr id="22" name="Shape 20"/>
          <p:cNvSpPr/>
          <p:nvPr/>
        </p:nvSpPr>
        <p:spPr>
          <a:xfrm>
            <a:off x="8636000" y="2286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3" name="Shape 21"/>
          <p:cNvSpPr/>
          <p:nvPr/>
        </p:nvSpPr>
        <p:spPr>
          <a:xfrm>
            <a:off x="8890000" y="2540000"/>
            <a:ext cx="355600" cy="355600"/>
          </a:xfrm>
          <a:custGeom>
            <a:avLst/>
            <a:gdLst/>
            <a:ahLst/>
            <a:cxnLst/>
            <a:rect l="l" t="t" r="r" b="b"/>
            <a:pathLst>
              <a:path w="355600" h="355600">
                <a:moveTo>
                  <a:pt x="22225" y="22225"/>
                </a:moveTo>
                <a:cubicBezTo>
                  <a:pt x="9932" y="22225"/>
                  <a:pt x="0" y="32157"/>
                  <a:pt x="0" y="44450"/>
                </a:cubicBezTo>
                <a:lnTo>
                  <a:pt x="0" y="300038"/>
                </a:lnTo>
                <a:cubicBezTo>
                  <a:pt x="0" y="318443"/>
                  <a:pt x="14932" y="333375"/>
                  <a:pt x="33337" y="333375"/>
                </a:cubicBezTo>
                <a:lnTo>
                  <a:pt x="322263" y="333375"/>
                </a:lnTo>
                <a:cubicBezTo>
                  <a:pt x="340668" y="333375"/>
                  <a:pt x="355600" y="318443"/>
                  <a:pt x="355600" y="300038"/>
                </a:cubicBezTo>
                <a:lnTo>
                  <a:pt x="355600" y="105708"/>
                </a:lnTo>
                <a:cubicBezTo>
                  <a:pt x="355600" y="93067"/>
                  <a:pt x="342126" y="85080"/>
                  <a:pt x="331014" y="91053"/>
                </a:cubicBezTo>
                <a:lnTo>
                  <a:pt x="222250" y="149602"/>
                </a:lnTo>
                <a:lnTo>
                  <a:pt x="222250" y="105708"/>
                </a:lnTo>
                <a:cubicBezTo>
                  <a:pt x="222250" y="93067"/>
                  <a:pt x="208776" y="85080"/>
                  <a:pt x="197664" y="91053"/>
                </a:cubicBezTo>
                <a:lnTo>
                  <a:pt x="88900" y="149602"/>
                </a:lnTo>
                <a:lnTo>
                  <a:pt x="88900" y="44450"/>
                </a:lnTo>
                <a:cubicBezTo>
                  <a:pt x="88900" y="32157"/>
                  <a:pt x="78968" y="22225"/>
                  <a:pt x="66675" y="22225"/>
                </a:cubicBezTo>
                <a:lnTo>
                  <a:pt x="22225" y="22225"/>
                </a:lnTo>
                <a:close/>
              </a:path>
            </a:pathLst>
          </a:custGeom>
          <a:solidFill>
            <a:srgbClr val="D97706"/>
          </a:solidFill>
          <a:ln/>
        </p:spPr>
      </p:sp>
      <p:sp>
        <p:nvSpPr>
          <p:cNvPr id="24" name="Text 22"/>
          <p:cNvSpPr/>
          <p:nvPr/>
        </p:nvSpPr>
        <p:spPr>
          <a:xfrm>
            <a:off x="8890000" y="2984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Industrial Robots</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Assembly lines</a:t>
            </a:r>
            <a:endParaRPr lang="en-US" sz="1600" dirty="0"/>
          </a:p>
        </p:txBody>
      </p:sp>
      <p:sp>
        <p:nvSpPr>
          <p:cNvPr id="25" name="Shape 23"/>
          <p:cNvSpPr/>
          <p:nvPr/>
        </p:nvSpPr>
        <p:spPr>
          <a:xfrm>
            <a:off x="12192000" y="2286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6" name="Shape 24"/>
          <p:cNvSpPr/>
          <p:nvPr/>
        </p:nvSpPr>
        <p:spPr>
          <a:xfrm>
            <a:off x="12446000" y="2540000"/>
            <a:ext cx="355600" cy="355600"/>
          </a:xfrm>
          <a:custGeom>
            <a:avLst/>
            <a:gdLst/>
            <a:ahLst/>
            <a:cxnLst/>
            <a:rect l="l" t="t" r="r" b="b"/>
            <a:pathLst>
              <a:path w="355600" h="355600">
                <a:moveTo>
                  <a:pt x="177800" y="74940"/>
                </a:moveTo>
                <a:lnTo>
                  <a:pt x="167382" y="60494"/>
                </a:lnTo>
                <a:cubicBezTo>
                  <a:pt x="150019" y="36463"/>
                  <a:pt x="122168" y="22225"/>
                  <a:pt x="92442" y="22225"/>
                </a:cubicBezTo>
                <a:cubicBezTo>
                  <a:pt x="41394" y="22225"/>
                  <a:pt x="0" y="63619"/>
                  <a:pt x="0" y="114667"/>
                </a:cubicBezTo>
                <a:lnTo>
                  <a:pt x="0" y="116473"/>
                </a:lnTo>
                <a:cubicBezTo>
                  <a:pt x="0" y="132864"/>
                  <a:pt x="4306" y="149810"/>
                  <a:pt x="11529" y="166688"/>
                </a:cubicBezTo>
                <a:lnTo>
                  <a:pt x="85150" y="166688"/>
                </a:lnTo>
                <a:cubicBezTo>
                  <a:pt x="87372" y="166688"/>
                  <a:pt x="89386" y="165368"/>
                  <a:pt x="90289" y="163284"/>
                </a:cubicBezTo>
                <a:lnTo>
                  <a:pt x="112375" y="110292"/>
                </a:lnTo>
                <a:cubicBezTo>
                  <a:pt x="114945" y="104180"/>
                  <a:pt x="120918" y="100151"/>
                  <a:pt x="127516" y="100013"/>
                </a:cubicBezTo>
                <a:cubicBezTo>
                  <a:pt x="134114" y="99874"/>
                  <a:pt x="140226" y="103763"/>
                  <a:pt x="142935" y="109805"/>
                </a:cubicBezTo>
                <a:lnTo>
                  <a:pt x="178564" y="188913"/>
                </a:lnTo>
                <a:lnTo>
                  <a:pt x="207318" y="131405"/>
                </a:lnTo>
                <a:cubicBezTo>
                  <a:pt x="210165" y="125780"/>
                  <a:pt x="215930" y="122168"/>
                  <a:pt x="222250" y="122168"/>
                </a:cubicBezTo>
                <a:cubicBezTo>
                  <a:pt x="228570" y="122168"/>
                  <a:pt x="234335" y="125710"/>
                  <a:pt x="237182" y="131405"/>
                </a:cubicBezTo>
                <a:lnTo>
                  <a:pt x="253296" y="163562"/>
                </a:lnTo>
                <a:cubicBezTo>
                  <a:pt x="254268" y="165437"/>
                  <a:pt x="256143" y="166618"/>
                  <a:pt x="258296" y="166618"/>
                </a:cubicBezTo>
                <a:lnTo>
                  <a:pt x="344140" y="166618"/>
                </a:lnTo>
                <a:cubicBezTo>
                  <a:pt x="351433" y="149741"/>
                  <a:pt x="355669" y="132794"/>
                  <a:pt x="355669" y="116403"/>
                </a:cubicBezTo>
                <a:lnTo>
                  <a:pt x="355669" y="114598"/>
                </a:lnTo>
                <a:cubicBezTo>
                  <a:pt x="355600" y="63619"/>
                  <a:pt x="314206" y="22225"/>
                  <a:pt x="263158" y="22225"/>
                </a:cubicBezTo>
                <a:cubicBezTo>
                  <a:pt x="233501" y="22225"/>
                  <a:pt x="205581" y="36463"/>
                  <a:pt x="188218" y="60494"/>
                </a:cubicBezTo>
                <a:lnTo>
                  <a:pt x="177800" y="74870"/>
                </a:lnTo>
                <a:close/>
                <a:moveTo>
                  <a:pt x="326152" y="200025"/>
                </a:moveTo>
                <a:lnTo>
                  <a:pt x="258227" y="200025"/>
                </a:lnTo>
                <a:cubicBezTo>
                  <a:pt x="243503" y="200025"/>
                  <a:pt x="230029" y="191691"/>
                  <a:pt x="223431" y="178495"/>
                </a:cubicBezTo>
                <a:lnTo>
                  <a:pt x="222250" y="176133"/>
                </a:lnTo>
                <a:lnTo>
                  <a:pt x="192732" y="235238"/>
                </a:lnTo>
                <a:cubicBezTo>
                  <a:pt x="189885" y="241002"/>
                  <a:pt x="183912" y="244614"/>
                  <a:pt x="177453" y="244475"/>
                </a:cubicBezTo>
                <a:cubicBezTo>
                  <a:pt x="170994" y="244336"/>
                  <a:pt x="165229" y="240516"/>
                  <a:pt x="162590" y="234682"/>
                </a:cubicBezTo>
                <a:lnTo>
                  <a:pt x="128349" y="158631"/>
                </a:lnTo>
                <a:lnTo>
                  <a:pt x="121057" y="176133"/>
                </a:lnTo>
                <a:cubicBezTo>
                  <a:pt x="115014" y="190649"/>
                  <a:pt x="100846" y="200094"/>
                  <a:pt x="85150" y="200094"/>
                </a:cubicBezTo>
                <a:lnTo>
                  <a:pt x="29448" y="200094"/>
                </a:lnTo>
                <a:cubicBezTo>
                  <a:pt x="62230" y="251351"/>
                  <a:pt x="114875" y="298510"/>
                  <a:pt x="147796" y="323652"/>
                </a:cubicBezTo>
                <a:cubicBezTo>
                  <a:pt x="156408" y="330180"/>
                  <a:pt x="166965" y="333444"/>
                  <a:pt x="177731" y="333444"/>
                </a:cubicBezTo>
                <a:cubicBezTo>
                  <a:pt x="188496" y="333444"/>
                  <a:pt x="199122" y="330250"/>
                  <a:pt x="207665" y="323652"/>
                </a:cubicBezTo>
                <a:cubicBezTo>
                  <a:pt x="240725" y="298440"/>
                  <a:pt x="293370" y="251281"/>
                  <a:pt x="326152" y="200025"/>
                </a:cubicBezTo>
                <a:close/>
              </a:path>
            </a:pathLst>
          </a:custGeom>
          <a:solidFill>
            <a:srgbClr val="D97706"/>
          </a:solidFill>
          <a:ln/>
        </p:spPr>
      </p:sp>
      <p:sp>
        <p:nvSpPr>
          <p:cNvPr id="27" name="Text 25"/>
          <p:cNvSpPr/>
          <p:nvPr/>
        </p:nvSpPr>
        <p:spPr>
          <a:xfrm>
            <a:off x="12446000" y="2984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Surgical Robots</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Precision ops</a:t>
            </a:r>
            <a:endParaRPr lang="en-US" sz="1600" dirty="0"/>
          </a:p>
        </p:txBody>
      </p:sp>
      <p:sp>
        <p:nvSpPr>
          <p:cNvPr id="28" name="Shape 26"/>
          <p:cNvSpPr/>
          <p:nvPr/>
        </p:nvSpPr>
        <p:spPr>
          <a:xfrm>
            <a:off x="8636000" y="4064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9" name="Shape 27"/>
          <p:cNvSpPr/>
          <p:nvPr/>
        </p:nvSpPr>
        <p:spPr>
          <a:xfrm>
            <a:off x="8867775" y="4318000"/>
            <a:ext cx="400050" cy="355600"/>
          </a:xfrm>
          <a:custGeom>
            <a:avLst/>
            <a:gdLst/>
            <a:ahLst/>
            <a:cxnLst/>
            <a:rect l="l" t="t" r="r" b="b"/>
            <a:pathLst>
              <a:path w="400050" h="355600">
                <a:moveTo>
                  <a:pt x="393521" y="37921"/>
                </a:moveTo>
                <a:cubicBezTo>
                  <a:pt x="402203" y="29240"/>
                  <a:pt x="402203" y="15141"/>
                  <a:pt x="393521" y="6459"/>
                </a:cubicBezTo>
                <a:cubicBezTo>
                  <a:pt x="384840" y="-2222"/>
                  <a:pt x="370741" y="-2222"/>
                  <a:pt x="362059" y="6459"/>
                </a:cubicBezTo>
                <a:lnTo>
                  <a:pt x="228709" y="139809"/>
                </a:lnTo>
                <a:lnTo>
                  <a:pt x="204609" y="115709"/>
                </a:lnTo>
                <a:cubicBezTo>
                  <a:pt x="201692" y="112792"/>
                  <a:pt x="197664" y="111125"/>
                  <a:pt x="193496" y="111125"/>
                </a:cubicBezTo>
                <a:cubicBezTo>
                  <a:pt x="184815" y="111125"/>
                  <a:pt x="177800" y="118140"/>
                  <a:pt x="177800" y="126821"/>
                </a:cubicBezTo>
                <a:lnTo>
                  <a:pt x="177800" y="147032"/>
                </a:lnTo>
                <a:lnTo>
                  <a:pt x="253018" y="222250"/>
                </a:lnTo>
                <a:lnTo>
                  <a:pt x="273229" y="222250"/>
                </a:lnTo>
                <a:cubicBezTo>
                  <a:pt x="281910" y="222250"/>
                  <a:pt x="288925" y="215235"/>
                  <a:pt x="288925" y="206554"/>
                </a:cubicBezTo>
                <a:cubicBezTo>
                  <a:pt x="288925" y="202386"/>
                  <a:pt x="287258" y="198358"/>
                  <a:pt x="284341" y="195441"/>
                </a:cubicBezTo>
                <a:lnTo>
                  <a:pt x="260241" y="171341"/>
                </a:lnTo>
                <a:lnTo>
                  <a:pt x="393591" y="37991"/>
                </a:lnTo>
                <a:close/>
                <a:moveTo>
                  <a:pt x="236905" y="245447"/>
                </a:moveTo>
                <a:lnTo>
                  <a:pt x="154603" y="163145"/>
                </a:lnTo>
                <a:cubicBezTo>
                  <a:pt x="124946" y="160576"/>
                  <a:pt x="95429" y="171271"/>
                  <a:pt x="74176" y="192524"/>
                </a:cubicBezTo>
                <a:lnTo>
                  <a:pt x="68620" y="198080"/>
                </a:lnTo>
                <a:cubicBezTo>
                  <a:pt x="53132" y="213568"/>
                  <a:pt x="44450" y="234543"/>
                  <a:pt x="44450" y="256421"/>
                </a:cubicBezTo>
                <a:cubicBezTo>
                  <a:pt x="44450" y="261144"/>
                  <a:pt x="49381" y="264200"/>
                  <a:pt x="53618" y="262116"/>
                </a:cubicBezTo>
                <a:lnTo>
                  <a:pt x="89108" y="244406"/>
                </a:lnTo>
                <a:cubicBezTo>
                  <a:pt x="92581" y="242669"/>
                  <a:pt x="95706" y="247253"/>
                  <a:pt x="92859" y="249892"/>
                </a:cubicBezTo>
                <a:lnTo>
                  <a:pt x="5070" y="328791"/>
                </a:lnTo>
                <a:cubicBezTo>
                  <a:pt x="1875" y="331708"/>
                  <a:pt x="0" y="335875"/>
                  <a:pt x="0" y="340251"/>
                </a:cubicBezTo>
                <a:cubicBezTo>
                  <a:pt x="0" y="348724"/>
                  <a:pt x="6876" y="355600"/>
                  <a:pt x="15349" y="355600"/>
                </a:cubicBezTo>
                <a:lnTo>
                  <a:pt x="135711" y="355600"/>
                </a:lnTo>
                <a:cubicBezTo>
                  <a:pt x="162659" y="355600"/>
                  <a:pt x="188426" y="344904"/>
                  <a:pt x="207526" y="325874"/>
                </a:cubicBezTo>
                <a:cubicBezTo>
                  <a:pt x="228779" y="304621"/>
                  <a:pt x="239405" y="275104"/>
                  <a:pt x="236905" y="245447"/>
                </a:cubicBezTo>
                <a:close/>
              </a:path>
            </a:pathLst>
          </a:custGeom>
          <a:solidFill>
            <a:srgbClr val="D97706"/>
          </a:solidFill>
          <a:ln/>
        </p:spPr>
      </p:sp>
      <p:sp>
        <p:nvSpPr>
          <p:cNvPr id="30" name="Text 28"/>
          <p:cNvSpPr/>
          <p:nvPr/>
        </p:nvSpPr>
        <p:spPr>
          <a:xfrm>
            <a:off x="8890000" y="4762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Service Robots</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Cleaning, delivery</a:t>
            </a:r>
            <a:endParaRPr lang="en-US" sz="1600" dirty="0"/>
          </a:p>
        </p:txBody>
      </p:sp>
      <p:sp>
        <p:nvSpPr>
          <p:cNvPr id="31" name="Shape 29"/>
          <p:cNvSpPr/>
          <p:nvPr/>
        </p:nvSpPr>
        <p:spPr>
          <a:xfrm>
            <a:off x="12192000" y="4064000"/>
            <a:ext cx="330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32" name="Shape 30"/>
          <p:cNvSpPr/>
          <p:nvPr/>
        </p:nvSpPr>
        <p:spPr>
          <a:xfrm>
            <a:off x="12490450" y="4318000"/>
            <a:ext cx="266700" cy="355600"/>
          </a:xfrm>
          <a:custGeom>
            <a:avLst/>
            <a:gdLst/>
            <a:ahLst/>
            <a:cxnLst/>
            <a:rect l="l" t="t" r="r" b="b"/>
            <a:pathLst>
              <a:path w="266700" h="355600">
                <a:moveTo>
                  <a:pt x="172244" y="16669"/>
                </a:moveTo>
                <a:cubicBezTo>
                  <a:pt x="172244" y="-4797"/>
                  <a:pt x="154816" y="-22225"/>
                  <a:pt x="133350" y="-22225"/>
                </a:cubicBezTo>
                <a:cubicBezTo>
                  <a:pt x="111884" y="-22225"/>
                  <a:pt x="94456" y="-4797"/>
                  <a:pt x="94456" y="16669"/>
                </a:cubicBezTo>
                <a:cubicBezTo>
                  <a:pt x="94456" y="38135"/>
                  <a:pt x="111884" y="55562"/>
                  <a:pt x="133350" y="55563"/>
                </a:cubicBezTo>
                <a:cubicBezTo>
                  <a:pt x="154816" y="55563"/>
                  <a:pt x="172244" y="38135"/>
                  <a:pt x="172244" y="16669"/>
                </a:cubicBezTo>
                <a:close/>
                <a:moveTo>
                  <a:pt x="188913" y="164396"/>
                </a:moveTo>
                <a:lnTo>
                  <a:pt x="221069" y="207734"/>
                </a:lnTo>
                <a:cubicBezTo>
                  <a:pt x="228362" y="217597"/>
                  <a:pt x="242322" y="219680"/>
                  <a:pt x="252184" y="212318"/>
                </a:cubicBezTo>
                <a:cubicBezTo>
                  <a:pt x="262047" y="204956"/>
                  <a:pt x="264130" y="191066"/>
                  <a:pt x="256768" y="181203"/>
                </a:cubicBezTo>
                <a:lnTo>
                  <a:pt x="207804" y="115223"/>
                </a:lnTo>
                <a:cubicBezTo>
                  <a:pt x="190302" y="91678"/>
                  <a:pt x="162729" y="77788"/>
                  <a:pt x="133350" y="77788"/>
                </a:cubicBezTo>
                <a:cubicBezTo>
                  <a:pt x="103971" y="77788"/>
                  <a:pt x="76398" y="91678"/>
                  <a:pt x="58896" y="115223"/>
                </a:cubicBezTo>
                <a:lnTo>
                  <a:pt x="9932" y="181203"/>
                </a:lnTo>
                <a:cubicBezTo>
                  <a:pt x="2639" y="191066"/>
                  <a:pt x="4653" y="204956"/>
                  <a:pt x="14516" y="212318"/>
                </a:cubicBezTo>
                <a:cubicBezTo>
                  <a:pt x="24378" y="219680"/>
                  <a:pt x="38269" y="217597"/>
                  <a:pt x="45631" y="207734"/>
                </a:cubicBezTo>
                <a:lnTo>
                  <a:pt x="77788" y="164396"/>
                </a:lnTo>
                <a:lnTo>
                  <a:pt x="77788" y="355600"/>
                </a:lnTo>
                <a:cubicBezTo>
                  <a:pt x="77788" y="367893"/>
                  <a:pt x="87719" y="377825"/>
                  <a:pt x="100013" y="377825"/>
                </a:cubicBezTo>
                <a:cubicBezTo>
                  <a:pt x="112306" y="377825"/>
                  <a:pt x="122238" y="367893"/>
                  <a:pt x="122238" y="355600"/>
                </a:cubicBezTo>
                <a:lnTo>
                  <a:pt x="122238" y="244475"/>
                </a:lnTo>
                <a:cubicBezTo>
                  <a:pt x="122238" y="238363"/>
                  <a:pt x="127238" y="233363"/>
                  <a:pt x="133350" y="233363"/>
                </a:cubicBezTo>
                <a:cubicBezTo>
                  <a:pt x="139462" y="233363"/>
                  <a:pt x="144463" y="238363"/>
                  <a:pt x="144463" y="244475"/>
                </a:cubicBezTo>
                <a:lnTo>
                  <a:pt x="144463" y="355600"/>
                </a:lnTo>
                <a:cubicBezTo>
                  <a:pt x="144463" y="367893"/>
                  <a:pt x="154394" y="377825"/>
                  <a:pt x="166688" y="377825"/>
                </a:cubicBezTo>
                <a:cubicBezTo>
                  <a:pt x="178981" y="377825"/>
                  <a:pt x="188913" y="367893"/>
                  <a:pt x="188913" y="355600"/>
                </a:cubicBezTo>
                <a:lnTo>
                  <a:pt x="188913" y="164396"/>
                </a:lnTo>
                <a:close/>
              </a:path>
            </a:pathLst>
          </a:custGeom>
          <a:solidFill>
            <a:srgbClr val="D97706"/>
          </a:solidFill>
          <a:ln/>
        </p:spPr>
      </p:sp>
      <p:sp>
        <p:nvSpPr>
          <p:cNvPr id="33" name="Text 31"/>
          <p:cNvSpPr/>
          <p:nvPr/>
        </p:nvSpPr>
        <p:spPr>
          <a:xfrm>
            <a:off x="12446000" y="4762500"/>
            <a:ext cx="2794000" cy="635000"/>
          </a:xfrm>
          <a:prstGeom prst="rect">
            <a:avLst/>
          </a:prstGeom>
          <a:noFill/>
          <a:ln/>
        </p:spPr>
        <p:txBody>
          <a:bodyPr wrap="square" lIns="0" tIns="0" rIns="0" bIns="0" rtlCol="0" anchor="t"/>
          <a:lstStyle/>
          <a:p>
            <a:pPr>
              <a:lnSpc>
                <a:spcPct val="140000"/>
              </a:lnSpc>
            </a:pPr>
            <a:r>
              <a:rPr lang="en-US" sz="1400" b="1" dirty="0">
                <a:solidFill>
                  <a:srgbClr val="1C1917"/>
                </a:solidFill>
                <a:latin typeface="Quattrocento Sans" pitchFamily="34" charset="0"/>
                <a:ea typeface="Quattrocento Sans" pitchFamily="34" charset="-122"/>
                <a:cs typeface="Quattrocento Sans" pitchFamily="34" charset="-120"/>
              </a:rPr>
              <a:t>Humanoid Robots</a:t>
            </a:r>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 — Interaction</a:t>
            </a:r>
            <a:endParaRPr lang="en-US" sz="1600" dirty="0"/>
          </a:p>
        </p:txBody>
      </p:sp>
      <p:sp>
        <p:nvSpPr>
          <p:cNvPr id="34" name="Shape 32"/>
          <p:cNvSpPr/>
          <p:nvPr/>
        </p:nvSpPr>
        <p:spPr>
          <a:xfrm>
            <a:off x="762000" y="6096000"/>
            <a:ext cx="14732000" cy="2032000"/>
          </a:xfrm>
          <a:prstGeom prst="rect">
            <a:avLst/>
          </a:prstGeom>
          <a:solidFill>
            <a:srgbClr val="0F4C5C"/>
          </a:solidFill>
          <a:ln/>
        </p:spPr>
      </p:sp>
      <p:sp>
        <p:nvSpPr>
          <p:cNvPr id="35" name="Text 33"/>
          <p:cNvSpPr/>
          <p:nvPr/>
        </p:nvSpPr>
        <p:spPr>
          <a:xfrm>
            <a:off x="1143000" y="6350000"/>
            <a:ext cx="13970000" cy="1524000"/>
          </a:xfrm>
          <a:prstGeom prst="rect">
            <a:avLst/>
          </a:prstGeom>
          <a:noFill/>
          <a:ln/>
        </p:spPr>
        <p:txBody>
          <a:bodyPr wrap="square" lIns="0" tIns="0" rIns="0" bIns="0" rtlCol="0" anchor="t"/>
          <a:lstStyle/>
          <a:p>
            <a:pPr>
              <a:lnSpc>
                <a:spcPct val="160000"/>
              </a:lnSpc>
            </a:pPr>
            <a:r>
              <a:rPr lang="en-US" sz="1600" b="1" dirty="0">
                <a:solidFill>
                  <a:srgbClr val="D97706"/>
                </a:solidFill>
                <a:latin typeface="Quattrocento Sans" pitchFamily="34" charset="0"/>
                <a:ea typeface="Quattrocento Sans" pitchFamily="34" charset="-122"/>
                <a:cs typeface="Quattrocento Sans" pitchFamily="34" charset="-120"/>
              </a:rPr>
              <a:t>The Synergy:</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Computer Vision provides the "eyes" — the ability to perceive and interpret the visual world. Intelligent Robotics provides the "body" — the ability to act upon that perception. Together, they form the foundation of embodied AI systems that can interact with the physical world.</a:t>
            </a:r>
            <a:endParaRPr lang="en-US" sz="1600" dirty="0"/>
          </a:p>
        </p:txBody>
      </p:sp>
      <p:sp>
        <p:nvSpPr>
          <p:cNvPr id="36" name="Text 34"/>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37" name="Text 35"/>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15</a:t>
            </a:r>
            <a:endParaRPr lang="en-US" sz="1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Lecture 3 — Key Takeaways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460500"/>
            <a:ext cx="7112000" cy="1587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6" name="Text 4"/>
          <p:cNvSpPr/>
          <p:nvPr/>
        </p:nvSpPr>
        <p:spPr>
          <a:xfrm>
            <a:off x="952500" y="1587500"/>
            <a:ext cx="635000" cy="508000"/>
          </a:xfrm>
          <a:prstGeom prst="rect">
            <a:avLst/>
          </a:prstGeom>
          <a:noFill/>
          <a:ln/>
        </p:spPr>
        <p:txBody>
          <a:bodyPr wrap="none" lIns="0" tIns="0" rIns="0" bIns="0" rtlCol="0" anchor="ctr"/>
          <a:lstStyle/>
          <a:p>
            <a:pPr algn="ctr">
              <a:lnSpc>
                <a:spcPct val="100000"/>
              </a:lnSpc>
            </a:pPr>
            <a:r>
              <a:rPr lang="en-US" sz="3200" dirty="0">
                <a:solidFill>
                  <a:srgbClr val="D97706"/>
                </a:solidFill>
                <a:latin typeface="Liter" pitchFamily="34" charset="0"/>
                <a:ea typeface="Liter" pitchFamily="34" charset="-122"/>
                <a:cs typeface="Liter" pitchFamily="34" charset="-120"/>
              </a:rPr>
              <a:t>1</a:t>
            </a:r>
            <a:endParaRPr lang="en-US" sz="1600" dirty="0"/>
          </a:p>
        </p:txBody>
      </p:sp>
      <p:sp>
        <p:nvSpPr>
          <p:cNvPr id="7" name="Text 5"/>
          <p:cNvSpPr/>
          <p:nvPr/>
        </p:nvSpPr>
        <p:spPr>
          <a:xfrm>
            <a:off x="1651000" y="1651000"/>
            <a:ext cx="5969000" cy="1206500"/>
          </a:xfrm>
          <a:prstGeom prst="rect">
            <a:avLst/>
          </a:prstGeom>
          <a:noFill/>
          <a:ln/>
        </p:spPr>
        <p:txBody>
          <a:bodyPr wrap="square" lIns="0" tIns="0" rIns="0" bIns="0" rtlCol="0" anchor="t"/>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Four Foundational Disciplines</a:t>
            </a:r>
            <a:endParaRPr lang="en-US" sz="1600" dirty="0"/>
          </a:p>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AI is built on Philosophy, Mathematics, Psychology, and Computer Engineering — each contributed essential concepts.</a:t>
            </a:r>
            <a:endParaRPr lang="en-US" sz="1600" dirty="0"/>
          </a:p>
        </p:txBody>
      </p:sp>
      <p:sp>
        <p:nvSpPr>
          <p:cNvPr id="8" name="Shape 6"/>
          <p:cNvSpPr/>
          <p:nvPr/>
        </p:nvSpPr>
        <p:spPr>
          <a:xfrm>
            <a:off x="8382000" y="1460500"/>
            <a:ext cx="7112000" cy="1587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9" name="Text 7"/>
          <p:cNvSpPr/>
          <p:nvPr/>
        </p:nvSpPr>
        <p:spPr>
          <a:xfrm>
            <a:off x="8572500" y="1587500"/>
            <a:ext cx="635000" cy="508000"/>
          </a:xfrm>
          <a:prstGeom prst="rect">
            <a:avLst/>
          </a:prstGeom>
          <a:noFill/>
          <a:ln/>
        </p:spPr>
        <p:txBody>
          <a:bodyPr wrap="none" lIns="0" tIns="0" rIns="0" bIns="0" rtlCol="0" anchor="ctr"/>
          <a:lstStyle/>
          <a:p>
            <a:pPr algn="ctr">
              <a:lnSpc>
                <a:spcPct val="100000"/>
              </a:lnSpc>
            </a:pPr>
            <a:r>
              <a:rPr lang="en-US" sz="3200" dirty="0">
                <a:solidFill>
                  <a:srgbClr val="D97706"/>
                </a:solidFill>
                <a:latin typeface="Liter" pitchFamily="34" charset="0"/>
                <a:ea typeface="Liter" pitchFamily="34" charset="-122"/>
                <a:cs typeface="Liter" pitchFamily="34" charset="-120"/>
              </a:rPr>
              <a:t>2</a:t>
            </a:r>
            <a:endParaRPr lang="en-US" sz="1600" dirty="0"/>
          </a:p>
        </p:txBody>
      </p:sp>
      <p:sp>
        <p:nvSpPr>
          <p:cNvPr id="10" name="Text 8"/>
          <p:cNvSpPr/>
          <p:nvPr/>
        </p:nvSpPr>
        <p:spPr>
          <a:xfrm>
            <a:off x="9271000" y="1651000"/>
            <a:ext cx="5969000" cy="1206500"/>
          </a:xfrm>
          <a:prstGeom prst="rect">
            <a:avLst/>
          </a:prstGeom>
          <a:noFill/>
          <a:ln/>
        </p:spPr>
        <p:txBody>
          <a:bodyPr wrap="square" lIns="0" tIns="0" rIns="0" bIns="0" rtlCol="0" anchor="t"/>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Programming Paradigm Shift</a:t>
            </a:r>
            <a:endParaRPr lang="en-US" sz="1600" dirty="0"/>
          </a:p>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Traditional programming uses explicit rules; AI programming learns from data and generalizes.</a:t>
            </a:r>
            <a:endParaRPr lang="en-US" sz="1600" dirty="0"/>
          </a:p>
        </p:txBody>
      </p:sp>
      <p:sp>
        <p:nvSpPr>
          <p:cNvPr id="11" name="Shape 9"/>
          <p:cNvSpPr/>
          <p:nvPr/>
        </p:nvSpPr>
        <p:spPr>
          <a:xfrm>
            <a:off x="762000" y="3365500"/>
            <a:ext cx="7112000" cy="1587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Text 10"/>
          <p:cNvSpPr/>
          <p:nvPr/>
        </p:nvSpPr>
        <p:spPr>
          <a:xfrm>
            <a:off x="952500" y="3492500"/>
            <a:ext cx="635000" cy="508000"/>
          </a:xfrm>
          <a:prstGeom prst="rect">
            <a:avLst/>
          </a:prstGeom>
          <a:noFill/>
          <a:ln/>
        </p:spPr>
        <p:txBody>
          <a:bodyPr wrap="none" lIns="0" tIns="0" rIns="0" bIns="0" rtlCol="0" anchor="ctr"/>
          <a:lstStyle/>
          <a:p>
            <a:pPr algn="ctr">
              <a:lnSpc>
                <a:spcPct val="100000"/>
              </a:lnSpc>
            </a:pPr>
            <a:r>
              <a:rPr lang="en-US" sz="3200" dirty="0">
                <a:solidFill>
                  <a:srgbClr val="D97706"/>
                </a:solidFill>
                <a:latin typeface="Liter" pitchFamily="34" charset="0"/>
                <a:ea typeface="Liter" pitchFamily="34" charset="-122"/>
                <a:cs typeface="Liter" pitchFamily="34" charset="-120"/>
              </a:rPr>
              <a:t>3</a:t>
            </a:r>
            <a:endParaRPr lang="en-US" sz="1600" dirty="0"/>
          </a:p>
        </p:txBody>
      </p:sp>
      <p:sp>
        <p:nvSpPr>
          <p:cNvPr id="13" name="Text 11"/>
          <p:cNvSpPr/>
          <p:nvPr/>
        </p:nvSpPr>
        <p:spPr>
          <a:xfrm>
            <a:off x="1651000" y="3556000"/>
            <a:ext cx="5969000" cy="1206500"/>
          </a:xfrm>
          <a:prstGeom prst="rect">
            <a:avLst/>
          </a:prstGeom>
          <a:noFill/>
          <a:ln/>
        </p:spPr>
        <p:txBody>
          <a:bodyPr wrap="square" lIns="0" tIns="0" rIns="0" bIns="0" rtlCol="0" anchor="t"/>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Wide-Ranging Applications</a:t>
            </a:r>
            <a:endParaRPr lang="en-US" sz="1600" dirty="0"/>
          </a:p>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AI spans Gaming, NLP, Expert Systems, Computer Vision, and Robotics — transforming industries.</a:t>
            </a:r>
            <a:endParaRPr lang="en-US" sz="1600" dirty="0"/>
          </a:p>
        </p:txBody>
      </p:sp>
      <p:sp>
        <p:nvSpPr>
          <p:cNvPr id="14" name="Shape 12"/>
          <p:cNvSpPr/>
          <p:nvPr/>
        </p:nvSpPr>
        <p:spPr>
          <a:xfrm>
            <a:off x="8382000" y="3365500"/>
            <a:ext cx="7112000" cy="1587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Text 13"/>
          <p:cNvSpPr/>
          <p:nvPr/>
        </p:nvSpPr>
        <p:spPr>
          <a:xfrm>
            <a:off x="8572500" y="3492500"/>
            <a:ext cx="635000" cy="508000"/>
          </a:xfrm>
          <a:prstGeom prst="rect">
            <a:avLst/>
          </a:prstGeom>
          <a:noFill/>
          <a:ln/>
        </p:spPr>
        <p:txBody>
          <a:bodyPr wrap="none" lIns="0" tIns="0" rIns="0" bIns="0" rtlCol="0" anchor="ctr"/>
          <a:lstStyle/>
          <a:p>
            <a:pPr algn="ctr">
              <a:lnSpc>
                <a:spcPct val="100000"/>
              </a:lnSpc>
            </a:pPr>
            <a:r>
              <a:rPr lang="en-US" sz="3200" dirty="0">
                <a:solidFill>
                  <a:srgbClr val="D97706"/>
                </a:solidFill>
                <a:latin typeface="Liter" pitchFamily="34" charset="0"/>
                <a:ea typeface="Liter" pitchFamily="34" charset="-122"/>
                <a:cs typeface="Liter" pitchFamily="34" charset="-120"/>
              </a:rPr>
              <a:t>4</a:t>
            </a:r>
            <a:endParaRPr lang="en-US" sz="1600" dirty="0"/>
          </a:p>
        </p:txBody>
      </p:sp>
      <p:sp>
        <p:nvSpPr>
          <p:cNvPr id="16" name="Text 14"/>
          <p:cNvSpPr/>
          <p:nvPr/>
        </p:nvSpPr>
        <p:spPr>
          <a:xfrm>
            <a:off x="9271000" y="3556000"/>
            <a:ext cx="5969000" cy="1206500"/>
          </a:xfrm>
          <a:prstGeom prst="rect">
            <a:avLst/>
          </a:prstGeom>
          <a:noFill/>
          <a:ln/>
        </p:spPr>
        <p:txBody>
          <a:bodyPr wrap="square" lIns="0" tIns="0" rIns="0" bIns="0" rtlCol="0" anchor="t"/>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Interdisciplinary Convergence</a:t>
            </a:r>
            <a:endParaRPr lang="en-US" sz="1600" dirty="0"/>
          </a:p>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Understanding these foundations is crucial for designing effective AI solutions.</a:t>
            </a:r>
            <a:endParaRPr lang="en-US" sz="1600" dirty="0"/>
          </a:p>
        </p:txBody>
      </p:sp>
      <p:sp>
        <p:nvSpPr>
          <p:cNvPr id="17" name="Shape 15"/>
          <p:cNvSpPr/>
          <p:nvPr/>
        </p:nvSpPr>
        <p:spPr>
          <a:xfrm>
            <a:off x="762000" y="5461000"/>
            <a:ext cx="14732000" cy="2540000"/>
          </a:xfrm>
          <a:prstGeom prst="rect">
            <a:avLst/>
          </a:prstGeom>
          <a:solidFill>
            <a:srgbClr val="0F4C5C"/>
          </a:solidFill>
          <a:ln/>
        </p:spPr>
      </p:sp>
      <p:sp>
        <p:nvSpPr>
          <p:cNvPr id="18" name="Shape 16"/>
          <p:cNvSpPr/>
          <p:nvPr/>
        </p:nvSpPr>
        <p:spPr>
          <a:xfrm>
            <a:off x="1143000" y="6032500"/>
            <a:ext cx="457200" cy="457200"/>
          </a:xfrm>
          <a:custGeom>
            <a:avLst/>
            <a:gdLst/>
            <a:ahLst/>
            <a:cxnLst/>
            <a:rect l="l" t="t" r="r" b="b"/>
            <a:pathLst>
              <a:path w="457200" h="457200">
                <a:moveTo>
                  <a:pt x="448806" y="248781"/>
                </a:moveTo>
                <a:cubicBezTo>
                  <a:pt x="459968" y="237619"/>
                  <a:pt x="459968" y="219492"/>
                  <a:pt x="448806" y="208330"/>
                </a:cubicBezTo>
                <a:lnTo>
                  <a:pt x="305931" y="65455"/>
                </a:lnTo>
                <a:cubicBezTo>
                  <a:pt x="294769" y="54293"/>
                  <a:pt x="276642" y="54293"/>
                  <a:pt x="265480" y="65455"/>
                </a:cubicBezTo>
                <a:cubicBezTo>
                  <a:pt x="254318" y="76617"/>
                  <a:pt x="254318" y="94744"/>
                  <a:pt x="265480" y="105906"/>
                </a:cubicBezTo>
                <a:lnTo>
                  <a:pt x="359599" y="200025"/>
                </a:lnTo>
                <a:lnTo>
                  <a:pt x="28575" y="200025"/>
                </a:lnTo>
                <a:cubicBezTo>
                  <a:pt x="12769" y="200025"/>
                  <a:pt x="0" y="212794"/>
                  <a:pt x="0" y="228600"/>
                </a:cubicBezTo>
                <a:cubicBezTo>
                  <a:pt x="0" y="244406"/>
                  <a:pt x="12769" y="257175"/>
                  <a:pt x="28575" y="257175"/>
                </a:cubicBezTo>
                <a:lnTo>
                  <a:pt x="359599" y="257175"/>
                </a:lnTo>
                <a:lnTo>
                  <a:pt x="265480" y="351294"/>
                </a:lnTo>
                <a:cubicBezTo>
                  <a:pt x="254317" y="362456"/>
                  <a:pt x="254317" y="380583"/>
                  <a:pt x="265480" y="391745"/>
                </a:cubicBezTo>
                <a:cubicBezTo>
                  <a:pt x="276642" y="402908"/>
                  <a:pt x="294769" y="402908"/>
                  <a:pt x="305931" y="391745"/>
                </a:cubicBezTo>
                <a:lnTo>
                  <a:pt x="448806" y="248870"/>
                </a:lnTo>
                <a:close/>
              </a:path>
            </a:pathLst>
          </a:custGeom>
          <a:solidFill>
            <a:srgbClr val="D97706"/>
          </a:solidFill>
          <a:ln/>
        </p:spPr>
      </p:sp>
      <p:sp>
        <p:nvSpPr>
          <p:cNvPr id="19" name="Text 17"/>
          <p:cNvSpPr/>
          <p:nvPr/>
        </p:nvSpPr>
        <p:spPr>
          <a:xfrm>
            <a:off x="1778000" y="5778500"/>
            <a:ext cx="5080000" cy="304800"/>
          </a:xfrm>
          <a:prstGeom prst="rect">
            <a:avLst/>
          </a:prstGeom>
          <a:noFill/>
          <a:ln/>
        </p:spPr>
        <p:txBody>
          <a:bodyPr wrap="none" lIns="0" tIns="0" rIns="0" bIns="0" rtlCol="0" anchor="ctr"/>
          <a:lstStyle/>
          <a:p>
            <a:pPr>
              <a:lnSpc>
                <a:spcPct val="120000"/>
              </a:lnSpc>
            </a:pPr>
            <a:r>
              <a:rPr lang="en-US" sz="1400" spc="200" kern="0" dirty="0">
                <a:solidFill>
                  <a:srgbClr val="FFFFFF">
                    <a:alpha val="50196"/>
                  </a:srgbClr>
                </a:solidFill>
                <a:latin typeface="Liter" pitchFamily="34" charset="0"/>
                <a:ea typeface="Liter" pitchFamily="34" charset="-122"/>
                <a:cs typeface="Liter" pitchFamily="34" charset="-120"/>
              </a:rPr>
              <a:t>COMING UP NEXT</a:t>
            </a:r>
            <a:endParaRPr lang="en-US" sz="1400" dirty="0"/>
          </a:p>
        </p:txBody>
      </p:sp>
      <p:sp>
        <p:nvSpPr>
          <p:cNvPr id="20" name="Text 18"/>
          <p:cNvSpPr/>
          <p:nvPr/>
        </p:nvSpPr>
        <p:spPr>
          <a:xfrm>
            <a:off x="1778000" y="6159500"/>
            <a:ext cx="6350000" cy="457200"/>
          </a:xfrm>
          <a:prstGeom prst="rect">
            <a:avLst/>
          </a:prstGeom>
          <a:noFill/>
          <a:ln/>
        </p:spPr>
        <p:txBody>
          <a:bodyPr wrap="none" lIns="0" tIns="0" rIns="0" bIns="0" rtlCol="0" anchor="ctr"/>
          <a:lstStyle/>
          <a:p>
            <a:pPr>
              <a:lnSpc>
                <a:spcPct val="100000"/>
              </a:lnSpc>
            </a:pPr>
            <a:r>
              <a:rPr lang="en-US" sz="2600" dirty="0">
                <a:solidFill>
                  <a:srgbClr val="FFFFFF"/>
                </a:solidFill>
                <a:latin typeface="Liter" pitchFamily="34" charset="0"/>
                <a:ea typeface="Liter" pitchFamily="34" charset="-122"/>
                <a:cs typeface="Liter" pitchFamily="34" charset="-120"/>
              </a:rPr>
              <a:t>Lecture 4: Artificial Agents</a:t>
            </a:r>
            <a:endParaRPr lang="en-US" sz="1600" dirty="0"/>
          </a:p>
        </p:txBody>
      </p:sp>
      <p:sp>
        <p:nvSpPr>
          <p:cNvPr id="21" name="Text 19"/>
          <p:cNvSpPr/>
          <p:nvPr/>
        </p:nvSpPr>
        <p:spPr>
          <a:xfrm>
            <a:off x="1778000" y="6731000"/>
            <a:ext cx="13335000" cy="1016000"/>
          </a:xfrm>
          <a:prstGeom prst="rect">
            <a:avLst/>
          </a:prstGeom>
          <a:noFill/>
          <a:ln/>
        </p:spPr>
        <p:txBody>
          <a:bodyPr wrap="square" lIns="0" tIns="0" rIns="0" bIns="0" rtlCol="0" anchor="t"/>
          <a:lstStyle/>
          <a:p>
            <a:pPr>
              <a:lnSpc>
                <a:spcPct val="15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We will explore intelligent agents, the PEAS framework, rationality vs. omniscience, and the five types of agent programs that form the building blocks of AI systems.</a:t>
            </a:r>
            <a:endParaRPr lang="en-US" sz="1600" dirty="0"/>
          </a:p>
        </p:txBody>
      </p:sp>
      <p:sp>
        <p:nvSpPr>
          <p:cNvPr id="22" name="Text 20"/>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3" name="Text 21"/>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16</a:t>
            </a:r>
            <a:endParaRPr lang="en-US" sz="14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ttps://kimi-img.moonshot.cn/pub/slides/okc/2l36pdkpmxwlu/mnt/agents/output/ai-course-week2/images/8_Futuristic_Digital_Humanoid_Robot.png">    </p:cNvPr>
          <p:cNvPicPr>
            <a:picLocks noChangeAspect="1"/>
          </p:cNvPicPr>
          <p:nvPr/>
        </p:nvPicPr>
        <p:blipFill>
          <a:blip r:embed="rId1"/>
          <a:srcRect l="44" r="44"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3D4A">
                  <a:alpha val="94000"/>
                </a:srgbClr>
              </a:gs>
              <a:gs pos="55000">
                <a:srgbClr val="0A3D4A">
                  <a:alpha val="82000"/>
                </a:srgbClr>
              </a:gs>
              <a:gs pos="100000">
                <a:srgbClr val="0A3D4A">
                  <a:alpha val="50000"/>
                </a:srgbClr>
              </a:gs>
            </a:gsLst>
            <a:lin ang="0" scaled="1"/>
          </a:gradFill>
          <a:ln w="12700">
            <a:solidFill>
              <a:srgbClr val="333333"/>
            </a:solidFill>
            <a:prstDash val="solid"/>
          </a:ln>
        </p:spPr>
      </p:sp>
      <p:sp>
        <p:nvSpPr>
          <p:cNvPr id="4" name="Text 1"/>
          <p:cNvSpPr/>
          <p:nvPr/>
        </p:nvSpPr>
        <p:spPr>
          <a:xfrm>
            <a:off x="508000" y="1270000"/>
            <a:ext cx="5080000" cy="2286000"/>
          </a:xfrm>
          <a:prstGeom prst="rect">
            <a:avLst/>
          </a:prstGeom>
          <a:noFill/>
          <a:ln/>
        </p:spPr>
        <p:txBody>
          <a:bodyPr wrap="none" lIns="0" tIns="0" rIns="0" bIns="0" rtlCol="0" anchor="ctr"/>
          <a:lstStyle/>
          <a:p>
            <a:pPr>
              <a:lnSpc>
                <a:spcPct val="100000"/>
              </a:lnSpc>
            </a:pPr>
            <a:r>
              <a:rPr lang="en-US" sz="16000" dirty="0">
                <a:solidFill>
                  <a:srgbClr val="FFFFFF">
                    <a:alpha val="6275"/>
                  </a:srgbClr>
                </a:solidFill>
                <a:latin typeface="Liter" pitchFamily="34" charset="0"/>
                <a:ea typeface="Liter" pitchFamily="34" charset="-122"/>
                <a:cs typeface="Liter" pitchFamily="34" charset="-120"/>
              </a:rPr>
              <a:t>04</a:t>
            </a:r>
            <a:endParaRPr lang="en-US" sz="1600" dirty="0"/>
          </a:p>
        </p:txBody>
      </p:sp>
      <p:sp>
        <p:nvSpPr>
          <p:cNvPr id="5" name="Text 2"/>
          <p:cNvSpPr/>
          <p:nvPr/>
        </p:nvSpPr>
        <p:spPr>
          <a:xfrm>
            <a:off x="762000" y="3302000"/>
            <a:ext cx="2540000" cy="279400"/>
          </a:xfrm>
          <a:prstGeom prst="rect">
            <a:avLst/>
          </a:prstGeom>
          <a:noFill/>
          <a:ln/>
        </p:spPr>
        <p:txBody>
          <a:bodyPr wrap="none" lIns="0" tIns="0" rIns="0" bIns="0" rtlCol="0" anchor="ctr"/>
          <a:lstStyle/>
          <a:p>
            <a:pPr>
              <a:lnSpc>
                <a:spcPct val="120000"/>
              </a:lnSpc>
            </a:pPr>
            <a:r>
              <a:rPr lang="en-US" sz="1400" spc="200" kern="0" dirty="0">
                <a:solidFill>
                  <a:srgbClr val="FFFFFF">
                    <a:alpha val="50196"/>
                  </a:srgbClr>
                </a:solidFill>
                <a:latin typeface="Liter" pitchFamily="34" charset="0"/>
                <a:ea typeface="Liter" pitchFamily="34" charset="-122"/>
                <a:cs typeface="Liter" pitchFamily="34" charset="-120"/>
              </a:rPr>
              <a:t>LECTURE</a:t>
            </a:r>
            <a:endParaRPr lang="en-US" sz="1400" dirty="0"/>
          </a:p>
        </p:txBody>
      </p:sp>
      <p:sp>
        <p:nvSpPr>
          <p:cNvPr id="6" name="Shape 3"/>
          <p:cNvSpPr/>
          <p:nvPr/>
        </p:nvSpPr>
        <p:spPr>
          <a:xfrm>
            <a:off x="762000" y="3746500"/>
            <a:ext cx="1016000" cy="38100"/>
          </a:xfrm>
          <a:prstGeom prst="rect">
            <a:avLst/>
          </a:prstGeom>
          <a:solidFill>
            <a:srgbClr val="D97706"/>
          </a:solidFill>
          <a:ln/>
        </p:spPr>
      </p:sp>
      <p:sp>
        <p:nvSpPr>
          <p:cNvPr id="7" name="Text 4"/>
          <p:cNvSpPr/>
          <p:nvPr/>
        </p:nvSpPr>
        <p:spPr>
          <a:xfrm>
            <a:off x="762000" y="4000500"/>
            <a:ext cx="8890000" cy="698500"/>
          </a:xfrm>
          <a:prstGeom prst="rect">
            <a:avLst/>
          </a:prstGeom>
          <a:noFill/>
          <a:ln/>
        </p:spPr>
        <p:txBody>
          <a:bodyPr wrap="none" lIns="0" tIns="0" rIns="0" bIns="0" rtlCol="0" anchor="ctr"/>
          <a:lstStyle/>
          <a:p>
            <a:pPr>
              <a:lnSpc>
                <a:spcPct val="100000"/>
              </a:lnSpc>
            </a:pPr>
            <a:r>
              <a:rPr lang="en-US" sz="4000" dirty="0">
                <a:solidFill>
                  <a:srgbClr val="FFFFFF"/>
                </a:solidFill>
                <a:latin typeface="Liter" pitchFamily="34" charset="0"/>
                <a:ea typeface="Liter" pitchFamily="34" charset="-122"/>
                <a:cs typeface="Liter" pitchFamily="34" charset="-120"/>
              </a:rPr>
              <a:t>Artificial Agents</a:t>
            </a:r>
            <a:endParaRPr lang="en-US" sz="1600" dirty="0"/>
          </a:p>
        </p:txBody>
      </p:sp>
      <p:sp>
        <p:nvSpPr>
          <p:cNvPr id="8" name="Text 5"/>
          <p:cNvSpPr/>
          <p:nvPr/>
        </p:nvSpPr>
        <p:spPr>
          <a:xfrm>
            <a:off x="762000" y="4889500"/>
            <a:ext cx="7620000" cy="889000"/>
          </a:xfrm>
          <a:prstGeom prst="rect">
            <a:avLst/>
          </a:prstGeom>
          <a:noFill/>
          <a:ln/>
        </p:spPr>
        <p:txBody>
          <a:bodyPr wrap="square" lIns="0" tIns="0" rIns="0" bIns="0" rtlCol="0" anchor="t"/>
          <a:lstStyle/>
          <a:p>
            <a:pPr>
              <a:lnSpc>
                <a:spcPct val="140000"/>
              </a:lnSpc>
            </a:pPr>
            <a:r>
              <a:rPr lang="en-US" sz="1800" dirty="0">
                <a:solidFill>
                  <a:srgbClr val="FFFFFF">
                    <a:alpha val="80000"/>
                  </a:srgbClr>
                </a:solidFill>
                <a:latin typeface="QuattrocentoSans" pitchFamily="34" charset="0"/>
                <a:ea typeface="QuattrocentoSans" pitchFamily="34" charset="-122"/>
                <a:cs typeface="QuattrocentoSans" pitchFamily="34" charset="-120"/>
              </a:rPr>
              <a:t>Understanding intelligent agents, their structure, rationality, and types of agent programs</a:t>
            </a:r>
            <a:endParaRPr lang="en-US" sz="22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What is an Artificial Agent?</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33500"/>
            <a:ext cx="14732000" cy="1270000"/>
          </a:xfrm>
          <a:prstGeom prst="rect">
            <a:avLst/>
          </a:prstGeom>
          <a:solidFill>
            <a:srgbClr val="0F4C5C"/>
          </a:solidFill>
          <a:ln/>
        </p:spPr>
      </p:sp>
      <p:sp>
        <p:nvSpPr>
          <p:cNvPr id="6" name="Shape 4"/>
          <p:cNvSpPr/>
          <p:nvPr/>
        </p:nvSpPr>
        <p:spPr>
          <a:xfrm>
            <a:off x="1108075" y="1651000"/>
            <a:ext cx="400050" cy="457200"/>
          </a:xfrm>
          <a:custGeom>
            <a:avLst/>
            <a:gdLst/>
            <a:ahLst/>
            <a:cxnLst/>
            <a:rect l="l" t="t" r="r" b="b"/>
            <a:pathLst>
              <a:path w="400050" h="457200">
                <a:moveTo>
                  <a:pt x="0" y="192881"/>
                </a:moveTo>
                <a:cubicBezTo>
                  <a:pt x="0" y="133677"/>
                  <a:pt x="47952" y="85725"/>
                  <a:pt x="107156" y="85725"/>
                </a:cubicBezTo>
                <a:lnTo>
                  <a:pt x="114300" y="85725"/>
                </a:lnTo>
                <a:cubicBezTo>
                  <a:pt x="130106" y="85725"/>
                  <a:pt x="142875" y="98494"/>
                  <a:pt x="142875" y="114300"/>
                </a:cubicBezTo>
                <a:cubicBezTo>
                  <a:pt x="142875" y="130106"/>
                  <a:pt x="130106" y="142875"/>
                  <a:pt x="114300" y="142875"/>
                </a:cubicBezTo>
                <a:lnTo>
                  <a:pt x="107156" y="142875"/>
                </a:lnTo>
                <a:cubicBezTo>
                  <a:pt x="79564" y="142875"/>
                  <a:pt x="57150" y="165289"/>
                  <a:pt x="57150" y="192881"/>
                </a:cubicBezTo>
                <a:lnTo>
                  <a:pt x="57150" y="200025"/>
                </a:lnTo>
                <a:lnTo>
                  <a:pt x="114300" y="200025"/>
                </a:lnTo>
                <a:cubicBezTo>
                  <a:pt x="145822" y="200025"/>
                  <a:pt x="171450" y="225653"/>
                  <a:pt x="171450" y="257175"/>
                </a:cubicBezTo>
                <a:lnTo>
                  <a:pt x="171450" y="314325"/>
                </a:lnTo>
                <a:cubicBezTo>
                  <a:pt x="171450" y="345847"/>
                  <a:pt x="145822" y="371475"/>
                  <a:pt x="114300" y="371475"/>
                </a:cubicBezTo>
                <a:lnTo>
                  <a:pt x="57150" y="371475"/>
                </a:lnTo>
                <a:cubicBezTo>
                  <a:pt x="25628" y="371475"/>
                  <a:pt x="0" y="345847"/>
                  <a:pt x="0" y="314325"/>
                </a:cubicBezTo>
                <a:lnTo>
                  <a:pt x="0" y="192881"/>
                </a:lnTo>
                <a:close/>
                <a:moveTo>
                  <a:pt x="228600" y="192881"/>
                </a:moveTo>
                <a:cubicBezTo>
                  <a:pt x="228600" y="133677"/>
                  <a:pt x="276552" y="85725"/>
                  <a:pt x="335756" y="85725"/>
                </a:cubicBezTo>
                <a:lnTo>
                  <a:pt x="342900" y="85725"/>
                </a:lnTo>
                <a:cubicBezTo>
                  <a:pt x="358706" y="85725"/>
                  <a:pt x="371475" y="98494"/>
                  <a:pt x="371475" y="114300"/>
                </a:cubicBezTo>
                <a:cubicBezTo>
                  <a:pt x="371475" y="130106"/>
                  <a:pt x="358706" y="142875"/>
                  <a:pt x="342900" y="142875"/>
                </a:cubicBezTo>
                <a:lnTo>
                  <a:pt x="335756" y="142875"/>
                </a:lnTo>
                <a:cubicBezTo>
                  <a:pt x="308164" y="142875"/>
                  <a:pt x="285750" y="165289"/>
                  <a:pt x="285750" y="192881"/>
                </a:cubicBezTo>
                <a:lnTo>
                  <a:pt x="285750" y="200025"/>
                </a:lnTo>
                <a:lnTo>
                  <a:pt x="342900" y="200025"/>
                </a:lnTo>
                <a:cubicBezTo>
                  <a:pt x="374422" y="200025"/>
                  <a:pt x="400050" y="225653"/>
                  <a:pt x="400050" y="257175"/>
                </a:cubicBezTo>
                <a:lnTo>
                  <a:pt x="400050" y="314325"/>
                </a:lnTo>
                <a:cubicBezTo>
                  <a:pt x="400050" y="345847"/>
                  <a:pt x="374422" y="371475"/>
                  <a:pt x="342900" y="371475"/>
                </a:cubicBezTo>
                <a:lnTo>
                  <a:pt x="285750" y="371475"/>
                </a:lnTo>
                <a:cubicBezTo>
                  <a:pt x="254228" y="371475"/>
                  <a:pt x="228600" y="345847"/>
                  <a:pt x="228600" y="314325"/>
                </a:cubicBezTo>
                <a:lnTo>
                  <a:pt x="228600" y="192881"/>
                </a:lnTo>
                <a:close/>
              </a:path>
            </a:pathLst>
          </a:custGeom>
          <a:solidFill>
            <a:srgbClr val="D97706"/>
          </a:solidFill>
          <a:ln/>
        </p:spPr>
      </p:sp>
      <p:sp>
        <p:nvSpPr>
          <p:cNvPr id="7" name="Text 5"/>
          <p:cNvSpPr/>
          <p:nvPr/>
        </p:nvSpPr>
        <p:spPr>
          <a:xfrm>
            <a:off x="1714500" y="1460500"/>
            <a:ext cx="13462000" cy="1016000"/>
          </a:xfrm>
          <a:prstGeom prst="rect">
            <a:avLst/>
          </a:prstGeom>
          <a:noFill/>
          <a:ln/>
        </p:spPr>
        <p:txBody>
          <a:bodyPr wrap="square" lIns="0" tIns="0" rIns="0" bIns="0" rtlCol="0" anchor="ctr"/>
          <a:lstStyle/>
          <a:p>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An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agent</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is anything that can be viewed as perceiving its environment through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sensors</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and acting upon that environment through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actuators</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8" name="Shape 6"/>
          <p:cNvSpPr/>
          <p:nvPr/>
        </p:nvSpPr>
        <p:spPr>
          <a:xfrm>
            <a:off x="762000" y="2921000"/>
            <a:ext cx="14732000" cy="762000"/>
          </a:xfrm>
          <a:prstGeom prst="rect">
            <a:avLst/>
          </a:prstGeom>
          <a:solidFill>
            <a:srgbClr val="E0F2F1"/>
          </a:solidFill>
          <a:ln/>
        </p:spPr>
      </p:sp>
      <p:sp>
        <p:nvSpPr>
          <p:cNvPr id="9" name="Text 7"/>
          <p:cNvSpPr/>
          <p:nvPr/>
        </p:nvSpPr>
        <p:spPr>
          <a:xfrm>
            <a:off x="1016000" y="2984500"/>
            <a:ext cx="14224000" cy="635000"/>
          </a:xfrm>
          <a:prstGeom prst="rect">
            <a:avLst/>
          </a:prstGeom>
          <a:noFill/>
          <a:ln/>
        </p:spPr>
        <p:txBody>
          <a:bodyPr wrap="none" lIns="0" tIns="0" rIns="0" bIns="0" rtlCol="0" anchor="ctr"/>
          <a:lstStyle/>
          <a:p>
            <a:pPr algn="ctr">
              <a:lnSpc>
                <a:spcPct val="100000"/>
              </a:lnSpc>
            </a:pPr>
            <a:r>
              <a:rPr lang="en-US" sz="2000" dirty="0">
                <a:solidFill>
                  <a:srgbClr val="0F4C5C"/>
                </a:solidFill>
                <a:latin typeface="Liter" pitchFamily="34" charset="0"/>
                <a:ea typeface="Liter" pitchFamily="34" charset="-122"/>
                <a:cs typeface="Liter" pitchFamily="34" charset="-120"/>
              </a:rPr>
              <a:t>Agent = Architecture + Program | Agent Function: f: P* → A</a:t>
            </a:r>
            <a:endParaRPr lang="en-US" sz="1600" dirty="0"/>
          </a:p>
        </p:txBody>
      </p:sp>
      <p:sp>
        <p:nvSpPr>
          <p:cNvPr id="10" name="Text 8"/>
          <p:cNvSpPr/>
          <p:nvPr/>
        </p:nvSpPr>
        <p:spPr>
          <a:xfrm>
            <a:off x="762000" y="4064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EXAMPLES OF AGENTS</a:t>
            </a:r>
            <a:endParaRPr lang="en-US" sz="1400" dirty="0"/>
          </a:p>
        </p:txBody>
      </p:sp>
      <p:sp>
        <p:nvSpPr>
          <p:cNvPr id="11" name="Shape 9"/>
          <p:cNvSpPr/>
          <p:nvPr/>
        </p:nvSpPr>
        <p:spPr>
          <a:xfrm>
            <a:off x="762000" y="4572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Shape 10"/>
          <p:cNvSpPr/>
          <p:nvPr/>
        </p:nvSpPr>
        <p:spPr>
          <a:xfrm>
            <a:off x="1073150" y="4826000"/>
            <a:ext cx="342900" cy="457200"/>
          </a:xfrm>
          <a:custGeom>
            <a:avLst/>
            <a:gdLst/>
            <a:ahLst/>
            <a:cxnLst/>
            <a:rect l="l" t="t" r="r" b="b"/>
            <a:pathLst>
              <a:path w="342900" h="457200">
                <a:moveTo>
                  <a:pt x="221456" y="21431"/>
                </a:moveTo>
                <a:cubicBezTo>
                  <a:pt x="221456" y="-6168"/>
                  <a:pt x="199049" y="-28575"/>
                  <a:pt x="171450" y="-28575"/>
                </a:cubicBezTo>
                <a:cubicBezTo>
                  <a:pt x="143851" y="-28575"/>
                  <a:pt x="121444" y="-6168"/>
                  <a:pt x="121444" y="21431"/>
                </a:cubicBezTo>
                <a:cubicBezTo>
                  <a:pt x="121444" y="49030"/>
                  <a:pt x="143851" y="71437"/>
                  <a:pt x="171450" y="71438"/>
                </a:cubicBezTo>
                <a:cubicBezTo>
                  <a:pt x="199049" y="71438"/>
                  <a:pt x="221456" y="49030"/>
                  <a:pt x="221456" y="21431"/>
                </a:cubicBezTo>
                <a:close/>
                <a:moveTo>
                  <a:pt x="242888" y="211366"/>
                </a:moveTo>
                <a:lnTo>
                  <a:pt x="284232" y="267087"/>
                </a:lnTo>
                <a:cubicBezTo>
                  <a:pt x="293608" y="279767"/>
                  <a:pt x="311557" y="282446"/>
                  <a:pt x="324237" y="272981"/>
                </a:cubicBezTo>
                <a:cubicBezTo>
                  <a:pt x="336917" y="263515"/>
                  <a:pt x="339596" y="245656"/>
                  <a:pt x="330131" y="232976"/>
                </a:cubicBezTo>
                <a:lnTo>
                  <a:pt x="267176" y="148144"/>
                </a:lnTo>
                <a:cubicBezTo>
                  <a:pt x="244673" y="117872"/>
                  <a:pt x="209223" y="100013"/>
                  <a:pt x="171450" y="100013"/>
                </a:cubicBezTo>
                <a:cubicBezTo>
                  <a:pt x="133677" y="100013"/>
                  <a:pt x="98227" y="117872"/>
                  <a:pt x="75724" y="148144"/>
                </a:cubicBezTo>
                <a:lnTo>
                  <a:pt x="12769" y="232976"/>
                </a:lnTo>
                <a:cubicBezTo>
                  <a:pt x="3393" y="245656"/>
                  <a:pt x="5983" y="263515"/>
                  <a:pt x="18663" y="272981"/>
                </a:cubicBezTo>
                <a:cubicBezTo>
                  <a:pt x="31343" y="282446"/>
                  <a:pt x="49203" y="279767"/>
                  <a:pt x="58668" y="267087"/>
                </a:cubicBezTo>
                <a:lnTo>
                  <a:pt x="100013" y="211366"/>
                </a:lnTo>
                <a:lnTo>
                  <a:pt x="100013" y="457200"/>
                </a:lnTo>
                <a:cubicBezTo>
                  <a:pt x="100013" y="473006"/>
                  <a:pt x="112782" y="485775"/>
                  <a:pt x="128588" y="485775"/>
                </a:cubicBezTo>
                <a:cubicBezTo>
                  <a:pt x="144393" y="485775"/>
                  <a:pt x="157163" y="473006"/>
                  <a:pt x="157163" y="457200"/>
                </a:cubicBezTo>
                <a:lnTo>
                  <a:pt x="157163" y="314325"/>
                </a:lnTo>
                <a:cubicBezTo>
                  <a:pt x="157163" y="306467"/>
                  <a:pt x="163592" y="300038"/>
                  <a:pt x="171450" y="300038"/>
                </a:cubicBezTo>
                <a:cubicBezTo>
                  <a:pt x="179308" y="300038"/>
                  <a:pt x="185738" y="306467"/>
                  <a:pt x="185738" y="314325"/>
                </a:cubicBezTo>
                <a:lnTo>
                  <a:pt x="185738" y="457200"/>
                </a:lnTo>
                <a:cubicBezTo>
                  <a:pt x="185738" y="473006"/>
                  <a:pt x="198507" y="485775"/>
                  <a:pt x="214313" y="485775"/>
                </a:cubicBezTo>
                <a:cubicBezTo>
                  <a:pt x="230118" y="485775"/>
                  <a:pt x="242888" y="473006"/>
                  <a:pt x="242888" y="457200"/>
                </a:cubicBezTo>
                <a:lnTo>
                  <a:pt x="242888" y="211366"/>
                </a:lnTo>
                <a:close/>
              </a:path>
            </a:pathLst>
          </a:custGeom>
          <a:solidFill>
            <a:srgbClr val="0F4C5C"/>
          </a:solidFill>
          <a:ln/>
        </p:spPr>
      </p:sp>
      <p:sp>
        <p:nvSpPr>
          <p:cNvPr id="13" name="Text 11"/>
          <p:cNvSpPr/>
          <p:nvPr/>
        </p:nvSpPr>
        <p:spPr>
          <a:xfrm>
            <a:off x="1016000" y="5435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Human Agent</a:t>
            </a:r>
            <a:endParaRPr lang="en-US" sz="1600" dirty="0"/>
          </a:p>
        </p:txBody>
      </p:sp>
      <p:sp>
        <p:nvSpPr>
          <p:cNvPr id="14" name="Text 12"/>
          <p:cNvSpPr/>
          <p:nvPr/>
        </p:nvSpPr>
        <p:spPr>
          <a:xfrm>
            <a:off x="1016000" y="5867400"/>
            <a:ext cx="4191000" cy="1778000"/>
          </a:xfrm>
          <a:prstGeom prst="rect">
            <a:avLst/>
          </a:prstGeom>
          <a:noFill/>
          <a:ln/>
        </p:spPr>
        <p:txBody>
          <a:bodyPr wrap="square" lIns="0" tIns="0" rIns="0" bIns="0" rtlCol="0" anchor="t"/>
          <a:lstStyle/>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Sensors: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Eyes, ears, skin</a:t>
            </a:r>
            <a:endParaRPr lang="en-US" sz="1600" dirty="0"/>
          </a:p>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Actuators: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Hands, legs, voice</a:t>
            </a:r>
            <a:endParaRPr lang="en-US" sz="1600" dirty="0"/>
          </a:p>
          <a:p>
            <a:pPr>
              <a:lnSpc>
                <a:spcPct val="150000"/>
              </a:lnSpc>
              <a:spcBef>
                <a:spcPts val="800"/>
              </a:spcBef>
            </a:pPr>
            <a:r>
              <a:rPr lang="en-US" sz="1500" dirty="0">
                <a:solidFill>
                  <a:srgbClr val="64748B"/>
                </a:solidFill>
                <a:latin typeface="Quattrocento Sans" pitchFamily="34" charset="0"/>
                <a:ea typeface="Quattrocento Sans" pitchFamily="34" charset="-122"/>
                <a:cs typeface="Quattrocento Sans" pitchFamily="34" charset="-120"/>
              </a:rPr>
              <a:t>The original model for intelligent behavior</a:t>
            </a:r>
            <a:endParaRPr lang="en-US" sz="1600" dirty="0"/>
          </a:p>
        </p:txBody>
      </p:sp>
      <p:sp>
        <p:nvSpPr>
          <p:cNvPr id="15" name="Shape 13"/>
          <p:cNvSpPr/>
          <p:nvPr/>
        </p:nvSpPr>
        <p:spPr>
          <a:xfrm>
            <a:off x="5778500" y="4572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6" name="Shape 14"/>
          <p:cNvSpPr/>
          <p:nvPr/>
        </p:nvSpPr>
        <p:spPr>
          <a:xfrm>
            <a:off x="5975350" y="4826000"/>
            <a:ext cx="571500" cy="457200"/>
          </a:xfrm>
          <a:custGeom>
            <a:avLst/>
            <a:gdLst/>
            <a:ahLst/>
            <a:cxnLst/>
            <a:rect l="l" t="t" r="r" b="b"/>
            <a:pathLst>
              <a:path w="571500" h="457200">
                <a:moveTo>
                  <a:pt x="314325" y="0"/>
                </a:moveTo>
                <a:cubicBezTo>
                  <a:pt x="314325" y="-15806"/>
                  <a:pt x="301556" y="-28575"/>
                  <a:pt x="285750" y="-28575"/>
                </a:cubicBezTo>
                <a:cubicBezTo>
                  <a:pt x="269944" y="-28575"/>
                  <a:pt x="257175" y="-15806"/>
                  <a:pt x="257175" y="0"/>
                </a:cubicBezTo>
                <a:lnTo>
                  <a:pt x="257175" y="57150"/>
                </a:lnTo>
                <a:lnTo>
                  <a:pt x="171450" y="57150"/>
                </a:lnTo>
                <a:cubicBezTo>
                  <a:pt x="124123" y="57150"/>
                  <a:pt x="85725" y="95548"/>
                  <a:pt x="85725" y="142875"/>
                </a:cubicBezTo>
                <a:lnTo>
                  <a:pt x="85725" y="342900"/>
                </a:lnTo>
                <a:cubicBezTo>
                  <a:pt x="85725" y="390227"/>
                  <a:pt x="124123" y="428625"/>
                  <a:pt x="171450" y="428625"/>
                </a:cubicBezTo>
                <a:lnTo>
                  <a:pt x="400050" y="428625"/>
                </a:lnTo>
                <a:cubicBezTo>
                  <a:pt x="447377" y="428625"/>
                  <a:pt x="485775" y="390227"/>
                  <a:pt x="485775" y="342900"/>
                </a:cubicBezTo>
                <a:lnTo>
                  <a:pt x="485775" y="142875"/>
                </a:lnTo>
                <a:cubicBezTo>
                  <a:pt x="485775" y="95548"/>
                  <a:pt x="447377" y="57150"/>
                  <a:pt x="400050" y="57150"/>
                </a:cubicBezTo>
                <a:lnTo>
                  <a:pt x="314325" y="57150"/>
                </a:lnTo>
                <a:lnTo>
                  <a:pt x="314325" y="0"/>
                </a:lnTo>
                <a:close/>
                <a:moveTo>
                  <a:pt x="142875" y="328613"/>
                </a:moveTo>
                <a:cubicBezTo>
                  <a:pt x="142875" y="316736"/>
                  <a:pt x="152430" y="307181"/>
                  <a:pt x="164306" y="307181"/>
                </a:cubicBezTo>
                <a:lnTo>
                  <a:pt x="192881" y="307181"/>
                </a:lnTo>
                <a:cubicBezTo>
                  <a:pt x="204758" y="307181"/>
                  <a:pt x="214313" y="316736"/>
                  <a:pt x="214313" y="328613"/>
                </a:cubicBezTo>
                <a:cubicBezTo>
                  <a:pt x="214313" y="340489"/>
                  <a:pt x="204758" y="350044"/>
                  <a:pt x="192881" y="350044"/>
                </a:cubicBezTo>
                <a:lnTo>
                  <a:pt x="164306" y="350044"/>
                </a:lnTo>
                <a:cubicBezTo>
                  <a:pt x="152430" y="350044"/>
                  <a:pt x="142875" y="340489"/>
                  <a:pt x="142875" y="328613"/>
                </a:cubicBezTo>
                <a:close/>
                <a:moveTo>
                  <a:pt x="250031" y="328613"/>
                </a:moveTo>
                <a:cubicBezTo>
                  <a:pt x="250031" y="316736"/>
                  <a:pt x="259586" y="307181"/>
                  <a:pt x="271463" y="307181"/>
                </a:cubicBezTo>
                <a:lnTo>
                  <a:pt x="300038" y="307181"/>
                </a:lnTo>
                <a:cubicBezTo>
                  <a:pt x="311914" y="307181"/>
                  <a:pt x="321469" y="316736"/>
                  <a:pt x="321469" y="328613"/>
                </a:cubicBezTo>
                <a:cubicBezTo>
                  <a:pt x="321469" y="340489"/>
                  <a:pt x="311914" y="350044"/>
                  <a:pt x="300038" y="350044"/>
                </a:cubicBezTo>
                <a:lnTo>
                  <a:pt x="271463" y="350044"/>
                </a:lnTo>
                <a:cubicBezTo>
                  <a:pt x="259586" y="350044"/>
                  <a:pt x="250031" y="340489"/>
                  <a:pt x="250031" y="328613"/>
                </a:cubicBezTo>
                <a:close/>
                <a:moveTo>
                  <a:pt x="357188" y="328613"/>
                </a:moveTo>
                <a:cubicBezTo>
                  <a:pt x="357188" y="316736"/>
                  <a:pt x="366742" y="307181"/>
                  <a:pt x="378619" y="307181"/>
                </a:cubicBezTo>
                <a:lnTo>
                  <a:pt x="407194" y="307181"/>
                </a:lnTo>
                <a:cubicBezTo>
                  <a:pt x="419070" y="307181"/>
                  <a:pt x="428625" y="316736"/>
                  <a:pt x="428625" y="328613"/>
                </a:cubicBezTo>
                <a:cubicBezTo>
                  <a:pt x="428625" y="340489"/>
                  <a:pt x="419070" y="350044"/>
                  <a:pt x="407194" y="350044"/>
                </a:cubicBezTo>
                <a:lnTo>
                  <a:pt x="378619" y="350044"/>
                </a:lnTo>
                <a:cubicBezTo>
                  <a:pt x="366742" y="350044"/>
                  <a:pt x="357188" y="340489"/>
                  <a:pt x="357188" y="328613"/>
                </a:cubicBezTo>
                <a:close/>
                <a:moveTo>
                  <a:pt x="200025" y="157163"/>
                </a:moveTo>
                <a:cubicBezTo>
                  <a:pt x="223681" y="157163"/>
                  <a:pt x="242888" y="176369"/>
                  <a:pt x="242888" y="200025"/>
                </a:cubicBezTo>
                <a:cubicBezTo>
                  <a:pt x="242888" y="223681"/>
                  <a:pt x="223681" y="242888"/>
                  <a:pt x="200025" y="242888"/>
                </a:cubicBezTo>
                <a:cubicBezTo>
                  <a:pt x="176369" y="242888"/>
                  <a:pt x="157163" y="223681"/>
                  <a:pt x="157163" y="200025"/>
                </a:cubicBezTo>
                <a:cubicBezTo>
                  <a:pt x="157163" y="176369"/>
                  <a:pt x="176369" y="157163"/>
                  <a:pt x="200025" y="157163"/>
                </a:cubicBezTo>
                <a:close/>
                <a:moveTo>
                  <a:pt x="328613" y="200025"/>
                </a:moveTo>
                <a:cubicBezTo>
                  <a:pt x="328613" y="176369"/>
                  <a:pt x="347819" y="157163"/>
                  <a:pt x="371475" y="157163"/>
                </a:cubicBezTo>
                <a:cubicBezTo>
                  <a:pt x="395131" y="157163"/>
                  <a:pt x="414338" y="176369"/>
                  <a:pt x="414338" y="200025"/>
                </a:cubicBezTo>
                <a:cubicBezTo>
                  <a:pt x="414338" y="223681"/>
                  <a:pt x="395131" y="242888"/>
                  <a:pt x="371475" y="242888"/>
                </a:cubicBezTo>
                <a:cubicBezTo>
                  <a:pt x="347819" y="242888"/>
                  <a:pt x="328613" y="223681"/>
                  <a:pt x="328613" y="200025"/>
                </a:cubicBezTo>
                <a:close/>
                <a:moveTo>
                  <a:pt x="57150" y="200025"/>
                </a:moveTo>
                <a:cubicBezTo>
                  <a:pt x="57150" y="184219"/>
                  <a:pt x="44381" y="171450"/>
                  <a:pt x="28575" y="171450"/>
                </a:cubicBezTo>
                <a:cubicBezTo>
                  <a:pt x="12769" y="171450"/>
                  <a:pt x="0" y="184219"/>
                  <a:pt x="0" y="200025"/>
                </a:cubicBezTo>
                <a:lnTo>
                  <a:pt x="0" y="285750"/>
                </a:lnTo>
                <a:cubicBezTo>
                  <a:pt x="0" y="301556"/>
                  <a:pt x="12769" y="314325"/>
                  <a:pt x="28575" y="314325"/>
                </a:cubicBezTo>
                <a:cubicBezTo>
                  <a:pt x="44381" y="314325"/>
                  <a:pt x="57150" y="301556"/>
                  <a:pt x="57150" y="285750"/>
                </a:cubicBezTo>
                <a:lnTo>
                  <a:pt x="57150" y="200025"/>
                </a:lnTo>
                <a:close/>
                <a:moveTo>
                  <a:pt x="542925" y="171450"/>
                </a:moveTo>
                <a:cubicBezTo>
                  <a:pt x="527119" y="171450"/>
                  <a:pt x="514350" y="184219"/>
                  <a:pt x="514350" y="200025"/>
                </a:cubicBezTo>
                <a:lnTo>
                  <a:pt x="514350" y="285750"/>
                </a:lnTo>
                <a:cubicBezTo>
                  <a:pt x="514350" y="301556"/>
                  <a:pt x="527119" y="314325"/>
                  <a:pt x="542925" y="314325"/>
                </a:cubicBezTo>
                <a:cubicBezTo>
                  <a:pt x="558731" y="314325"/>
                  <a:pt x="571500" y="301556"/>
                  <a:pt x="571500" y="285750"/>
                </a:cubicBezTo>
                <a:lnTo>
                  <a:pt x="571500" y="200025"/>
                </a:lnTo>
                <a:cubicBezTo>
                  <a:pt x="571500" y="184219"/>
                  <a:pt x="558731" y="171450"/>
                  <a:pt x="542925" y="171450"/>
                </a:cubicBezTo>
                <a:close/>
              </a:path>
            </a:pathLst>
          </a:custGeom>
          <a:solidFill>
            <a:srgbClr val="0F4C5C"/>
          </a:solidFill>
          <a:ln/>
        </p:spPr>
      </p:sp>
      <p:sp>
        <p:nvSpPr>
          <p:cNvPr id="17" name="Text 15"/>
          <p:cNvSpPr/>
          <p:nvPr/>
        </p:nvSpPr>
        <p:spPr>
          <a:xfrm>
            <a:off x="6032500" y="5435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Robotic Agent</a:t>
            </a:r>
            <a:endParaRPr lang="en-US" sz="1600" dirty="0"/>
          </a:p>
        </p:txBody>
      </p:sp>
      <p:sp>
        <p:nvSpPr>
          <p:cNvPr id="18" name="Text 16"/>
          <p:cNvSpPr/>
          <p:nvPr/>
        </p:nvSpPr>
        <p:spPr>
          <a:xfrm>
            <a:off x="6032500" y="5867400"/>
            <a:ext cx="4191000" cy="1778000"/>
          </a:xfrm>
          <a:prstGeom prst="rect">
            <a:avLst/>
          </a:prstGeom>
          <a:noFill/>
          <a:ln/>
        </p:spPr>
        <p:txBody>
          <a:bodyPr wrap="square" lIns="0" tIns="0" rIns="0" bIns="0" rtlCol="0" anchor="t"/>
          <a:lstStyle/>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Sensors: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Cameras, infrared</a:t>
            </a:r>
            <a:endParaRPr lang="en-US" sz="1600" dirty="0"/>
          </a:p>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Actuators: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Motors, wheels, arms</a:t>
            </a:r>
            <a:endParaRPr lang="en-US" sz="1600" dirty="0"/>
          </a:p>
          <a:p>
            <a:pPr>
              <a:lnSpc>
                <a:spcPct val="150000"/>
              </a:lnSpc>
              <a:spcBef>
                <a:spcPts val="800"/>
              </a:spcBef>
            </a:pPr>
            <a:r>
              <a:rPr lang="en-US" sz="1500" dirty="0">
                <a:solidFill>
                  <a:srgbClr val="64748B"/>
                </a:solidFill>
                <a:latin typeface="Quattrocento Sans" pitchFamily="34" charset="0"/>
                <a:ea typeface="Quattrocento Sans" pitchFamily="34" charset="-122"/>
                <a:cs typeface="Quattrocento Sans" pitchFamily="34" charset="-120"/>
              </a:rPr>
              <a:t>Physical embodiment of AI</a:t>
            </a:r>
            <a:endParaRPr lang="en-US" sz="1600" dirty="0"/>
          </a:p>
        </p:txBody>
      </p:sp>
      <p:sp>
        <p:nvSpPr>
          <p:cNvPr id="19" name="Shape 17"/>
          <p:cNvSpPr/>
          <p:nvPr/>
        </p:nvSpPr>
        <p:spPr>
          <a:xfrm>
            <a:off x="10795000" y="4572000"/>
            <a:ext cx="4699000" cy="3302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0" name="Shape 18"/>
          <p:cNvSpPr/>
          <p:nvPr/>
        </p:nvSpPr>
        <p:spPr>
          <a:xfrm>
            <a:off x="11020425" y="4826000"/>
            <a:ext cx="514350" cy="457200"/>
          </a:xfrm>
          <a:custGeom>
            <a:avLst/>
            <a:gdLst/>
            <a:ahLst/>
            <a:cxnLst/>
            <a:rect l="l" t="t" r="r" b="b"/>
            <a:pathLst>
              <a:path w="514350" h="457200">
                <a:moveTo>
                  <a:pt x="322183" y="1072"/>
                </a:moveTo>
                <a:cubicBezTo>
                  <a:pt x="307003" y="-3304"/>
                  <a:pt x="291197" y="5536"/>
                  <a:pt x="286822" y="20717"/>
                </a:cubicBezTo>
                <a:lnTo>
                  <a:pt x="172522" y="420767"/>
                </a:lnTo>
                <a:cubicBezTo>
                  <a:pt x="168146" y="435947"/>
                  <a:pt x="176986" y="451753"/>
                  <a:pt x="192167" y="456128"/>
                </a:cubicBezTo>
                <a:cubicBezTo>
                  <a:pt x="207347" y="460504"/>
                  <a:pt x="223153" y="451664"/>
                  <a:pt x="227528" y="436483"/>
                </a:cubicBezTo>
                <a:lnTo>
                  <a:pt x="341828" y="36433"/>
                </a:lnTo>
                <a:cubicBezTo>
                  <a:pt x="346204" y="21253"/>
                  <a:pt x="337364" y="5447"/>
                  <a:pt x="322183" y="1072"/>
                </a:cubicBezTo>
                <a:close/>
                <a:moveTo>
                  <a:pt x="379869" y="122605"/>
                </a:moveTo>
                <a:cubicBezTo>
                  <a:pt x="368707" y="133767"/>
                  <a:pt x="368707" y="151894"/>
                  <a:pt x="379869" y="163056"/>
                </a:cubicBezTo>
                <a:lnTo>
                  <a:pt x="445413" y="228600"/>
                </a:lnTo>
                <a:lnTo>
                  <a:pt x="379869" y="294144"/>
                </a:lnTo>
                <a:cubicBezTo>
                  <a:pt x="368707" y="305306"/>
                  <a:pt x="368707" y="323433"/>
                  <a:pt x="379869" y="334595"/>
                </a:cubicBezTo>
                <a:cubicBezTo>
                  <a:pt x="391031" y="345758"/>
                  <a:pt x="409158" y="345758"/>
                  <a:pt x="420320" y="334595"/>
                </a:cubicBezTo>
                <a:lnTo>
                  <a:pt x="506045" y="248870"/>
                </a:lnTo>
                <a:cubicBezTo>
                  <a:pt x="517208" y="237708"/>
                  <a:pt x="517208" y="219581"/>
                  <a:pt x="506045" y="208419"/>
                </a:cubicBezTo>
                <a:lnTo>
                  <a:pt x="420320" y="122694"/>
                </a:lnTo>
                <a:cubicBezTo>
                  <a:pt x="409158" y="111532"/>
                  <a:pt x="391031" y="111532"/>
                  <a:pt x="379869" y="122694"/>
                </a:cubicBezTo>
                <a:close/>
                <a:moveTo>
                  <a:pt x="134570" y="122605"/>
                </a:moveTo>
                <a:cubicBezTo>
                  <a:pt x="123408" y="111442"/>
                  <a:pt x="105281" y="111442"/>
                  <a:pt x="94119" y="122605"/>
                </a:cubicBezTo>
                <a:lnTo>
                  <a:pt x="8394" y="208330"/>
                </a:lnTo>
                <a:cubicBezTo>
                  <a:pt x="-2768" y="219492"/>
                  <a:pt x="-2768" y="237619"/>
                  <a:pt x="8394" y="248781"/>
                </a:cubicBezTo>
                <a:lnTo>
                  <a:pt x="94119" y="334506"/>
                </a:lnTo>
                <a:cubicBezTo>
                  <a:pt x="105281" y="345668"/>
                  <a:pt x="123408" y="345668"/>
                  <a:pt x="134570" y="334506"/>
                </a:cubicBezTo>
                <a:cubicBezTo>
                  <a:pt x="145733" y="323344"/>
                  <a:pt x="145733" y="305217"/>
                  <a:pt x="134570" y="294055"/>
                </a:cubicBezTo>
                <a:lnTo>
                  <a:pt x="69026" y="228600"/>
                </a:lnTo>
                <a:lnTo>
                  <a:pt x="134481" y="163056"/>
                </a:lnTo>
                <a:cubicBezTo>
                  <a:pt x="145643" y="151894"/>
                  <a:pt x="145643" y="133767"/>
                  <a:pt x="134481" y="122605"/>
                </a:cubicBezTo>
                <a:close/>
              </a:path>
            </a:pathLst>
          </a:custGeom>
          <a:solidFill>
            <a:srgbClr val="0F4C5C"/>
          </a:solidFill>
          <a:ln/>
        </p:spPr>
      </p:sp>
      <p:sp>
        <p:nvSpPr>
          <p:cNvPr id="21" name="Text 19"/>
          <p:cNvSpPr/>
          <p:nvPr/>
        </p:nvSpPr>
        <p:spPr>
          <a:xfrm>
            <a:off x="11049000" y="5435600"/>
            <a:ext cx="4191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Software Agent</a:t>
            </a:r>
            <a:endParaRPr lang="en-US" sz="1600" dirty="0"/>
          </a:p>
        </p:txBody>
      </p:sp>
      <p:sp>
        <p:nvSpPr>
          <p:cNvPr id="22" name="Text 20"/>
          <p:cNvSpPr/>
          <p:nvPr/>
        </p:nvSpPr>
        <p:spPr>
          <a:xfrm>
            <a:off x="11049000" y="5867400"/>
            <a:ext cx="4191000" cy="1778000"/>
          </a:xfrm>
          <a:prstGeom prst="rect">
            <a:avLst/>
          </a:prstGeom>
          <a:noFill/>
          <a:ln/>
        </p:spPr>
        <p:txBody>
          <a:bodyPr wrap="square" lIns="0" tIns="0" rIns="0" bIns="0" rtlCol="0" anchor="t"/>
          <a:lstStyle/>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Sensors: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API data, user input</a:t>
            </a:r>
            <a:endParaRPr lang="en-US" sz="1600" dirty="0"/>
          </a:p>
          <a:p>
            <a:pPr>
              <a:lnSpc>
                <a:spcPct val="150000"/>
              </a:lnSpc>
            </a:pPr>
            <a:r>
              <a:rPr lang="en-US" sz="1500" b="1" dirty="0">
                <a:solidFill>
                  <a:srgbClr val="1C1917"/>
                </a:solidFill>
                <a:latin typeface="Quattrocento Sans" pitchFamily="34" charset="0"/>
                <a:ea typeface="Quattrocento Sans" pitchFamily="34" charset="-122"/>
                <a:cs typeface="Quattrocento Sans" pitchFamily="34" charset="-120"/>
              </a:rPr>
              <a:t>Actuators:</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Code execution, output</a:t>
            </a:r>
            <a:endParaRPr lang="en-US" sz="1600" dirty="0"/>
          </a:p>
          <a:p>
            <a:pPr>
              <a:lnSpc>
                <a:spcPct val="150000"/>
              </a:lnSpc>
              <a:spcBef>
                <a:spcPts val="800"/>
              </a:spcBef>
            </a:pPr>
            <a:r>
              <a:rPr lang="en-US" sz="1500" dirty="0">
                <a:solidFill>
                  <a:srgbClr val="64748B"/>
                </a:solidFill>
                <a:latin typeface="Quattrocento Sans" pitchFamily="34" charset="0"/>
                <a:ea typeface="Quattrocento Sans" pitchFamily="34" charset="-122"/>
                <a:cs typeface="Quattrocento Sans" pitchFamily="34" charset="-120"/>
              </a:rPr>
              <a:t>Virtual agents in digital environments</a:t>
            </a:r>
            <a:endParaRPr lang="en-US" sz="1600" dirty="0"/>
          </a:p>
        </p:txBody>
      </p:sp>
      <p:sp>
        <p:nvSpPr>
          <p:cNvPr id="23" name="Text 21"/>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4" name="Text 22"/>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18</a:t>
            </a:r>
            <a:endParaRPr lang="en-US" sz="1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Structure of an Agent — The PEAS Framework</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PEAS provides a structured approach to designing and evaluating intelligent agents by defining their task environment.</a:t>
            </a:r>
            <a:endParaRPr lang="en-US" sz="1800" dirty="0"/>
          </a:p>
        </p:txBody>
      </p:sp>
      <p:sp>
        <p:nvSpPr>
          <p:cNvPr id="6" name="Shape 4"/>
          <p:cNvSpPr/>
          <p:nvPr/>
        </p:nvSpPr>
        <p:spPr>
          <a:xfrm>
            <a:off x="762000" y="2032000"/>
            <a:ext cx="7112000" cy="1524000"/>
          </a:xfrm>
          <a:prstGeom prst="rect">
            <a:avLst/>
          </a:prstGeom>
          <a:solidFill>
            <a:srgbClr val="0F4C5C"/>
          </a:solidFill>
          <a:ln/>
        </p:spPr>
      </p:sp>
      <p:sp>
        <p:nvSpPr>
          <p:cNvPr id="7" name="Text 5"/>
          <p:cNvSpPr/>
          <p:nvPr/>
        </p:nvSpPr>
        <p:spPr>
          <a:xfrm>
            <a:off x="952500" y="2222500"/>
            <a:ext cx="762000" cy="635000"/>
          </a:xfrm>
          <a:prstGeom prst="rect">
            <a:avLst/>
          </a:prstGeom>
          <a:noFill/>
          <a:ln/>
        </p:spPr>
        <p:txBody>
          <a:bodyPr wrap="none" lIns="0" tIns="0" rIns="0" bIns="0" rtlCol="0" anchor="ctr"/>
          <a:lstStyle/>
          <a:p>
            <a:pPr algn="ctr">
              <a:lnSpc>
                <a:spcPct val="100000"/>
              </a:lnSpc>
            </a:pPr>
            <a:r>
              <a:rPr lang="en-US" sz="4200" dirty="0">
                <a:solidFill>
                  <a:srgbClr val="D97706"/>
                </a:solidFill>
                <a:latin typeface="Liter" pitchFamily="34" charset="0"/>
                <a:ea typeface="Liter" pitchFamily="34" charset="-122"/>
                <a:cs typeface="Liter" pitchFamily="34" charset="-120"/>
              </a:rPr>
              <a:t>P</a:t>
            </a:r>
            <a:endParaRPr lang="en-US" sz="1600" dirty="0"/>
          </a:p>
        </p:txBody>
      </p:sp>
      <p:sp>
        <p:nvSpPr>
          <p:cNvPr id="8" name="Text 6"/>
          <p:cNvSpPr/>
          <p:nvPr/>
        </p:nvSpPr>
        <p:spPr>
          <a:xfrm>
            <a:off x="1778000" y="2222500"/>
            <a:ext cx="3302000" cy="3302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Performance Measure</a:t>
            </a:r>
            <a:endParaRPr lang="en-US" sz="1600" dirty="0"/>
          </a:p>
        </p:txBody>
      </p:sp>
      <p:sp>
        <p:nvSpPr>
          <p:cNvPr id="9" name="Text 7"/>
          <p:cNvSpPr/>
          <p:nvPr/>
        </p:nvSpPr>
        <p:spPr>
          <a:xfrm>
            <a:off x="1778000" y="2667000"/>
            <a:ext cx="5842000" cy="698500"/>
          </a:xfrm>
          <a:prstGeom prst="rect">
            <a:avLst/>
          </a:prstGeom>
          <a:noFill/>
          <a:ln/>
        </p:spPr>
        <p:txBody>
          <a:bodyPr wrap="square" lIns="0" tIns="0" rIns="0" bIns="0" rtlCol="0" anchor="t"/>
          <a:lstStyle/>
          <a:p>
            <a:pPr>
              <a:lnSpc>
                <a:spcPct val="14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Criteria evaluating agent success — e.g., safe driving, energy efficiency, accuracy</a:t>
            </a:r>
            <a:endParaRPr lang="en-US" sz="1600" dirty="0"/>
          </a:p>
        </p:txBody>
      </p:sp>
      <p:sp>
        <p:nvSpPr>
          <p:cNvPr id="10" name="Shape 8"/>
          <p:cNvSpPr/>
          <p:nvPr/>
        </p:nvSpPr>
        <p:spPr>
          <a:xfrm>
            <a:off x="8382000" y="20320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1" name="Text 9"/>
          <p:cNvSpPr/>
          <p:nvPr/>
        </p:nvSpPr>
        <p:spPr>
          <a:xfrm>
            <a:off x="8572500" y="2222500"/>
            <a:ext cx="762000" cy="635000"/>
          </a:xfrm>
          <a:prstGeom prst="rect">
            <a:avLst/>
          </a:prstGeom>
          <a:noFill/>
          <a:ln/>
        </p:spPr>
        <p:txBody>
          <a:bodyPr wrap="none" lIns="0" tIns="0" rIns="0" bIns="0" rtlCol="0" anchor="ctr"/>
          <a:lstStyle/>
          <a:p>
            <a:pPr algn="ctr">
              <a:lnSpc>
                <a:spcPct val="100000"/>
              </a:lnSpc>
            </a:pPr>
            <a:r>
              <a:rPr lang="en-US" sz="4200" dirty="0">
                <a:solidFill>
                  <a:srgbClr val="D97706"/>
                </a:solidFill>
                <a:latin typeface="Liter" pitchFamily="34" charset="0"/>
                <a:ea typeface="Liter" pitchFamily="34" charset="-122"/>
                <a:cs typeface="Liter" pitchFamily="34" charset="-120"/>
              </a:rPr>
              <a:t>E</a:t>
            </a:r>
            <a:endParaRPr lang="en-US" sz="1600" dirty="0"/>
          </a:p>
        </p:txBody>
      </p:sp>
      <p:sp>
        <p:nvSpPr>
          <p:cNvPr id="12" name="Text 10"/>
          <p:cNvSpPr/>
          <p:nvPr/>
        </p:nvSpPr>
        <p:spPr>
          <a:xfrm>
            <a:off x="9398000" y="2222500"/>
            <a:ext cx="2540000" cy="3302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Environment</a:t>
            </a:r>
            <a:endParaRPr lang="en-US" sz="1600" dirty="0"/>
          </a:p>
        </p:txBody>
      </p:sp>
      <p:sp>
        <p:nvSpPr>
          <p:cNvPr id="13" name="Text 11"/>
          <p:cNvSpPr/>
          <p:nvPr/>
        </p:nvSpPr>
        <p:spPr>
          <a:xfrm>
            <a:off x="9398000" y="2667000"/>
            <a:ext cx="5842000" cy="698500"/>
          </a:xfrm>
          <a:prstGeom prst="rect">
            <a:avLst/>
          </a:prstGeom>
          <a:noFill/>
          <a:ln/>
        </p:spPr>
        <p:txBody>
          <a:bodyPr wrap="square" lIns="0" tIns="0" rIns="0" bIns="0" rtlCol="0" anchor="t"/>
          <a:lstStyle/>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The external context — e.g., roads, traffic, weather, other agents</a:t>
            </a:r>
            <a:endParaRPr lang="en-US" sz="1600" dirty="0"/>
          </a:p>
        </p:txBody>
      </p:sp>
      <p:sp>
        <p:nvSpPr>
          <p:cNvPr id="14" name="Shape 12"/>
          <p:cNvSpPr/>
          <p:nvPr/>
        </p:nvSpPr>
        <p:spPr>
          <a:xfrm>
            <a:off x="762000" y="3937000"/>
            <a:ext cx="7112000" cy="1524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5" name="Text 13"/>
          <p:cNvSpPr/>
          <p:nvPr/>
        </p:nvSpPr>
        <p:spPr>
          <a:xfrm>
            <a:off x="952500" y="4127500"/>
            <a:ext cx="762000" cy="635000"/>
          </a:xfrm>
          <a:prstGeom prst="rect">
            <a:avLst/>
          </a:prstGeom>
          <a:noFill/>
          <a:ln/>
        </p:spPr>
        <p:txBody>
          <a:bodyPr wrap="none" lIns="0" tIns="0" rIns="0" bIns="0" rtlCol="0" anchor="ctr"/>
          <a:lstStyle/>
          <a:p>
            <a:pPr algn="ctr">
              <a:lnSpc>
                <a:spcPct val="100000"/>
              </a:lnSpc>
            </a:pPr>
            <a:r>
              <a:rPr lang="en-US" sz="4200" dirty="0">
                <a:solidFill>
                  <a:srgbClr val="D97706"/>
                </a:solidFill>
                <a:latin typeface="Liter" pitchFamily="34" charset="0"/>
                <a:ea typeface="Liter" pitchFamily="34" charset="-122"/>
                <a:cs typeface="Liter" pitchFamily="34" charset="-120"/>
              </a:rPr>
              <a:t>A</a:t>
            </a:r>
            <a:endParaRPr lang="en-US" sz="1600" dirty="0"/>
          </a:p>
        </p:txBody>
      </p:sp>
      <p:sp>
        <p:nvSpPr>
          <p:cNvPr id="16" name="Text 14"/>
          <p:cNvSpPr/>
          <p:nvPr/>
        </p:nvSpPr>
        <p:spPr>
          <a:xfrm>
            <a:off x="1778000" y="4127500"/>
            <a:ext cx="2540000" cy="3302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Actuators</a:t>
            </a:r>
            <a:endParaRPr lang="en-US" sz="1600" dirty="0"/>
          </a:p>
        </p:txBody>
      </p:sp>
      <p:sp>
        <p:nvSpPr>
          <p:cNvPr id="17" name="Text 15"/>
          <p:cNvSpPr/>
          <p:nvPr/>
        </p:nvSpPr>
        <p:spPr>
          <a:xfrm>
            <a:off x="1778000" y="4572000"/>
            <a:ext cx="5842000" cy="698500"/>
          </a:xfrm>
          <a:prstGeom prst="rect">
            <a:avLst/>
          </a:prstGeom>
          <a:noFill/>
          <a:ln/>
        </p:spPr>
        <p:txBody>
          <a:bodyPr wrap="square" lIns="0" tIns="0" rIns="0" bIns="0" rtlCol="0" anchor="t"/>
          <a:lstStyle/>
          <a:p>
            <a:pP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Mechanisms for action — e.g., steering, brakes, accelerator, display</a:t>
            </a:r>
            <a:endParaRPr lang="en-US" sz="1600" dirty="0"/>
          </a:p>
        </p:txBody>
      </p:sp>
      <p:sp>
        <p:nvSpPr>
          <p:cNvPr id="18" name="Shape 16"/>
          <p:cNvSpPr/>
          <p:nvPr/>
        </p:nvSpPr>
        <p:spPr>
          <a:xfrm>
            <a:off x="8382000" y="3937000"/>
            <a:ext cx="7112000" cy="1524000"/>
          </a:xfrm>
          <a:prstGeom prst="rect">
            <a:avLst/>
          </a:prstGeom>
          <a:solidFill>
            <a:srgbClr val="0F4C5C"/>
          </a:solidFill>
          <a:ln/>
        </p:spPr>
      </p:sp>
      <p:sp>
        <p:nvSpPr>
          <p:cNvPr id="19" name="Text 17"/>
          <p:cNvSpPr/>
          <p:nvPr/>
        </p:nvSpPr>
        <p:spPr>
          <a:xfrm>
            <a:off x="8572500" y="4127500"/>
            <a:ext cx="762000" cy="635000"/>
          </a:xfrm>
          <a:prstGeom prst="rect">
            <a:avLst/>
          </a:prstGeom>
          <a:noFill/>
          <a:ln/>
        </p:spPr>
        <p:txBody>
          <a:bodyPr wrap="none" lIns="0" tIns="0" rIns="0" bIns="0" rtlCol="0" anchor="ctr"/>
          <a:lstStyle/>
          <a:p>
            <a:pPr algn="ctr">
              <a:lnSpc>
                <a:spcPct val="100000"/>
              </a:lnSpc>
            </a:pPr>
            <a:r>
              <a:rPr lang="en-US" sz="4200" dirty="0">
                <a:solidFill>
                  <a:srgbClr val="D97706"/>
                </a:solidFill>
                <a:latin typeface="Liter" pitchFamily="34" charset="0"/>
                <a:ea typeface="Liter" pitchFamily="34" charset="-122"/>
                <a:cs typeface="Liter" pitchFamily="34" charset="-120"/>
              </a:rPr>
              <a:t>S</a:t>
            </a:r>
            <a:endParaRPr lang="en-US" sz="1600" dirty="0"/>
          </a:p>
        </p:txBody>
      </p:sp>
      <p:sp>
        <p:nvSpPr>
          <p:cNvPr id="20" name="Text 18"/>
          <p:cNvSpPr/>
          <p:nvPr/>
        </p:nvSpPr>
        <p:spPr>
          <a:xfrm>
            <a:off x="9398000" y="4127500"/>
            <a:ext cx="2540000" cy="3302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Sensors</a:t>
            </a:r>
            <a:endParaRPr lang="en-US" sz="1600" dirty="0"/>
          </a:p>
        </p:txBody>
      </p:sp>
      <p:sp>
        <p:nvSpPr>
          <p:cNvPr id="21" name="Text 19"/>
          <p:cNvSpPr/>
          <p:nvPr/>
        </p:nvSpPr>
        <p:spPr>
          <a:xfrm>
            <a:off x="9398000" y="4572000"/>
            <a:ext cx="5842000" cy="698500"/>
          </a:xfrm>
          <a:prstGeom prst="rect">
            <a:avLst/>
          </a:prstGeom>
          <a:noFill/>
          <a:ln/>
        </p:spPr>
        <p:txBody>
          <a:bodyPr wrap="square" lIns="0" tIns="0" rIns="0" bIns="0" rtlCol="0" anchor="t"/>
          <a:lstStyle/>
          <a:p>
            <a:pPr>
              <a:lnSpc>
                <a:spcPct val="14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Perception devices — e.g., cameras, GPS, speedometer, keyboard</a:t>
            </a:r>
            <a:endParaRPr lang="en-US" sz="1600" dirty="0"/>
          </a:p>
        </p:txBody>
      </p:sp>
      <p:sp>
        <p:nvSpPr>
          <p:cNvPr id="22" name="Shape 20"/>
          <p:cNvSpPr/>
          <p:nvPr/>
        </p:nvSpPr>
        <p:spPr>
          <a:xfrm>
            <a:off x="762000" y="5969000"/>
            <a:ext cx="14732000" cy="2222500"/>
          </a:xfrm>
          <a:prstGeom prst="rect">
            <a:avLst/>
          </a:prstGeom>
          <a:solidFill>
            <a:srgbClr val="E0F2F1"/>
          </a:solidFill>
          <a:ln/>
        </p:spPr>
      </p:sp>
      <p:sp>
        <p:nvSpPr>
          <p:cNvPr id="23" name="Text 21"/>
          <p:cNvSpPr/>
          <p:nvPr/>
        </p:nvSpPr>
        <p:spPr>
          <a:xfrm>
            <a:off x="1143000" y="6159500"/>
            <a:ext cx="13970000" cy="1841500"/>
          </a:xfrm>
          <a:prstGeom prst="rect">
            <a:avLst/>
          </a:prstGeom>
          <a:noFill/>
          <a:ln/>
        </p:spPr>
        <p:txBody>
          <a:bodyPr wrap="square" lIns="0" tIns="0" rIns="0" bIns="0" rtlCol="0" anchor="t"/>
          <a:lstStyle/>
          <a:p>
            <a:pPr>
              <a:lnSpc>
                <a:spcPct val="160000"/>
              </a:lnSpc>
            </a:pPr>
            <a:r>
              <a:rPr lang="en-US" sz="1600" b="1" dirty="0">
                <a:solidFill>
                  <a:srgbClr val="0F4C5C"/>
                </a:solidFill>
                <a:latin typeface="Quattrocento Sans" pitchFamily="34" charset="0"/>
                <a:ea typeface="Quattrocento Sans" pitchFamily="34" charset="-122"/>
                <a:cs typeface="Quattrocento Sans" pitchFamily="34" charset="-120"/>
              </a:rPr>
              <a:t>Why PEAS Matters:</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The PEAS framework ensures developers think through all necessary components when designing intelligent systems. By clearly specifying the performance measure, environment, actuators, and sensors, PEAS helps create AI systems that are more effective and adaptable to their tasks.</a:t>
            </a:r>
            <a:endParaRPr lang="en-US" sz="1600" dirty="0"/>
          </a:p>
          <a:p>
            <a:pPr>
              <a:lnSpc>
                <a:spcPct val="160000"/>
              </a:lnSpc>
              <a:spcBef>
                <a:spcPts val="1000"/>
              </a:spcBef>
            </a:pPr>
            <a:r>
              <a:rPr lang="en-US" sz="1600" dirty="0">
                <a:solidFill>
                  <a:srgbClr val="1C1917"/>
                </a:solidFill>
                <a:latin typeface="Quattrocento Sans" pitchFamily="34" charset="0"/>
                <a:ea typeface="Quattrocento Sans" pitchFamily="34" charset="-122"/>
                <a:cs typeface="Quattrocento Sans" pitchFamily="34" charset="-120"/>
              </a:rPr>
              <a:t>It provides a clear outline for designing and evaluating intelligent systems, ensuring they are equipped to perform their tasks effectively.</a:t>
            </a:r>
            <a:endParaRPr lang="en-US" sz="1600" dirty="0"/>
          </a:p>
        </p:txBody>
      </p:sp>
      <p:sp>
        <p:nvSpPr>
          <p:cNvPr id="24" name="Text 22"/>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5" name="Text 23"/>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19</a:t>
            </a:r>
            <a:endParaRPr lang="en-US" sz="1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PEAS Framework — Examples</a:t>
            </a:r>
            <a:endParaRPr lang="en-US" sz="2800" dirty="0"/>
          </a:p>
        </p:txBody>
      </p:sp>
      <p:sp>
        <p:nvSpPr>
          <p:cNvPr id="4" name="Shape 2"/>
          <p:cNvSpPr/>
          <p:nvPr/>
        </p:nvSpPr>
        <p:spPr>
          <a:xfrm>
            <a:off x="762000" y="1016000"/>
            <a:ext cx="762000" cy="38100"/>
          </a:xfrm>
          <a:prstGeom prst="rect">
            <a:avLst/>
          </a:prstGeom>
          <a:solidFill>
            <a:srgbClr val="D97706"/>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62000" y="1397000"/>
          <a:ext cx="14732000" cy="2286000"/>
        </p:xfrm>
        <a:graphic>
          <a:graphicData uri="http://schemas.openxmlformats.org/drawingml/2006/table">
            <a:tbl>
              <a:tblPr/>
              <a:tblGrid>
                <a:gridCol w="2946400"/>
                <a:gridCol w="2946400"/>
                <a:gridCol w="2946400"/>
                <a:gridCol w="2946400"/>
                <a:gridCol w="2946400"/>
              </a:tblGrid>
              <a:tr h="63500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Agent 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Performance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Environment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Actuators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Sensors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r>
              <a:tr h="1651000">
                <a:tc>
                  <a:txBody>
                    <a:bodyPr/>
                    <a:lstStyle/>
                    <a:p>
                      <a:pPr algn="l"/>
                      <a:r>
                        <a:rPr lang="en-US" sz="1600" u="none" dirty="0">
                          <a:solidFill>
                            <a:srgbClr val="0F4C5C"/>
                          </a:solidFill>
                          <a:latin typeface="QuattrocentoSans" pitchFamily="34" charset="0"/>
                          <a:ea typeface="QuattrocentoSans" pitchFamily="34" charset="-122"/>
                          <a:cs typeface="QuattrocentoSans" pitchFamily="34" charset="-120"/>
                        </a:rPr>
                        <a:t>Autonomous Taxi</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Safe, fast, legal, comfortable trip</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Roads, traffic, pedestrians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Steering, accelerator, brake, horn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Cameras, GPS, speedometer</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762000" y="4000500"/>
          <a:ext cx="14732000" cy="2286000"/>
        </p:xfrm>
        <a:graphic>
          <a:graphicData uri="http://schemas.openxmlformats.org/drawingml/2006/table">
            <a:tbl>
              <a:tblPr/>
              <a:tblGrid>
                <a:gridCol w="2946400"/>
                <a:gridCol w="2946400"/>
                <a:gridCol w="2946400"/>
                <a:gridCol w="2946400"/>
                <a:gridCol w="2946400"/>
              </a:tblGrid>
              <a:tr h="63500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Agent 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Performance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Environment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Actuators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Sensors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r>
              <a:tr h="1651000">
                <a:tc>
                  <a:txBody>
                    <a:bodyPr/>
                    <a:lstStyle/>
                    <a:p>
                      <a:pPr algn="l"/>
                      <a:r>
                        <a:rPr lang="en-US" sz="1600" u="none" dirty="0">
                          <a:solidFill>
                            <a:srgbClr val="0F4C5C"/>
                          </a:solidFill>
                          <a:latin typeface="QuattrocentoSans" pitchFamily="34" charset="0"/>
                          <a:ea typeface="QuattrocentoSans" pitchFamily="34" charset="-122"/>
                          <a:cs typeface="QuattrocentoSans" pitchFamily="34" charset="-120"/>
                        </a:rPr>
                        <a:t>Chess Program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Winning the game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Chess board, opponent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Move pieces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Board position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762000" y="6604000"/>
          <a:ext cx="14732000" cy="1651000"/>
        </p:xfrm>
        <a:graphic>
          <a:graphicData uri="http://schemas.openxmlformats.org/drawingml/2006/table">
            <a:tbl>
              <a:tblPr/>
              <a:tblGrid>
                <a:gridCol w="2946400"/>
                <a:gridCol w="2946400"/>
                <a:gridCol w="2946400"/>
                <a:gridCol w="2946400"/>
                <a:gridCol w="2946400"/>
              </a:tblGrid>
              <a:tr h="58420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Agent Type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Performance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Environment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Actuators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Sensors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0F4C5C"/>
                    </a:solidFill>
                  </a:tcPr>
                </a:tc>
              </a:tr>
              <a:tr h="1066800">
                <a:tc>
                  <a:txBody>
                    <a:bodyPr/>
                    <a:lstStyle/>
                    <a:p>
                      <a:pPr algn="l"/>
                      <a:r>
                        <a:rPr lang="en-US" sz="1600" u="none" dirty="0">
                          <a:solidFill>
                            <a:srgbClr val="0F4C5C"/>
                          </a:solidFill>
                          <a:latin typeface="QuattrocentoSans" pitchFamily="34" charset="0"/>
                          <a:ea typeface="QuattrocentoSans" pitchFamily="34" charset="-122"/>
                          <a:cs typeface="QuattrocentoSans" pitchFamily="34" charset="-120"/>
                        </a:rPr>
                        <a:t>Medical System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Healthy patient, low cost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Patient, hospital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Display, tests, diagnosis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600" u="none" dirty="0">
                          <a:solidFill>
                            <a:srgbClr val="1C1917"/>
                          </a:solidFill>
                          <a:latin typeface="QuattrocentoSans" pitchFamily="34" charset="0"/>
                          <a:ea typeface="QuattrocentoSans" pitchFamily="34" charset="-122"/>
                          <a:cs typeface="QuattrocentoSans" pitchFamily="34" charset="-120"/>
                        </a:rPr>
                        <a:t>Symptom keyboard entry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
        <p:nvSpPr>
          <p:cNvPr id="8" name="Text 3"/>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9" name="Text 4"/>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20</a:t>
            </a:r>
            <a:endParaRPr lang="en-US" sz="1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How Should an Agent Act?</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06500"/>
            <a:ext cx="14732000" cy="889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An agent's behavior is defined by its </a:t>
            </a:r>
            <a:pPr>
              <a:lnSpc>
                <a:spcPct val="160000"/>
              </a:lnSpc>
            </a:pPr>
            <a:r>
              <a:rPr lang="en-US" sz="1600" b="1" dirty="0">
                <a:solidFill>
                  <a:srgbClr val="1C1917"/>
                </a:solidFill>
                <a:latin typeface="QuattrocentoSans" pitchFamily="34" charset="0"/>
                <a:ea typeface="QuattrocentoSans" pitchFamily="34" charset="-122"/>
                <a:cs typeface="QuattrocentoSans" pitchFamily="34" charset="-120"/>
              </a:rPr>
              <a:t>agent function</a:t>
            </a:r>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 which maps percept sequences to actions. The goal is to build agents that act appropriately given their percept history and built-in knowledge.</a:t>
            </a:r>
            <a:endParaRPr lang="en-US" sz="1800" dirty="0"/>
          </a:p>
        </p:txBody>
      </p:sp>
      <p:sp>
        <p:nvSpPr>
          <p:cNvPr id="6" name="Shape 4"/>
          <p:cNvSpPr/>
          <p:nvPr/>
        </p:nvSpPr>
        <p:spPr>
          <a:xfrm>
            <a:off x="762000" y="2286000"/>
            <a:ext cx="4699000" cy="3175000"/>
          </a:xfrm>
          <a:prstGeom prst="rect">
            <a:avLst/>
          </a:prstGeom>
          <a:solidFill>
            <a:srgbClr val="0F4C5C"/>
          </a:solidFill>
          <a:ln/>
        </p:spPr>
      </p:sp>
      <p:sp>
        <p:nvSpPr>
          <p:cNvPr id="7" name="Text 5"/>
          <p:cNvSpPr/>
          <p:nvPr/>
        </p:nvSpPr>
        <p:spPr>
          <a:xfrm>
            <a:off x="1016000" y="2476500"/>
            <a:ext cx="635000" cy="508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016000" y="3048000"/>
            <a:ext cx="4191000" cy="3556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Define Task Environment</a:t>
            </a:r>
            <a:endParaRPr lang="en-US" sz="1600" dirty="0"/>
          </a:p>
        </p:txBody>
      </p:sp>
      <p:sp>
        <p:nvSpPr>
          <p:cNvPr id="9" name="Text 7"/>
          <p:cNvSpPr/>
          <p:nvPr/>
        </p:nvSpPr>
        <p:spPr>
          <a:xfrm>
            <a:off x="1016000" y="3530600"/>
            <a:ext cx="4191000" cy="1651000"/>
          </a:xfrm>
          <a:prstGeom prst="rect">
            <a:avLst/>
          </a:prstGeom>
          <a:noFill/>
          <a:ln/>
        </p:spPr>
        <p:txBody>
          <a:bodyPr wrap="square" lIns="0" tIns="0" rIns="0" bIns="0" rtlCol="0" anchor="t"/>
          <a:lstStyle/>
          <a:p>
            <a:pPr>
              <a:lnSpc>
                <a:spcPct val="15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Use the PEAS framework to specify the performance measure, environment, actuators, and sensors for the agent's task.</a:t>
            </a:r>
            <a:endParaRPr lang="en-US" sz="1600" dirty="0"/>
          </a:p>
        </p:txBody>
      </p:sp>
      <p:sp>
        <p:nvSpPr>
          <p:cNvPr id="10" name="Shape 8"/>
          <p:cNvSpPr/>
          <p:nvPr/>
        </p:nvSpPr>
        <p:spPr>
          <a:xfrm>
            <a:off x="5461000" y="3683000"/>
            <a:ext cx="381000" cy="0"/>
          </a:xfrm>
          <a:prstGeom prst="straightConnector1">
            <a:avLst/>
          </a:prstGeom>
          <a:noFill/>
          <a:ln w="25400">
            <a:solidFill>
              <a:srgbClr val="D97706"/>
            </a:solidFill>
            <a:prstDash val="solid"/>
            <a:headEnd type="none"/>
            <a:tailEnd type="arrow"/>
          </a:ln>
        </p:spPr>
      </p:sp>
      <p:sp>
        <p:nvSpPr>
          <p:cNvPr id="11" name="Shape 9"/>
          <p:cNvSpPr/>
          <p:nvPr/>
        </p:nvSpPr>
        <p:spPr>
          <a:xfrm>
            <a:off x="5778500" y="2286000"/>
            <a:ext cx="4699000" cy="3175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Text 10"/>
          <p:cNvSpPr/>
          <p:nvPr/>
        </p:nvSpPr>
        <p:spPr>
          <a:xfrm>
            <a:off x="6032500" y="2476500"/>
            <a:ext cx="635000" cy="508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6032500" y="3048000"/>
            <a:ext cx="4191000" cy="3556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Choose Architecture</a:t>
            </a:r>
            <a:endParaRPr lang="en-US" sz="1600" dirty="0"/>
          </a:p>
        </p:txBody>
      </p:sp>
      <p:sp>
        <p:nvSpPr>
          <p:cNvPr id="14" name="Text 12"/>
          <p:cNvSpPr/>
          <p:nvPr/>
        </p:nvSpPr>
        <p:spPr>
          <a:xfrm>
            <a:off x="6032500" y="3530600"/>
            <a:ext cx="4191000" cy="1651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Select an appropriate agent architecture based on the complexity and requirements of the task environment.</a:t>
            </a:r>
            <a:endParaRPr lang="en-US" sz="1600" dirty="0"/>
          </a:p>
        </p:txBody>
      </p:sp>
      <p:sp>
        <p:nvSpPr>
          <p:cNvPr id="15" name="Shape 13"/>
          <p:cNvSpPr/>
          <p:nvPr/>
        </p:nvSpPr>
        <p:spPr>
          <a:xfrm>
            <a:off x="10477500" y="3683000"/>
            <a:ext cx="381000" cy="0"/>
          </a:xfrm>
          <a:prstGeom prst="straightConnector1">
            <a:avLst/>
          </a:prstGeom>
          <a:noFill/>
          <a:ln w="25400">
            <a:solidFill>
              <a:srgbClr val="D97706"/>
            </a:solidFill>
            <a:prstDash val="solid"/>
            <a:headEnd type="none"/>
            <a:tailEnd type="arrow"/>
          </a:ln>
        </p:spPr>
      </p:sp>
      <p:sp>
        <p:nvSpPr>
          <p:cNvPr id="16" name="Shape 14"/>
          <p:cNvSpPr/>
          <p:nvPr/>
        </p:nvSpPr>
        <p:spPr>
          <a:xfrm>
            <a:off x="10795000" y="2286000"/>
            <a:ext cx="4699000" cy="3175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7" name="Text 15"/>
          <p:cNvSpPr/>
          <p:nvPr/>
        </p:nvSpPr>
        <p:spPr>
          <a:xfrm>
            <a:off x="11049000" y="2476500"/>
            <a:ext cx="635000" cy="508000"/>
          </a:xfrm>
          <a:prstGeom prst="rect">
            <a:avLst/>
          </a:prstGeom>
          <a:noFill/>
          <a:ln/>
        </p:spPr>
        <p:txBody>
          <a:bodyPr wrap="none" lIns="0" tIns="0" rIns="0" bIns="0" rtlCol="0" anchor="ctr"/>
          <a:lstStyle/>
          <a:p>
            <a:pPr>
              <a:lnSpc>
                <a:spcPct val="100000"/>
              </a:lnSpc>
            </a:pPr>
            <a:r>
              <a:rPr lang="en-US" sz="3600" dirty="0">
                <a:solidFill>
                  <a:srgbClr val="D97706"/>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11049000" y="3048000"/>
            <a:ext cx="4191000" cy="3556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Implement Agent Program</a:t>
            </a:r>
            <a:endParaRPr lang="en-US" sz="1600" dirty="0"/>
          </a:p>
        </p:txBody>
      </p:sp>
      <p:sp>
        <p:nvSpPr>
          <p:cNvPr id="19" name="Text 17"/>
          <p:cNvSpPr/>
          <p:nvPr/>
        </p:nvSpPr>
        <p:spPr>
          <a:xfrm>
            <a:off x="11049000" y="3530600"/>
            <a:ext cx="4191000" cy="1651000"/>
          </a:xfrm>
          <a:prstGeom prst="rect">
            <a:avLst/>
          </a:prstGeom>
          <a:noFill/>
          <a:ln/>
        </p:spPr>
        <p:txBody>
          <a:bodyPr wrap="square" lIns="0" tIns="0" rIns="0" bIns="0" rtlCol="0" anchor="t"/>
          <a:lstStyle/>
          <a:p>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Write the concrete agent program that implements the agent function to map percepts to actions.</a:t>
            </a:r>
            <a:endParaRPr lang="en-US" sz="1600" dirty="0"/>
          </a:p>
        </p:txBody>
      </p:sp>
      <p:sp>
        <p:nvSpPr>
          <p:cNvPr id="20" name="Shape 18"/>
          <p:cNvSpPr/>
          <p:nvPr/>
        </p:nvSpPr>
        <p:spPr>
          <a:xfrm>
            <a:off x="762000" y="5969000"/>
            <a:ext cx="14732000" cy="2159000"/>
          </a:xfrm>
          <a:prstGeom prst="rect">
            <a:avLst/>
          </a:prstGeom>
          <a:solidFill>
            <a:srgbClr val="E0F2F1"/>
          </a:solidFill>
          <a:ln/>
        </p:spPr>
      </p:sp>
      <p:sp>
        <p:nvSpPr>
          <p:cNvPr id="21" name="Shape 19"/>
          <p:cNvSpPr/>
          <p:nvPr/>
        </p:nvSpPr>
        <p:spPr>
          <a:xfrm>
            <a:off x="1117600" y="6350000"/>
            <a:ext cx="457200" cy="406400"/>
          </a:xfrm>
          <a:custGeom>
            <a:avLst/>
            <a:gdLst/>
            <a:ahLst/>
            <a:cxnLst/>
            <a:rect l="l" t="t" r="r" b="b"/>
            <a:pathLst>
              <a:path w="457200" h="406400">
                <a:moveTo>
                  <a:pt x="245666" y="-15002"/>
                </a:moveTo>
                <a:cubicBezTo>
                  <a:pt x="242411" y="-21352"/>
                  <a:pt x="235823" y="-25400"/>
                  <a:pt x="228679" y="-25400"/>
                </a:cubicBezTo>
                <a:cubicBezTo>
                  <a:pt x="221536" y="-25400"/>
                  <a:pt x="214948" y="-21352"/>
                  <a:pt x="211693" y="-15002"/>
                </a:cubicBezTo>
                <a:lnTo>
                  <a:pt x="153273" y="99457"/>
                </a:lnTo>
                <a:lnTo>
                  <a:pt x="26353" y="119618"/>
                </a:lnTo>
                <a:cubicBezTo>
                  <a:pt x="19288" y="120729"/>
                  <a:pt x="13414" y="125730"/>
                  <a:pt x="11192" y="132556"/>
                </a:cubicBezTo>
                <a:cubicBezTo>
                  <a:pt x="8969" y="139383"/>
                  <a:pt x="10795" y="146844"/>
                  <a:pt x="15796" y="151924"/>
                </a:cubicBezTo>
                <a:lnTo>
                  <a:pt x="106601" y="242808"/>
                </a:lnTo>
                <a:lnTo>
                  <a:pt x="86598" y="369729"/>
                </a:lnTo>
                <a:cubicBezTo>
                  <a:pt x="85487" y="376793"/>
                  <a:pt x="88424" y="383937"/>
                  <a:pt x="94218" y="388144"/>
                </a:cubicBezTo>
                <a:cubicBezTo>
                  <a:pt x="100013" y="392351"/>
                  <a:pt x="107633" y="392986"/>
                  <a:pt x="114062" y="389731"/>
                </a:cubicBezTo>
                <a:lnTo>
                  <a:pt x="228679" y="331470"/>
                </a:lnTo>
                <a:lnTo>
                  <a:pt x="343218" y="389731"/>
                </a:lnTo>
                <a:cubicBezTo>
                  <a:pt x="349568" y="392986"/>
                  <a:pt x="357267" y="392351"/>
                  <a:pt x="363061" y="388144"/>
                </a:cubicBezTo>
                <a:cubicBezTo>
                  <a:pt x="368856" y="383937"/>
                  <a:pt x="371793" y="376873"/>
                  <a:pt x="370681" y="369729"/>
                </a:cubicBezTo>
                <a:lnTo>
                  <a:pt x="350599" y="242808"/>
                </a:lnTo>
                <a:lnTo>
                  <a:pt x="441404" y="151924"/>
                </a:lnTo>
                <a:cubicBezTo>
                  <a:pt x="446484" y="146844"/>
                  <a:pt x="448231" y="139383"/>
                  <a:pt x="446008" y="132556"/>
                </a:cubicBezTo>
                <a:cubicBezTo>
                  <a:pt x="443786" y="125730"/>
                  <a:pt x="437991" y="120729"/>
                  <a:pt x="430847" y="119618"/>
                </a:cubicBezTo>
                <a:lnTo>
                  <a:pt x="304006" y="99457"/>
                </a:lnTo>
                <a:lnTo>
                  <a:pt x="245666" y="-15002"/>
                </a:lnTo>
                <a:close/>
              </a:path>
            </a:pathLst>
          </a:custGeom>
          <a:solidFill>
            <a:srgbClr val="D97706"/>
          </a:solidFill>
          <a:ln/>
        </p:spPr>
      </p:sp>
      <p:sp>
        <p:nvSpPr>
          <p:cNvPr id="22" name="Text 20"/>
          <p:cNvSpPr/>
          <p:nvPr/>
        </p:nvSpPr>
        <p:spPr>
          <a:xfrm>
            <a:off x="1714500" y="6286500"/>
            <a:ext cx="5080000" cy="3556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Key Principle</a:t>
            </a:r>
            <a:endParaRPr lang="en-US" sz="1600" dirty="0"/>
          </a:p>
        </p:txBody>
      </p:sp>
      <p:sp>
        <p:nvSpPr>
          <p:cNvPr id="23" name="Text 21"/>
          <p:cNvSpPr/>
          <p:nvPr/>
        </p:nvSpPr>
        <p:spPr>
          <a:xfrm>
            <a:off x="1714500" y="6731000"/>
            <a:ext cx="13462000" cy="1143000"/>
          </a:xfrm>
          <a:prstGeom prst="rect">
            <a:avLst/>
          </a:prstGeom>
          <a:noFill/>
          <a:ln/>
        </p:spPr>
        <p:txBody>
          <a:bodyPr wrap="square" lIns="0" tIns="0" rIns="0" bIns="0" rtlCol="0" anchor="t"/>
          <a:lstStyle/>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A </a:t>
            </a:r>
            <a:pP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rational agent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should select actions that maximize its performance measure. The agent function is abstract and potentially infinite, while the agent program is the concrete implementation running on the agent architecture.</a:t>
            </a:r>
            <a:endParaRPr lang="en-US" sz="1600" dirty="0"/>
          </a:p>
        </p:txBody>
      </p:sp>
      <p:sp>
        <p:nvSpPr>
          <p:cNvPr id="24" name="Text 22"/>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5" name="Text 23"/>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21</a:t>
            </a:r>
            <a:endParaRPr lang="en-US" sz="1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Concept of Rationality</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33500"/>
            <a:ext cx="14732000" cy="1270000"/>
          </a:xfrm>
          <a:prstGeom prst="rect">
            <a:avLst/>
          </a:prstGeom>
          <a:solidFill>
            <a:srgbClr val="0F4C5C"/>
          </a:solidFill>
          <a:ln/>
        </p:spPr>
      </p:sp>
      <p:sp>
        <p:nvSpPr>
          <p:cNvPr id="6" name="Text 4"/>
          <p:cNvSpPr/>
          <p:nvPr/>
        </p:nvSpPr>
        <p:spPr>
          <a:xfrm>
            <a:off x="1143000" y="1460500"/>
            <a:ext cx="13970000" cy="1016000"/>
          </a:xfrm>
          <a:prstGeom prst="rect">
            <a:avLst/>
          </a:prstGeom>
          <a:noFill/>
          <a:ln/>
        </p:spPr>
        <p:txBody>
          <a:bodyPr wrap="square" lIns="0" tIns="0" rIns="0" bIns="0" rtlCol="0" anchor="ctr"/>
          <a:lstStyle/>
          <a:p>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A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rational agent</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is one that does the right thing — for each possible percept sequence, it selects an action expected to </a:t>
            </a:r>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maximize its performance measure</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given the evidence provided by the percept sequence and built-in knowledge.</a:t>
            </a:r>
            <a:endParaRPr lang="en-US" sz="1600" dirty="0"/>
          </a:p>
        </p:txBody>
      </p:sp>
      <p:sp>
        <p:nvSpPr>
          <p:cNvPr id="7" name="Text 5"/>
          <p:cNvSpPr/>
          <p:nvPr/>
        </p:nvSpPr>
        <p:spPr>
          <a:xfrm>
            <a:off x="762000" y="29210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FOUR FACTORS OF RATIONALITY</a:t>
            </a:r>
            <a:endParaRPr lang="en-US" sz="1400" dirty="0"/>
          </a:p>
        </p:txBody>
      </p:sp>
      <p:sp>
        <p:nvSpPr>
          <p:cNvPr id="8" name="Shape 6"/>
          <p:cNvSpPr/>
          <p:nvPr/>
        </p:nvSpPr>
        <p:spPr>
          <a:xfrm>
            <a:off x="762000" y="3429000"/>
            <a:ext cx="3429000" cy="254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9" name="Text 7"/>
          <p:cNvSpPr/>
          <p:nvPr/>
        </p:nvSpPr>
        <p:spPr>
          <a:xfrm>
            <a:off x="952500" y="3556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1</a:t>
            </a:r>
            <a:endParaRPr lang="en-US" sz="1600" dirty="0"/>
          </a:p>
        </p:txBody>
      </p:sp>
      <p:sp>
        <p:nvSpPr>
          <p:cNvPr id="10" name="Text 8"/>
          <p:cNvSpPr/>
          <p:nvPr/>
        </p:nvSpPr>
        <p:spPr>
          <a:xfrm>
            <a:off x="952500" y="4064000"/>
            <a:ext cx="3048000" cy="3302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Performance Measure</a:t>
            </a:r>
            <a:endParaRPr lang="en-US" sz="1600" dirty="0"/>
          </a:p>
        </p:txBody>
      </p:sp>
      <p:sp>
        <p:nvSpPr>
          <p:cNvPr id="11" name="Text 9"/>
          <p:cNvSpPr/>
          <p:nvPr/>
        </p:nvSpPr>
        <p:spPr>
          <a:xfrm>
            <a:off x="952500" y="4470400"/>
            <a:ext cx="3048000" cy="1270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The criterion that defines success for the agent's behavior</a:t>
            </a:r>
            <a:endParaRPr lang="en-US" sz="1600" dirty="0"/>
          </a:p>
        </p:txBody>
      </p:sp>
      <p:sp>
        <p:nvSpPr>
          <p:cNvPr id="12" name="Shape 10"/>
          <p:cNvSpPr/>
          <p:nvPr/>
        </p:nvSpPr>
        <p:spPr>
          <a:xfrm>
            <a:off x="4521200" y="3429000"/>
            <a:ext cx="3429000" cy="254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3" name="Text 11"/>
          <p:cNvSpPr/>
          <p:nvPr/>
        </p:nvSpPr>
        <p:spPr>
          <a:xfrm>
            <a:off x="4711700" y="3556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2</a:t>
            </a:r>
            <a:endParaRPr lang="en-US" sz="1600" dirty="0"/>
          </a:p>
        </p:txBody>
      </p:sp>
      <p:sp>
        <p:nvSpPr>
          <p:cNvPr id="14" name="Text 12"/>
          <p:cNvSpPr/>
          <p:nvPr/>
        </p:nvSpPr>
        <p:spPr>
          <a:xfrm>
            <a:off x="4711700" y="4064000"/>
            <a:ext cx="3048000" cy="3302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Prior Knowledge</a:t>
            </a:r>
            <a:endParaRPr lang="en-US" sz="1600" dirty="0"/>
          </a:p>
        </p:txBody>
      </p:sp>
      <p:sp>
        <p:nvSpPr>
          <p:cNvPr id="15" name="Text 13"/>
          <p:cNvSpPr/>
          <p:nvPr/>
        </p:nvSpPr>
        <p:spPr>
          <a:xfrm>
            <a:off x="4711700" y="4470400"/>
            <a:ext cx="3048000" cy="1270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What the agent already knows about the environment</a:t>
            </a:r>
            <a:endParaRPr lang="en-US" sz="1600" dirty="0"/>
          </a:p>
        </p:txBody>
      </p:sp>
      <p:sp>
        <p:nvSpPr>
          <p:cNvPr id="16" name="Shape 14"/>
          <p:cNvSpPr/>
          <p:nvPr/>
        </p:nvSpPr>
        <p:spPr>
          <a:xfrm>
            <a:off x="8293100" y="3429000"/>
            <a:ext cx="3429000" cy="254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7" name="Text 15"/>
          <p:cNvSpPr/>
          <p:nvPr/>
        </p:nvSpPr>
        <p:spPr>
          <a:xfrm>
            <a:off x="8483600" y="3556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3</a:t>
            </a:r>
            <a:endParaRPr lang="en-US" sz="1600" dirty="0"/>
          </a:p>
        </p:txBody>
      </p:sp>
      <p:sp>
        <p:nvSpPr>
          <p:cNvPr id="18" name="Text 16"/>
          <p:cNvSpPr/>
          <p:nvPr/>
        </p:nvSpPr>
        <p:spPr>
          <a:xfrm>
            <a:off x="8483600" y="4064000"/>
            <a:ext cx="3048000" cy="3302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Available Actions</a:t>
            </a:r>
            <a:endParaRPr lang="en-US" sz="1600" dirty="0"/>
          </a:p>
        </p:txBody>
      </p:sp>
      <p:sp>
        <p:nvSpPr>
          <p:cNvPr id="19" name="Text 17"/>
          <p:cNvSpPr/>
          <p:nvPr/>
        </p:nvSpPr>
        <p:spPr>
          <a:xfrm>
            <a:off x="8483600" y="4470400"/>
            <a:ext cx="3048000" cy="1270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The set of actions the agent can perform in its current state</a:t>
            </a:r>
            <a:endParaRPr lang="en-US" sz="1600" dirty="0"/>
          </a:p>
        </p:txBody>
      </p:sp>
      <p:sp>
        <p:nvSpPr>
          <p:cNvPr id="20" name="Shape 18"/>
          <p:cNvSpPr/>
          <p:nvPr/>
        </p:nvSpPr>
        <p:spPr>
          <a:xfrm>
            <a:off x="12065000" y="3429000"/>
            <a:ext cx="3429000" cy="254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1" name="Text 19"/>
          <p:cNvSpPr/>
          <p:nvPr/>
        </p:nvSpPr>
        <p:spPr>
          <a:xfrm>
            <a:off x="12255500" y="3556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4</a:t>
            </a:r>
            <a:endParaRPr lang="en-US" sz="1600" dirty="0"/>
          </a:p>
        </p:txBody>
      </p:sp>
      <p:sp>
        <p:nvSpPr>
          <p:cNvPr id="22" name="Text 20"/>
          <p:cNvSpPr/>
          <p:nvPr/>
        </p:nvSpPr>
        <p:spPr>
          <a:xfrm>
            <a:off x="12255500" y="4064000"/>
            <a:ext cx="3048000" cy="3302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Percept Sequence</a:t>
            </a:r>
            <a:endParaRPr lang="en-US" sz="1600" dirty="0"/>
          </a:p>
        </p:txBody>
      </p:sp>
      <p:sp>
        <p:nvSpPr>
          <p:cNvPr id="23" name="Text 21"/>
          <p:cNvSpPr/>
          <p:nvPr/>
        </p:nvSpPr>
        <p:spPr>
          <a:xfrm>
            <a:off x="12255500" y="4470400"/>
            <a:ext cx="3048000" cy="12700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The complete history of what the agent has perceived to date</a:t>
            </a:r>
            <a:endParaRPr lang="en-US" sz="1600" dirty="0"/>
          </a:p>
        </p:txBody>
      </p:sp>
      <p:sp>
        <p:nvSpPr>
          <p:cNvPr id="24" name="Shape 22"/>
          <p:cNvSpPr/>
          <p:nvPr/>
        </p:nvSpPr>
        <p:spPr>
          <a:xfrm>
            <a:off x="762000" y="6413500"/>
            <a:ext cx="14732000" cy="1651000"/>
          </a:xfrm>
          <a:prstGeom prst="rect">
            <a:avLst/>
          </a:prstGeom>
          <a:solidFill>
            <a:srgbClr val="E0F2F1"/>
          </a:solidFill>
          <a:ln/>
        </p:spPr>
      </p:sp>
      <p:sp>
        <p:nvSpPr>
          <p:cNvPr id="25" name="Shape 23"/>
          <p:cNvSpPr/>
          <p:nvPr/>
        </p:nvSpPr>
        <p:spPr>
          <a:xfrm>
            <a:off x="1079500" y="6858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55575" y="111125"/>
                </a:moveTo>
                <a:cubicBezTo>
                  <a:pt x="155575" y="98859"/>
                  <a:pt x="165534" y="88900"/>
                  <a:pt x="177800" y="88900"/>
                </a:cubicBezTo>
                <a:cubicBezTo>
                  <a:pt x="190066" y="88900"/>
                  <a:pt x="200025" y="98859"/>
                  <a:pt x="200025" y="111125"/>
                </a:cubicBezTo>
                <a:cubicBezTo>
                  <a:pt x="200025" y="123391"/>
                  <a:pt x="190066" y="133350"/>
                  <a:pt x="177800" y="133350"/>
                </a:cubicBezTo>
                <a:cubicBezTo>
                  <a:pt x="165534" y="133350"/>
                  <a:pt x="155575" y="123391"/>
                  <a:pt x="155575" y="111125"/>
                </a:cubicBezTo>
                <a:close/>
                <a:moveTo>
                  <a:pt x="150019" y="155575"/>
                </a:moveTo>
                <a:lnTo>
                  <a:pt x="183356" y="155575"/>
                </a:lnTo>
                <a:cubicBezTo>
                  <a:pt x="192594" y="155575"/>
                  <a:pt x="200025" y="163006"/>
                  <a:pt x="200025" y="172244"/>
                </a:cubicBezTo>
                <a:lnTo>
                  <a:pt x="200025" y="233363"/>
                </a:lnTo>
                <a:lnTo>
                  <a:pt x="205581" y="233363"/>
                </a:lnTo>
                <a:cubicBezTo>
                  <a:pt x="214819" y="233363"/>
                  <a:pt x="222250" y="240794"/>
                  <a:pt x="222250" y="250031"/>
                </a:cubicBezTo>
                <a:cubicBezTo>
                  <a:pt x="222250" y="259269"/>
                  <a:pt x="214819" y="266700"/>
                  <a:pt x="205581" y="266700"/>
                </a:cubicBezTo>
                <a:lnTo>
                  <a:pt x="150019" y="266700"/>
                </a:lnTo>
                <a:cubicBezTo>
                  <a:pt x="140781" y="266700"/>
                  <a:pt x="133350" y="259269"/>
                  <a:pt x="133350" y="250031"/>
                </a:cubicBezTo>
                <a:cubicBezTo>
                  <a:pt x="133350" y="240794"/>
                  <a:pt x="140781" y="233363"/>
                  <a:pt x="150019" y="233363"/>
                </a:cubicBezTo>
                <a:lnTo>
                  <a:pt x="166688" y="233363"/>
                </a:lnTo>
                <a:lnTo>
                  <a:pt x="166688" y="188913"/>
                </a:lnTo>
                <a:lnTo>
                  <a:pt x="150019" y="188913"/>
                </a:lnTo>
                <a:cubicBezTo>
                  <a:pt x="140781" y="188913"/>
                  <a:pt x="133350" y="181481"/>
                  <a:pt x="133350" y="172244"/>
                </a:cubicBezTo>
                <a:cubicBezTo>
                  <a:pt x="133350" y="163006"/>
                  <a:pt x="140781" y="155575"/>
                  <a:pt x="150019" y="155575"/>
                </a:cubicBezTo>
                <a:close/>
              </a:path>
            </a:pathLst>
          </a:custGeom>
          <a:solidFill>
            <a:srgbClr val="0F4C5C"/>
          </a:solidFill>
          <a:ln/>
        </p:spPr>
      </p:sp>
      <p:sp>
        <p:nvSpPr>
          <p:cNvPr id="26" name="Text 24"/>
          <p:cNvSpPr/>
          <p:nvPr/>
        </p:nvSpPr>
        <p:spPr>
          <a:xfrm>
            <a:off x="1587500" y="6604000"/>
            <a:ext cx="13589000" cy="1270000"/>
          </a:xfrm>
          <a:prstGeom prst="rect">
            <a:avLst/>
          </a:prstGeom>
          <a:noFill/>
          <a:ln/>
        </p:spPr>
        <p:txBody>
          <a:bodyPr wrap="square" lIns="0" tIns="0" rIns="0" bIns="0" rtlCol="0" anchor="ctr"/>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Rationality ≠ Perfection:</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Rationality maximizes </a:t>
            </a:r>
            <a:pPr>
              <a:lnSpc>
                <a:spcPct val="150000"/>
              </a:lnSpc>
            </a:pPr>
            <a:r>
              <a:rPr lang="en-US" sz="1600" i="1" dirty="0">
                <a:solidFill>
                  <a:srgbClr val="1C1917"/>
                </a:solidFill>
                <a:latin typeface="Quattrocento Sans" pitchFamily="34" charset="0"/>
                <a:ea typeface="Quattrocento Sans" pitchFamily="34" charset="-122"/>
                <a:cs typeface="Quattrocento Sans" pitchFamily="34" charset="-120"/>
              </a:rPr>
              <a:t>expected</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performance, not actual performance. A rational agent makes the best possible decision given available information — it is not expected to always succeed.</a:t>
            </a:r>
            <a:endParaRPr lang="en-US" sz="1600" dirty="0"/>
          </a:p>
        </p:txBody>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22</a:t>
            </a:r>
            <a:endParaRPr lang="en-US" sz="1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The Concept of Omniscience</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33500"/>
            <a:ext cx="14732000" cy="1143000"/>
          </a:xfrm>
          <a:prstGeom prst="rect">
            <a:avLst/>
          </a:prstGeom>
          <a:solidFill>
            <a:srgbClr val="0F4C5C"/>
          </a:solidFill>
          <a:ln/>
        </p:spPr>
      </p:sp>
      <p:sp>
        <p:nvSpPr>
          <p:cNvPr id="6" name="Text 4"/>
          <p:cNvSpPr/>
          <p:nvPr/>
        </p:nvSpPr>
        <p:spPr>
          <a:xfrm>
            <a:off x="1143000" y="1460500"/>
            <a:ext cx="13970000" cy="889000"/>
          </a:xfrm>
          <a:prstGeom prst="rect">
            <a:avLst/>
          </a:prstGeom>
          <a:noFill/>
          <a:ln/>
        </p:spPr>
        <p:txBody>
          <a:bodyPr wrap="square" lIns="0" tIns="0" rIns="0" bIns="0" rtlCol="0" anchor="ctr"/>
          <a:lstStyle/>
          <a:p>
            <a:pPr>
              <a:lnSpc>
                <a:spcPct val="150000"/>
              </a:lnSpc>
            </a:pPr>
            <a:r>
              <a:rPr lang="en-US" sz="1800" b="1" dirty="0">
                <a:solidFill>
                  <a:srgbClr val="FFFFFF"/>
                </a:solidFill>
                <a:latin typeface="Quattrocento Sans" pitchFamily="34" charset="0"/>
                <a:ea typeface="Quattrocento Sans" pitchFamily="34" charset="-122"/>
                <a:cs typeface="Quattrocento Sans" pitchFamily="34" charset="-120"/>
              </a:rPr>
              <a:t>Omniscience</a:t>
            </a:r>
            <a:pPr>
              <a:lnSpc>
                <a:spcPct val="150000"/>
              </a:lnSpc>
            </a:pPr>
            <a:r>
              <a:rPr lang="en-US" sz="1800" dirty="0">
                <a:solidFill>
                  <a:srgbClr val="FFFFFF"/>
                </a:solidFill>
                <a:latin typeface="Quattrocento Sans" pitchFamily="34" charset="0"/>
                <a:ea typeface="Quattrocento Sans" pitchFamily="34" charset="-122"/>
                <a:cs typeface="Quattrocento Sans" pitchFamily="34" charset="-120"/>
              </a:rPr>
              <a:t> means knowing everything — including the actual outcome of every action. An omniscient agent knows the actual outcome of its actions and can act accordingly.</a:t>
            </a:r>
            <a:endParaRPr lang="en-US" sz="1600" dirty="0"/>
          </a:p>
        </p:txBody>
      </p:sp>
      <p:sp>
        <p:nvSpPr>
          <p:cNvPr id="7" name="Text 5"/>
          <p:cNvSpPr/>
          <p:nvPr/>
        </p:nvSpPr>
        <p:spPr>
          <a:xfrm>
            <a:off x="762000" y="27940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WHY OMNISCIENCE IS IMPOSSIBLE</a:t>
            </a:r>
            <a:endParaRPr lang="en-US" sz="1400" dirty="0"/>
          </a:p>
        </p:txBody>
      </p:sp>
      <p:sp>
        <p:nvSpPr>
          <p:cNvPr id="8" name="Shape 6"/>
          <p:cNvSpPr/>
          <p:nvPr/>
        </p:nvSpPr>
        <p:spPr>
          <a:xfrm>
            <a:off x="762000" y="3302000"/>
            <a:ext cx="7112000" cy="127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9" name="Shape 7"/>
          <p:cNvSpPr/>
          <p:nvPr/>
        </p:nvSpPr>
        <p:spPr>
          <a:xfrm>
            <a:off x="993775" y="3683000"/>
            <a:ext cx="400050" cy="355600"/>
          </a:xfrm>
          <a:custGeom>
            <a:avLst/>
            <a:gdLst/>
            <a:ahLst/>
            <a:cxnLst/>
            <a:rect l="l" t="t" r="r" b="b"/>
            <a:pathLst>
              <a:path w="400050" h="355600">
                <a:moveTo>
                  <a:pt x="28476" y="-17294"/>
                </a:moveTo>
                <a:cubicBezTo>
                  <a:pt x="21947" y="-23822"/>
                  <a:pt x="11390" y="-23822"/>
                  <a:pt x="4931" y="-17294"/>
                </a:cubicBezTo>
                <a:cubicBezTo>
                  <a:pt x="-1528" y="-10765"/>
                  <a:pt x="-1597" y="-208"/>
                  <a:pt x="4862" y="6320"/>
                </a:cubicBezTo>
                <a:lnTo>
                  <a:pt x="371574" y="373033"/>
                </a:lnTo>
                <a:cubicBezTo>
                  <a:pt x="378103" y="379561"/>
                  <a:pt x="388660" y="379561"/>
                  <a:pt x="395119" y="373033"/>
                </a:cubicBezTo>
                <a:cubicBezTo>
                  <a:pt x="401578" y="366504"/>
                  <a:pt x="401647" y="355947"/>
                  <a:pt x="395119" y="349488"/>
                </a:cubicBezTo>
                <a:lnTo>
                  <a:pt x="328166" y="282535"/>
                </a:lnTo>
                <a:cubicBezTo>
                  <a:pt x="330041" y="280868"/>
                  <a:pt x="331916" y="279202"/>
                  <a:pt x="333722" y="277535"/>
                </a:cubicBezTo>
                <a:cubicBezTo>
                  <a:pt x="366226" y="247323"/>
                  <a:pt x="387965" y="211276"/>
                  <a:pt x="398314" y="186482"/>
                </a:cubicBezTo>
                <a:cubicBezTo>
                  <a:pt x="400606" y="180995"/>
                  <a:pt x="400606" y="174883"/>
                  <a:pt x="398314" y="169396"/>
                </a:cubicBezTo>
                <a:cubicBezTo>
                  <a:pt x="387965" y="144601"/>
                  <a:pt x="366226" y="108486"/>
                  <a:pt x="333722" y="78343"/>
                </a:cubicBezTo>
                <a:cubicBezTo>
                  <a:pt x="301010" y="47992"/>
                  <a:pt x="256074" y="22364"/>
                  <a:pt x="199956" y="22364"/>
                </a:cubicBezTo>
                <a:cubicBezTo>
                  <a:pt x="160506" y="22364"/>
                  <a:pt x="126613" y="35004"/>
                  <a:pt x="98554" y="53062"/>
                </a:cubicBezTo>
                <a:lnTo>
                  <a:pt x="28476" y="-17294"/>
                </a:lnTo>
                <a:close/>
                <a:moveTo>
                  <a:pt x="142032" y="96331"/>
                </a:moveTo>
                <a:cubicBezTo>
                  <a:pt x="158353" y="84663"/>
                  <a:pt x="178425" y="77787"/>
                  <a:pt x="200025" y="77787"/>
                </a:cubicBezTo>
                <a:cubicBezTo>
                  <a:pt x="255240" y="77787"/>
                  <a:pt x="300038" y="122585"/>
                  <a:pt x="300038" y="177800"/>
                </a:cubicBezTo>
                <a:cubicBezTo>
                  <a:pt x="300038" y="199400"/>
                  <a:pt x="293162" y="219402"/>
                  <a:pt x="281494" y="235793"/>
                </a:cubicBezTo>
                <a:lnTo>
                  <a:pt x="257393" y="211693"/>
                </a:lnTo>
                <a:cubicBezTo>
                  <a:pt x="266214" y="196830"/>
                  <a:pt x="269200" y="178564"/>
                  <a:pt x="264408" y="160506"/>
                </a:cubicBezTo>
                <a:cubicBezTo>
                  <a:pt x="254893" y="124946"/>
                  <a:pt x="218291" y="103832"/>
                  <a:pt x="182731" y="113348"/>
                </a:cubicBezTo>
                <a:cubicBezTo>
                  <a:pt x="176758" y="114945"/>
                  <a:pt x="171133" y="117306"/>
                  <a:pt x="166062" y="120293"/>
                </a:cubicBezTo>
                <a:lnTo>
                  <a:pt x="141962" y="96193"/>
                </a:lnTo>
                <a:close/>
                <a:moveTo>
                  <a:pt x="225931" y="274409"/>
                </a:moveTo>
                <a:cubicBezTo>
                  <a:pt x="217666" y="276632"/>
                  <a:pt x="208984" y="277813"/>
                  <a:pt x="200025" y="277813"/>
                </a:cubicBezTo>
                <a:cubicBezTo>
                  <a:pt x="144810" y="277813"/>
                  <a:pt x="100013" y="233015"/>
                  <a:pt x="100013" y="177800"/>
                </a:cubicBezTo>
                <a:cubicBezTo>
                  <a:pt x="100013" y="168841"/>
                  <a:pt x="101193" y="160159"/>
                  <a:pt x="103416" y="151894"/>
                </a:cubicBezTo>
                <a:lnTo>
                  <a:pt x="48200" y="96679"/>
                </a:lnTo>
                <a:cubicBezTo>
                  <a:pt x="25559" y="122238"/>
                  <a:pt x="10001" y="149324"/>
                  <a:pt x="1736" y="169257"/>
                </a:cubicBezTo>
                <a:cubicBezTo>
                  <a:pt x="-556" y="174744"/>
                  <a:pt x="-556" y="180856"/>
                  <a:pt x="1736" y="186343"/>
                </a:cubicBezTo>
                <a:cubicBezTo>
                  <a:pt x="12085" y="211138"/>
                  <a:pt x="33824" y="247253"/>
                  <a:pt x="66328" y="277396"/>
                </a:cubicBezTo>
                <a:cubicBezTo>
                  <a:pt x="99040" y="307747"/>
                  <a:pt x="143976" y="333375"/>
                  <a:pt x="200094" y="333375"/>
                </a:cubicBezTo>
                <a:cubicBezTo>
                  <a:pt x="226000" y="333375"/>
                  <a:pt x="249545" y="327888"/>
                  <a:pt x="270589" y="319068"/>
                </a:cubicBezTo>
                <a:lnTo>
                  <a:pt x="226000" y="274479"/>
                </a:lnTo>
                <a:close/>
              </a:path>
            </a:pathLst>
          </a:custGeom>
          <a:solidFill>
            <a:srgbClr val="D97706"/>
          </a:solidFill>
          <a:ln/>
        </p:spPr>
      </p:sp>
      <p:sp>
        <p:nvSpPr>
          <p:cNvPr id="10" name="Text 8"/>
          <p:cNvSpPr/>
          <p:nvPr/>
        </p:nvSpPr>
        <p:spPr>
          <a:xfrm>
            <a:off x="1524000" y="3492500"/>
            <a:ext cx="6096000" cy="3048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Partial Observability</a:t>
            </a:r>
            <a:endParaRPr lang="en-US" sz="1600" dirty="0"/>
          </a:p>
        </p:txBody>
      </p:sp>
      <p:sp>
        <p:nvSpPr>
          <p:cNvPr id="11" name="Text 9"/>
          <p:cNvSpPr/>
          <p:nvPr/>
        </p:nvSpPr>
        <p:spPr>
          <a:xfrm>
            <a:off x="1524000" y="3873500"/>
            <a:ext cx="6096000" cy="5080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Sensors cannot access the complete state of the environment</a:t>
            </a:r>
            <a:endParaRPr lang="en-US" sz="1600" dirty="0"/>
          </a:p>
        </p:txBody>
      </p:sp>
      <p:sp>
        <p:nvSpPr>
          <p:cNvPr id="12" name="Shape 10"/>
          <p:cNvSpPr/>
          <p:nvPr/>
        </p:nvSpPr>
        <p:spPr>
          <a:xfrm>
            <a:off x="8382000" y="3302000"/>
            <a:ext cx="7112000" cy="127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3" name="Shape 11"/>
          <p:cNvSpPr/>
          <p:nvPr/>
        </p:nvSpPr>
        <p:spPr>
          <a:xfrm>
            <a:off x="8613775" y="3683000"/>
            <a:ext cx="400050" cy="355600"/>
          </a:xfrm>
          <a:custGeom>
            <a:avLst/>
            <a:gdLst/>
            <a:ahLst/>
            <a:cxnLst/>
            <a:rect l="l" t="t" r="r" b="b"/>
            <a:pathLst>
              <a:path w="400050" h="355600">
                <a:moveTo>
                  <a:pt x="33337" y="244475"/>
                </a:moveTo>
                <a:lnTo>
                  <a:pt x="66675" y="244475"/>
                </a:lnTo>
                <a:lnTo>
                  <a:pt x="159812" y="327263"/>
                </a:lnTo>
                <a:cubicBezTo>
                  <a:pt x="164257" y="331222"/>
                  <a:pt x="169952" y="333375"/>
                  <a:pt x="175855" y="333375"/>
                </a:cubicBezTo>
                <a:cubicBezTo>
                  <a:pt x="189190" y="333375"/>
                  <a:pt x="200025" y="322540"/>
                  <a:pt x="200025" y="309205"/>
                </a:cubicBezTo>
                <a:lnTo>
                  <a:pt x="200025" y="46395"/>
                </a:lnTo>
                <a:cubicBezTo>
                  <a:pt x="200025" y="33060"/>
                  <a:pt x="189190" y="22225"/>
                  <a:pt x="175855" y="22225"/>
                </a:cubicBezTo>
                <a:cubicBezTo>
                  <a:pt x="169952" y="22225"/>
                  <a:pt x="164257" y="24378"/>
                  <a:pt x="159812" y="28337"/>
                </a:cubicBezTo>
                <a:lnTo>
                  <a:pt x="66675" y="111125"/>
                </a:lnTo>
                <a:lnTo>
                  <a:pt x="33337" y="111125"/>
                </a:lnTo>
                <a:cubicBezTo>
                  <a:pt x="14932" y="111125"/>
                  <a:pt x="0" y="126057"/>
                  <a:pt x="0" y="144463"/>
                </a:cubicBezTo>
                <a:lnTo>
                  <a:pt x="0" y="211138"/>
                </a:lnTo>
                <a:cubicBezTo>
                  <a:pt x="0" y="229543"/>
                  <a:pt x="14932" y="244475"/>
                  <a:pt x="33337" y="244475"/>
                </a:cubicBezTo>
                <a:close/>
                <a:moveTo>
                  <a:pt x="254893" y="121543"/>
                </a:moveTo>
                <a:cubicBezTo>
                  <a:pt x="248364" y="128072"/>
                  <a:pt x="248364" y="138628"/>
                  <a:pt x="254893" y="145088"/>
                </a:cubicBezTo>
                <a:lnTo>
                  <a:pt x="287536" y="177731"/>
                </a:lnTo>
                <a:lnTo>
                  <a:pt x="254893" y="210374"/>
                </a:lnTo>
                <a:cubicBezTo>
                  <a:pt x="248364" y="216902"/>
                  <a:pt x="248364" y="227459"/>
                  <a:pt x="254893" y="233918"/>
                </a:cubicBezTo>
                <a:cubicBezTo>
                  <a:pt x="261422" y="240377"/>
                  <a:pt x="271978" y="240447"/>
                  <a:pt x="278438" y="233918"/>
                </a:cubicBezTo>
                <a:lnTo>
                  <a:pt x="311081" y="201275"/>
                </a:lnTo>
                <a:lnTo>
                  <a:pt x="343724" y="233918"/>
                </a:lnTo>
                <a:cubicBezTo>
                  <a:pt x="350252" y="240447"/>
                  <a:pt x="360809" y="240447"/>
                  <a:pt x="367268" y="233918"/>
                </a:cubicBezTo>
                <a:cubicBezTo>
                  <a:pt x="373727" y="227390"/>
                  <a:pt x="373797" y="216833"/>
                  <a:pt x="367268" y="210374"/>
                </a:cubicBezTo>
                <a:lnTo>
                  <a:pt x="334625" y="177731"/>
                </a:lnTo>
                <a:lnTo>
                  <a:pt x="367268" y="145088"/>
                </a:lnTo>
                <a:cubicBezTo>
                  <a:pt x="373797" y="138559"/>
                  <a:pt x="373797" y="128002"/>
                  <a:pt x="367268" y="121543"/>
                </a:cubicBezTo>
                <a:cubicBezTo>
                  <a:pt x="360740" y="115084"/>
                  <a:pt x="350183" y="115014"/>
                  <a:pt x="343724" y="121543"/>
                </a:cubicBezTo>
                <a:lnTo>
                  <a:pt x="311081" y="154186"/>
                </a:lnTo>
                <a:lnTo>
                  <a:pt x="278438" y="121543"/>
                </a:lnTo>
                <a:cubicBezTo>
                  <a:pt x="271909" y="115014"/>
                  <a:pt x="261352" y="115014"/>
                  <a:pt x="254893" y="121543"/>
                </a:cubicBezTo>
                <a:close/>
              </a:path>
            </a:pathLst>
          </a:custGeom>
          <a:solidFill>
            <a:srgbClr val="D97706"/>
          </a:solidFill>
          <a:ln/>
        </p:spPr>
      </p:sp>
      <p:sp>
        <p:nvSpPr>
          <p:cNvPr id="14" name="Text 12"/>
          <p:cNvSpPr/>
          <p:nvPr/>
        </p:nvSpPr>
        <p:spPr>
          <a:xfrm>
            <a:off x="9144000" y="3492500"/>
            <a:ext cx="6096000" cy="3048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Noisy &amp; Inaccurate Sensors</a:t>
            </a:r>
            <a:endParaRPr lang="en-US" sz="1600" dirty="0"/>
          </a:p>
        </p:txBody>
      </p:sp>
      <p:sp>
        <p:nvSpPr>
          <p:cNvPr id="15" name="Text 13"/>
          <p:cNvSpPr/>
          <p:nvPr/>
        </p:nvSpPr>
        <p:spPr>
          <a:xfrm>
            <a:off x="9144000" y="3873500"/>
            <a:ext cx="6096000" cy="5080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Real-world sensors have limitations and measurement errors</a:t>
            </a:r>
            <a:endParaRPr lang="en-US" sz="1600" dirty="0"/>
          </a:p>
        </p:txBody>
      </p:sp>
      <p:sp>
        <p:nvSpPr>
          <p:cNvPr id="16" name="Shape 14"/>
          <p:cNvSpPr/>
          <p:nvPr/>
        </p:nvSpPr>
        <p:spPr>
          <a:xfrm>
            <a:off x="762000" y="4889500"/>
            <a:ext cx="7112000" cy="127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7" name="Shape 15"/>
          <p:cNvSpPr/>
          <p:nvPr/>
        </p:nvSpPr>
        <p:spPr>
          <a:xfrm>
            <a:off x="1016000" y="5270500"/>
            <a:ext cx="355600" cy="355600"/>
          </a:xfrm>
          <a:custGeom>
            <a:avLst/>
            <a:gdLst/>
            <a:ahLst/>
            <a:cxnLst/>
            <a:rect l="l" t="t" r="r" b="b"/>
            <a:pathLst>
              <a:path w="355600" h="355600">
                <a:moveTo>
                  <a:pt x="177800" y="0"/>
                </a:moveTo>
                <a:cubicBezTo>
                  <a:pt x="275930" y="0"/>
                  <a:pt x="355600" y="79670"/>
                  <a:pt x="355600" y="177800"/>
                </a:cubicBezTo>
                <a:cubicBezTo>
                  <a:pt x="355600" y="275930"/>
                  <a:pt x="275930" y="355600"/>
                  <a:pt x="177800" y="355600"/>
                </a:cubicBezTo>
                <a:cubicBezTo>
                  <a:pt x="79670" y="355600"/>
                  <a:pt x="0" y="275930"/>
                  <a:pt x="0" y="177800"/>
                </a:cubicBezTo>
                <a:cubicBezTo>
                  <a:pt x="0" y="79670"/>
                  <a:pt x="79670" y="0"/>
                  <a:pt x="177800" y="0"/>
                </a:cubicBezTo>
                <a:close/>
                <a:moveTo>
                  <a:pt x="161131" y="83344"/>
                </a:moveTo>
                <a:lnTo>
                  <a:pt x="161131" y="177800"/>
                </a:lnTo>
                <a:cubicBezTo>
                  <a:pt x="161131" y="183356"/>
                  <a:pt x="163909" y="188565"/>
                  <a:pt x="168563" y="191691"/>
                </a:cubicBezTo>
                <a:lnTo>
                  <a:pt x="235238" y="236141"/>
                </a:lnTo>
                <a:cubicBezTo>
                  <a:pt x="242878" y="241280"/>
                  <a:pt x="253226" y="239197"/>
                  <a:pt x="258366" y="231487"/>
                </a:cubicBezTo>
                <a:cubicBezTo>
                  <a:pt x="263505" y="223778"/>
                  <a:pt x="261422" y="213499"/>
                  <a:pt x="253712" y="208359"/>
                </a:cubicBezTo>
                <a:lnTo>
                  <a:pt x="194469" y="168910"/>
                </a:lnTo>
                <a:lnTo>
                  <a:pt x="194469" y="83344"/>
                </a:lnTo>
                <a:cubicBezTo>
                  <a:pt x="194469" y="74106"/>
                  <a:pt x="187037" y="66675"/>
                  <a:pt x="177800" y="66675"/>
                </a:cubicBezTo>
                <a:cubicBezTo>
                  <a:pt x="168563" y="66675"/>
                  <a:pt x="161131" y="74106"/>
                  <a:pt x="161131" y="83344"/>
                </a:cubicBezTo>
                <a:close/>
              </a:path>
            </a:pathLst>
          </a:custGeom>
          <a:solidFill>
            <a:srgbClr val="D97706"/>
          </a:solidFill>
          <a:ln/>
        </p:spPr>
      </p:sp>
      <p:sp>
        <p:nvSpPr>
          <p:cNvPr id="18" name="Text 16"/>
          <p:cNvSpPr/>
          <p:nvPr/>
        </p:nvSpPr>
        <p:spPr>
          <a:xfrm>
            <a:off x="1524000" y="5080000"/>
            <a:ext cx="6096000" cy="3048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Inherent Uncertainty</a:t>
            </a:r>
            <a:endParaRPr lang="en-US" sz="1600" dirty="0"/>
          </a:p>
        </p:txBody>
      </p:sp>
      <p:sp>
        <p:nvSpPr>
          <p:cNvPr id="19" name="Text 17"/>
          <p:cNvSpPr/>
          <p:nvPr/>
        </p:nvSpPr>
        <p:spPr>
          <a:xfrm>
            <a:off x="1524000" y="5461000"/>
            <a:ext cx="6096000" cy="5080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The future contains unpredictable events and randomness</a:t>
            </a:r>
            <a:endParaRPr lang="en-US" sz="1600" dirty="0"/>
          </a:p>
        </p:txBody>
      </p:sp>
      <p:sp>
        <p:nvSpPr>
          <p:cNvPr id="20" name="Shape 18"/>
          <p:cNvSpPr/>
          <p:nvPr/>
        </p:nvSpPr>
        <p:spPr>
          <a:xfrm>
            <a:off x="8382000" y="4889500"/>
            <a:ext cx="7112000" cy="1270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1" name="Shape 19"/>
          <p:cNvSpPr/>
          <p:nvPr/>
        </p:nvSpPr>
        <p:spPr>
          <a:xfrm>
            <a:off x="8636000" y="5270500"/>
            <a:ext cx="355600" cy="355600"/>
          </a:xfrm>
          <a:custGeom>
            <a:avLst/>
            <a:gdLst/>
            <a:ahLst/>
            <a:cxnLst/>
            <a:rect l="l" t="t" r="r" b="b"/>
            <a:pathLst>
              <a:path w="355600" h="355600">
                <a:moveTo>
                  <a:pt x="280452" y="23892"/>
                </a:moveTo>
                <a:cubicBezTo>
                  <a:pt x="288786" y="20419"/>
                  <a:pt x="298301" y="22364"/>
                  <a:pt x="304691" y="28684"/>
                </a:cubicBezTo>
                <a:lnTo>
                  <a:pt x="349141" y="73134"/>
                </a:lnTo>
                <a:cubicBezTo>
                  <a:pt x="353308" y="77301"/>
                  <a:pt x="355669" y="82927"/>
                  <a:pt x="355669" y="88831"/>
                </a:cubicBezTo>
                <a:cubicBezTo>
                  <a:pt x="355669" y="94734"/>
                  <a:pt x="353308" y="100360"/>
                  <a:pt x="349141" y="104527"/>
                </a:cubicBezTo>
                <a:lnTo>
                  <a:pt x="304691" y="148977"/>
                </a:lnTo>
                <a:cubicBezTo>
                  <a:pt x="298301" y="155367"/>
                  <a:pt x="288786" y="157242"/>
                  <a:pt x="280452" y="153769"/>
                </a:cubicBezTo>
                <a:cubicBezTo>
                  <a:pt x="272117" y="150297"/>
                  <a:pt x="266700" y="142309"/>
                  <a:pt x="266700" y="133350"/>
                </a:cubicBezTo>
                <a:lnTo>
                  <a:pt x="266700" y="111125"/>
                </a:lnTo>
                <a:lnTo>
                  <a:pt x="244475" y="111125"/>
                </a:lnTo>
                <a:cubicBezTo>
                  <a:pt x="237460" y="111125"/>
                  <a:pt x="230862" y="114389"/>
                  <a:pt x="226695" y="120015"/>
                </a:cubicBezTo>
                <a:lnTo>
                  <a:pt x="204192" y="150019"/>
                </a:lnTo>
                <a:lnTo>
                  <a:pt x="176411" y="113000"/>
                </a:lnTo>
                <a:lnTo>
                  <a:pt x="191135" y="93345"/>
                </a:lnTo>
                <a:cubicBezTo>
                  <a:pt x="203706" y="76537"/>
                  <a:pt x="223500" y="66675"/>
                  <a:pt x="244475" y="66675"/>
                </a:cubicBezTo>
                <a:lnTo>
                  <a:pt x="266700" y="66675"/>
                </a:lnTo>
                <a:lnTo>
                  <a:pt x="266700" y="44450"/>
                </a:lnTo>
                <a:cubicBezTo>
                  <a:pt x="266700" y="35491"/>
                  <a:pt x="272117" y="27365"/>
                  <a:pt x="280452" y="23892"/>
                </a:cubicBezTo>
                <a:close/>
                <a:moveTo>
                  <a:pt x="106958" y="205581"/>
                </a:moveTo>
                <a:lnTo>
                  <a:pt x="134739" y="242600"/>
                </a:lnTo>
                <a:lnTo>
                  <a:pt x="120015" y="262255"/>
                </a:lnTo>
                <a:cubicBezTo>
                  <a:pt x="107444" y="279063"/>
                  <a:pt x="87650" y="288925"/>
                  <a:pt x="66675" y="288925"/>
                </a:cubicBezTo>
                <a:lnTo>
                  <a:pt x="22225" y="288925"/>
                </a:lnTo>
                <a:cubicBezTo>
                  <a:pt x="9932" y="288925"/>
                  <a:pt x="0" y="278993"/>
                  <a:pt x="0" y="266700"/>
                </a:cubicBezTo>
                <a:cubicBezTo>
                  <a:pt x="0" y="254407"/>
                  <a:pt x="9932" y="244475"/>
                  <a:pt x="22225" y="244475"/>
                </a:cubicBezTo>
                <a:lnTo>
                  <a:pt x="66675" y="244475"/>
                </a:lnTo>
                <a:cubicBezTo>
                  <a:pt x="73690" y="244475"/>
                  <a:pt x="80288" y="241211"/>
                  <a:pt x="84455" y="235585"/>
                </a:cubicBezTo>
                <a:lnTo>
                  <a:pt x="106958" y="205581"/>
                </a:lnTo>
                <a:close/>
                <a:moveTo>
                  <a:pt x="304621" y="326846"/>
                </a:moveTo>
                <a:cubicBezTo>
                  <a:pt x="298232" y="333236"/>
                  <a:pt x="288717" y="335111"/>
                  <a:pt x="280382" y="331639"/>
                </a:cubicBezTo>
                <a:cubicBezTo>
                  <a:pt x="272048" y="328166"/>
                  <a:pt x="266700" y="320109"/>
                  <a:pt x="266700" y="311150"/>
                </a:cubicBezTo>
                <a:lnTo>
                  <a:pt x="266700" y="288925"/>
                </a:lnTo>
                <a:lnTo>
                  <a:pt x="244475" y="288925"/>
                </a:lnTo>
                <a:cubicBezTo>
                  <a:pt x="223500" y="288925"/>
                  <a:pt x="203706" y="279063"/>
                  <a:pt x="191135" y="262255"/>
                </a:cubicBezTo>
                <a:lnTo>
                  <a:pt x="84455" y="120015"/>
                </a:lnTo>
                <a:cubicBezTo>
                  <a:pt x="80288" y="114389"/>
                  <a:pt x="73690" y="111125"/>
                  <a:pt x="66675" y="111125"/>
                </a:cubicBezTo>
                <a:lnTo>
                  <a:pt x="22225" y="111125"/>
                </a:lnTo>
                <a:cubicBezTo>
                  <a:pt x="9932" y="111125"/>
                  <a:pt x="0" y="101193"/>
                  <a:pt x="0" y="88900"/>
                </a:cubicBezTo>
                <a:cubicBezTo>
                  <a:pt x="0" y="76607"/>
                  <a:pt x="9932" y="66675"/>
                  <a:pt x="22225" y="66675"/>
                </a:cubicBezTo>
                <a:lnTo>
                  <a:pt x="66675" y="66675"/>
                </a:lnTo>
                <a:cubicBezTo>
                  <a:pt x="87650" y="66675"/>
                  <a:pt x="107444" y="76537"/>
                  <a:pt x="120015" y="93345"/>
                </a:cubicBezTo>
                <a:lnTo>
                  <a:pt x="226695" y="235585"/>
                </a:lnTo>
                <a:cubicBezTo>
                  <a:pt x="230862" y="241211"/>
                  <a:pt x="237460" y="244475"/>
                  <a:pt x="244475" y="244475"/>
                </a:cubicBezTo>
                <a:lnTo>
                  <a:pt x="266700" y="244475"/>
                </a:lnTo>
                <a:lnTo>
                  <a:pt x="266700" y="222250"/>
                </a:lnTo>
                <a:cubicBezTo>
                  <a:pt x="266700" y="213291"/>
                  <a:pt x="272117" y="205165"/>
                  <a:pt x="280452" y="201692"/>
                </a:cubicBezTo>
                <a:cubicBezTo>
                  <a:pt x="288786" y="198219"/>
                  <a:pt x="298301" y="200164"/>
                  <a:pt x="304691" y="206484"/>
                </a:cubicBezTo>
                <a:lnTo>
                  <a:pt x="349141" y="250934"/>
                </a:lnTo>
                <a:cubicBezTo>
                  <a:pt x="353308" y="255101"/>
                  <a:pt x="355669" y="260727"/>
                  <a:pt x="355669" y="266631"/>
                </a:cubicBezTo>
                <a:cubicBezTo>
                  <a:pt x="355669" y="272534"/>
                  <a:pt x="353308" y="278160"/>
                  <a:pt x="349141" y="282327"/>
                </a:cubicBezTo>
                <a:lnTo>
                  <a:pt x="304691" y="326777"/>
                </a:lnTo>
                <a:close/>
              </a:path>
            </a:pathLst>
          </a:custGeom>
          <a:solidFill>
            <a:srgbClr val="D97706"/>
          </a:solidFill>
          <a:ln/>
        </p:spPr>
      </p:sp>
      <p:sp>
        <p:nvSpPr>
          <p:cNvPr id="22" name="Text 20"/>
          <p:cNvSpPr/>
          <p:nvPr/>
        </p:nvSpPr>
        <p:spPr>
          <a:xfrm>
            <a:off x="9144000" y="5080000"/>
            <a:ext cx="6096000" cy="304800"/>
          </a:xfrm>
          <a:prstGeom prst="rect">
            <a:avLst/>
          </a:prstGeom>
          <a:noFill/>
          <a:ln/>
        </p:spPr>
        <p:txBody>
          <a:bodyPr wrap="none" lIns="0" tIns="0" rIns="0" bIns="0" rtlCol="0" anchor="ctr"/>
          <a:lstStyle/>
          <a:p>
            <a:pPr>
              <a:lnSpc>
                <a:spcPct val="100000"/>
              </a:lnSpc>
            </a:pPr>
            <a:r>
              <a:rPr lang="en-US" sz="1600" dirty="0">
                <a:solidFill>
                  <a:srgbClr val="0F4C5C"/>
                </a:solidFill>
                <a:latin typeface="Liter" pitchFamily="34" charset="0"/>
                <a:ea typeface="Liter" pitchFamily="34" charset="-122"/>
                <a:cs typeface="Liter" pitchFamily="34" charset="-120"/>
              </a:rPr>
              <a:t>Unpredictable Consequences</a:t>
            </a:r>
            <a:endParaRPr lang="en-US" sz="1600" dirty="0"/>
          </a:p>
        </p:txBody>
      </p:sp>
      <p:sp>
        <p:nvSpPr>
          <p:cNvPr id="23" name="Text 21"/>
          <p:cNvSpPr/>
          <p:nvPr/>
        </p:nvSpPr>
        <p:spPr>
          <a:xfrm>
            <a:off x="9144000" y="5461000"/>
            <a:ext cx="6096000" cy="508000"/>
          </a:xfrm>
          <a:prstGeom prst="rect">
            <a:avLst/>
          </a:prstGeom>
          <a:noFill/>
          <a:ln/>
        </p:spPr>
        <p:txBody>
          <a:bodyPr wrap="square" lIns="0" tIns="0" rIns="0" bIns="0" rtlCol="0" anchor="t"/>
          <a:lstStyle/>
          <a:p>
            <a:pPr>
              <a:lnSpc>
                <a:spcPct val="140000"/>
              </a:lnSpc>
            </a:pPr>
            <a:r>
              <a:rPr lang="en-US" sz="1400" dirty="0">
                <a:solidFill>
                  <a:srgbClr val="1C1917"/>
                </a:solidFill>
                <a:latin typeface="Quattrocento Sans" pitchFamily="34" charset="0"/>
                <a:ea typeface="Quattrocento Sans" pitchFamily="34" charset="-122"/>
                <a:cs typeface="Quattrocento Sans" pitchFamily="34" charset="-120"/>
              </a:rPr>
              <a:t>Actions may have unintended and unforeseen outcomes</a:t>
            </a:r>
            <a:endParaRPr lang="en-US" sz="1600" dirty="0"/>
          </a:p>
        </p:txBody>
      </p:sp>
      <p:sp>
        <p:nvSpPr>
          <p:cNvPr id="24" name="Shape 22"/>
          <p:cNvSpPr/>
          <p:nvPr/>
        </p:nvSpPr>
        <p:spPr>
          <a:xfrm>
            <a:off x="762000" y="6604000"/>
            <a:ext cx="14732000" cy="1524000"/>
          </a:xfrm>
          <a:prstGeom prst="rect">
            <a:avLst/>
          </a:prstGeom>
          <a:solidFill>
            <a:srgbClr val="E0F2F1"/>
          </a:solidFill>
          <a:ln/>
        </p:spPr>
      </p:sp>
      <p:sp>
        <p:nvSpPr>
          <p:cNvPr id="25" name="Shape 23"/>
          <p:cNvSpPr/>
          <p:nvPr/>
        </p:nvSpPr>
        <p:spPr>
          <a:xfrm>
            <a:off x="1123950" y="7048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97706"/>
          </a:solidFill>
          <a:ln/>
        </p:spPr>
      </p:sp>
      <p:sp>
        <p:nvSpPr>
          <p:cNvPr id="26" name="Text 24"/>
          <p:cNvSpPr/>
          <p:nvPr/>
        </p:nvSpPr>
        <p:spPr>
          <a:xfrm>
            <a:off x="1587500" y="6794500"/>
            <a:ext cx="13589000" cy="1143000"/>
          </a:xfrm>
          <a:prstGeom prst="rect">
            <a:avLst/>
          </a:prstGeom>
          <a:noFill/>
          <a:ln/>
        </p:spPr>
        <p:txBody>
          <a:bodyPr wrap="square" lIns="0" tIns="0" rIns="0" bIns="0" rtlCol="0" anchor="ctr"/>
          <a:lstStyle/>
          <a:p>
            <a:pPr>
              <a:lnSpc>
                <a:spcPct val="150000"/>
              </a:lnSpc>
            </a:pPr>
            <a:r>
              <a:rPr lang="en-US" sz="1600" b="1" dirty="0">
                <a:solidFill>
                  <a:srgbClr val="0F4C5C"/>
                </a:solidFill>
                <a:latin typeface="Quattrocento Sans" pitchFamily="34" charset="0"/>
                <a:ea typeface="Quattrocento Sans" pitchFamily="34" charset="-122"/>
                <a:cs typeface="Quattrocento Sans" pitchFamily="34" charset="-120"/>
              </a:rPr>
              <a:t>Key Insight: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We cannot build omniscient agents, so we aim for </a:t>
            </a:r>
            <a:pP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rational agents</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that make the best possible decisions with available information. Rationality maximizes </a:t>
            </a:r>
            <a:pPr>
              <a:lnSpc>
                <a:spcPct val="150000"/>
              </a:lnSpc>
            </a:pPr>
            <a:r>
              <a:rPr lang="en-US" sz="1600" i="1" dirty="0">
                <a:solidFill>
                  <a:srgbClr val="1C1917"/>
                </a:solidFill>
                <a:latin typeface="Quattrocento Sans" pitchFamily="34" charset="0"/>
                <a:ea typeface="Quattrocento Sans" pitchFamily="34" charset="-122"/>
                <a:cs typeface="Quattrocento Sans" pitchFamily="34" charset="-120"/>
              </a:rPr>
              <a:t>expected</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performance; omniscience would maximize </a:t>
            </a:r>
            <a:pPr>
              <a:lnSpc>
                <a:spcPct val="150000"/>
              </a:lnSpc>
            </a:pPr>
            <a:r>
              <a:rPr lang="en-US" sz="1600" i="1" dirty="0">
                <a:solidFill>
                  <a:srgbClr val="1C1917"/>
                </a:solidFill>
                <a:latin typeface="Quattrocento Sans" pitchFamily="34" charset="0"/>
                <a:ea typeface="Quattrocento Sans" pitchFamily="34" charset="-122"/>
                <a:cs typeface="Quattrocento Sans" pitchFamily="34" charset="-120"/>
              </a:rPr>
              <a:t>actual</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performance.</a:t>
            </a:r>
            <a:endParaRPr lang="en-US" sz="1600" dirty="0"/>
          </a:p>
        </p:txBody>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23</a:t>
            </a:r>
            <a:endParaRPr lang="en-US" sz="14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Rationality vs. Omniscience</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7112000" cy="762000"/>
          </a:xfrm>
          <a:prstGeom prst="rect">
            <a:avLst/>
          </a:prstGeom>
          <a:solidFill>
            <a:srgbClr val="0F4C5C"/>
          </a:solidFill>
          <a:ln/>
        </p:spPr>
      </p:sp>
      <p:sp>
        <p:nvSpPr>
          <p:cNvPr id="6" name="Text 4"/>
          <p:cNvSpPr/>
          <p:nvPr/>
        </p:nvSpPr>
        <p:spPr>
          <a:xfrm>
            <a:off x="1016000" y="1460500"/>
            <a:ext cx="6604000" cy="635000"/>
          </a:xfrm>
          <a:prstGeom prst="rect">
            <a:avLst/>
          </a:prstGeom>
          <a:noFill/>
          <a:ln/>
        </p:spPr>
        <p:txBody>
          <a:bodyPr wrap="none" lIns="0" tIns="0" rIns="0" bIns="0" rtlCol="0" anchor="ctr"/>
          <a:lstStyle/>
          <a:p>
            <a:pPr algn="ctr">
              <a:lnSpc>
                <a:spcPct val="100000"/>
              </a:lnSpc>
            </a:pPr>
            <a:r>
              <a:rPr lang="en-US" sz="2200" dirty="0">
                <a:solidFill>
                  <a:srgbClr val="FFFFFF"/>
                </a:solidFill>
                <a:latin typeface="Liter" pitchFamily="34" charset="0"/>
                <a:ea typeface="Liter" pitchFamily="34" charset="-122"/>
                <a:cs typeface="Liter" pitchFamily="34" charset="-120"/>
              </a:rPr>
              <a:t>RATIONALITY</a:t>
            </a:r>
            <a:endParaRPr lang="en-US" sz="1600" dirty="0"/>
          </a:p>
        </p:txBody>
      </p:sp>
      <p:sp>
        <p:nvSpPr>
          <p:cNvPr id="7" name="Shape 5"/>
          <p:cNvSpPr/>
          <p:nvPr/>
        </p:nvSpPr>
        <p:spPr>
          <a:xfrm>
            <a:off x="762000" y="2159000"/>
            <a:ext cx="7112000" cy="4826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8" name="Text 6"/>
          <p:cNvSpPr/>
          <p:nvPr/>
        </p:nvSpPr>
        <p:spPr>
          <a:xfrm>
            <a:off x="1079500" y="2413000"/>
            <a:ext cx="6477000" cy="4318000"/>
          </a:xfrm>
          <a:prstGeom prst="rect">
            <a:avLst/>
          </a:prstGeom>
          <a:noFill/>
          <a:ln/>
        </p:spPr>
        <p:txBody>
          <a:bodyPr wrap="square" lIns="0" tIns="0" rIns="0" bIns="0" rtlCol="0" anchor="t"/>
          <a:lstStyle/>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Makes best decision given available information</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Maximizes </a:t>
            </a:r>
            <a:pPr>
              <a:lnSpc>
                <a:spcPct val="170000"/>
              </a:lnSpc>
            </a:pPr>
            <a:r>
              <a:rPr lang="en-US" sz="1600" b="1" dirty="0">
                <a:solidFill>
                  <a:srgbClr val="1C1917"/>
                </a:solidFill>
                <a:latin typeface="Quattrocento Sans" pitchFamily="34" charset="0"/>
                <a:ea typeface="Quattrocento Sans" pitchFamily="34" charset="-122"/>
                <a:cs typeface="Quattrocento Sans" pitchFamily="34" charset="-120"/>
              </a:rPr>
              <a:t>expected</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performance</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Achievable in practice</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Accounts for uncertainty</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Requires learning from experience</a:t>
            </a:r>
            <a:endParaRPr lang="en-US" sz="1600" dirty="0"/>
          </a:p>
          <a:p>
            <a:pPr>
              <a:lnSpc>
                <a:spcPct val="17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Gathers information through exploration</a:t>
            </a:r>
            <a:endParaRPr lang="en-US" sz="1600" dirty="0"/>
          </a:p>
          <a:p>
            <a:pPr>
              <a:lnSpc>
                <a:spcPct val="170000"/>
              </a:lnSpc>
              <a:spcBef>
                <a:spcPts val="2000"/>
              </a:spcBef>
            </a:pPr>
            <a:r>
              <a:rPr lang="en-US" sz="1600" b="1" dirty="0">
                <a:solidFill>
                  <a:srgbClr val="0F4C5C"/>
                </a:solidFill>
                <a:latin typeface="Quattrocento Sans" pitchFamily="34" charset="0"/>
                <a:ea typeface="Quattrocento Sans" pitchFamily="34" charset="-122"/>
                <a:cs typeface="Quattrocento Sans" pitchFamily="34" charset="-120"/>
              </a:rPr>
              <a:t>Goal:</a:t>
            </a:r>
            <a:pPr>
              <a:lnSpc>
                <a:spcPct val="170000"/>
              </a:lnSpc>
              <a:spcBef>
                <a:spcPts val="2000"/>
              </a:spcBef>
            </a:pPr>
            <a:r>
              <a:rPr lang="en-US" sz="1600" dirty="0">
                <a:solidFill>
                  <a:srgbClr val="1C1917"/>
                </a:solidFill>
                <a:latin typeface="Quattrocento Sans" pitchFamily="34" charset="0"/>
                <a:ea typeface="Quattrocento Sans" pitchFamily="34" charset="-122"/>
                <a:cs typeface="Quattrocento Sans" pitchFamily="34" charset="-120"/>
              </a:rPr>
              <a:t> Make the best possible choice at the time</a:t>
            </a:r>
            <a:endParaRPr lang="en-US" sz="1600" dirty="0"/>
          </a:p>
        </p:txBody>
      </p:sp>
      <p:sp>
        <p:nvSpPr>
          <p:cNvPr id="9" name="Shape 7"/>
          <p:cNvSpPr/>
          <p:nvPr/>
        </p:nvSpPr>
        <p:spPr>
          <a:xfrm>
            <a:off x="8382000" y="1397000"/>
            <a:ext cx="7112000" cy="762000"/>
          </a:xfrm>
          <a:prstGeom prst="rect">
            <a:avLst/>
          </a:prstGeom>
          <a:solidFill>
            <a:srgbClr val="64748B"/>
          </a:solidFill>
          <a:ln/>
        </p:spPr>
      </p:sp>
      <p:sp>
        <p:nvSpPr>
          <p:cNvPr id="10" name="Text 8"/>
          <p:cNvSpPr/>
          <p:nvPr/>
        </p:nvSpPr>
        <p:spPr>
          <a:xfrm>
            <a:off x="8636000" y="1460500"/>
            <a:ext cx="6604000" cy="635000"/>
          </a:xfrm>
          <a:prstGeom prst="rect">
            <a:avLst/>
          </a:prstGeom>
          <a:noFill/>
          <a:ln/>
        </p:spPr>
        <p:txBody>
          <a:bodyPr wrap="none" lIns="0" tIns="0" rIns="0" bIns="0" rtlCol="0" anchor="ctr"/>
          <a:lstStyle/>
          <a:p>
            <a:pPr algn="ctr">
              <a:lnSpc>
                <a:spcPct val="100000"/>
              </a:lnSpc>
            </a:pPr>
            <a:r>
              <a:rPr lang="en-US" sz="2200" dirty="0">
                <a:solidFill>
                  <a:srgbClr val="FFFFFF"/>
                </a:solidFill>
                <a:latin typeface="Liter" pitchFamily="34" charset="0"/>
                <a:ea typeface="Liter" pitchFamily="34" charset="-122"/>
                <a:cs typeface="Liter" pitchFamily="34" charset="-120"/>
              </a:rPr>
              <a:t>OMNISCIENCE</a:t>
            </a:r>
            <a:endParaRPr lang="en-US" sz="1600" dirty="0"/>
          </a:p>
        </p:txBody>
      </p:sp>
      <p:sp>
        <p:nvSpPr>
          <p:cNvPr id="11" name="Shape 9"/>
          <p:cNvSpPr/>
          <p:nvPr/>
        </p:nvSpPr>
        <p:spPr>
          <a:xfrm>
            <a:off x="8382000" y="2159000"/>
            <a:ext cx="7112000" cy="4826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Text 10"/>
          <p:cNvSpPr/>
          <p:nvPr/>
        </p:nvSpPr>
        <p:spPr>
          <a:xfrm>
            <a:off x="8699500" y="2413000"/>
            <a:ext cx="6477000" cy="4318000"/>
          </a:xfrm>
          <a:prstGeom prst="rect">
            <a:avLst/>
          </a:prstGeom>
          <a:noFill/>
          <a:ln/>
        </p:spPr>
        <p:txBody>
          <a:bodyPr wrap="square" lIns="0" tIns="0" rIns="0" bIns="0" rtlCol="0" anchor="t"/>
          <a:lstStyle/>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Knows actual outcomes of all actions</a:t>
            </a:r>
            <a:endParaRPr lang="en-US" sz="1600" dirty="0"/>
          </a:p>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Maximizes </a:t>
            </a:r>
            <a:pPr>
              <a:lnSpc>
                <a:spcPct val="170000"/>
              </a:lnSpc>
            </a:pPr>
            <a:r>
              <a:rPr lang="en-US" sz="1600" b="1" dirty="0">
                <a:solidFill>
                  <a:srgbClr val="1C1917"/>
                </a:solidFill>
                <a:latin typeface="Quattrocento Sans" pitchFamily="34" charset="0"/>
                <a:ea typeface="Quattrocento Sans" pitchFamily="34" charset="-122"/>
                <a:cs typeface="Quattrocento Sans" pitchFamily="34" charset="-120"/>
              </a:rPr>
              <a:t>actual</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(perfect) performance</a:t>
            </a:r>
            <a:endParaRPr lang="en-US" sz="1600" dirty="0"/>
          </a:p>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Impossible in reality</a:t>
            </a:r>
            <a:endParaRPr lang="en-US" sz="1600" dirty="0"/>
          </a:p>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Assumes complete knowledge</a:t>
            </a:r>
            <a:endParaRPr lang="en-US" sz="1600" dirty="0"/>
          </a:p>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No learning needed</a:t>
            </a:r>
            <a:endParaRPr lang="en-US" sz="1600" dirty="0"/>
          </a:p>
          <a:p>
            <a:pPr>
              <a:lnSpc>
                <a:spcPct val="170000"/>
              </a:lnSpc>
            </a:pPr>
            <a:r>
              <a:rPr lang="en-US" sz="1600" dirty="0">
                <a:solidFill>
                  <a:srgbClr val="64748B"/>
                </a:solidFill>
                <a:latin typeface="Quattrocento Sans" pitchFamily="34" charset="0"/>
                <a:ea typeface="Quattrocento Sans" pitchFamily="34" charset="-122"/>
                <a:cs typeface="Quattrocento Sans" pitchFamily="34" charset="-120"/>
              </a:rPr>
              <a:t>■</a:t>
            </a:r>
            <a:pPr>
              <a:lnSpc>
                <a:spcPct val="170000"/>
              </a:lnSpc>
            </a:pPr>
            <a:r>
              <a:rPr lang="en-US" sz="1600" dirty="0">
                <a:solidFill>
                  <a:srgbClr val="1C1917"/>
                </a:solidFill>
                <a:latin typeface="Quattrocento Sans" pitchFamily="34" charset="0"/>
                <a:ea typeface="Quattrocento Sans" pitchFamily="34" charset="-122"/>
                <a:cs typeface="Quattrocento Sans" pitchFamily="34" charset="-120"/>
              </a:rPr>
              <a:t> No exploration required</a:t>
            </a:r>
            <a:endParaRPr lang="en-US" sz="1600" dirty="0"/>
          </a:p>
          <a:p>
            <a:pPr>
              <a:lnSpc>
                <a:spcPct val="170000"/>
              </a:lnSpc>
              <a:spcBef>
                <a:spcPts val="2000"/>
              </a:spcBef>
            </a:pPr>
            <a:r>
              <a:rPr lang="en-US" sz="1600" b="1" dirty="0">
                <a:solidFill>
                  <a:srgbClr val="64748B"/>
                </a:solidFill>
                <a:latin typeface="Quattrocento Sans" pitchFamily="34" charset="0"/>
                <a:ea typeface="Quattrocento Sans" pitchFamily="34" charset="-122"/>
                <a:cs typeface="Quattrocento Sans" pitchFamily="34" charset="-120"/>
              </a:rPr>
              <a:t>Reality:</a:t>
            </a:r>
            <a:pPr>
              <a:lnSpc>
                <a:spcPct val="170000"/>
              </a:lnSpc>
              <a:spcBef>
                <a:spcPts val="2000"/>
              </a:spcBef>
            </a:pPr>
            <a:r>
              <a:rPr lang="en-US" sz="1600" dirty="0">
                <a:solidFill>
                  <a:srgbClr val="1C1917"/>
                </a:solidFill>
                <a:latin typeface="Quattrocento Sans" pitchFamily="34" charset="0"/>
                <a:ea typeface="Quattrocento Sans" pitchFamily="34" charset="-122"/>
                <a:cs typeface="Quattrocento Sans" pitchFamily="34" charset="-120"/>
              </a:rPr>
              <a:t> Perfection is unattainable</a:t>
            </a:r>
            <a:endParaRPr lang="en-US" sz="1600" dirty="0"/>
          </a:p>
        </p:txBody>
      </p:sp>
      <p:sp>
        <p:nvSpPr>
          <p:cNvPr id="13" name="Shape 11"/>
          <p:cNvSpPr/>
          <p:nvPr/>
        </p:nvSpPr>
        <p:spPr>
          <a:xfrm>
            <a:off x="762000" y="7366000"/>
            <a:ext cx="14732000" cy="762000"/>
          </a:xfrm>
          <a:prstGeom prst="rect">
            <a:avLst/>
          </a:prstGeom>
          <a:solidFill>
            <a:srgbClr val="E0F2F1"/>
          </a:solidFill>
          <a:ln/>
        </p:spPr>
      </p:sp>
      <p:sp>
        <p:nvSpPr>
          <p:cNvPr id="14" name="Text 12"/>
          <p:cNvSpPr/>
          <p:nvPr/>
        </p:nvSpPr>
        <p:spPr>
          <a:xfrm>
            <a:off x="1016000" y="7429500"/>
            <a:ext cx="14224000" cy="635000"/>
          </a:xfrm>
          <a:prstGeom prst="rect">
            <a:avLst/>
          </a:prstGeom>
          <a:noFill/>
          <a:ln/>
        </p:spPr>
        <p:txBody>
          <a:bodyPr wrap="square" lIns="0" tIns="0" rIns="0" bIns="0" rtlCol="0" anchor="ctr"/>
          <a:lstStyle/>
          <a:p>
            <a:pPr algn="ctr">
              <a:lnSpc>
                <a:spcPct val="140000"/>
              </a:lnSpc>
            </a:pPr>
            <a:r>
              <a:rPr lang="en-US" sz="1500" b="1" dirty="0">
                <a:solidFill>
                  <a:srgbClr val="0F4C5C"/>
                </a:solidFill>
                <a:latin typeface="Quattrocento Sans" pitchFamily="34" charset="0"/>
                <a:ea typeface="Quattrocento Sans" pitchFamily="34" charset="-122"/>
                <a:cs typeface="Quattrocento Sans" pitchFamily="34" charset="-120"/>
              </a:rPr>
              <a:t>Example:</a:t>
            </a:r>
            <a:pPr algn="ctr">
              <a:lnSpc>
                <a:spcPct val="140000"/>
              </a:lnSpc>
            </a:pPr>
            <a:r>
              <a:rPr lang="en-US" sz="1500" dirty="0">
                <a:solidFill>
                  <a:srgbClr val="1C1917"/>
                </a:solidFill>
                <a:latin typeface="Quattrocento Sans" pitchFamily="34" charset="0"/>
                <a:ea typeface="Quattrocento Sans" pitchFamily="34" charset="-122"/>
                <a:cs typeface="Quattrocento Sans" pitchFamily="34" charset="-120"/>
              </a:rPr>
              <a:t> A rational self-driving car chooses the safest route based on real-time data. It might still encounter an unexpected accident, but it made the best possible choice at the time.</a:t>
            </a:r>
            <a:endParaRPr lang="en-US" sz="1600" dirty="0"/>
          </a:p>
        </p:txBody>
      </p:sp>
      <p:sp>
        <p:nvSpPr>
          <p:cNvPr id="15" name="Text 13"/>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16" name="Text 14"/>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24</a:t>
            </a:r>
            <a:endParaRPr lang="en-US" sz="1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Types of Agent Programs — Overview</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3810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Five main types of agent programs, ordered by increasing capability and sophistication:</a:t>
            </a:r>
            <a:endParaRPr lang="en-US" sz="1800" dirty="0"/>
          </a:p>
        </p:txBody>
      </p:sp>
      <p:sp>
        <p:nvSpPr>
          <p:cNvPr id="6" name="Shape 4"/>
          <p:cNvSpPr/>
          <p:nvPr/>
        </p:nvSpPr>
        <p:spPr>
          <a:xfrm>
            <a:off x="762000" y="2095500"/>
            <a:ext cx="14732000" cy="1016000"/>
          </a:xfrm>
          <a:prstGeom prst="rect">
            <a:avLst/>
          </a:prstGeom>
          <a:solidFill>
            <a:srgbClr val="0F4C5C"/>
          </a:solidFill>
          <a:ln/>
        </p:spPr>
      </p:sp>
      <p:sp>
        <p:nvSpPr>
          <p:cNvPr id="7" name="Text 5"/>
          <p:cNvSpPr/>
          <p:nvPr/>
        </p:nvSpPr>
        <p:spPr>
          <a:xfrm>
            <a:off x="952500" y="2222500"/>
            <a:ext cx="635000" cy="635000"/>
          </a:xfrm>
          <a:prstGeom prst="rect">
            <a:avLst/>
          </a:prstGeom>
          <a:noFill/>
          <a:ln/>
        </p:spPr>
        <p:txBody>
          <a:bodyPr wrap="none" lIns="0" tIns="0" rIns="0" bIns="0" rtlCol="0" anchor="ctr"/>
          <a:lstStyle/>
          <a:p>
            <a:pPr algn="ctr">
              <a:lnSpc>
                <a:spcPct val="100000"/>
              </a:lnSpc>
            </a:pPr>
            <a:r>
              <a:rPr lang="en-US" sz="2800" dirty="0">
                <a:solidFill>
                  <a:srgbClr val="D97706"/>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651000" y="2222500"/>
            <a:ext cx="3810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Simple Reflex Agent</a:t>
            </a:r>
            <a:endParaRPr lang="en-US" sz="1600" dirty="0"/>
          </a:p>
        </p:txBody>
      </p:sp>
      <p:sp>
        <p:nvSpPr>
          <p:cNvPr id="9" name="Text 7"/>
          <p:cNvSpPr/>
          <p:nvPr/>
        </p:nvSpPr>
        <p:spPr>
          <a:xfrm>
            <a:off x="1651000" y="2667000"/>
            <a:ext cx="13462000" cy="3048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Responds to current percept only — condition-action rules</a:t>
            </a:r>
            <a:endParaRPr lang="en-US" sz="1600" dirty="0"/>
          </a:p>
        </p:txBody>
      </p:sp>
      <p:sp>
        <p:nvSpPr>
          <p:cNvPr id="10" name="Shape 8"/>
          <p:cNvSpPr/>
          <p:nvPr/>
        </p:nvSpPr>
        <p:spPr>
          <a:xfrm>
            <a:off x="762000" y="3302000"/>
            <a:ext cx="14732000" cy="1016000"/>
          </a:xfrm>
          <a:prstGeom prst="rect">
            <a:avLst/>
          </a:prstGeom>
          <a:solidFill>
            <a:srgbClr val="0F4C5C">
              <a:alpha val="86667"/>
            </a:srgbClr>
          </a:solidFill>
          <a:ln/>
        </p:spPr>
      </p:sp>
      <p:sp>
        <p:nvSpPr>
          <p:cNvPr id="11" name="Text 9"/>
          <p:cNvSpPr/>
          <p:nvPr/>
        </p:nvSpPr>
        <p:spPr>
          <a:xfrm>
            <a:off x="952500" y="3429000"/>
            <a:ext cx="635000" cy="635000"/>
          </a:xfrm>
          <a:prstGeom prst="rect">
            <a:avLst/>
          </a:prstGeom>
          <a:noFill/>
          <a:ln/>
        </p:spPr>
        <p:txBody>
          <a:bodyPr wrap="none" lIns="0" tIns="0" rIns="0" bIns="0" rtlCol="0" anchor="ctr"/>
          <a:lstStyle/>
          <a:p>
            <a:pPr algn="ctr">
              <a:lnSpc>
                <a:spcPct val="100000"/>
              </a:lnSpc>
            </a:pPr>
            <a:r>
              <a:rPr lang="en-US" sz="2800" dirty="0">
                <a:solidFill>
                  <a:srgbClr val="D97706"/>
                </a:solidFill>
                <a:latin typeface="Liter" pitchFamily="34" charset="0"/>
                <a:ea typeface="Liter" pitchFamily="34" charset="-122"/>
                <a:cs typeface="Liter" pitchFamily="34" charset="-120"/>
              </a:rPr>
              <a:t>2</a:t>
            </a:r>
            <a:endParaRPr lang="en-US" sz="1600" dirty="0"/>
          </a:p>
        </p:txBody>
      </p:sp>
      <p:sp>
        <p:nvSpPr>
          <p:cNvPr id="12" name="Text 10"/>
          <p:cNvSpPr/>
          <p:nvPr/>
        </p:nvSpPr>
        <p:spPr>
          <a:xfrm>
            <a:off x="1651000" y="3429000"/>
            <a:ext cx="4445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Model-Based Reflex Agent</a:t>
            </a:r>
            <a:endParaRPr lang="en-US" sz="1600" dirty="0"/>
          </a:p>
        </p:txBody>
      </p:sp>
      <p:sp>
        <p:nvSpPr>
          <p:cNvPr id="13" name="Text 11"/>
          <p:cNvSpPr/>
          <p:nvPr/>
        </p:nvSpPr>
        <p:spPr>
          <a:xfrm>
            <a:off x="1651000" y="3873500"/>
            <a:ext cx="13462000" cy="3048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Maintains internal state to handle partial observability</a:t>
            </a:r>
            <a:endParaRPr lang="en-US" sz="1600" dirty="0"/>
          </a:p>
        </p:txBody>
      </p:sp>
      <p:sp>
        <p:nvSpPr>
          <p:cNvPr id="14" name="Shape 12"/>
          <p:cNvSpPr/>
          <p:nvPr/>
        </p:nvSpPr>
        <p:spPr>
          <a:xfrm>
            <a:off x="762000" y="4508500"/>
            <a:ext cx="14732000" cy="1016000"/>
          </a:xfrm>
          <a:prstGeom prst="rect">
            <a:avLst/>
          </a:prstGeom>
          <a:solidFill>
            <a:srgbClr val="0F4C5C">
              <a:alpha val="73333"/>
            </a:srgbClr>
          </a:solidFill>
          <a:ln/>
        </p:spPr>
      </p:sp>
      <p:sp>
        <p:nvSpPr>
          <p:cNvPr id="15" name="Text 13"/>
          <p:cNvSpPr/>
          <p:nvPr/>
        </p:nvSpPr>
        <p:spPr>
          <a:xfrm>
            <a:off x="952500" y="4635500"/>
            <a:ext cx="635000" cy="635000"/>
          </a:xfrm>
          <a:prstGeom prst="rect">
            <a:avLst/>
          </a:prstGeom>
          <a:noFill/>
          <a:ln/>
        </p:spPr>
        <p:txBody>
          <a:bodyPr wrap="none" lIns="0" tIns="0" rIns="0" bIns="0" rtlCol="0" anchor="ctr"/>
          <a:lstStyle/>
          <a:p>
            <a:pPr algn="ctr">
              <a:lnSpc>
                <a:spcPct val="100000"/>
              </a:lnSpc>
            </a:pPr>
            <a:r>
              <a:rPr lang="en-US" sz="2800" dirty="0">
                <a:solidFill>
                  <a:srgbClr val="D97706"/>
                </a:solidFill>
                <a:latin typeface="Liter" pitchFamily="34" charset="0"/>
                <a:ea typeface="Liter" pitchFamily="34" charset="-122"/>
                <a:cs typeface="Liter" pitchFamily="34" charset="-120"/>
              </a:rPr>
              <a:t>3</a:t>
            </a:r>
            <a:endParaRPr lang="en-US" sz="1600" dirty="0"/>
          </a:p>
        </p:txBody>
      </p:sp>
      <p:sp>
        <p:nvSpPr>
          <p:cNvPr id="16" name="Text 14"/>
          <p:cNvSpPr/>
          <p:nvPr/>
        </p:nvSpPr>
        <p:spPr>
          <a:xfrm>
            <a:off x="1651000" y="4635500"/>
            <a:ext cx="3810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Goal-Based Agent</a:t>
            </a:r>
            <a:endParaRPr lang="en-US" sz="1600" dirty="0"/>
          </a:p>
        </p:txBody>
      </p:sp>
      <p:sp>
        <p:nvSpPr>
          <p:cNvPr id="17" name="Text 15"/>
          <p:cNvSpPr/>
          <p:nvPr/>
        </p:nvSpPr>
        <p:spPr>
          <a:xfrm>
            <a:off x="1651000" y="5080000"/>
            <a:ext cx="13462000" cy="3048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Chooses actions to achieve specific goals — uses search and planning</a:t>
            </a:r>
            <a:endParaRPr lang="en-US" sz="1600" dirty="0"/>
          </a:p>
        </p:txBody>
      </p:sp>
      <p:sp>
        <p:nvSpPr>
          <p:cNvPr id="18" name="Shape 16"/>
          <p:cNvSpPr/>
          <p:nvPr/>
        </p:nvSpPr>
        <p:spPr>
          <a:xfrm>
            <a:off x="762000" y="5715000"/>
            <a:ext cx="14732000" cy="1016000"/>
          </a:xfrm>
          <a:prstGeom prst="rect">
            <a:avLst/>
          </a:prstGeom>
          <a:solidFill>
            <a:srgbClr val="0F4C5C">
              <a:alpha val="60000"/>
            </a:srgbClr>
          </a:solidFill>
          <a:ln/>
        </p:spPr>
      </p:sp>
      <p:sp>
        <p:nvSpPr>
          <p:cNvPr id="19" name="Text 17"/>
          <p:cNvSpPr/>
          <p:nvPr/>
        </p:nvSpPr>
        <p:spPr>
          <a:xfrm>
            <a:off x="952500" y="5842000"/>
            <a:ext cx="635000" cy="635000"/>
          </a:xfrm>
          <a:prstGeom prst="rect">
            <a:avLst/>
          </a:prstGeom>
          <a:noFill/>
          <a:ln/>
        </p:spPr>
        <p:txBody>
          <a:bodyPr wrap="none" lIns="0" tIns="0" rIns="0" bIns="0" rtlCol="0" anchor="ctr"/>
          <a:lstStyle/>
          <a:p>
            <a:pPr algn="ctr">
              <a:lnSpc>
                <a:spcPct val="100000"/>
              </a:lnSpc>
            </a:pPr>
            <a:r>
              <a:rPr lang="en-US" sz="2800" dirty="0">
                <a:solidFill>
                  <a:srgbClr val="FFFFFF"/>
                </a:solidFill>
                <a:latin typeface="Liter" pitchFamily="34" charset="0"/>
                <a:ea typeface="Liter" pitchFamily="34" charset="-122"/>
                <a:cs typeface="Liter" pitchFamily="34" charset="-120"/>
              </a:rPr>
              <a:t>4</a:t>
            </a:r>
            <a:endParaRPr lang="en-US" sz="1600" dirty="0"/>
          </a:p>
        </p:txBody>
      </p:sp>
      <p:sp>
        <p:nvSpPr>
          <p:cNvPr id="20" name="Text 18"/>
          <p:cNvSpPr/>
          <p:nvPr/>
        </p:nvSpPr>
        <p:spPr>
          <a:xfrm>
            <a:off x="1651000" y="5842000"/>
            <a:ext cx="4445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Utility-Based Agent</a:t>
            </a:r>
            <a:endParaRPr lang="en-US" sz="1600" dirty="0"/>
          </a:p>
        </p:txBody>
      </p:sp>
      <p:sp>
        <p:nvSpPr>
          <p:cNvPr id="21" name="Text 19"/>
          <p:cNvSpPr/>
          <p:nvPr/>
        </p:nvSpPr>
        <p:spPr>
          <a:xfrm>
            <a:off x="1651000" y="6286500"/>
            <a:ext cx="13462000" cy="3048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Maximizes expected utility — measures how good a state is</a:t>
            </a:r>
            <a:endParaRPr lang="en-US" sz="1600" dirty="0"/>
          </a:p>
        </p:txBody>
      </p:sp>
      <p:sp>
        <p:nvSpPr>
          <p:cNvPr id="22" name="Shape 20"/>
          <p:cNvSpPr/>
          <p:nvPr/>
        </p:nvSpPr>
        <p:spPr>
          <a:xfrm>
            <a:off x="762000" y="6921500"/>
            <a:ext cx="14732000" cy="1016000"/>
          </a:xfrm>
          <a:prstGeom prst="rect">
            <a:avLst/>
          </a:prstGeom>
          <a:solidFill>
            <a:srgbClr val="0F4C5C">
              <a:alpha val="46667"/>
            </a:srgbClr>
          </a:solidFill>
          <a:ln/>
        </p:spPr>
      </p:sp>
      <p:sp>
        <p:nvSpPr>
          <p:cNvPr id="23" name="Text 21"/>
          <p:cNvSpPr/>
          <p:nvPr/>
        </p:nvSpPr>
        <p:spPr>
          <a:xfrm>
            <a:off x="952500" y="7048500"/>
            <a:ext cx="635000" cy="635000"/>
          </a:xfrm>
          <a:prstGeom prst="rect">
            <a:avLst/>
          </a:prstGeom>
          <a:noFill/>
          <a:ln/>
        </p:spPr>
        <p:txBody>
          <a:bodyPr wrap="none" lIns="0" tIns="0" rIns="0" bIns="0" rtlCol="0" anchor="ctr"/>
          <a:lstStyle/>
          <a:p>
            <a:pPr algn="ctr">
              <a:lnSpc>
                <a:spcPct val="100000"/>
              </a:lnSpc>
            </a:pPr>
            <a:r>
              <a:rPr lang="en-US" sz="2800" dirty="0">
                <a:solidFill>
                  <a:srgbClr val="FFFFFF"/>
                </a:solidFill>
                <a:latin typeface="Liter" pitchFamily="34" charset="0"/>
                <a:ea typeface="Liter" pitchFamily="34" charset="-122"/>
                <a:cs typeface="Liter" pitchFamily="34" charset="-120"/>
              </a:rPr>
              <a:t>5</a:t>
            </a:r>
            <a:endParaRPr lang="en-US" sz="1600" dirty="0"/>
          </a:p>
        </p:txBody>
      </p:sp>
      <p:sp>
        <p:nvSpPr>
          <p:cNvPr id="24" name="Text 22"/>
          <p:cNvSpPr/>
          <p:nvPr/>
        </p:nvSpPr>
        <p:spPr>
          <a:xfrm>
            <a:off x="1651000" y="7048500"/>
            <a:ext cx="3810000" cy="381000"/>
          </a:xfrm>
          <a:prstGeom prst="rect">
            <a:avLst/>
          </a:prstGeom>
          <a:noFill/>
          <a:ln/>
        </p:spPr>
        <p:txBody>
          <a:bodyPr wrap="none" lIns="0" tIns="0" rIns="0" bIns="0" rtlCol="0" anchor="ctr"/>
          <a:lstStyle/>
          <a:p>
            <a:pPr>
              <a:lnSpc>
                <a:spcPct val="100000"/>
              </a:lnSpc>
            </a:pPr>
            <a:r>
              <a:rPr lang="en-US" sz="2000" dirty="0">
                <a:solidFill>
                  <a:srgbClr val="FFFFFF"/>
                </a:solidFill>
                <a:latin typeface="Liter" pitchFamily="34" charset="0"/>
                <a:ea typeface="Liter" pitchFamily="34" charset="-122"/>
                <a:cs typeface="Liter" pitchFamily="34" charset="-120"/>
              </a:rPr>
              <a:t>Learning Agent</a:t>
            </a:r>
            <a:endParaRPr lang="en-US" sz="1600" dirty="0"/>
          </a:p>
        </p:txBody>
      </p:sp>
      <p:sp>
        <p:nvSpPr>
          <p:cNvPr id="25" name="Text 23"/>
          <p:cNvSpPr/>
          <p:nvPr/>
        </p:nvSpPr>
        <p:spPr>
          <a:xfrm>
            <a:off x="1651000" y="7493000"/>
            <a:ext cx="13462000" cy="304800"/>
          </a:xfrm>
          <a:prstGeom prst="rect">
            <a:avLst/>
          </a:prstGeom>
          <a:noFill/>
          <a:ln/>
        </p:spPr>
        <p:txBody>
          <a:bodyPr wrap="none" lIns="0" tIns="0" rIns="0" bIns="0" rtlCol="0" anchor="ctr"/>
          <a:lstStyle/>
          <a:p>
            <a:pPr>
              <a:lnSpc>
                <a:spcPct val="100000"/>
              </a:lnSpc>
            </a:pPr>
            <a:r>
              <a:rPr lang="en-US" sz="1400" dirty="0">
                <a:solidFill>
                  <a:srgbClr val="FFFFFF">
                    <a:alpha val="66667"/>
                  </a:srgbClr>
                </a:solidFill>
                <a:latin typeface="Quattrocento Sans" pitchFamily="34" charset="0"/>
                <a:ea typeface="Quattrocento Sans" pitchFamily="34" charset="-122"/>
                <a:cs typeface="Quattrocento Sans" pitchFamily="34" charset="-120"/>
              </a:rPr>
              <a:t>Improves performance through experience — the most advanced type</a:t>
            </a:r>
            <a:endParaRPr lang="en-US" sz="1600" dirty="0"/>
          </a:p>
        </p:txBody>
      </p:sp>
      <p:sp>
        <p:nvSpPr>
          <p:cNvPr id="26" name="Text 24"/>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7" name="Text 25"/>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25</a:t>
            </a:r>
            <a:endParaRPr lang="en-US" sz="1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Simple Reflex Agents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7112000" cy="3937000"/>
          </a:xfrm>
          <a:prstGeom prst="rect">
            <a:avLst/>
          </a:prstGeom>
          <a:solidFill>
            <a:srgbClr val="0F4C5C"/>
          </a:solidFill>
          <a:ln/>
        </p:spPr>
      </p:sp>
      <p:sp>
        <p:nvSpPr>
          <p:cNvPr id="6" name="Text 4"/>
          <p:cNvSpPr/>
          <p:nvPr/>
        </p:nvSpPr>
        <p:spPr>
          <a:xfrm>
            <a:off x="1079500" y="1587500"/>
            <a:ext cx="6477000" cy="381000"/>
          </a:xfrm>
          <a:prstGeom prst="rect">
            <a:avLst/>
          </a:prstGeom>
          <a:noFill/>
          <a:ln/>
        </p:spPr>
        <p:txBody>
          <a:bodyPr wrap="none" lIns="0" tIns="0" rIns="0" bIns="0" rtlCol="0" anchor="ctr"/>
          <a:lstStyle/>
          <a:p>
            <a:pPr>
              <a:lnSpc>
                <a:spcPct val="100000"/>
              </a:lnSpc>
            </a:pPr>
            <a:r>
              <a:rPr lang="en-US" sz="2200" dirty="0">
                <a:solidFill>
                  <a:srgbClr val="FFFFFF"/>
                </a:solidFill>
                <a:latin typeface="Liter" pitchFamily="34" charset="0"/>
                <a:ea typeface="Liter" pitchFamily="34" charset="-122"/>
                <a:cs typeface="Liter" pitchFamily="34" charset="-120"/>
              </a:rPr>
              <a:t>How It Works</a:t>
            </a:r>
            <a:endParaRPr lang="en-US" sz="1600" dirty="0"/>
          </a:p>
        </p:txBody>
      </p:sp>
      <p:sp>
        <p:nvSpPr>
          <p:cNvPr id="7" name="Shape 5"/>
          <p:cNvSpPr/>
          <p:nvPr/>
        </p:nvSpPr>
        <p:spPr>
          <a:xfrm>
            <a:off x="1079500" y="2057400"/>
            <a:ext cx="635000" cy="25400"/>
          </a:xfrm>
          <a:prstGeom prst="rect">
            <a:avLst/>
          </a:prstGeom>
          <a:solidFill>
            <a:srgbClr val="D97706"/>
          </a:solidFill>
          <a:ln/>
        </p:spPr>
      </p:sp>
      <p:sp>
        <p:nvSpPr>
          <p:cNvPr id="8" name="Text 6"/>
          <p:cNvSpPr/>
          <p:nvPr/>
        </p:nvSpPr>
        <p:spPr>
          <a:xfrm>
            <a:off x="1079500" y="2260600"/>
            <a:ext cx="6477000" cy="2794000"/>
          </a:xfrm>
          <a:prstGeom prst="rect">
            <a:avLst/>
          </a:prstGeom>
          <a:noFill/>
          <a:ln/>
        </p:spPr>
        <p:txBody>
          <a:bodyPr wrap="square" lIns="0" tIns="0" rIns="0" bIns="0" rtlCol="0" anchor="t"/>
          <a:lstStyle/>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The simplest agent type — acts based on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current percept only</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ignoring all percept history.</a:t>
            </a:r>
            <a:endParaRPr lang="en-US" sz="1600" dirty="0"/>
          </a:p>
          <a:p>
            <a:pPr>
              <a:lnSpc>
                <a:spcPct val="160000"/>
              </a:lnSpc>
              <a:spcBef>
                <a:spcPts val="12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Uses </a:t>
            </a:r>
            <a:pPr>
              <a:lnSpc>
                <a:spcPct val="160000"/>
              </a:lnSpc>
              <a:spcBef>
                <a:spcPts val="1200"/>
              </a:spcBef>
            </a:pPr>
            <a:r>
              <a:rPr lang="en-US" sz="1600" b="1" dirty="0">
                <a:solidFill>
                  <a:srgbClr val="FFFFFF">
                    <a:alpha val="86667"/>
                  </a:srgbClr>
                </a:solidFill>
                <a:latin typeface="Quattrocento Sans" pitchFamily="34" charset="0"/>
                <a:ea typeface="Quattrocento Sans" pitchFamily="34" charset="-122"/>
                <a:cs typeface="Quattrocento Sans" pitchFamily="34" charset="-120"/>
              </a:rPr>
              <a:t>condition-action rules</a:t>
            </a:r>
            <a:pPr>
              <a:lnSpc>
                <a:spcPct val="160000"/>
              </a:lnSpc>
              <a:spcBef>
                <a:spcPts val="12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IF</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condition </a:t>
            </a:r>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THEN</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action</a:t>
            </a:r>
            <a:endParaRPr lang="en-US" sz="1600" dirty="0"/>
          </a:p>
          <a:p>
            <a:pPr>
              <a:lnSpc>
                <a:spcPct val="160000"/>
              </a:lnSpc>
              <a:spcBef>
                <a:spcPts val="1200"/>
              </a:spcBef>
            </a:pPr>
            <a:r>
              <a:rPr lang="en-US" sz="1600" b="1" dirty="0">
                <a:solidFill>
                  <a:srgbClr val="FFFFFF">
                    <a:alpha val="86667"/>
                  </a:srgbClr>
                </a:solidFill>
                <a:latin typeface="Quattrocento Sans" pitchFamily="34" charset="0"/>
                <a:ea typeface="Quattrocento Sans" pitchFamily="34" charset="-122"/>
                <a:cs typeface="Quattrocento Sans" pitchFamily="34" charset="-120"/>
              </a:rPr>
              <a:t>Example:</a:t>
            </a:r>
            <a:pPr>
              <a:lnSpc>
                <a:spcPct val="160000"/>
              </a:lnSpc>
              <a:spcBef>
                <a:spcPts val="1200"/>
              </a:spcBef>
            </a:pPr>
            <a:r>
              <a:rPr lang="en-US" sz="1600" dirty="0">
                <a:solidFill>
                  <a:srgbClr val="FFFFFF">
                    <a:alpha val="86667"/>
                  </a:srgbClr>
                </a:solidFill>
                <a:latin typeface="Quattrocento Sans" pitchFamily="34" charset="0"/>
                <a:ea typeface="Quattrocento Sans" pitchFamily="34" charset="-122"/>
                <a:cs typeface="Quattrocento Sans" pitchFamily="34" charset="-120"/>
              </a:rPr>
              <a:t> Thermostat</a:t>
            </a:r>
            <a:endParaRPr lang="en-US" sz="1600" dirty="0"/>
          </a:p>
          <a:p>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IF temperature &lt; 20°C THEN turn heater ON</a:t>
            </a:r>
            <a:endParaRPr lang="en-US" sz="1600" dirty="0"/>
          </a:p>
        </p:txBody>
      </p:sp>
      <p:sp>
        <p:nvSpPr>
          <p:cNvPr id="9" name="Shape 7"/>
          <p:cNvSpPr/>
          <p:nvPr/>
        </p:nvSpPr>
        <p:spPr>
          <a:xfrm>
            <a:off x="8382000" y="1397000"/>
            <a:ext cx="7112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0" name="Shape 8"/>
          <p:cNvSpPr/>
          <p:nvPr/>
        </p:nvSpPr>
        <p:spPr>
          <a:xfrm>
            <a:off x="8636000" y="1651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16A34A"/>
          </a:solidFill>
          <a:ln/>
        </p:spPr>
      </p:sp>
      <p:sp>
        <p:nvSpPr>
          <p:cNvPr id="11" name="Text 9"/>
          <p:cNvSpPr/>
          <p:nvPr/>
        </p:nvSpPr>
        <p:spPr>
          <a:xfrm>
            <a:off x="9118600" y="1587500"/>
            <a:ext cx="6096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Advantages</a:t>
            </a:r>
            <a:endParaRPr lang="en-US" sz="1600" dirty="0"/>
          </a:p>
        </p:txBody>
      </p:sp>
      <p:sp>
        <p:nvSpPr>
          <p:cNvPr id="12" name="Text 10"/>
          <p:cNvSpPr/>
          <p:nvPr/>
        </p:nvSpPr>
        <p:spPr>
          <a:xfrm>
            <a:off x="8636000" y="2057400"/>
            <a:ext cx="6604000" cy="1143000"/>
          </a:xfrm>
          <a:prstGeom prst="rect">
            <a:avLst/>
          </a:prstGeom>
          <a:noFill/>
          <a:ln/>
        </p:spPr>
        <p:txBody>
          <a:bodyPr wrap="square" lIns="0" tIns="0" rIns="0" bIns="0" rtlCol="0" anchor="t"/>
          <a:lstStyle/>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Simple to design and implement</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Fast response time</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Minimal computation required</a:t>
            </a:r>
            <a:endParaRPr lang="en-US" sz="1600" dirty="0"/>
          </a:p>
        </p:txBody>
      </p:sp>
      <p:sp>
        <p:nvSpPr>
          <p:cNvPr id="13" name="Shape 11"/>
          <p:cNvSpPr/>
          <p:nvPr/>
        </p:nvSpPr>
        <p:spPr>
          <a:xfrm>
            <a:off x="8382000" y="3619500"/>
            <a:ext cx="7112000" cy="19685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4" name="Shape 12"/>
          <p:cNvSpPr/>
          <p:nvPr/>
        </p:nvSpPr>
        <p:spPr>
          <a:xfrm>
            <a:off x="8636000" y="3873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15987" y="115987"/>
                </a:moveTo>
                <a:cubicBezTo>
                  <a:pt x="122515" y="109458"/>
                  <a:pt x="133072" y="109458"/>
                  <a:pt x="139531" y="115987"/>
                </a:cubicBezTo>
                <a:lnTo>
                  <a:pt x="177731" y="154186"/>
                </a:lnTo>
                <a:lnTo>
                  <a:pt x="215930" y="115987"/>
                </a:lnTo>
                <a:cubicBezTo>
                  <a:pt x="222458" y="109458"/>
                  <a:pt x="233015" y="109458"/>
                  <a:pt x="239474" y="115987"/>
                </a:cubicBezTo>
                <a:cubicBezTo>
                  <a:pt x="245934" y="122515"/>
                  <a:pt x="246003" y="133072"/>
                  <a:pt x="239474" y="139531"/>
                </a:cubicBezTo>
                <a:lnTo>
                  <a:pt x="201275" y="177731"/>
                </a:lnTo>
                <a:lnTo>
                  <a:pt x="239474" y="215930"/>
                </a:lnTo>
                <a:cubicBezTo>
                  <a:pt x="246003" y="222458"/>
                  <a:pt x="246003" y="233015"/>
                  <a:pt x="239474" y="239474"/>
                </a:cubicBezTo>
                <a:cubicBezTo>
                  <a:pt x="232946" y="245934"/>
                  <a:pt x="222389" y="246003"/>
                  <a:pt x="215930" y="239474"/>
                </a:cubicBezTo>
                <a:lnTo>
                  <a:pt x="177731" y="201275"/>
                </a:lnTo>
                <a:lnTo>
                  <a:pt x="139531" y="239474"/>
                </a:lnTo>
                <a:cubicBezTo>
                  <a:pt x="133003" y="246003"/>
                  <a:pt x="122446" y="246003"/>
                  <a:pt x="115987" y="239474"/>
                </a:cubicBezTo>
                <a:cubicBezTo>
                  <a:pt x="109528" y="232946"/>
                  <a:pt x="109458" y="222389"/>
                  <a:pt x="115987" y="215930"/>
                </a:cubicBezTo>
                <a:lnTo>
                  <a:pt x="154186" y="177731"/>
                </a:lnTo>
                <a:lnTo>
                  <a:pt x="115987" y="139531"/>
                </a:lnTo>
                <a:cubicBezTo>
                  <a:pt x="109458" y="133003"/>
                  <a:pt x="109458" y="122446"/>
                  <a:pt x="115987" y="115987"/>
                </a:cubicBezTo>
                <a:close/>
              </a:path>
            </a:pathLst>
          </a:custGeom>
          <a:solidFill>
            <a:srgbClr val="DC2626"/>
          </a:solidFill>
          <a:ln/>
        </p:spPr>
      </p:sp>
      <p:sp>
        <p:nvSpPr>
          <p:cNvPr id="15" name="Text 13"/>
          <p:cNvSpPr/>
          <p:nvPr/>
        </p:nvSpPr>
        <p:spPr>
          <a:xfrm>
            <a:off x="9118600" y="3810000"/>
            <a:ext cx="6096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Limitations</a:t>
            </a:r>
            <a:endParaRPr lang="en-US" sz="1600" dirty="0"/>
          </a:p>
        </p:txBody>
      </p:sp>
      <p:sp>
        <p:nvSpPr>
          <p:cNvPr id="16" name="Text 14"/>
          <p:cNvSpPr/>
          <p:nvPr/>
        </p:nvSpPr>
        <p:spPr>
          <a:xfrm>
            <a:off x="8636000" y="4279900"/>
            <a:ext cx="6604000" cy="1143000"/>
          </a:xfrm>
          <a:prstGeom prst="rect">
            <a:avLst/>
          </a:prstGeom>
          <a:noFill/>
          <a:ln/>
        </p:spPr>
        <p:txBody>
          <a:bodyPr wrap="square" lIns="0" tIns="0" rIns="0" bIns="0" rtlCol="0" anchor="t"/>
          <a:lstStyle/>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Cannot handle partial observability</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No memory of past percepts</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May enter infinite loops</a:t>
            </a:r>
            <a:endParaRPr lang="en-US" sz="1600" dirty="0"/>
          </a:p>
        </p:txBody>
      </p:sp>
      <p:sp>
        <p:nvSpPr>
          <p:cNvPr id="17" name="Shape 15"/>
          <p:cNvSpPr/>
          <p:nvPr/>
        </p:nvSpPr>
        <p:spPr>
          <a:xfrm>
            <a:off x="762000" y="5715000"/>
            <a:ext cx="14732000" cy="2413000"/>
          </a:xfrm>
          <a:prstGeom prst="rect">
            <a:avLst/>
          </a:prstGeom>
          <a:solidFill>
            <a:srgbClr val="E0F2F1"/>
          </a:solidFill>
          <a:ln/>
        </p:spPr>
      </p:sp>
      <p:sp>
        <p:nvSpPr>
          <p:cNvPr id="18" name="Text 16"/>
          <p:cNvSpPr/>
          <p:nvPr/>
        </p:nvSpPr>
        <p:spPr>
          <a:xfrm>
            <a:off x="1079500" y="5842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AGENT STRUCTURE</a:t>
            </a:r>
            <a:endParaRPr lang="en-US" sz="1400" dirty="0"/>
          </a:p>
        </p:txBody>
      </p:sp>
      <p:sp>
        <p:nvSpPr>
          <p:cNvPr id="19" name="Shape 17"/>
          <p:cNvSpPr/>
          <p:nvPr/>
        </p:nvSpPr>
        <p:spPr>
          <a:xfrm>
            <a:off x="1270000" y="6413500"/>
            <a:ext cx="1778000" cy="762000"/>
          </a:xfrm>
          <a:prstGeom prst="rect">
            <a:avLst/>
          </a:prstGeom>
          <a:solidFill>
            <a:srgbClr val="0F4C5C"/>
          </a:solidFill>
          <a:ln/>
        </p:spPr>
      </p:sp>
      <p:sp>
        <p:nvSpPr>
          <p:cNvPr id="20" name="Text 18"/>
          <p:cNvSpPr/>
          <p:nvPr/>
        </p:nvSpPr>
        <p:spPr>
          <a:xfrm>
            <a:off x="1270000" y="6413500"/>
            <a:ext cx="1778000" cy="7620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Sensors</a:t>
            </a:r>
            <a:endParaRPr lang="en-US" sz="1600" dirty="0"/>
          </a:p>
        </p:txBody>
      </p:sp>
      <p:sp>
        <p:nvSpPr>
          <p:cNvPr id="21" name="Shape 19"/>
          <p:cNvSpPr/>
          <p:nvPr/>
        </p:nvSpPr>
        <p:spPr>
          <a:xfrm>
            <a:off x="3048000" y="6731000"/>
            <a:ext cx="1016000" cy="0"/>
          </a:xfrm>
          <a:prstGeom prst="straightConnector1">
            <a:avLst/>
          </a:prstGeom>
          <a:noFill/>
          <a:ln w="25400">
            <a:solidFill>
              <a:srgbClr val="D97706"/>
            </a:solidFill>
            <a:prstDash val="solid"/>
            <a:headEnd type="none"/>
            <a:tailEnd type="arrow"/>
          </a:ln>
        </p:spPr>
      </p:sp>
      <p:sp>
        <p:nvSpPr>
          <p:cNvPr id="22" name="Shape 20"/>
          <p:cNvSpPr/>
          <p:nvPr/>
        </p:nvSpPr>
        <p:spPr>
          <a:xfrm>
            <a:off x="4064000" y="6286500"/>
            <a:ext cx="2540000" cy="1016000"/>
          </a:xfrm>
          <a:prstGeom prst="rect">
            <a:avLst/>
          </a:prstGeom>
          <a:solidFill>
            <a:srgbClr val="D97706"/>
          </a:solidFill>
          <a:ln/>
        </p:spPr>
      </p:sp>
      <p:sp>
        <p:nvSpPr>
          <p:cNvPr id="23" name="Text 21"/>
          <p:cNvSpPr/>
          <p:nvPr/>
        </p:nvSpPr>
        <p:spPr>
          <a:xfrm>
            <a:off x="4064000" y="6286500"/>
            <a:ext cx="2540000" cy="1016000"/>
          </a:xfrm>
          <a:prstGeom prst="rect">
            <a:avLst/>
          </a:prstGeom>
          <a:noFill/>
          <a:ln/>
        </p:spPr>
        <p:txBody>
          <a:bodyPr wrap="squar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Condition-Action</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Rules</a:t>
            </a:r>
            <a:endParaRPr lang="en-US" sz="1600" dirty="0"/>
          </a:p>
        </p:txBody>
      </p:sp>
      <p:sp>
        <p:nvSpPr>
          <p:cNvPr id="24" name="Shape 22"/>
          <p:cNvSpPr/>
          <p:nvPr/>
        </p:nvSpPr>
        <p:spPr>
          <a:xfrm>
            <a:off x="6604000" y="6731000"/>
            <a:ext cx="1016000" cy="0"/>
          </a:xfrm>
          <a:prstGeom prst="straightConnector1">
            <a:avLst/>
          </a:prstGeom>
          <a:noFill/>
          <a:ln w="25400">
            <a:solidFill>
              <a:srgbClr val="D97706"/>
            </a:solidFill>
            <a:prstDash val="solid"/>
            <a:headEnd type="none"/>
            <a:tailEnd type="arrow"/>
          </a:ln>
        </p:spPr>
      </p:sp>
      <p:sp>
        <p:nvSpPr>
          <p:cNvPr id="25" name="Shape 23"/>
          <p:cNvSpPr/>
          <p:nvPr/>
        </p:nvSpPr>
        <p:spPr>
          <a:xfrm>
            <a:off x="7620000" y="6413500"/>
            <a:ext cx="1778000" cy="762000"/>
          </a:xfrm>
          <a:prstGeom prst="rect">
            <a:avLst/>
          </a:prstGeom>
          <a:solidFill>
            <a:srgbClr val="0F4C5C"/>
          </a:solidFill>
          <a:ln/>
        </p:spPr>
      </p:sp>
      <p:sp>
        <p:nvSpPr>
          <p:cNvPr id="26" name="Text 24"/>
          <p:cNvSpPr/>
          <p:nvPr/>
        </p:nvSpPr>
        <p:spPr>
          <a:xfrm>
            <a:off x="7620000" y="6413500"/>
            <a:ext cx="1778000" cy="7620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Actuators</a:t>
            </a:r>
            <a:endParaRPr lang="en-US" sz="1600" dirty="0"/>
          </a:p>
        </p:txBody>
      </p:sp>
      <p:sp>
        <p:nvSpPr>
          <p:cNvPr id="27" name="Shape 25"/>
          <p:cNvSpPr/>
          <p:nvPr/>
        </p:nvSpPr>
        <p:spPr>
          <a:xfrm>
            <a:off x="10160000" y="6413500"/>
            <a:ext cx="2540000" cy="762000"/>
          </a:xfrm>
          <a:prstGeom prst="rect">
            <a:avLst/>
          </a:prstGeom>
          <a:solidFill>
            <a:srgbClr val="FFFFFF"/>
          </a:solidFill>
          <a:ln w="25400">
            <a:solidFill>
              <a:srgbClr val="0F4C5C"/>
            </a:solidFill>
            <a:prstDash val="solid"/>
          </a:ln>
        </p:spPr>
      </p:sp>
      <p:sp>
        <p:nvSpPr>
          <p:cNvPr id="28" name="Text 26"/>
          <p:cNvSpPr/>
          <p:nvPr/>
        </p:nvSpPr>
        <p:spPr>
          <a:xfrm>
            <a:off x="10160000" y="6413500"/>
            <a:ext cx="2540000" cy="762000"/>
          </a:xfrm>
          <a:prstGeom prst="rect">
            <a:avLst/>
          </a:prstGeom>
          <a:noFill/>
          <a:ln/>
        </p:spPr>
        <p:txBody>
          <a:bodyPr wrap="none" lIns="0" tIns="0" rIns="0" bIns="0" rtlCol="0" anchor="ctr"/>
          <a:lstStyle/>
          <a:p>
            <a:pPr algn="ctr">
              <a:lnSpc>
                <a:spcPct val="100000"/>
              </a:lnSpc>
            </a:pPr>
            <a:r>
              <a:rPr lang="en-US" sz="1400" dirty="0">
                <a:solidFill>
                  <a:srgbClr val="0F4C5C"/>
                </a:solidFill>
                <a:latin typeface="Quattrocento Sans" pitchFamily="34" charset="0"/>
                <a:ea typeface="Quattrocento Sans" pitchFamily="34" charset="-122"/>
                <a:cs typeface="Quattrocento Sans" pitchFamily="34" charset="-120"/>
              </a:rPr>
              <a:t>Environment</a:t>
            </a:r>
            <a:endParaRPr lang="en-US" sz="1600" dirty="0"/>
          </a:p>
        </p:txBody>
      </p:sp>
      <p:sp>
        <p:nvSpPr>
          <p:cNvPr id="29" name="Shape 27"/>
          <p:cNvSpPr/>
          <p:nvPr/>
        </p:nvSpPr>
        <p:spPr>
          <a:xfrm>
            <a:off x="9398000" y="7175500"/>
            <a:ext cx="2032000" cy="635000"/>
          </a:xfrm>
          <a:prstGeom prst="curvedConnector3">
            <a:avLst>
              <a:gd name="adj1" fmla="val 50000"/>
            </a:avLst>
          </a:prstGeom>
          <a:noFill/>
          <a:ln w="25400">
            <a:solidFill>
              <a:srgbClr val="64748B"/>
            </a:solidFill>
            <a:prstDash val="solid"/>
            <a:headEnd type="arrow"/>
            <a:tailEnd type="none"/>
          </a:ln>
        </p:spPr>
      </p:sp>
      <p:sp>
        <p:nvSpPr>
          <p:cNvPr id="30" name="Text 28"/>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31" name="Text 29"/>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26</a:t>
            </a:r>
            <a:endParaRPr lang="en-US" sz="1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Model-Based Reflex Agents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6985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Extends simple reflex agents by maintaining an </a:t>
            </a:r>
            <a:pPr>
              <a:lnSpc>
                <a:spcPct val="160000"/>
              </a:lnSpc>
            </a:pPr>
            <a:r>
              <a:rPr lang="en-US" sz="1600" b="1" dirty="0">
                <a:solidFill>
                  <a:srgbClr val="1C1917"/>
                </a:solidFill>
                <a:latin typeface="QuattrocentoSans" pitchFamily="34" charset="0"/>
                <a:ea typeface="QuattrocentoSans" pitchFamily="34" charset="-122"/>
                <a:cs typeface="QuattrocentoSans" pitchFamily="34" charset="-120"/>
              </a:rPr>
              <a:t>internal state</a:t>
            </a:r>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 (model of the world) to handle partial observability.</a:t>
            </a:r>
            <a:endParaRPr lang="en-US" sz="1800" dirty="0"/>
          </a:p>
        </p:txBody>
      </p:sp>
      <p:sp>
        <p:nvSpPr>
          <p:cNvPr id="6" name="Text 4"/>
          <p:cNvSpPr/>
          <p:nvPr/>
        </p:nvSpPr>
        <p:spPr>
          <a:xfrm>
            <a:off x="762000" y="2159000"/>
            <a:ext cx="381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HOW IT WORKS</a:t>
            </a:r>
            <a:endParaRPr lang="en-US" sz="1400" dirty="0"/>
          </a:p>
        </p:txBody>
      </p:sp>
      <p:sp>
        <p:nvSpPr>
          <p:cNvPr id="7" name="Shape 5"/>
          <p:cNvSpPr/>
          <p:nvPr/>
        </p:nvSpPr>
        <p:spPr>
          <a:xfrm>
            <a:off x="762000" y="2667000"/>
            <a:ext cx="3048000" cy="1016000"/>
          </a:xfrm>
          <a:prstGeom prst="rect">
            <a:avLst/>
          </a:prstGeom>
          <a:solidFill>
            <a:srgbClr val="0F4C5C"/>
          </a:solidFill>
          <a:ln/>
        </p:spPr>
      </p:sp>
      <p:sp>
        <p:nvSpPr>
          <p:cNvPr id="8" name="Text 6"/>
          <p:cNvSpPr/>
          <p:nvPr/>
        </p:nvSpPr>
        <p:spPr>
          <a:xfrm>
            <a:off x="889000" y="2730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1. Perceive</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Current state from sensors</a:t>
            </a:r>
            <a:endParaRPr lang="en-US" sz="1600" dirty="0"/>
          </a:p>
        </p:txBody>
      </p:sp>
      <p:sp>
        <p:nvSpPr>
          <p:cNvPr id="9" name="Shape 7"/>
          <p:cNvSpPr/>
          <p:nvPr/>
        </p:nvSpPr>
        <p:spPr>
          <a:xfrm>
            <a:off x="3810000" y="3111500"/>
            <a:ext cx="508000" cy="0"/>
          </a:xfrm>
          <a:prstGeom prst="straightConnector1">
            <a:avLst/>
          </a:prstGeom>
          <a:noFill/>
          <a:ln w="25400">
            <a:solidFill>
              <a:srgbClr val="D97706"/>
            </a:solidFill>
            <a:prstDash val="solid"/>
            <a:headEnd type="none"/>
            <a:tailEnd type="arrow"/>
          </a:ln>
        </p:spPr>
      </p:sp>
      <p:sp>
        <p:nvSpPr>
          <p:cNvPr id="10" name="Shape 8"/>
          <p:cNvSpPr/>
          <p:nvPr/>
        </p:nvSpPr>
        <p:spPr>
          <a:xfrm>
            <a:off x="4318000" y="2667000"/>
            <a:ext cx="3048000" cy="1016000"/>
          </a:xfrm>
          <a:prstGeom prst="rect">
            <a:avLst/>
          </a:prstGeom>
          <a:solidFill>
            <a:srgbClr val="D97706"/>
          </a:solidFill>
          <a:ln/>
        </p:spPr>
      </p:sp>
      <p:sp>
        <p:nvSpPr>
          <p:cNvPr id="11" name="Text 9"/>
          <p:cNvSpPr/>
          <p:nvPr/>
        </p:nvSpPr>
        <p:spPr>
          <a:xfrm>
            <a:off x="4445000" y="2730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2. Update Model</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Update internal state</a:t>
            </a:r>
            <a:endParaRPr lang="en-US" sz="1600" dirty="0"/>
          </a:p>
        </p:txBody>
      </p:sp>
      <p:sp>
        <p:nvSpPr>
          <p:cNvPr id="12" name="Shape 10"/>
          <p:cNvSpPr/>
          <p:nvPr/>
        </p:nvSpPr>
        <p:spPr>
          <a:xfrm>
            <a:off x="7366000" y="3111500"/>
            <a:ext cx="508000" cy="0"/>
          </a:xfrm>
          <a:prstGeom prst="straightConnector1">
            <a:avLst/>
          </a:prstGeom>
          <a:noFill/>
          <a:ln w="25400">
            <a:solidFill>
              <a:srgbClr val="D97706"/>
            </a:solidFill>
            <a:prstDash val="solid"/>
            <a:headEnd type="none"/>
            <a:tailEnd type="arrow"/>
          </a:ln>
        </p:spPr>
      </p:sp>
      <p:sp>
        <p:nvSpPr>
          <p:cNvPr id="13" name="Shape 11"/>
          <p:cNvSpPr/>
          <p:nvPr/>
        </p:nvSpPr>
        <p:spPr>
          <a:xfrm>
            <a:off x="7874000" y="2667000"/>
            <a:ext cx="3048000" cy="1016000"/>
          </a:xfrm>
          <a:prstGeom prst="rect">
            <a:avLst/>
          </a:prstGeom>
          <a:solidFill>
            <a:srgbClr val="0F4C5C"/>
          </a:solidFill>
          <a:ln/>
        </p:spPr>
      </p:sp>
      <p:sp>
        <p:nvSpPr>
          <p:cNvPr id="14" name="Text 12"/>
          <p:cNvSpPr/>
          <p:nvPr/>
        </p:nvSpPr>
        <p:spPr>
          <a:xfrm>
            <a:off x="8001000" y="2730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3. Select Action</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Based on updated state</a:t>
            </a:r>
            <a:endParaRPr lang="en-US" sz="1600" dirty="0"/>
          </a:p>
        </p:txBody>
      </p:sp>
      <p:sp>
        <p:nvSpPr>
          <p:cNvPr id="15" name="Shape 13"/>
          <p:cNvSpPr/>
          <p:nvPr/>
        </p:nvSpPr>
        <p:spPr>
          <a:xfrm>
            <a:off x="10922000" y="3111500"/>
            <a:ext cx="508000" cy="0"/>
          </a:xfrm>
          <a:prstGeom prst="straightConnector1">
            <a:avLst/>
          </a:prstGeom>
          <a:noFill/>
          <a:ln w="25400">
            <a:solidFill>
              <a:srgbClr val="D97706"/>
            </a:solidFill>
            <a:prstDash val="solid"/>
            <a:headEnd type="none"/>
            <a:tailEnd type="arrow"/>
          </a:ln>
        </p:spPr>
      </p:sp>
      <p:sp>
        <p:nvSpPr>
          <p:cNvPr id="16" name="Shape 14"/>
          <p:cNvSpPr/>
          <p:nvPr/>
        </p:nvSpPr>
        <p:spPr>
          <a:xfrm>
            <a:off x="11430000" y="2667000"/>
            <a:ext cx="3048000" cy="1016000"/>
          </a:xfrm>
          <a:prstGeom prst="rect">
            <a:avLst/>
          </a:prstGeom>
          <a:solidFill>
            <a:srgbClr val="D97706"/>
          </a:solidFill>
          <a:ln/>
        </p:spPr>
      </p:sp>
      <p:sp>
        <p:nvSpPr>
          <p:cNvPr id="17" name="Text 15"/>
          <p:cNvSpPr/>
          <p:nvPr/>
        </p:nvSpPr>
        <p:spPr>
          <a:xfrm>
            <a:off x="11557000" y="2730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4. Execute</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Act via actuators</a:t>
            </a:r>
            <a:endParaRPr lang="en-US" sz="1600" dirty="0"/>
          </a:p>
        </p:txBody>
      </p:sp>
      <p:sp>
        <p:nvSpPr>
          <p:cNvPr id="18" name="Shape 16"/>
          <p:cNvSpPr/>
          <p:nvPr/>
        </p:nvSpPr>
        <p:spPr>
          <a:xfrm>
            <a:off x="762000" y="4127500"/>
            <a:ext cx="7112000" cy="1778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9" name="Shape 17"/>
          <p:cNvSpPr/>
          <p:nvPr/>
        </p:nvSpPr>
        <p:spPr>
          <a:xfrm>
            <a:off x="1016000" y="4445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16A34A"/>
          </a:solidFill>
          <a:ln/>
        </p:spPr>
      </p:sp>
      <p:sp>
        <p:nvSpPr>
          <p:cNvPr id="20" name="Text 18"/>
          <p:cNvSpPr/>
          <p:nvPr/>
        </p:nvSpPr>
        <p:spPr>
          <a:xfrm>
            <a:off x="1498600" y="4381500"/>
            <a:ext cx="2540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Advantages</a:t>
            </a:r>
            <a:endParaRPr lang="en-US" sz="1600" dirty="0"/>
          </a:p>
        </p:txBody>
      </p:sp>
      <p:sp>
        <p:nvSpPr>
          <p:cNvPr id="21" name="Text 19"/>
          <p:cNvSpPr/>
          <p:nvPr/>
        </p:nvSpPr>
        <p:spPr>
          <a:xfrm>
            <a:off x="1016000" y="4851400"/>
            <a:ext cx="6604000" cy="825500"/>
          </a:xfrm>
          <a:prstGeom prst="rect">
            <a:avLst/>
          </a:prstGeom>
          <a:noFill/>
          <a:ln/>
        </p:spPr>
        <p:txBody>
          <a:bodyPr wrap="square" lIns="0" tIns="0" rIns="0" bIns="0" rtlCol="0" anchor="t"/>
          <a:lstStyle/>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Handles partial observability</a:t>
            </a:r>
            <a:endParaRPr lang="en-US" sz="1600" dirty="0"/>
          </a:p>
          <a:p>
            <a:pPr>
              <a:lnSpc>
                <a:spcPct val="150000"/>
              </a:lnSpc>
            </a:pPr>
            <a:r>
              <a:rPr lang="en-US" sz="1500" dirty="0">
                <a:solidFill>
                  <a:srgbClr val="16A34A"/>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Can make better decisions with context</a:t>
            </a:r>
            <a:endParaRPr lang="en-US" sz="1600" dirty="0"/>
          </a:p>
        </p:txBody>
      </p:sp>
      <p:sp>
        <p:nvSpPr>
          <p:cNvPr id="22" name="Shape 20"/>
          <p:cNvSpPr/>
          <p:nvPr/>
        </p:nvSpPr>
        <p:spPr>
          <a:xfrm>
            <a:off x="8382000" y="4127500"/>
            <a:ext cx="7112000" cy="1778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3" name="Shape 21"/>
          <p:cNvSpPr/>
          <p:nvPr/>
        </p:nvSpPr>
        <p:spPr>
          <a:xfrm>
            <a:off x="8636000" y="44450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15987" y="115987"/>
                </a:moveTo>
                <a:cubicBezTo>
                  <a:pt x="122515" y="109458"/>
                  <a:pt x="133072" y="109458"/>
                  <a:pt x="139531" y="115987"/>
                </a:cubicBezTo>
                <a:lnTo>
                  <a:pt x="177731" y="154186"/>
                </a:lnTo>
                <a:lnTo>
                  <a:pt x="215930" y="115987"/>
                </a:lnTo>
                <a:cubicBezTo>
                  <a:pt x="222458" y="109458"/>
                  <a:pt x="233015" y="109458"/>
                  <a:pt x="239474" y="115987"/>
                </a:cubicBezTo>
                <a:cubicBezTo>
                  <a:pt x="245934" y="122515"/>
                  <a:pt x="246003" y="133072"/>
                  <a:pt x="239474" y="139531"/>
                </a:cubicBezTo>
                <a:lnTo>
                  <a:pt x="201275" y="177731"/>
                </a:lnTo>
                <a:lnTo>
                  <a:pt x="239474" y="215930"/>
                </a:lnTo>
                <a:cubicBezTo>
                  <a:pt x="246003" y="222458"/>
                  <a:pt x="246003" y="233015"/>
                  <a:pt x="239474" y="239474"/>
                </a:cubicBezTo>
                <a:cubicBezTo>
                  <a:pt x="232946" y="245934"/>
                  <a:pt x="222389" y="246003"/>
                  <a:pt x="215930" y="239474"/>
                </a:cubicBezTo>
                <a:lnTo>
                  <a:pt x="177731" y="201275"/>
                </a:lnTo>
                <a:lnTo>
                  <a:pt x="139531" y="239474"/>
                </a:lnTo>
                <a:cubicBezTo>
                  <a:pt x="133003" y="246003"/>
                  <a:pt x="122446" y="246003"/>
                  <a:pt x="115987" y="239474"/>
                </a:cubicBezTo>
                <a:cubicBezTo>
                  <a:pt x="109528" y="232946"/>
                  <a:pt x="109458" y="222389"/>
                  <a:pt x="115987" y="215930"/>
                </a:cubicBezTo>
                <a:lnTo>
                  <a:pt x="154186" y="177731"/>
                </a:lnTo>
                <a:lnTo>
                  <a:pt x="115987" y="139531"/>
                </a:lnTo>
                <a:cubicBezTo>
                  <a:pt x="109458" y="133003"/>
                  <a:pt x="109458" y="122446"/>
                  <a:pt x="115987" y="115987"/>
                </a:cubicBezTo>
                <a:close/>
              </a:path>
            </a:pathLst>
          </a:custGeom>
          <a:solidFill>
            <a:srgbClr val="DC2626"/>
          </a:solidFill>
          <a:ln/>
        </p:spPr>
      </p:sp>
      <p:sp>
        <p:nvSpPr>
          <p:cNvPr id="24" name="Text 22"/>
          <p:cNvSpPr/>
          <p:nvPr/>
        </p:nvSpPr>
        <p:spPr>
          <a:xfrm>
            <a:off x="9118600" y="4381500"/>
            <a:ext cx="2540000" cy="3556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Limitations</a:t>
            </a:r>
            <a:endParaRPr lang="en-US" sz="1600" dirty="0"/>
          </a:p>
        </p:txBody>
      </p:sp>
      <p:sp>
        <p:nvSpPr>
          <p:cNvPr id="25" name="Text 23"/>
          <p:cNvSpPr/>
          <p:nvPr/>
        </p:nvSpPr>
        <p:spPr>
          <a:xfrm>
            <a:off x="8636000" y="4851400"/>
            <a:ext cx="6604000" cy="825500"/>
          </a:xfrm>
          <a:prstGeom prst="rect">
            <a:avLst/>
          </a:prstGeom>
          <a:noFill/>
          <a:ln/>
        </p:spPr>
        <p:txBody>
          <a:bodyPr wrap="square" lIns="0" tIns="0" rIns="0" bIns="0" rtlCol="0" anchor="t"/>
          <a:lstStyle/>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Still reactive — no goal-directed behavior</a:t>
            </a:r>
            <a:endParaRPr lang="en-US" sz="1600" dirty="0"/>
          </a:p>
          <a:p>
            <a:pPr>
              <a:lnSpc>
                <a:spcPct val="150000"/>
              </a:lnSpc>
            </a:pPr>
            <a:r>
              <a:rPr lang="en-US" sz="1500" dirty="0">
                <a:solidFill>
                  <a:srgbClr val="DC2626"/>
                </a:solidFill>
                <a:latin typeface="Quattrocento Sans" pitchFamily="34" charset="0"/>
                <a:ea typeface="Quattrocento Sans" pitchFamily="34" charset="-122"/>
                <a:cs typeface="Quattrocento Sans" pitchFamily="34" charset="-120"/>
              </a:rPr>
              <a:t>■</a:t>
            </a:r>
            <a:pPr>
              <a:lnSpc>
                <a:spcPct val="150000"/>
              </a:lnSpc>
            </a:pPr>
            <a:r>
              <a:rPr lang="en-US" sz="1500" dirty="0">
                <a:solidFill>
                  <a:srgbClr val="1C1917"/>
                </a:solidFill>
                <a:latin typeface="Quattrocento Sans" pitchFamily="34" charset="0"/>
                <a:ea typeface="Quattrocento Sans" pitchFamily="34" charset="-122"/>
                <a:cs typeface="Quattrocento Sans" pitchFamily="34" charset="-120"/>
              </a:rPr>
              <a:t> Limited planning capability</a:t>
            </a:r>
            <a:endParaRPr lang="en-US" sz="1600" dirty="0"/>
          </a:p>
        </p:txBody>
      </p:sp>
      <p:sp>
        <p:nvSpPr>
          <p:cNvPr id="26" name="Shape 24"/>
          <p:cNvSpPr/>
          <p:nvPr/>
        </p:nvSpPr>
        <p:spPr>
          <a:xfrm>
            <a:off x="762000" y="6350000"/>
            <a:ext cx="14732000" cy="1651000"/>
          </a:xfrm>
          <a:prstGeom prst="rect">
            <a:avLst/>
          </a:prstGeom>
          <a:solidFill>
            <a:srgbClr val="E0F2F1"/>
          </a:solidFill>
          <a:ln/>
        </p:spPr>
      </p:sp>
      <p:sp>
        <p:nvSpPr>
          <p:cNvPr id="27" name="Shape 25"/>
          <p:cNvSpPr/>
          <p:nvPr/>
        </p:nvSpPr>
        <p:spPr>
          <a:xfrm>
            <a:off x="1123950" y="6794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97706"/>
          </a:solidFill>
          <a:ln/>
        </p:spPr>
      </p:sp>
      <p:sp>
        <p:nvSpPr>
          <p:cNvPr id="28" name="Text 26"/>
          <p:cNvSpPr/>
          <p:nvPr/>
        </p:nvSpPr>
        <p:spPr>
          <a:xfrm>
            <a:off x="1587500" y="6540500"/>
            <a:ext cx="38100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Example</a:t>
            </a:r>
            <a:endParaRPr lang="en-US" sz="1600" dirty="0"/>
          </a:p>
        </p:txBody>
      </p:sp>
      <p:sp>
        <p:nvSpPr>
          <p:cNvPr id="29" name="Text 27"/>
          <p:cNvSpPr/>
          <p:nvPr/>
        </p:nvSpPr>
        <p:spPr>
          <a:xfrm>
            <a:off x="1587500" y="6985000"/>
            <a:ext cx="13589000" cy="762000"/>
          </a:xfrm>
          <a:prstGeom prst="rect">
            <a:avLst/>
          </a:prstGeom>
          <a:noFill/>
          <a:ln/>
        </p:spPr>
        <p:txBody>
          <a:bodyPr wrap="square" lIns="0" tIns="0" rIns="0" bIns="0" rtlCol="0" anchor="t"/>
          <a:lstStyle/>
          <a:p>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A </a:t>
            </a:r>
            <a:pP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vacuum robot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that remembers which rooms it has already cleaned. It maintains an internal map (model) of the environment to avoid re-cleaning the same areas, making more efficient decisions than a simple reflex agent.</a:t>
            </a:r>
            <a:endParaRPr lang="en-US" sz="1600" dirty="0"/>
          </a:p>
        </p:txBody>
      </p:sp>
      <p:sp>
        <p:nvSpPr>
          <p:cNvPr id="30" name="Text 28"/>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31" name="Text 29"/>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27</a:t>
            </a:r>
            <a:endParaRPr lang="en-US" sz="1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143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Goal-Based &amp; Utility-Based Agents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Shape 3"/>
          <p:cNvSpPr/>
          <p:nvPr/>
        </p:nvSpPr>
        <p:spPr>
          <a:xfrm>
            <a:off x="762000" y="1397000"/>
            <a:ext cx="7112000" cy="6731000"/>
          </a:xfrm>
          <a:prstGeom prst="rect">
            <a:avLst/>
          </a:prstGeom>
          <a:solidFill>
            <a:srgbClr val="0F4C5C"/>
          </a:solidFill>
          <a:ln/>
        </p:spPr>
      </p:sp>
      <p:sp>
        <p:nvSpPr>
          <p:cNvPr id="6" name="Shape 4"/>
          <p:cNvSpPr/>
          <p:nvPr/>
        </p:nvSpPr>
        <p:spPr>
          <a:xfrm>
            <a:off x="1079500" y="1651000"/>
            <a:ext cx="457200" cy="457200"/>
          </a:xfrm>
          <a:custGeom>
            <a:avLst/>
            <a:gdLst/>
            <a:ahLst/>
            <a:cxnLst/>
            <a:rect l="l" t="t" r="r" b="b"/>
            <a:pathLst>
              <a:path w="457200" h="457200">
                <a:moveTo>
                  <a:pt x="400050" y="228600"/>
                </a:moveTo>
                <a:cubicBezTo>
                  <a:pt x="400050" y="133974"/>
                  <a:pt x="323226" y="57150"/>
                  <a:pt x="228600" y="57150"/>
                </a:cubicBezTo>
                <a:cubicBezTo>
                  <a:pt x="133974" y="57150"/>
                  <a:pt x="57150" y="133974"/>
                  <a:pt x="57150" y="228600"/>
                </a:cubicBezTo>
                <a:cubicBezTo>
                  <a:pt x="57150" y="323226"/>
                  <a:pt x="133974" y="400050"/>
                  <a:pt x="228600" y="400050"/>
                </a:cubicBezTo>
                <a:cubicBezTo>
                  <a:pt x="323226" y="400050"/>
                  <a:pt x="400050" y="323226"/>
                  <a:pt x="400050" y="228600"/>
                </a:cubicBezTo>
                <a:close/>
                <a:moveTo>
                  <a:pt x="0" y="228600"/>
                </a:moveTo>
                <a:cubicBezTo>
                  <a:pt x="0" y="102432"/>
                  <a:pt x="102432" y="0"/>
                  <a:pt x="228600" y="0"/>
                </a:cubicBezTo>
                <a:cubicBezTo>
                  <a:pt x="354768" y="0"/>
                  <a:pt x="457200" y="102432"/>
                  <a:pt x="457200" y="228600"/>
                </a:cubicBezTo>
                <a:cubicBezTo>
                  <a:pt x="457200" y="354768"/>
                  <a:pt x="354768" y="457200"/>
                  <a:pt x="228600" y="457200"/>
                </a:cubicBezTo>
                <a:cubicBezTo>
                  <a:pt x="102432" y="457200"/>
                  <a:pt x="0" y="354768"/>
                  <a:pt x="0" y="228600"/>
                </a:cubicBezTo>
                <a:close/>
                <a:moveTo>
                  <a:pt x="228600" y="300038"/>
                </a:moveTo>
                <a:cubicBezTo>
                  <a:pt x="268027" y="300038"/>
                  <a:pt x="300038" y="268027"/>
                  <a:pt x="300038" y="228600"/>
                </a:cubicBezTo>
                <a:cubicBezTo>
                  <a:pt x="300038" y="189173"/>
                  <a:pt x="268027" y="157163"/>
                  <a:pt x="228600" y="157163"/>
                </a:cubicBezTo>
                <a:cubicBezTo>
                  <a:pt x="189173" y="157163"/>
                  <a:pt x="157163" y="189173"/>
                  <a:pt x="157163" y="228600"/>
                </a:cubicBezTo>
                <a:cubicBezTo>
                  <a:pt x="157163" y="268027"/>
                  <a:pt x="189173" y="300038"/>
                  <a:pt x="228600" y="300038"/>
                </a:cubicBezTo>
                <a:close/>
                <a:moveTo>
                  <a:pt x="228600" y="100013"/>
                </a:moveTo>
                <a:cubicBezTo>
                  <a:pt x="299569" y="100013"/>
                  <a:pt x="357188" y="157631"/>
                  <a:pt x="357188" y="228600"/>
                </a:cubicBezTo>
                <a:cubicBezTo>
                  <a:pt x="357188" y="299569"/>
                  <a:pt x="299569" y="357188"/>
                  <a:pt x="228600" y="357188"/>
                </a:cubicBezTo>
                <a:cubicBezTo>
                  <a:pt x="157631" y="357188"/>
                  <a:pt x="100013" y="299569"/>
                  <a:pt x="100013" y="228600"/>
                </a:cubicBezTo>
                <a:cubicBezTo>
                  <a:pt x="100013" y="157631"/>
                  <a:pt x="157631" y="100013"/>
                  <a:pt x="228600" y="100013"/>
                </a:cubicBezTo>
                <a:close/>
                <a:moveTo>
                  <a:pt x="200025" y="228600"/>
                </a:moveTo>
                <a:cubicBezTo>
                  <a:pt x="200025" y="212829"/>
                  <a:pt x="212829" y="200025"/>
                  <a:pt x="228600" y="200025"/>
                </a:cubicBezTo>
                <a:cubicBezTo>
                  <a:pt x="244371" y="200025"/>
                  <a:pt x="257175" y="212829"/>
                  <a:pt x="257175" y="228600"/>
                </a:cubicBezTo>
                <a:cubicBezTo>
                  <a:pt x="257175" y="244371"/>
                  <a:pt x="244371" y="257175"/>
                  <a:pt x="228600" y="257175"/>
                </a:cubicBezTo>
                <a:cubicBezTo>
                  <a:pt x="212829" y="257175"/>
                  <a:pt x="200025" y="244371"/>
                  <a:pt x="200025" y="228600"/>
                </a:cubicBezTo>
                <a:close/>
              </a:path>
            </a:pathLst>
          </a:custGeom>
          <a:solidFill>
            <a:srgbClr val="D97706"/>
          </a:solidFill>
          <a:ln/>
        </p:spPr>
      </p:sp>
      <p:sp>
        <p:nvSpPr>
          <p:cNvPr id="7" name="Text 5"/>
          <p:cNvSpPr/>
          <p:nvPr/>
        </p:nvSpPr>
        <p:spPr>
          <a:xfrm>
            <a:off x="1079500" y="2286000"/>
            <a:ext cx="6477000" cy="406400"/>
          </a:xfrm>
          <a:prstGeom prst="rect">
            <a:avLst/>
          </a:prstGeom>
          <a:noFill/>
          <a:ln/>
        </p:spPr>
        <p:txBody>
          <a:bodyPr wrap="none" lIns="0" tIns="0" rIns="0" bIns="0" rtlCol="0" anchor="ctr"/>
          <a:lstStyle/>
          <a:p>
            <a:pPr>
              <a:lnSpc>
                <a:spcPct val="100000"/>
              </a:lnSpc>
            </a:pPr>
            <a:r>
              <a:rPr lang="en-US" sz="2400" dirty="0">
                <a:solidFill>
                  <a:srgbClr val="FFFFFF"/>
                </a:solidFill>
                <a:latin typeface="Liter" pitchFamily="34" charset="0"/>
                <a:ea typeface="Liter" pitchFamily="34" charset="-122"/>
                <a:cs typeface="Liter" pitchFamily="34" charset="-120"/>
              </a:rPr>
              <a:t>Goal-Based Agents</a:t>
            </a:r>
            <a:endParaRPr lang="en-US" sz="1600" dirty="0"/>
          </a:p>
        </p:txBody>
      </p:sp>
      <p:sp>
        <p:nvSpPr>
          <p:cNvPr id="8" name="Shape 6"/>
          <p:cNvSpPr/>
          <p:nvPr/>
        </p:nvSpPr>
        <p:spPr>
          <a:xfrm>
            <a:off x="1079500" y="2794000"/>
            <a:ext cx="635000" cy="25400"/>
          </a:xfrm>
          <a:prstGeom prst="rect">
            <a:avLst/>
          </a:prstGeom>
          <a:solidFill>
            <a:srgbClr val="D97706"/>
          </a:solidFill>
          <a:ln/>
        </p:spPr>
      </p:sp>
      <p:sp>
        <p:nvSpPr>
          <p:cNvPr id="9" name="Text 7"/>
          <p:cNvSpPr/>
          <p:nvPr/>
        </p:nvSpPr>
        <p:spPr>
          <a:xfrm>
            <a:off x="1079500" y="3048000"/>
            <a:ext cx="6477000" cy="2540000"/>
          </a:xfrm>
          <a:prstGeom prst="rect">
            <a:avLst/>
          </a:prstGeom>
          <a:noFill/>
          <a:ln/>
        </p:spPr>
        <p:txBody>
          <a:bodyPr wrap="square" lIns="0" tIns="0" rIns="0" bIns="0" rtlCol="0" anchor="t"/>
          <a:lstStyle/>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Choose actions based on </a:t>
            </a:r>
            <a:pPr>
              <a:lnSpc>
                <a:spcPct val="16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goal states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Use search and planning to find action sequences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More flexible than reflex agents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Can consider future consequences</a:t>
            </a:r>
            <a:endParaRPr lang="en-US" sz="1600" dirty="0"/>
          </a:p>
        </p:txBody>
      </p:sp>
      <p:sp>
        <p:nvSpPr>
          <p:cNvPr id="10" name="Text 8"/>
          <p:cNvSpPr/>
          <p:nvPr/>
        </p:nvSpPr>
        <p:spPr>
          <a:xfrm>
            <a:off x="1079500" y="5842000"/>
            <a:ext cx="6477000" cy="1016000"/>
          </a:xfrm>
          <a:prstGeom prst="rect">
            <a:avLst/>
          </a:prstGeom>
          <a:noFill/>
          <a:ln/>
        </p:spPr>
        <p:txBody>
          <a:bodyPr wrap="square" lIns="0" tIns="0" rIns="0" bIns="0" rtlCol="0" anchor="t"/>
          <a:lstStyle/>
          <a:p>
            <a:pPr>
              <a:lnSpc>
                <a:spcPct val="150000"/>
              </a:lnSpc>
            </a:pPr>
            <a:r>
              <a:rPr lang="en-US" sz="1500" b="1" dirty="0">
                <a:solidFill>
                  <a:srgbClr val="FFFFFF"/>
                </a:solidFill>
                <a:latin typeface="Quattrocento Sans" pitchFamily="34" charset="0"/>
                <a:ea typeface="Quattrocento Sans" pitchFamily="34" charset="-122"/>
                <a:cs typeface="Quattrocento Sans" pitchFamily="34" charset="-120"/>
              </a:rPr>
              <a:t>Example:</a:t>
            </a:r>
            <a:pPr>
              <a:lnSpc>
                <a:spcPct val="150000"/>
              </a:lnSpc>
            </a:pPr>
            <a:r>
              <a:rPr lang="en-US" sz="1500" dirty="0">
                <a:solidFill>
                  <a:srgbClr val="FFFFFF">
                    <a:alpha val="66667"/>
                  </a:srgbClr>
                </a:solidFill>
                <a:latin typeface="Quattrocento Sans" pitchFamily="34" charset="0"/>
                <a:ea typeface="Quattrocento Sans" pitchFamily="34" charset="-122"/>
                <a:cs typeface="Quattrocento Sans" pitchFamily="34" charset="-120"/>
              </a:rPr>
              <a:t> A GPS navigator finding the shortest path to a destination — it plans a route to achieve the goal of reaching the target location.</a:t>
            </a:r>
            <a:endParaRPr lang="en-US" sz="1600" dirty="0"/>
          </a:p>
        </p:txBody>
      </p:sp>
      <p:sp>
        <p:nvSpPr>
          <p:cNvPr id="11" name="Shape 9"/>
          <p:cNvSpPr/>
          <p:nvPr/>
        </p:nvSpPr>
        <p:spPr>
          <a:xfrm>
            <a:off x="8382000" y="1397000"/>
            <a:ext cx="7112000" cy="673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Shape 10"/>
          <p:cNvSpPr/>
          <p:nvPr/>
        </p:nvSpPr>
        <p:spPr>
          <a:xfrm>
            <a:off x="8642350" y="1651000"/>
            <a:ext cx="571500" cy="457200"/>
          </a:xfrm>
          <a:custGeom>
            <a:avLst/>
            <a:gdLst/>
            <a:ahLst/>
            <a:cxnLst/>
            <a:rect l="l" t="t" r="r" b="b"/>
            <a:pathLst>
              <a:path w="571500" h="4572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D97706"/>
          </a:solidFill>
          <a:ln/>
        </p:spPr>
      </p:sp>
      <p:sp>
        <p:nvSpPr>
          <p:cNvPr id="13" name="Text 11"/>
          <p:cNvSpPr/>
          <p:nvPr/>
        </p:nvSpPr>
        <p:spPr>
          <a:xfrm>
            <a:off x="8699500" y="2286000"/>
            <a:ext cx="6477000" cy="406400"/>
          </a:xfrm>
          <a:prstGeom prst="rect">
            <a:avLst/>
          </a:prstGeom>
          <a:noFill/>
          <a:ln/>
        </p:spPr>
        <p:txBody>
          <a:bodyPr wrap="none" lIns="0" tIns="0" rIns="0" bIns="0" rtlCol="0" anchor="ctr"/>
          <a:lstStyle/>
          <a:p>
            <a:pPr>
              <a:lnSpc>
                <a:spcPct val="100000"/>
              </a:lnSpc>
            </a:pPr>
            <a:r>
              <a:rPr lang="en-US" sz="2400" dirty="0">
                <a:solidFill>
                  <a:srgbClr val="0F4C5C"/>
                </a:solidFill>
                <a:latin typeface="Liter" pitchFamily="34" charset="0"/>
                <a:ea typeface="Liter" pitchFamily="34" charset="-122"/>
                <a:cs typeface="Liter" pitchFamily="34" charset="-120"/>
              </a:rPr>
              <a:t>Utility-Based Agents</a:t>
            </a:r>
            <a:endParaRPr lang="en-US" sz="1600" dirty="0"/>
          </a:p>
        </p:txBody>
      </p:sp>
      <p:sp>
        <p:nvSpPr>
          <p:cNvPr id="14" name="Shape 12"/>
          <p:cNvSpPr/>
          <p:nvPr/>
        </p:nvSpPr>
        <p:spPr>
          <a:xfrm>
            <a:off x="8699500" y="2794000"/>
            <a:ext cx="635000" cy="25400"/>
          </a:xfrm>
          <a:prstGeom prst="rect">
            <a:avLst/>
          </a:prstGeom>
          <a:solidFill>
            <a:srgbClr val="D97706"/>
          </a:solidFill>
          <a:ln/>
        </p:spPr>
      </p:sp>
      <p:sp>
        <p:nvSpPr>
          <p:cNvPr id="15" name="Text 13"/>
          <p:cNvSpPr/>
          <p:nvPr/>
        </p:nvSpPr>
        <p:spPr>
          <a:xfrm>
            <a:off x="8699500" y="3048000"/>
            <a:ext cx="6477000" cy="2540000"/>
          </a:xfrm>
          <a:prstGeom prst="rect">
            <a:avLst/>
          </a:prstGeom>
          <a:noFill/>
          <a:ln/>
        </p:spPr>
        <p:txBody>
          <a:bodyPr wrap="square" lIns="0" tIns="0" rIns="0" bIns="0" rtlCol="0" anchor="t"/>
          <a:lstStyle/>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Measure how good a state is using a </a:t>
            </a:r>
            <a:pPr>
              <a:lnSpc>
                <a:spcPct val="160000"/>
              </a:lnSpc>
            </a:pPr>
            <a:r>
              <a:rPr lang="en-US" sz="1600" b="1" dirty="0">
                <a:solidFill>
                  <a:srgbClr val="1C1917"/>
                </a:solidFill>
                <a:latin typeface="Quattrocento Sans" pitchFamily="34" charset="0"/>
                <a:ea typeface="Quattrocento Sans" pitchFamily="34" charset="-122"/>
                <a:cs typeface="Quattrocento Sans" pitchFamily="34" charset="-120"/>
              </a:rPr>
              <a:t>utility function</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Maximize expected utility</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Handle trade-offs between conflicting goals</a:t>
            </a:r>
            <a:endParaRPr lang="en-US" sz="1600" dirty="0"/>
          </a:p>
          <a:p>
            <a:pPr>
              <a:lnSpc>
                <a:spcPct val="16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60000"/>
              </a:lnSpc>
            </a:pPr>
            <a:r>
              <a:rPr lang="en-US" sz="1600" dirty="0">
                <a:solidFill>
                  <a:srgbClr val="1C1917"/>
                </a:solidFill>
                <a:latin typeface="Quattrocento Sans" pitchFamily="34" charset="0"/>
                <a:ea typeface="Quattrocento Sans" pitchFamily="34" charset="-122"/>
                <a:cs typeface="Quattrocento Sans" pitchFamily="34" charset="-120"/>
              </a:rPr>
              <a:t> Choose the "best" state, not just any goal state</a:t>
            </a:r>
            <a:endParaRPr lang="en-US" sz="1600" dirty="0"/>
          </a:p>
        </p:txBody>
      </p:sp>
      <p:sp>
        <p:nvSpPr>
          <p:cNvPr id="16" name="Text 14"/>
          <p:cNvSpPr/>
          <p:nvPr/>
        </p:nvSpPr>
        <p:spPr>
          <a:xfrm>
            <a:off x="8699500" y="5842000"/>
            <a:ext cx="6477000" cy="1016000"/>
          </a:xfrm>
          <a:prstGeom prst="rect">
            <a:avLst/>
          </a:prstGeom>
          <a:noFill/>
          <a:ln/>
        </p:spPr>
        <p:txBody>
          <a:bodyPr wrap="square" lIns="0" tIns="0" rIns="0" bIns="0" rtlCol="0" anchor="t"/>
          <a:lstStyle/>
          <a:p>
            <a:pPr>
              <a:lnSpc>
                <a:spcPct val="150000"/>
              </a:lnSpc>
            </a:pPr>
            <a:r>
              <a:rPr lang="en-US" sz="1500" b="1" dirty="0">
                <a:solidFill>
                  <a:srgbClr val="0F4C5C"/>
                </a:solidFill>
                <a:latin typeface="Quattrocento Sans" pitchFamily="34" charset="0"/>
                <a:ea typeface="Quattrocento Sans" pitchFamily="34" charset="-122"/>
                <a:cs typeface="Quattrocento Sans" pitchFamily="34" charset="-120"/>
              </a:rPr>
              <a:t>Example:</a:t>
            </a:r>
            <a:pPr>
              <a:lnSpc>
                <a:spcPct val="150000"/>
              </a:lnSpc>
            </a:pPr>
            <a:r>
              <a:rPr lang="en-US" sz="1500" dirty="0">
                <a:solidFill>
                  <a:srgbClr val="64748B"/>
                </a:solidFill>
                <a:latin typeface="Quattrocento Sans" pitchFamily="34" charset="0"/>
                <a:ea typeface="Quattrocento Sans" pitchFamily="34" charset="-122"/>
                <a:cs typeface="Quattrocento Sans" pitchFamily="34" charset="-120"/>
              </a:rPr>
              <a:t> Choosing a slightly longer but safer route to avoid traffic jams — maximizing overall utility rather than just minimizing distance.</a:t>
            </a:r>
            <a:endParaRPr lang="en-US" sz="1600" dirty="0"/>
          </a:p>
        </p:txBody>
      </p:sp>
      <p:sp>
        <p:nvSpPr>
          <p:cNvPr id="17" name="Text 1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18" name="Text 1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28</a:t>
            </a:r>
            <a:endParaRPr lang="en-US" sz="1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016000" cy="50800"/>
          </a:xfrm>
          <a:prstGeom prst="rect">
            <a:avLst/>
          </a:prstGeom>
          <a:solidFill>
            <a:srgbClr val="0F4C5C"/>
          </a:solidFill>
          <a:ln/>
        </p:spPr>
      </p:sp>
      <p:sp>
        <p:nvSpPr>
          <p:cNvPr id="3" name="Text 1"/>
          <p:cNvSpPr/>
          <p:nvPr/>
        </p:nvSpPr>
        <p:spPr>
          <a:xfrm>
            <a:off x="762000" y="444500"/>
            <a:ext cx="10160000" cy="508000"/>
          </a:xfrm>
          <a:prstGeom prst="rect">
            <a:avLst/>
          </a:prstGeom>
          <a:noFill/>
          <a:ln/>
        </p:spPr>
        <p:txBody>
          <a:bodyPr wrap="none" lIns="0" tIns="0" rIns="0" bIns="0" rtlCol="0" anchor="ctr"/>
          <a:lstStyle/>
          <a:p>
            <a:pPr>
              <a:lnSpc>
                <a:spcPct val="130000"/>
              </a:lnSpc>
            </a:pPr>
            <a:r>
              <a:rPr lang="en-US" sz="2800" dirty="0">
                <a:solidFill>
                  <a:srgbClr val="0F4C5C"/>
                </a:solidFill>
                <a:latin typeface="Liter" pitchFamily="34" charset="0"/>
                <a:ea typeface="Liter" pitchFamily="34" charset="-122"/>
                <a:cs typeface="Liter" pitchFamily="34" charset="-120"/>
              </a:rPr>
              <a:t>Learning Agents</a:t>
            </a:r>
            <a:endParaRPr lang="en-US" sz="2800" dirty="0"/>
          </a:p>
        </p:txBody>
      </p:sp>
      <p:sp>
        <p:nvSpPr>
          <p:cNvPr id="4" name="Shape 2"/>
          <p:cNvSpPr/>
          <p:nvPr/>
        </p:nvSpPr>
        <p:spPr>
          <a:xfrm>
            <a:off x="762000" y="1016000"/>
            <a:ext cx="762000" cy="38100"/>
          </a:xfrm>
          <a:prstGeom prst="rect">
            <a:avLst/>
          </a:prstGeom>
          <a:solidFill>
            <a:srgbClr val="D97706"/>
          </a:solidFill>
          <a:ln/>
        </p:spPr>
      </p:sp>
      <p:sp>
        <p:nvSpPr>
          <p:cNvPr id="5" name="Text 3"/>
          <p:cNvSpPr/>
          <p:nvPr/>
        </p:nvSpPr>
        <p:spPr>
          <a:xfrm>
            <a:off x="762000" y="1270000"/>
            <a:ext cx="14732000" cy="698500"/>
          </a:xfrm>
          <a:prstGeom prst="rect">
            <a:avLst/>
          </a:prstGeom>
          <a:noFill/>
          <a:ln/>
        </p:spPr>
        <p:txBody>
          <a:bodyPr wrap="square" lIns="0" tIns="0" rIns="0" bIns="0" rtlCol="0" anchor="ctr"/>
          <a:lstStyle/>
          <a:p>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The most advanced type of agent — can </a:t>
            </a:r>
            <a:pPr>
              <a:lnSpc>
                <a:spcPct val="160000"/>
              </a:lnSpc>
            </a:pPr>
            <a:r>
              <a:rPr lang="en-US" sz="1600" b="1" dirty="0">
                <a:solidFill>
                  <a:srgbClr val="1C1917"/>
                </a:solidFill>
                <a:latin typeface="QuattrocentoSans" pitchFamily="34" charset="0"/>
                <a:ea typeface="QuattrocentoSans" pitchFamily="34" charset="-122"/>
                <a:cs typeface="QuattrocentoSans" pitchFamily="34" charset="-120"/>
              </a:rPr>
              <a:t>learn from experience</a:t>
            </a:r>
            <a:pPr>
              <a:lnSpc>
                <a:spcPct val="160000"/>
              </a:lnSpc>
            </a:pPr>
            <a:r>
              <a:rPr lang="en-US" sz="1600" dirty="0">
                <a:solidFill>
                  <a:srgbClr val="1C1917"/>
                </a:solidFill>
                <a:latin typeface="QuattrocentoSans" pitchFamily="34" charset="0"/>
                <a:ea typeface="QuattrocentoSans" pitchFamily="34" charset="-122"/>
                <a:cs typeface="QuattrocentoSans" pitchFamily="34" charset="-120"/>
              </a:rPr>
              <a:t> and improve performance over time. Composed of four key elements:</a:t>
            </a:r>
            <a:endParaRPr lang="en-US" sz="1800" dirty="0"/>
          </a:p>
        </p:txBody>
      </p:sp>
      <p:sp>
        <p:nvSpPr>
          <p:cNvPr id="6" name="Text 4"/>
          <p:cNvSpPr/>
          <p:nvPr/>
        </p:nvSpPr>
        <p:spPr>
          <a:xfrm>
            <a:off x="762000" y="2159000"/>
            <a:ext cx="5080000" cy="304800"/>
          </a:xfrm>
          <a:prstGeom prst="rect">
            <a:avLst/>
          </a:prstGeom>
          <a:noFill/>
          <a:ln/>
        </p:spPr>
        <p:txBody>
          <a:bodyPr wrap="none" lIns="0" tIns="0" rIns="0" bIns="0" rtlCol="0" anchor="ctr"/>
          <a:lstStyle/>
          <a:p>
            <a:pPr>
              <a:lnSpc>
                <a:spcPct val="120000"/>
              </a:lnSpc>
            </a:pPr>
            <a:r>
              <a:rPr lang="en-US" sz="1400" spc="200" kern="0" dirty="0">
                <a:solidFill>
                  <a:srgbClr val="64748B"/>
                </a:solidFill>
                <a:latin typeface="Liter" pitchFamily="34" charset="0"/>
                <a:ea typeface="Liter" pitchFamily="34" charset="-122"/>
                <a:cs typeface="Liter" pitchFamily="34" charset="-120"/>
              </a:rPr>
              <a:t>FOUR COMPONENTS</a:t>
            </a:r>
            <a:endParaRPr lang="en-US" sz="1400" dirty="0"/>
          </a:p>
        </p:txBody>
      </p:sp>
      <p:sp>
        <p:nvSpPr>
          <p:cNvPr id="7" name="Shape 5"/>
          <p:cNvSpPr/>
          <p:nvPr/>
        </p:nvSpPr>
        <p:spPr>
          <a:xfrm>
            <a:off x="762000" y="2667000"/>
            <a:ext cx="3429000" cy="2921000"/>
          </a:xfrm>
          <a:prstGeom prst="rect">
            <a:avLst/>
          </a:prstGeom>
          <a:solidFill>
            <a:srgbClr val="0F4C5C"/>
          </a:solidFill>
          <a:ln/>
        </p:spPr>
      </p:sp>
      <p:sp>
        <p:nvSpPr>
          <p:cNvPr id="8" name="Text 6"/>
          <p:cNvSpPr/>
          <p:nvPr/>
        </p:nvSpPr>
        <p:spPr>
          <a:xfrm>
            <a:off x="952500" y="2794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952500" y="3327400"/>
            <a:ext cx="3048000" cy="330200"/>
          </a:xfrm>
          <a:prstGeom prst="rect">
            <a:avLst/>
          </a:prstGeom>
          <a:noFill/>
          <a:ln/>
        </p:spPr>
        <p:txBody>
          <a:bodyPr wrap="none" lIns="0" tIns="0" rIns="0" bIns="0" rtlCol="0" anchor="ctr"/>
          <a:lstStyle/>
          <a:p>
            <a:pPr>
              <a:lnSpc>
                <a:spcPct val="100000"/>
              </a:lnSpc>
            </a:pPr>
            <a:r>
              <a:rPr lang="en-US" sz="1800" dirty="0">
                <a:solidFill>
                  <a:srgbClr val="FFFFFF"/>
                </a:solidFill>
                <a:latin typeface="Liter" pitchFamily="34" charset="0"/>
                <a:ea typeface="Liter" pitchFamily="34" charset="-122"/>
                <a:cs typeface="Liter" pitchFamily="34" charset="-120"/>
              </a:rPr>
              <a:t>Learning Element</a:t>
            </a:r>
            <a:endParaRPr lang="en-US" sz="1600" dirty="0"/>
          </a:p>
        </p:txBody>
      </p:sp>
      <p:sp>
        <p:nvSpPr>
          <p:cNvPr id="10" name="Text 8"/>
          <p:cNvSpPr/>
          <p:nvPr/>
        </p:nvSpPr>
        <p:spPr>
          <a:xfrm>
            <a:off x="952500" y="3759200"/>
            <a:ext cx="3048000" cy="1587500"/>
          </a:xfrm>
          <a:prstGeom prst="rect">
            <a:avLst/>
          </a:prstGeom>
          <a:noFill/>
          <a:ln/>
        </p:spPr>
        <p:txBody>
          <a:bodyPr wrap="square" lIns="0" tIns="0" rIns="0" bIns="0" rtlCol="0" anchor="t"/>
          <a:lstStyle/>
          <a:p>
            <a:pPr>
              <a:lnSpc>
                <a:spcPct val="15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Makes improvements based on feedback from the critic</a:t>
            </a:r>
            <a:endParaRPr lang="en-US" sz="1600" dirty="0"/>
          </a:p>
        </p:txBody>
      </p:sp>
      <p:sp>
        <p:nvSpPr>
          <p:cNvPr id="11" name="Shape 9"/>
          <p:cNvSpPr/>
          <p:nvPr/>
        </p:nvSpPr>
        <p:spPr>
          <a:xfrm>
            <a:off x="4521200" y="2667000"/>
            <a:ext cx="3429000" cy="292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2" name="Text 10"/>
          <p:cNvSpPr/>
          <p:nvPr/>
        </p:nvSpPr>
        <p:spPr>
          <a:xfrm>
            <a:off x="4711700" y="2794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2</a:t>
            </a:r>
            <a:endParaRPr lang="en-US" sz="1600" dirty="0"/>
          </a:p>
        </p:txBody>
      </p:sp>
      <p:sp>
        <p:nvSpPr>
          <p:cNvPr id="13" name="Text 11"/>
          <p:cNvSpPr/>
          <p:nvPr/>
        </p:nvSpPr>
        <p:spPr>
          <a:xfrm>
            <a:off x="4711700" y="3327400"/>
            <a:ext cx="30480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Critic</a:t>
            </a:r>
            <a:endParaRPr lang="en-US" sz="1600" dirty="0"/>
          </a:p>
        </p:txBody>
      </p:sp>
      <p:sp>
        <p:nvSpPr>
          <p:cNvPr id="14" name="Text 12"/>
          <p:cNvSpPr/>
          <p:nvPr/>
        </p:nvSpPr>
        <p:spPr>
          <a:xfrm>
            <a:off x="4711700" y="3759200"/>
            <a:ext cx="3048000" cy="15875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Evaluates agent performance against the performance measure and provides feedback</a:t>
            </a:r>
            <a:endParaRPr lang="en-US" sz="1600" dirty="0"/>
          </a:p>
        </p:txBody>
      </p:sp>
      <p:sp>
        <p:nvSpPr>
          <p:cNvPr id="15" name="Shape 13"/>
          <p:cNvSpPr/>
          <p:nvPr/>
        </p:nvSpPr>
        <p:spPr>
          <a:xfrm>
            <a:off x="8293100" y="2667000"/>
            <a:ext cx="3429000" cy="292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16" name="Text 14"/>
          <p:cNvSpPr/>
          <p:nvPr/>
        </p:nvSpPr>
        <p:spPr>
          <a:xfrm>
            <a:off x="8483600" y="2794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3</a:t>
            </a:r>
            <a:endParaRPr lang="en-US" sz="1600" dirty="0"/>
          </a:p>
        </p:txBody>
      </p:sp>
      <p:sp>
        <p:nvSpPr>
          <p:cNvPr id="17" name="Text 15"/>
          <p:cNvSpPr/>
          <p:nvPr/>
        </p:nvSpPr>
        <p:spPr>
          <a:xfrm>
            <a:off x="8483600" y="3327400"/>
            <a:ext cx="30480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Performance Element</a:t>
            </a:r>
            <a:endParaRPr lang="en-US" sz="1600" dirty="0"/>
          </a:p>
        </p:txBody>
      </p:sp>
      <p:sp>
        <p:nvSpPr>
          <p:cNvPr id="18" name="Text 16"/>
          <p:cNvSpPr/>
          <p:nvPr/>
        </p:nvSpPr>
        <p:spPr>
          <a:xfrm>
            <a:off x="8483600" y="3759200"/>
            <a:ext cx="3048000" cy="15875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Selects external actions — equivalent to the complete agent program</a:t>
            </a:r>
            <a:endParaRPr lang="en-US" sz="1600" dirty="0"/>
          </a:p>
        </p:txBody>
      </p:sp>
      <p:sp>
        <p:nvSpPr>
          <p:cNvPr id="19" name="Shape 17"/>
          <p:cNvSpPr/>
          <p:nvPr/>
        </p:nvSpPr>
        <p:spPr>
          <a:xfrm>
            <a:off x="12065000" y="2667000"/>
            <a:ext cx="3429000" cy="2921000"/>
          </a:xfrm>
          <a:prstGeom prst="rect">
            <a:avLst/>
          </a:prstGeom>
          <a:solidFill>
            <a:srgbClr val="FFFFFF"/>
          </a:solidFill>
          <a:ln/>
          <a:effectLst>
            <a:outerShdw sx="100000" sy="100000" kx="0" ky="0" algn="bl" rotWithShape="0" blurRad="76200" dist="25400" dir="5400000">
              <a:srgbClr val="000000">
                <a:alpha val="3137"/>
              </a:srgbClr>
            </a:outerShdw>
          </a:effectLst>
        </p:spPr>
      </p:sp>
      <p:sp>
        <p:nvSpPr>
          <p:cNvPr id="20" name="Text 18"/>
          <p:cNvSpPr/>
          <p:nvPr/>
        </p:nvSpPr>
        <p:spPr>
          <a:xfrm>
            <a:off x="12255500" y="2794000"/>
            <a:ext cx="635000" cy="457200"/>
          </a:xfrm>
          <a:prstGeom prst="rect">
            <a:avLst/>
          </a:prstGeom>
          <a:noFill/>
          <a:ln/>
        </p:spPr>
        <p:txBody>
          <a:bodyPr wrap="none" lIns="0" tIns="0" rIns="0" bIns="0" rtlCol="0" anchor="ctr"/>
          <a:lstStyle/>
          <a:p>
            <a:pPr>
              <a:lnSpc>
                <a:spcPct val="100000"/>
              </a:lnSpc>
            </a:pPr>
            <a:r>
              <a:rPr lang="en-US" sz="2800" dirty="0">
                <a:solidFill>
                  <a:srgbClr val="D97706"/>
                </a:solidFill>
                <a:latin typeface="Liter" pitchFamily="34" charset="0"/>
                <a:ea typeface="Liter" pitchFamily="34" charset="-122"/>
                <a:cs typeface="Liter" pitchFamily="34" charset="-120"/>
              </a:rPr>
              <a:t>4</a:t>
            </a:r>
            <a:endParaRPr lang="en-US" sz="1600" dirty="0"/>
          </a:p>
        </p:txBody>
      </p:sp>
      <p:sp>
        <p:nvSpPr>
          <p:cNvPr id="21" name="Text 19"/>
          <p:cNvSpPr/>
          <p:nvPr/>
        </p:nvSpPr>
        <p:spPr>
          <a:xfrm>
            <a:off x="12255500" y="3327400"/>
            <a:ext cx="3048000" cy="330200"/>
          </a:xfrm>
          <a:prstGeom prst="rect">
            <a:avLst/>
          </a:prstGeom>
          <a:noFill/>
          <a:ln/>
        </p:spPr>
        <p:txBody>
          <a:bodyPr wrap="none" lIns="0" tIns="0" rIns="0" bIns="0" rtlCol="0" anchor="ctr"/>
          <a:lstStyle/>
          <a:p>
            <a:pPr>
              <a:lnSpc>
                <a:spcPct val="100000"/>
              </a:lnSpc>
            </a:pPr>
            <a:r>
              <a:rPr lang="en-US" sz="1800" dirty="0">
                <a:solidFill>
                  <a:srgbClr val="0F4C5C"/>
                </a:solidFill>
                <a:latin typeface="Liter" pitchFamily="34" charset="0"/>
                <a:ea typeface="Liter" pitchFamily="34" charset="-122"/>
                <a:cs typeface="Liter" pitchFamily="34" charset="-120"/>
              </a:rPr>
              <a:t>Problem Generator</a:t>
            </a:r>
            <a:endParaRPr lang="en-US" sz="1600" dirty="0"/>
          </a:p>
        </p:txBody>
      </p:sp>
      <p:sp>
        <p:nvSpPr>
          <p:cNvPr id="22" name="Text 20"/>
          <p:cNvSpPr/>
          <p:nvPr/>
        </p:nvSpPr>
        <p:spPr>
          <a:xfrm>
            <a:off x="12255500" y="3759200"/>
            <a:ext cx="3048000" cy="1587500"/>
          </a:xfrm>
          <a:prstGeom prst="rect">
            <a:avLst/>
          </a:prstGeom>
          <a:noFill/>
          <a:ln/>
        </p:spPr>
        <p:txBody>
          <a:bodyPr wrap="square" lIns="0" tIns="0" rIns="0" bIns="0" rtlCol="0" anchor="t"/>
          <a:lstStyle/>
          <a:p>
            <a:pPr>
              <a:lnSpc>
                <a:spcPct val="150000"/>
              </a:lnSpc>
            </a:pPr>
            <a:r>
              <a:rPr lang="en-US" sz="1400" dirty="0">
                <a:solidFill>
                  <a:srgbClr val="1C1917"/>
                </a:solidFill>
                <a:latin typeface="Quattrocento Sans" pitchFamily="34" charset="0"/>
                <a:ea typeface="Quattrocento Sans" pitchFamily="34" charset="-122"/>
                <a:cs typeface="Quattrocento Sans" pitchFamily="34" charset="-120"/>
              </a:rPr>
              <a:t>Suggests exploratory actions that lead to new and informative experiences</a:t>
            </a:r>
            <a:endParaRPr lang="en-US" sz="1600" dirty="0"/>
          </a:p>
        </p:txBody>
      </p:sp>
      <p:sp>
        <p:nvSpPr>
          <p:cNvPr id="23" name="Shape 21"/>
          <p:cNvSpPr/>
          <p:nvPr/>
        </p:nvSpPr>
        <p:spPr>
          <a:xfrm>
            <a:off x="762000" y="6032500"/>
            <a:ext cx="14732000" cy="2032000"/>
          </a:xfrm>
          <a:prstGeom prst="rect">
            <a:avLst/>
          </a:prstGeom>
          <a:solidFill>
            <a:srgbClr val="E0F2F1"/>
          </a:solidFill>
          <a:ln/>
        </p:spPr>
      </p:sp>
      <p:sp>
        <p:nvSpPr>
          <p:cNvPr id="24" name="Shape 22"/>
          <p:cNvSpPr/>
          <p:nvPr/>
        </p:nvSpPr>
        <p:spPr>
          <a:xfrm>
            <a:off x="1130300" y="64770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D97706"/>
          </a:solidFill>
          <a:ln/>
        </p:spPr>
      </p:sp>
      <p:sp>
        <p:nvSpPr>
          <p:cNvPr id="25" name="Text 23"/>
          <p:cNvSpPr/>
          <p:nvPr/>
        </p:nvSpPr>
        <p:spPr>
          <a:xfrm>
            <a:off x="1651000" y="6286500"/>
            <a:ext cx="3810000" cy="355600"/>
          </a:xfrm>
          <a:prstGeom prst="rect">
            <a:avLst/>
          </a:prstGeom>
          <a:noFill/>
          <a:ln/>
        </p:spPr>
        <p:txBody>
          <a:bodyPr wrap="none" lIns="0" tIns="0" rIns="0" bIns="0" rtlCol="0" anchor="ctr"/>
          <a:lstStyle/>
          <a:p>
            <a:pPr>
              <a:lnSpc>
                <a:spcPct val="100000"/>
              </a:lnSpc>
            </a:pPr>
            <a:r>
              <a:rPr lang="en-US" sz="2000" dirty="0">
                <a:solidFill>
                  <a:srgbClr val="0F4C5C"/>
                </a:solidFill>
                <a:latin typeface="Liter" pitchFamily="34" charset="0"/>
                <a:ea typeface="Liter" pitchFamily="34" charset="-122"/>
                <a:cs typeface="Liter" pitchFamily="34" charset="-120"/>
              </a:rPr>
              <a:t>Examples</a:t>
            </a:r>
            <a:endParaRPr lang="en-US" sz="1600" dirty="0"/>
          </a:p>
        </p:txBody>
      </p:sp>
      <p:sp>
        <p:nvSpPr>
          <p:cNvPr id="26" name="Text 24"/>
          <p:cNvSpPr/>
          <p:nvPr/>
        </p:nvSpPr>
        <p:spPr>
          <a:xfrm>
            <a:off x="1651000" y="6731000"/>
            <a:ext cx="13589000" cy="1143000"/>
          </a:xfrm>
          <a:prstGeom prst="rect">
            <a:avLst/>
          </a:prstGeom>
          <a:noFill/>
          <a:ln/>
        </p:spPr>
        <p:txBody>
          <a:bodyPr wrap="square" lIns="0" tIns="0" rIns="0" bIns="0" rtlCol="0" anchor="t"/>
          <a:lstStyle/>
          <a:p>
            <a:pPr>
              <a:lnSpc>
                <a:spcPct val="15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A </a:t>
            </a:r>
            <a:pP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chess program</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that improves by analyzing past games and identifying better strategies</a:t>
            </a:r>
            <a:endParaRPr lang="en-US" sz="1600" dirty="0"/>
          </a:p>
          <a:p>
            <a:pPr>
              <a:lnSpc>
                <a:spcPct val="15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A </a:t>
            </a:r>
            <a:pPr>
              <a:lnSpc>
                <a:spcPct val="150000"/>
              </a:lnSpc>
            </a:pPr>
            <a:r>
              <a:rPr lang="en-US" sz="1600" b="1" dirty="0">
                <a:solidFill>
                  <a:srgbClr val="1C1917"/>
                </a:solidFill>
                <a:latin typeface="Quattrocento Sans" pitchFamily="34" charset="0"/>
                <a:ea typeface="Quattrocento Sans" pitchFamily="34" charset="-122"/>
                <a:cs typeface="Quattrocento Sans" pitchFamily="34" charset="-120"/>
              </a:rPr>
              <a:t>robot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that learns to walk more efficiently over time through trial and error</a:t>
            </a:r>
            <a:endParaRPr lang="en-US" sz="1600" dirty="0"/>
          </a:p>
          <a:p>
            <a:pPr>
              <a:lnSpc>
                <a:spcPct val="150000"/>
              </a:lnSpc>
            </a:pPr>
            <a:r>
              <a:rPr lang="en-US" sz="16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600" dirty="0">
                <a:solidFill>
                  <a:srgbClr val="1C1917"/>
                </a:solidFill>
                <a:latin typeface="Quattrocento Sans" pitchFamily="34" charset="0"/>
                <a:ea typeface="Quattrocento Sans" pitchFamily="34" charset="-122"/>
                <a:cs typeface="Quattrocento Sans" pitchFamily="34" charset="-120"/>
              </a:rPr>
              <a:t> Learning agents can operate in initially unknown environments and become more competent</a:t>
            </a:r>
            <a:endParaRPr lang="en-US" sz="1600" dirty="0"/>
          </a:p>
        </p:txBody>
      </p:sp>
      <p:sp>
        <p:nvSpPr>
          <p:cNvPr id="27" name="Text 25"/>
          <p:cNvSpPr/>
          <p:nvPr/>
        </p:nvSpPr>
        <p:spPr>
          <a:xfrm>
            <a:off x="762000" y="8636000"/>
            <a:ext cx="3810000" cy="254000"/>
          </a:xfrm>
          <a:prstGeom prst="rect">
            <a:avLst/>
          </a:prstGeom>
          <a:noFill/>
          <a:ln/>
        </p:spPr>
        <p:txBody>
          <a:bodyPr wrap="none" lIns="0" tIns="0" rIns="0" bIns="0" rtlCol="0" anchor="ctr"/>
          <a:lstStyle/>
          <a:p>
            <a:pPr>
              <a:lnSpc>
                <a:spcPct val="120000"/>
              </a:lnSpc>
            </a:pPr>
            <a:r>
              <a:rPr lang="en-US" sz="1200" spc="200" kern="0" dirty="0">
                <a:solidFill>
                  <a:srgbClr val="64748B"/>
                </a:solidFill>
                <a:latin typeface="Liter" pitchFamily="34" charset="0"/>
                <a:ea typeface="Liter" pitchFamily="34" charset="-122"/>
                <a:cs typeface="Liter" pitchFamily="34" charset="-120"/>
              </a:rPr>
              <a:t>ARTIFICIAL INTELLIGENCE | WEEK 2</a:t>
            </a:r>
            <a:endParaRPr lang="en-US" sz="1400" dirty="0"/>
          </a:p>
        </p:txBody>
      </p:sp>
      <p:sp>
        <p:nvSpPr>
          <p:cNvPr id="28" name="Text 26"/>
          <p:cNvSpPr/>
          <p:nvPr/>
        </p:nvSpPr>
        <p:spPr>
          <a:xfrm>
            <a:off x="14986000" y="8636000"/>
            <a:ext cx="508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29</a:t>
            </a:r>
            <a:endParaRPr lang="en-US" sz="1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ttps://kimi-img.moonshot.cn/pub/slides/okc/2l36pdkpmxwlu/mnt/agents/output/ai-course-week2/images/3_Abstract_Ai_Neural_Network_Background.png">    </p:cNvPr>
          <p:cNvPicPr>
            <a:picLocks noChangeAspect="1"/>
          </p:cNvPicPr>
          <p:nvPr/>
        </p:nvPicPr>
        <p:blipFill>
          <a:blip r:embed="rId1"/>
          <a:srcRect l="111" r="111"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A3D4A">
                  <a:alpha val="91000"/>
                </a:srgbClr>
              </a:gs>
              <a:gs pos="50000">
                <a:srgbClr val="0A3D4A">
                  <a:alpha val="80000"/>
                </a:srgbClr>
              </a:gs>
              <a:gs pos="100000">
                <a:srgbClr val="0A3D4A">
                  <a:alpha val="94000"/>
                </a:srgbClr>
              </a:gs>
            </a:gsLst>
            <a:lin ang="5400000" scaled="1"/>
          </a:gradFill>
          <a:ln w="12700">
            <a:solidFill>
              <a:srgbClr val="333333"/>
            </a:solidFill>
            <a:prstDash val="solid"/>
          </a:ln>
        </p:spPr>
      </p:sp>
      <p:sp>
        <p:nvSpPr>
          <p:cNvPr id="4" name="Text 1"/>
          <p:cNvSpPr/>
          <p:nvPr/>
        </p:nvSpPr>
        <p:spPr>
          <a:xfrm>
            <a:off x="5588000" y="1270000"/>
            <a:ext cx="5080000" cy="279400"/>
          </a:xfrm>
          <a:prstGeom prst="rect">
            <a:avLst/>
          </a:prstGeom>
          <a:noFill/>
          <a:ln/>
        </p:spPr>
        <p:txBody>
          <a:bodyPr wrap="none" lIns="0" tIns="0" rIns="0" bIns="0" rtlCol="0" anchor="ctr"/>
          <a:lstStyle/>
          <a:p>
            <a:pPr algn="ctr">
              <a:lnSpc>
                <a:spcPct val="120000"/>
              </a:lnSpc>
            </a:pPr>
            <a:r>
              <a:rPr lang="en-US" sz="1400" spc="200" kern="0" dirty="0">
                <a:solidFill>
                  <a:srgbClr val="FFFFFF">
                    <a:alpha val="37647"/>
                  </a:srgbClr>
                </a:solidFill>
                <a:latin typeface="Liter" pitchFamily="34" charset="0"/>
                <a:ea typeface="Liter" pitchFamily="34" charset="-122"/>
                <a:cs typeface="Liter" pitchFamily="34" charset="-120"/>
              </a:rPr>
              <a:t>WEEK 2 SUMMARY</a:t>
            </a:r>
            <a:endParaRPr lang="en-US" sz="1400" dirty="0"/>
          </a:p>
        </p:txBody>
      </p:sp>
      <p:sp>
        <p:nvSpPr>
          <p:cNvPr id="5" name="Shape 2"/>
          <p:cNvSpPr/>
          <p:nvPr/>
        </p:nvSpPr>
        <p:spPr>
          <a:xfrm>
            <a:off x="7493000" y="1676400"/>
            <a:ext cx="1270000" cy="38100"/>
          </a:xfrm>
          <a:prstGeom prst="rect">
            <a:avLst/>
          </a:prstGeom>
          <a:solidFill>
            <a:srgbClr val="D97706"/>
          </a:solidFill>
          <a:ln/>
        </p:spPr>
      </p:sp>
      <p:sp>
        <p:nvSpPr>
          <p:cNvPr id="6" name="Text 3"/>
          <p:cNvSpPr/>
          <p:nvPr/>
        </p:nvSpPr>
        <p:spPr>
          <a:xfrm>
            <a:off x="3048000" y="1905000"/>
            <a:ext cx="10160000" cy="698500"/>
          </a:xfrm>
          <a:prstGeom prst="rect">
            <a:avLst/>
          </a:prstGeom>
          <a:noFill/>
          <a:ln/>
        </p:spPr>
        <p:txBody>
          <a:bodyPr wrap="none" lIns="0" tIns="0" rIns="0" bIns="0" rtlCol="0" anchor="ctr"/>
          <a:lstStyle/>
          <a:p>
            <a:pPr algn="ctr">
              <a:lnSpc>
                <a:spcPct val="100000"/>
              </a:lnSpc>
            </a:pPr>
            <a:r>
              <a:rPr lang="en-US" sz="3600" dirty="0">
                <a:solidFill>
                  <a:srgbClr val="FFFFFF"/>
                </a:solidFill>
                <a:latin typeface="Liter" pitchFamily="34" charset="0"/>
                <a:ea typeface="Liter" pitchFamily="34" charset="-122"/>
                <a:cs typeface="Liter" pitchFamily="34" charset="-120"/>
              </a:rPr>
              <a:t>Key Takeaways</a:t>
            </a:r>
            <a:endParaRPr lang="en-US" sz="1600" dirty="0"/>
          </a:p>
        </p:txBody>
      </p:sp>
      <p:sp>
        <p:nvSpPr>
          <p:cNvPr id="7" name="Shape 4"/>
          <p:cNvSpPr/>
          <p:nvPr/>
        </p:nvSpPr>
        <p:spPr>
          <a:xfrm>
            <a:off x="1016000" y="2921000"/>
            <a:ext cx="4445000" cy="1651000"/>
          </a:xfrm>
          <a:prstGeom prst="rect">
            <a:avLst/>
          </a:prstGeom>
          <a:solidFill>
            <a:srgbClr val="FFFFFF">
              <a:alpha val="8235"/>
            </a:srgbClr>
          </a:solidFill>
          <a:ln/>
        </p:spPr>
      </p:sp>
      <p:sp>
        <p:nvSpPr>
          <p:cNvPr id="8" name="Shape 5"/>
          <p:cNvSpPr/>
          <p:nvPr/>
        </p:nvSpPr>
        <p:spPr>
          <a:xfrm>
            <a:off x="1270000" y="3175000"/>
            <a:ext cx="355600" cy="355600"/>
          </a:xfrm>
          <a:custGeom>
            <a:avLst/>
            <a:gdLst/>
            <a:ahLst/>
            <a:cxnLst/>
            <a:rect l="l" t="t" r="r" b="b"/>
            <a:pathLst>
              <a:path w="355600" h="355600">
                <a:moveTo>
                  <a:pt x="83344" y="38894"/>
                </a:moveTo>
                <a:cubicBezTo>
                  <a:pt x="83344" y="17433"/>
                  <a:pt x="100776" y="0"/>
                  <a:pt x="122238" y="0"/>
                </a:cubicBezTo>
                <a:lnTo>
                  <a:pt x="138906" y="0"/>
                </a:lnTo>
                <a:cubicBezTo>
                  <a:pt x="151199" y="0"/>
                  <a:pt x="161131" y="9932"/>
                  <a:pt x="161131" y="22225"/>
                </a:cubicBezTo>
                <a:lnTo>
                  <a:pt x="161131" y="333375"/>
                </a:lnTo>
                <a:cubicBezTo>
                  <a:pt x="161131" y="345668"/>
                  <a:pt x="151199" y="355600"/>
                  <a:pt x="138906" y="355600"/>
                </a:cubicBezTo>
                <a:lnTo>
                  <a:pt x="116681" y="355600"/>
                </a:lnTo>
                <a:cubicBezTo>
                  <a:pt x="95984" y="355600"/>
                  <a:pt x="78551" y="341432"/>
                  <a:pt x="73620" y="322263"/>
                </a:cubicBezTo>
                <a:cubicBezTo>
                  <a:pt x="73134" y="322263"/>
                  <a:pt x="72717" y="322263"/>
                  <a:pt x="72231" y="322263"/>
                </a:cubicBezTo>
                <a:cubicBezTo>
                  <a:pt x="41533" y="322263"/>
                  <a:pt x="16669" y="297398"/>
                  <a:pt x="16669" y="266700"/>
                </a:cubicBezTo>
                <a:cubicBezTo>
                  <a:pt x="16669" y="254198"/>
                  <a:pt x="20836" y="242669"/>
                  <a:pt x="27781" y="233363"/>
                </a:cubicBezTo>
                <a:cubicBezTo>
                  <a:pt x="14307" y="223222"/>
                  <a:pt x="5556" y="207109"/>
                  <a:pt x="5556" y="188913"/>
                </a:cubicBezTo>
                <a:cubicBezTo>
                  <a:pt x="5556" y="167451"/>
                  <a:pt x="17780" y="148769"/>
                  <a:pt x="35560" y="139531"/>
                </a:cubicBezTo>
                <a:cubicBezTo>
                  <a:pt x="30629" y="131197"/>
                  <a:pt x="27781" y="121474"/>
                  <a:pt x="27781" y="111125"/>
                </a:cubicBezTo>
                <a:cubicBezTo>
                  <a:pt x="27781" y="80427"/>
                  <a:pt x="52645" y="55563"/>
                  <a:pt x="83344" y="55563"/>
                </a:cubicBezTo>
                <a:lnTo>
                  <a:pt x="83344" y="38894"/>
                </a:lnTo>
                <a:close/>
                <a:moveTo>
                  <a:pt x="272256" y="38894"/>
                </a:moveTo>
                <a:lnTo>
                  <a:pt x="272256" y="55563"/>
                </a:lnTo>
                <a:cubicBezTo>
                  <a:pt x="302955" y="55563"/>
                  <a:pt x="327819" y="80427"/>
                  <a:pt x="327819" y="111125"/>
                </a:cubicBezTo>
                <a:cubicBezTo>
                  <a:pt x="327819" y="121543"/>
                  <a:pt x="324971" y="131266"/>
                  <a:pt x="320040" y="139531"/>
                </a:cubicBezTo>
                <a:cubicBezTo>
                  <a:pt x="337889" y="148769"/>
                  <a:pt x="350044" y="167382"/>
                  <a:pt x="350044" y="188913"/>
                </a:cubicBezTo>
                <a:cubicBezTo>
                  <a:pt x="350044" y="207109"/>
                  <a:pt x="341293" y="223222"/>
                  <a:pt x="327819" y="233363"/>
                </a:cubicBezTo>
                <a:cubicBezTo>
                  <a:pt x="334764" y="242669"/>
                  <a:pt x="338931" y="254198"/>
                  <a:pt x="338931" y="266700"/>
                </a:cubicBezTo>
                <a:cubicBezTo>
                  <a:pt x="338931" y="297398"/>
                  <a:pt x="314067" y="322263"/>
                  <a:pt x="283369" y="322263"/>
                </a:cubicBezTo>
                <a:cubicBezTo>
                  <a:pt x="282883" y="322263"/>
                  <a:pt x="282466" y="322263"/>
                  <a:pt x="281980" y="322263"/>
                </a:cubicBezTo>
                <a:cubicBezTo>
                  <a:pt x="277049" y="341432"/>
                  <a:pt x="259616" y="355600"/>
                  <a:pt x="238919" y="355600"/>
                </a:cubicBezTo>
                <a:lnTo>
                  <a:pt x="216694" y="355600"/>
                </a:lnTo>
                <a:cubicBezTo>
                  <a:pt x="204401" y="355600"/>
                  <a:pt x="194469" y="345668"/>
                  <a:pt x="194469" y="333375"/>
                </a:cubicBezTo>
                <a:lnTo>
                  <a:pt x="194469" y="22225"/>
                </a:lnTo>
                <a:cubicBezTo>
                  <a:pt x="194469" y="9932"/>
                  <a:pt x="204401" y="0"/>
                  <a:pt x="216694" y="0"/>
                </a:cubicBezTo>
                <a:lnTo>
                  <a:pt x="233363" y="0"/>
                </a:lnTo>
                <a:cubicBezTo>
                  <a:pt x="254824" y="0"/>
                  <a:pt x="272256" y="17433"/>
                  <a:pt x="272256" y="38894"/>
                </a:cubicBezTo>
                <a:close/>
              </a:path>
            </a:pathLst>
          </a:custGeom>
          <a:solidFill>
            <a:srgbClr val="D97706"/>
          </a:solidFill>
          <a:ln/>
        </p:spPr>
      </p:sp>
      <p:sp>
        <p:nvSpPr>
          <p:cNvPr id="9" name="Text 6"/>
          <p:cNvSpPr/>
          <p:nvPr/>
        </p:nvSpPr>
        <p:spPr>
          <a:xfrm>
            <a:off x="1270000" y="3619500"/>
            <a:ext cx="3937000" cy="762000"/>
          </a:xfrm>
          <a:prstGeom prst="rect">
            <a:avLst/>
          </a:prstGeom>
          <a:noFill/>
          <a:ln/>
        </p:spPr>
        <p:txBody>
          <a:bodyPr wrap="square" lIns="0" tIns="0" rIns="0" bIns="0" rtlCol="0" anchor="t"/>
          <a:lstStyle/>
          <a:p>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Agents perceive through </a:t>
            </a:r>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sensors</a:t>
            </a:r>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 and act through </a:t>
            </a:r>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actuators</a:t>
            </a:r>
            <a:endParaRPr lang="en-US" sz="1600" dirty="0"/>
          </a:p>
        </p:txBody>
      </p:sp>
      <p:sp>
        <p:nvSpPr>
          <p:cNvPr id="10" name="Shape 7"/>
          <p:cNvSpPr/>
          <p:nvPr/>
        </p:nvSpPr>
        <p:spPr>
          <a:xfrm>
            <a:off x="5905500" y="2921000"/>
            <a:ext cx="4445000" cy="1651000"/>
          </a:xfrm>
          <a:prstGeom prst="rect">
            <a:avLst/>
          </a:prstGeom>
          <a:solidFill>
            <a:srgbClr val="FFFFFF">
              <a:alpha val="8235"/>
            </a:srgbClr>
          </a:solidFill>
          <a:ln/>
        </p:spPr>
      </p:sp>
      <p:sp>
        <p:nvSpPr>
          <p:cNvPr id="11" name="Shape 8"/>
          <p:cNvSpPr/>
          <p:nvPr/>
        </p:nvSpPr>
        <p:spPr>
          <a:xfrm>
            <a:off x="6159500" y="3175000"/>
            <a:ext cx="355600" cy="355600"/>
          </a:xfrm>
          <a:custGeom>
            <a:avLst/>
            <a:gdLst/>
            <a:ahLst/>
            <a:cxnLst/>
            <a:rect l="l" t="t" r="r" b="b"/>
            <a:pathLst>
              <a:path w="355600" h="355600">
                <a:moveTo>
                  <a:pt x="0" y="55563"/>
                </a:moveTo>
                <a:cubicBezTo>
                  <a:pt x="0" y="37157"/>
                  <a:pt x="14932" y="22225"/>
                  <a:pt x="33337" y="22225"/>
                </a:cubicBezTo>
                <a:lnTo>
                  <a:pt x="100013" y="22225"/>
                </a:lnTo>
                <a:cubicBezTo>
                  <a:pt x="118418" y="22225"/>
                  <a:pt x="133350" y="37157"/>
                  <a:pt x="133350" y="55563"/>
                </a:cubicBezTo>
                <a:lnTo>
                  <a:pt x="133350" y="66675"/>
                </a:lnTo>
                <a:lnTo>
                  <a:pt x="222250" y="66675"/>
                </a:lnTo>
                <a:lnTo>
                  <a:pt x="222250" y="55563"/>
                </a:lnTo>
                <a:cubicBezTo>
                  <a:pt x="222250" y="37157"/>
                  <a:pt x="237182" y="22225"/>
                  <a:pt x="255587" y="22225"/>
                </a:cubicBezTo>
                <a:lnTo>
                  <a:pt x="322263" y="22225"/>
                </a:lnTo>
                <a:cubicBezTo>
                  <a:pt x="340668" y="22225"/>
                  <a:pt x="355600" y="37157"/>
                  <a:pt x="355600" y="55563"/>
                </a:cubicBezTo>
                <a:lnTo>
                  <a:pt x="355600" y="122238"/>
                </a:lnTo>
                <a:cubicBezTo>
                  <a:pt x="355600" y="140643"/>
                  <a:pt x="340668" y="155575"/>
                  <a:pt x="322263" y="155575"/>
                </a:cubicBezTo>
                <a:lnTo>
                  <a:pt x="255587" y="155575"/>
                </a:lnTo>
                <a:cubicBezTo>
                  <a:pt x="237182" y="155575"/>
                  <a:pt x="222250" y="140643"/>
                  <a:pt x="222250" y="122238"/>
                </a:cubicBezTo>
                <a:lnTo>
                  <a:pt x="222250" y="111125"/>
                </a:lnTo>
                <a:lnTo>
                  <a:pt x="133350" y="111125"/>
                </a:lnTo>
                <a:lnTo>
                  <a:pt x="133350" y="122238"/>
                </a:lnTo>
                <a:cubicBezTo>
                  <a:pt x="133350" y="127308"/>
                  <a:pt x="132169" y="132169"/>
                  <a:pt x="130155" y="136475"/>
                </a:cubicBezTo>
                <a:lnTo>
                  <a:pt x="177800" y="200025"/>
                </a:lnTo>
                <a:lnTo>
                  <a:pt x="233363" y="200025"/>
                </a:lnTo>
                <a:cubicBezTo>
                  <a:pt x="251768" y="200025"/>
                  <a:pt x="266700" y="214957"/>
                  <a:pt x="266700" y="233363"/>
                </a:cubicBezTo>
                <a:lnTo>
                  <a:pt x="266700" y="300038"/>
                </a:lnTo>
                <a:cubicBezTo>
                  <a:pt x="266700" y="318443"/>
                  <a:pt x="251768" y="333375"/>
                  <a:pt x="233363" y="333375"/>
                </a:cubicBezTo>
                <a:lnTo>
                  <a:pt x="166688" y="333375"/>
                </a:lnTo>
                <a:cubicBezTo>
                  <a:pt x="148282" y="333375"/>
                  <a:pt x="133350" y="318443"/>
                  <a:pt x="133350" y="300038"/>
                </a:cubicBezTo>
                <a:lnTo>
                  <a:pt x="133350" y="233363"/>
                </a:lnTo>
                <a:cubicBezTo>
                  <a:pt x="133350" y="228292"/>
                  <a:pt x="134531" y="223431"/>
                  <a:pt x="136545" y="219125"/>
                </a:cubicBezTo>
                <a:lnTo>
                  <a:pt x="88900" y="155575"/>
                </a:lnTo>
                <a:lnTo>
                  <a:pt x="33337" y="155575"/>
                </a:lnTo>
                <a:cubicBezTo>
                  <a:pt x="14932" y="155575"/>
                  <a:pt x="0" y="140643"/>
                  <a:pt x="0" y="122238"/>
                </a:cubicBezTo>
                <a:lnTo>
                  <a:pt x="0" y="55563"/>
                </a:lnTo>
                <a:close/>
              </a:path>
            </a:pathLst>
          </a:custGeom>
          <a:solidFill>
            <a:srgbClr val="D97706"/>
          </a:solidFill>
          <a:ln/>
        </p:spPr>
      </p:sp>
      <p:sp>
        <p:nvSpPr>
          <p:cNvPr id="12" name="Text 9"/>
          <p:cNvSpPr/>
          <p:nvPr/>
        </p:nvSpPr>
        <p:spPr>
          <a:xfrm>
            <a:off x="6159500" y="3619500"/>
            <a:ext cx="3937000" cy="762000"/>
          </a:xfrm>
          <a:prstGeom prst="rect">
            <a:avLst/>
          </a:prstGeom>
          <a:noFill/>
          <a:ln/>
        </p:spPr>
        <p:txBody>
          <a:bodyPr wrap="square" lIns="0" tIns="0" rIns="0" bIns="0" rtlCol="0" anchor="t"/>
          <a:lstStyle/>
          <a:p>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The </a:t>
            </a:r>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PEAS framework</a:t>
            </a:r>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 defines task environments systematically</a:t>
            </a:r>
            <a:endParaRPr lang="en-US" sz="1600" dirty="0"/>
          </a:p>
        </p:txBody>
      </p:sp>
      <p:sp>
        <p:nvSpPr>
          <p:cNvPr id="13" name="Shape 10"/>
          <p:cNvSpPr/>
          <p:nvPr/>
        </p:nvSpPr>
        <p:spPr>
          <a:xfrm>
            <a:off x="10795000" y="2921000"/>
            <a:ext cx="4445000" cy="1651000"/>
          </a:xfrm>
          <a:prstGeom prst="rect">
            <a:avLst/>
          </a:prstGeom>
          <a:solidFill>
            <a:srgbClr val="FFFFFF">
              <a:alpha val="8235"/>
            </a:srgbClr>
          </a:solidFill>
          <a:ln/>
        </p:spPr>
      </p:sp>
      <p:sp>
        <p:nvSpPr>
          <p:cNvPr id="14" name="Shape 11"/>
          <p:cNvSpPr/>
          <p:nvPr/>
        </p:nvSpPr>
        <p:spPr>
          <a:xfrm>
            <a:off x="11004550" y="3175000"/>
            <a:ext cx="444500" cy="355600"/>
          </a:xfrm>
          <a:custGeom>
            <a:avLst/>
            <a:gdLst/>
            <a:ahLst/>
            <a:cxnLst/>
            <a:rect l="l" t="t" r="r" b="b"/>
            <a:pathLst>
              <a:path w="444500" h="355600">
                <a:moveTo>
                  <a:pt x="266700" y="22225"/>
                </a:moveTo>
                <a:lnTo>
                  <a:pt x="355600" y="22225"/>
                </a:lnTo>
                <a:cubicBezTo>
                  <a:pt x="367893" y="22225"/>
                  <a:pt x="377825" y="32157"/>
                  <a:pt x="377825" y="44450"/>
                </a:cubicBezTo>
                <a:cubicBezTo>
                  <a:pt x="377825" y="56743"/>
                  <a:pt x="367893" y="66675"/>
                  <a:pt x="355600" y="66675"/>
                </a:cubicBezTo>
                <a:lnTo>
                  <a:pt x="276701" y="66675"/>
                </a:lnTo>
                <a:cubicBezTo>
                  <a:pt x="273090" y="84594"/>
                  <a:pt x="260796" y="99387"/>
                  <a:pt x="244475" y="106472"/>
                </a:cubicBezTo>
                <a:lnTo>
                  <a:pt x="244475" y="311150"/>
                </a:lnTo>
                <a:lnTo>
                  <a:pt x="355600" y="311150"/>
                </a:lnTo>
                <a:cubicBezTo>
                  <a:pt x="367893" y="311150"/>
                  <a:pt x="377825" y="321082"/>
                  <a:pt x="377825" y="333375"/>
                </a:cubicBezTo>
                <a:cubicBezTo>
                  <a:pt x="377825" y="345668"/>
                  <a:pt x="367893" y="355600"/>
                  <a:pt x="355600" y="355600"/>
                </a:cubicBezTo>
                <a:lnTo>
                  <a:pt x="88900" y="355600"/>
                </a:lnTo>
                <a:cubicBezTo>
                  <a:pt x="76607" y="355600"/>
                  <a:pt x="66675" y="345668"/>
                  <a:pt x="66675" y="333375"/>
                </a:cubicBezTo>
                <a:cubicBezTo>
                  <a:pt x="66675" y="321082"/>
                  <a:pt x="76607" y="311150"/>
                  <a:pt x="88900" y="311150"/>
                </a:cubicBezTo>
                <a:lnTo>
                  <a:pt x="200025" y="311150"/>
                </a:lnTo>
                <a:lnTo>
                  <a:pt x="200025" y="106472"/>
                </a:lnTo>
                <a:cubicBezTo>
                  <a:pt x="183704" y="99318"/>
                  <a:pt x="171410" y="84524"/>
                  <a:pt x="167799" y="66675"/>
                </a:cubicBezTo>
                <a:lnTo>
                  <a:pt x="88900" y="66675"/>
                </a:lnTo>
                <a:cubicBezTo>
                  <a:pt x="76607" y="66675"/>
                  <a:pt x="66675" y="56743"/>
                  <a:pt x="66675" y="44450"/>
                </a:cubicBezTo>
                <a:cubicBezTo>
                  <a:pt x="66675" y="32157"/>
                  <a:pt x="76607" y="22225"/>
                  <a:pt x="88900" y="22225"/>
                </a:cubicBezTo>
                <a:lnTo>
                  <a:pt x="177800" y="22225"/>
                </a:lnTo>
                <a:cubicBezTo>
                  <a:pt x="187940" y="8751"/>
                  <a:pt x="204053" y="0"/>
                  <a:pt x="222250" y="0"/>
                </a:cubicBezTo>
                <a:cubicBezTo>
                  <a:pt x="240447" y="0"/>
                  <a:pt x="256560" y="8751"/>
                  <a:pt x="266700" y="22225"/>
                </a:cubicBezTo>
                <a:close/>
                <a:moveTo>
                  <a:pt x="305316" y="222250"/>
                </a:moveTo>
                <a:lnTo>
                  <a:pt x="405884" y="222250"/>
                </a:lnTo>
                <a:lnTo>
                  <a:pt x="355600" y="135989"/>
                </a:lnTo>
                <a:lnTo>
                  <a:pt x="305316" y="222250"/>
                </a:lnTo>
                <a:close/>
                <a:moveTo>
                  <a:pt x="355600" y="288925"/>
                </a:moveTo>
                <a:cubicBezTo>
                  <a:pt x="311914" y="288925"/>
                  <a:pt x="275590" y="265311"/>
                  <a:pt x="268089" y="234126"/>
                </a:cubicBezTo>
                <a:cubicBezTo>
                  <a:pt x="266283" y="226487"/>
                  <a:pt x="268784" y="218638"/>
                  <a:pt x="272742" y="211832"/>
                </a:cubicBezTo>
                <a:lnTo>
                  <a:pt x="338862" y="98485"/>
                </a:lnTo>
                <a:cubicBezTo>
                  <a:pt x="342334" y="92512"/>
                  <a:pt x="348724" y="88900"/>
                  <a:pt x="355600" y="88900"/>
                </a:cubicBezTo>
                <a:cubicBezTo>
                  <a:pt x="362476" y="88900"/>
                  <a:pt x="368866" y="92581"/>
                  <a:pt x="372338" y="98485"/>
                </a:cubicBezTo>
                <a:lnTo>
                  <a:pt x="438458" y="211832"/>
                </a:lnTo>
                <a:cubicBezTo>
                  <a:pt x="442416" y="218638"/>
                  <a:pt x="444917" y="226487"/>
                  <a:pt x="443111" y="234126"/>
                </a:cubicBezTo>
                <a:cubicBezTo>
                  <a:pt x="435610" y="265241"/>
                  <a:pt x="399286" y="288925"/>
                  <a:pt x="355600" y="288925"/>
                </a:cubicBezTo>
                <a:close/>
                <a:moveTo>
                  <a:pt x="88067" y="135989"/>
                </a:moveTo>
                <a:lnTo>
                  <a:pt x="37783" y="222250"/>
                </a:lnTo>
                <a:lnTo>
                  <a:pt x="138420" y="222250"/>
                </a:lnTo>
                <a:lnTo>
                  <a:pt x="88067" y="135989"/>
                </a:lnTo>
                <a:close/>
                <a:moveTo>
                  <a:pt x="625" y="234126"/>
                </a:moveTo>
                <a:cubicBezTo>
                  <a:pt x="-1181" y="226487"/>
                  <a:pt x="1320" y="218638"/>
                  <a:pt x="5278" y="211832"/>
                </a:cubicBezTo>
                <a:lnTo>
                  <a:pt x="71398" y="98485"/>
                </a:lnTo>
                <a:cubicBezTo>
                  <a:pt x="74870" y="92512"/>
                  <a:pt x="81260" y="88900"/>
                  <a:pt x="88136" y="88900"/>
                </a:cubicBezTo>
                <a:cubicBezTo>
                  <a:pt x="95012" y="88900"/>
                  <a:pt x="101402" y="92581"/>
                  <a:pt x="104874" y="98485"/>
                </a:cubicBezTo>
                <a:lnTo>
                  <a:pt x="170994" y="211832"/>
                </a:lnTo>
                <a:cubicBezTo>
                  <a:pt x="174952" y="218638"/>
                  <a:pt x="177453" y="226487"/>
                  <a:pt x="175647" y="234126"/>
                </a:cubicBezTo>
                <a:cubicBezTo>
                  <a:pt x="168146" y="265241"/>
                  <a:pt x="131822" y="288925"/>
                  <a:pt x="88136" y="288925"/>
                </a:cubicBezTo>
                <a:cubicBezTo>
                  <a:pt x="44450" y="288925"/>
                  <a:pt x="8126" y="265311"/>
                  <a:pt x="625" y="234126"/>
                </a:cubicBezTo>
                <a:close/>
              </a:path>
            </a:pathLst>
          </a:custGeom>
          <a:solidFill>
            <a:srgbClr val="D97706"/>
          </a:solidFill>
          <a:ln/>
        </p:spPr>
      </p:sp>
      <p:sp>
        <p:nvSpPr>
          <p:cNvPr id="15" name="Text 12"/>
          <p:cNvSpPr/>
          <p:nvPr/>
        </p:nvSpPr>
        <p:spPr>
          <a:xfrm>
            <a:off x="11049000" y="3619500"/>
            <a:ext cx="3937000" cy="762000"/>
          </a:xfrm>
          <a:prstGeom prst="rect">
            <a:avLst/>
          </a:prstGeom>
          <a:noFill/>
          <a:ln/>
        </p:spPr>
        <p:txBody>
          <a:bodyPr wrap="square" lIns="0" tIns="0" rIns="0" bIns="0" rtlCol="0" anchor="t"/>
          <a:lstStyle/>
          <a:p>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Rationality</a:t>
            </a:r>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 maximizes expected performance, not omniscience</a:t>
            </a:r>
            <a:endParaRPr lang="en-US" sz="1600" dirty="0"/>
          </a:p>
        </p:txBody>
      </p:sp>
      <p:sp>
        <p:nvSpPr>
          <p:cNvPr id="16" name="Shape 13"/>
          <p:cNvSpPr/>
          <p:nvPr/>
        </p:nvSpPr>
        <p:spPr>
          <a:xfrm>
            <a:off x="1016000" y="4953000"/>
            <a:ext cx="6858000" cy="1651000"/>
          </a:xfrm>
          <a:prstGeom prst="rect">
            <a:avLst/>
          </a:prstGeom>
          <a:solidFill>
            <a:srgbClr val="FFFFFF">
              <a:alpha val="8235"/>
            </a:srgbClr>
          </a:solidFill>
          <a:ln/>
        </p:spPr>
      </p:sp>
      <p:sp>
        <p:nvSpPr>
          <p:cNvPr id="17" name="Shape 14"/>
          <p:cNvSpPr/>
          <p:nvPr/>
        </p:nvSpPr>
        <p:spPr>
          <a:xfrm>
            <a:off x="1270000" y="5207000"/>
            <a:ext cx="355600" cy="355600"/>
          </a:xfrm>
          <a:custGeom>
            <a:avLst/>
            <a:gdLst/>
            <a:ahLst/>
            <a:cxnLst/>
            <a:rect l="l" t="t" r="r" b="b"/>
            <a:pathLst>
              <a:path w="355600" h="355600">
                <a:moveTo>
                  <a:pt x="161479" y="3612"/>
                </a:moveTo>
                <a:cubicBezTo>
                  <a:pt x="171827" y="-1181"/>
                  <a:pt x="183773" y="-1181"/>
                  <a:pt x="194121" y="3612"/>
                </a:cubicBezTo>
                <a:lnTo>
                  <a:pt x="345946" y="73759"/>
                </a:lnTo>
                <a:cubicBezTo>
                  <a:pt x="351850" y="76468"/>
                  <a:pt x="355600" y="82371"/>
                  <a:pt x="355600" y="88900"/>
                </a:cubicBezTo>
                <a:cubicBezTo>
                  <a:pt x="355600" y="95429"/>
                  <a:pt x="351850" y="101332"/>
                  <a:pt x="345946" y="104041"/>
                </a:cubicBezTo>
                <a:lnTo>
                  <a:pt x="194121" y="174188"/>
                </a:lnTo>
                <a:cubicBezTo>
                  <a:pt x="183773" y="178981"/>
                  <a:pt x="171827" y="178981"/>
                  <a:pt x="161479" y="174188"/>
                </a:cubicBezTo>
                <a:lnTo>
                  <a:pt x="9654" y="104041"/>
                </a:lnTo>
                <a:cubicBezTo>
                  <a:pt x="3750" y="101263"/>
                  <a:pt x="0" y="95359"/>
                  <a:pt x="0" y="88900"/>
                </a:cubicBezTo>
                <a:cubicBezTo>
                  <a:pt x="0" y="82441"/>
                  <a:pt x="3750" y="76468"/>
                  <a:pt x="9654" y="73759"/>
                </a:cubicBezTo>
                <a:lnTo>
                  <a:pt x="161479" y="3612"/>
                </a:lnTo>
                <a:close/>
                <a:moveTo>
                  <a:pt x="33407" y="151686"/>
                </a:moveTo>
                <a:lnTo>
                  <a:pt x="147518" y="204401"/>
                </a:lnTo>
                <a:cubicBezTo>
                  <a:pt x="166757" y="213291"/>
                  <a:pt x="188913" y="213291"/>
                  <a:pt x="208151" y="204401"/>
                </a:cubicBezTo>
                <a:lnTo>
                  <a:pt x="322263" y="151686"/>
                </a:lnTo>
                <a:lnTo>
                  <a:pt x="345946" y="162659"/>
                </a:lnTo>
                <a:cubicBezTo>
                  <a:pt x="351850" y="165368"/>
                  <a:pt x="355600" y="171271"/>
                  <a:pt x="355600" y="177800"/>
                </a:cubicBezTo>
                <a:cubicBezTo>
                  <a:pt x="355600" y="184329"/>
                  <a:pt x="351850" y="190232"/>
                  <a:pt x="345946" y="192941"/>
                </a:cubicBezTo>
                <a:lnTo>
                  <a:pt x="194121" y="263088"/>
                </a:lnTo>
                <a:cubicBezTo>
                  <a:pt x="183773" y="267881"/>
                  <a:pt x="171827" y="267881"/>
                  <a:pt x="161479" y="263088"/>
                </a:cubicBezTo>
                <a:lnTo>
                  <a:pt x="9654" y="192941"/>
                </a:lnTo>
                <a:cubicBezTo>
                  <a:pt x="3750" y="190163"/>
                  <a:pt x="0" y="184259"/>
                  <a:pt x="0" y="177800"/>
                </a:cubicBezTo>
                <a:cubicBezTo>
                  <a:pt x="0" y="171341"/>
                  <a:pt x="3750" y="165368"/>
                  <a:pt x="9654" y="162659"/>
                </a:cubicBezTo>
                <a:lnTo>
                  <a:pt x="33337" y="151686"/>
                </a:lnTo>
                <a:close/>
                <a:moveTo>
                  <a:pt x="9654" y="251559"/>
                </a:moveTo>
                <a:lnTo>
                  <a:pt x="33337" y="240586"/>
                </a:lnTo>
                <a:lnTo>
                  <a:pt x="147449" y="293301"/>
                </a:lnTo>
                <a:cubicBezTo>
                  <a:pt x="166688" y="302191"/>
                  <a:pt x="188843" y="302191"/>
                  <a:pt x="208082" y="293301"/>
                </a:cubicBezTo>
                <a:lnTo>
                  <a:pt x="322193" y="240586"/>
                </a:lnTo>
                <a:lnTo>
                  <a:pt x="345877" y="251559"/>
                </a:lnTo>
                <a:cubicBezTo>
                  <a:pt x="351780" y="254268"/>
                  <a:pt x="355531" y="260171"/>
                  <a:pt x="355531" y="266700"/>
                </a:cubicBezTo>
                <a:cubicBezTo>
                  <a:pt x="355531" y="273229"/>
                  <a:pt x="351780" y="279132"/>
                  <a:pt x="345877" y="281841"/>
                </a:cubicBezTo>
                <a:lnTo>
                  <a:pt x="194052" y="351988"/>
                </a:lnTo>
                <a:cubicBezTo>
                  <a:pt x="183704" y="356781"/>
                  <a:pt x="171758" y="356781"/>
                  <a:pt x="161409" y="351988"/>
                </a:cubicBezTo>
                <a:lnTo>
                  <a:pt x="9654" y="281841"/>
                </a:lnTo>
                <a:cubicBezTo>
                  <a:pt x="3750" y="279063"/>
                  <a:pt x="0" y="273159"/>
                  <a:pt x="0" y="266700"/>
                </a:cubicBezTo>
                <a:cubicBezTo>
                  <a:pt x="0" y="260241"/>
                  <a:pt x="3750" y="254268"/>
                  <a:pt x="9654" y="251559"/>
                </a:cubicBezTo>
                <a:close/>
              </a:path>
            </a:pathLst>
          </a:custGeom>
          <a:solidFill>
            <a:srgbClr val="D97706"/>
          </a:solidFill>
          <a:ln/>
        </p:spPr>
      </p:sp>
      <p:sp>
        <p:nvSpPr>
          <p:cNvPr id="18" name="Text 15"/>
          <p:cNvSpPr/>
          <p:nvPr/>
        </p:nvSpPr>
        <p:spPr>
          <a:xfrm>
            <a:off x="1270000" y="5651500"/>
            <a:ext cx="6350000" cy="762000"/>
          </a:xfrm>
          <a:prstGeom prst="rect">
            <a:avLst/>
          </a:prstGeom>
          <a:noFill/>
          <a:ln/>
        </p:spPr>
        <p:txBody>
          <a:bodyPr wrap="square" lIns="0" tIns="0" rIns="0" bIns="0" rtlCol="0" anchor="t"/>
          <a:lstStyle/>
          <a:p>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Five agent types form a hierarchy: </a:t>
            </a:r>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Simple Reflex → Model-Based → Goal-Based → Utility-Based → Learning</a:t>
            </a:r>
            <a:endParaRPr lang="en-US" sz="1600" dirty="0"/>
          </a:p>
        </p:txBody>
      </p:sp>
      <p:sp>
        <p:nvSpPr>
          <p:cNvPr id="19" name="Shape 16"/>
          <p:cNvSpPr/>
          <p:nvPr/>
        </p:nvSpPr>
        <p:spPr>
          <a:xfrm>
            <a:off x="8382000" y="4953000"/>
            <a:ext cx="6858000" cy="1651000"/>
          </a:xfrm>
          <a:prstGeom prst="rect">
            <a:avLst/>
          </a:prstGeom>
          <a:solidFill>
            <a:srgbClr val="FFFFFF">
              <a:alpha val="8235"/>
            </a:srgbClr>
          </a:solidFill>
          <a:ln/>
        </p:spPr>
      </p:sp>
      <p:sp>
        <p:nvSpPr>
          <p:cNvPr id="20" name="Shape 17"/>
          <p:cNvSpPr/>
          <p:nvPr/>
        </p:nvSpPr>
        <p:spPr>
          <a:xfrm>
            <a:off x="8636000" y="52070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D97706"/>
          </a:solidFill>
          <a:ln/>
        </p:spPr>
      </p:sp>
      <p:sp>
        <p:nvSpPr>
          <p:cNvPr id="21" name="Text 18"/>
          <p:cNvSpPr/>
          <p:nvPr/>
        </p:nvSpPr>
        <p:spPr>
          <a:xfrm>
            <a:off x="8636000" y="5651500"/>
            <a:ext cx="6350000" cy="762000"/>
          </a:xfrm>
          <a:prstGeom prst="rect">
            <a:avLst/>
          </a:prstGeom>
          <a:noFill/>
          <a:ln/>
        </p:spPr>
        <p:txBody>
          <a:bodyPr wrap="square" lIns="0" tIns="0" rIns="0" bIns="0" rtlCol="0" anchor="t"/>
          <a:lstStyle/>
          <a:p>
            <a:pPr>
              <a:lnSpc>
                <a:spcPct val="140000"/>
              </a:lnSpc>
            </a:pPr>
            <a:r>
              <a:rPr lang="en-US" sz="1400" dirty="0">
                <a:solidFill>
                  <a:srgbClr val="FFFFFF">
                    <a:alpha val="86667"/>
                  </a:srgbClr>
                </a:solidFill>
                <a:latin typeface="Quattrocento Sans" pitchFamily="34" charset="0"/>
                <a:ea typeface="Quattrocento Sans" pitchFamily="34" charset="-122"/>
                <a:cs typeface="Quattrocento Sans" pitchFamily="34" charset="-120"/>
              </a:rPr>
              <a:t>Understanding agent design is </a:t>
            </a:r>
            <a:pP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fundamental to building intelligent AI systems</a:t>
            </a:r>
            <a:endParaRPr lang="en-US" sz="1600" dirty="0"/>
          </a:p>
        </p:txBody>
      </p:sp>
      <p:sp>
        <p:nvSpPr>
          <p:cNvPr id="22" name="Shape 19"/>
          <p:cNvSpPr/>
          <p:nvPr/>
        </p:nvSpPr>
        <p:spPr>
          <a:xfrm>
            <a:off x="5588000" y="7112000"/>
            <a:ext cx="5080000" cy="25400"/>
          </a:xfrm>
          <a:prstGeom prst="rect">
            <a:avLst/>
          </a:prstGeom>
          <a:solidFill>
            <a:srgbClr val="FFFFFF">
              <a:alpha val="18824"/>
            </a:srgbClr>
          </a:solidFill>
          <a:ln/>
        </p:spPr>
      </p:sp>
      <p:sp>
        <p:nvSpPr>
          <p:cNvPr id="23" name="Text 20"/>
          <p:cNvSpPr/>
          <p:nvPr/>
        </p:nvSpPr>
        <p:spPr>
          <a:xfrm>
            <a:off x="3683000" y="7366000"/>
            <a:ext cx="8890000" cy="508000"/>
          </a:xfrm>
          <a:prstGeom prst="rect">
            <a:avLst/>
          </a:prstGeom>
          <a:noFill/>
          <a:ln/>
        </p:spPr>
        <p:txBody>
          <a:bodyPr wrap="none" lIns="0" tIns="0" rIns="0" bIns="0" rtlCol="0" anchor="ctr"/>
          <a:lstStyle/>
          <a:p>
            <a:pPr algn="ctr">
              <a:lnSpc>
                <a:spcPct val="100000"/>
              </a:lnSpc>
            </a:pPr>
            <a:r>
              <a:rPr lang="en-US" sz="2200" dirty="0">
                <a:solidFill>
                  <a:srgbClr val="FFFFFF"/>
                </a:solidFill>
                <a:latin typeface="Liter" pitchFamily="34" charset="0"/>
                <a:ea typeface="Liter" pitchFamily="34" charset="-122"/>
                <a:cs typeface="Liter" pitchFamily="34" charset="-120"/>
              </a:rPr>
              <a:t>ARTIFICIAL INTELLIGENCE</a:t>
            </a:r>
            <a:endParaRPr lang="en-US" sz="1600" dirty="0"/>
          </a:p>
        </p:txBody>
      </p:sp>
      <p:sp>
        <p:nvSpPr>
          <p:cNvPr id="24" name="Text 21"/>
          <p:cNvSpPr/>
          <p:nvPr/>
        </p:nvSpPr>
        <p:spPr>
          <a:xfrm>
            <a:off x="4953000" y="7937500"/>
            <a:ext cx="6350000" cy="381000"/>
          </a:xfrm>
          <a:prstGeom prst="rect">
            <a:avLst/>
          </a:prstGeom>
          <a:noFill/>
          <a:ln/>
        </p:spPr>
        <p:txBody>
          <a:bodyPr wrap="none" lIns="0" tIns="0" rIns="0" bIns="0" rtlCol="0" anchor="ctr"/>
          <a:lstStyle/>
          <a:p>
            <a:pPr algn="ctr">
              <a:lnSpc>
                <a:spcPct val="100000"/>
              </a:lnSpc>
            </a:pPr>
            <a:r>
              <a:rPr lang="en-US" sz="1600" dirty="0">
                <a:solidFill>
                  <a:srgbClr val="FFFFFF">
                    <a:alpha val="50196"/>
                  </a:srgbClr>
                </a:solidFill>
                <a:latin typeface="Quattrocento Sans" pitchFamily="34" charset="0"/>
                <a:ea typeface="Quattrocento Sans" pitchFamily="34" charset="-122"/>
                <a:cs typeface="Quattrocento Sans" pitchFamily="34" charset="-120"/>
              </a:rPr>
              <a:t>Week 2 — Thank You</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Week 2</dc:title>
  <dc:subject>Artificial Intelligence - Week 2</dc:subject>
  <dc:creator>Kimi</dc:creator>
  <cp:lastModifiedBy>Kimi</cp:lastModifiedBy>
  <cp:revision>1</cp:revision>
  <dcterms:created xsi:type="dcterms:W3CDTF">2026-05-25T21:04:43Z</dcterms:created>
  <dcterms:modified xsi:type="dcterms:W3CDTF">2026-05-25T21:04:43Z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{"Label":"Artificial Intelligence - Week 2","ContentProducer":"001191110108MACG2KBH8F10000","ProduceID":"19e60c8f-a342-85c8-8000-0000b954bb6e","ReservedCode1":"","ContentPropagator":"001191110108MACG2KBH8F20000","PropagateID":"19e60c8f-a342-85c8-8000-0000b954bb6e","ReservedCode2":""}</vt:lpwstr>
  </property>
</Properties>
</file>