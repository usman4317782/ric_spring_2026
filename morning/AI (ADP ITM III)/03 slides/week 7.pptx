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wyzztur6zyic/mnt/agents/output/ai-week7/images/5_Abstract_representation_of_artificial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>
                  <a:alpha val="0"/>
                </a:srgbClr>
              </a:gs>
              <a:gs pos="35000">
                <a:srgbClr val="0A2E38">
                  <a:alpha val="50000"/>
                </a:srgbClr>
              </a:gs>
              <a:gs pos="100000">
                <a:srgbClr val="0A2E3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2921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WEEK 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778000" y="3429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7112000" y="4445000"/>
            <a:ext cx="203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4826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First-Order Logic: Sentences &amp; Quantifiers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Solving by Searching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spc="6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7 — Lectures 13 &amp; 14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14732000" cy="12700"/>
          </a:xfrm>
          <a:prstGeom prst="rect">
            <a:avLst/>
          </a:prstGeom>
          <a:solidFill>
            <a:srgbClr val="D1CFC9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794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" y="2794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05000" y="3238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First-Order Logic — Sentences &amp; Quantifiers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&amp; Complex Sentences · Universal &amp; Existential Quantifiers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318000"/>
            <a:ext cx="7620000" cy="12700"/>
          </a:xfrm>
          <a:prstGeom prst="rect">
            <a:avLst/>
          </a:prstGeom>
          <a:solidFill>
            <a:srgbClr val="D1CFC9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4826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" y="4826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05000" y="5270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Solving by Searching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Problem-Solving Agents · Problem Formulation · Performance Metrics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430000" y="4445000"/>
            <a:ext cx="4064000" cy="4064000"/>
          </a:xfrm>
          <a:prstGeom prst="ellipse">
            <a:avLst/>
          </a:prstGeom>
          <a:solidFill>
            <a:srgbClr val="0F4C5C">
              <a:alpha val="3137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065000" y="5080000"/>
            <a:ext cx="2794000" cy="2794000"/>
          </a:xfrm>
          <a:prstGeom prst="rect">
            <a:avLst/>
          </a:prstGeom>
          <a:solidFill>
            <a:srgbClr val="D97706">
              <a:alpha val="313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wyzztur6zyic/mnt/agents/output/ai-week7/images/1_Abstract_Neural_Network_Web_on_Dark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>
                  <a:alpha val="90000"/>
                </a:srgbClr>
              </a:gs>
              <a:gs pos="60000">
                <a:srgbClr val="0A2E38">
                  <a:alpha val="80000"/>
                </a:srgbClr>
              </a:gs>
              <a:gs pos="100000">
                <a:srgbClr val="0A2E38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762000" y="3683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62000" y="4127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381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First-Order Logic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Sentences &amp; Quantifiers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First-Order Logic: A Quick Recap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FOL extends propositional logic by adding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quantifiers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It allows us to express facts about all objects or some objects in a domain.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3429000" cy="292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783" y="-1736"/>
                </a:moveTo>
                <a:cubicBezTo>
                  <a:pt x="169535" y="-9654"/>
                  <a:pt x="186482" y="-9654"/>
                  <a:pt x="200233" y="-1736"/>
                </a:cubicBezTo>
                <a:lnTo>
                  <a:pt x="322401" y="68759"/>
                </a:lnTo>
                <a:cubicBezTo>
                  <a:pt x="336153" y="76676"/>
                  <a:pt x="344626" y="91400"/>
                  <a:pt x="344626" y="107236"/>
                </a:cubicBezTo>
                <a:lnTo>
                  <a:pt x="344626" y="248225"/>
                </a:lnTo>
                <a:cubicBezTo>
                  <a:pt x="344626" y="264130"/>
                  <a:pt x="336153" y="278785"/>
                  <a:pt x="322401" y="286702"/>
                </a:cubicBezTo>
                <a:lnTo>
                  <a:pt x="200233" y="357336"/>
                </a:lnTo>
                <a:cubicBezTo>
                  <a:pt x="186482" y="365254"/>
                  <a:pt x="169535" y="365254"/>
                  <a:pt x="155783" y="357336"/>
                </a:cubicBezTo>
                <a:lnTo>
                  <a:pt x="33685" y="286841"/>
                </a:lnTo>
                <a:cubicBezTo>
                  <a:pt x="19933" y="278924"/>
                  <a:pt x="11460" y="264200"/>
                  <a:pt x="11460" y="248364"/>
                </a:cubicBezTo>
                <a:lnTo>
                  <a:pt x="11460" y="107375"/>
                </a:lnTo>
                <a:cubicBezTo>
                  <a:pt x="11460" y="91470"/>
                  <a:pt x="19933" y="76815"/>
                  <a:pt x="33685" y="68898"/>
                </a:cubicBezTo>
                <a:lnTo>
                  <a:pt x="155783" y="-1736"/>
                </a:lnTo>
                <a:close/>
                <a:moveTo>
                  <a:pt x="300107" y="248295"/>
                </a:moveTo>
                <a:lnTo>
                  <a:pt x="300107" y="132933"/>
                </a:lnTo>
                <a:lnTo>
                  <a:pt x="200233" y="190579"/>
                </a:lnTo>
                <a:lnTo>
                  <a:pt x="200233" y="305941"/>
                </a:lnTo>
                <a:lnTo>
                  <a:pt x="300107" y="248295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540000"/>
            <a:ext cx="243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Constants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048000"/>
            <a:ext cx="292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objects in the domain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John, 2, Paris, Red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5000" y="2349500"/>
            <a:ext cx="3429000" cy="292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0" name="Shape 8"/>
          <p:cNvSpPr/>
          <p:nvPr/>
        </p:nvSpPr>
        <p:spPr>
          <a:xfrm>
            <a:off x="46990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572" y="66675"/>
                </a:moveTo>
                <a:lnTo>
                  <a:pt x="22572" y="170507"/>
                </a:lnTo>
                <a:cubicBezTo>
                  <a:pt x="22572" y="182314"/>
                  <a:pt x="27226" y="193635"/>
                  <a:pt x="35560" y="201970"/>
                </a:cubicBezTo>
                <a:lnTo>
                  <a:pt x="168910" y="335320"/>
                </a:lnTo>
                <a:cubicBezTo>
                  <a:pt x="186273" y="352683"/>
                  <a:pt x="214402" y="352683"/>
                  <a:pt x="231765" y="335320"/>
                </a:cubicBezTo>
                <a:lnTo>
                  <a:pt x="335598" y="231487"/>
                </a:lnTo>
                <a:cubicBezTo>
                  <a:pt x="352961" y="214124"/>
                  <a:pt x="352961" y="185995"/>
                  <a:pt x="335598" y="168632"/>
                </a:cubicBezTo>
                <a:lnTo>
                  <a:pt x="202248" y="35282"/>
                </a:lnTo>
                <a:cubicBezTo>
                  <a:pt x="193913" y="26878"/>
                  <a:pt x="182662" y="22225"/>
                  <a:pt x="170855" y="22225"/>
                </a:cubicBezTo>
                <a:lnTo>
                  <a:pt x="67022" y="22225"/>
                </a:lnTo>
                <a:cubicBezTo>
                  <a:pt x="42505" y="22225"/>
                  <a:pt x="22572" y="42158"/>
                  <a:pt x="22572" y="66675"/>
                </a:cubicBezTo>
                <a:close/>
                <a:moveTo>
                  <a:pt x="100360" y="77788"/>
                </a:moveTo>
                <a:cubicBezTo>
                  <a:pt x="112626" y="77788"/>
                  <a:pt x="122585" y="87746"/>
                  <a:pt x="122585" y="100013"/>
                </a:cubicBezTo>
                <a:cubicBezTo>
                  <a:pt x="122585" y="112279"/>
                  <a:pt x="112626" y="122238"/>
                  <a:pt x="100360" y="122238"/>
                </a:cubicBezTo>
                <a:cubicBezTo>
                  <a:pt x="88093" y="122238"/>
                  <a:pt x="78135" y="112279"/>
                  <a:pt x="78135" y="100013"/>
                </a:cubicBezTo>
                <a:cubicBezTo>
                  <a:pt x="78135" y="87746"/>
                  <a:pt x="88093" y="77788"/>
                  <a:pt x="100360" y="77788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5181600" y="2540000"/>
            <a:ext cx="243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9000" y="3048000"/>
            <a:ext cx="292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 for arbitrary objects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x, y, z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0" y="2349500"/>
            <a:ext cx="3429000" cy="292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4" name="Shape 12"/>
          <p:cNvSpPr/>
          <p:nvPr/>
        </p:nvSpPr>
        <p:spPr>
          <a:xfrm>
            <a:off x="83820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55563"/>
                </a:moveTo>
                <a:cubicBezTo>
                  <a:pt x="0" y="37157"/>
                  <a:pt x="14932" y="22225"/>
                  <a:pt x="33337" y="22225"/>
                </a:cubicBezTo>
                <a:lnTo>
                  <a:pt x="100013" y="22225"/>
                </a:lnTo>
                <a:cubicBezTo>
                  <a:pt x="118418" y="22225"/>
                  <a:pt x="133350" y="37157"/>
                  <a:pt x="133350" y="55563"/>
                </a:cubicBezTo>
                <a:lnTo>
                  <a:pt x="133350" y="66675"/>
                </a:lnTo>
                <a:lnTo>
                  <a:pt x="222250" y="66675"/>
                </a:lnTo>
                <a:lnTo>
                  <a:pt x="222250" y="55563"/>
                </a:lnTo>
                <a:cubicBezTo>
                  <a:pt x="222250" y="37157"/>
                  <a:pt x="237182" y="22225"/>
                  <a:pt x="255587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122238"/>
                </a:lnTo>
                <a:cubicBezTo>
                  <a:pt x="355600" y="140643"/>
                  <a:pt x="340668" y="155575"/>
                  <a:pt x="322263" y="155575"/>
                </a:cubicBezTo>
                <a:lnTo>
                  <a:pt x="255587" y="155575"/>
                </a:lnTo>
                <a:cubicBezTo>
                  <a:pt x="237182" y="155575"/>
                  <a:pt x="222250" y="140643"/>
                  <a:pt x="222250" y="122238"/>
                </a:cubicBezTo>
                <a:lnTo>
                  <a:pt x="222250" y="111125"/>
                </a:lnTo>
                <a:lnTo>
                  <a:pt x="133350" y="111125"/>
                </a:lnTo>
                <a:lnTo>
                  <a:pt x="133350" y="122238"/>
                </a:lnTo>
                <a:cubicBezTo>
                  <a:pt x="133350" y="127308"/>
                  <a:pt x="132169" y="132169"/>
                  <a:pt x="130155" y="136475"/>
                </a:cubicBezTo>
                <a:lnTo>
                  <a:pt x="177800" y="200025"/>
                </a:lnTo>
                <a:lnTo>
                  <a:pt x="233363" y="200025"/>
                </a:lnTo>
                <a:cubicBezTo>
                  <a:pt x="251768" y="200025"/>
                  <a:pt x="266700" y="214957"/>
                  <a:pt x="266700" y="233363"/>
                </a:cubicBezTo>
                <a:lnTo>
                  <a:pt x="266700" y="300038"/>
                </a:lnTo>
                <a:cubicBezTo>
                  <a:pt x="266700" y="318443"/>
                  <a:pt x="251768" y="333375"/>
                  <a:pt x="233363" y="333375"/>
                </a:cubicBezTo>
                <a:lnTo>
                  <a:pt x="166688" y="333375"/>
                </a:lnTo>
                <a:cubicBezTo>
                  <a:pt x="148282" y="333375"/>
                  <a:pt x="133350" y="318443"/>
                  <a:pt x="133350" y="300038"/>
                </a:cubicBezTo>
                <a:lnTo>
                  <a:pt x="133350" y="233363"/>
                </a:lnTo>
                <a:cubicBezTo>
                  <a:pt x="133350" y="228292"/>
                  <a:pt x="134531" y="223431"/>
                  <a:pt x="136545" y="219125"/>
                </a:cubicBezTo>
                <a:lnTo>
                  <a:pt x="88900" y="155575"/>
                </a:lnTo>
                <a:lnTo>
                  <a:pt x="33337" y="155575"/>
                </a:lnTo>
                <a:cubicBezTo>
                  <a:pt x="14932" y="155575"/>
                  <a:pt x="0" y="140643"/>
                  <a:pt x="0" y="122238"/>
                </a:cubicBezTo>
                <a:lnTo>
                  <a:pt x="0" y="55563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4600" y="2540000"/>
            <a:ext cx="243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Predicates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3048000"/>
            <a:ext cx="292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 or properties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Brother, &gt;, Prime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11000" y="2349500"/>
            <a:ext cx="3683000" cy="292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42775" y="2540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12547600" y="2540000"/>
            <a:ext cx="269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65000" y="3048000"/>
            <a:ext cx="317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 objects to objects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Sqrt, LeftLeg, Father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524500"/>
            <a:ext cx="14732000" cy="292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571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OTHER COMPONENTS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6223000"/>
            <a:ext cx="1397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Connectives: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¬ (negation), ∧ (and), ∨ (or), ⇒ (implies), ⇔ (iff)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Equality: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— states that two terms refer to the same object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Quantifiers: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∀ (universal, "for all"), ∃ (existential, "there exists")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Atomic Sentences in FOL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4732000" cy="1143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63500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651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atomic sentence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simplest form of a sentence in FOL — it cannot be decomposed into smaller sentences. It consists of a predicate applied to terms, or an equality between terms.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92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000" y="3429000"/>
            <a:ext cx="685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Predicate(Term1, Term2, ...)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 predicate symbol followed by a parenthesized list of terms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Term1 = Term2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an equality assertion between two terms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508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5651500"/>
            <a:ext cx="4699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57785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Brother(John, Richard)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"John is the brother of Richard"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0" y="5651500"/>
            <a:ext cx="4699000" cy="1524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3" name="Text 11"/>
          <p:cNvSpPr/>
          <p:nvPr/>
        </p:nvSpPr>
        <p:spPr>
          <a:xfrm>
            <a:off x="5969000" y="5715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Married(Father(John), Mother(Richard))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"John's father is married to Richard's mother"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5651500"/>
            <a:ext cx="4826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000" y="5778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+ 2 = 4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"Two plus two equals four"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7302500"/>
            <a:ext cx="147320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" y="755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587500" y="7366000"/>
            <a:ext cx="1358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sentences are either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given interpretation (model). Their truth value depends directly on the interpretation of predicates and terms.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Sentences in FOL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Complex sentences are built from atomic sentences using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logical connectives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same as in propositional logic.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7175500" cy="1524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63500" cy="1524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222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Negation (¬)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¬Likes(John, Pizza)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"John does not like pizza"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0" y="2095500"/>
            <a:ext cx="7175500" cy="1524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" name="Shape 7"/>
          <p:cNvSpPr/>
          <p:nvPr/>
        </p:nvSpPr>
        <p:spPr>
          <a:xfrm>
            <a:off x="8318500" y="2095500"/>
            <a:ext cx="63500" cy="1524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2222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Conjunction (∧)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Brother(J,R) ∧ Brother(R,J)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"John is Richard's brother AND vice versa"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873500"/>
            <a:ext cx="7175500" cy="1524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3873500"/>
            <a:ext cx="63500" cy="1524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4000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Disjunction (∨)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Smart(x) ∨ Lucky(x)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"x is smart OR x is lucky"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18500" y="3873500"/>
            <a:ext cx="7175500" cy="1524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5" name="Shape 13"/>
          <p:cNvSpPr/>
          <p:nvPr/>
        </p:nvSpPr>
        <p:spPr>
          <a:xfrm>
            <a:off x="8318500" y="3873500"/>
            <a:ext cx="63500" cy="1524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0" y="4000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Implication (⇒)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Rain(x) ⇒ Wet(x)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"If it rains, then things get wet"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651500"/>
            <a:ext cx="7175500" cy="1524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5651500"/>
            <a:ext cx="63500" cy="15240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5778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Biconditional (⇔)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Even(x) ⇔ Divisible(x, 2)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"x is even IFF x is divisible by 2"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Atomic vs. Complex Sentences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4826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72011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Atomic Sentences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Complex Sentences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821178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Structure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Indivisible basic unit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Composed of atomic sentences using connectives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1178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Connectives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 (¬, ∧, ∨, ⇒, ⇔)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Contains one or more connectives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821178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Truth Value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Depends directly on the interpretation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Determined by component sentences and connectives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1178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Terms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Contains constants, variables, functions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Each atomic component contains terms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821178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Brother(John, x), x = 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Brother(John, x) ∧ Brother(x, John)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6858000"/>
            <a:ext cx="14732000" cy="139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Shape 3"/>
          <p:cNvSpPr/>
          <p:nvPr/>
        </p:nvSpPr>
        <p:spPr>
          <a:xfrm>
            <a:off x="1123950" y="7239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1587500" y="7048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Both atomic and complex sentences can contain terms (constants, variables, functions). The difference lies in whether logical connectives are used to combine simpler sentences into more expressive ones.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Quantifiers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Quantifiers allow us to express properties of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collections of objects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eliminating the need to enumerate each object individually. They are what make FOL truly powerful.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476500"/>
            <a:ext cx="7048500" cy="292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603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955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Quantifier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4290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"For all" — makes a claim about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object in the domain. Read as: "for all x, P(x) holds."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318000"/>
            <a:ext cx="654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∀x Human(x) ⇒ Mortal(x)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"All humans are mortal"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2476500"/>
            <a:ext cx="7175500" cy="292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1" name="Text 9"/>
          <p:cNvSpPr/>
          <p:nvPr/>
        </p:nvSpPr>
        <p:spPr>
          <a:xfrm>
            <a:off x="8572500" y="2603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52000" y="2667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Existential Quantifier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72500" y="342900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"There exists" — makes a claim about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least one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object in the domain. Read as: "there exists an x such that P(x) holds."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43180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∃x Planet(x) ∧ Habitable(x)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"There exists a habitable planet"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715000"/>
            <a:ext cx="14732000" cy="2730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5778500"/>
            <a:ext cx="14732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500" y="6032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 Binding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9500" y="6413500"/>
            <a:ext cx="14097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Quantifiers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bind variables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sentences, turning </a:t>
            </a:r>
            <a:pPr>
              <a:lnSpc>
                <a:spcPct val="160000"/>
              </a:lnSpc>
            </a:pPr>
            <a:r>
              <a:rPr lang="en-US" sz="18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open formulas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(with free variables) into </a:t>
            </a:r>
            <a:pPr>
              <a:lnSpc>
                <a:spcPct val="160000"/>
              </a:lnSpc>
            </a:pPr>
            <a:r>
              <a:rPr lang="en-US" sz="18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closed sentences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(with no free variables) that have definite truth values.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formula: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Likes(x, Pizza) — truth value depends on x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Closed sentences: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∀x Likes(x, Pizza) and ∃x Likes(x, Pizza) — have definite truth values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Quantifier (∀)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587500"/>
            <a:ext cx="965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0" y="1651000"/>
            <a:ext cx="1320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∀x P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means "For all x, P is true" or "P holds for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object x in the domain." The variable x is bound by the quantifier.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Semantics: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∀x P is true iff P is true for every possible assignment of x to an object in the domain.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11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Form (Implication)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000" y="3619500"/>
            <a:ext cx="7620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standard pattern for universal quantification uses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implication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∀x P(x) ⇒ Q(x)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"For all x, if P(x) then Q(x)"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080000"/>
            <a:ext cx="7620000" cy="1524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5207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∀x Human(x) ⇒ Mortal(x)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"If x is human, then x is mortal" — i.e.,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humans are mortal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do NOT say: ∀x Human(x) ∧ Mortal(x) (that would mean everything is human)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0000" y="311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Mistake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890000" y="3619500"/>
            <a:ext cx="6604000" cy="29845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3" name="Shape 11"/>
          <p:cNvSpPr/>
          <p:nvPr/>
        </p:nvSpPr>
        <p:spPr>
          <a:xfrm>
            <a:off x="8890000" y="3619500"/>
            <a:ext cx="63500" cy="2984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9207500" y="3746500"/>
            <a:ext cx="60325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WRONG: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∀x Human(x) ∧ Mortal(x)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means: "Everything is human AND everything is mortal"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∀x Human(x) ⇒ Mortal(x)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means: "All humans are mortal" — only humans are constrained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Quantifier — More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175500" cy="1587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63500" cy="1587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76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574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∀x ∀y Parent(x, y) ⇒ Child(y, x)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"If x is a parent of y, then y is a child of x"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0" y="1587500"/>
            <a:ext cx="7175500" cy="1587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" name="Shape 7"/>
          <p:cNvSpPr/>
          <p:nvPr/>
        </p:nvSpPr>
        <p:spPr>
          <a:xfrm>
            <a:off x="8318500" y="1587500"/>
            <a:ext cx="63500" cy="1587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8572500" y="1676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72500" y="20574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∀x Number(x) ⇒ (∃y Greater(y, x))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"For every number, there exists a greater number"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429000"/>
            <a:ext cx="7175500" cy="1587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3429000"/>
            <a:ext cx="63500" cy="1587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5179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38989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∀x (Dog(x) ⇒ Mammal(x))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"All dogs are mammals"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18500" y="3429000"/>
            <a:ext cx="7175500" cy="1587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7" name="Shape 15"/>
          <p:cNvSpPr/>
          <p:nvPr/>
        </p:nvSpPr>
        <p:spPr>
          <a:xfrm>
            <a:off x="8318500" y="3429000"/>
            <a:ext cx="63500" cy="1587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8572500" y="35179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72500" y="38989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∀x∀y∀z (Above(x,y) ∧ Above(y,z) ⇒ Above(x,z))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Transitivity of the "above" relation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334000"/>
            <a:ext cx="14732000" cy="292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552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NESTED QUANTIFIERS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9500" y="6032500"/>
            <a:ext cx="1409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multiple universal quantifiers appear together, their order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not matter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∀x ∀y P(x, y) ≡ ∀y ∀x P(x, y)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mean: "For every x and for every y, P(x,y) holds." This commutativity applies only when all quantifiers are of the same type (∀∀ or ∃∃).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Existential Quantifier (∃)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587500"/>
            <a:ext cx="965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0" y="1651000"/>
            <a:ext cx="1320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∃x P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means "There exists at least one x such that P is true" or "P holds for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object x in the domain."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Semantics: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∃x P is true iff P is true for at least one assignment of x to an object in the domain.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11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Form (Conjunction)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000" y="3619500"/>
            <a:ext cx="7620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standard pattern for existential quantification uses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conjunction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∃x P(x) ∧ Q(x)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"There exists an x such that P(x) and Q(x)"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080000"/>
            <a:ext cx="7620000" cy="1524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5207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∃x Planet(x) ∧ Habitable(x)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"There exists an x that is a planet AND x is habitable"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i.e., "There exists a habitable planet"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0000" y="311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Mistake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890000" y="3619500"/>
            <a:ext cx="6604000" cy="29845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3" name="Shape 11"/>
          <p:cNvSpPr/>
          <p:nvPr/>
        </p:nvSpPr>
        <p:spPr>
          <a:xfrm>
            <a:off x="8890000" y="3619500"/>
            <a:ext cx="63500" cy="2984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9207500" y="3746500"/>
            <a:ext cx="60325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B4530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WRONG: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∃x Planet(x) ⇒ Habitable(x)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would be true if ANY non-planet exists (false antecedent makes implication true)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∃x Planet(x) ∧ Habitable(x)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object must satisfy BOTH conditions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Existential Quantifier — More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175500" cy="1587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63500" cy="1587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76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574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∃x ∃y Loves(x, y)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"There exists someone who loves someone"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0" y="1587500"/>
            <a:ext cx="7175500" cy="1587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" name="Shape 7"/>
          <p:cNvSpPr/>
          <p:nvPr/>
        </p:nvSpPr>
        <p:spPr>
          <a:xfrm>
            <a:off x="8318500" y="1587500"/>
            <a:ext cx="63500" cy="1587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8572500" y="16764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72500" y="20574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∃x (Student(x) ∧ ∀y Course(y) ⇒ Enrolled(x,y))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"There exists a student enrolled in every course"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429000"/>
            <a:ext cx="7175500" cy="1587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3429000"/>
            <a:ext cx="63500" cy="1587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5179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38989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∃x (Prime(x) ∧ Greater(x, 1000000))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"There exists a prime number greater than 1,000,000"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18500" y="3429000"/>
            <a:ext cx="7175500" cy="1587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7" name="Shape 15"/>
          <p:cNvSpPr/>
          <p:nvPr/>
        </p:nvSpPr>
        <p:spPr>
          <a:xfrm>
            <a:off x="8318500" y="3429000"/>
            <a:ext cx="63500" cy="1587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572500" y="35179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72500" y="38989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∃x ∀y Mother(x, y)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"There is someone who is the mother of everyone"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270500"/>
            <a:ext cx="14732000" cy="3175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5524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QUANTIFIER ORDER MATTERS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9500" y="5969000"/>
            <a:ext cx="1409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mixing universal and existential quantifiers,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is critical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∃x ∀y Loves(x, y)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"Someone loves everyone" (one person loves all)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∀y ∃x Loves(x, y)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"Everyone is loved by someone" (different lovers possible)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are NOT equivalent!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first is stronger than the second.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Quantifier Equivalences &amp; Negation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Morgan's Laws for Quantifiers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7175500" cy="1143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286000"/>
            <a:ext cx="666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¬∀x P(x) ≡ ∃x ¬P(x)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"Not all x are P" ≡ "There exists an x that is not P"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18500" y="2159000"/>
            <a:ext cx="7175500" cy="1143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8" name="Text 6"/>
          <p:cNvSpPr/>
          <p:nvPr/>
        </p:nvSpPr>
        <p:spPr>
          <a:xfrm>
            <a:off x="8572500" y="2286000"/>
            <a:ext cx="666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¬∃x P(x) ≡ ∀x ¬P(x)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"No x is P" ≡ "All x are not P"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61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Duality of Quantifiers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127500"/>
            <a:ext cx="14732000" cy="11176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191000"/>
            <a:ext cx="14097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∀ and ∃ are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each can be expressed in terms of the other plus negation: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∀x P(x) ≡ ¬∃x ¬P(x)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∃x P(x) ≡ ¬∀x ¬P(x)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Equivalences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6032500"/>
            <a:ext cx="7175500" cy="1016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615950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∀x P(x) ∧ ∀x Q(x) ≡ ∀x (P(x) ∧ Q(x))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18500" y="6032500"/>
            <a:ext cx="7175500" cy="1016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6" name="Text 14"/>
          <p:cNvSpPr/>
          <p:nvPr/>
        </p:nvSpPr>
        <p:spPr>
          <a:xfrm>
            <a:off x="8572500" y="615950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∃x P(x) ∨ ∃x Q(x) ≡ ∃x (P(x) ∨ Q(x))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7366000"/>
            <a:ext cx="14732000" cy="10160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7366000"/>
            <a:ext cx="63500" cy="101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762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460500" y="7493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∀x P(x) ∨ ∀x Q(x) is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equivalent to ∀x (P(x) ∨ Q(x)). Similarly, ∃x P(x) ∧ ∃x Q(x) is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equivalent to ∃x (P(x) ∧ Q(x)).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13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4699000" cy="3238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714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14500" y="1778000"/>
            <a:ext cx="349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Atomic Sentences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2349500"/>
            <a:ext cx="4254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basic building blocks of FOL. A predicate applied to terms, or an equality between terms. Cannot be decomposed further.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Brother(John, x)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1587500"/>
            <a:ext cx="4699000" cy="3238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" name="Text 7"/>
          <p:cNvSpPr/>
          <p:nvPr/>
        </p:nvSpPr>
        <p:spPr>
          <a:xfrm>
            <a:off x="5905500" y="1714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67500" y="1778000"/>
            <a:ext cx="349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Sentences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05500" y="2349500"/>
            <a:ext cx="4254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atomic sentences using connectives: ¬, ∧, ∨, ⇒, ⇔. Build more expressive statements from simple ones.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P(x) ∧ Q(x)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587500"/>
            <a:ext cx="4826000" cy="3238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3" name="Text 11"/>
          <p:cNvSpPr/>
          <p:nvPr/>
        </p:nvSpPr>
        <p:spPr>
          <a:xfrm>
            <a:off x="10858500" y="1714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20500" y="1778000"/>
            <a:ext cx="361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Quantifier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858500" y="2349500"/>
            <a:ext cx="4381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Makes claims about ALL objects. Standard form uses implication: ∀x P(x) ⇒ Q(x) means "All P are Q."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∀x Human(x) ⇒ Mortal(x)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080000"/>
            <a:ext cx="7175500" cy="3238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5207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14500" y="527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Existential Quantifier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2500" y="5842000"/>
            <a:ext cx="673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Makes claims about SOME objects. Standard form uses conjunction: ∃x P(x) ∧ Q(x) means "Some P is Q."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∃x Planet(x) ∧ Habitable(x)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18500" y="5080000"/>
            <a:ext cx="7175500" cy="3238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9000" y="5207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71000" y="527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Quantifier Negation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9000" y="5842000"/>
            <a:ext cx="673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Morgan's laws connect quantifier negation. Order matters when mixing ∀ and ∃.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¬∀x P(x) ≡ ∃x ¬P(x)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¬∃x P(x) ≡ ∀x ¬P(x)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wyzztur6zyic/mnt/agents/output/ai-week7/images/9_Maze_Search_Algorithms_With_Visualization.png">    </p:cNvPr>
          <p:cNvPicPr>
            <a:picLocks noChangeAspect="1"/>
          </p:cNvPicPr>
          <p:nvPr/>
        </p:nvPicPr>
        <p:blipFill>
          <a:blip r:embed="rId1"/>
          <a:srcRect l="3530" r="353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>
                  <a:alpha val="90000"/>
                </a:srgbClr>
              </a:gs>
              <a:gs pos="60000">
                <a:srgbClr val="0A2E38">
                  <a:alpha val="80000"/>
                </a:srgbClr>
              </a:gs>
              <a:gs pos="100000">
                <a:srgbClr val="0A2E38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50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762000" y="3683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62000" y="41275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381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 by Searching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Agents, Formulation &amp; Performance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Search? The Problem-Solving Paradigm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Many AI problems can be formulated as finding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sequence of actions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transforms an initial state into a goal state. Search is fundamental when the solution path is not immediately known.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47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 of Search Problems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984500"/>
            <a:ext cx="4699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327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66675"/>
                </a:moveTo>
                <a:cubicBezTo>
                  <a:pt x="355600" y="101540"/>
                  <a:pt x="314553" y="153561"/>
                  <a:pt x="296843" y="174327"/>
                </a:cubicBezTo>
                <a:cubicBezTo>
                  <a:pt x="294203" y="177383"/>
                  <a:pt x="290314" y="178564"/>
                  <a:pt x="286772" y="177800"/>
                </a:cubicBezTo>
                <a:lnTo>
                  <a:pt x="222250" y="177800"/>
                </a:lnTo>
                <a:cubicBezTo>
                  <a:pt x="209957" y="177800"/>
                  <a:pt x="200025" y="187732"/>
                  <a:pt x="200025" y="200025"/>
                </a:cubicBezTo>
                <a:cubicBezTo>
                  <a:pt x="200025" y="212318"/>
                  <a:pt x="209957" y="222250"/>
                  <a:pt x="222250" y="222250"/>
                </a:cubicBezTo>
                <a:lnTo>
                  <a:pt x="288925" y="222250"/>
                </a:lnTo>
                <a:cubicBezTo>
                  <a:pt x="325735" y="222250"/>
                  <a:pt x="355600" y="252115"/>
                  <a:pt x="355600" y="288925"/>
                </a:cubicBezTo>
                <a:cubicBezTo>
                  <a:pt x="355600" y="325735"/>
                  <a:pt x="325735" y="355600"/>
                  <a:pt x="288925" y="355600"/>
                </a:cubicBezTo>
                <a:lnTo>
                  <a:pt x="96957" y="355600"/>
                </a:lnTo>
                <a:cubicBezTo>
                  <a:pt x="102999" y="348724"/>
                  <a:pt x="110361" y="339904"/>
                  <a:pt x="117793" y="330041"/>
                </a:cubicBezTo>
                <a:cubicBezTo>
                  <a:pt x="122168" y="324207"/>
                  <a:pt x="126683" y="317818"/>
                  <a:pt x="130989" y="311150"/>
                </a:cubicBezTo>
                <a:lnTo>
                  <a:pt x="288925" y="311150"/>
                </a:lnTo>
                <a:cubicBezTo>
                  <a:pt x="301218" y="311150"/>
                  <a:pt x="311150" y="301218"/>
                  <a:pt x="311150" y="288925"/>
                </a:cubicBezTo>
                <a:cubicBezTo>
                  <a:pt x="311150" y="276632"/>
                  <a:pt x="301218" y="266700"/>
                  <a:pt x="288925" y="266700"/>
                </a:cubicBezTo>
                <a:lnTo>
                  <a:pt x="222250" y="266700"/>
                </a:lnTo>
                <a:cubicBezTo>
                  <a:pt x="185440" y="266700"/>
                  <a:pt x="155575" y="236835"/>
                  <a:pt x="155575" y="200025"/>
                </a:cubicBezTo>
                <a:cubicBezTo>
                  <a:pt x="155575" y="163215"/>
                  <a:pt x="185440" y="133350"/>
                  <a:pt x="222250" y="133350"/>
                </a:cubicBezTo>
                <a:lnTo>
                  <a:pt x="249892" y="133350"/>
                </a:lnTo>
                <a:cubicBezTo>
                  <a:pt x="235307" y="111472"/>
                  <a:pt x="222250" y="86330"/>
                  <a:pt x="222250" y="66675"/>
                </a:cubicBezTo>
                <a:cubicBezTo>
                  <a:pt x="222250" y="29865"/>
                  <a:pt x="252115" y="0"/>
                  <a:pt x="288925" y="0"/>
                </a:cubicBezTo>
                <a:cubicBezTo>
                  <a:pt x="325735" y="0"/>
                  <a:pt x="355600" y="29865"/>
                  <a:pt x="355600" y="66675"/>
                </a:cubicBezTo>
                <a:close/>
                <a:moveTo>
                  <a:pt x="81330" y="339695"/>
                </a:moveTo>
                <a:cubicBezTo>
                  <a:pt x="78690" y="342682"/>
                  <a:pt x="76329" y="345321"/>
                  <a:pt x="74315" y="347543"/>
                </a:cubicBezTo>
                <a:lnTo>
                  <a:pt x="73065" y="348933"/>
                </a:lnTo>
                <a:lnTo>
                  <a:pt x="72926" y="348794"/>
                </a:lnTo>
                <a:cubicBezTo>
                  <a:pt x="68759" y="351988"/>
                  <a:pt x="62786" y="351572"/>
                  <a:pt x="59035" y="347543"/>
                </a:cubicBezTo>
                <a:cubicBezTo>
                  <a:pt x="41533" y="328513"/>
                  <a:pt x="0" y="279549"/>
                  <a:pt x="0" y="244475"/>
                </a:cubicBezTo>
                <a:cubicBezTo>
                  <a:pt x="0" y="207665"/>
                  <a:pt x="29865" y="177800"/>
                  <a:pt x="66675" y="177800"/>
                </a:cubicBezTo>
                <a:cubicBezTo>
                  <a:pt x="103485" y="177800"/>
                  <a:pt x="133350" y="207665"/>
                  <a:pt x="133350" y="244475"/>
                </a:cubicBezTo>
                <a:cubicBezTo>
                  <a:pt x="133350" y="265311"/>
                  <a:pt x="118695" y="291009"/>
                  <a:pt x="103138" y="312470"/>
                </a:cubicBezTo>
                <a:cubicBezTo>
                  <a:pt x="95706" y="322679"/>
                  <a:pt x="88067" y="331916"/>
                  <a:pt x="81746" y="339209"/>
                </a:cubicBezTo>
                <a:lnTo>
                  <a:pt x="81330" y="339695"/>
                </a:lnTo>
                <a:close/>
                <a:moveTo>
                  <a:pt x="88900" y="244475"/>
                </a:moveTo>
                <a:cubicBezTo>
                  <a:pt x="88900" y="232209"/>
                  <a:pt x="78941" y="222250"/>
                  <a:pt x="66675" y="222250"/>
                </a:cubicBezTo>
                <a:cubicBezTo>
                  <a:pt x="54409" y="222250"/>
                  <a:pt x="44450" y="232209"/>
                  <a:pt x="44450" y="244475"/>
                </a:cubicBezTo>
                <a:cubicBezTo>
                  <a:pt x="44450" y="256741"/>
                  <a:pt x="54409" y="266700"/>
                  <a:pt x="66675" y="266700"/>
                </a:cubicBezTo>
                <a:cubicBezTo>
                  <a:pt x="78941" y="266700"/>
                  <a:pt x="88900" y="256741"/>
                  <a:pt x="88900" y="244475"/>
                </a:cubicBezTo>
                <a:close/>
                <a:moveTo>
                  <a:pt x="288925" y="88900"/>
                </a:moveTo>
                <a:cubicBezTo>
                  <a:pt x="301191" y="88900"/>
                  <a:pt x="311150" y="78941"/>
                  <a:pt x="311150" y="66675"/>
                </a:cubicBezTo>
                <a:cubicBezTo>
                  <a:pt x="311150" y="54409"/>
                  <a:pt x="301191" y="44450"/>
                  <a:pt x="288925" y="44450"/>
                </a:cubicBezTo>
                <a:cubicBezTo>
                  <a:pt x="276659" y="44450"/>
                  <a:pt x="266700" y="54409"/>
                  <a:pt x="266700" y="66675"/>
                </a:cubicBezTo>
                <a:cubicBezTo>
                  <a:pt x="266700" y="78941"/>
                  <a:pt x="276659" y="88900"/>
                  <a:pt x="288925" y="889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149600"/>
            <a:ext cx="36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Finding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navigation, network routing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2984500"/>
            <a:ext cx="4699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0" name="Shape 8"/>
          <p:cNvSpPr/>
          <p:nvPr/>
        </p:nvSpPr>
        <p:spPr>
          <a:xfrm>
            <a:off x="5969000" y="327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6477000" y="3149600"/>
            <a:ext cx="36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Puzzle Solving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8-puzzle, Rubik's cube, Sudoku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2984500"/>
            <a:ext cx="4826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22000" y="327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6681" y="38894"/>
                </a:moveTo>
                <a:lnTo>
                  <a:pt x="116681" y="66675"/>
                </a:lnTo>
                <a:lnTo>
                  <a:pt x="62438" y="66675"/>
                </a:lnTo>
                <a:cubicBezTo>
                  <a:pt x="52507" y="66675"/>
                  <a:pt x="44450" y="74732"/>
                  <a:pt x="44450" y="84663"/>
                </a:cubicBezTo>
                <a:cubicBezTo>
                  <a:pt x="44450" y="87441"/>
                  <a:pt x="45075" y="90220"/>
                  <a:pt x="46325" y="92720"/>
                </a:cubicBezTo>
                <a:lnTo>
                  <a:pt x="69523" y="139115"/>
                </a:lnTo>
                <a:cubicBezTo>
                  <a:pt x="61605" y="140365"/>
                  <a:pt x="55493" y="147241"/>
                  <a:pt x="55493" y="155575"/>
                </a:cubicBezTo>
                <a:cubicBezTo>
                  <a:pt x="55493" y="164812"/>
                  <a:pt x="62925" y="172244"/>
                  <a:pt x="72162" y="172244"/>
                </a:cubicBezTo>
                <a:lnTo>
                  <a:pt x="76051" y="172244"/>
                </a:lnTo>
                <a:lnTo>
                  <a:pt x="66606" y="266700"/>
                </a:lnTo>
                <a:lnTo>
                  <a:pt x="27573" y="315526"/>
                </a:lnTo>
                <a:cubicBezTo>
                  <a:pt x="24100" y="319901"/>
                  <a:pt x="22156" y="325318"/>
                  <a:pt x="22156" y="330944"/>
                </a:cubicBezTo>
                <a:cubicBezTo>
                  <a:pt x="22156" y="344557"/>
                  <a:pt x="33199" y="355600"/>
                  <a:pt x="46811" y="355600"/>
                </a:cubicBezTo>
                <a:lnTo>
                  <a:pt x="219680" y="355600"/>
                </a:lnTo>
                <a:cubicBezTo>
                  <a:pt x="233293" y="355600"/>
                  <a:pt x="244336" y="344557"/>
                  <a:pt x="244336" y="330944"/>
                </a:cubicBezTo>
                <a:cubicBezTo>
                  <a:pt x="244336" y="325318"/>
                  <a:pt x="242461" y="319901"/>
                  <a:pt x="238919" y="315526"/>
                </a:cubicBezTo>
                <a:lnTo>
                  <a:pt x="200025" y="266700"/>
                </a:lnTo>
                <a:lnTo>
                  <a:pt x="190579" y="172244"/>
                </a:lnTo>
                <a:lnTo>
                  <a:pt x="194469" y="172244"/>
                </a:lnTo>
                <a:cubicBezTo>
                  <a:pt x="203706" y="172244"/>
                  <a:pt x="211138" y="164812"/>
                  <a:pt x="211138" y="155575"/>
                </a:cubicBezTo>
                <a:cubicBezTo>
                  <a:pt x="211138" y="147310"/>
                  <a:pt x="205095" y="140365"/>
                  <a:pt x="197108" y="139115"/>
                </a:cubicBezTo>
                <a:lnTo>
                  <a:pt x="220305" y="92720"/>
                </a:lnTo>
                <a:cubicBezTo>
                  <a:pt x="221555" y="90220"/>
                  <a:pt x="222181" y="87441"/>
                  <a:pt x="222181" y="84663"/>
                </a:cubicBezTo>
                <a:cubicBezTo>
                  <a:pt x="222181" y="74732"/>
                  <a:pt x="214124" y="66675"/>
                  <a:pt x="204192" y="66675"/>
                </a:cubicBezTo>
                <a:lnTo>
                  <a:pt x="149949" y="66675"/>
                </a:lnTo>
                <a:lnTo>
                  <a:pt x="149949" y="38894"/>
                </a:lnTo>
                <a:lnTo>
                  <a:pt x="161062" y="38894"/>
                </a:lnTo>
                <a:cubicBezTo>
                  <a:pt x="170299" y="38894"/>
                  <a:pt x="177731" y="31462"/>
                  <a:pt x="177731" y="22225"/>
                </a:cubicBezTo>
                <a:cubicBezTo>
                  <a:pt x="177731" y="12988"/>
                  <a:pt x="170369" y="5556"/>
                  <a:pt x="161131" y="5556"/>
                </a:cubicBezTo>
                <a:lnTo>
                  <a:pt x="150019" y="5556"/>
                </a:lnTo>
                <a:lnTo>
                  <a:pt x="150019" y="-5556"/>
                </a:lnTo>
                <a:cubicBezTo>
                  <a:pt x="150019" y="-14794"/>
                  <a:pt x="142587" y="-22225"/>
                  <a:pt x="133350" y="-22225"/>
                </a:cubicBezTo>
                <a:cubicBezTo>
                  <a:pt x="124113" y="-22225"/>
                  <a:pt x="116681" y="-14794"/>
                  <a:pt x="116681" y="-5556"/>
                </a:cubicBezTo>
                <a:lnTo>
                  <a:pt x="116681" y="5556"/>
                </a:lnTo>
                <a:lnTo>
                  <a:pt x="105569" y="5556"/>
                </a:lnTo>
                <a:cubicBezTo>
                  <a:pt x="96331" y="5556"/>
                  <a:pt x="88900" y="12988"/>
                  <a:pt x="88900" y="22225"/>
                </a:cubicBezTo>
                <a:cubicBezTo>
                  <a:pt x="88900" y="31462"/>
                  <a:pt x="96331" y="38894"/>
                  <a:pt x="105569" y="38894"/>
                </a:cubicBezTo>
                <a:lnTo>
                  <a:pt x="116681" y="38894"/>
                </a:lnTo>
                <a:close/>
                <a:moveTo>
                  <a:pt x="226278" y="194191"/>
                </a:moveTo>
                <a:lnTo>
                  <a:pt x="232182" y="253573"/>
                </a:lnTo>
                <a:lnTo>
                  <a:pt x="265103" y="294690"/>
                </a:lnTo>
                <a:lnTo>
                  <a:pt x="268020" y="298648"/>
                </a:lnTo>
                <a:cubicBezTo>
                  <a:pt x="274409" y="308164"/>
                  <a:pt x="277813" y="319415"/>
                  <a:pt x="277813" y="330944"/>
                </a:cubicBezTo>
                <a:cubicBezTo>
                  <a:pt x="277813" y="339765"/>
                  <a:pt x="275868" y="348169"/>
                  <a:pt x="272326" y="355600"/>
                </a:cubicBezTo>
                <a:lnTo>
                  <a:pt x="330041" y="355600"/>
                </a:lnTo>
                <a:cubicBezTo>
                  <a:pt x="344140" y="355600"/>
                  <a:pt x="355600" y="344140"/>
                  <a:pt x="355600" y="330041"/>
                </a:cubicBezTo>
                <a:cubicBezTo>
                  <a:pt x="355600" y="324971"/>
                  <a:pt x="354072" y="320040"/>
                  <a:pt x="351294" y="315873"/>
                </a:cubicBezTo>
                <a:lnTo>
                  <a:pt x="333375" y="288994"/>
                </a:lnTo>
                <a:lnTo>
                  <a:pt x="333375" y="244544"/>
                </a:lnTo>
                <a:lnTo>
                  <a:pt x="342612" y="235307"/>
                </a:lnTo>
                <a:cubicBezTo>
                  <a:pt x="350947" y="226973"/>
                  <a:pt x="355600" y="215652"/>
                  <a:pt x="355600" y="203845"/>
                </a:cubicBezTo>
                <a:lnTo>
                  <a:pt x="355600" y="133350"/>
                </a:lnTo>
                <a:cubicBezTo>
                  <a:pt x="355600" y="121057"/>
                  <a:pt x="345668" y="111125"/>
                  <a:pt x="333375" y="111125"/>
                </a:cubicBezTo>
                <a:cubicBezTo>
                  <a:pt x="321082" y="111125"/>
                  <a:pt x="311150" y="121057"/>
                  <a:pt x="311150" y="133350"/>
                </a:cubicBezTo>
                <a:lnTo>
                  <a:pt x="311150" y="144463"/>
                </a:lnTo>
                <a:lnTo>
                  <a:pt x="288925" y="144463"/>
                </a:lnTo>
                <a:lnTo>
                  <a:pt x="288925" y="133350"/>
                </a:lnTo>
                <a:cubicBezTo>
                  <a:pt x="288925" y="121057"/>
                  <a:pt x="278993" y="111125"/>
                  <a:pt x="266700" y="111125"/>
                </a:cubicBezTo>
                <a:cubicBezTo>
                  <a:pt x="254407" y="111125"/>
                  <a:pt x="244475" y="121057"/>
                  <a:pt x="244475" y="133350"/>
                </a:cubicBezTo>
                <a:lnTo>
                  <a:pt x="244475" y="155575"/>
                </a:lnTo>
                <a:cubicBezTo>
                  <a:pt x="244475" y="171133"/>
                  <a:pt x="237391" y="185023"/>
                  <a:pt x="226278" y="194191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0" y="31496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Playing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Chess, Go, checkers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508500"/>
            <a:ext cx="4699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6" name="Shape 14"/>
          <p:cNvSpPr/>
          <p:nvPr/>
        </p:nvSpPr>
        <p:spPr>
          <a:xfrm>
            <a:off x="971550" y="48006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4673600"/>
            <a:ext cx="36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Robot navigation, scheduling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0" y="4508500"/>
            <a:ext cx="4699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91225" y="4800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77000" y="4673600"/>
            <a:ext cx="36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Theorem Proving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reasoning, logic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68000" y="4508500"/>
            <a:ext cx="4826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22000" y="480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72231" y="150019"/>
                </a:moveTo>
                <a:lnTo>
                  <a:pt x="72231" y="194469"/>
                </a:lnTo>
                <a:cubicBezTo>
                  <a:pt x="72231" y="203706"/>
                  <a:pt x="79663" y="211138"/>
                  <a:pt x="88900" y="211138"/>
                </a:cubicBezTo>
                <a:cubicBezTo>
                  <a:pt x="98137" y="211138"/>
                  <a:pt x="105569" y="203706"/>
                  <a:pt x="105569" y="194469"/>
                </a:cubicBezTo>
                <a:lnTo>
                  <a:pt x="105569" y="150019"/>
                </a:lnTo>
                <a:cubicBezTo>
                  <a:pt x="105569" y="140781"/>
                  <a:pt x="98137" y="133350"/>
                  <a:pt x="88900" y="133350"/>
                </a:cubicBezTo>
                <a:cubicBezTo>
                  <a:pt x="79663" y="133350"/>
                  <a:pt x="72231" y="140781"/>
                  <a:pt x="72231" y="150019"/>
                </a:cubicBezTo>
                <a:close/>
                <a:moveTo>
                  <a:pt x="127794" y="83344"/>
                </a:moveTo>
                <a:lnTo>
                  <a:pt x="127794" y="194469"/>
                </a:lnTo>
                <a:cubicBezTo>
                  <a:pt x="127794" y="203706"/>
                  <a:pt x="135225" y="211138"/>
                  <a:pt x="144463" y="211138"/>
                </a:cubicBezTo>
                <a:cubicBezTo>
                  <a:pt x="153700" y="211138"/>
                  <a:pt x="161131" y="203706"/>
                  <a:pt x="161131" y="194469"/>
                </a:cubicBezTo>
                <a:lnTo>
                  <a:pt x="161131" y="83344"/>
                </a:lnTo>
                <a:cubicBezTo>
                  <a:pt x="161131" y="74106"/>
                  <a:pt x="153700" y="66675"/>
                  <a:pt x="144463" y="66675"/>
                </a:cubicBezTo>
                <a:cubicBezTo>
                  <a:pt x="135225" y="66675"/>
                  <a:pt x="127794" y="74106"/>
                  <a:pt x="127794" y="83344"/>
                </a:cubicBezTo>
                <a:close/>
                <a:moveTo>
                  <a:pt x="183356" y="127794"/>
                </a:moveTo>
                <a:lnTo>
                  <a:pt x="183356" y="194469"/>
                </a:lnTo>
                <a:cubicBezTo>
                  <a:pt x="183356" y="203706"/>
                  <a:pt x="190788" y="211138"/>
                  <a:pt x="200025" y="211138"/>
                </a:cubicBezTo>
                <a:cubicBezTo>
                  <a:pt x="209262" y="211138"/>
                  <a:pt x="216694" y="203706"/>
                  <a:pt x="216694" y="194469"/>
                </a:cubicBezTo>
                <a:lnTo>
                  <a:pt x="216694" y="127794"/>
                </a:lnTo>
                <a:cubicBezTo>
                  <a:pt x="216694" y="118556"/>
                  <a:pt x="209262" y="111125"/>
                  <a:pt x="200025" y="111125"/>
                </a:cubicBezTo>
                <a:cubicBezTo>
                  <a:pt x="190788" y="111125"/>
                  <a:pt x="183356" y="118556"/>
                  <a:pt x="183356" y="127794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0" y="46736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allocation, VLSI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096000"/>
            <a:ext cx="14732000" cy="228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9500" y="641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177800" y="127000"/>
                </a:moveTo>
                <a:cubicBezTo>
                  <a:pt x="177800" y="112981"/>
                  <a:pt x="189181" y="101600"/>
                  <a:pt x="203200" y="101600"/>
                </a:cubicBezTo>
                <a:cubicBezTo>
                  <a:pt x="217219" y="101600"/>
                  <a:pt x="228600" y="112981"/>
                  <a:pt x="228600" y="127000"/>
                </a:cubicBezTo>
                <a:cubicBezTo>
                  <a:pt x="228600" y="141019"/>
                  <a:pt x="217219" y="152400"/>
                  <a:pt x="203200" y="152400"/>
                </a:cubicBezTo>
                <a:cubicBezTo>
                  <a:pt x="189181" y="152400"/>
                  <a:pt x="177800" y="141019"/>
                  <a:pt x="177800" y="127000"/>
                </a:cubicBezTo>
                <a:close/>
                <a:moveTo>
                  <a:pt x="171450" y="177800"/>
                </a:moveTo>
                <a:lnTo>
                  <a:pt x="209550" y="177800"/>
                </a:lnTo>
                <a:cubicBezTo>
                  <a:pt x="220107" y="177800"/>
                  <a:pt x="228600" y="186293"/>
                  <a:pt x="228600" y="196850"/>
                </a:cubicBezTo>
                <a:lnTo>
                  <a:pt x="228600" y="266700"/>
                </a:lnTo>
                <a:lnTo>
                  <a:pt x="234950" y="266700"/>
                </a:lnTo>
                <a:cubicBezTo>
                  <a:pt x="245507" y="266700"/>
                  <a:pt x="254000" y="275193"/>
                  <a:pt x="254000" y="285750"/>
                </a:cubicBezTo>
                <a:cubicBezTo>
                  <a:pt x="254000" y="296307"/>
                  <a:pt x="245507" y="304800"/>
                  <a:pt x="234950" y="304800"/>
                </a:cubicBezTo>
                <a:lnTo>
                  <a:pt x="171450" y="304800"/>
                </a:lnTo>
                <a:cubicBezTo>
                  <a:pt x="160893" y="304800"/>
                  <a:pt x="152400" y="296307"/>
                  <a:pt x="152400" y="285750"/>
                </a:cubicBezTo>
                <a:cubicBezTo>
                  <a:pt x="152400" y="275193"/>
                  <a:pt x="160893" y="266700"/>
                  <a:pt x="171450" y="266700"/>
                </a:cubicBezTo>
                <a:lnTo>
                  <a:pt x="190500" y="266700"/>
                </a:lnTo>
                <a:lnTo>
                  <a:pt x="190500" y="215900"/>
                </a:lnTo>
                <a:lnTo>
                  <a:pt x="171450" y="215900"/>
                </a:lnTo>
                <a:cubicBezTo>
                  <a:pt x="160893" y="215900"/>
                  <a:pt x="152400" y="207407"/>
                  <a:pt x="152400" y="196850"/>
                </a:cubicBezTo>
                <a:cubicBezTo>
                  <a:pt x="152400" y="186293"/>
                  <a:pt x="160893" y="177800"/>
                  <a:pt x="171450" y="1778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1651000" y="6286500"/>
            <a:ext cx="13589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systematically explores alternatives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discover a solution path. The search space may be very large, making efficiency critical.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fundamental question: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do we explore the space of possible actions to find a path from the initial state to the goal state?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Problem-Solving 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problem-solving agent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type of goal-based agent that decides what to do by finding sequences of actions that lead to desirable states.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41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Architecture — Four Steps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984500"/>
            <a:ext cx="3302000" cy="254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3111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51000" y="3175000"/>
            <a:ext cx="222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 Formulation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3683000"/>
            <a:ext cx="292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agent adopts a goal based on the current situation and its performance measure.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 do I want to achieve?"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27500" y="4064000"/>
            <a:ext cx="381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572000" y="2984500"/>
            <a:ext cx="3302000" cy="254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2" name="Text 10"/>
          <p:cNvSpPr/>
          <p:nvPr/>
        </p:nvSpPr>
        <p:spPr>
          <a:xfrm>
            <a:off x="4762500" y="3111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61000" y="3175000"/>
            <a:ext cx="222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Formulation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62500" y="3683000"/>
            <a:ext cx="292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agent decides what actions and states to consider, given the goal.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 can I do?"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37500" y="4064000"/>
            <a:ext cx="381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382000" y="2984500"/>
            <a:ext cx="3302000" cy="254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7" name="Text 15"/>
          <p:cNvSpPr/>
          <p:nvPr/>
        </p:nvSpPr>
        <p:spPr>
          <a:xfrm>
            <a:off x="8572500" y="3111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71000" y="3175000"/>
            <a:ext cx="222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72500" y="3683000"/>
            <a:ext cx="292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agent simulates sequences of actions, searching for a solution.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"How do I get there?"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747500" y="4064000"/>
            <a:ext cx="381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2192000" y="2984500"/>
            <a:ext cx="3302000" cy="254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2" name="Text 20"/>
          <p:cNvSpPr/>
          <p:nvPr/>
        </p:nvSpPr>
        <p:spPr>
          <a:xfrm>
            <a:off x="12382500" y="3111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081000" y="3175000"/>
            <a:ext cx="222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82500" y="3683000"/>
            <a:ext cx="292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agent carries out the solution found by the search process.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"Do it!"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842000"/>
            <a:ext cx="14732000" cy="2667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5905500"/>
            <a:ext cx="14732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1079500" y="615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9500" y="6540500"/>
            <a:ext cx="14097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Problem-solving agents use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atomic representations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states are treated as indivisible black boxes with no internal structure visible to the search algorithm.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agent relies on a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world to simulate actions internally before executing them in the real environment. This separates planning from acting.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Problem-Solving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175500" cy="3746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5" name="Shape 3"/>
          <p:cNvSpPr/>
          <p:nvPr/>
        </p:nvSpPr>
        <p:spPr>
          <a:xfrm>
            <a:off x="1136650" y="1841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78070" y="28575"/>
                </a:moveTo>
                <a:lnTo>
                  <a:pt x="285750" y="28575"/>
                </a:lnTo>
                <a:cubicBezTo>
                  <a:pt x="317272" y="28575"/>
                  <a:pt x="342900" y="54203"/>
                  <a:pt x="342900" y="857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64830" y="28575"/>
                </a:lnTo>
                <a:cubicBezTo>
                  <a:pt x="74652" y="11519"/>
                  <a:pt x="93137" y="0"/>
                  <a:pt x="114300" y="0"/>
                </a:cubicBezTo>
                <a:lnTo>
                  <a:pt x="228600" y="0"/>
                </a:lnTo>
                <a:cubicBezTo>
                  <a:pt x="249763" y="0"/>
                  <a:pt x="268248" y="11519"/>
                  <a:pt x="278070" y="28575"/>
                </a:cubicBezTo>
                <a:close/>
                <a:moveTo>
                  <a:pt x="221456" y="100013"/>
                </a:moveTo>
                <a:cubicBezTo>
                  <a:pt x="233333" y="100013"/>
                  <a:pt x="242888" y="90458"/>
                  <a:pt x="242888" y="78581"/>
                </a:cubicBezTo>
                <a:cubicBezTo>
                  <a:pt x="242888" y="66705"/>
                  <a:pt x="233333" y="57150"/>
                  <a:pt x="221456" y="57150"/>
                </a:cubicBezTo>
                <a:lnTo>
                  <a:pt x="121444" y="57150"/>
                </a:lnTo>
                <a:cubicBezTo>
                  <a:pt x="109567" y="57150"/>
                  <a:pt x="100013" y="66705"/>
                  <a:pt x="100013" y="78581"/>
                </a:cubicBezTo>
                <a:cubicBezTo>
                  <a:pt x="100013" y="90458"/>
                  <a:pt x="109567" y="100013"/>
                  <a:pt x="121444" y="100013"/>
                </a:cubicBezTo>
                <a:lnTo>
                  <a:pt x="221456" y="100013"/>
                </a:lnTo>
                <a:close/>
                <a:moveTo>
                  <a:pt x="114300" y="228600"/>
                </a:move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ubicBezTo>
                  <a:pt x="101496" y="257175"/>
                  <a:pt x="114300" y="244371"/>
                  <a:pt x="114300" y="228600"/>
                </a:cubicBezTo>
                <a:close/>
                <a:moveTo>
                  <a:pt x="142875" y="228600"/>
                </a:moveTo>
                <a:cubicBezTo>
                  <a:pt x="142875" y="240476"/>
                  <a:pt x="152430" y="250031"/>
                  <a:pt x="164306" y="250031"/>
                </a:cubicBezTo>
                <a:lnTo>
                  <a:pt x="264319" y="250031"/>
                </a:lnTo>
                <a:cubicBezTo>
                  <a:pt x="276195" y="250031"/>
                  <a:pt x="285750" y="240476"/>
                  <a:pt x="285750" y="228600"/>
                </a:cubicBezTo>
                <a:cubicBezTo>
                  <a:pt x="285750" y="216724"/>
                  <a:pt x="276195" y="207169"/>
                  <a:pt x="264319" y="207169"/>
                </a:cubicBezTo>
                <a:lnTo>
                  <a:pt x="164306" y="207169"/>
                </a:lnTo>
                <a:cubicBezTo>
                  <a:pt x="152430" y="207169"/>
                  <a:pt x="142875" y="216724"/>
                  <a:pt x="142875" y="228600"/>
                </a:cubicBezTo>
                <a:close/>
                <a:moveTo>
                  <a:pt x="142875" y="342900"/>
                </a:moveTo>
                <a:cubicBezTo>
                  <a:pt x="142875" y="354776"/>
                  <a:pt x="152430" y="364331"/>
                  <a:pt x="164306" y="364331"/>
                </a:cubicBezTo>
                <a:lnTo>
                  <a:pt x="264319" y="364331"/>
                </a:lnTo>
                <a:cubicBezTo>
                  <a:pt x="276195" y="364331"/>
                  <a:pt x="285750" y="354776"/>
                  <a:pt x="285750" y="342900"/>
                </a:cubicBezTo>
                <a:cubicBezTo>
                  <a:pt x="285750" y="331024"/>
                  <a:pt x="276195" y="321469"/>
                  <a:pt x="264319" y="321469"/>
                </a:cubicBezTo>
                <a:lnTo>
                  <a:pt x="164306" y="321469"/>
                </a:lnTo>
                <a:cubicBezTo>
                  <a:pt x="152430" y="321469"/>
                  <a:pt x="142875" y="331024"/>
                  <a:pt x="142875" y="342900"/>
                </a:cubicBezTo>
                <a:close/>
                <a:moveTo>
                  <a:pt x="85725" y="371475"/>
                </a:moveTo>
                <a:cubicBezTo>
                  <a:pt x="101496" y="371475"/>
                  <a:pt x="114300" y="358671"/>
                  <a:pt x="114300" y="342900"/>
                </a:cubicBezTo>
                <a:cubicBezTo>
                  <a:pt x="114300" y="327129"/>
                  <a:pt x="101496" y="314325"/>
                  <a:pt x="85725" y="314325"/>
                </a:cubicBezTo>
                <a:cubicBezTo>
                  <a:pt x="69954" y="314325"/>
                  <a:pt x="57150" y="327129"/>
                  <a:pt x="57150" y="342900"/>
                </a:cubicBezTo>
                <a:cubicBezTo>
                  <a:pt x="57150" y="358671"/>
                  <a:pt x="69954" y="371475"/>
                  <a:pt x="85725" y="3714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18415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 (Deliberative)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4765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 FIRST, ACT LATER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9210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Formulate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solution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taking any action in the real world.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Static, fully observable environments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GPS route planning — the entire route is computed before driving begins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1587500"/>
            <a:ext cx="7175500" cy="3746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0" name="Shape 8"/>
          <p:cNvSpPr/>
          <p:nvPr/>
        </p:nvSpPr>
        <p:spPr>
          <a:xfrm>
            <a:off x="86360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9271000" y="18415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(Interleaved)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24765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 AND PLAN ALTERNATELY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29210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Alternate between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computing and acting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take some action, observe, then continue planning.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Dynamic or partially observable environments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robot exploring an unknown maze — it must move to discover new information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461000"/>
            <a:ext cx="14732000" cy="292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5461000"/>
            <a:ext cx="14732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571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Choosing the Right Type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9500" y="6223000"/>
            <a:ext cx="1409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choice between offline and online problem-solving depends on: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 characteristics: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world static or dynamic? Fully or partially observable?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Cost trade-off: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computation cheaper than action, or vice versa?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Information availability: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Does the agent have complete knowledge of the problem space upfront?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Formulation — The Five Components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well-defined problem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has five components that together define the state space: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2794000" cy="304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286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28575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 State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3302000"/>
            <a:ext cx="241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starting configuration of the problem.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do we begin?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0" y="2159000"/>
            <a:ext cx="2794000" cy="3048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0" name="Shape 8"/>
          <p:cNvSpPr/>
          <p:nvPr/>
        </p:nvSpPr>
        <p:spPr>
          <a:xfrm>
            <a:off x="3810000" y="2159000"/>
            <a:ext cx="2794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000500" y="2349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00500" y="29210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00500" y="3365500"/>
            <a:ext cx="241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of possible actions. ACTIONS(s) returns actions executable in state 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can I do?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0" y="2159000"/>
            <a:ext cx="2794000" cy="3048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2159000"/>
            <a:ext cx="2794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048500" y="2349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8500" y="29210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Transition Model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8500" y="3365500"/>
            <a:ext cx="241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RESULT(s, a) returns the state reached by doing action a in state 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happens?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06000" y="2159000"/>
            <a:ext cx="2794000" cy="3048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0" name="Shape 18"/>
          <p:cNvSpPr/>
          <p:nvPr/>
        </p:nvSpPr>
        <p:spPr>
          <a:xfrm>
            <a:off x="9906000" y="2159000"/>
            <a:ext cx="2794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96500" y="2349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96500" y="29210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 Test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96500" y="3365500"/>
            <a:ext cx="241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Determines whether a given state is a goal state.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 I done?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954000" y="2159000"/>
            <a:ext cx="2540000" cy="3048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5" name="Shape 23"/>
          <p:cNvSpPr/>
          <p:nvPr/>
        </p:nvSpPr>
        <p:spPr>
          <a:xfrm>
            <a:off x="12954000" y="2159000"/>
            <a:ext cx="2540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13144500" y="2349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144500" y="2921000"/>
            <a:ext cx="215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 Cost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144500" y="3365500"/>
            <a:ext cx="215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Assigns a numeric cost to each path (sum of step costs).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does it cost?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588000"/>
            <a:ext cx="14732000" cy="2794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0" name="Text 28"/>
          <p:cNvSpPr/>
          <p:nvPr/>
        </p:nvSpPr>
        <p:spPr>
          <a:xfrm>
            <a:off x="1079500" y="577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SPACE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79500" y="6286500"/>
            <a:ext cx="14097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Together, these five components define the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space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set of all states reachable from the initial state by any sequence of actions.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sequence of actions (a path) from the initial state to a goal state. An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solution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the lowest path cost among all solutions.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The 8-Puzzle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classic sliding tile puzzle with 8 numbered tiles and one blank space on a 3×3 board.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95500"/>
          <a:ext cx="14732000" cy="4826000"/>
        </p:xfrm>
        <a:graphic>
          <a:graphicData uri="http://schemas.openxmlformats.org/drawingml/2006/table">
            <a:tbl>
              <a:tblPr/>
              <a:tblGrid>
                <a:gridCol w="3241040"/>
                <a:gridCol w="11490960"/>
              </a:tblGrid>
              <a:tr h="582667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Component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Definition for 8-Puzzle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Each state is a particular configuration of the tiles on the 3×3 board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Initial State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Any given configuration (e.g., tiles in random order)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{Up, Down, Left, Right} — moving the blank space in one of four directions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Transition Model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RESULT of moving the blank swaps it with the adjacent tile in the chosen direction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Goal Test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Check if tiles are in order: [1, 2, 3, 4, 5, 6, 7, 8, Blank]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7175500"/>
            <a:ext cx="14732000" cy="1206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7175500"/>
            <a:ext cx="63500" cy="1206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1079500" y="73025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 Cost: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step costs 1 (unweighted search).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space size: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9!/2 =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181,440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reachable states (half of 9! due to parity constraints — not all configurations are reachable from a given state).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Route Finding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 the shortest path between two cities on a map — one of the most practically important search problems.</a:t>
            </a:r>
            <a:endParaRPr lang="en-US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95500"/>
          <a:ext cx="14732000" cy="4191000"/>
        </p:xfrm>
        <a:graphic>
          <a:graphicData uri="http://schemas.openxmlformats.org/drawingml/2006/table">
            <a:tbl>
              <a:tblPr/>
              <a:tblGrid>
                <a:gridCol w="3241040"/>
                <a:gridCol w="11490960"/>
              </a:tblGrid>
              <a:tr h="587762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Component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Definition for Route Finding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0054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Each city or location on the map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54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Initial State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 starting city (e.g., Arad)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60054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Travel from the current city to a directly connected neighboring city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54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Transition Model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Moving to a connected city updates the current location to that city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60054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Goal Test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 the current city the destination? (e.g., Bucharest)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54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Path Cost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 distance (or travel time / fuel cost) between cities, summed along the path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604000"/>
            <a:ext cx="14732000" cy="177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7" name="Text 4"/>
          <p:cNvSpPr/>
          <p:nvPr/>
        </p:nvSpPr>
        <p:spPr>
          <a:xfrm>
            <a:off x="1079500" y="679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9500" y="7239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in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navigation systems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routing protocols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(OSPF, BGP),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logistics and supply chain planning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game pathfinding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robot motion planning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Space vs. Search Tree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175500" cy="393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5" name="Shape 3"/>
          <p:cNvSpPr/>
          <p:nvPr/>
        </p:nvSpPr>
        <p:spPr>
          <a:xfrm>
            <a:off x="10795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2105" y="125333"/>
                </a:moveTo>
                <a:cubicBezTo>
                  <a:pt x="360124" y="118745"/>
                  <a:pt x="381000" y="93583"/>
                  <a:pt x="381000" y="63500"/>
                </a:cubicBezTo>
                <a:cubicBezTo>
                  <a:pt x="381000" y="28416"/>
                  <a:pt x="352584" y="0"/>
                  <a:pt x="317500" y="0"/>
                </a:cubicBezTo>
                <a:cubicBezTo>
                  <a:pt x="283051" y="0"/>
                  <a:pt x="255032" y="27384"/>
                  <a:pt x="254000" y="61516"/>
                </a:cubicBezTo>
                <a:lnTo>
                  <a:pt x="108109" y="119936"/>
                </a:lnTo>
                <a:cubicBezTo>
                  <a:pt x="96599" y="108585"/>
                  <a:pt x="80883" y="101600"/>
                  <a:pt x="63500" y="101600"/>
                </a:cubicBezTo>
                <a:cubicBezTo>
                  <a:pt x="28416" y="101600"/>
                  <a:pt x="0" y="130016"/>
                  <a:pt x="0" y="165100"/>
                </a:cubicBezTo>
                <a:cubicBezTo>
                  <a:pt x="0" y="200184"/>
                  <a:pt x="28416" y="228600"/>
                  <a:pt x="63500" y="228600"/>
                </a:cubicBezTo>
                <a:cubicBezTo>
                  <a:pt x="73184" y="228600"/>
                  <a:pt x="82391" y="226457"/>
                  <a:pt x="90567" y="222567"/>
                </a:cubicBezTo>
                <a:lnTo>
                  <a:pt x="206137" y="323691"/>
                </a:lnTo>
                <a:cubicBezTo>
                  <a:pt x="204232" y="329724"/>
                  <a:pt x="203200" y="336233"/>
                  <a:pt x="203200" y="342900"/>
                </a:cubicBezTo>
                <a:cubicBezTo>
                  <a:pt x="203200" y="377984"/>
                  <a:pt x="231616" y="406400"/>
                  <a:pt x="266700" y="406400"/>
                </a:cubicBezTo>
                <a:cubicBezTo>
                  <a:pt x="301784" y="406400"/>
                  <a:pt x="330200" y="377984"/>
                  <a:pt x="330200" y="342900"/>
                </a:cubicBezTo>
                <a:cubicBezTo>
                  <a:pt x="330200" y="320913"/>
                  <a:pt x="319088" y="301546"/>
                  <a:pt x="302101" y="290195"/>
                </a:cubicBezTo>
                <a:lnTo>
                  <a:pt x="332105" y="125333"/>
                </a:lnTo>
                <a:close/>
                <a:moveTo>
                  <a:pt x="124063" y="184309"/>
                </a:moveTo>
                <a:cubicBezTo>
                  <a:pt x="125809" y="178832"/>
                  <a:pt x="126841" y="173038"/>
                  <a:pt x="127000" y="167084"/>
                </a:cubicBezTo>
                <a:lnTo>
                  <a:pt x="272891" y="108744"/>
                </a:lnTo>
                <a:cubicBezTo>
                  <a:pt x="275749" y="111522"/>
                  <a:pt x="278765" y="114062"/>
                  <a:pt x="282099" y="116284"/>
                </a:cubicBezTo>
                <a:lnTo>
                  <a:pt x="252095" y="281067"/>
                </a:lnTo>
                <a:cubicBezTo>
                  <a:pt x="247729" y="282099"/>
                  <a:pt x="243523" y="283528"/>
                  <a:pt x="239554" y="285433"/>
                </a:cubicBezTo>
                <a:lnTo>
                  <a:pt x="124063" y="184309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1841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Space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476500"/>
            <a:ext cx="660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all possible states and how they are connected by actions.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property: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state appears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exactly once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state space.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state space is defined by the problem formulation — it is a property of the problem itself, not of any particular search algorithm.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0" y="1587500"/>
            <a:ext cx="7175500" cy="3937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" name="Shape 7"/>
          <p:cNvSpPr/>
          <p:nvPr/>
        </p:nvSpPr>
        <p:spPr>
          <a:xfrm>
            <a:off x="86360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50800"/>
                </a:moveTo>
                <a:cubicBezTo>
                  <a:pt x="152400" y="36751"/>
                  <a:pt x="163751" y="25400"/>
                  <a:pt x="177800" y="25400"/>
                </a:cubicBezTo>
                <a:lnTo>
                  <a:pt x="228600" y="25400"/>
                </a:lnTo>
                <a:cubicBezTo>
                  <a:pt x="242649" y="25400"/>
                  <a:pt x="254000" y="36751"/>
                  <a:pt x="254000" y="508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222250" y="127000"/>
                </a:lnTo>
                <a:lnTo>
                  <a:pt x="222250" y="177800"/>
                </a:lnTo>
                <a:lnTo>
                  <a:pt x="317500" y="177800"/>
                </a:lnTo>
                <a:cubicBezTo>
                  <a:pt x="349091" y="177800"/>
                  <a:pt x="374650" y="203359"/>
                  <a:pt x="374650" y="234950"/>
                </a:cubicBezTo>
                <a:lnTo>
                  <a:pt x="37465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30200" y="381000"/>
                </a:lnTo>
                <a:cubicBezTo>
                  <a:pt x="316151" y="381000"/>
                  <a:pt x="304800" y="369649"/>
                  <a:pt x="304800" y="355600"/>
                </a:cubicBezTo>
                <a:lnTo>
                  <a:pt x="304800" y="304800"/>
                </a:lnTo>
                <a:cubicBezTo>
                  <a:pt x="304800" y="290751"/>
                  <a:pt x="316151" y="279400"/>
                  <a:pt x="330200" y="279400"/>
                </a:cubicBezTo>
                <a:lnTo>
                  <a:pt x="336550" y="279400"/>
                </a:lnTo>
                <a:lnTo>
                  <a:pt x="336550" y="234950"/>
                </a:lnTo>
                <a:cubicBezTo>
                  <a:pt x="336550" y="224393"/>
                  <a:pt x="328057" y="215900"/>
                  <a:pt x="317500" y="215900"/>
                </a:cubicBezTo>
                <a:lnTo>
                  <a:pt x="222250" y="215900"/>
                </a:lnTo>
                <a:lnTo>
                  <a:pt x="222250" y="279400"/>
                </a:lnTo>
                <a:lnTo>
                  <a:pt x="228600" y="279400"/>
                </a:lnTo>
                <a:cubicBezTo>
                  <a:pt x="242649" y="279400"/>
                  <a:pt x="254000" y="290751"/>
                  <a:pt x="254000" y="304800"/>
                </a:cubicBezTo>
                <a:lnTo>
                  <a:pt x="254000" y="355600"/>
                </a:lnTo>
                <a:cubicBezTo>
                  <a:pt x="254000" y="369649"/>
                  <a:pt x="242649" y="381000"/>
                  <a:pt x="228600" y="381000"/>
                </a:cubicBezTo>
                <a:lnTo>
                  <a:pt x="177800" y="381000"/>
                </a:lnTo>
                <a:cubicBezTo>
                  <a:pt x="163751" y="381000"/>
                  <a:pt x="152400" y="369649"/>
                  <a:pt x="152400" y="355600"/>
                </a:cubicBezTo>
                <a:lnTo>
                  <a:pt x="152400" y="304800"/>
                </a:lnTo>
                <a:cubicBezTo>
                  <a:pt x="152400" y="290751"/>
                  <a:pt x="163751" y="279400"/>
                  <a:pt x="177800" y="279400"/>
                </a:cubicBezTo>
                <a:lnTo>
                  <a:pt x="184150" y="279400"/>
                </a:lnTo>
                <a:lnTo>
                  <a:pt x="184150" y="215900"/>
                </a:lnTo>
                <a:lnTo>
                  <a:pt x="88900" y="215900"/>
                </a:lnTo>
                <a:cubicBezTo>
                  <a:pt x="78343" y="215900"/>
                  <a:pt x="69850" y="224393"/>
                  <a:pt x="69850" y="234950"/>
                </a:cubicBezTo>
                <a:lnTo>
                  <a:pt x="69850" y="279400"/>
                </a:lnTo>
                <a:lnTo>
                  <a:pt x="76200" y="279400"/>
                </a:lnTo>
                <a:cubicBezTo>
                  <a:pt x="90249" y="279400"/>
                  <a:pt x="101600" y="290751"/>
                  <a:pt x="101600" y="304800"/>
                </a:cubicBezTo>
                <a:lnTo>
                  <a:pt x="101600" y="355600"/>
                </a:lnTo>
                <a:cubicBezTo>
                  <a:pt x="101600" y="369649"/>
                  <a:pt x="90249" y="381000"/>
                  <a:pt x="762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04800"/>
                </a:lnTo>
                <a:cubicBezTo>
                  <a:pt x="0" y="290751"/>
                  <a:pt x="11351" y="279400"/>
                  <a:pt x="25400" y="279400"/>
                </a:cubicBezTo>
                <a:lnTo>
                  <a:pt x="31750" y="279400"/>
                </a:lnTo>
                <a:lnTo>
                  <a:pt x="31750" y="234950"/>
                </a:lnTo>
                <a:cubicBezTo>
                  <a:pt x="31750" y="203359"/>
                  <a:pt x="57309" y="177800"/>
                  <a:pt x="88900" y="177800"/>
                </a:cubicBezTo>
                <a:lnTo>
                  <a:pt x="184150" y="177800"/>
                </a:lnTo>
                <a:lnTo>
                  <a:pt x="184150" y="127000"/>
                </a:lnTo>
                <a:lnTo>
                  <a:pt x="177800" y="127000"/>
                </a:lnTo>
                <a:cubicBezTo>
                  <a:pt x="163751" y="127000"/>
                  <a:pt x="152400" y="115649"/>
                  <a:pt x="152400" y="101600"/>
                </a:cubicBezTo>
                <a:lnTo>
                  <a:pt x="152400" y="508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9207500" y="1841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Tree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2476500"/>
            <a:ext cx="660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generated by exploring the state space from the initial state.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property: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same state can appear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times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different nodes (via different paths).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= initial state. Nodes = states reached. Branches = actions taken.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842000"/>
            <a:ext cx="14732000" cy="25400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5842000"/>
            <a:ext cx="14732000" cy="6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9500" y="615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587500" y="609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B4530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Insight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9500" y="660400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search tree can be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infinite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even when the state space is finite — this happens due to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cycles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repeated states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(different paths reaching the same state).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challenge: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Efficiently exploring the state space to find a solution without getting lost in an infinitely expanding search tree.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Measuring Problem-Solving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Four key metrics for evaluating search algorithms and comparing their effectiveness: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7175500" cy="292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Shape 4"/>
          <p:cNvSpPr/>
          <p:nvPr/>
        </p:nvSpPr>
        <p:spPr>
          <a:xfrm>
            <a:off x="1130300" y="2476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98358" y="53022"/>
                </a:moveTo>
                <a:cubicBezTo>
                  <a:pt x="206613" y="41672"/>
                  <a:pt x="204073" y="25797"/>
                  <a:pt x="192723" y="17542"/>
                </a:cubicBezTo>
                <a:cubicBezTo>
                  <a:pt x="181372" y="9287"/>
                  <a:pt x="165497" y="11827"/>
                  <a:pt x="157242" y="23177"/>
                </a:cubicBezTo>
                <a:lnTo>
                  <a:pt x="73104" y="138827"/>
                </a:lnTo>
                <a:lnTo>
                  <a:pt x="43339" y="109061"/>
                </a:lnTo>
                <a:cubicBezTo>
                  <a:pt x="33417" y="99139"/>
                  <a:pt x="17304" y="99139"/>
                  <a:pt x="7382" y="109061"/>
                </a:cubicBezTo>
                <a:cubicBezTo>
                  <a:pt x="-2540" y="118983"/>
                  <a:pt x="-2540" y="135096"/>
                  <a:pt x="7382" y="145018"/>
                </a:cubicBezTo>
                <a:lnTo>
                  <a:pt x="58182" y="195818"/>
                </a:lnTo>
                <a:cubicBezTo>
                  <a:pt x="63421" y="201057"/>
                  <a:pt x="70723" y="203756"/>
                  <a:pt x="78105" y="203200"/>
                </a:cubicBezTo>
                <a:cubicBezTo>
                  <a:pt x="85487" y="202644"/>
                  <a:pt x="92313" y="198834"/>
                  <a:pt x="96679" y="192802"/>
                </a:cubicBezTo>
                <a:lnTo>
                  <a:pt x="198279" y="53102"/>
                </a:lnTo>
                <a:close/>
                <a:moveTo>
                  <a:pt x="299958" y="160973"/>
                </a:moveTo>
                <a:cubicBezTo>
                  <a:pt x="308213" y="149622"/>
                  <a:pt x="305673" y="133747"/>
                  <a:pt x="294322" y="125492"/>
                </a:cubicBezTo>
                <a:cubicBezTo>
                  <a:pt x="282972" y="117237"/>
                  <a:pt x="267097" y="119777"/>
                  <a:pt x="258842" y="131128"/>
                </a:cubicBezTo>
                <a:lnTo>
                  <a:pt x="123904" y="316627"/>
                </a:lnTo>
                <a:lnTo>
                  <a:pt x="68739" y="261461"/>
                </a:lnTo>
                <a:cubicBezTo>
                  <a:pt x="58817" y="251539"/>
                  <a:pt x="42704" y="251539"/>
                  <a:pt x="32782" y="261461"/>
                </a:cubicBezTo>
                <a:cubicBezTo>
                  <a:pt x="22860" y="271383"/>
                  <a:pt x="22860" y="287496"/>
                  <a:pt x="32782" y="297418"/>
                </a:cubicBezTo>
                <a:lnTo>
                  <a:pt x="108982" y="373618"/>
                </a:lnTo>
                <a:cubicBezTo>
                  <a:pt x="114221" y="378857"/>
                  <a:pt x="121523" y="381556"/>
                  <a:pt x="128905" y="381000"/>
                </a:cubicBezTo>
                <a:cubicBezTo>
                  <a:pt x="136287" y="380444"/>
                  <a:pt x="143113" y="376634"/>
                  <a:pt x="147479" y="370602"/>
                </a:cubicBezTo>
                <a:lnTo>
                  <a:pt x="299879" y="161052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2476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1115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the algorithm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find a solution if one exists?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complete algorithm will never fail to find a solution when the problem is solvable. This is a fundamental reliability requirement.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2222500"/>
            <a:ext cx="7175500" cy="292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0" name="Shape 8"/>
          <p:cNvSpPr/>
          <p:nvPr/>
        </p:nvSpPr>
        <p:spPr>
          <a:xfrm>
            <a:off x="86360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4538" y="0"/>
                </a:moveTo>
                <a:lnTo>
                  <a:pt x="292338" y="0"/>
                </a:lnTo>
                <a:cubicBezTo>
                  <a:pt x="313373" y="0"/>
                  <a:pt x="330518" y="17304"/>
                  <a:pt x="329724" y="38259"/>
                </a:cubicBezTo>
                <a:cubicBezTo>
                  <a:pt x="329565" y="42466"/>
                  <a:pt x="329406" y="46673"/>
                  <a:pt x="329168" y="50800"/>
                </a:cubicBezTo>
                <a:lnTo>
                  <a:pt x="368538" y="50800"/>
                </a:lnTo>
                <a:cubicBezTo>
                  <a:pt x="389255" y="50800"/>
                  <a:pt x="407511" y="67945"/>
                  <a:pt x="405924" y="90329"/>
                </a:cubicBezTo>
                <a:cubicBezTo>
                  <a:pt x="399971" y="172641"/>
                  <a:pt x="357902" y="217884"/>
                  <a:pt x="312261" y="241538"/>
                </a:cubicBezTo>
                <a:cubicBezTo>
                  <a:pt x="299720" y="248047"/>
                  <a:pt x="286941" y="252889"/>
                  <a:pt x="274796" y="256461"/>
                </a:cubicBezTo>
                <a:cubicBezTo>
                  <a:pt x="258763" y="279162"/>
                  <a:pt x="242094" y="291148"/>
                  <a:pt x="228838" y="297577"/>
                </a:cubicBezTo>
                <a:lnTo>
                  <a:pt x="228838" y="355600"/>
                </a:lnTo>
                <a:lnTo>
                  <a:pt x="279638" y="355600"/>
                </a:lnTo>
                <a:cubicBezTo>
                  <a:pt x="293688" y="355600"/>
                  <a:pt x="305038" y="366951"/>
                  <a:pt x="305038" y="381000"/>
                </a:cubicBezTo>
                <a:cubicBezTo>
                  <a:pt x="305038" y="395049"/>
                  <a:pt x="293688" y="406400"/>
                  <a:pt x="279638" y="406400"/>
                </a:cubicBezTo>
                <a:lnTo>
                  <a:pt x="127238" y="406400"/>
                </a:lnTo>
                <a:cubicBezTo>
                  <a:pt x="113189" y="406400"/>
                  <a:pt x="101838" y="395049"/>
                  <a:pt x="101838" y="381000"/>
                </a:cubicBezTo>
                <a:cubicBezTo>
                  <a:pt x="101838" y="366951"/>
                  <a:pt x="113189" y="355600"/>
                  <a:pt x="127238" y="355600"/>
                </a:cubicBezTo>
                <a:lnTo>
                  <a:pt x="178038" y="355600"/>
                </a:lnTo>
                <a:lnTo>
                  <a:pt x="178038" y="297577"/>
                </a:lnTo>
                <a:cubicBezTo>
                  <a:pt x="165338" y="291465"/>
                  <a:pt x="149543" y="280114"/>
                  <a:pt x="134144" y="259239"/>
                </a:cubicBezTo>
                <a:cubicBezTo>
                  <a:pt x="119539" y="255429"/>
                  <a:pt x="103664" y="249634"/>
                  <a:pt x="88186" y="240903"/>
                </a:cubicBezTo>
                <a:cubicBezTo>
                  <a:pt x="45244" y="216852"/>
                  <a:pt x="6509" y="171529"/>
                  <a:pt x="953" y="90170"/>
                </a:cubicBezTo>
                <a:cubicBezTo>
                  <a:pt x="-556" y="67866"/>
                  <a:pt x="17621" y="50721"/>
                  <a:pt x="38338" y="50721"/>
                </a:cubicBezTo>
                <a:lnTo>
                  <a:pt x="77708" y="50721"/>
                </a:lnTo>
                <a:cubicBezTo>
                  <a:pt x="77470" y="46593"/>
                  <a:pt x="77311" y="42466"/>
                  <a:pt x="77153" y="38179"/>
                </a:cubicBezTo>
                <a:cubicBezTo>
                  <a:pt x="76359" y="17145"/>
                  <a:pt x="93504" y="-79"/>
                  <a:pt x="114538" y="-79"/>
                </a:cubicBezTo>
                <a:close/>
                <a:moveTo>
                  <a:pt x="80566" y="88900"/>
                </a:moveTo>
                <a:lnTo>
                  <a:pt x="38973" y="88900"/>
                </a:lnTo>
                <a:cubicBezTo>
                  <a:pt x="43894" y="156131"/>
                  <a:pt x="74771" y="189786"/>
                  <a:pt x="106601" y="207645"/>
                </a:cubicBezTo>
                <a:cubicBezTo>
                  <a:pt x="95171" y="178038"/>
                  <a:pt x="85725" y="139383"/>
                  <a:pt x="80566" y="88900"/>
                </a:cubicBezTo>
                <a:close/>
                <a:moveTo>
                  <a:pt x="301625" y="203835"/>
                </a:moveTo>
                <a:cubicBezTo>
                  <a:pt x="333772" y="184944"/>
                  <a:pt x="362823" y="151368"/>
                  <a:pt x="367744" y="88900"/>
                </a:cubicBezTo>
                <a:lnTo>
                  <a:pt x="326231" y="88900"/>
                </a:lnTo>
                <a:cubicBezTo>
                  <a:pt x="321310" y="137239"/>
                  <a:pt x="312420" y="174784"/>
                  <a:pt x="301625" y="20383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9207500" y="2476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31115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the algorithm find the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(lowest-cost) solution?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optimal algorithm guarantees the best possible solution among all valid solutions, not just any solution.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397500"/>
            <a:ext cx="7175500" cy="292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95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651000" y="5651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Complexity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9500" y="62865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long does it take to find a solution?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Measured by the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 of nodes generated or expanded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during the search process. This reflects computational effort.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18500" y="5397500"/>
            <a:ext cx="7175500" cy="292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8" name="Shape 16"/>
          <p:cNvSpPr/>
          <p:nvPr/>
        </p:nvSpPr>
        <p:spPr>
          <a:xfrm>
            <a:off x="86360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107474"/>
                </a:lnTo>
                <a:cubicBezTo>
                  <a:pt x="0" y="112871"/>
                  <a:pt x="3493" y="117475"/>
                  <a:pt x="8017" y="120412"/>
                </a:cubicBezTo>
                <a:cubicBezTo>
                  <a:pt x="18494" y="127238"/>
                  <a:pt x="25400" y="138986"/>
                  <a:pt x="25400" y="152400"/>
                </a:cubicBezTo>
                <a:cubicBezTo>
                  <a:pt x="25400" y="165814"/>
                  <a:pt x="18494" y="177562"/>
                  <a:pt x="8017" y="184388"/>
                </a:cubicBezTo>
                <a:cubicBezTo>
                  <a:pt x="3493" y="187325"/>
                  <a:pt x="0" y="191929"/>
                  <a:pt x="0" y="197326"/>
                </a:cubicBezTo>
                <a:lnTo>
                  <a:pt x="0" y="241300"/>
                </a:lnTo>
                <a:lnTo>
                  <a:pt x="406400" y="241300"/>
                </a:lnTo>
                <a:lnTo>
                  <a:pt x="406400" y="197326"/>
                </a:lnTo>
                <a:cubicBezTo>
                  <a:pt x="406400" y="191929"/>
                  <a:pt x="402908" y="187325"/>
                  <a:pt x="398383" y="184388"/>
                </a:cubicBezTo>
                <a:cubicBezTo>
                  <a:pt x="387906" y="177562"/>
                  <a:pt x="381000" y="165814"/>
                  <a:pt x="381000" y="152400"/>
                </a:cubicBezTo>
                <a:cubicBezTo>
                  <a:pt x="381000" y="138986"/>
                  <a:pt x="387906" y="127238"/>
                  <a:pt x="398383" y="120412"/>
                </a:cubicBezTo>
                <a:cubicBezTo>
                  <a:pt x="402908" y="117475"/>
                  <a:pt x="406400" y="112871"/>
                  <a:pt x="406400" y="107474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406400" y="330200"/>
                </a:moveTo>
                <a:lnTo>
                  <a:pt x="406400" y="279400"/>
                </a:lnTo>
                <a:lnTo>
                  <a:pt x="0" y="279400"/>
                </a:lnTo>
                <a:lnTo>
                  <a:pt x="0" y="330200"/>
                </a:lnTo>
                <a:cubicBezTo>
                  <a:pt x="0" y="344249"/>
                  <a:pt x="11351" y="355600"/>
                  <a:pt x="25400" y="355600"/>
                </a:cubicBezTo>
                <a:lnTo>
                  <a:pt x="76200" y="355600"/>
                </a:lnTo>
                <a:lnTo>
                  <a:pt x="76200" y="336550"/>
                </a:lnTo>
                <a:cubicBezTo>
                  <a:pt x="76200" y="325993"/>
                  <a:pt x="84693" y="317500"/>
                  <a:pt x="95250" y="317500"/>
                </a:cubicBezTo>
                <a:cubicBezTo>
                  <a:pt x="105807" y="317500"/>
                  <a:pt x="114300" y="325993"/>
                  <a:pt x="114300" y="336550"/>
                </a:cubicBezTo>
                <a:lnTo>
                  <a:pt x="114300" y="355600"/>
                </a:lnTo>
                <a:lnTo>
                  <a:pt x="184150" y="355600"/>
                </a:lnTo>
                <a:lnTo>
                  <a:pt x="184150" y="336550"/>
                </a:lnTo>
                <a:cubicBezTo>
                  <a:pt x="184150" y="325993"/>
                  <a:pt x="192643" y="317500"/>
                  <a:pt x="203200" y="317500"/>
                </a:cubicBezTo>
                <a:cubicBezTo>
                  <a:pt x="213757" y="317500"/>
                  <a:pt x="222250" y="325993"/>
                  <a:pt x="222250" y="336550"/>
                </a:cubicBezTo>
                <a:lnTo>
                  <a:pt x="222250" y="355600"/>
                </a:lnTo>
                <a:lnTo>
                  <a:pt x="292100" y="355600"/>
                </a:lnTo>
                <a:lnTo>
                  <a:pt x="292100" y="336550"/>
                </a:lnTo>
                <a:cubicBezTo>
                  <a:pt x="292100" y="325993"/>
                  <a:pt x="300593" y="317500"/>
                  <a:pt x="311150" y="317500"/>
                </a:cubicBezTo>
                <a:cubicBezTo>
                  <a:pt x="321707" y="317500"/>
                  <a:pt x="330200" y="325993"/>
                  <a:pt x="330200" y="336550"/>
                </a:cubicBezTo>
                <a:lnTo>
                  <a:pt x="330200" y="355600"/>
                </a:ln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lose/>
                <a:moveTo>
                  <a:pt x="127000" y="127000"/>
                </a:moveTo>
                <a:lnTo>
                  <a:pt x="127000" y="177800"/>
                </a:lnTo>
                <a:cubicBezTo>
                  <a:pt x="127000" y="191849"/>
                  <a:pt x="115649" y="203200"/>
                  <a:pt x="101600" y="203200"/>
                </a:cubicBezTo>
                <a:cubicBezTo>
                  <a:pt x="87551" y="203200"/>
                  <a:pt x="76200" y="191849"/>
                  <a:pt x="76200" y="177800"/>
                </a:cubicBezTo>
                <a:lnTo>
                  <a:pt x="76200" y="127000"/>
                </a:lnTo>
                <a:cubicBezTo>
                  <a:pt x="76200" y="112951"/>
                  <a:pt x="87551" y="101600"/>
                  <a:pt x="101600" y="101600"/>
                </a:cubicBezTo>
                <a:cubicBezTo>
                  <a:pt x="115649" y="101600"/>
                  <a:pt x="127000" y="112951"/>
                  <a:pt x="127000" y="127000"/>
                </a:cubicBezTo>
                <a:close/>
                <a:moveTo>
                  <a:pt x="228600" y="127000"/>
                </a:moveTo>
                <a:lnTo>
                  <a:pt x="228600" y="177800"/>
                </a:lnTo>
                <a:cubicBezTo>
                  <a:pt x="228600" y="191849"/>
                  <a:pt x="217249" y="203200"/>
                  <a:pt x="203200" y="203200"/>
                </a:cubicBezTo>
                <a:cubicBezTo>
                  <a:pt x="189151" y="203200"/>
                  <a:pt x="177800" y="191849"/>
                  <a:pt x="177800" y="1778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330200" y="127000"/>
                </a:moveTo>
                <a:lnTo>
                  <a:pt x="330200" y="177800"/>
                </a:lnTo>
                <a:cubicBezTo>
                  <a:pt x="330200" y="191849"/>
                  <a:pt x="318849" y="203200"/>
                  <a:pt x="304800" y="203200"/>
                </a:cubicBezTo>
                <a:cubicBezTo>
                  <a:pt x="290751" y="203200"/>
                  <a:pt x="279400" y="191849"/>
                  <a:pt x="279400" y="177800"/>
                </a:cubicBezTo>
                <a:lnTo>
                  <a:pt x="279400" y="127000"/>
                </a:lnTo>
                <a:cubicBezTo>
                  <a:pt x="279400" y="112951"/>
                  <a:pt x="290751" y="101600"/>
                  <a:pt x="304800" y="101600"/>
                </a:cubicBezTo>
                <a:cubicBezTo>
                  <a:pt x="318849" y="101600"/>
                  <a:pt x="330200" y="112951"/>
                  <a:pt x="330200" y="1270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9207500" y="5651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Space Complexity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62865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much memory is needed?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Measured by the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number of nodes stored in memory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any point during the search. Often the limiting factor.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&amp; Space Complexity in Search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Parameters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4699000" cy="127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286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41500" y="2286000"/>
            <a:ext cx="342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Branching factor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maximum number of successors of any node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2159000"/>
            <a:ext cx="4699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" name="Text 7"/>
          <p:cNvSpPr/>
          <p:nvPr/>
        </p:nvSpPr>
        <p:spPr>
          <a:xfrm>
            <a:off x="5905500" y="2286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94500" y="2286000"/>
            <a:ext cx="342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Depth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shallowest goal node — the optimal solution length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668000" y="2159000"/>
            <a:ext cx="4826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2" name="Text 10"/>
          <p:cNvSpPr/>
          <p:nvPr/>
        </p:nvSpPr>
        <p:spPr>
          <a:xfrm>
            <a:off x="10858500" y="2286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47500" y="2286000"/>
            <a:ext cx="355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depth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state space (may be infinite)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810000"/>
            <a:ext cx="14732000" cy="254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3810000"/>
            <a:ext cx="14732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406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Complexity Analysis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9500" y="457200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 complexity: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Often expressed as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O(b</a:t>
            </a:r>
            <a:pPr>
              <a:lnSpc>
                <a:spcPct val="160000"/>
              </a:lnSpc>
            </a:pPr>
            <a:r>
              <a:rPr lang="en-US" sz="2000" b="1" baseline="30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number of nodes expanded in the worst case. For uninformed search, this is typically exponential in the depth of the solution.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Space complexity: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Also typically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O(b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baseline="300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maximum number of nodes that must be stored in memory (frontier size).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6604000"/>
            <a:ext cx="14732000" cy="19050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6667500"/>
            <a:ext cx="63500" cy="1651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9500" y="717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587500" y="6858000"/>
            <a:ext cx="1358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Combinatorial Explosion: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exponential complexities mean that uninformed search is practical only for small to moderate problem sizes. With b=10 and d=10, we could have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billion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nodes — far too many to explore exhaustively. This is why informed search strategies are essential.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Completeness &amp; Optimality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175500" cy="3492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5" name="Shape 3"/>
          <p:cNvSpPr/>
          <p:nvPr/>
        </p:nvSpPr>
        <p:spPr>
          <a:xfrm>
            <a:off x="10795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1841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4765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algorithm will always find a solution when one exists.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the state space is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finite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we avoid repeated states, most systematic search algorithms are complete.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the state space is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infinite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completeness depends on the search strategy.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0" y="1587500"/>
            <a:ext cx="7175500" cy="3492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" name="Shape 7"/>
          <p:cNvSpPr/>
          <p:nvPr/>
        </p:nvSpPr>
        <p:spPr>
          <a:xfrm>
            <a:off x="8610600" y="1841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9207500" y="1841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24765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algorithm finds the lowest-cost solution.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Uninformed search algorithms vary: some guarantee optimality, others do not.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choice depends on whether lowest cost is required or any solution suffices.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270500"/>
            <a:ext cx="14732000" cy="3238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5080000"/>
            <a:ext cx="14732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533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Relationship &amp; Trade-offs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6032500"/>
            <a:ext cx="14097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optimal algorithms that find a solution are complete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(for solvable instances), but not all complete algorithms are optimal.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Trade-offs to consider: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More optimal algorithms often require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more time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more space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Completeness is usually the minimum requirement; optimality is added when solution quality matters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In practice, we often settle for </a:t>
            </a:r>
            <a:pPr>
              <a:lnSpc>
                <a:spcPct val="160000"/>
              </a:lnSpc>
            </a:pPr>
            <a:r>
              <a:rPr lang="en-US" sz="18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"good enough"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solutions when optimal ones are too expensive to find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Uninformed Search Strategies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Uninformed (blind) search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strategies have no additional information about states beyond the problem definition.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95500"/>
          <a:ext cx="14732000" cy="5969000"/>
        </p:xfrm>
        <a:graphic>
          <a:graphicData uri="http://schemas.openxmlformats.org/drawingml/2006/table">
            <a:tbl>
              <a:tblPr/>
              <a:tblGrid>
                <a:gridCol w="3683000"/>
                <a:gridCol w="5892800"/>
                <a:gridCol w="5156200"/>
              </a:tblGrid>
              <a:tr h="593114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Strategy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Characteristic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89598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Breadth-First (BFS)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Explores all nodes at current depth before moving deeper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Complete, optimal for uniform costs; high space O(bd)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598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Uniform-Cost (UCS)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Expands the node with the lowest path cost first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 and optimal; explores by cost, not depth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89598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Depth-First (DFS)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Explores as deeply as possible before backtracking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complete (infinite spaces), not optimal; low space O(bm)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598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Depth-Limited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DFS with a predetermined depth cutoff 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Incomplete if l &lt; d; avoids infinite paths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89598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Iterative Deepening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Repeated depth-limited search with increasing limits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Complete, optimal; combines BFS completeness + DFS space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598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Bidirectional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Simultaneous search from initial state and goal state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Very efficient O(bd/2); requires knowing the goal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7 —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175500" cy="673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77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500" y="2133600"/>
            <a:ext cx="6540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First-Order Logic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9500" y="2667000"/>
            <a:ext cx="762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2921000"/>
            <a:ext cx="65405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Sentences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basic units: predicate + terms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Sentences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combine atomics with connectives (¬, ∧, ∨, ⇒, ⇔)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Universal Quantifier (∀)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Claims hold for ALL objects. Standard form: ∀x P(x) ⇒ Q(x)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Existential Quantifier (∃)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Claims hold for SOME objects. Standard form: ∃x P(x) ∧ Q(x)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Quantifier Negation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Morgan's laws: ¬∀x P(x) ≡ ∃x ¬P(x)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matters when mixing ∀ and 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1587500"/>
            <a:ext cx="7175500" cy="673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177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2133600"/>
            <a:ext cx="6540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 by Searching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36000" y="2667000"/>
            <a:ext cx="762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2921000"/>
            <a:ext cx="65405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Problem-Solving Agents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action sequences to reach goals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Components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state, actions, transition model, goal test, path cost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Completeness, optimality, time complexity, space complexity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Uninformed Search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BFS, DFS, UCS, depth-limited, iterative deepening, bidirectional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Challenge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Combinatorial explosion — O(b</a:t>
            </a:r>
            <a:pPr>
              <a:lnSpc>
                <a:spcPct val="170000"/>
              </a:lnSpc>
            </a:pPr>
            <a:r>
              <a:rPr lang="en-US" sz="1600" baseline="300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complexity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wyzztur6zyic/mnt/agents/output/ai-week7/images/5_Abstract_representation_of_artificial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2E38">
                  <a:alpha val="0"/>
                </a:srgbClr>
              </a:gs>
              <a:gs pos="35000">
                <a:srgbClr val="0A2E38">
                  <a:alpha val="50000"/>
                </a:srgbClr>
              </a:gs>
              <a:gs pos="100000">
                <a:srgbClr val="0A2E3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304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048000" y="3556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12000" y="4635500"/>
            <a:ext cx="203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3683000" y="4953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7 — First-Order Logic &amp; Problem Solving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Week 7</dc:title>
  <dc:subject>Artificial Intelligence - Week 7</dc:subject>
  <dc:creator>Kimi</dc:creator>
  <cp:lastModifiedBy>Kimi</cp:lastModifiedBy>
  <cp:revision>1</cp:revision>
  <dcterms:created xsi:type="dcterms:W3CDTF">2026-05-25T21:05:18Z</dcterms:created>
  <dcterms:modified xsi:type="dcterms:W3CDTF">2026-05-25T21:05:18Z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- Week 7","ContentProducer":"001191110108MACG2KBH8F10000","ProduceID":"19e60c9f-1f02-8ada-8000-0000e2ebf562","ReservedCode1":"","ContentPropagator":"001191110108MACG2KBH8F20000","PropagateID":"19e60c9f-1f02-8ada-8000-0000e2ebf562","ReservedCode2":""}</vt:lpwstr>
  </property>
</Properties>
</file>