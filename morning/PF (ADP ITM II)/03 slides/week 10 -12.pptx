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Liter" charset="-122" pitchFamily="34"/>
      <p:regular r:id="rId18"/>
    </p:embeddedFon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200" kern="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FUNDAMENTALS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223000" y="3810000"/>
            <a:ext cx="381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127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Loops and Files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83000" y="4953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AFA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Mastering Repetition and Data Storage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13650" y="5969000"/>
            <a:ext cx="1028700" cy="914400"/>
          </a:xfrm>
          <a:custGeom>
            <a:avLst/>
            <a:gdLst/>
            <a:ahLst/>
            <a:cxnLst/>
            <a:rect l="l" t="t" r="r" b="b"/>
            <a:pathLst>
              <a:path w="1028700" h="914400">
                <a:moveTo>
                  <a:pt x="644366" y="2143"/>
                </a:moveTo>
                <a:cubicBezTo>
                  <a:pt x="614005" y="-6608"/>
                  <a:pt x="582394" y="11073"/>
                  <a:pt x="573643" y="41434"/>
                </a:cubicBezTo>
                <a:lnTo>
                  <a:pt x="345043" y="841534"/>
                </a:lnTo>
                <a:cubicBezTo>
                  <a:pt x="336292" y="871895"/>
                  <a:pt x="353973" y="903506"/>
                  <a:pt x="384334" y="912257"/>
                </a:cubicBezTo>
                <a:cubicBezTo>
                  <a:pt x="414695" y="921008"/>
                  <a:pt x="446306" y="903327"/>
                  <a:pt x="455057" y="872966"/>
                </a:cubicBezTo>
                <a:lnTo>
                  <a:pt x="683657" y="72866"/>
                </a:lnTo>
                <a:cubicBezTo>
                  <a:pt x="692408" y="42505"/>
                  <a:pt x="674727" y="10894"/>
                  <a:pt x="644366" y="2143"/>
                </a:cubicBezTo>
                <a:close/>
                <a:moveTo>
                  <a:pt x="759738" y="245209"/>
                </a:moveTo>
                <a:cubicBezTo>
                  <a:pt x="737414" y="267533"/>
                  <a:pt x="737414" y="303788"/>
                  <a:pt x="759738" y="326112"/>
                </a:cubicBezTo>
                <a:lnTo>
                  <a:pt x="890826" y="457200"/>
                </a:lnTo>
                <a:lnTo>
                  <a:pt x="759738" y="588288"/>
                </a:lnTo>
                <a:cubicBezTo>
                  <a:pt x="737414" y="610612"/>
                  <a:pt x="737414" y="646867"/>
                  <a:pt x="759738" y="669191"/>
                </a:cubicBezTo>
                <a:cubicBezTo>
                  <a:pt x="782062" y="691515"/>
                  <a:pt x="818317" y="691515"/>
                  <a:pt x="840641" y="669191"/>
                </a:cubicBezTo>
                <a:lnTo>
                  <a:pt x="1012091" y="497741"/>
                </a:lnTo>
                <a:cubicBezTo>
                  <a:pt x="1034415" y="475417"/>
                  <a:pt x="1034415" y="439162"/>
                  <a:pt x="1012091" y="416838"/>
                </a:cubicBezTo>
                <a:lnTo>
                  <a:pt x="840641" y="245388"/>
                </a:lnTo>
                <a:cubicBezTo>
                  <a:pt x="818317" y="223064"/>
                  <a:pt x="782062" y="223064"/>
                  <a:pt x="759738" y="245388"/>
                </a:cubicBezTo>
                <a:close/>
                <a:moveTo>
                  <a:pt x="269141" y="245209"/>
                </a:moveTo>
                <a:cubicBezTo>
                  <a:pt x="246817" y="222885"/>
                  <a:pt x="210562" y="222885"/>
                  <a:pt x="188238" y="245209"/>
                </a:cubicBezTo>
                <a:lnTo>
                  <a:pt x="16788" y="416659"/>
                </a:lnTo>
                <a:cubicBezTo>
                  <a:pt x="-5536" y="438983"/>
                  <a:pt x="-5536" y="475238"/>
                  <a:pt x="16788" y="497562"/>
                </a:cubicBezTo>
                <a:lnTo>
                  <a:pt x="188238" y="669012"/>
                </a:lnTo>
                <a:cubicBezTo>
                  <a:pt x="210562" y="691336"/>
                  <a:pt x="246817" y="691336"/>
                  <a:pt x="269141" y="669012"/>
                </a:cubicBezTo>
                <a:cubicBezTo>
                  <a:pt x="291465" y="646688"/>
                  <a:pt x="291465" y="610433"/>
                  <a:pt x="269141" y="588109"/>
                </a:cubicBezTo>
                <a:lnTo>
                  <a:pt x="138053" y="457200"/>
                </a:lnTo>
                <a:lnTo>
                  <a:pt x="268962" y="326112"/>
                </a:lnTo>
                <a:cubicBezTo>
                  <a:pt x="291286" y="303788"/>
                  <a:pt x="291286" y="267533"/>
                  <a:pt x="268962" y="245209"/>
                </a:cubicBezTo>
                <a:close/>
              </a:path>
            </a:pathLst>
          </a:custGeom>
          <a:solidFill>
            <a:srgbClr val="D97706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2225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 &amp; Decrement Operators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17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3175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while Loop &amp; Input Validation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8735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127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41275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Counters &amp; The do-while Loop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08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080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for Loop &amp; Running Totals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7785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000" y="2222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Sentinels &amp; Choosing the Right 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29210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317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8000" y="317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Loops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8735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4127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8000" y="4127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Handling &amp; Loop Control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8260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9306" y="43220"/>
                </a:moveTo>
                <a:cubicBezTo>
                  <a:pt x="172283" y="52268"/>
                  <a:pt x="175379" y="70128"/>
                  <a:pt x="166330" y="82987"/>
                </a:cubicBezTo>
                <a:lnTo>
                  <a:pt x="99655" y="178237"/>
                </a:lnTo>
                <a:cubicBezTo>
                  <a:pt x="94774" y="185142"/>
                  <a:pt x="87154" y="189548"/>
                  <a:pt x="78700" y="190262"/>
                </a:cubicBezTo>
                <a:cubicBezTo>
                  <a:pt x="70247" y="190976"/>
                  <a:pt x="61912" y="188119"/>
                  <a:pt x="55959" y="182166"/>
                </a:cubicBezTo>
                <a:lnTo>
                  <a:pt x="8334" y="134541"/>
                </a:lnTo>
                <a:cubicBezTo>
                  <a:pt x="-2738" y="123349"/>
                  <a:pt x="-2738" y="105251"/>
                  <a:pt x="8334" y="94059"/>
                </a:cubicBezTo>
                <a:cubicBezTo>
                  <a:pt x="19407" y="82867"/>
                  <a:pt x="37624" y="82987"/>
                  <a:pt x="48816" y="94059"/>
                </a:cubicBezTo>
                <a:lnTo>
                  <a:pt x="72390" y="117634"/>
                </a:lnTo>
                <a:lnTo>
                  <a:pt x="119539" y="50244"/>
                </a:lnTo>
                <a:cubicBezTo>
                  <a:pt x="128588" y="37267"/>
                  <a:pt x="146447" y="34171"/>
                  <a:pt x="159306" y="43220"/>
                </a:cubicBezTo>
                <a:close/>
                <a:moveTo>
                  <a:pt x="159306" y="233720"/>
                </a:moveTo>
                <a:cubicBezTo>
                  <a:pt x="172283" y="242768"/>
                  <a:pt x="175379" y="260628"/>
                  <a:pt x="166330" y="273487"/>
                </a:cubicBezTo>
                <a:lnTo>
                  <a:pt x="99655" y="368737"/>
                </a:lnTo>
                <a:cubicBezTo>
                  <a:pt x="94774" y="375642"/>
                  <a:pt x="87154" y="380048"/>
                  <a:pt x="78700" y="380762"/>
                </a:cubicBezTo>
                <a:cubicBezTo>
                  <a:pt x="70247" y="381476"/>
                  <a:pt x="61912" y="378619"/>
                  <a:pt x="55959" y="372666"/>
                </a:cubicBezTo>
                <a:lnTo>
                  <a:pt x="8334" y="325041"/>
                </a:lnTo>
                <a:cubicBezTo>
                  <a:pt x="-2858" y="313849"/>
                  <a:pt x="-2858" y="295751"/>
                  <a:pt x="8334" y="284678"/>
                </a:cubicBezTo>
                <a:cubicBezTo>
                  <a:pt x="19526" y="273606"/>
                  <a:pt x="37624" y="273487"/>
                  <a:pt x="48697" y="284678"/>
                </a:cubicBezTo>
                <a:lnTo>
                  <a:pt x="72271" y="308253"/>
                </a:lnTo>
                <a:lnTo>
                  <a:pt x="119420" y="240863"/>
                </a:lnTo>
                <a:cubicBezTo>
                  <a:pt x="128468" y="227886"/>
                  <a:pt x="146328" y="224790"/>
                  <a:pt x="159187" y="233839"/>
                </a:cubicBezTo>
                <a:close/>
                <a:moveTo>
                  <a:pt x="266700" y="114300"/>
                </a:moveTo>
                <a:cubicBezTo>
                  <a:pt x="266700" y="93226"/>
                  <a:pt x="283726" y="76200"/>
                  <a:pt x="304800" y="76200"/>
                </a:cubicBez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304800" y="152400"/>
                </a:lnTo>
                <a:cubicBezTo>
                  <a:pt x="283726" y="152400"/>
                  <a:pt x="266700" y="135374"/>
                  <a:pt x="266700" y="114300"/>
                </a:cubicBezTo>
                <a:close/>
                <a:moveTo>
                  <a:pt x="266700" y="304800"/>
                </a:moveTo>
                <a:cubicBezTo>
                  <a:pt x="266700" y="283726"/>
                  <a:pt x="283726" y="266700"/>
                  <a:pt x="3048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304800" y="342900"/>
                </a:lnTo>
                <a:cubicBezTo>
                  <a:pt x="283726" y="342900"/>
                  <a:pt x="266700" y="325874"/>
                  <a:pt x="266700" y="304800"/>
                </a:cubicBezTo>
                <a:close/>
                <a:moveTo>
                  <a:pt x="190500" y="495300"/>
                </a:moveTo>
                <a:cubicBezTo>
                  <a:pt x="190500" y="474226"/>
                  <a:pt x="207526" y="457200"/>
                  <a:pt x="228600" y="457200"/>
                </a:cubicBez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28600" y="533400"/>
                </a:lnTo>
                <a:cubicBezTo>
                  <a:pt x="207526" y="533400"/>
                  <a:pt x="190500" y="516374"/>
                  <a:pt x="190500" y="495300"/>
                </a:cubicBezTo>
                <a:close/>
                <a:moveTo>
                  <a:pt x="76200" y="447675"/>
                </a:moveTo>
                <a:cubicBezTo>
                  <a:pt x="102485" y="447675"/>
                  <a:pt x="123825" y="469015"/>
                  <a:pt x="123825" y="495300"/>
                </a:cubicBezTo>
                <a:cubicBezTo>
                  <a:pt x="123825" y="521585"/>
                  <a:pt x="102485" y="542925"/>
                  <a:pt x="76200" y="542925"/>
                </a:cubicBezTo>
                <a:cubicBezTo>
                  <a:pt x="49915" y="542925"/>
                  <a:pt x="28575" y="521585"/>
                  <a:pt x="28575" y="495300"/>
                </a:cubicBezTo>
                <a:cubicBezTo>
                  <a:pt x="28575" y="469015"/>
                  <a:pt x="49915" y="447675"/>
                  <a:pt x="76200" y="447675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 and Decrement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60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Unary operators that add 1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++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or subtract 1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from a variable.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Forms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323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3200400"/>
            <a:ext cx="2857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Prefix (++x)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3581400"/>
            <a:ext cx="285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 first, then use the new value in the expression.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4500" y="3111500"/>
            <a:ext cx="336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5000" y="32004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Postfix (x++)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0" y="35814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current value first, then increment after the expression.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6925" y="4762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724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moving one step on a number line.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2705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 use: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Updating loop counters (e.g.,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i++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for loops)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1397000"/>
            <a:ext cx="7366000" cy="4572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152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1905000"/>
            <a:ext cx="6858000" cy="373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Prefix vs Postfix Example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5, b = 5;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++a;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a=6, x=6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= b++;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y=5, b=6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"a="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 &lt;&lt; endl;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"b="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b &lt;&lt; endl;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"x="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x &lt;&lt; endl;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"y="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y &lt;&lt; endl;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5664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6096000"/>
            <a:ext cx="7366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2000" y="6223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a=6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b=6 x=6 y=5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while Loop &amp; Input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60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pre-test loop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repeats code while a condition remains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84500"/>
            <a:ext cx="6858000" cy="13335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48000"/>
            <a:ext cx="635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statements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8514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 is checked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iteration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false initially, the body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executes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must update the loop variable to avoid infinite loops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6925" y="6350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3119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Waiting at a red traffic light.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397000"/>
            <a:ext cx="7366000" cy="54864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VALIDATION EXAMPLE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1905000"/>
            <a:ext cx="6858000" cy="497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Validate positive number input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number;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a positive number: "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number;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(number &lt;= 0) {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"Invalid! Try again: "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number;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entered: "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number &lt;&lt; endl;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692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483600" y="68834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Pitfall: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Forgetting to update the loop variable causes an infinite loop!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Counters &amp; The do-while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034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increments by a fixed value to count events or iterations. Essential for tracking loop progress.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69240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559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 =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Increment counter by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6858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do-while Loop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22910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" y="4292600"/>
            <a:ext cx="6477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post-test loop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executes the body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checks the condition.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2705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statements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(condition);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604000"/>
            <a:ext cx="685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body always executes at least once, unlike the while loop.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6925" y="7493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74549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restaurant menu — see it first, then decide.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371600"/>
            <a:ext cx="7366000" cy="6096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SYSTEM EXAMPLE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1879600"/>
            <a:ext cx="6858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choice;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"\n1. Start Game"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"\n2. Settings"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"\n3. Exit"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"\nChoice: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choice;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(choice)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1: startGame();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2: settings();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(choice != 3);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for Loop &amp; Keeping a Running Total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60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count-controlled loop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initialization, condition, and update in one line.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464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099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(init; condition; update)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body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81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Parts Explained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254500"/>
            <a:ext cx="38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6500" y="42545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once before the loop starts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673600"/>
            <a:ext cx="38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6500" y="46736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Checked before each iteration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0927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6500" y="50927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Runs after each iteration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1341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accumulator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each new value. Pattern: initialize to 0, then add inside the loop.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925" y="7048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010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savings account growing with each deposit.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1397000"/>
            <a:ext cx="7366000" cy="6096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 1 TO N EXAMPLE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1905000"/>
            <a:ext cx="6858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Calculate sum of 1 to 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N, total =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N: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N;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1; i &lt;= N; i++)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+= i;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Running total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i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+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"=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total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 for N=5: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 + 2 + 3 + 4 + 5 + = 15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Sentinels &amp; Choosing the Right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8890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60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sentinel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special value that signals the end of data input. Used when input count is unknown.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be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any valid data value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values: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-1, 999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any value outside valid range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 the user what the sentinel value is!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089400"/>
            <a:ext cx="6858000" cy="16764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165600"/>
            <a:ext cx="63500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score, total =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 =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score (-1 to stop):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score;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Loop to Use?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350000"/>
          <a:ext cx="6858000" cy="1968500"/>
        </p:xfrm>
        <a:graphic>
          <a:graphicData uri="http://schemas.openxmlformats.org/drawingml/2006/table">
            <a:tbl>
              <a:tblPr/>
              <a:tblGrid>
                <a:gridCol w="2057400"/>
                <a:gridCol w="48006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Loop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to 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Known number of iterations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Condition-driven, may run zero times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do-while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 execute at least once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128000" y="1397000"/>
            <a:ext cx="7366000" cy="6096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3" name="Text 10"/>
          <p:cNvSpPr/>
          <p:nvPr/>
        </p:nvSpPr>
        <p:spPr>
          <a:xfrm>
            <a:off x="838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SENTINEL LOOP EXAMPLE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1905000"/>
            <a:ext cx="6858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(score != -1)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+= score;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score: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score;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Calculate and display average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(count &gt; 0)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= total / count;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"Average: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avg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Loops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6858000" cy="762000"/>
          </a:xfrm>
          <a:prstGeom prst="roundRect">
            <a:avLst>
              <a:gd name="adj" fmla="val 8000"/>
            </a:avLst>
          </a:prstGeom>
          <a:solidFill>
            <a:srgbClr val="D97706">
              <a:alpha val="8235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460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loop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loop inside another loop's body.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8575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loop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completes all iterations for each single iteration of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outer loop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iterations = outer × inner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different variable names: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i, j, 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50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953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Printing patterns (triangles, rectangles)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multi-dimensional data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Multiplication tables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Sorting algorithms (bubble, selection)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6925" y="67310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66929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clock — minutes cycle (inner) for each hour (outer).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21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" y="7175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Nested loops grow exponentially — be mindful of time complexity!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1397000"/>
            <a:ext cx="7366000" cy="6096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MULTIPLICATION 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1905000"/>
            <a:ext cx="6858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 5x5 multiplication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 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 = 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= 1; i &lt;= SIZE; i++)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 = 1; j &lt;= SIZE; j++)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i*j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"\t"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endl;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 2 3 4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 4 6 8 10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 6 9 12 15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...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Files for Data Storage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Files?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034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beyond program execution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datasets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efficiently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reporting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20955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556000"/>
            <a:ext cx="209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Open File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84500" y="3810000"/>
            <a:ext cx="3175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429000" y="3556000"/>
            <a:ext cx="20955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556000"/>
            <a:ext cx="209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Read/Write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51500" y="3810000"/>
            <a:ext cx="3175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096000" y="3556000"/>
            <a:ext cx="20955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556000"/>
            <a:ext cx="1968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Close File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508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EOF Pattern: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(file &gt;&gt; value)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reads until end-of-file automatically.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9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359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6A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check if file opened successfully.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1397000"/>
            <a:ext cx="7366000" cy="6477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FILE &amp; AVERAGE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Read numbers and calculate average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ifstream inFile(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"scores.txt"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(!inFile)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"Error!"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num, total = 0;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 = 0;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(inFile &gt;&gt; num)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+= num;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inFile.close();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"Avg: "</a:t>
            </a:r>
            <a:pPr>
              <a:lnSpc>
                <a:spcPct val="135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total/count;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and Continuing a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6858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9304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exits the entire loop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regardless of the condition. Use when target is found.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705100"/>
            <a:ext cx="6350000" cy="2057400"/>
          </a:xfrm>
          <a:prstGeom prst="roundRect">
            <a:avLst>
              <a:gd name="adj" fmla="val 6000"/>
            </a:avLst>
          </a:prstGeom>
          <a:solidFill>
            <a:srgbClr val="F5F5F4"/>
          </a:solidFill>
          <a:ln/>
        </p:spPr>
      </p:sp>
      <p:sp>
        <p:nvSpPr>
          <p:cNvPr id="9" name="Text 7"/>
          <p:cNvSpPr/>
          <p:nvPr/>
        </p:nvSpPr>
        <p:spPr>
          <a:xfrm>
            <a:off x="1206500" y="2794000"/>
            <a:ext cx="5969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i=0; i&lt;10; i++)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(arr[i] == target)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 = i;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Exit immediately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6858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520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6388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Skips the rest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current iteration and jumps to the next one. Use to skip invalid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6451600"/>
            <a:ext cx="6350000" cy="2057400"/>
          </a:xfrm>
          <a:prstGeom prst="roundRect">
            <a:avLst>
              <a:gd name="adj" fmla="val 6000"/>
            </a:avLst>
          </a:prstGeom>
          <a:solidFill>
            <a:srgbClr val="F5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206500" y="6540500"/>
            <a:ext cx="5969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i=0; i&lt;10; i++)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(arr[i] &lt; 0)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Skip negatives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+= arr[i];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76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" y="8724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Caution: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sparingly — well-structured conditions are usually cleaner.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1397000"/>
          <a:ext cx="7366000" cy="3048000"/>
        </p:xfrm>
        <a:graphic>
          <a:graphicData uri="http://schemas.openxmlformats.org/drawingml/2006/table">
            <a:tbl>
              <a:tblPr/>
              <a:tblGrid>
                <a:gridCol w="2209800"/>
                <a:gridCol w="2578100"/>
                <a:gridCol w="25781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break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Exits entire loop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Skips to next iteration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Found target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Skip invalid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91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Loop Ends?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4530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162925" y="4635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8509000" y="45974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leaving the gym early;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skipping one exercise but finishing the workout.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10&lt;/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200" kern="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23000" y="1524000"/>
            <a:ext cx="381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1968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Loops enable repetition: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(pre-test),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do-while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(post-test),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(count-controlled)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2730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loop: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known iterations,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condition-driven,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do-while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at least once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3492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Counters count events; accumulators build running totals; sentinels signal end of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4254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Nested loops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 multi-dimensional problems (outer iterations × inner iterations)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5016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store data permanently: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→ read/write → close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57785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exits the loop;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skips to next iteration — use both wisely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6794500"/>
            <a:ext cx="5080000" cy="12700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711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i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power of programming lies in making the computer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7620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i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the repetitive work for you."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Fundamentals: Loops and Files</dc:title>
  <dc:subject>Programming Fundamentals: Loops and Files</dc:subject>
  <dc:creator>Kimi</dc:creator>
  <cp:lastModifiedBy>Kimi</cp:lastModifiedBy>
  <cp:revision>1</cp:revision>
  <dcterms:created xsi:type="dcterms:W3CDTF">2026-05-27T22:34:47Z</dcterms:created>
  <dcterms:modified xsi:type="dcterms:W3CDTF">2026-05-27T22:34:47Z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{"Label":"Programming Fundamentals: Loops and Files","ContentProducer":"001191110108MACG2KBH8F10000","ProduceID":"19e6b905-33d2-869a-8000-00006d41b55e","ReservedCode1":"","ContentPropagator":"001191110108MACG2KBH8F20000","PropagateID":"19e6b905-33d2-869a-8000-00006d41b55e","ReservedCode2":""}</vt:lpwstr>
  </property>
</Properties>
</file>