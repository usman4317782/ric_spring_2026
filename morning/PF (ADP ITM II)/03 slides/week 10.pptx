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 Programming Fundamentals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1778000" y="4191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Increment/Decrement Operators, while Loops, Input Validation &amp; Counters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080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53000" y="546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Essentials Series · Learn by Doing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609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Will Cover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476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98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Increment &amp; Decrement Operators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683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619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683000"/>
            <a:ext cx="698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Loops: The while Loop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82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762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826000"/>
            <a:ext cx="698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the while Loop for Input Validation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969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5905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5969000"/>
            <a:ext cx="698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Counters — Definition, Types &amp; Applications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064000" y="3048000"/>
            <a:ext cx="1168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Increment &amp; Decrement Operators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064000" y="4318000"/>
            <a:ext cx="990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++ and --, the shorthand tools every C programmer uses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Increment &amp; Decrement Operators?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874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unary operators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 that add 1 (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or subtract 1 (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decrement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from a variable's value. They provide a shorthand for the most common arithmetic operation in programming.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1905000"/>
            <a:ext cx="5461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906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0541000" y="2159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Points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906000" y="2794000"/>
            <a:ext cx="469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Two operators: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Two forms each: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Prefix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Postfix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Work on: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int, char, float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variables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Supported in: C, C++, Java, JavaScript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13716000" cy="1524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7780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7482" y="381000"/>
                </a:moveTo>
                <a:cubicBezTo>
                  <a:pt x="397140" y="358874"/>
                  <a:pt x="416454" y="338832"/>
                  <a:pt x="438282" y="321568"/>
                </a:cubicBezTo>
                <a:cubicBezTo>
                  <a:pt x="481542" y="287437"/>
                  <a:pt x="508000" y="241300"/>
                  <a:pt x="508000" y="190500"/>
                </a:cubicBezTo>
                <a:cubicBezTo>
                  <a:pt x="508000" y="85328"/>
                  <a:pt x="394229" y="0"/>
                  <a:pt x="254000" y="0"/>
                </a:cubicBezTo>
                <a:cubicBezTo>
                  <a:pt x="113771" y="0"/>
                  <a:pt x="0" y="85328"/>
                  <a:pt x="0" y="190500"/>
                </a:cubicBezTo>
                <a:cubicBezTo>
                  <a:pt x="0" y="241300"/>
                  <a:pt x="26458" y="287437"/>
                  <a:pt x="69718" y="321568"/>
                </a:cubicBezTo>
                <a:cubicBezTo>
                  <a:pt x="91546" y="338832"/>
                  <a:pt x="110993" y="358874"/>
                  <a:pt x="120518" y="381000"/>
                </a:cubicBezTo>
                <a:lnTo>
                  <a:pt x="387350" y="381000"/>
                </a:lnTo>
                <a:close/>
                <a:moveTo>
                  <a:pt x="381000" y="428625"/>
                </a:moveTo>
                <a:lnTo>
                  <a:pt x="127000" y="428625"/>
                </a:lnTo>
                <a:lnTo>
                  <a:pt x="127000" y="444500"/>
                </a:lnTo>
                <a:cubicBezTo>
                  <a:pt x="127000" y="488355"/>
                  <a:pt x="174360" y="523875"/>
                  <a:pt x="232833" y="523875"/>
                </a:cubicBezTo>
                <a:lnTo>
                  <a:pt x="275167" y="523875"/>
                </a:lnTo>
                <a:cubicBezTo>
                  <a:pt x="333640" y="523875"/>
                  <a:pt x="381000" y="488355"/>
                  <a:pt x="381000" y="444500"/>
                </a:cubicBezTo>
                <a:lnTo>
                  <a:pt x="381000" y="428625"/>
                </a:lnTo>
                <a:close/>
                <a:moveTo>
                  <a:pt x="243417" y="111125"/>
                </a:moveTo>
                <a:cubicBezTo>
                  <a:pt x="190765" y="111125"/>
                  <a:pt x="148167" y="143073"/>
                  <a:pt x="148167" y="182563"/>
                </a:cubicBezTo>
                <a:cubicBezTo>
                  <a:pt x="148167" y="195759"/>
                  <a:pt x="134011" y="206375"/>
                  <a:pt x="116417" y="206375"/>
                </a:cubicBezTo>
                <a:cubicBezTo>
                  <a:pt x="98822" y="206375"/>
                  <a:pt x="84667" y="195759"/>
                  <a:pt x="84667" y="182563"/>
                </a:cubicBezTo>
                <a:cubicBezTo>
                  <a:pt x="84667" y="116780"/>
                  <a:pt x="155707" y="63500"/>
                  <a:pt x="243417" y="63500"/>
                </a:cubicBezTo>
                <a:cubicBezTo>
                  <a:pt x="261011" y="63500"/>
                  <a:pt x="275167" y="74116"/>
                  <a:pt x="275167" y="87313"/>
                </a:cubicBezTo>
                <a:cubicBezTo>
                  <a:pt x="275167" y="100509"/>
                  <a:pt x="261011" y="111125"/>
                  <a:pt x="243417" y="111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5334000"/>
            <a:ext cx="1193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Analogy: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scoreboard that automatically increases by 1 when a point is scored — you don't need to calculate "current score + 1" manually. Just press the button and the score goes up!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270000" y="7048500"/>
            <a:ext cx="13716000" cy="1143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51000" y="71120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Instead of writing:    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 = score + 1;   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// Verbose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You simply write:      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score++;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// Clean &amp; concise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Increment Operator (++)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1778000" cy="4572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1590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Prefix: ++x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then use 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24000" y="3683000"/>
            <a:ext cx="6350000" cy="2159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3746500"/>
            <a:ext cx="584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Prefix Increment Example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a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b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Result: a = 6, b = 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1905000"/>
            <a:ext cx="6604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36000" y="2159000"/>
            <a:ext cx="2032000" cy="4572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8636000" y="21590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Postfix: x++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36000" y="2794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value first, then increment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36000" y="3683000"/>
            <a:ext cx="6096000" cy="2159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0" y="3746500"/>
            <a:ext cx="558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Postfix Increment Example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c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d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c++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Result: d = 5, c = 6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223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8000" y="6350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Rule: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only difference is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WHEN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increment happens — the variable always ends up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747000" y="749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4102" y="498673"/>
                </a:moveTo>
                <a:cubicBezTo>
                  <a:pt x="240639" y="511076"/>
                  <a:pt x="267494" y="511076"/>
                  <a:pt x="284030" y="498673"/>
                </a:cubicBezTo>
                <a:lnTo>
                  <a:pt x="495697" y="339923"/>
                </a:lnTo>
                <a:cubicBezTo>
                  <a:pt x="512233" y="327521"/>
                  <a:pt x="512233" y="307380"/>
                  <a:pt x="495697" y="294977"/>
                </a:cubicBezTo>
                <a:cubicBezTo>
                  <a:pt x="479160" y="282575"/>
                  <a:pt x="452305" y="282575"/>
                  <a:pt x="435769" y="294977"/>
                </a:cubicBezTo>
                <a:lnTo>
                  <a:pt x="296333" y="399554"/>
                </a:lnTo>
                <a:lnTo>
                  <a:pt x="296333" y="31750"/>
                </a:lnTo>
                <a:cubicBezTo>
                  <a:pt x="296333" y="14188"/>
                  <a:pt x="277416" y="0"/>
                  <a:pt x="254000" y="0"/>
                </a:cubicBezTo>
                <a:cubicBezTo>
                  <a:pt x="230584" y="0"/>
                  <a:pt x="211667" y="14188"/>
                  <a:pt x="211667" y="31750"/>
                </a:cubicBezTo>
                <a:lnTo>
                  <a:pt x="211667" y="399554"/>
                </a:lnTo>
                <a:lnTo>
                  <a:pt x="72231" y="294977"/>
                </a:lnTo>
                <a:cubicBezTo>
                  <a:pt x="55695" y="282575"/>
                  <a:pt x="28840" y="282575"/>
                  <a:pt x="12303" y="294977"/>
                </a:cubicBezTo>
                <a:cubicBezTo>
                  <a:pt x="-4233" y="307380"/>
                  <a:pt x="-4233" y="327521"/>
                  <a:pt x="12303" y="339923"/>
                </a:cubicBezTo>
                <a:lnTo>
                  <a:pt x="223970" y="498673"/>
                </a:lnTo>
                <a:close/>
              </a:path>
            </a:pathLst>
          </a:custGeom>
          <a:solidFill>
            <a:srgbClr val="6B9CB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445000" y="8064500"/>
            <a:ext cx="736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decrement operator works exactly the same way (but subtracts 1)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Decrement Operator (--)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1778000" cy="4572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1590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Prefix: --x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Decrement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then use 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24000" y="3683000"/>
            <a:ext cx="6350000" cy="2159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3746500"/>
            <a:ext cx="584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Prefix Decrement Example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a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b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Result: a = 4, b = 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1905000"/>
            <a:ext cx="6604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36000" y="2159000"/>
            <a:ext cx="2032000" cy="4572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8636000" y="21590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Postfix: x--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36000" y="2794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value first, then decrement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36000" y="3683000"/>
            <a:ext cx="6096000" cy="2159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0" y="3746500"/>
            <a:ext cx="558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Postfix Decrement Example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c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d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c--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Result: d = 5, c = 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223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8000" y="6350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Works exactly like increment but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subtracts 1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used for countdowns, inventory, game lives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70000" y="7620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Uses: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37000" y="7620000"/>
            <a:ext cx="1778000" cy="406400"/>
          </a:xfrm>
          <a:prstGeom prst="roundRect">
            <a:avLst>
              <a:gd name="adj" fmla="val 20000"/>
            </a:avLst>
          </a:prstGeom>
          <a:solidFill>
            <a:srgbClr val="2E5E8A">
              <a:alpha val="8235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937000" y="7620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Countdown timers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69000" y="7620000"/>
            <a:ext cx="1651000" cy="406400"/>
          </a:xfrm>
          <a:prstGeom prst="roundRect">
            <a:avLst>
              <a:gd name="adj" fmla="val 20000"/>
            </a:avLst>
          </a:prstGeom>
          <a:solidFill>
            <a:srgbClr val="2E5E8A">
              <a:alpha val="8235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69000" y="7620000"/>
            <a:ext cx="165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 lives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74000" y="7620000"/>
            <a:ext cx="1778000" cy="406400"/>
          </a:xfrm>
          <a:prstGeom prst="roundRect">
            <a:avLst>
              <a:gd name="adj" fmla="val 20000"/>
            </a:avLst>
          </a:prstGeom>
          <a:solidFill>
            <a:srgbClr val="2E5E8A">
              <a:alpha val="8235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874000" y="7620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 mgmt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Prefix vs Postfix — Visual Comparison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33020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4114800"/>
                <a:gridCol w="4114800"/>
              </a:tblGrid>
              <a:tr h="7264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Operator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What Happens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 (x=10)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++x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Prefix Increment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Increment first, use new value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y=</a:t>
                      </a:r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11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, x=</a:t>
                      </a:r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x++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Postfix Increment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current value, then increment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y=</a:t>
                      </a:r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, x=</a:t>
                      </a:r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E5E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--x / x--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Prefix/Postfix Decrement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Same rules, but subtract 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Same pattern as ++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5461000"/>
            <a:ext cx="13716000" cy="2921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51000" y="558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Demonstration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51000" y="6032500"/>
            <a:ext cx="1295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x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y;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++x; 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Prefix:  x becomes 11, y gets 11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x++; 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Postfix: y gets 11,  x becomes 12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--x; 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Prefix:  x becomes 11, y gets 11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x--; 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Postfix: y gets 11,  x becomes 10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Walkthrough — Step-by-Step Execution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112000" cy="43815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203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 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2476500"/>
            <a:ext cx="660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&lt;stdio.h&gt;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main() {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int a =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 =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 = %d\n"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a);  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Line 1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"++a = %d\n"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++a);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Line 2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"a++ = %d\n"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a++);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Line 3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 = %d\n"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a);  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Line 4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return 0;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763000" y="1905000"/>
            <a:ext cx="6223000" cy="3937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017000" y="203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Execution Trace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17000" y="2476500"/>
            <a:ext cx="5715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Start: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5, b = 5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 1: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prints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(no change)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 2: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a→6, prints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 3: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prints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a→7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 4: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prints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7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Final:</a:t>
            </a:r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</a:t>
            </a:r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70000" y="6223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1651000" y="654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461" y="94139"/>
                </a:moveTo>
                <a:cubicBezTo>
                  <a:pt x="-2461" y="84217"/>
                  <a:pt x="-2461" y="68104"/>
                  <a:pt x="7461" y="58182"/>
                </a:cubicBezTo>
                <a:cubicBezTo>
                  <a:pt x="17383" y="48260"/>
                  <a:pt x="33496" y="48260"/>
                  <a:pt x="43418" y="58182"/>
                </a:cubicBezTo>
                <a:lnTo>
                  <a:pt x="170418" y="185182"/>
                </a:lnTo>
                <a:cubicBezTo>
                  <a:pt x="180340" y="195104"/>
                  <a:pt x="180340" y="211217"/>
                  <a:pt x="170418" y="221139"/>
                </a:cubicBezTo>
                <a:lnTo>
                  <a:pt x="43418" y="348139"/>
                </a:lnTo>
                <a:cubicBezTo>
                  <a:pt x="33496" y="358061"/>
                  <a:pt x="17383" y="358061"/>
                  <a:pt x="7461" y="348139"/>
                </a:cubicBezTo>
                <a:cubicBezTo>
                  <a:pt x="-2461" y="338217"/>
                  <a:pt x="-2461" y="322104"/>
                  <a:pt x="7461" y="312182"/>
                </a:cubicBezTo>
                <a:lnTo>
                  <a:pt x="116443" y="203200"/>
                </a:lnTo>
                <a:lnTo>
                  <a:pt x="7461" y="94139"/>
                </a:ln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222500" y="6350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Output: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22500" y="679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= 5    ++a = 6    a++ = 6    a = 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70000" y="7747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printf with postfix (a++) shows the OLD value because the expression is evaluated before the increment happens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Pitfalls &amp; How to Avoid Them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476500"/>
          </a:xfrm>
          <a:prstGeom prst="roundRect">
            <a:avLst>
              <a:gd name="adj" fmla="val 8000"/>
            </a:avLst>
          </a:prstGeom>
          <a:solidFill>
            <a:srgbClr val="FFF0EB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006600" y="2057400"/>
            <a:ext cx="558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++ on Same Variable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5400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x = a++ + ++a; 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UNDEFINED!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use ++ twice on the same variable in one statement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28000" y="1905000"/>
            <a:ext cx="6858000" cy="2476500"/>
          </a:xfrm>
          <a:prstGeom prst="roundRect">
            <a:avLst>
              <a:gd name="adj" fmla="val 8000"/>
            </a:avLst>
          </a:prstGeom>
          <a:solidFill>
            <a:srgbClr val="FFF0EB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2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8864600" y="20574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Confusing Prefix vs Postfix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2000" y="2540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a = 5; int b = a++; 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 is 5, NOT 6!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Postfix returns the old value — a common beginner mistake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70000" y="4445000"/>
            <a:ext cx="13716000" cy="5588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13" name="Shape 11"/>
          <p:cNvSpPr/>
          <p:nvPr/>
        </p:nvSpPr>
        <p:spPr>
          <a:xfrm>
            <a:off x="1524000" y="452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06600" y="4445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270000" y="52578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24000" y="53848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24000" y="5905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prefix (++x)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when you don't need the old value — it's slightly more efficient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842000" y="52578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96000" y="53848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96000" y="5905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Never use ++ or -- more than once on the same variable in a single statement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14000" y="5257800"/>
            <a:ext cx="4572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668000" y="53848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668000" y="5905500"/>
            <a:ext cx="406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When in doubt, break the operation into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two separate lines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clarity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70000" y="7366000"/>
            <a:ext cx="13716000" cy="762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1651000" y="74295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Clear alternative:     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= a + 1;  b = a;  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// Explicit and readable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Use Cases for ++ and --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1336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Loop Counters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768600"/>
            <a:ext cx="381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Most common usage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for(int i=0; i&lt;10; </a:t>
            </a:r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i++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Iterates 10 times,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 goes 0→9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42000" y="1905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6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64294"/>
                </a:moveTo>
                <a:cubicBezTo>
                  <a:pt x="0" y="52507"/>
                  <a:pt x="9555" y="42863"/>
                  <a:pt x="21431" y="42863"/>
                </a:cubicBezTo>
                <a:lnTo>
                  <a:pt x="64294" y="42863"/>
                </a:lnTo>
                <a:cubicBezTo>
                  <a:pt x="76170" y="42863"/>
                  <a:pt x="85725" y="52417"/>
                  <a:pt x="85725" y="64294"/>
                </a:cubicBezTo>
                <a:lnTo>
                  <a:pt x="85725" y="157163"/>
                </a:lnTo>
                <a:lnTo>
                  <a:pt x="107156" y="157163"/>
                </a:lnTo>
                <a:cubicBezTo>
                  <a:pt x="119033" y="157163"/>
                  <a:pt x="128588" y="166717"/>
                  <a:pt x="128588" y="178594"/>
                </a:cubicBezTo>
                <a:cubicBezTo>
                  <a:pt x="128588" y="190470"/>
                  <a:pt x="119033" y="200025"/>
                  <a:pt x="107156" y="200025"/>
                </a:cubicBezTo>
                <a:lnTo>
                  <a:pt x="21431" y="200025"/>
                </a:lnTo>
                <a:cubicBezTo>
                  <a:pt x="9555" y="200025"/>
                  <a:pt x="0" y="190470"/>
                  <a:pt x="0" y="178594"/>
                </a:cubicBezTo>
                <a:cubicBezTo>
                  <a:pt x="0" y="166717"/>
                  <a:pt x="9555" y="157163"/>
                  <a:pt x="21431" y="157163"/>
                </a:cubicBezTo>
                <a:lnTo>
                  <a:pt x="42863" y="157163"/>
                </a:lnTo>
                <a:lnTo>
                  <a:pt x="42863" y="85725"/>
                </a:lnTo>
                <a:lnTo>
                  <a:pt x="21431" y="85725"/>
                </a:lnTo>
                <a:cubicBezTo>
                  <a:pt x="9555" y="85725"/>
                  <a:pt x="0" y="76170"/>
                  <a:pt x="0" y="64294"/>
                </a:cubicBezTo>
                <a:close/>
                <a:moveTo>
                  <a:pt x="27146" y="268962"/>
                </a:moveTo>
                <a:cubicBezTo>
                  <a:pt x="37326" y="261283"/>
                  <a:pt x="49738" y="257175"/>
                  <a:pt x="62508" y="257175"/>
                </a:cubicBezTo>
                <a:lnTo>
                  <a:pt x="66883" y="257175"/>
                </a:lnTo>
                <a:cubicBezTo>
                  <a:pt x="96976" y="257175"/>
                  <a:pt x="121444" y="281642"/>
                  <a:pt x="121444" y="311735"/>
                </a:cubicBezTo>
                <a:cubicBezTo>
                  <a:pt x="121444" y="329238"/>
                  <a:pt x="113050" y="345579"/>
                  <a:pt x="98941" y="355848"/>
                </a:cubicBezTo>
                <a:lnTo>
                  <a:pt x="77510" y="371475"/>
                </a:lnTo>
                <a:lnTo>
                  <a:pt x="107156" y="371475"/>
                </a:lnTo>
                <a:cubicBezTo>
                  <a:pt x="119033" y="371475"/>
                  <a:pt x="128588" y="381030"/>
                  <a:pt x="128588" y="392906"/>
                </a:cubicBezTo>
                <a:cubicBezTo>
                  <a:pt x="128588" y="404783"/>
                  <a:pt x="119033" y="414338"/>
                  <a:pt x="107156" y="414338"/>
                </a:cubicBezTo>
                <a:lnTo>
                  <a:pt x="26164" y="414338"/>
                </a:lnTo>
                <a:cubicBezTo>
                  <a:pt x="11698" y="414338"/>
                  <a:pt x="0" y="402640"/>
                  <a:pt x="0" y="388174"/>
                </a:cubicBezTo>
                <a:cubicBezTo>
                  <a:pt x="0" y="379780"/>
                  <a:pt x="4018" y="371921"/>
                  <a:pt x="10805" y="367010"/>
                </a:cubicBezTo>
                <a:lnTo>
                  <a:pt x="73759" y="321201"/>
                </a:lnTo>
                <a:cubicBezTo>
                  <a:pt x="76795" y="318968"/>
                  <a:pt x="78581" y="315486"/>
                  <a:pt x="78581" y="311735"/>
                </a:cubicBezTo>
                <a:cubicBezTo>
                  <a:pt x="78581" y="305306"/>
                  <a:pt x="73313" y="300037"/>
                  <a:pt x="66883" y="300037"/>
                </a:cubicBezTo>
                <a:lnTo>
                  <a:pt x="62508" y="300038"/>
                </a:lnTo>
                <a:cubicBezTo>
                  <a:pt x="59025" y="300038"/>
                  <a:pt x="55632" y="301198"/>
                  <a:pt x="52864" y="303252"/>
                </a:cubicBezTo>
                <a:lnTo>
                  <a:pt x="34290" y="317183"/>
                </a:lnTo>
                <a:cubicBezTo>
                  <a:pt x="24825" y="324326"/>
                  <a:pt x="11430" y="322362"/>
                  <a:pt x="4286" y="312896"/>
                </a:cubicBezTo>
                <a:cubicBezTo>
                  <a:pt x="-2858" y="303431"/>
                  <a:pt x="-893" y="290036"/>
                  <a:pt x="8573" y="282893"/>
                </a:cubicBezTo>
                <a:lnTo>
                  <a:pt x="27146" y="268962"/>
                </a:lnTo>
                <a:close/>
                <a:moveTo>
                  <a:pt x="200025" y="57150"/>
                </a:moveTo>
                <a:lnTo>
                  <a:pt x="428625" y="57150"/>
                </a:lnTo>
                <a:cubicBezTo>
                  <a:pt x="444431" y="57150"/>
                  <a:pt x="457200" y="69919"/>
                  <a:pt x="457200" y="85725"/>
                </a:cubicBezTo>
                <a:cubicBezTo>
                  <a:pt x="457200" y="101531"/>
                  <a:pt x="444431" y="114300"/>
                  <a:pt x="428625" y="114300"/>
                </a:cubicBezTo>
                <a:lnTo>
                  <a:pt x="200025" y="114300"/>
                </a:lnTo>
                <a:cubicBezTo>
                  <a:pt x="184219" y="114300"/>
                  <a:pt x="171450" y="101531"/>
                  <a:pt x="171450" y="85725"/>
                </a:cubicBezTo>
                <a:cubicBezTo>
                  <a:pt x="171450" y="69919"/>
                  <a:pt x="184219" y="57150"/>
                  <a:pt x="200025" y="57150"/>
                </a:cubicBezTo>
                <a:close/>
                <a:moveTo>
                  <a:pt x="200025" y="200025"/>
                </a:move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200025" y="257175"/>
                </a:lnTo>
                <a:cubicBezTo>
                  <a:pt x="184219" y="257175"/>
                  <a:pt x="171450" y="244406"/>
                  <a:pt x="171450" y="228600"/>
                </a:cubicBezTo>
                <a:cubicBezTo>
                  <a:pt x="171450" y="212794"/>
                  <a:pt x="184219" y="200025"/>
                  <a:pt x="200025" y="200025"/>
                </a:cubicBezTo>
                <a:close/>
                <a:moveTo>
                  <a:pt x="200025" y="342900"/>
                </a:move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200025" y="400050"/>
                </a:lnTo>
                <a:cubicBezTo>
                  <a:pt x="184219" y="400050"/>
                  <a:pt x="171450" y="387281"/>
                  <a:pt x="171450" y="371475"/>
                </a:cubicBezTo>
                <a:cubicBezTo>
                  <a:pt x="171450" y="355669"/>
                  <a:pt x="184219" y="342900"/>
                  <a:pt x="200025" y="3429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7056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Array Indexing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6000" y="2768600"/>
            <a:ext cx="381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Traverse array elements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</a:t>
            </a:r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index++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Moves to next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element each time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14000" y="1905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668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277600" y="2159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 Tracking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668000" y="2768600"/>
            <a:ext cx="406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Player earns points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playerScore</a:t>
            </a:r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+1 when a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 is scored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70000" y="482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508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6986" y="114300"/>
                </a:moveTo>
                <a:lnTo>
                  <a:pt x="341982" y="71438"/>
                </a:lnTo>
                <a:lnTo>
                  <a:pt x="115321" y="71438"/>
                </a:lnTo>
                <a:lnTo>
                  <a:pt x="80316" y="114300"/>
                </a:lnTo>
                <a:lnTo>
                  <a:pt x="376986" y="114300"/>
                </a:lnTo>
                <a:close/>
                <a:moveTo>
                  <a:pt x="0" y="132606"/>
                </a:moveTo>
                <a:cubicBezTo>
                  <a:pt x="0" y="120729"/>
                  <a:pt x="4286" y="109121"/>
                  <a:pt x="12144" y="99387"/>
                </a:cubicBezTo>
                <a:lnTo>
                  <a:pt x="62151" y="38219"/>
                </a:lnTo>
                <a:cubicBezTo>
                  <a:pt x="74397" y="23217"/>
                  <a:pt x="94195" y="14288"/>
                  <a:pt x="115218" y="14288"/>
                </a:cubicBezTo>
                <a:lnTo>
                  <a:pt x="341879" y="14288"/>
                </a:lnTo>
                <a:cubicBezTo>
                  <a:pt x="363005" y="14288"/>
                  <a:pt x="382803" y="23217"/>
                  <a:pt x="395049" y="38219"/>
                </a:cubicBezTo>
                <a:lnTo>
                  <a:pt x="444954" y="99387"/>
                </a:lnTo>
                <a:cubicBezTo>
                  <a:pt x="452914" y="109121"/>
                  <a:pt x="457098" y="120729"/>
                  <a:pt x="457098" y="132606"/>
                </a:cubicBezTo>
                <a:lnTo>
                  <a:pt x="457200" y="371475"/>
                </a:lnTo>
                <a:cubicBezTo>
                  <a:pt x="457200" y="402997"/>
                  <a:pt x="427911" y="428625"/>
                  <a:pt x="391886" y="428625"/>
                </a:cubicBezTo>
                <a:lnTo>
                  <a:pt x="65314" y="428625"/>
                </a:lnTo>
                <a:cubicBezTo>
                  <a:pt x="29289" y="428625"/>
                  <a:pt x="0" y="402997"/>
                  <a:pt x="0" y="371475"/>
                </a:cubicBezTo>
                <a:lnTo>
                  <a:pt x="0" y="132606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133600" y="5080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 Mgmt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5689600"/>
            <a:ext cx="381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Item sold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stockCount</a:t>
            </a:r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stock by 1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each sale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42000" y="482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96000" y="508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57150"/>
                </a:moveTo>
                <a:cubicBezTo>
                  <a:pt x="0" y="25628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5983"/>
                  <a:pt x="308134" y="16699"/>
                </a:cubicBezTo>
                <a:lnTo>
                  <a:pt x="434935" y="111889"/>
                </a:lnTo>
                <a:cubicBezTo>
                  <a:pt x="449223" y="122605"/>
                  <a:pt x="457200" y="137160"/>
                  <a:pt x="457200" y="152340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247650" y="52239"/>
                </a:moveTo>
                <a:lnTo>
                  <a:pt x="247650" y="135731"/>
                </a:lnTo>
                <a:cubicBezTo>
                  <a:pt x="247650" y="147608"/>
                  <a:pt x="260390" y="157163"/>
                  <a:pt x="276225" y="157163"/>
                </a:cubicBezTo>
                <a:lnTo>
                  <a:pt x="387548" y="157163"/>
                </a:lnTo>
                <a:lnTo>
                  <a:pt x="247650" y="52239"/>
                </a:lnTo>
                <a:close/>
                <a:moveTo>
                  <a:pt x="142875" y="228600"/>
                </a:moveTo>
                <a:cubicBezTo>
                  <a:pt x="127040" y="228600"/>
                  <a:pt x="114300" y="238155"/>
                  <a:pt x="114300" y="250031"/>
                </a:cubicBezTo>
                <a:cubicBezTo>
                  <a:pt x="114300" y="261908"/>
                  <a:pt x="127040" y="271463"/>
                  <a:pt x="142875" y="271463"/>
                </a:cubicBezTo>
                <a:lnTo>
                  <a:pt x="314325" y="271463"/>
                </a:lnTo>
                <a:cubicBezTo>
                  <a:pt x="330160" y="271463"/>
                  <a:pt x="342900" y="261908"/>
                  <a:pt x="342900" y="250031"/>
                </a:cubicBezTo>
                <a:cubicBezTo>
                  <a:pt x="342900" y="238155"/>
                  <a:pt x="330160" y="228600"/>
                  <a:pt x="314325" y="228600"/>
                </a:cubicBezTo>
                <a:lnTo>
                  <a:pt x="142875" y="228600"/>
                </a:lnTo>
                <a:close/>
                <a:moveTo>
                  <a:pt x="142875" y="314325"/>
                </a:moveTo>
                <a:cubicBezTo>
                  <a:pt x="127040" y="314325"/>
                  <a:pt x="114300" y="323880"/>
                  <a:pt x="114300" y="335756"/>
                </a:cubicBezTo>
                <a:cubicBezTo>
                  <a:pt x="114300" y="347633"/>
                  <a:pt x="127040" y="357188"/>
                  <a:pt x="142875" y="357188"/>
                </a:cubicBezTo>
                <a:lnTo>
                  <a:pt x="314325" y="357188"/>
                </a:lnTo>
                <a:cubicBezTo>
                  <a:pt x="330160" y="357188"/>
                  <a:pt x="342900" y="347633"/>
                  <a:pt x="342900" y="335756"/>
                </a:cubicBezTo>
                <a:cubicBezTo>
                  <a:pt x="342900" y="323880"/>
                  <a:pt x="330160" y="314325"/>
                  <a:pt x="314325" y="314325"/>
                </a:cubicBezTo>
                <a:lnTo>
                  <a:pt x="142875" y="3143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705600" y="5080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Pagination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96000" y="5689600"/>
            <a:ext cx="381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Next page button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currentPage</a:t>
            </a:r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Advances to next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 in a document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414000" y="4826000"/>
            <a:ext cx="4572000" cy="254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10668000" y="508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277600" y="5080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 Lives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668000" y="5689600"/>
            <a:ext cx="406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Player takes damage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lives</a:t>
            </a:r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game mechanic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health/lives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70000" y="7747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of thumb: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Any time you need to add or subtract exactly 1,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your friends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064000" y="3048000"/>
            <a:ext cx="1168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Loops: The while Loop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Repeating code efficiently — the foundation of iteration in C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Do We Need Loops?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3302000"/>
          </a:xfrm>
          <a:prstGeom prst="roundRect">
            <a:avLst>
              <a:gd name="adj" fmla="val 8000"/>
            </a:avLst>
          </a:prstGeom>
          <a:solidFill>
            <a:srgbClr val="FFF0EB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32556" y="132556"/>
                </a:moveTo>
                <a:cubicBezTo>
                  <a:pt x="140018" y="125095"/>
                  <a:pt x="152083" y="125095"/>
                  <a:pt x="159464" y="132556"/>
                </a:cubicBezTo>
                <a:lnTo>
                  <a:pt x="203121" y="176213"/>
                </a:lnTo>
                <a:lnTo>
                  <a:pt x="246777" y="132556"/>
                </a:lnTo>
                <a:cubicBezTo>
                  <a:pt x="254238" y="125095"/>
                  <a:pt x="266303" y="125095"/>
                  <a:pt x="273685" y="132556"/>
                </a:cubicBezTo>
                <a:cubicBezTo>
                  <a:pt x="281067" y="140018"/>
                  <a:pt x="281146" y="152083"/>
                  <a:pt x="273685" y="159464"/>
                </a:cubicBezTo>
                <a:lnTo>
                  <a:pt x="230029" y="203121"/>
                </a:lnTo>
                <a:lnTo>
                  <a:pt x="273685" y="246777"/>
                </a:lnTo>
                <a:cubicBezTo>
                  <a:pt x="281146" y="254238"/>
                  <a:pt x="281146" y="266303"/>
                  <a:pt x="273685" y="273685"/>
                </a:cubicBezTo>
                <a:cubicBezTo>
                  <a:pt x="266224" y="281067"/>
                  <a:pt x="254159" y="281146"/>
                  <a:pt x="246777" y="273685"/>
                </a:cubicBezTo>
                <a:lnTo>
                  <a:pt x="203121" y="230029"/>
                </a:lnTo>
                <a:lnTo>
                  <a:pt x="159464" y="273685"/>
                </a:lnTo>
                <a:cubicBezTo>
                  <a:pt x="152003" y="281146"/>
                  <a:pt x="139938" y="281146"/>
                  <a:pt x="132556" y="273685"/>
                </a:cubicBezTo>
                <a:cubicBezTo>
                  <a:pt x="125174" y="266224"/>
                  <a:pt x="125095" y="254159"/>
                  <a:pt x="132556" y="246777"/>
                </a:cubicBezTo>
                <a:lnTo>
                  <a:pt x="176212" y="203121"/>
                </a:lnTo>
                <a:lnTo>
                  <a:pt x="132556" y="159464"/>
                </a:lnTo>
                <a:cubicBezTo>
                  <a:pt x="125095" y="152003"/>
                  <a:pt x="125095" y="139938"/>
                  <a:pt x="132556" y="13255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082800" y="21336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30500"/>
            <a:ext cx="6096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loops, repeating a task means writing the same code over and over: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"Hello\n"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Line 1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"Hello\n"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Line 2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"Hello\n"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Line 3 ... x100!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28000" y="19050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EBF5EB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2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8940800" y="21336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730500"/>
            <a:ext cx="6350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a while loop, the same output in just 3 lines: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i =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 &lt;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"Hello\n"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i++ repeats this 100x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334000"/>
            <a:ext cx="13716000" cy="254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51000" y="5524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 Types of Loops in C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51000" y="6159500"/>
            <a:ext cx="1270000" cy="4572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1651000" y="61595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51000" y="67310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 condition first, then execute. May run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times.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715000" y="6159500"/>
            <a:ext cx="1524000" cy="457200"/>
          </a:xfrm>
          <a:prstGeom prst="roundRect">
            <a:avLst>
              <a:gd name="adj" fmla="val 20000"/>
            </a:avLst>
          </a:prstGeom>
          <a:solidFill>
            <a:srgbClr val="6B9CBF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6159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do-while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15000" y="67310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 first, then check. Always runs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 least once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033000" y="6159500"/>
            <a:ext cx="1016000" cy="4572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3000" y="6159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33000" y="67310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 form with init, condition, and update in one line.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70000" y="8191500"/>
            <a:ext cx="1371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washing machine keeps spinning until the timer reaches zero — repeating the same action until a condition is met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while Loop — Syntax &amp; Structure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228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651000" y="2032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Syntax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51000" y="2476500"/>
            <a:ext cx="1295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 to repeat (loop body)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0000" y="4318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It Works — 4 Steps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24000" y="5080000"/>
            <a:ext cx="635000" cy="635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5080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49500" y="50800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condition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checked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24000" y="5969000"/>
            <a:ext cx="635000" cy="635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5969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49500" y="59690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(non-zero), the loop body executes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28000" y="5080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8128000" y="5080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53500" y="5080000"/>
            <a:ext cx="533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After the body, go back to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28000" y="5969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5969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53500" y="5969000"/>
            <a:ext cx="533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(zero), the loop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70000" y="6985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51000" y="723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7048500"/>
            <a:ext cx="1244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Rules: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condition is checked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BEFORE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every iteration. If the condition starts false, the body runs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 times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The body must eventually make the condition false, or the loop runs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forever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while Loop Works — Execution Flow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905000"/>
            <a:ext cx="2540000" cy="635000"/>
          </a:xfrm>
          <a:prstGeom prst="roundRect">
            <a:avLst>
              <a:gd name="adj" fmla="val 50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905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0" y="2540000"/>
            <a:ext cx="0" cy="50800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6223000" y="3048000"/>
            <a:ext cx="3810000" cy="1016000"/>
          </a:xfrm>
          <a:prstGeom prst="diamond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0" y="3238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 / False?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3000" y="3556000"/>
            <a:ext cx="-2286000" cy="0"/>
          </a:xfrm>
          <a:prstGeom prst="straightConnector1">
            <a:avLst/>
          </a:prstGeom>
          <a:noFill/>
          <a:ln w="25400">
            <a:solidFill>
              <a:srgbClr val="4CAF50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3937000" y="3302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70000" y="4000500"/>
            <a:ext cx="3556000" cy="5715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000500"/>
            <a:ext cx="355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 Loop Body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48000" y="4699000"/>
            <a:ext cx="0" cy="76200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048000" y="5461000"/>
            <a:ext cx="5080000" cy="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128000" y="4064000"/>
            <a:ext cx="0" cy="139700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arrow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033000" y="3556000"/>
            <a:ext cx="1778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10287000" y="3302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3238500"/>
            <a:ext cx="2540000" cy="635000"/>
          </a:xfrm>
          <a:prstGeom prst="roundRect">
            <a:avLst>
              <a:gd name="adj" fmla="val 50000"/>
            </a:avLst>
          </a:pr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0" y="323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EXIT LOOP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70000" y="6096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 Essential Parts of Every while Loop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270000" y="6731000"/>
            <a:ext cx="4318000" cy="139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524000" y="69215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692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133600" y="6858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Initialization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24000" y="74295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 up the loop control variable before the loop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42000" y="6731000"/>
            <a:ext cx="4318000" cy="139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96000" y="69215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0" y="692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05600" y="6858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96000" y="74295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test that determines if the loop continues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414000" y="6731000"/>
            <a:ext cx="4572000" cy="139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668000" y="69215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0" y="692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277600" y="6858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668000" y="7429500"/>
            <a:ext cx="406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Change the control variable inside the loop body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70000" y="8255000"/>
            <a:ext cx="1371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Warning: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Missing any of these three parts usually leads to an infinite loop!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First while Loop — Complete Example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112000" cy="43815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203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Code: Print 1 to 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2476500"/>
            <a:ext cx="660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&lt;stdio.h&gt;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main() {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int count =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     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Initialization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(count &lt;=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 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Condition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 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count);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Body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count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       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Update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90000" y="196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Execution Trace Table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90000" y="2476500"/>
          <a:ext cx="5842000" cy="3365500"/>
        </p:xfrm>
        <a:graphic>
          <a:graphicData uri="http://schemas.openxmlformats.org/drawingml/2006/table">
            <a:tbl>
              <a:tblPr/>
              <a:tblGrid>
                <a:gridCol w="1285240"/>
                <a:gridCol w="1752600"/>
                <a:gridCol w="1402080"/>
                <a:gridCol w="1402080"/>
              </a:tblGrid>
              <a:tr h="52165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count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Check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Output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216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1≤5 ✓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216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2≤5 ✓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216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3≤5 ✓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216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4≤5 ✓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216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5≤5 ✓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23558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6≤5 ✗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Exit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270000" y="62230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1651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2159000" y="6350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Output: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159000" y="6731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1  2  3  4  5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70000" y="7620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iteration 5,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becomes 6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the condition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&lt;= 5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false, and the loop gracefully exits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Infinite Loops &amp; Loop Control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3175000"/>
          </a:xfrm>
          <a:prstGeom prst="roundRect">
            <a:avLst>
              <a:gd name="adj" fmla="val 8000"/>
            </a:avLst>
          </a:prstGeom>
          <a:solidFill>
            <a:srgbClr val="FFF0EB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006600" y="2095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Classic Mistake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603500"/>
            <a:ext cx="6096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i =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 &lt; 10) {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 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i);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Oops! Forgot i++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 stays 0 forever!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28000" y="1905000"/>
            <a:ext cx="6858000" cy="3175000"/>
          </a:xfrm>
          <a:prstGeom prst="roundRect">
            <a:avLst>
              <a:gd name="adj" fmla="val 8000"/>
            </a:avLst>
          </a:prstGeom>
          <a:solidFill>
            <a:srgbClr val="EBF5EB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20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8864600" y="2095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2000" y="2603500"/>
            <a:ext cx="635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i =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 &lt; 10) {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 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i);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4CA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i++;  // Fixed!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Now i grows each time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6604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240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22225"/>
                </a:moveTo>
                <a:cubicBezTo>
                  <a:pt x="200025" y="9932"/>
                  <a:pt x="190093" y="0"/>
                  <a:pt x="177800" y="0"/>
                </a:cubicBezTo>
                <a:cubicBezTo>
                  <a:pt x="165507" y="0"/>
                  <a:pt x="155575" y="9932"/>
                  <a:pt x="155575" y="22225"/>
                </a:cubicBezTo>
                <a:lnTo>
                  <a:pt x="155575" y="166688"/>
                </a:lnTo>
                <a:cubicBezTo>
                  <a:pt x="155575" y="172799"/>
                  <a:pt x="150574" y="177800"/>
                  <a:pt x="144463" y="177800"/>
                </a:cubicBezTo>
                <a:cubicBezTo>
                  <a:pt x="138351" y="177800"/>
                  <a:pt x="133350" y="172799"/>
                  <a:pt x="133350" y="166688"/>
                </a:cubicBezTo>
                <a:lnTo>
                  <a:pt x="133350" y="44450"/>
                </a:lnTo>
                <a:cubicBezTo>
                  <a:pt x="133350" y="32157"/>
                  <a:pt x="123418" y="22225"/>
                  <a:pt x="111125" y="22225"/>
                </a:cubicBezTo>
                <a:cubicBezTo>
                  <a:pt x="98832" y="22225"/>
                  <a:pt x="88900" y="32157"/>
                  <a:pt x="88900" y="44450"/>
                </a:cubicBezTo>
                <a:lnTo>
                  <a:pt x="88900" y="233363"/>
                </a:lnTo>
                <a:cubicBezTo>
                  <a:pt x="88900" y="234404"/>
                  <a:pt x="88900" y="235516"/>
                  <a:pt x="88969" y="236557"/>
                </a:cubicBezTo>
                <a:lnTo>
                  <a:pt x="46950" y="196552"/>
                </a:lnTo>
                <a:cubicBezTo>
                  <a:pt x="35838" y="185995"/>
                  <a:pt x="18266" y="186412"/>
                  <a:pt x="7640" y="197525"/>
                </a:cubicBezTo>
                <a:cubicBezTo>
                  <a:pt x="-2986" y="208637"/>
                  <a:pt x="-2500" y="226209"/>
                  <a:pt x="8612" y="236835"/>
                </a:cubicBezTo>
                <a:lnTo>
                  <a:pt x="86678" y="311150"/>
                </a:lnTo>
                <a:cubicBezTo>
                  <a:pt x="116612" y="339695"/>
                  <a:pt x="156408" y="355600"/>
                  <a:pt x="197803" y="355600"/>
                </a:cubicBezTo>
                <a:lnTo>
                  <a:pt x="211138" y="355600"/>
                </a:lnTo>
                <a:cubicBezTo>
                  <a:pt x="278646" y="355600"/>
                  <a:pt x="333375" y="300871"/>
                  <a:pt x="333375" y="233363"/>
                </a:cubicBezTo>
                <a:lnTo>
                  <a:pt x="333375" y="88900"/>
                </a:lnTo>
                <a:cubicBezTo>
                  <a:pt x="333375" y="76607"/>
                  <a:pt x="323443" y="66675"/>
                  <a:pt x="311150" y="66675"/>
                </a:cubicBezTo>
                <a:cubicBezTo>
                  <a:pt x="298857" y="66675"/>
                  <a:pt x="288925" y="76607"/>
                  <a:pt x="288925" y="88900"/>
                </a:cubicBezTo>
                <a:lnTo>
                  <a:pt x="288925" y="166688"/>
                </a:lnTo>
                <a:cubicBezTo>
                  <a:pt x="288925" y="172799"/>
                  <a:pt x="283924" y="177800"/>
                  <a:pt x="277813" y="177800"/>
                </a:cubicBezTo>
                <a:cubicBezTo>
                  <a:pt x="271701" y="177800"/>
                  <a:pt x="266700" y="172799"/>
                  <a:pt x="266700" y="166688"/>
                </a:cubicBezTo>
                <a:lnTo>
                  <a:pt x="266700" y="44450"/>
                </a:lnTo>
                <a:cubicBezTo>
                  <a:pt x="266700" y="32157"/>
                  <a:pt x="256768" y="22225"/>
                  <a:pt x="244475" y="22225"/>
                </a:cubicBezTo>
                <a:cubicBezTo>
                  <a:pt x="232182" y="22225"/>
                  <a:pt x="222250" y="32157"/>
                  <a:pt x="222250" y="44450"/>
                </a:cubicBezTo>
                <a:lnTo>
                  <a:pt x="222250" y="166688"/>
                </a:lnTo>
                <a:cubicBezTo>
                  <a:pt x="222250" y="172799"/>
                  <a:pt x="217249" y="177800"/>
                  <a:pt x="211138" y="177800"/>
                </a:cubicBezTo>
                <a:cubicBezTo>
                  <a:pt x="205026" y="177800"/>
                  <a:pt x="200025" y="172799"/>
                  <a:pt x="200025" y="166688"/>
                </a:cubicBezTo>
                <a:lnTo>
                  <a:pt x="200025" y="222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2006600" y="53594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break Statement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24000" y="584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Immediately exits the loop. Use it to escape intentionally: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24000" y="6477000"/>
            <a:ext cx="609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(1) { 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Infinite on purpose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(quit)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Exit when needed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5207000"/>
            <a:ext cx="685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20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9473" y="29934"/>
                </a:moveTo>
                <a:cubicBezTo>
                  <a:pt x="222312" y="22225"/>
                  <a:pt x="211755" y="20072"/>
                  <a:pt x="202680" y="24448"/>
                </a:cubicBezTo>
                <a:cubicBezTo>
                  <a:pt x="193604" y="28823"/>
                  <a:pt x="187678" y="38894"/>
                  <a:pt x="187678" y="50006"/>
                </a:cubicBezTo>
                <a:lnTo>
                  <a:pt x="187678" y="144671"/>
                </a:lnTo>
                <a:lnTo>
                  <a:pt x="81306" y="30004"/>
                </a:lnTo>
                <a:cubicBezTo>
                  <a:pt x="74145" y="22225"/>
                  <a:pt x="63588" y="20072"/>
                  <a:pt x="54513" y="24448"/>
                </a:cubicBezTo>
                <a:cubicBezTo>
                  <a:pt x="45438" y="28823"/>
                  <a:pt x="39511" y="38894"/>
                  <a:pt x="39511" y="50006"/>
                </a:cubicBezTo>
                <a:lnTo>
                  <a:pt x="39511" y="305594"/>
                </a:lnTo>
                <a:cubicBezTo>
                  <a:pt x="39511" y="316706"/>
                  <a:pt x="45438" y="326777"/>
                  <a:pt x="54513" y="331153"/>
                </a:cubicBezTo>
                <a:cubicBezTo>
                  <a:pt x="63588" y="335528"/>
                  <a:pt x="74145" y="333375"/>
                  <a:pt x="81306" y="325666"/>
                </a:cubicBezTo>
                <a:lnTo>
                  <a:pt x="187678" y="210929"/>
                </a:lnTo>
                <a:lnTo>
                  <a:pt x="187678" y="305594"/>
                </a:lnTo>
                <a:cubicBezTo>
                  <a:pt x="187678" y="316706"/>
                  <a:pt x="193604" y="326777"/>
                  <a:pt x="202680" y="331153"/>
                </a:cubicBezTo>
                <a:cubicBezTo>
                  <a:pt x="211755" y="335528"/>
                  <a:pt x="222312" y="333375"/>
                  <a:pt x="229473" y="325666"/>
                </a:cubicBezTo>
                <a:lnTo>
                  <a:pt x="348006" y="197872"/>
                </a:lnTo>
                <a:cubicBezTo>
                  <a:pt x="352884" y="192663"/>
                  <a:pt x="355600" y="185370"/>
                  <a:pt x="355600" y="177800"/>
                </a:cubicBezTo>
                <a:cubicBezTo>
                  <a:pt x="355600" y="170230"/>
                  <a:pt x="352822" y="163006"/>
                  <a:pt x="348006" y="157728"/>
                </a:cubicBezTo>
                <a:lnTo>
                  <a:pt x="229473" y="2993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8864600" y="53594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continue Statement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82000" y="5842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Skips the rest of the current iteration, goes to next check: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82000" y="6477000"/>
            <a:ext cx="635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 &lt; 10) {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i++;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 % 2 == 0)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Skip evens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70000" y="8191500"/>
            <a:ext cx="13716000" cy="4445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1651000" y="8191500"/>
            <a:ext cx="1295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Infinite loops with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are a common and valid pattern in real-world programming!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Loop with Multiple Conditions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1371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 conditions using logical operators: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&amp;&amp;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(AND),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||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(OR),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(NOT)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13716000" cy="28575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4000" y="2730500"/>
            <a:ext cx="1524000" cy="4064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730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&amp;&amp; 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02000" y="2730500"/>
            <a:ext cx="762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 reading while input is valid AND user hasn't quit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4000" y="3238500"/>
            <a:ext cx="1320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&gt;= 0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&amp;&amp;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 &lt;= 100) {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"Valid score: %d\n"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score);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next (-1 to quit): 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scanf(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&amp;score);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70000" y="5334000"/>
            <a:ext cx="13716000" cy="28575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24000" y="5524500"/>
            <a:ext cx="1524000" cy="4064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5524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||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02000" y="5524500"/>
            <a:ext cx="762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 until maximum reached OR user signals done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24000" y="6032500"/>
            <a:ext cx="1320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(count &lt; MAX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||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!done) {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processNextItem();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count++;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(userPressedQuit) done = 1;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70000" y="8382000"/>
            <a:ext cx="13716000" cy="7366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1651000" y="848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71238" y="266700"/>
                </a:moveTo>
                <a:cubicBezTo>
                  <a:pt x="277998" y="251212"/>
                  <a:pt x="291518" y="237182"/>
                  <a:pt x="306798" y="225098"/>
                </a:cubicBezTo>
                <a:cubicBezTo>
                  <a:pt x="337079" y="201206"/>
                  <a:pt x="355600" y="168910"/>
                  <a:pt x="355600" y="133350"/>
                </a:cubicBezTo>
                <a:cubicBezTo>
                  <a:pt x="355600" y="59730"/>
                  <a:pt x="275960" y="0"/>
                  <a:pt x="177800" y="0"/>
                </a:cubicBezTo>
                <a:cubicBezTo>
                  <a:pt x="79640" y="0"/>
                  <a:pt x="0" y="59730"/>
                  <a:pt x="0" y="133350"/>
                </a:cubicBezTo>
                <a:cubicBezTo>
                  <a:pt x="0" y="168910"/>
                  <a:pt x="18521" y="201206"/>
                  <a:pt x="48802" y="225098"/>
                </a:cubicBezTo>
                <a:cubicBezTo>
                  <a:pt x="64082" y="237182"/>
                  <a:pt x="77695" y="251212"/>
                  <a:pt x="84362" y="266700"/>
                </a:cubicBezTo>
                <a:lnTo>
                  <a:pt x="271145" y="266700"/>
                </a:lnTo>
                <a:close/>
                <a:moveTo>
                  <a:pt x="266700" y="300038"/>
                </a:moveTo>
                <a:lnTo>
                  <a:pt x="88900" y="300038"/>
                </a:lnTo>
                <a:lnTo>
                  <a:pt x="88900" y="311150"/>
                </a:lnTo>
                <a:cubicBezTo>
                  <a:pt x="88900" y="341848"/>
                  <a:pt x="122052" y="366712"/>
                  <a:pt x="162983" y="366712"/>
                </a:cubicBezTo>
                <a:lnTo>
                  <a:pt x="192617" y="366712"/>
                </a:lnTo>
                <a:cubicBezTo>
                  <a:pt x="233548" y="366712"/>
                  <a:pt x="266700" y="341848"/>
                  <a:pt x="266700" y="311150"/>
                </a:cubicBezTo>
                <a:lnTo>
                  <a:pt x="266700" y="300038"/>
                </a:lnTo>
                <a:close/>
                <a:moveTo>
                  <a:pt x="170392" y="77788"/>
                </a:moveTo>
                <a:cubicBezTo>
                  <a:pt x="133535" y="77788"/>
                  <a:pt x="103717" y="100151"/>
                  <a:pt x="103717" y="127794"/>
                </a:cubicBezTo>
                <a:cubicBezTo>
                  <a:pt x="103717" y="137031"/>
                  <a:pt x="93808" y="144463"/>
                  <a:pt x="81492" y="144463"/>
                </a:cubicBezTo>
                <a:cubicBezTo>
                  <a:pt x="69175" y="144463"/>
                  <a:pt x="59267" y="137031"/>
                  <a:pt x="59267" y="127794"/>
                </a:cubicBezTo>
                <a:cubicBezTo>
                  <a:pt x="59267" y="81746"/>
                  <a:pt x="108995" y="44450"/>
                  <a:pt x="170392" y="44450"/>
                </a:cubicBezTo>
                <a:cubicBezTo>
                  <a:pt x="182708" y="44450"/>
                  <a:pt x="192617" y="51881"/>
                  <a:pt x="192617" y="61119"/>
                </a:cubicBezTo>
                <a:cubicBezTo>
                  <a:pt x="192617" y="70356"/>
                  <a:pt x="182708" y="77788"/>
                  <a:pt x="170392" y="7778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2222500" y="8445500"/>
            <a:ext cx="1244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Short-circuit evaluation: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(A &amp;&amp; B)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if A is false, B is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evaluated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In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(A || B)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if A is true, B is skipped. This can prevent errors!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while for Input Validation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Making your programs robust with validated user input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Input Validation?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524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1651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095500"/>
            <a:ext cx="1231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Input validation is the process of checking that user input meets expected criteria before using it in your program. It ensures your code handles real-world user behavior gracefully.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3810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70000" y="4318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9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make mistakes — they enter text when numbers are expected, or values outside valid ranges. Without validation, your program may </a:t>
            </a:r>
            <a:pPr algn="l">
              <a:lnSpc>
                <a:spcPct val="160000"/>
              </a:lnSpc>
            </a:pPr>
            <a:r>
              <a:rPr lang="en-US" sz="19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crash</a:t>
            </a:r>
            <a:pPr algn="l">
              <a:lnSpc>
                <a:spcPct val="160000"/>
              </a:lnSpc>
            </a:pPr>
            <a:r>
              <a:rPr lang="en-US" sz="19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produce </a:t>
            </a:r>
            <a:pPr algn="l">
              <a:lnSpc>
                <a:spcPct val="160000"/>
              </a:lnSpc>
            </a:pPr>
            <a:r>
              <a:rPr lang="en-US" sz="19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wrong results</a:t>
            </a:r>
            <a:pPr algn="l">
              <a:lnSpc>
                <a:spcPct val="160000"/>
              </a:lnSpc>
            </a:pPr>
            <a:r>
              <a:rPr lang="en-US" sz="19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or behave </a:t>
            </a:r>
            <a:pPr algn="l">
              <a:lnSpc>
                <a:spcPct val="160000"/>
              </a:lnSpc>
            </a:pPr>
            <a:r>
              <a:rPr lang="en-US" sz="19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unpredictably</a:t>
            </a:r>
            <a:pPr algn="l">
              <a:lnSpc>
                <a:spcPct val="160000"/>
              </a:lnSpc>
            </a:pPr>
            <a:r>
              <a:rPr lang="en-US" sz="19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70000" y="5334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Validation Checks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70000" y="5969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24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0530" y="260171"/>
                </a:moveTo>
                <a:lnTo>
                  <a:pt x="349797" y="193496"/>
                </a:lnTo>
                <a:cubicBezTo>
                  <a:pt x="357514" y="184815"/>
                  <a:pt x="357514" y="170716"/>
                  <a:pt x="349797" y="162034"/>
                </a:cubicBezTo>
                <a:lnTo>
                  <a:pt x="290530" y="95359"/>
                </a:lnTo>
                <a:cubicBezTo>
                  <a:pt x="282813" y="86678"/>
                  <a:pt x="270281" y="86678"/>
                  <a:pt x="262564" y="95359"/>
                </a:cubicBezTo>
                <a:cubicBezTo>
                  <a:pt x="254847" y="104041"/>
                  <a:pt x="254847" y="118140"/>
                  <a:pt x="262564" y="126821"/>
                </a:cubicBezTo>
                <a:lnTo>
                  <a:pt x="288122" y="155575"/>
                </a:lnTo>
                <a:lnTo>
                  <a:pt x="67416" y="155575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ubicBezTo>
                  <a:pt x="85258" y="86678"/>
                  <a:pt x="72725" y="86678"/>
                  <a:pt x="65008" y="95359"/>
                </a:cubicBezTo>
                <a:lnTo>
                  <a:pt x="5741" y="162034"/>
                </a:lnTo>
                <a:cubicBezTo>
                  <a:pt x="2037" y="166201"/>
                  <a:pt x="-62" y="171827"/>
                  <a:pt x="-62" y="177731"/>
                </a:cubicBezTo>
                <a:cubicBezTo>
                  <a:pt x="-62" y="183634"/>
                  <a:pt x="2037" y="189260"/>
                  <a:pt x="5741" y="193427"/>
                </a:cubicBezTo>
                <a:lnTo>
                  <a:pt x="65008" y="260102"/>
                </a:lnTo>
                <a:cubicBezTo>
                  <a:pt x="72725" y="268784"/>
                  <a:pt x="85258" y="268784"/>
                  <a:pt x="92975" y="260102"/>
                </a:cubicBezTo>
                <a:cubicBezTo>
                  <a:pt x="100692" y="251420"/>
                  <a:pt x="100692" y="237321"/>
                  <a:pt x="92975" y="228640"/>
                </a:cubicBezTo>
                <a:lnTo>
                  <a:pt x="67416" y="199886"/>
                </a:lnTo>
                <a:lnTo>
                  <a:pt x="288122" y="199886"/>
                </a:lnTo>
                <a:lnTo>
                  <a:pt x="262564" y="228640"/>
                </a:lnTo>
                <a:cubicBezTo>
                  <a:pt x="254847" y="237321"/>
                  <a:pt x="254847" y="251420"/>
                  <a:pt x="262564" y="260102"/>
                </a:cubicBezTo>
                <a:cubicBezTo>
                  <a:pt x="270281" y="268784"/>
                  <a:pt x="282813" y="268784"/>
                  <a:pt x="290530" y="260102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2006600" y="6096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Range Check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24000" y="6604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 the number between min and max?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99000" y="5969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53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5435600" y="6096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Check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53000" y="6604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 the input the right data type?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28000" y="5969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2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8864600" y="6096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Presence Check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2000" y="6604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Did the user enter anything at all?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557000" y="5969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811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4" name="Text 22"/>
          <p:cNvSpPr/>
          <p:nvPr/>
        </p:nvSpPr>
        <p:spPr>
          <a:xfrm>
            <a:off x="12293600" y="60960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Format Check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11000" y="6604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Does input match expected pattern?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70000" y="7620000"/>
            <a:ext cx="13716000" cy="635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1651000" y="76200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Analogy: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 ATM that only accepts 4-digit PINs — it keeps asking until you enter a valid PIN. That's input validation in action!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Validation Pattern with while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Standard 3-Step Pattern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4318000" cy="1270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2641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32000" y="26416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 Input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4000" y="3111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 user and read their input using scanf()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8000" y="3111500"/>
            <a:ext cx="508000" cy="0"/>
          </a:xfrm>
          <a:prstGeom prst="straightConnector1">
            <a:avLst/>
          </a:prstGeom>
          <a:noFill/>
          <a:ln w="381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096000" y="2540000"/>
            <a:ext cx="4318000" cy="12700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2641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0" y="26416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Loop While Invalid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0000" y="3111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 asking while input fails validation checks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14000" y="3111500"/>
            <a:ext cx="508000" cy="0"/>
          </a:xfrm>
          <a:prstGeom prst="straightConnector1">
            <a:avLst/>
          </a:prstGeom>
          <a:noFill/>
          <a:ln w="381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0922000" y="2540000"/>
            <a:ext cx="4064000" cy="1270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2641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684000" y="26416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Valid Input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76000" y="3111500"/>
            <a:ext cx="355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Proceed with confidence — input is validated!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70000" y="4191000"/>
            <a:ext cx="13716000" cy="4445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24000" y="425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 in Code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24000" y="4635500"/>
            <a:ext cx="1320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Step 1: Prompt and read input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a number: "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scanf(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"%d"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&amp;num);</a:t>
            </a:r>
            <a:endParaRPr lang="en-US" sz="1800" dirty="0"/>
          </a:p>
          <a:p>
            <a:pPr algn="l">
              <a:lnSpc>
                <a:spcPct val="160000"/>
              </a:lnSpc>
            </a:pP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Step 2: Validate using while loop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(num &lt; 0) {                        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Loop while INVALID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"Invalid! Try again: "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 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Re-prompt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scanf(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"%d"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&amp;num);                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Re-read (CRITICAL!)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70000" y="8699500"/>
            <a:ext cx="13716000" cy="381000"/>
          </a:xfrm>
          <a:prstGeom prst="roundRect">
            <a:avLst>
              <a:gd name="adj" fmla="val 6000"/>
            </a:avLst>
          </a:prstGeom>
          <a:solidFill>
            <a:srgbClr val="FFF0EB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4000" y="876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4" name="Text 22"/>
          <p:cNvSpPr/>
          <p:nvPr/>
        </p:nvSpPr>
        <p:spPr>
          <a:xfrm>
            <a:off x="1968500" y="8699500"/>
            <a:ext cx="1270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you forget to re-read input inside the loop, it becomes an infinite loop!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06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Example — Validating a Number Range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874000" cy="5461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203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Code: Validate Age (0-120)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2476500"/>
            <a:ext cx="7366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&lt;stdio.h&gt;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main() {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int age;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your age: "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scanf(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"%d"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&amp;age);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(age &lt; 0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||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&gt; 120) {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printf(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"Invalid! Enter 0-120: "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scanf(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"%d"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&amp;age);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"Valid age: %d\n"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age);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52000" y="196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Sample Execution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52000" y="2540000"/>
            <a:ext cx="5334000" cy="69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906000" y="25400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enters: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-5</a:t>
            </a:r>
            <a:endParaRPr lang="en-US" sz="1700" dirty="0"/>
          </a:p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"Invalid! Enter 0-120:"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192000" y="3238500"/>
            <a:ext cx="0" cy="254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9652000" y="3492500"/>
            <a:ext cx="5334000" cy="69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906000" y="34925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enters: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150</a:t>
            </a:r>
            <a:endParaRPr lang="en-US" sz="1700" dirty="0"/>
          </a:p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"Invalid! Enter 0-120:"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2192000" y="4191000"/>
            <a:ext cx="0" cy="254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652000" y="4445000"/>
            <a:ext cx="5334000" cy="698500"/>
          </a:xfrm>
          <a:prstGeom prst="roundRect">
            <a:avLst>
              <a:gd name="adj" fmla="val 8000"/>
            </a:avLst>
          </a:prstGeom>
          <a:solidFill>
            <a:srgbClr val="EBF5EB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0" y="44450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enters: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</a:t>
            </a:r>
            <a:endParaRPr lang="en-US" sz="1700" dirty="0"/>
          </a:p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"Valid age: 25" ✓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652000" y="5461000"/>
            <a:ext cx="5334000" cy="762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9906000" y="54610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while loop keeps the user "trapped" until they provide valid input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70000" y="7366000"/>
            <a:ext cx="13716000" cy="17526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51000" y="736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51000" y="7848600"/>
            <a:ext cx="1295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The loop condition checks for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INVALID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input (age &lt; 0 || age &gt; 120), not valid input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The error message tells the user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exactly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what is acceptable ("Enter 0-120")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Both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scanf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must be inside the loop body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Validation — Menu Selection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508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18415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2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banking menu system — validate that the user selects an option from 1 to 4 only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270000" y="2667000"/>
            <a:ext cx="13716000" cy="40005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51000" y="2857500"/>
            <a:ext cx="12954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choice;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"Menu:\n1. Deposit\n2. Withdraw\n3. Balance\n4. Exit\n"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choice (1-4): 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&amp;choice);</a:t>
            </a:r>
            <a:endParaRPr lang="en-US" sz="1700" dirty="0"/>
          </a:p>
          <a:p>
            <a:pPr algn="l">
              <a:lnSpc>
                <a:spcPct val="155000"/>
              </a:lnSpc>
            </a:pP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(choice &lt; 1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||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choice &gt; 4) {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"Invalid! Enter a number from 1 to 4: 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scanf(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"%d"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&amp;choice);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70000" y="6705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Practices for Validation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70000" y="7048500"/>
            <a:ext cx="6604000" cy="7366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24000" y="711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819" y="41731"/>
                </a:moveTo>
                <a:cubicBezTo>
                  <a:pt x="305548" y="47923"/>
                  <a:pt x="307726" y="59829"/>
                  <a:pt x="300650" y="68342"/>
                </a:cubicBezTo>
                <a:lnTo>
                  <a:pt x="126478" y="277892"/>
                </a:lnTo>
                <a:cubicBezTo>
                  <a:pt x="122736" y="282416"/>
                  <a:pt x="116953" y="285214"/>
                  <a:pt x="110558" y="285690"/>
                </a:cubicBezTo>
                <a:cubicBezTo>
                  <a:pt x="104163" y="286167"/>
                  <a:pt x="97971" y="284083"/>
                  <a:pt x="93481" y="280154"/>
                </a:cubicBezTo>
                <a:lnTo>
                  <a:pt x="6395" y="203954"/>
                </a:lnTo>
                <a:cubicBezTo>
                  <a:pt x="-2109" y="196513"/>
                  <a:pt x="-2109" y="184428"/>
                  <a:pt x="6395" y="176986"/>
                </a:cubicBezTo>
                <a:cubicBezTo>
                  <a:pt x="14900" y="169545"/>
                  <a:pt x="28711" y="169545"/>
                  <a:pt x="37216" y="176986"/>
                </a:cubicBezTo>
                <a:lnTo>
                  <a:pt x="106272" y="237411"/>
                </a:lnTo>
                <a:lnTo>
                  <a:pt x="265475" y="45899"/>
                </a:lnTo>
                <a:cubicBezTo>
                  <a:pt x="272551" y="37386"/>
                  <a:pt x="286158" y="35481"/>
                  <a:pt x="295887" y="41672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1968500" y="7061200"/>
            <a:ext cx="565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Provide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clear error messages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telling the user what IS valid, not just what isn't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0" y="7048500"/>
            <a:ext cx="6858000" cy="7366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82000" y="711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819" y="41731"/>
                </a:moveTo>
                <a:cubicBezTo>
                  <a:pt x="305548" y="47923"/>
                  <a:pt x="307726" y="59829"/>
                  <a:pt x="300650" y="68342"/>
                </a:cubicBezTo>
                <a:lnTo>
                  <a:pt x="126478" y="277892"/>
                </a:lnTo>
                <a:cubicBezTo>
                  <a:pt x="122736" y="282416"/>
                  <a:pt x="116953" y="285214"/>
                  <a:pt x="110558" y="285690"/>
                </a:cubicBezTo>
                <a:cubicBezTo>
                  <a:pt x="104163" y="286167"/>
                  <a:pt x="97971" y="284083"/>
                  <a:pt x="93481" y="280154"/>
                </a:cubicBezTo>
                <a:lnTo>
                  <a:pt x="6395" y="203954"/>
                </a:lnTo>
                <a:cubicBezTo>
                  <a:pt x="-2109" y="196513"/>
                  <a:pt x="-2109" y="184428"/>
                  <a:pt x="6395" y="176986"/>
                </a:cubicBezTo>
                <a:cubicBezTo>
                  <a:pt x="14900" y="169545"/>
                  <a:pt x="28711" y="169545"/>
                  <a:pt x="37216" y="176986"/>
                </a:cubicBezTo>
                <a:lnTo>
                  <a:pt x="106272" y="237411"/>
                </a:lnTo>
                <a:lnTo>
                  <a:pt x="265475" y="45899"/>
                </a:lnTo>
                <a:cubicBezTo>
                  <a:pt x="272551" y="37386"/>
                  <a:pt x="286158" y="35481"/>
                  <a:pt x="295887" y="41672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8826500" y="7061200"/>
            <a:ext cx="5905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Show the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 range/format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every error message so users know what to enter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70000" y="7874000"/>
            <a:ext cx="6604000" cy="7366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24000" y="793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819" y="41731"/>
                </a:moveTo>
                <a:cubicBezTo>
                  <a:pt x="305548" y="47923"/>
                  <a:pt x="307726" y="59829"/>
                  <a:pt x="300650" y="68342"/>
                </a:cubicBezTo>
                <a:lnTo>
                  <a:pt x="126478" y="277892"/>
                </a:lnTo>
                <a:cubicBezTo>
                  <a:pt x="122736" y="282416"/>
                  <a:pt x="116953" y="285214"/>
                  <a:pt x="110558" y="285690"/>
                </a:cubicBezTo>
                <a:cubicBezTo>
                  <a:pt x="104163" y="286167"/>
                  <a:pt x="97971" y="284083"/>
                  <a:pt x="93481" y="280154"/>
                </a:cubicBezTo>
                <a:lnTo>
                  <a:pt x="6395" y="203954"/>
                </a:lnTo>
                <a:cubicBezTo>
                  <a:pt x="-2109" y="196513"/>
                  <a:pt x="-2109" y="184428"/>
                  <a:pt x="6395" y="176986"/>
                </a:cubicBezTo>
                <a:cubicBezTo>
                  <a:pt x="14900" y="169545"/>
                  <a:pt x="28711" y="169545"/>
                  <a:pt x="37216" y="176986"/>
                </a:cubicBezTo>
                <a:lnTo>
                  <a:pt x="106272" y="237411"/>
                </a:lnTo>
                <a:lnTo>
                  <a:pt x="265475" y="45899"/>
                </a:lnTo>
                <a:cubicBezTo>
                  <a:pt x="272551" y="37386"/>
                  <a:pt x="286158" y="35481"/>
                  <a:pt x="295887" y="41672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968500" y="7886700"/>
            <a:ext cx="565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complex validation, consider writing a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separate validation function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8000" y="7874000"/>
            <a:ext cx="6858000" cy="7366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2000" y="793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819" y="41731"/>
                </a:moveTo>
                <a:cubicBezTo>
                  <a:pt x="305548" y="47923"/>
                  <a:pt x="307726" y="59829"/>
                  <a:pt x="300650" y="68342"/>
                </a:cubicBezTo>
                <a:lnTo>
                  <a:pt x="126478" y="277892"/>
                </a:lnTo>
                <a:cubicBezTo>
                  <a:pt x="122736" y="282416"/>
                  <a:pt x="116953" y="285214"/>
                  <a:pt x="110558" y="285690"/>
                </a:cubicBezTo>
                <a:cubicBezTo>
                  <a:pt x="104163" y="286167"/>
                  <a:pt x="97971" y="284083"/>
                  <a:pt x="93481" y="280154"/>
                </a:cubicBezTo>
                <a:lnTo>
                  <a:pt x="6395" y="203954"/>
                </a:lnTo>
                <a:cubicBezTo>
                  <a:pt x="-2109" y="196513"/>
                  <a:pt x="-2109" y="184428"/>
                  <a:pt x="6395" y="176986"/>
                </a:cubicBezTo>
                <a:cubicBezTo>
                  <a:pt x="14900" y="169545"/>
                  <a:pt x="28711" y="169545"/>
                  <a:pt x="37216" y="176986"/>
                </a:cubicBezTo>
                <a:lnTo>
                  <a:pt x="106272" y="237411"/>
                </a:lnTo>
                <a:lnTo>
                  <a:pt x="265475" y="45899"/>
                </a:lnTo>
                <a:cubicBezTo>
                  <a:pt x="272551" y="37386"/>
                  <a:pt x="286158" y="35481"/>
                  <a:pt x="295887" y="41672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8826500" y="7886700"/>
            <a:ext cx="5905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Consider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do-while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validation — guarantees at least one prompt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essential tool for counting, tracking, and controlling repetition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Counter? — Definition &amp; Concept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778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1651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0"/>
                </a:moveTo>
                <a:cubicBezTo>
                  <a:pt x="34171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34171" y="457200"/>
                  <a:pt x="76200" y="457200"/>
                </a:cubicBezTo>
                <a:lnTo>
                  <a:pt x="381000" y="457200"/>
                </a:lnTo>
                <a:cubicBezTo>
                  <a:pt x="423029" y="457200"/>
                  <a:pt x="457200" y="431572"/>
                  <a:pt x="457200" y="400050"/>
                </a:cubicBezTo>
                <a:lnTo>
                  <a:pt x="457200" y="57150"/>
                </a:lnTo>
                <a:cubicBezTo>
                  <a:pt x="457200" y="25628"/>
                  <a:pt x="423029" y="0"/>
                  <a:pt x="381000" y="0"/>
                </a:cubicBezTo>
                <a:lnTo>
                  <a:pt x="76200" y="0"/>
                </a:lnTo>
                <a:close/>
                <a:moveTo>
                  <a:pt x="114300" y="57150"/>
                </a:moveTo>
                <a:lnTo>
                  <a:pt x="342900" y="57150"/>
                </a:lnTo>
                <a:cubicBezTo>
                  <a:pt x="363974" y="57150"/>
                  <a:pt x="381000" y="69919"/>
                  <a:pt x="381000" y="85725"/>
                </a:cubicBezTo>
                <a:lnTo>
                  <a:pt x="381000" y="114300"/>
                </a:lnTo>
                <a:cubicBezTo>
                  <a:pt x="381000" y="130106"/>
                  <a:pt x="363974" y="142875"/>
                  <a:pt x="342900" y="142875"/>
                </a:cubicBezTo>
                <a:lnTo>
                  <a:pt x="114300" y="142875"/>
                </a:lnTo>
                <a:cubicBezTo>
                  <a:pt x="93226" y="142875"/>
                  <a:pt x="76200" y="130106"/>
                  <a:pt x="76200" y="114300"/>
                </a:cubicBezTo>
                <a:lnTo>
                  <a:pt x="76200" y="85725"/>
                </a:lnTo>
                <a:cubicBezTo>
                  <a:pt x="76200" y="69919"/>
                  <a:pt x="93226" y="57150"/>
                  <a:pt x="114300" y="57150"/>
                </a:cubicBezTo>
                <a:close/>
                <a:moveTo>
                  <a:pt x="133350" y="207169"/>
                </a:moveTo>
                <a:cubicBezTo>
                  <a:pt x="133350" y="218997"/>
                  <a:pt x="120546" y="228600"/>
                  <a:pt x="104775" y="228600"/>
                </a:cubicBezTo>
                <a:cubicBezTo>
                  <a:pt x="89004" y="228600"/>
                  <a:pt x="76200" y="218997"/>
                  <a:pt x="76200" y="207169"/>
                </a:cubicBezTo>
                <a:cubicBezTo>
                  <a:pt x="76200" y="195341"/>
                  <a:pt x="89004" y="185738"/>
                  <a:pt x="104775" y="185738"/>
                </a:cubicBezTo>
                <a:cubicBezTo>
                  <a:pt x="120546" y="185738"/>
                  <a:pt x="133350" y="195341"/>
                  <a:pt x="133350" y="207169"/>
                </a:cubicBezTo>
                <a:close/>
                <a:moveTo>
                  <a:pt x="228600" y="228600"/>
                </a:moveTo>
                <a:cubicBezTo>
                  <a:pt x="212829" y="228600"/>
                  <a:pt x="200025" y="218997"/>
                  <a:pt x="200025" y="207169"/>
                </a:cubicBezTo>
                <a:cubicBezTo>
                  <a:pt x="200025" y="195341"/>
                  <a:pt x="212829" y="185738"/>
                  <a:pt x="228600" y="185738"/>
                </a:cubicBezTo>
                <a:cubicBezTo>
                  <a:pt x="244371" y="185738"/>
                  <a:pt x="257175" y="195341"/>
                  <a:pt x="257175" y="207169"/>
                </a:cubicBezTo>
                <a:cubicBezTo>
                  <a:pt x="257175" y="218997"/>
                  <a:pt x="244371" y="228600"/>
                  <a:pt x="228600" y="228600"/>
                </a:cubicBezTo>
                <a:close/>
                <a:moveTo>
                  <a:pt x="381000" y="207169"/>
                </a:moveTo>
                <a:cubicBezTo>
                  <a:pt x="381000" y="218997"/>
                  <a:pt x="368196" y="228600"/>
                  <a:pt x="352425" y="228600"/>
                </a:cubicBezTo>
                <a:cubicBezTo>
                  <a:pt x="336654" y="228600"/>
                  <a:pt x="323850" y="218997"/>
                  <a:pt x="323850" y="207169"/>
                </a:cubicBezTo>
                <a:cubicBezTo>
                  <a:pt x="323850" y="195341"/>
                  <a:pt x="336654" y="185738"/>
                  <a:pt x="352425" y="185738"/>
                </a:cubicBezTo>
                <a:cubicBezTo>
                  <a:pt x="368196" y="185738"/>
                  <a:pt x="381000" y="195341"/>
                  <a:pt x="381000" y="207169"/>
                </a:cubicBezTo>
                <a:close/>
                <a:moveTo>
                  <a:pt x="104775" y="314325"/>
                </a:moveTo>
                <a:cubicBezTo>
                  <a:pt x="89004" y="314325"/>
                  <a:pt x="76200" y="304722"/>
                  <a:pt x="76200" y="292894"/>
                </a:cubicBezTo>
                <a:cubicBezTo>
                  <a:pt x="76200" y="281066"/>
                  <a:pt x="89004" y="271463"/>
                  <a:pt x="104775" y="271463"/>
                </a:cubicBezTo>
                <a:cubicBezTo>
                  <a:pt x="120546" y="271463"/>
                  <a:pt x="133350" y="281066"/>
                  <a:pt x="133350" y="292894"/>
                </a:cubicBezTo>
                <a:cubicBezTo>
                  <a:pt x="133350" y="304722"/>
                  <a:pt x="120546" y="314325"/>
                  <a:pt x="104775" y="314325"/>
                </a:cubicBezTo>
                <a:close/>
                <a:moveTo>
                  <a:pt x="257175" y="292894"/>
                </a:moveTo>
                <a:cubicBezTo>
                  <a:pt x="257175" y="304722"/>
                  <a:pt x="244371" y="314325"/>
                  <a:pt x="228600" y="314325"/>
                </a:cubicBezTo>
                <a:cubicBezTo>
                  <a:pt x="212829" y="314325"/>
                  <a:pt x="200025" y="304722"/>
                  <a:pt x="200025" y="292894"/>
                </a:cubicBezTo>
                <a:cubicBezTo>
                  <a:pt x="200025" y="281066"/>
                  <a:pt x="212829" y="271463"/>
                  <a:pt x="228600" y="271463"/>
                </a:cubicBezTo>
                <a:cubicBezTo>
                  <a:pt x="244371" y="271463"/>
                  <a:pt x="257175" y="281066"/>
                  <a:pt x="257175" y="292894"/>
                </a:cubicBezTo>
                <a:close/>
                <a:moveTo>
                  <a:pt x="352425" y="314325"/>
                </a:moveTo>
                <a:cubicBezTo>
                  <a:pt x="336654" y="314325"/>
                  <a:pt x="323850" y="304722"/>
                  <a:pt x="323850" y="292894"/>
                </a:cubicBezTo>
                <a:cubicBezTo>
                  <a:pt x="323850" y="281066"/>
                  <a:pt x="336654" y="271463"/>
                  <a:pt x="352425" y="271463"/>
                </a:cubicBezTo>
                <a:cubicBezTo>
                  <a:pt x="368196" y="271463"/>
                  <a:pt x="381000" y="281066"/>
                  <a:pt x="381000" y="292894"/>
                </a:cubicBezTo>
                <a:cubicBezTo>
                  <a:pt x="381000" y="304722"/>
                  <a:pt x="368196" y="314325"/>
                  <a:pt x="352425" y="314325"/>
                </a:cubicBezTo>
                <a:close/>
                <a:moveTo>
                  <a:pt x="76200" y="378619"/>
                </a:moveTo>
                <a:cubicBezTo>
                  <a:pt x="76200" y="366742"/>
                  <a:pt x="88940" y="357188"/>
                  <a:pt x="104775" y="357188"/>
                </a:cubicBezTo>
                <a:lnTo>
                  <a:pt x="238125" y="357188"/>
                </a:lnTo>
                <a:cubicBezTo>
                  <a:pt x="253960" y="357188"/>
                  <a:pt x="266700" y="366742"/>
                  <a:pt x="266700" y="378619"/>
                </a:cubicBezTo>
                <a:cubicBezTo>
                  <a:pt x="266700" y="390495"/>
                  <a:pt x="253960" y="400050"/>
                  <a:pt x="238125" y="400050"/>
                </a:cubicBezTo>
                <a:lnTo>
                  <a:pt x="104775" y="400050"/>
                </a:lnTo>
                <a:cubicBezTo>
                  <a:pt x="88940" y="400050"/>
                  <a:pt x="76200" y="390495"/>
                  <a:pt x="76200" y="378619"/>
                </a:cubicBezTo>
                <a:close/>
                <a:moveTo>
                  <a:pt x="352425" y="357188"/>
                </a:moveTo>
                <a:cubicBezTo>
                  <a:pt x="368260" y="357188"/>
                  <a:pt x="381000" y="366742"/>
                  <a:pt x="381000" y="378619"/>
                </a:cubicBezTo>
                <a:cubicBezTo>
                  <a:pt x="381000" y="390495"/>
                  <a:pt x="368260" y="400050"/>
                  <a:pt x="352425" y="400050"/>
                </a:cubicBezTo>
                <a:cubicBezTo>
                  <a:pt x="336590" y="400050"/>
                  <a:pt x="323850" y="390495"/>
                  <a:pt x="323850" y="378619"/>
                </a:cubicBezTo>
                <a:cubicBezTo>
                  <a:pt x="323850" y="366742"/>
                  <a:pt x="336590" y="357188"/>
                  <a:pt x="352425" y="3571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032000"/>
            <a:ext cx="1231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counter is a variable (typically an integer) that is incremented or decremented by a fixed value (usually 1) each time a specific event occurs in a program. Counters keep track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many times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something happens.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3810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 Essential Components of Every Counter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70000" y="44450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24000" y="46355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4635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22500" y="46355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Initialization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24000" y="5270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 the counter to a starting value (usually 0) before counting begins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842000" y="4445000"/>
            <a:ext cx="4318000" cy="209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96000" y="46355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4635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94500" y="46355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96000" y="5270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 WHAT you're counting — what event triggers the counter to update?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414000" y="4445000"/>
            <a:ext cx="4572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68000" y="46355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0" y="4635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366500" y="46355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668000" y="5270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Increment or decrement the counter when the target event occurs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270000" y="66675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51000" y="698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2349500" y="6794500"/>
            <a:ext cx="1231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Analogy:</a:t>
            </a:r>
            <a:pPr algn="l">
              <a:lnSpc>
                <a:spcPct val="16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tally counter used by a doorman at a nightclub — starts at 0, clicks +1 for each person entering, shows total count at the end. That's exactly how a program counter works!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70000" y="8064500"/>
            <a:ext cx="1371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counters matter: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They are the foundation of counting loops, statistics, data analysis, and game scoring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Counters — Up, Down &amp; Step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572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2032000" cy="4064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159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 Counter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1000" y="2768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3898" y="17264"/>
                </a:moveTo>
                <a:cubicBezTo>
                  <a:pt x="267361" y="4862"/>
                  <a:pt x="240506" y="4862"/>
                  <a:pt x="223970" y="17264"/>
                </a:cubicBezTo>
                <a:lnTo>
                  <a:pt x="12303" y="176014"/>
                </a:lnTo>
                <a:cubicBezTo>
                  <a:pt x="-4233" y="188416"/>
                  <a:pt x="-4233" y="208558"/>
                  <a:pt x="12303" y="220960"/>
                </a:cubicBezTo>
                <a:cubicBezTo>
                  <a:pt x="28840" y="233362"/>
                  <a:pt x="55695" y="233362"/>
                  <a:pt x="72231" y="220960"/>
                </a:cubicBezTo>
                <a:lnTo>
                  <a:pt x="211667" y="116384"/>
                </a:lnTo>
                <a:lnTo>
                  <a:pt x="211667" y="484187"/>
                </a:lnTo>
                <a:cubicBezTo>
                  <a:pt x="211667" y="501749"/>
                  <a:pt x="230584" y="515938"/>
                  <a:pt x="254000" y="515938"/>
                </a:cubicBezTo>
                <a:cubicBezTo>
                  <a:pt x="277416" y="515938"/>
                  <a:pt x="296333" y="501749"/>
                  <a:pt x="296333" y="484187"/>
                </a:cubicBezTo>
                <a:lnTo>
                  <a:pt x="296333" y="116384"/>
                </a:lnTo>
                <a:lnTo>
                  <a:pt x="435769" y="220960"/>
                </a:lnTo>
                <a:cubicBezTo>
                  <a:pt x="452305" y="233363"/>
                  <a:pt x="479160" y="233363"/>
                  <a:pt x="495697" y="220960"/>
                </a:cubicBezTo>
                <a:cubicBezTo>
                  <a:pt x="512233" y="208558"/>
                  <a:pt x="512233" y="188416"/>
                  <a:pt x="495697" y="176014"/>
                </a:cubicBezTo>
                <a:lnTo>
                  <a:pt x="284030" y="17264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429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Counts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upward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from a starting value. Most common type in programming.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524000" y="4318000"/>
            <a:ext cx="4064000" cy="1778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4445000"/>
            <a:ext cx="3683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Syntax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or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= count + 1;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0" y="1905000"/>
            <a:ext cx="4318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0000" y="2159000"/>
            <a:ext cx="2286000" cy="4064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000" y="2159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Counter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47000" y="2768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4102" y="498673"/>
                </a:moveTo>
                <a:cubicBezTo>
                  <a:pt x="240639" y="511076"/>
                  <a:pt x="267494" y="511076"/>
                  <a:pt x="284030" y="498673"/>
                </a:cubicBezTo>
                <a:lnTo>
                  <a:pt x="495697" y="339923"/>
                </a:lnTo>
                <a:cubicBezTo>
                  <a:pt x="512233" y="327521"/>
                  <a:pt x="512233" y="307380"/>
                  <a:pt x="495697" y="294977"/>
                </a:cubicBezTo>
                <a:cubicBezTo>
                  <a:pt x="479160" y="282575"/>
                  <a:pt x="452305" y="282575"/>
                  <a:pt x="435769" y="294977"/>
                </a:cubicBezTo>
                <a:lnTo>
                  <a:pt x="296333" y="399554"/>
                </a:lnTo>
                <a:lnTo>
                  <a:pt x="296333" y="31750"/>
                </a:lnTo>
                <a:cubicBezTo>
                  <a:pt x="296333" y="14188"/>
                  <a:pt x="277416" y="0"/>
                  <a:pt x="254000" y="0"/>
                </a:cubicBezTo>
                <a:cubicBezTo>
                  <a:pt x="230584" y="0"/>
                  <a:pt x="211667" y="14188"/>
                  <a:pt x="211667" y="31750"/>
                </a:cubicBezTo>
                <a:lnTo>
                  <a:pt x="211667" y="399554"/>
                </a:lnTo>
                <a:lnTo>
                  <a:pt x="72231" y="294977"/>
                </a:lnTo>
                <a:cubicBezTo>
                  <a:pt x="55695" y="282575"/>
                  <a:pt x="28840" y="282575"/>
                  <a:pt x="12303" y="294977"/>
                </a:cubicBezTo>
                <a:cubicBezTo>
                  <a:pt x="-4233" y="307380"/>
                  <a:pt x="-4233" y="327521"/>
                  <a:pt x="12303" y="339923"/>
                </a:cubicBezTo>
                <a:lnTo>
                  <a:pt x="223970" y="49867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0000" y="3429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Counts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downward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toward zero. Used for countdowns and limits.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50000" y="4318000"/>
            <a:ext cx="3810000" cy="1778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540500" y="4445000"/>
            <a:ext cx="3429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Syntax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or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= count - 1;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68000" y="1905000"/>
            <a:ext cx="4318000" cy="431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10922000" y="2159000"/>
            <a:ext cx="2032000" cy="406400"/>
          </a:xfrm>
          <a:prstGeom prst="roundRect">
            <a:avLst>
              <a:gd name="adj" fmla="val 20000"/>
            </a:avLst>
          </a:prstGeom>
          <a:solidFill>
            <a:srgbClr val="FFFFFF">
              <a:alpha val="2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2159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Counter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319000" y="2768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8667" y="63500"/>
                </a:moveTo>
                <a:cubicBezTo>
                  <a:pt x="338667" y="45938"/>
                  <a:pt x="351278" y="31750"/>
                  <a:pt x="366889" y="31750"/>
                </a:cubicBezTo>
                <a:lnTo>
                  <a:pt x="479778" y="31750"/>
                </a:lnTo>
                <a:cubicBezTo>
                  <a:pt x="495388" y="31750"/>
                  <a:pt x="508000" y="45938"/>
                  <a:pt x="508000" y="63500"/>
                </a:cubicBezTo>
                <a:cubicBezTo>
                  <a:pt x="508000" y="81062"/>
                  <a:pt x="495388" y="95250"/>
                  <a:pt x="479778" y="95250"/>
                </a:cubicBezTo>
                <a:lnTo>
                  <a:pt x="395111" y="95250"/>
                </a:lnTo>
                <a:lnTo>
                  <a:pt x="395111" y="190500"/>
                </a:lnTo>
                <a:cubicBezTo>
                  <a:pt x="395111" y="208062"/>
                  <a:pt x="382499" y="222250"/>
                  <a:pt x="366889" y="222250"/>
                </a:cubicBezTo>
                <a:lnTo>
                  <a:pt x="282222" y="222250"/>
                </a:lnTo>
                <a:lnTo>
                  <a:pt x="282222" y="317500"/>
                </a:lnTo>
                <a:cubicBezTo>
                  <a:pt x="282222" y="335062"/>
                  <a:pt x="269610" y="349250"/>
                  <a:pt x="254000" y="349250"/>
                </a:cubicBezTo>
                <a:lnTo>
                  <a:pt x="169333" y="349250"/>
                </a:lnTo>
                <a:lnTo>
                  <a:pt x="169333" y="444500"/>
                </a:lnTo>
                <a:cubicBezTo>
                  <a:pt x="169333" y="462062"/>
                  <a:pt x="156722" y="476250"/>
                  <a:pt x="141111" y="476250"/>
                </a:cubicBezTo>
                <a:lnTo>
                  <a:pt x="28222" y="476250"/>
                </a:lnTo>
                <a:cubicBezTo>
                  <a:pt x="12612" y="476250"/>
                  <a:pt x="0" y="462062"/>
                  <a:pt x="0" y="444500"/>
                </a:cubicBezTo>
                <a:cubicBezTo>
                  <a:pt x="0" y="426938"/>
                  <a:pt x="12612" y="412750"/>
                  <a:pt x="28222" y="412750"/>
                </a:cubicBezTo>
                <a:lnTo>
                  <a:pt x="112889" y="412750"/>
                </a:lnTo>
                <a:lnTo>
                  <a:pt x="112889" y="317500"/>
                </a:lnTo>
                <a:cubicBezTo>
                  <a:pt x="112889" y="299938"/>
                  <a:pt x="125501" y="285750"/>
                  <a:pt x="141111" y="285750"/>
                </a:cubicBezTo>
                <a:lnTo>
                  <a:pt x="225778" y="285750"/>
                </a:lnTo>
                <a:lnTo>
                  <a:pt x="225778" y="190500"/>
                </a:lnTo>
                <a:cubicBezTo>
                  <a:pt x="225778" y="172938"/>
                  <a:pt x="238390" y="158750"/>
                  <a:pt x="254000" y="158750"/>
                </a:cubicBezTo>
                <a:lnTo>
                  <a:pt x="338667" y="158750"/>
                </a:lnTo>
                <a:lnTo>
                  <a:pt x="338667" y="6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22000" y="3429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Changes by a value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other than 1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(e.g., +2, +5, -3).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922000" y="4318000"/>
            <a:ext cx="3810000" cy="1778000"/>
          </a:xfrm>
          <a:prstGeom prst="roundRect">
            <a:avLst>
              <a:gd name="adj" fmla="val 6000"/>
            </a:avLst>
          </a:prstGeom>
          <a:solidFill>
            <a:srgbClr val="FFFFFF">
              <a:alpha val="12549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112500" y="4445000"/>
            <a:ext cx="3429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Syntax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+=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Example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for(i=0; i&lt;=20; i+=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6477000"/>
          <a:ext cx="13716000" cy="16510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3840480"/>
                <a:gridCol w="41148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Direction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Syntax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Typical Use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E5E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Up Counter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Increasing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count++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Items processed, scores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Down Counter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Decreasing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count--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Countdowns, retry limits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 — Vote Counting System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5715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1841500"/>
            <a:ext cx="1295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 election with 3 candidates. Count votes until -1 is entered. Each vote is a number (1, 2, or 3).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" y="2667000"/>
            <a:ext cx="13716000" cy="59055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51000" y="2794000"/>
            <a:ext cx="1295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&lt;stdio.h&gt;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main() {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int vote;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int cand1 =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cand2 =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cand3 =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 counters, all start at 0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votes (1, 2, 3) or -1 to end:\n"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scanf(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&amp;vote);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(vote != -1) {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(vote == 1) cand1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   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Up counter for candidate 1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(vote == 2) cand2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Up counter for candidate 2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(vote == 3) cand3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Up counter for candidate 3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printf(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 vote!\n"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scanf(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&amp;vote);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"Results: C1=%d, C2=%d, C3=%d\n"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cand1, cand2, cand3);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70000" y="8572500"/>
            <a:ext cx="13716000" cy="5334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51000" y="866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71238" y="266700"/>
                </a:moveTo>
                <a:cubicBezTo>
                  <a:pt x="277998" y="251212"/>
                  <a:pt x="291518" y="237182"/>
                  <a:pt x="306798" y="225098"/>
                </a:cubicBezTo>
                <a:cubicBezTo>
                  <a:pt x="337079" y="201206"/>
                  <a:pt x="355600" y="168910"/>
                  <a:pt x="355600" y="133350"/>
                </a:cubicBezTo>
                <a:cubicBezTo>
                  <a:pt x="355600" y="59730"/>
                  <a:pt x="275960" y="0"/>
                  <a:pt x="177800" y="0"/>
                </a:cubicBezTo>
                <a:cubicBezTo>
                  <a:pt x="79640" y="0"/>
                  <a:pt x="0" y="59730"/>
                  <a:pt x="0" y="133350"/>
                </a:cubicBezTo>
                <a:cubicBezTo>
                  <a:pt x="0" y="168910"/>
                  <a:pt x="18521" y="201206"/>
                  <a:pt x="48802" y="225098"/>
                </a:cubicBezTo>
                <a:cubicBezTo>
                  <a:pt x="64082" y="237182"/>
                  <a:pt x="77695" y="251212"/>
                  <a:pt x="84362" y="266700"/>
                </a:cubicBezTo>
                <a:lnTo>
                  <a:pt x="271145" y="266700"/>
                </a:lnTo>
                <a:close/>
                <a:moveTo>
                  <a:pt x="266700" y="300038"/>
                </a:moveTo>
                <a:lnTo>
                  <a:pt x="88900" y="300038"/>
                </a:lnTo>
                <a:lnTo>
                  <a:pt x="88900" y="311150"/>
                </a:lnTo>
                <a:cubicBezTo>
                  <a:pt x="88900" y="341848"/>
                  <a:pt x="122052" y="366712"/>
                  <a:pt x="162983" y="366712"/>
                </a:cubicBezTo>
                <a:lnTo>
                  <a:pt x="192617" y="366712"/>
                </a:lnTo>
                <a:cubicBezTo>
                  <a:pt x="233548" y="366712"/>
                  <a:pt x="266700" y="341848"/>
                  <a:pt x="266700" y="311150"/>
                </a:cubicBezTo>
                <a:lnTo>
                  <a:pt x="266700" y="300038"/>
                </a:lnTo>
                <a:close/>
                <a:moveTo>
                  <a:pt x="170392" y="77788"/>
                </a:moveTo>
                <a:cubicBezTo>
                  <a:pt x="133535" y="77788"/>
                  <a:pt x="103717" y="100151"/>
                  <a:pt x="103717" y="127794"/>
                </a:cubicBezTo>
                <a:cubicBezTo>
                  <a:pt x="103717" y="137031"/>
                  <a:pt x="93808" y="144463"/>
                  <a:pt x="81492" y="144463"/>
                </a:cubicBezTo>
                <a:cubicBezTo>
                  <a:pt x="69175" y="144463"/>
                  <a:pt x="59267" y="137031"/>
                  <a:pt x="59267" y="127794"/>
                </a:cubicBezTo>
                <a:cubicBezTo>
                  <a:pt x="59267" y="81746"/>
                  <a:pt x="108995" y="44450"/>
                  <a:pt x="170392" y="44450"/>
                </a:cubicBezTo>
                <a:cubicBezTo>
                  <a:pt x="182708" y="44450"/>
                  <a:pt x="192617" y="51881"/>
                  <a:pt x="192617" y="61119"/>
                </a:cubicBezTo>
                <a:cubicBezTo>
                  <a:pt x="192617" y="70356"/>
                  <a:pt x="182708" y="77788"/>
                  <a:pt x="170392" y="7778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2159000" y="850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51000" y="8788400"/>
            <a:ext cx="129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20000"/>
              </a:lnSpc>
            </a:pPr>
            <a:r>
              <a:rPr lang="en-US" sz="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counters</a:t>
            </a:r>
            <a:pPr algn="l">
              <a:lnSpc>
                <a:spcPct val="120000"/>
              </a:lnSpc>
            </a:pPr>
            <a:r>
              <a:rPr lang="en-US" sz="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track different categories • Used in </a:t>
            </a:r>
            <a:pPr algn="l">
              <a:lnSpc>
                <a:spcPct val="120000"/>
              </a:lnSpc>
            </a:pPr>
            <a:r>
              <a:rPr lang="en-US" sz="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surveys, polls, inventory, scorekeeping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Counters in Action — Code Examples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95500"/>
            <a:ext cx="2540000" cy="3556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95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1: Count Digits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2540000"/>
            <a:ext cx="609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num =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12345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count =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(num &gt; 0) {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num = num / 10;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count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count = 5 (5 digits)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905000"/>
            <a:ext cx="6858000" cy="342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961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2095500"/>
            <a:ext cx="3048000" cy="3556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2095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2: Count Even Numbers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82000" y="2540000"/>
            <a:ext cx="635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arr[] = {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1,2,3,4,5,6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evenCount =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(int i = 0; i &lt; 6; i++) {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(arr[i] % 2 == 0)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evenCount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evenCount = 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334000"/>
            <a:ext cx="13716000" cy="2667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524000" y="4889500"/>
            <a:ext cx="3556000" cy="355600"/>
          </a:xfrm>
          <a:prstGeom prst="roundRect">
            <a:avLst>
              <a:gd name="adj" fmla="val 20000"/>
            </a:avLst>
          </a:prstGeom>
          <a:solidFill>
            <a:srgbClr val="FFFFFF">
              <a:alpha val="25098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4889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3: Retry Limit (Down Counter)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4000" y="5461000"/>
            <a:ext cx="1320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attempts = 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     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Start with 3 attempts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(attempts &gt; 0) {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Try login...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attempts</a:t>
            </a:r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      </a:t>
            </a:r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One less attempt remaining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When attempts reaches 0, access is denied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70000" y="800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Counter Best Practices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70000" y="8445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Always initialize counters to a known value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2000" y="8445500"/>
            <a:ext cx="457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descriptive names (passCount, not just "c")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668000" y="8445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Update the counter consistently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2413000" y="2540000"/>
            <a:ext cx="1143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 Coding, Keep Learning!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048000" y="4064000"/>
            <a:ext cx="1016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You've mastered the building blocks of C — now practice makes perfect!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83000" y="4953000"/>
            <a:ext cx="8890000" cy="1016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7000" y="5016500"/>
            <a:ext cx="838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++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· 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loops  ·  Input validation  ·  Counters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53000" y="6350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 code every day. Every expert was once a beginner.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 Fundamentals — Operators, Loops &amp; Counters</dc:title>
  <dc:subject>C Programming Fundamentals — Operators, Loops &amp; Counters</dc:subject>
  <dc:creator>Kimi</dc:creator>
  <cp:lastModifiedBy>Kimi</cp:lastModifiedBy>
  <cp:revision>1</cp:revision>
  <dcterms:created xsi:type="dcterms:W3CDTF">2026-06-30T04:02:56Z</dcterms:created>
  <dcterms:modified xsi:type="dcterms:W3CDTF">2026-06-30T04:02:56Z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 Programming Fundamentals — Operators, Loops &amp; Counters","ContentProducer":"001191110108MACG2KBH8F10000","ProduceID":"19f16895-9942-8ffd-8000-000015f6ec33","ReservedCode1":"","ContentPropagator":"001191110108MACG2KBH8F20000","PropagateID":"19f1683e-7ea2-8ead-8000-09d14652d5ec","ReservedCode2":""}</vt:lpwstr>
  </property>
</Properties>
</file>