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Quattrocento Sans" charset="-122" pitchFamily="34"/>
      <p:regular r:id="rId34"/>
    </p:embeddedFont>
    <p:embeddedFont>
      <p:font typeface="Liter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%</c:v>
                </c:pt>
              </c:strCache>
            </c:strRef>
          </c:tx>
          <c:spPr>
            <a:solidFill>
              <a:srgbClr val="D4652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Python</c:v>
                  </c:pt>
                  <c:pt idx="1">
                    <c:v>Java</c:v>
                  </c:pt>
                  <c:pt idx="2">
                    <c:v>JavaScript</c:v>
                  </c:pt>
                  <c:pt idx="3">
                    <c:v>C#</c:v>
                  </c:pt>
                  <c:pt idx="4">
                    <c:v>C/C++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28.1</c:v>
                </c:pt>
                <c:pt idx="1">
                  <c:v>15.8</c:v>
                </c:pt>
                <c:pt idx="2">
                  <c:v>8.9</c:v>
                </c:pt>
                <c:pt idx="3">
                  <c:v>6.6</c:v>
                </c:pt>
                <c:pt idx="4">
                  <c:v>6.4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2_Modern_Programmer_Home_Office_Setup.png">    </p:cNvPr>
          <p:cNvPicPr>
            <a:picLocks noChangeAspect="1"/>
          </p:cNvPicPr>
          <p:nvPr/>
        </p:nvPicPr>
        <p:blipFill>
          <a:blip r:embed="rId1"/>
          <a:srcRect l="0" r="0" t="28812" b="28812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94000"/>
                </a:srgbClr>
              </a:gs>
              <a:gs pos="55000">
                <a:srgbClr val="152D3A">
                  <a:alpha val="75000"/>
                </a:srgbClr>
              </a:gs>
              <a:gs pos="100000">
                <a:srgbClr val="152D3A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300" kern="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WEEKS 01-02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048000"/>
            <a:ext cx="825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5200" spc="5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</a:t>
            </a:r>
            <a:endParaRPr lang="en-US" sz="4200" dirty="0"/>
          </a:p>
          <a:p>
            <a:pPr>
              <a:lnSpc>
                <a:spcPct val="115000"/>
              </a:lnSpc>
            </a:pPr>
            <a:r>
              <a:rPr lang="en-US" sz="5200" spc="5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5054600"/>
            <a:ext cx="1016000" cy="508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2324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to Computers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Programming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7874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CS101 | BEGINNER LEVEL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9906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2159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Program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857500"/>
            <a:ext cx="6858000" cy="127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62000" y="3048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Systems: Hardware and Software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746500"/>
            <a:ext cx="6858000" cy="127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62000" y="3937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Programs and Programming Languages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635500"/>
            <a:ext cx="6858000" cy="127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762000" y="4826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a Program Made of?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524500"/>
            <a:ext cx="6858000" cy="127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5715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Input, Processing, and Output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413500"/>
            <a:ext cx="6858000" cy="127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762000" y="6604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Programming Process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7302500"/>
            <a:ext cx="6858000" cy="127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62000" y="74930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30000"/>
              </a:lnSpc>
            </a:pPr>
            <a:r>
              <a:rPr lang="en-US" sz="18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and Object-Oriented Programming</a:t>
            </a:r>
            <a:endParaRPr lang="en-US" sz="1600" dirty="0"/>
          </a:p>
        </p:txBody>
      </p:sp>
      <p:pic>
        <p:nvPicPr>
          <p:cNvPr id="18" name="Image 0" descr="https://kimi-img.moonshot.cn/pub/slides/okc/2mvdoszqyzsu2/mnt/agents/output/programming-fundamentals/images/9_Dark_coding_aesthetic_Images_Free.png">    </p:cNvPr>
          <p:cNvPicPr>
            <a:picLocks noChangeAspect="1"/>
          </p:cNvPicPr>
          <p:nvPr/>
        </p:nvPicPr>
        <p:blipFill>
          <a:blip r:embed="rId1"/>
          <a:srcRect l="20987" r="20987" t="0" b="0"/>
          <a:stretch/>
        </p:blipFill>
        <p:spPr>
          <a:xfrm>
            <a:off x="8636000" y="635000"/>
            <a:ext cx="6858000" cy="7874000"/>
          </a:xfrm>
          <a:prstGeom prst="roundRect">
            <a:avLst>
              <a:gd name="adj" fmla="val 8000"/>
            </a:avLst>
          </a:prstGeom>
        </p:spPr>
      </p:pic>
      <p:sp>
        <p:nvSpPr>
          <p:cNvPr id="19" name="Text 1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5_Software_development_workspace_Photos.png">    </p:cNvPr>
          <p:cNvPicPr>
            <a:picLocks noChangeAspect="1"/>
          </p:cNvPicPr>
          <p:nvPr/>
        </p:nvPicPr>
        <p:blipFill>
          <a:blip r:embed="rId1"/>
          <a:srcRect l="30" r="3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PROGRAM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47625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16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importance and purpose of computer programming in today's world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Programming and Why Learn It?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14732000" cy="9525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 is the process of creating a set of instructions that tell a computer how to perform a task. It is the art of problem-solving using code.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94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465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Computers are everywhere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smartphones, cars, medical devices, appliances, and entertainment systems all run software.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enables us to: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 repetitive tasks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Solve complex problems efficiently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 new technologies and innovations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0" y="2794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D465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High demand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programmers across all industries with competitive salaries.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Programming teaches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computational thinking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Breaking problems into smaller steps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Logical reasoning and analysis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Systematic approach to solutions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6667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1079500" y="692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1" name="Text 9"/>
          <p:cNvSpPr/>
          <p:nvPr/>
        </p:nvSpPr>
        <p:spPr>
          <a:xfrm>
            <a:off x="1714500" y="6794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According to the U.S. Bureau of Labor Statistics, software developer jobs are projected to grow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2022 to 2032 — much faster than average.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 of Programming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60450" y="177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 and Android apps for communication, mobile banking, health tracking, and social media.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875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1" name="Text 9"/>
          <p:cNvSpPr/>
          <p:nvPr/>
        </p:nvSpPr>
        <p:spPr>
          <a:xfrm>
            <a:off x="65151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Development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222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E-commerce platforms, social media networks, streaming services, and online education portals.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875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49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74940"/>
                </a:moveTo>
                <a:lnTo>
                  <a:pt x="167382" y="60494"/>
                </a:lnTo>
                <a:cubicBezTo>
                  <a:pt x="150019" y="36463"/>
                  <a:pt x="122168" y="22225"/>
                  <a:pt x="92442" y="22225"/>
                </a:cubicBezTo>
                <a:cubicBezTo>
                  <a:pt x="41394" y="22225"/>
                  <a:pt x="0" y="63619"/>
                  <a:pt x="0" y="114667"/>
                </a:cubicBezTo>
                <a:lnTo>
                  <a:pt x="0" y="116473"/>
                </a:lnTo>
                <a:cubicBezTo>
                  <a:pt x="0" y="132864"/>
                  <a:pt x="4306" y="149810"/>
                  <a:pt x="11529" y="166688"/>
                </a:cubicBezTo>
                <a:lnTo>
                  <a:pt x="85150" y="166688"/>
                </a:lnTo>
                <a:cubicBezTo>
                  <a:pt x="87372" y="166688"/>
                  <a:pt x="89386" y="165368"/>
                  <a:pt x="90289" y="163284"/>
                </a:cubicBezTo>
                <a:lnTo>
                  <a:pt x="112375" y="110292"/>
                </a:lnTo>
                <a:cubicBezTo>
                  <a:pt x="114945" y="104180"/>
                  <a:pt x="120918" y="100151"/>
                  <a:pt x="127516" y="100013"/>
                </a:cubicBezTo>
                <a:cubicBezTo>
                  <a:pt x="134114" y="99874"/>
                  <a:pt x="140226" y="103763"/>
                  <a:pt x="142935" y="109805"/>
                </a:cubicBezTo>
                <a:lnTo>
                  <a:pt x="178564" y="188913"/>
                </a:lnTo>
                <a:lnTo>
                  <a:pt x="207318" y="131405"/>
                </a:lnTo>
                <a:cubicBezTo>
                  <a:pt x="210165" y="125780"/>
                  <a:pt x="215930" y="122168"/>
                  <a:pt x="222250" y="122168"/>
                </a:cubicBezTo>
                <a:cubicBezTo>
                  <a:pt x="228570" y="122168"/>
                  <a:pt x="234335" y="125710"/>
                  <a:pt x="237182" y="131405"/>
                </a:cubicBezTo>
                <a:lnTo>
                  <a:pt x="253296" y="163562"/>
                </a:lnTo>
                <a:cubicBezTo>
                  <a:pt x="254268" y="165437"/>
                  <a:pt x="256143" y="166618"/>
                  <a:pt x="258296" y="166618"/>
                </a:cubicBezTo>
                <a:lnTo>
                  <a:pt x="344140" y="166618"/>
                </a:lnTo>
                <a:cubicBezTo>
                  <a:pt x="351433" y="149741"/>
                  <a:pt x="355669" y="132794"/>
                  <a:pt x="355669" y="116403"/>
                </a:cubicBezTo>
                <a:lnTo>
                  <a:pt x="355669" y="114598"/>
                </a:lnTo>
                <a:cubicBezTo>
                  <a:pt x="355600" y="63619"/>
                  <a:pt x="314206" y="22225"/>
                  <a:pt x="263158" y="22225"/>
                </a:cubicBezTo>
                <a:cubicBezTo>
                  <a:pt x="233501" y="22225"/>
                  <a:pt x="205581" y="36463"/>
                  <a:pt x="188218" y="60494"/>
                </a:cubicBezTo>
                <a:lnTo>
                  <a:pt x="177800" y="74870"/>
                </a:lnTo>
                <a:close/>
                <a:moveTo>
                  <a:pt x="326152" y="200025"/>
                </a:moveTo>
                <a:lnTo>
                  <a:pt x="258227" y="200025"/>
                </a:lnTo>
                <a:cubicBezTo>
                  <a:pt x="243503" y="200025"/>
                  <a:pt x="230029" y="191691"/>
                  <a:pt x="223431" y="178495"/>
                </a:cubicBezTo>
                <a:lnTo>
                  <a:pt x="222250" y="176133"/>
                </a:lnTo>
                <a:lnTo>
                  <a:pt x="192732" y="235238"/>
                </a:lnTo>
                <a:cubicBezTo>
                  <a:pt x="189885" y="241002"/>
                  <a:pt x="183912" y="244614"/>
                  <a:pt x="177453" y="244475"/>
                </a:cubicBezTo>
                <a:cubicBezTo>
                  <a:pt x="170994" y="244336"/>
                  <a:pt x="165229" y="240516"/>
                  <a:pt x="162590" y="234682"/>
                </a:cubicBezTo>
                <a:lnTo>
                  <a:pt x="128349" y="158631"/>
                </a:lnTo>
                <a:lnTo>
                  <a:pt x="121057" y="176133"/>
                </a:lnTo>
                <a:cubicBezTo>
                  <a:pt x="115014" y="190649"/>
                  <a:pt x="100846" y="200094"/>
                  <a:pt x="85150" y="200094"/>
                </a:cubicBezTo>
                <a:lnTo>
                  <a:pt x="29448" y="200094"/>
                </a:lnTo>
                <a:cubicBezTo>
                  <a:pt x="62230" y="251351"/>
                  <a:pt x="114875" y="298510"/>
                  <a:pt x="147796" y="323652"/>
                </a:cubicBezTo>
                <a:cubicBezTo>
                  <a:pt x="156408" y="330180"/>
                  <a:pt x="166965" y="333444"/>
                  <a:pt x="177731" y="333444"/>
                </a:cubicBezTo>
                <a:cubicBezTo>
                  <a:pt x="188496" y="333444"/>
                  <a:pt x="199122" y="330250"/>
                  <a:pt x="207665" y="323652"/>
                </a:cubicBezTo>
                <a:cubicBezTo>
                  <a:pt x="240725" y="298440"/>
                  <a:pt x="293370" y="251281"/>
                  <a:pt x="326152" y="200025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531600" y="1778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222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imaging software, patient management systems, and drug discovery algorithms.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005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19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419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Automotive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635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Self-driving systems, engine control units, GPS navigation, and vehicle diagnostics.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78500" y="40005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88050" y="419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311150" y="44450"/>
                </a:moveTo>
                <a:cubicBezTo>
                  <a:pt x="384770" y="44450"/>
                  <a:pt x="444500" y="104180"/>
                  <a:pt x="444500" y="177800"/>
                </a:cubicBezTo>
                <a:cubicBezTo>
                  <a:pt x="444500" y="251420"/>
                  <a:pt x="384770" y="311150"/>
                  <a:pt x="311150" y="311150"/>
                </a:cubicBezTo>
                <a:lnTo>
                  <a:pt x="133350" y="311150"/>
                </a:lnTo>
                <a:cubicBezTo>
                  <a:pt x="59730" y="311150"/>
                  <a:pt x="0" y="251420"/>
                  <a:pt x="0" y="177800"/>
                </a:cubicBezTo>
                <a:cubicBezTo>
                  <a:pt x="0" y="104180"/>
                  <a:pt x="59730" y="44450"/>
                  <a:pt x="133350" y="44450"/>
                </a:cubicBezTo>
                <a:lnTo>
                  <a:pt x="311150" y="44450"/>
                </a:lnTo>
                <a:close/>
                <a:moveTo>
                  <a:pt x="133350" y="122238"/>
                </a:moveTo>
                <a:cubicBezTo>
                  <a:pt x="124113" y="122238"/>
                  <a:pt x="116681" y="129669"/>
                  <a:pt x="116681" y="138906"/>
                </a:cubicBezTo>
                <a:lnTo>
                  <a:pt x="116681" y="161131"/>
                </a:lnTo>
                <a:lnTo>
                  <a:pt x="94456" y="161131"/>
                </a:lnTo>
                <a:cubicBezTo>
                  <a:pt x="85219" y="161131"/>
                  <a:pt x="77788" y="168563"/>
                  <a:pt x="77788" y="177800"/>
                </a:cubicBezTo>
                <a:cubicBezTo>
                  <a:pt x="77788" y="187037"/>
                  <a:pt x="85219" y="194469"/>
                  <a:pt x="94456" y="194469"/>
                </a:cubicBezTo>
                <a:lnTo>
                  <a:pt x="116681" y="194469"/>
                </a:lnTo>
                <a:lnTo>
                  <a:pt x="116681" y="216694"/>
                </a:lnTo>
                <a:cubicBezTo>
                  <a:pt x="116681" y="225931"/>
                  <a:pt x="124113" y="233363"/>
                  <a:pt x="133350" y="233363"/>
                </a:cubicBezTo>
                <a:cubicBezTo>
                  <a:pt x="142587" y="233363"/>
                  <a:pt x="150019" y="225931"/>
                  <a:pt x="150019" y="216694"/>
                </a:cubicBezTo>
                <a:lnTo>
                  <a:pt x="150019" y="194469"/>
                </a:lnTo>
                <a:lnTo>
                  <a:pt x="172244" y="194469"/>
                </a:lnTo>
                <a:cubicBezTo>
                  <a:pt x="181481" y="194469"/>
                  <a:pt x="188913" y="187037"/>
                  <a:pt x="188913" y="177800"/>
                </a:cubicBezTo>
                <a:cubicBezTo>
                  <a:pt x="188913" y="168563"/>
                  <a:pt x="181481" y="161131"/>
                  <a:pt x="172244" y="161131"/>
                </a:cubicBezTo>
                <a:lnTo>
                  <a:pt x="150019" y="161131"/>
                </a:lnTo>
                <a:lnTo>
                  <a:pt x="150019" y="138906"/>
                </a:lnTo>
                <a:cubicBezTo>
                  <a:pt x="150019" y="129669"/>
                  <a:pt x="142587" y="122238"/>
                  <a:pt x="133350" y="122238"/>
                </a:cubicBezTo>
                <a:close/>
                <a:moveTo>
                  <a:pt x="300038" y="188913"/>
                </a:moveTo>
                <a:cubicBezTo>
                  <a:pt x="287771" y="188913"/>
                  <a:pt x="277813" y="198871"/>
                  <a:pt x="277813" y="211138"/>
                </a:cubicBezTo>
                <a:cubicBezTo>
                  <a:pt x="277813" y="223404"/>
                  <a:pt x="287771" y="233363"/>
                  <a:pt x="300038" y="233363"/>
                </a:cubicBezTo>
                <a:cubicBezTo>
                  <a:pt x="312304" y="233363"/>
                  <a:pt x="322263" y="223404"/>
                  <a:pt x="322263" y="211138"/>
                </a:cubicBezTo>
                <a:cubicBezTo>
                  <a:pt x="322263" y="198871"/>
                  <a:pt x="312304" y="188913"/>
                  <a:pt x="300038" y="188913"/>
                </a:cubicBezTo>
                <a:close/>
                <a:moveTo>
                  <a:pt x="344488" y="122238"/>
                </a:moveTo>
                <a:cubicBezTo>
                  <a:pt x="332221" y="122238"/>
                  <a:pt x="322263" y="132196"/>
                  <a:pt x="322263" y="144463"/>
                </a:cubicBezTo>
                <a:cubicBezTo>
                  <a:pt x="322263" y="156729"/>
                  <a:pt x="332221" y="166688"/>
                  <a:pt x="344488" y="166688"/>
                </a:cubicBezTo>
                <a:cubicBezTo>
                  <a:pt x="356754" y="166688"/>
                  <a:pt x="366712" y="156729"/>
                  <a:pt x="366712" y="144463"/>
                </a:cubicBezTo>
                <a:cubicBezTo>
                  <a:pt x="366712" y="132196"/>
                  <a:pt x="356754" y="122238"/>
                  <a:pt x="344488" y="122238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3" name="Text 21"/>
          <p:cNvSpPr/>
          <p:nvPr/>
        </p:nvSpPr>
        <p:spPr>
          <a:xfrm>
            <a:off x="6515100" y="419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4635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games, CGI effects in movies, music production software, and virtual reality.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795000" y="40005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71225" y="4191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7" name="Text 25"/>
          <p:cNvSpPr/>
          <p:nvPr/>
        </p:nvSpPr>
        <p:spPr>
          <a:xfrm>
            <a:off x="11531600" y="419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Science &amp; Research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4635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Climate modeling, space exploration data analysis, and genome sequencing.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647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Everyday examples: digital calendars, GPS navigation, online banking, smart home devices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1_System_Hardware_Component_Motherboard.png">    </p:cNvPr>
          <p:cNvPicPr>
            <a:picLocks noChangeAspect="1"/>
          </p:cNvPicPr>
          <p:nvPr/>
        </p:nvPicPr>
        <p:blipFill>
          <a:blip r:embed="rId1"/>
          <a:srcRect l="0" r="0" t="5969" b="596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937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SYSTEMS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47625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016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and Software — The building blocks of every computing system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Hardware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refers to the physical, tangible parts of a computer system that you can touch and see.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2286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(Processor)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686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"brain" of the computer. Executes instructions and performs all calculations.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095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1" name="Shape 9"/>
          <p:cNvSpPr/>
          <p:nvPr/>
        </p:nvSpPr>
        <p:spPr>
          <a:xfrm>
            <a:off x="6032500" y="228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900" y="2286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RAM (Memory)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7686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Temporary storage holding data and programs while running.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Volatile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data lost when powered off.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0955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74400" y="228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06454"/>
                </a:lnTo>
                <a:cubicBezTo>
                  <a:pt x="14367" y="196374"/>
                  <a:pt x="31909" y="190500"/>
                  <a:pt x="50800" y="190500"/>
                </a:cubicBezTo>
                <a:lnTo>
                  <a:pt x="304800" y="190500"/>
                </a:lnTo>
                <a:cubicBezTo>
                  <a:pt x="323691" y="190500"/>
                  <a:pt x="341233" y="196374"/>
                  <a:pt x="355600" y="206454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355600" y="279400"/>
                </a:move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lose/>
                <a:moveTo>
                  <a:pt x="177800" y="304800"/>
                </a:moveTo>
                <a:cubicBezTo>
                  <a:pt x="177800" y="290781"/>
                  <a:pt x="189181" y="279400"/>
                  <a:pt x="203200" y="279400"/>
                </a:cubicBezTo>
                <a:cubicBezTo>
                  <a:pt x="217219" y="279400"/>
                  <a:pt x="228600" y="290781"/>
                  <a:pt x="228600" y="304800"/>
                </a:cubicBezTo>
                <a:cubicBezTo>
                  <a:pt x="228600" y="318819"/>
                  <a:pt x="217219" y="330200"/>
                  <a:pt x="203200" y="330200"/>
                </a:cubicBezTo>
                <a:cubicBezTo>
                  <a:pt x="189181" y="330200"/>
                  <a:pt x="177800" y="318819"/>
                  <a:pt x="177800" y="304800"/>
                </a:cubicBezTo>
                <a:close/>
                <a:moveTo>
                  <a:pt x="279400" y="279400"/>
                </a:moveTo>
                <a:cubicBezTo>
                  <a:pt x="293419" y="279400"/>
                  <a:pt x="304800" y="290781"/>
                  <a:pt x="304800" y="304800"/>
                </a:cubicBezTo>
                <a:cubicBezTo>
                  <a:pt x="304800" y="318819"/>
                  <a:pt x="293419" y="330200"/>
                  <a:pt x="279400" y="330200"/>
                </a:cubicBezTo>
                <a:cubicBezTo>
                  <a:pt x="265381" y="330200"/>
                  <a:pt x="254000" y="318819"/>
                  <a:pt x="254000" y="304800"/>
                </a:cubicBezTo>
                <a:cubicBezTo>
                  <a:pt x="254000" y="290781"/>
                  <a:pt x="265381" y="279400"/>
                  <a:pt x="279400" y="27940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582400" y="22860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Devices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7686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Permanent storage: HDD and SSD. Holds files, programs, and data even when powered off.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3180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" y="4508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406400" y="355600"/>
                </a:lnTo>
                <a:cubicBezTo>
                  <a:pt x="434419" y="355600"/>
                  <a:pt x="457200" y="332819"/>
                  <a:pt x="457200" y="304800"/>
                </a:cubicBezTo>
                <a:lnTo>
                  <a:pt x="457200" y="101600"/>
                </a:lnTo>
                <a:cubicBezTo>
                  <a:pt x="457200" y="73581"/>
                  <a:pt x="434419" y="50800"/>
                  <a:pt x="406400" y="50800"/>
                </a:cubicBezTo>
                <a:lnTo>
                  <a:pt x="50800" y="50800"/>
                </a:lnTo>
                <a:close/>
                <a:moveTo>
                  <a:pt x="63500" y="101600"/>
                </a:moveTo>
                <a:lnTo>
                  <a:pt x="88900" y="101600"/>
                </a:lnTo>
                <a:cubicBezTo>
                  <a:pt x="95885" y="101600"/>
                  <a:pt x="101600" y="107315"/>
                  <a:pt x="101600" y="114300"/>
                </a:cubicBezTo>
                <a:lnTo>
                  <a:pt x="101600" y="139700"/>
                </a:lnTo>
                <a:cubicBezTo>
                  <a:pt x="101600" y="14668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46685"/>
                  <a:pt x="50800" y="139700"/>
                </a:cubicBezTo>
                <a:lnTo>
                  <a:pt x="50800" y="114300"/>
                </a:lnTo>
                <a:cubicBezTo>
                  <a:pt x="50800" y="107315"/>
                  <a:pt x="56515" y="101600"/>
                  <a:pt x="63500" y="101600"/>
                </a:cubicBezTo>
                <a:close/>
                <a:moveTo>
                  <a:pt x="50800" y="190500"/>
                </a:moveTo>
                <a:cubicBezTo>
                  <a:pt x="50800" y="183515"/>
                  <a:pt x="56515" y="177800"/>
                  <a:pt x="63500" y="177800"/>
                </a:cubicBezTo>
                <a:lnTo>
                  <a:pt x="88900" y="177800"/>
                </a:lnTo>
                <a:cubicBezTo>
                  <a:pt x="95885" y="177800"/>
                  <a:pt x="101600" y="183515"/>
                  <a:pt x="101600" y="190500"/>
                </a:cubicBezTo>
                <a:lnTo>
                  <a:pt x="101600" y="215900"/>
                </a:lnTo>
                <a:cubicBezTo>
                  <a:pt x="101600" y="222885"/>
                  <a:pt x="95885" y="228600"/>
                  <a:pt x="88900" y="228600"/>
                </a:cubicBezTo>
                <a:lnTo>
                  <a:pt x="63500" y="228600"/>
                </a:lnTo>
                <a:cubicBezTo>
                  <a:pt x="56515" y="228600"/>
                  <a:pt x="50800" y="222885"/>
                  <a:pt x="50800" y="215900"/>
                </a:cubicBezTo>
                <a:lnTo>
                  <a:pt x="50800" y="190500"/>
                </a:lnTo>
                <a:close/>
                <a:moveTo>
                  <a:pt x="139700" y="101600"/>
                </a:moveTo>
                <a:lnTo>
                  <a:pt x="165100" y="101600"/>
                </a:lnTo>
                <a:cubicBezTo>
                  <a:pt x="172085" y="101600"/>
                  <a:pt x="177800" y="107315"/>
                  <a:pt x="177800" y="114300"/>
                </a:cubicBezTo>
                <a:lnTo>
                  <a:pt x="177800" y="139700"/>
                </a:lnTo>
                <a:cubicBezTo>
                  <a:pt x="177800" y="146685"/>
                  <a:pt x="172085" y="152400"/>
                  <a:pt x="165100" y="152400"/>
                </a:cubicBezTo>
                <a:lnTo>
                  <a:pt x="139700" y="152400"/>
                </a:lnTo>
                <a:cubicBezTo>
                  <a:pt x="132715" y="152400"/>
                  <a:pt x="127000" y="146685"/>
                  <a:pt x="127000" y="139700"/>
                </a:cubicBezTo>
                <a:lnTo>
                  <a:pt x="127000" y="114300"/>
                </a:lnTo>
                <a:cubicBezTo>
                  <a:pt x="127000" y="107315"/>
                  <a:pt x="132715" y="101600"/>
                  <a:pt x="139700" y="101600"/>
                </a:cubicBezTo>
                <a:close/>
                <a:moveTo>
                  <a:pt x="127000" y="190500"/>
                </a:moveTo>
                <a:cubicBezTo>
                  <a:pt x="127000" y="183515"/>
                  <a:pt x="132715" y="177800"/>
                  <a:pt x="139700" y="177800"/>
                </a:cubicBezTo>
                <a:lnTo>
                  <a:pt x="165100" y="177800"/>
                </a:lnTo>
                <a:cubicBezTo>
                  <a:pt x="172085" y="177800"/>
                  <a:pt x="177800" y="183515"/>
                  <a:pt x="177800" y="190500"/>
                </a:cubicBezTo>
                <a:lnTo>
                  <a:pt x="177800" y="215900"/>
                </a:lnTo>
                <a:cubicBezTo>
                  <a:pt x="177800" y="222885"/>
                  <a:pt x="172085" y="228600"/>
                  <a:pt x="165100" y="228600"/>
                </a:cubicBezTo>
                <a:lnTo>
                  <a:pt x="139700" y="228600"/>
                </a:lnTo>
                <a:cubicBezTo>
                  <a:pt x="132715" y="228600"/>
                  <a:pt x="127000" y="222885"/>
                  <a:pt x="127000" y="215900"/>
                </a:cubicBezTo>
                <a:lnTo>
                  <a:pt x="127000" y="190500"/>
                </a:lnTo>
                <a:close/>
                <a:moveTo>
                  <a:pt x="139700" y="254000"/>
                </a:moveTo>
                <a:lnTo>
                  <a:pt x="317500" y="254000"/>
                </a:lnTo>
                <a:cubicBezTo>
                  <a:pt x="324485" y="254000"/>
                  <a:pt x="330200" y="259715"/>
                  <a:pt x="330200" y="266700"/>
                </a:cubicBezTo>
                <a:lnTo>
                  <a:pt x="330200" y="292100"/>
                </a:lnTo>
                <a:cubicBezTo>
                  <a:pt x="330200" y="299085"/>
                  <a:pt x="324485" y="304800"/>
                  <a:pt x="317500" y="304800"/>
                </a:cubicBezTo>
                <a:lnTo>
                  <a:pt x="139700" y="304800"/>
                </a:lnTo>
                <a:cubicBezTo>
                  <a:pt x="132715" y="304800"/>
                  <a:pt x="127000" y="299085"/>
                  <a:pt x="127000" y="292100"/>
                </a:cubicBezTo>
                <a:lnTo>
                  <a:pt x="127000" y="266700"/>
                </a:lnTo>
                <a:cubicBezTo>
                  <a:pt x="127000" y="259715"/>
                  <a:pt x="132715" y="254000"/>
                  <a:pt x="139700" y="254000"/>
                </a:cubicBezTo>
                <a:close/>
                <a:moveTo>
                  <a:pt x="203200" y="114300"/>
                </a:moveTo>
                <a:cubicBezTo>
                  <a:pt x="203200" y="107315"/>
                  <a:pt x="208915" y="101600"/>
                  <a:pt x="215900" y="101600"/>
                </a:cubicBezTo>
                <a:lnTo>
                  <a:pt x="241300" y="101600"/>
                </a:lnTo>
                <a:cubicBezTo>
                  <a:pt x="248285" y="101600"/>
                  <a:pt x="254000" y="107315"/>
                  <a:pt x="254000" y="114300"/>
                </a:cubicBezTo>
                <a:lnTo>
                  <a:pt x="254000" y="139700"/>
                </a:lnTo>
                <a:cubicBezTo>
                  <a:pt x="254000" y="146685"/>
                  <a:pt x="248285" y="152400"/>
                  <a:pt x="241300" y="152400"/>
                </a:cubicBezTo>
                <a:lnTo>
                  <a:pt x="215900" y="152400"/>
                </a:lnTo>
                <a:cubicBezTo>
                  <a:pt x="208915" y="152400"/>
                  <a:pt x="203200" y="146685"/>
                  <a:pt x="203200" y="139700"/>
                </a:cubicBezTo>
                <a:lnTo>
                  <a:pt x="203200" y="114300"/>
                </a:lnTo>
                <a:close/>
                <a:moveTo>
                  <a:pt x="215900" y="177800"/>
                </a:moveTo>
                <a:lnTo>
                  <a:pt x="241300" y="177800"/>
                </a:lnTo>
                <a:cubicBezTo>
                  <a:pt x="248285" y="177800"/>
                  <a:pt x="254000" y="183515"/>
                  <a:pt x="254000" y="190500"/>
                </a:cubicBezTo>
                <a:lnTo>
                  <a:pt x="254000" y="215900"/>
                </a:lnTo>
                <a:cubicBezTo>
                  <a:pt x="254000" y="222885"/>
                  <a:pt x="248285" y="228600"/>
                  <a:pt x="241300" y="228600"/>
                </a:cubicBezTo>
                <a:lnTo>
                  <a:pt x="215900" y="228600"/>
                </a:lnTo>
                <a:cubicBezTo>
                  <a:pt x="208915" y="228600"/>
                  <a:pt x="203200" y="222885"/>
                  <a:pt x="203200" y="215900"/>
                </a:cubicBezTo>
                <a:lnTo>
                  <a:pt x="203200" y="190500"/>
                </a:lnTo>
                <a:cubicBezTo>
                  <a:pt x="203200" y="183515"/>
                  <a:pt x="208915" y="177800"/>
                  <a:pt x="215900" y="177800"/>
                </a:cubicBezTo>
                <a:close/>
                <a:moveTo>
                  <a:pt x="279400" y="114300"/>
                </a:moveTo>
                <a:cubicBezTo>
                  <a:pt x="279400" y="107315"/>
                  <a:pt x="285115" y="101600"/>
                  <a:pt x="292100" y="101600"/>
                </a:cubicBezTo>
                <a:lnTo>
                  <a:pt x="317500" y="101600"/>
                </a:lnTo>
                <a:cubicBezTo>
                  <a:pt x="324485" y="101600"/>
                  <a:pt x="330200" y="107315"/>
                  <a:pt x="330200" y="114300"/>
                </a:cubicBezTo>
                <a:lnTo>
                  <a:pt x="330200" y="139700"/>
                </a:lnTo>
                <a:cubicBezTo>
                  <a:pt x="330200" y="146685"/>
                  <a:pt x="324485" y="152400"/>
                  <a:pt x="317500" y="152400"/>
                </a:cubicBezTo>
                <a:lnTo>
                  <a:pt x="292100" y="152400"/>
                </a:lnTo>
                <a:cubicBezTo>
                  <a:pt x="285115" y="152400"/>
                  <a:pt x="279400" y="146685"/>
                  <a:pt x="279400" y="139700"/>
                </a:cubicBezTo>
                <a:lnTo>
                  <a:pt x="279400" y="114300"/>
                </a:lnTo>
                <a:close/>
                <a:moveTo>
                  <a:pt x="292100" y="177800"/>
                </a:moveTo>
                <a:lnTo>
                  <a:pt x="317500" y="177800"/>
                </a:lnTo>
                <a:cubicBezTo>
                  <a:pt x="324485" y="177800"/>
                  <a:pt x="330200" y="183515"/>
                  <a:pt x="330200" y="190500"/>
                </a:cubicBezTo>
                <a:lnTo>
                  <a:pt x="330200" y="215900"/>
                </a:lnTo>
                <a:cubicBezTo>
                  <a:pt x="330200" y="222885"/>
                  <a:pt x="324485" y="228600"/>
                  <a:pt x="317500" y="228600"/>
                </a:cubicBezTo>
                <a:lnTo>
                  <a:pt x="292100" y="228600"/>
                </a:lnTo>
                <a:cubicBezTo>
                  <a:pt x="285115" y="228600"/>
                  <a:pt x="279400" y="222885"/>
                  <a:pt x="279400" y="215900"/>
                </a:cubicBezTo>
                <a:lnTo>
                  <a:pt x="279400" y="190500"/>
                </a:lnTo>
                <a:cubicBezTo>
                  <a:pt x="279400" y="183515"/>
                  <a:pt x="285115" y="177800"/>
                  <a:pt x="292100" y="177800"/>
                </a:cubicBezTo>
                <a:close/>
                <a:moveTo>
                  <a:pt x="355600" y="114300"/>
                </a:moveTo>
                <a:cubicBezTo>
                  <a:pt x="355600" y="107315"/>
                  <a:pt x="361315" y="101600"/>
                  <a:pt x="368300" y="101600"/>
                </a:cubicBezTo>
                <a:lnTo>
                  <a:pt x="393700" y="101600"/>
                </a:lnTo>
                <a:cubicBezTo>
                  <a:pt x="400685" y="101600"/>
                  <a:pt x="406400" y="107315"/>
                  <a:pt x="406400" y="114300"/>
                </a:cubicBezTo>
                <a:lnTo>
                  <a:pt x="406400" y="139700"/>
                </a:lnTo>
                <a:cubicBezTo>
                  <a:pt x="406400" y="14668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46685"/>
                  <a:pt x="355600" y="139700"/>
                </a:cubicBezTo>
                <a:lnTo>
                  <a:pt x="355600" y="114300"/>
                </a:lnTo>
                <a:close/>
                <a:moveTo>
                  <a:pt x="368300" y="177800"/>
                </a:moveTo>
                <a:lnTo>
                  <a:pt x="393700" y="177800"/>
                </a:lnTo>
                <a:cubicBezTo>
                  <a:pt x="400685" y="177800"/>
                  <a:pt x="406400" y="183515"/>
                  <a:pt x="406400" y="190500"/>
                </a:cubicBezTo>
                <a:lnTo>
                  <a:pt x="406400" y="215900"/>
                </a:lnTo>
                <a:cubicBezTo>
                  <a:pt x="406400" y="222885"/>
                  <a:pt x="400685" y="228600"/>
                  <a:pt x="393700" y="228600"/>
                </a:cubicBezTo>
                <a:lnTo>
                  <a:pt x="368300" y="228600"/>
                </a:lnTo>
                <a:cubicBezTo>
                  <a:pt x="361315" y="228600"/>
                  <a:pt x="355600" y="222885"/>
                  <a:pt x="355600" y="215900"/>
                </a:cubicBezTo>
                <a:lnTo>
                  <a:pt x="355600" y="190500"/>
                </a:lnTo>
                <a:cubicBezTo>
                  <a:pt x="355600" y="183515"/>
                  <a:pt x="361315" y="177800"/>
                  <a:pt x="368300" y="17780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0" name="Text 18"/>
          <p:cNvSpPr/>
          <p:nvPr/>
        </p:nvSpPr>
        <p:spPr>
          <a:xfrm>
            <a:off x="1549400" y="4508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991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Send data </a:t>
            </a:r>
            <a:pPr>
              <a:lnSpc>
                <a:spcPct val="150000"/>
              </a:lnSpc>
            </a:pP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computer: keyboard, mouse, scanner, microphone, webcam.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43180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2500" y="450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5600" y="76200"/>
                </a:moveTo>
                <a:lnTo>
                  <a:pt x="355600" y="279400"/>
                </a:lnTo>
                <a:lnTo>
                  <a:pt x="50800" y="279400"/>
                </a:lnTo>
                <a:lnTo>
                  <a:pt x="50800" y="76200"/>
                </a:lnTo>
                <a:lnTo>
                  <a:pt x="355600" y="76200"/>
                </a:lnTo>
                <a:close/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900" y="4508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991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results </a:t>
            </a:r>
            <a:pPr>
              <a:lnSpc>
                <a:spcPct val="150000"/>
              </a:lnSpc>
            </a:pP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computer: monitor, printer, speakers.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4318000"/>
            <a:ext cx="4699000" cy="1968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74400" y="4508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8" name="Text 26"/>
          <p:cNvSpPr/>
          <p:nvPr/>
        </p:nvSpPr>
        <p:spPr>
          <a:xfrm>
            <a:off x="11582400" y="45085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Motherboard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49911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main circuit board connecting all hardware components together.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6040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FLOW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651000" y="7048500"/>
            <a:ext cx="20320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32" name="Text 30"/>
          <p:cNvSpPr/>
          <p:nvPr/>
        </p:nvSpPr>
        <p:spPr>
          <a:xfrm>
            <a:off x="1651000" y="704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 Devices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0" y="7302500"/>
            <a:ext cx="1016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953000" y="7048500"/>
            <a:ext cx="2032000" cy="571500"/>
          </a:xfrm>
          <a:prstGeom prst="roundRect">
            <a:avLst>
              <a:gd name="adj" fmla="val 8000"/>
            </a:avLst>
          </a:prstGeom>
          <a:solidFill>
            <a:srgbClr val="D4652A"/>
          </a:solidFill>
          <a:ln/>
        </p:spPr>
      </p:sp>
      <p:sp>
        <p:nvSpPr>
          <p:cNvPr id="35" name="Text 33"/>
          <p:cNvSpPr/>
          <p:nvPr/>
        </p:nvSpPr>
        <p:spPr>
          <a:xfrm>
            <a:off x="4953000" y="704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+ RAM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12000" y="7302500"/>
            <a:ext cx="1016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255000" y="7048500"/>
            <a:ext cx="20320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38" name="Text 36"/>
          <p:cNvSpPr/>
          <p:nvPr/>
        </p:nvSpPr>
        <p:spPr>
          <a:xfrm>
            <a:off x="8255000" y="704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414000" y="7302500"/>
            <a:ext cx="1016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1557000" y="7048500"/>
            <a:ext cx="2032000" cy="571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41" name="Text 39"/>
          <p:cNvSpPr/>
          <p:nvPr/>
        </p:nvSpPr>
        <p:spPr>
          <a:xfrm>
            <a:off x="11557000" y="704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 Devices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Software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collection of instructions (programs) and data that tells the computer how to perform specific tasks.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095500"/>
            <a:ext cx="63500" cy="15240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2184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Software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400" y="2540000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Operating Systems (Windows, macOS, Linux) manage hardware resources and provide services for applications.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20955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1" name="Shape 9"/>
          <p:cNvSpPr/>
          <p:nvPr/>
        </p:nvSpPr>
        <p:spPr>
          <a:xfrm>
            <a:off x="8318500" y="2095500"/>
            <a:ext cx="63500" cy="1524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8597900" y="2184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Software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7900" y="2540000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Programs for end-users: word processors, web browsers, games, spreadsheets, and mobile apps.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8735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3873500"/>
            <a:ext cx="63500" cy="15240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16" name="Text 14"/>
          <p:cNvSpPr/>
          <p:nvPr/>
        </p:nvSpPr>
        <p:spPr>
          <a:xfrm>
            <a:off x="1041400" y="396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Utility Software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1400" y="4318000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that maintain and optimize system performance: antivirus, disk cleanup, backup tools, and file managers.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18500" y="38735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9" name="Shape 17"/>
          <p:cNvSpPr/>
          <p:nvPr/>
        </p:nvSpPr>
        <p:spPr>
          <a:xfrm>
            <a:off x="8318500" y="3873500"/>
            <a:ext cx="63500" cy="1524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20" name="Text 18"/>
          <p:cNvSpPr/>
          <p:nvPr/>
        </p:nvSpPr>
        <p:spPr>
          <a:xfrm>
            <a:off x="8597900" y="3962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Software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7900" y="4318000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Tools for creating software: IDEs, compilers, debuggers, and text editors like VS Code and Eclipse.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651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95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4" name="Text 22"/>
          <p:cNvSpPr/>
          <p:nvPr/>
        </p:nvSpPr>
        <p:spPr>
          <a:xfrm>
            <a:off x="1587500" y="5905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Firmware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87500" y="6286500"/>
            <a:ext cx="1358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permanently stored in hardware devices (e.g., BIOS/UEFI in motherboards). It bridges hardware and system software.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vs Software — Key Differences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937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Hardware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Software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Physical, tangible components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Intangible instructions and data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Touch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be touched and seen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Cannot be touched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Manufactured in factories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Developed by programmers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Updates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Physical wear and tear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Updated without replacement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8420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7" name="Shape 4"/>
          <p:cNvSpPr/>
          <p:nvPr/>
        </p:nvSpPr>
        <p:spPr>
          <a:xfrm>
            <a:off x="1130300" y="6223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609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51000" y="6502400"/>
            <a:ext cx="13525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like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body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(physical structure).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like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(instructions and thinking). Both work together: hardware provides the platform, software provides the instructions.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10_Comparison_Between_Top_5_Programming.png">    </p:cNvPr>
          <p:cNvPicPr>
            <a:picLocks noChangeAspect="1"/>
          </p:cNvPicPr>
          <p:nvPr/>
        </p:nvPicPr>
        <p:blipFill>
          <a:blip r:embed="rId1"/>
          <a:srcRect l="0" r="0" t="3144" b="314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PROGRAMS AND PROGRAMMING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36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53594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524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what programs are and the languages used to write them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Program?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program is a sequence of instructions written in a programming language that a computer can execute to perform a specific task.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730500"/>
            <a:ext cx="812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solve problems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taking input, processing it, and producing output.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program follows a logical structure: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65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Sequential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instructions executed one after another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65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Conditional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instructions based on conditions</a:t>
            </a:r>
            <a:endParaRPr lang="en-US" sz="1800" dirty="0"/>
          </a:p>
          <a:p>
            <a:pPr marL="285750" indent="-28575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D465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Loops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instructions repeated multiple times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Programs are stored as files and loaded into RAM when executed by the CPU.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1000" y="2730500"/>
            <a:ext cx="6223000" cy="3937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9588500" y="289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Examples of Programs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88500" y="3327400"/>
            <a:ext cx="558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Calculator app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 browser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 game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Word processor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Music player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Email client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Photo editor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9215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program can range from a few lines of code (simple script) to millions of lines (operating systems).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Programming Languages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508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587500"/>
            <a:ext cx="6667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Low-Level Languages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324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Language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code (0s and 1s) directly understood by the CPU. Different for each processor type. Fastest execution but impossible for humans to read.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735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9751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Assembly Language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318000"/>
            <a:ext cx="666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mnemonics (MOV, ADD, JMP) to represent machine instructions. Requires an assembler to translate into machine code.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1587500"/>
            <a:ext cx="7175500" cy="508000"/>
          </a:xfrm>
          <a:prstGeom prst="roundRect">
            <a:avLst>
              <a:gd name="adj" fmla="val 5000"/>
            </a:avLst>
          </a:prstGeom>
          <a:solidFill>
            <a:srgbClr val="D4652A"/>
          </a:solidFill>
          <a:ln/>
        </p:spPr>
      </p:sp>
      <p:sp>
        <p:nvSpPr>
          <p:cNvPr id="14" name="Text 12"/>
          <p:cNvSpPr/>
          <p:nvPr/>
        </p:nvSpPr>
        <p:spPr>
          <a:xfrm>
            <a:off x="8572500" y="1587500"/>
            <a:ext cx="6667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High-Level Languages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2222500"/>
            <a:ext cx="7175500" cy="3175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0" y="2413000"/>
            <a:ext cx="6667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Closer to human language (English-like syntax). Easier to read, write, and maintain.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compilers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interpreters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translate into machine code.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Python, Java, C++, JavaScript, C#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first high-level language was Fortran, developed in the 1950s by IBM.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7150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TRANSLATION PROCESS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51000" y="622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622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Code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18000" y="6515100"/>
            <a:ext cx="889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334000" y="6223000"/>
            <a:ext cx="3302000" cy="635000"/>
          </a:xfrm>
          <a:prstGeom prst="roundRect">
            <a:avLst>
              <a:gd name="adj" fmla="val 8000"/>
            </a:avLst>
          </a:prstGeom>
          <a:solidFill>
            <a:srgbClr val="D4652A"/>
          </a:solidFill>
          <a:ln/>
        </p:spPr>
      </p:sp>
      <p:sp>
        <p:nvSpPr>
          <p:cNvPr id="22" name="Text 20"/>
          <p:cNvSpPr/>
          <p:nvPr/>
        </p:nvSpPr>
        <p:spPr>
          <a:xfrm>
            <a:off x="5334000" y="6223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Compiler / Interpreter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3000" y="6515100"/>
            <a:ext cx="889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9779000" y="6223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5" name="Text 23"/>
          <p:cNvSpPr/>
          <p:nvPr/>
        </p:nvSpPr>
        <p:spPr>
          <a:xfrm>
            <a:off x="9779000" y="6223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Code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46000" y="6515100"/>
            <a:ext cx="889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3462000" y="6223000"/>
            <a:ext cx="2032000" cy="635000"/>
          </a:xfrm>
          <a:prstGeom prst="roundRect">
            <a:avLst>
              <a:gd name="adj" fmla="val 8000"/>
            </a:avLst>
          </a:prstGeom>
          <a:solidFill>
            <a:srgbClr val="2C5F3A"/>
          </a:solidFill>
          <a:ln/>
        </p:spPr>
      </p:sp>
      <p:sp>
        <p:nvSpPr>
          <p:cNvPr id="28" name="Text 26"/>
          <p:cNvSpPr/>
          <p:nvPr/>
        </p:nvSpPr>
        <p:spPr>
          <a:xfrm>
            <a:off x="13462000" y="6223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Executes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Programming Languages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89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57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syntax, great for beginners. Used in data science, AI, web development, and automation.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1689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0" y="2057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"Write once, run anywhere." Used in enterprise apps, Android development, and large systems.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587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1689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 / C++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49000" y="2057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performance. Used in game engines, operating systems, and embedded systems.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492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35941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396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language of the web. Runs in browsers. Used for interactive websites and web applications.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3492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0" y="35941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C#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39624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Microsoft's language. Used for Windows apps, game development with Unity, and enterprise.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34925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49000" y="368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82582" y="193536"/>
                </a:moveTo>
                <a:lnTo>
                  <a:pt x="96679" y="226576"/>
                </a:lnTo>
                <a:cubicBezTo>
                  <a:pt x="85130" y="231041"/>
                  <a:pt x="73759" y="219670"/>
                  <a:pt x="78224" y="208121"/>
                </a:cubicBezTo>
                <a:lnTo>
                  <a:pt x="111264" y="122218"/>
                </a:lnTo>
                <a:cubicBezTo>
                  <a:pt x="113228" y="117157"/>
                  <a:pt x="117157" y="113228"/>
                  <a:pt x="122218" y="111264"/>
                </a:cubicBezTo>
                <a:lnTo>
                  <a:pt x="208121" y="78224"/>
                </a:lnTo>
                <a:cubicBezTo>
                  <a:pt x="219670" y="73759"/>
                  <a:pt x="231041" y="85130"/>
                  <a:pt x="226576" y="96679"/>
                </a:cubicBezTo>
                <a:lnTo>
                  <a:pt x="193536" y="182582"/>
                </a:lnTo>
                <a:cubicBezTo>
                  <a:pt x="191631" y="187643"/>
                  <a:pt x="187643" y="191572"/>
                  <a:pt x="182582" y="193536"/>
                </a:cubicBezTo>
                <a:close/>
                <a:moveTo>
                  <a:pt x="171450" y="152400"/>
                </a:moveTo>
                <a:cubicBezTo>
                  <a:pt x="171450" y="141886"/>
                  <a:pt x="162914" y="133350"/>
                  <a:pt x="152400" y="133350"/>
                </a:cubicBezTo>
                <a:cubicBezTo>
                  <a:pt x="141886" y="133350"/>
                  <a:pt x="133350" y="141886"/>
                  <a:pt x="133350" y="152400"/>
                </a:cubicBezTo>
                <a:cubicBezTo>
                  <a:pt x="133350" y="162914"/>
                  <a:pt x="141886" y="171450"/>
                  <a:pt x="152400" y="171450"/>
                </a:cubicBezTo>
                <a:cubicBezTo>
                  <a:pt x="162914" y="171450"/>
                  <a:pt x="171450" y="162914"/>
                  <a:pt x="171450" y="15240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5400" y="36449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Your First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49000" y="40386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 your goals: Web (JS), Data Science (Python), Mobile (Java/Swift), Systems (C/C++)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 Popularity (2023)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62000" y="5778500"/>
          <a:ext cx="14732000" cy="266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9_Dark_coding_aesthetic_Images_Free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PROGRAM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36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MADE OF?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53594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524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essential building blocks that form every program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Building Blocks — Keywords, Operators, and Syntax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2730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63500" cy="27305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1689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Keywords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20701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Reserved words with special meaning in a programming language.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if, else, while, for, return, class, int, void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87500"/>
            <a:ext cx="4699000" cy="2730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1587500"/>
            <a:ext cx="63500" cy="2730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6057900" y="1689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57900" y="20701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Symbols that perform operations on data.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Arithmetic: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+, -, *, /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==, !=, &lt;, &gt;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Logical: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AND, OR, NOT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87500"/>
            <a:ext cx="4699000" cy="27305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0" y="1587500"/>
            <a:ext cx="63500" cy="27305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74400" y="1689100"/>
            <a:ext cx="419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74400" y="20701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set of rules defining how programs must be written.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grammar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natural language. Breaking syntax rules causes errors.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57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953000"/>
            <a:ext cx="14732000" cy="2540000"/>
          </a:xfrm>
          <a:prstGeom prst="roundRect">
            <a:avLst>
              <a:gd name="adj" fmla="val 3000"/>
            </a:avLst>
          </a:prstGeom>
          <a:solidFill>
            <a:srgbClr val="1E2D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080000"/>
            <a:ext cx="14097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Calculate the area of a rectangle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length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7EC6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variable declaration (Keyword + Identifier)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width =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7EC6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area = length * width;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arithmetic operation (Operator)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7EC6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"Area: "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E8E4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area);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output statement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Organization — Variables, Data Types, and Control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75500" cy="3175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63500" cy="31750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1689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and Data Types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20955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named storage locations that hold data values.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Types: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whole numbers: 42, -7, 0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Float/Double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decimals: 3.14, -0.5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text: "Hello!"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Boolean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true or false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587500"/>
            <a:ext cx="7175500" cy="3175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8318500" y="1587500"/>
            <a:ext cx="63500" cy="31750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8597900" y="16891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Structures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7900" y="2095500"/>
            <a:ext cx="6667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program execution: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Execute statements in order (top to bottom)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if-else: execute code based on conditions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for, while: repeat code multiple times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16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Flow Diagram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5524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" y="5524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A → Step B → Step 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0000" y="628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Execute in order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88000" y="5524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D4652A"/>
          </a:solidFill>
          <a:ln/>
        </p:spPr>
      </p:sp>
      <p:sp>
        <p:nvSpPr>
          <p:cNvPr id="18" name="Text 16"/>
          <p:cNvSpPr/>
          <p:nvPr/>
        </p:nvSpPr>
        <p:spPr>
          <a:xfrm>
            <a:off x="5588000" y="5524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(condition) then...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88000" y="628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decisions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06000" y="55245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55245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while (condition) loop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6000" y="6286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794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95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783" y="-1736"/>
                </a:moveTo>
                <a:cubicBezTo>
                  <a:pt x="169535" y="-9654"/>
                  <a:pt x="186482" y="-9654"/>
                  <a:pt x="200233" y="-1736"/>
                </a:cubicBezTo>
                <a:lnTo>
                  <a:pt x="322401" y="68759"/>
                </a:lnTo>
                <a:cubicBezTo>
                  <a:pt x="336153" y="76676"/>
                  <a:pt x="344626" y="91400"/>
                  <a:pt x="344626" y="107236"/>
                </a:cubicBezTo>
                <a:lnTo>
                  <a:pt x="344626" y="248225"/>
                </a:lnTo>
                <a:cubicBezTo>
                  <a:pt x="344626" y="264130"/>
                  <a:pt x="336153" y="278785"/>
                  <a:pt x="322401" y="286702"/>
                </a:cubicBezTo>
                <a:lnTo>
                  <a:pt x="200233" y="357336"/>
                </a:lnTo>
                <a:cubicBezTo>
                  <a:pt x="186482" y="365254"/>
                  <a:pt x="169535" y="365254"/>
                  <a:pt x="155783" y="357336"/>
                </a:cubicBezTo>
                <a:lnTo>
                  <a:pt x="33685" y="286841"/>
                </a:lnTo>
                <a:cubicBezTo>
                  <a:pt x="19933" y="278924"/>
                  <a:pt x="11460" y="264200"/>
                  <a:pt x="11460" y="248364"/>
                </a:cubicBezTo>
                <a:lnTo>
                  <a:pt x="11460" y="107375"/>
                </a:lnTo>
                <a:cubicBezTo>
                  <a:pt x="11460" y="91470"/>
                  <a:pt x="19933" y="76815"/>
                  <a:pt x="33685" y="68898"/>
                </a:cubicBezTo>
                <a:lnTo>
                  <a:pt x="155783" y="-1736"/>
                </a:lnTo>
                <a:close/>
                <a:moveTo>
                  <a:pt x="300107" y="248295"/>
                </a:moveTo>
                <a:lnTo>
                  <a:pt x="300107" y="132933"/>
                </a:lnTo>
                <a:lnTo>
                  <a:pt x="200233" y="190579"/>
                </a:lnTo>
                <a:lnTo>
                  <a:pt x="200233" y="305941"/>
                </a:lnTo>
                <a:lnTo>
                  <a:pt x="300107" y="248295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5" name="Text 23"/>
          <p:cNvSpPr/>
          <p:nvPr/>
        </p:nvSpPr>
        <p:spPr>
          <a:xfrm>
            <a:off x="1587500" y="698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Functions / Methods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87500" y="7366000"/>
            <a:ext cx="1358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blocks of code that perform a specific task. They help organize code, reduce repetition, and make programs easier to maintain.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3_Modern_Software_Development_Office.png">    </p:cNvPr>
          <p:cNvPicPr>
            <a:picLocks noChangeAspect="1"/>
          </p:cNvPicPr>
          <p:nvPr/>
        </p:nvPicPr>
        <p:blipFill>
          <a:blip r:embed="rId1"/>
          <a:srcRect l="0" r="0" t="766" b="766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INPUT, PROCESSING,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OUTPUT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54229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5880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fundamental model that all programs follow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IPO Model — Input, Process, Output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IPO Model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fundamental pattern that all computer programs follow.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" y="2349500"/>
            <a:ext cx="3556000" cy="1778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7" name="Shape 5"/>
          <p:cNvSpPr/>
          <p:nvPr/>
        </p:nvSpPr>
        <p:spPr>
          <a:xfrm>
            <a:off x="2667000" y="2514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3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342900"/>
                </a:lnTo>
                <a:cubicBezTo>
                  <a:pt x="400050" y="358706"/>
                  <a:pt x="387281" y="371475"/>
                  <a:pt x="371475" y="371475"/>
                </a:cubicBezTo>
                <a:lnTo>
                  <a:pt x="314325" y="371475"/>
                </a:lnTo>
                <a:cubicBezTo>
                  <a:pt x="298519" y="371475"/>
                  <a:pt x="285750" y="384244"/>
                  <a:pt x="285750" y="400050"/>
                </a:cubicBezTo>
                <a:cubicBezTo>
                  <a:pt x="285750" y="415856"/>
                  <a:pt x="298519" y="428625"/>
                  <a:pt x="314325" y="428625"/>
                </a:cubicBezTo>
                <a:lnTo>
                  <a:pt x="371475" y="428625"/>
                </a:lnTo>
                <a:cubicBezTo>
                  <a:pt x="418802" y="428625"/>
                  <a:pt x="457200" y="390227"/>
                  <a:pt x="457200" y="342900"/>
                </a:cubicBezTo>
                <a:lnTo>
                  <a:pt x="457200" y="114300"/>
                </a:lnTo>
                <a:cubicBezTo>
                  <a:pt x="457200" y="66973"/>
                  <a:pt x="418802" y="28575"/>
                  <a:pt x="371475" y="28575"/>
                </a:cubicBezTo>
                <a:lnTo>
                  <a:pt x="314325" y="28575"/>
                </a:lnTo>
                <a:cubicBezTo>
                  <a:pt x="298519" y="28575"/>
                  <a:pt x="285750" y="41344"/>
                  <a:pt x="285750" y="57150"/>
                </a:cubicBezTo>
                <a:cubicBezTo>
                  <a:pt x="285750" y="72956"/>
                  <a:pt x="298519" y="85725"/>
                  <a:pt x="314325" y="85725"/>
                </a:cubicBezTo>
                <a:close/>
                <a:moveTo>
                  <a:pt x="305931" y="248781"/>
                </a:moveTo>
                <a:cubicBezTo>
                  <a:pt x="317093" y="237619"/>
                  <a:pt x="317093" y="219492"/>
                  <a:pt x="305931" y="208330"/>
                </a:cubicBezTo>
                <a:lnTo>
                  <a:pt x="191631" y="94030"/>
                </a:lnTo>
                <a:cubicBezTo>
                  <a:pt x="180469" y="82868"/>
                  <a:pt x="162342" y="82868"/>
                  <a:pt x="151180" y="94030"/>
                </a:cubicBezTo>
                <a:cubicBezTo>
                  <a:pt x="140018" y="105192"/>
                  <a:pt x="140018" y="123319"/>
                  <a:pt x="151180" y="134481"/>
                </a:cubicBezTo>
                <a:lnTo>
                  <a:pt x="216724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16724" y="257175"/>
                </a:lnTo>
                <a:lnTo>
                  <a:pt x="151180" y="322719"/>
                </a:lnTo>
                <a:cubicBezTo>
                  <a:pt x="140017" y="333881"/>
                  <a:pt x="140017" y="352008"/>
                  <a:pt x="151180" y="363170"/>
                </a:cubicBezTo>
                <a:cubicBezTo>
                  <a:pt x="162342" y="374333"/>
                  <a:pt x="180469" y="374333"/>
                  <a:pt x="191631" y="363170"/>
                </a:cubicBezTo>
                <a:lnTo>
                  <a:pt x="305931" y="248870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04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0500" y="34036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from keyboard, mouse, file, sensor, network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53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6096000" y="2349500"/>
            <a:ext cx="3556000" cy="1778000"/>
          </a:xfrm>
          <a:prstGeom prst="roundRect">
            <a:avLst>
              <a:gd name="adj" fmla="val 8000"/>
            </a:avLst>
          </a:prstGeom>
          <a:solidFill>
            <a:srgbClr val="D465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435850" y="25146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86500" y="304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86500" y="34036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Calculations, comparisons, logical operations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79000" y="3175000"/>
            <a:ext cx="1016000" cy="0"/>
          </a:xfrm>
          <a:prstGeom prst="straightConnector1">
            <a:avLst/>
          </a:prstGeom>
          <a:noFill/>
          <a:ln w="381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22000" y="2349500"/>
            <a:ext cx="3556000" cy="1778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19000" y="2514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42875" y="85725"/>
                </a:moveTo>
                <a:cubicBezTo>
                  <a:pt x="158681" y="85725"/>
                  <a:pt x="171450" y="72956"/>
                  <a:pt x="171450" y="57150"/>
                </a:cubicBezTo>
                <a:cubicBezTo>
                  <a:pt x="171450" y="41344"/>
                  <a:pt x="158681" y="28575"/>
                  <a:pt x="142875" y="28575"/>
                </a:cubicBezTo>
                <a:lnTo>
                  <a:pt x="85725" y="28575"/>
                </a:lnTo>
                <a:cubicBezTo>
                  <a:pt x="38398" y="28575"/>
                  <a:pt x="0" y="66973"/>
                  <a:pt x="0" y="114300"/>
                </a:cubicBezTo>
                <a:lnTo>
                  <a:pt x="0" y="342900"/>
                </a:lnTo>
                <a:cubicBezTo>
                  <a:pt x="0" y="390227"/>
                  <a:pt x="38398" y="428625"/>
                  <a:pt x="85725" y="428625"/>
                </a:cubicBezTo>
                <a:lnTo>
                  <a:pt x="142875" y="428625"/>
                </a:lnTo>
                <a:cubicBezTo>
                  <a:pt x="158681" y="428625"/>
                  <a:pt x="171450" y="415856"/>
                  <a:pt x="171450" y="400050"/>
                </a:cubicBezTo>
                <a:cubicBezTo>
                  <a:pt x="171450" y="384244"/>
                  <a:pt x="158681" y="371475"/>
                  <a:pt x="142875" y="371475"/>
                </a:cubicBezTo>
                <a:lnTo>
                  <a:pt x="85725" y="371475"/>
                </a:lnTo>
                <a:cubicBezTo>
                  <a:pt x="69919" y="371475"/>
                  <a:pt x="57150" y="358706"/>
                  <a:pt x="57150" y="342900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lnTo>
                  <a:pt x="142875" y="85725"/>
                </a:lnTo>
                <a:close/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34506" y="94030"/>
                </a:lnTo>
                <a:cubicBezTo>
                  <a:pt x="323344" y="82868"/>
                  <a:pt x="305217" y="82868"/>
                  <a:pt x="294055" y="94030"/>
                </a:cubicBezTo>
                <a:cubicBezTo>
                  <a:pt x="282893" y="105192"/>
                  <a:pt x="282893" y="123319"/>
                  <a:pt x="294055" y="134481"/>
                </a:cubicBezTo>
                <a:lnTo>
                  <a:pt x="359599" y="200025"/>
                </a:lnTo>
                <a:lnTo>
                  <a:pt x="171450" y="200025"/>
                </a:lnTo>
                <a:cubicBezTo>
                  <a:pt x="155644" y="200025"/>
                  <a:pt x="142875" y="212794"/>
                  <a:pt x="142875" y="228600"/>
                </a:cubicBezTo>
                <a:cubicBezTo>
                  <a:pt x="142875" y="244406"/>
                  <a:pt x="155644" y="257175"/>
                  <a:pt x="171450" y="257175"/>
                </a:cubicBezTo>
                <a:lnTo>
                  <a:pt x="359599" y="257175"/>
                </a:lnTo>
                <a:lnTo>
                  <a:pt x="294055" y="322719"/>
                </a:lnTo>
                <a:cubicBezTo>
                  <a:pt x="282892" y="333881"/>
                  <a:pt x="282892" y="352008"/>
                  <a:pt x="294055" y="363170"/>
                </a:cubicBezTo>
                <a:cubicBezTo>
                  <a:pt x="305217" y="374333"/>
                  <a:pt x="323344" y="374333"/>
                  <a:pt x="334506" y="363170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2500" y="3048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3403600"/>
            <a:ext cx="317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on screen, printer, file, speaker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445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 Like a factory — raw materials → manufacturing → finished product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080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— Calculator Program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524500"/>
            <a:ext cx="14732000" cy="2286000"/>
          </a:xfrm>
          <a:prstGeom prst="roundRect">
            <a:avLst>
              <a:gd name="adj" fmla="val 4000"/>
            </a:avLst>
          </a:prstGeom>
          <a:solidFill>
            <a:srgbClr val="E8E4DE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5689600"/>
            <a:ext cx="431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enters two numbers: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Selects operation: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88000" y="5715000"/>
            <a:ext cx="0" cy="19050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905500" y="56896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performs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calculation: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+ 3 = 8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033000" y="5715000"/>
            <a:ext cx="0" cy="190500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0350500" y="5689600"/>
            <a:ext cx="482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 displays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result on screen: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IPO Examples in Everyday Programs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77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270609"/>
                </a:moveTo>
                <a:lnTo>
                  <a:pt x="0" y="70619"/>
                </a:lnTo>
                <a:cubicBezTo>
                  <a:pt x="0" y="55657"/>
                  <a:pt x="15543" y="45725"/>
                  <a:pt x="29860" y="49981"/>
                </a:cubicBezTo>
                <a:cubicBezTo>
                  <a:pt x="86420" y="66878"/>
                  <a:pt x="126405" y="53529"/>
                  <a:pt x="166648" y="40114"/>
                </a:cubicBezTo>
                <a:cubicBezTo>
                  <a:pt x="208245" y="26248"/>
                  <a:pt x="250101" y="12318"/>
                  <a:pt x="310659" y="31666"/>
                </a:cubicBezTo>
                <a:cubicBezTo>
                  <a:pt x="322590" y="35471"/>
                  <a:pt x="330200" y="47015"/>
                  <a:pt x="330200" y="59591"/>
                </a:cubicBezTo>
                <a:lnTo>
                  <a:pt x="330200" y="259581"/>
                </a:lnTo>
                <a:cubicBezTo>
                  <a:pt x="330200" y="274543"/>
                  <a:pt x="314657" y="284475"/>
                  <a:pt x="300405" y="280219"/>
                </a:cubicBezTo>
                <a:cubicBezTo>
                  <a:pt x="243845" y="263322"/>
                  <a:pt x="203795" y="276671"/>
                  <a:pt x="163617" y="290086"/>
                </a:cubicBezTo>
                <a:cubicBezTo>
                  <a:pt x="122019" y="303952"/>
                  <a:pt x="80164" y="317882"/>
                  <a:pt x="19606" y="298534"/>
                </a:cubicBezTo>
                <a:cubicBezTo>
                  <a:pt x="7675" y="294729"/>
                  <a:pt x="64" y="283185"/>
                  <a:pt x="64" y="270609"/>
                </a:cubicBezTo>
                <a:close/>
                <a:moveTo>
                  <a:pt x="216694" y="165100"/>
                </a:moveTo>
                <a:cubicBezTo>
                  <a:pt x="216694" y="130919"/>
                  <a:pt x="193606" y="103188"/>
                  <a:pt x="165100" y="103188"/>
                </a:cubicBezTo>
                <a:cubicBezTo>
                  <a:pt x="136594" y="103188"/>
                  <a:pt x="113506" y="130919"/>
                  <a:pt x="113506" y="165100"/>
                </a:cubicBezTo>
                <a:cubicBezTo>
                  <a:pt x="113506" y="199281"/>
                  <a:pt x="136594" y="227013"/>
                  <a:pt x="165100" y="227013"/>
                </a:cubicBezTo>
                <a:cubicBezTo>
                  <a:pt x="193606" y="227013"/>
                  <a:pt x="216694" y="199281"/>
                  <a:pt x="216694" y="165100"/>
                </a:cubicBezTo>
                <a:close/>
                <a:moveTo>
                  <a:pt x="77391" y="266740"/>
                </a:moveTo>
                <a:cubicBezTo>
                  <a:pt x="80228" y="266740"/>
                  <a:pt x="82486" y="264289"/>
                  <a:pt x="82034" y="261516"/>
                </a:cubicBezTo>
                <a:cubicBezTo>
                  <a:pt x="79067" y="243587"/>
                  <a:pt x="64621" y="229592"/>
                  <a:pt x="46434" y="227335"/>
                </a:cubicBezTo>
                <a:cubicBezTo>
                  <a:pt x="43597" y="227013"/>
                  <a:pt x="41275" y="229334"/>
                  <a:pt x="41275" y="232172"/>
                </a:cubicBezTo>
                <a:lnTo>
                  <a:pt x="41275" y="257904"/>
                </a:lnTo>
                <a:cubicBezTo>
                  <a:pt x="41275" y="260226"/>
                  <a:pt x="42823" y="262290"/>
                  <a:pt x="45145" y="262870"/>
                </a:cubicBezTo>
                <a:cubicBezTo>
                  <a:pt x="56689" y="265579"/>
                  <a:pt x="67265" y="266804"/>
                  <a:pt x="77391" y="266804"/>
                </a:cubicBezTo>
                <a:close/>
                <a:moveTo>
                  <a:pt x="282798" y="233784"/>
                </a:moveTo>
                <a:cubicBezTo>
                  <a:pt x="286023" y="234300"/>
                  <a:pt x="288925" y="231849"/>
                  <a:pt x="288925" y="228625"/>
                </a:cubicBezTo>
                <a:lnTo>
                  <a:pt x="288925" y="201151"/>
                </a:lnTo>
                <a:cubicBezTo>
                  <a:pt x="288925" y="198313"/>
                  <a:pt x="286603" y="195927"/>
                  <a:pt x="283766" y="196314"/>
                </a:cubicBezTo>
                <a:cubicBezTo>
                  <a:pt x="267514" y="198313"/>
                  <a:pt x="254164" y="209793"/>
                  <a:pt x="249456" y="225078"/>
                </a:cubicBezTo>
                <a:cubicBezTo>
                  <a:pt x="248553" y="228109"/>
                  <a:pt x="250939" y="230947"/>
                  <a:pt x="254099" y="231011"/>
                </a:cubicBezTo>
                <a:cubicBezTo>
                  <a:pt x="263257" y="231269"/>
                  <a:pt x="272802" y="232107"/>
                  <a:pt x="282734" y="233784"/>
                </a:cubicBezTo>
                <a:close/>
                <a:moveTo>
                  <a:pt x="288925" y="98028"/>
                </a:moveTo>
                <a:lnTo>
                  <a:pt x="288925" y="72296"/>
                </a:lnTo>
                <a:cubicBezTo>
                  <a:pt x="288925" y="69974"/>
                  <a:pt x="287313" y="67910"/>
                  <a:pt x="285055" y="67330"/>
                </a:cubicBezTo>
                <a:cubicBezTo>
                  <a:pt x="273511" y="64621"/>
                  <a:pt x="262935" y="63396"/>
                  <a:pt x="252809" y="63396"/>
                </a:cubicBezTo>
                <a:cubicBezTo>
                  <a:pt x="249972" y="63396"/>
                  <a:pt x="247714" y="65847"/>
                  <a:pt x="248166" y="68620"/>
                </a:cubicBezTo>
                <a:cubicBezTo>
                  <a:pt x="251133" y="86549"/>
                  <a:pt x="265579" y="100543"/>
                  <a:pt x="283766" y="102801"/>
                </a:cubicBezTo>
                <a:cubicBezTo>
                  <a:pt x="286603" y="103123"/>
                  <a:pt x="288925" y="100801"/>
                  <a:pt x="288925" y="97964"/>
                </a:cubicBezTo>
                <a:close/>
                <a:moveTo>
                  <a:pt x="80744" y="105058"/>
                </a:moveTo>
                <a:cubicBezTo>
                  <a:pt x="81647" y="102027"/>
                  <a:pt x="79261" y="99189"/>
                  <a:pt x="76101" y="99124"/>
                </a:cubicBezTo>
                <a:cubicBezTo>
                  <a:pt x="66943" y="98867"/>
                  <a:pt x="57398" y="98028"/>
                  <a:pt x="47466" y="96351"/>
                </a:cubicBezTo>
                <a:cubicBezTo>
                  <a:pt x="44242" y="95835"/>
                  <a:pt x="41339" y="98286"/>
                  <a:pt x="41339" y="101511"/>
                </a:cubicBezTo>
                <a:lnTo>
                  <a:pt x="41275" y="128984"/>
                </a:lnTo>
                <a:cubicBezTo>
                  <a:pt x="41275" y="131822"/>
                  <a:pt x="43597" y="134208"/>
                  <a:pt x="46434" y="133821"/>
                </a:cubicBezTo>
                <a:cubicBezTo>
                  <a:pt x="62686" y="131822"/>
                  <a:pt x="76036" y="120342"/>
                  <a:pt x="80744" y="105058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ATM Withdrawal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ATM card + PIN + amount ($100)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 balance, deduct amount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Cash + receipt + updated balance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15875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0" name="Shape 8"/>
          <p:cNvSpPr/>
          <p:nvPr/>
        </p:nvSpPr>
        <p:spPr>
          <a:xfrm>
            <a:off x="6032500" y="17780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8288" y="134144"/>
                </a:moveTo>
                <a:cubicBezTo>
                  <a:pt x="268288" y="163746"/>
                  <a:pt x="258678" y="191090"/>
                  <a:pt x="242491" y="213276"/>
                </a:cubicBezTo>
                <a:lnTo>
                  <a:pt x="324138" y="294987"/>
                </a:lnTo>
                <a:cubicBezTo>
                  <a:pt x="332199" y="303049"/>
                  <a:pt x="332199" y="316141"/>
                  <a:pt x="324138" y="324202"/>
                </a:cubicBezTo>
                <a:cubicBezTo>
                  <a:pt x="316076" y="332264"/>
                  <a:pt x="302984" y="332264"/>
                  <a:pt x="294923" y="324202"/>
                </a:cubicBezTo>
                <a:lnTo>
                  <a:pt x="213276" y="242491"/>
                </a:lnTo>
                <a:cubicBezTo>
                  <a:pt x="191090" y="258678"/>
                  <a:pt x="163746" y="268288"/>
                  <a:pt x="134144" y="268288"/>
                </a:cubicBezTo>
                <a:cubicBezTo>
                  <a:pt x="60042" y="268288"/>
                  <a:pt x="0" y="208245"/>
                  <a:pt x="0" y="134144"/>
                </a:cubicBezTo>
                <a:cubicBezTo>
                  <a:pt x="0" y="60042"/>
                  <a:pt x="60042" y="0"/>
                  <a:pt x="134144" y="0"/>
                </a:cubicBezTo>
                <a:cubicBezTo>
                  <a:pt x="208245" y="0"/>
                  <a:pt x="268288" y="60042"/>
                  <a:pt x="268288" y="134144"/>
                </a:cubicBezTo>
                <a:close/>
                <a:moveTo>
                  <a:pt x="134144" y="227013"/>
                </a:moveTo>
                <a:cubicBezTo>
                  <a:pt x="185399" y="227013"/>
                  <a:pt x="227013" y="185399"/>
                  <a:pt x="227013" y="134144"/>
                </a:cubicBezTo>
                <a:cubicBezTo>
                  <a:pt x="227013" y="82888"/>
                  <a:pt x="185399" y="41275"/>
                  <a:pt x="134144" y="41275"/>
                </a:cubicBezTo>
                <a:cubicBezTo>
                  <a:pt x="82888" y="41275"/>
                  <a:pt x="41275" y="82888"/>
                  <a:pt x="41275" y="134144"/>
                </a:cubicBezTo>
                <a:cubicBezTo>
                  <a:pt x="41275" y="185399"/>
                  <a:pt x="82888" y="227013"/>
                  <a:pt x="134144" y="227013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1" name="Text 9"/>
          <p:cNvSpPr/>
          <p:nvPr/>
        </p:nvSpPr>
        <p:spPr>
          <a:xfrm>
            <a:off x="64643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22225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 query ("best pizza near me")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Algorithm ranks web pages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List of search results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87500"/>
            <a:ext cx="4699000" cy="292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0913" y="1778000"/>
            <a:ext cx="206375" cy="330200"/>
          </a:xfrm>
          <a:custGeom>
            <a:avLst/>
            <a:gdLst/>
            <a:ahLst/>
            <a:cxnLst/>
            <a:rect l="l" t="t" r="r" b="b"/>
            <a:pathLst>
              <a:path w="206375" h="330200">
                <a:moveTo>
                  <a:pt x="103188" y="0"/>
                </a:moveTo>
                <a:cubicBezTo>
                  <a:pt x="69007" y="0"/>
                  <a:pt x="41275" y="27732"/>
                  <a:pt x="41275" y="61912"/>
                </a:cubicBezTo>
                <a:lnTo>
                  <a:pt x="41275" y="168131"/>
                </a:lnTo>
                <a:cubicBezTo>
                  <a:pt x="22250" y="185093"/>
                  <a:pt x="10319" y="209858"/>
                  <a:pt x="10319" y="237331"/>
                </a:cubicBezTo>
                <a:cubicBezTo>
                  <a:pt x="10319" y="288603"/>
                  <a:pt x="51916" y="330200"/>
                  <a:pt x="103188" y="330200"/>
                </a:cubicBezTo>
                <a:cubicBezTo>
                  <a:pt x="154459" y="330200"/>
                  <a:pt x="196056" y="288603"/>
                  <a:pt x="196056" y="237331"/>
                </a:cubicBezTo>
                <a:cubicBezTo>
                  <a:pt x="196056" y="209858"/>
                  <a:pt x="184125" y="185093"/>
                  <a:pt x="165100" y="168131"/>
                </a:cubicBezTo>
                <a:lnTo>
                  <a:pt x="165100" y="61912"/>
                </a:lnTo>
                <a:cubicBezTo>
                  <a:pt x="165100" y="27732"/>
                  <a:pt x="137368" y="0"/>
                  <a:pt x="103188" y="0"/>
                </a:cubicBezTo>
                <a:close/>
                <a:moveTo>
                  <a:pt x="144463" y="237331"/>
                </a:moveTo>
                <a:cubicBezTo>
                  <a:pt x="144463" y="260097"/>
                  <a:pt x="125953" y="278606"/>
                  <a:pt x="103188" y="278606"/>
                </a:cubicBezTo>
                <a:cubicBezTo>
                  <a:pt x="80422" y="278606"/>
                  <a:pt x="61912" y="260097"/>
                  <a:pt x="61912" y="237331"/>
                </a:cubicBezTo>
                <a:cubicBezTo>
                  <a:pt x="61912" y="219983"/>
                  <a:pt x="72554" y="205150"/>
                  <a:pt x="87709" y="199087"/>
                </a:cubicBezTo>
                <a:lnTo>
                  <a:pt x="87709" y="139303"/>
                </a:lnTo>
                <a:cubicBezTo>
                  <a:pt x="87709" y="130726"/>
                  <a:pt x="94610" y="123825"/>
                  <a:pt x="103188" y="123825"/>
                </a:cubicBezTo>
                <a:cubicBezTo>
                  <a:pt x="111765" y="123825"/>
                  <a:pt x="118666" y="130726"/>
                  <a:pt x="118666" y="139303"/>
                </a:cubicBezTo>
                <a:lnTo>
                  <a:pt x="118666" y="199087"/>
                </a:lnTo>
                <a:cubicBezTo>
                  <a:pt x="133821" y="205214"/>
                  <a:pt x="144463" y="220047"/>
                  <a:pt x="144463" y="237331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80800" y="17526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 Converter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49000" y="222250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Temperature value (32°F)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formula (°F-32) x 5/9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Display result (0°C)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826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79500" y="514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9" name="Text 17"/>
          <p:cNvSpPr/>
          <p:nvPr/>
        </p:nvSpPr>
        <p:spPr>
          <a:xfrm>
            <a:off x="1651000" y="5016500"/>
            <a:ext cx="13525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program, no matter how complex, follows the same IPO pattern. Understanding this model helps you design and analyze any program.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413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Generalized IPO Pattern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" y="69215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" y="69215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Input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user/device/file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45000" y="7239000"/>
            <a:ext cx="1016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588000" y="69215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D4652A"/>
          </a:solidFill>
          <a:ln/>
        </p:spPr>
      </p:sp>
      <p:sp>
        <p:nvSpPr>
          <p:cNvPr id="25" name="Text 23"/>
          <p:cNvSpPr/>
          <p:nvPr/>
        </p:nvSpPr>
        <p:spPr>
          <a:xfrm>
            <a:off x="5588000" y="69215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 Data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calculate/transform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763000" y="7239000"/>
            <a:ext cx="1016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9906000" y="6921500"/>
            <a:ext cx="3048000" cy="6985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0" y="6921500"/>
            <a:ext cx="3048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 Output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display/save/send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9_Dark_coding_aesthetic_Images_Free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PROGRAMMING</a:t>
            </a:r>
            <a:endParaRPr lang="en-US" sz="4200" dirty="0"/>
          </a:p>
          <a:p>
            <a:pPr>
              <a:lnSpc>
                <a:spcPct val="12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54229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5880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problem to solution — the systematic approach to writing programs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Steps in the Programming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558800" cy="558800"/>
          </a:xfrm>
          <a:prstGeom prst="ellipse">
            <a:avLst/>
          </a:prstGeom>
          <a:solidFill>
            <a:srgbClr val="D4652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587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8600" y="1612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1968500"/>
            <a:ext cx="139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Clearly understand what the program needs to accomplish; identify inputs, processes, and expected outputs.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476500"/>
            <a:ext cx="558800" cy="558800"/>
          </a:xfrm>
          <a:prstGeom prst="ellipse">
            <a:avLst/>
          </a:prstGeom>
          <a:solidFill>
            <a:srgbClr val="D4652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476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" y="2501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 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" y="2857500"/>
            <a:ext cx="139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algorithm (step-by-step procedure); use pseudocode or flowcharts to outline the logic.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365500"/>
            <a:ext cx="558800" cy="558800"/>
          </a:xfrm>
          <a:prstGeom prst="ellipse">
            <a:avLst/>
          </a:prstGeom>
          <a:solidFill>
            <a:srgbClr val="D4652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365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8600" y="3390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 the Code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" y="3746500"/>
            <a:ext cx="139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 the algorithm into a programming language; follow syntax rules and best practices.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254500"/>
            <a:ext cx="558800" cy="558800"/>
          </a:xfrm>
          <a:prstGeom prst="ellipse">
            <a:avLst/>
          </a:prstGeom>
          <a:solidFill>
            <a:srgbClr val="D4652A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254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" y="4279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 and Debug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" y="4635500"/>
            <a:ext cx="139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the program with test data; find and fix errors (bugs); verify output is correct.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143500"/>
            <a:ext cx="558800" cy="558800"/>
          </a:xfrm>
          <a:prstGeom prst="ellipse">
            <a:avLst/>
          </a:prstGeom>
          <a:solidFill>
            <a:srgbClr val="D4652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143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" y="51689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and Maintain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" y="5524500"/>
            <a:ext cx="139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comments and documentation; update the program as requirements change.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615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Iterative Cycle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" y="6667500"/>
            <a:ext cx="2413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6667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556000" y="6959600"/>
            <a:ext cx="635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318000" y="6667500"/>
            <a:ext cx="2413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30" name="Text 28"/>
          <p:cNvSpPr/>
          <p:nvPr/>
        </p:nvSpPr>
        <p:spPr>
          <a:xfrm>
            <a:off x="4318000" y="6667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6959600"/>
            <a:ext cx="635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620000" y="6667500"/>
            <a:ext cx="2413000" cy="635000"/>
          </a:xfrm>
          <a:prstGeom prst="roundRect">
            <a:avLst>
              <a:gd name="adj" fmla="val 8000"/>
            </a:avLst>
          </a:prstGeom>
          <a:solidFill>
            <a:srgbClr val="D4652A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0" y="6667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60000" y="6959600"/>
            <a:ext cx="635000" cy="0"/>
          </a:xfrm>
          <a:prstGeom prst="straightConnector1">
            <a:avLst/>
          </a:prstGeom>
          <a:noFill/>
          <a:ln w="25400">
            <a:solidFill>
              <a:srgbClr val="D4652A"/>
            </a:solidFill>
            <a:prstDash val="solid"/>
            <a:headEnd type="none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10922000" y="6667500"/>
            <a:ext cx="2413000" cy="635000"/>
          </a:xfrm>
          <a:prstGeom prst="roundRect">
            <a:avLst>
              <a:gd name="adj" fmla="val 8000"/>
            </a:avLst>
          </a:prstGeom>
          <a:solidFill>
            <a:srgbClr val="1B3A4B"/>
          </a:solidFill>
          <a:ln/>
        </p:spPr>
      </p:sp>
      <p:sp>
        <p:nvSpPr>
          <p:cNvPr id="36" name="Text 34"/>
          <p:cNvSpPr/>
          <p:nvPr/>
        </p:nvSpPr>
        <p:spPr>
          <a:xfrm>
            <a:off x="10922000" y="6667500"/>
            <a:ext cx="2413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16000" y="7493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cycle is iterative — you often return to earlier steps as you discover issues or new requirements.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Errors — Syntax, Logic, and Runtime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4699000" cy="6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Errors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3241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Violations of the language rules. Caught by the compiler before execution.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0392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semicolon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Unmatched parentheses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Misspelled keywords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find — the system tells you where they are.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5875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587500"/>
            <a:ext cx="4699000" cy="635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2" name="Shape 10"/>
          <p:cNvSpPr/>
          <p:nvPr/>
        </p:nvSpPr>
        <p:spPr>
          <a:xfrm>
            <a:off x="6032500" y="184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67E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 Errors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3241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program runs but produces incorrect results. The algorithm is flawed.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+ instead of *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 if-condition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formula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Harder to find — requires careful testing.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587500"/>
            <a:ext cx="4699000" cy="3556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1587500"/>
            <a:ext cx="4699000" cy="635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71225" y="184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1841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Errors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324100"/>
            <a:ext cx="419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Occur while the program is running. Cause the program to crash.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Division by zero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not found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 of memory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Handled with error-checking code.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461000"/>
            <a:ext cx="14732000" cy="1397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7275" y="581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33350" y="66675"/>
                </a:moveTo>
                <a:cubicBezTo>
                  <a:pt x="133350" y="29865"/>
                  <a:pt x="163215" y="0"/>
                  <a:pt x="200025" y="0"/>
                </a:cubicBezTo>
                <a:cubicBezTo>
                  <a:pt x="236835" y="0"/>
                  <a:pt x="266700" y="29865"/>
                  <a:pt x="266700" y="66675"/>
                </a:cubicBezTo>
                <a:lnTo>
                  <a:pt x="266700" y="69175"/>
                </a:lnTo>
                <a:cubicBezTo>
                  <a:pt x="266700" y="80079"/>
                  <a:pt x="257879" y="88900"/>
                  <a:pt x="246975" y="88900"/>
                </a:cubicBezTo>
                <a:lnTo>
                  <a:pt x="153144" y="88900"/>
                </a:lnTo>
                <a:cubicBezTo>
                  <a:pt x="142240" y="88900"/>
                  <a:pt x="133419" y="80079"/>
                  <a:pt x="133419" y="69175"/>
                </a:cubicBezTo>
                <a:lnTo>
                  <a:pt x="133419" y="66675"/>
                </a:lnTo>
                <a:close/>
                <a:moveTo>
                  <a:pt x="373380" y="75565"/>
                </a:moveTo>
                <a:cubicBezTo>
                  <a:pt x="380742" y="85358"/>
                  <a:pt x="378728" y="99318"/>
                  <a:pt x="368935" y="106680"/>
                </a:cubicBezTo>
                <a:lnTo>
                  <a:pt x="301010" y="157589"/>
                </a:lnTo>
                <a:cubicBezTo>
                  <a:pt x="304691" y="163770"/>
                  <a:pt x="307469" y="170577"/>
                  <a:pt x="309205" y="177800"/>
                </a:cubicBezTo>
                <a:lnTo>
                  <a:pt x="377825" y="177800"/>
                </a:lnTo>
                <a:cubicBezTo>
                  <a:pt x="390118" y="177800"/>
                  <a:pt x="400050" y="187732"/>
                  <a:pt x="400050" y="200025"/>
                </a:cubicBezTo>
                <a:cubicBezTo>
                  <a:pt x="400050" y="212318"/>
                  <a:pt x="390118" y="222250"/>
                  <a:pt x="377825" y="222250"/>
                </a:cubicBezTo>
                <a:lnTo>
                  <a:pt x="311150" y="222250"/>
                </a:lnTo>
                <a:lnTo>
                  <a:pt x="311150" y="244475"/>
                </a:lnTo>
                <a:cubicBezTo>
                  <a:pt x="311150" y="246281"/>
                  <a:pt x="311081" y="248156"/>
                  <a:pt x="311011" y="249962"/>
                </a:cubicBezTo>
                <a:lnTo>
                  <a:pt x="368935" y="293370"/>
                </a:lnTo>
                <a:cubicBezTo>
                  <a:pt x="378728" y="300732"/>
                  <a:pt x="380742" y="314692"/>
                  <a:pt x="373380" y="324485"/>
                </a:cubicBezTo>
                <a:cubicBezTo>
                  <a:pt x="366018" y="334278"/>
                  <a:pt x="352058" y="336292"/>
                  <a:pt x="342265" y="328930"/>
                </a:cubicBezTo>
                <a:lnTo>
                  <a:pt x="298440" y="296079"/>
                </a:lnTo>
                <a:cubicBezTo>
                  <a:pt x="282327" y="326777"/>
                  <a:pt x="252254" y="349002"/>
                  <a:pt x="216694" y="354350"/>
                </a:cubicBezTo>
                <a:lnTo>
                  <a:pt x="216694" y="194469"/>
                </a:lnTo>
                <a:cubicBezTo>
                  <a:pt x="216694" y="185231"/>
                  <a:pt x="209262" y="177800"/>
                  <a:pt x="200025" y="177800"/>
                </a:cubicBezTo>
                <a:cubicBezTo>
                  <a:pt x="190788" y="177800"/>
                  <a:pt x="183356" y="185231"/>
                  <a:pt x="183356" y="194469"/>
                </a:cubicBezTo>
                <a:lnTo>
                  <a:pt x="183356" y="354350"/>
                </a:lnTo>
                <a:cubicBezTo>
                  <a:pt x="147796" y="349002"/>
                  <a:pt x="117723" y="326777"/>
                  <a:pt x="101610" y="296079"/>
                </a:cubicBezTo>
                <a:lnTo>
                  <a:pt x="57785" y="328930"/>
                </a:lnTo>
                <a:cubicBezTo>
                  <a:pt x="47992" y="336292"/>
                  <a:pt x="34032" y="334278"/>
                  <a:pt x="26670" y="324485"/>
                </a:cubicBezTo>
                <a:cubicBezTo>
                  <a:pt x="19308" y="314692"/>
                  <a:pt x="21322" y="300732"/>
                  <a:pt x="31115" y="293370"/>
                </a:cubicBezTo>
                <a:lnTo>
                  <a:pt x="89039" y="249962"/>
                </a:lnTo>
                <a:cubicBezTo>
                  <a:pt x="88969" y="248156"/>
                  <a:pt x="88900" y="246350"/>
                  <a:pt x="88900" y="244475"/>
                </a:cubicBezTo>
                <a:lnTo>
                  <a:pt x="88900" y="222250"/>
                </a:lnTo>
                <a:lnTo>
                  <a:pt x="22225" y="222250"/>
                </a:lnTo>
                <a:cubicBezTo>
                  <a:pt x="9932" y="222250"/>
                  <a:pt x="0" y="212318"/>
                  <a:pt x="0" y="200025"/>
                </a:cubicBezTo>
                <a:cubicBezTo>
                  <a:pt x="0" y="187732"/>
                  <a:pt x="9932" y="177800"/>
                  <a:pt x="22225" y="177800"/>
                </a:cubicBezTo>
                <a:lnTo>
                  <a:pt x="90845" y="177800"/>
                </a:lnTo>
                <a:cubicBezTo>
                  <a:pt x="92581" y="170577"/>
                  <a:pt x="95359" y="163770"/>
                  <a:pt x="99040" y="157589"/>
                </a:cubicBezTo>
                <a:lnTo>
                  <a:pt x="31115" y="106680"/>
                </a:lnTo>
                <a:cubicBezTo>
                  <a:pt x="21322" y="99318"/>
                  <a:pt x="19308" y="85358"/>
                  <a:pt x="26670" y="75565"/>
                </a:cubicBezTo>
                <a:cubicBezTo>
                  <a:pt x="34032" y="65772"/>
                  <a:pt x="47992" y="63758"/>
                  <a:pt x="57785" y="71120"/>
                </a:cubicBezTo>
                <a:lnTo>
                  <a:pt x="133350" y="127794"/>
                </a:lnTo>
                <a:cubicBezTo>
                  <a:pt x="141893" y="124252"/>
                  <a:pt x="151269" y="122238"/>
                  <a:pt x="161131" y="122238"/>
                </a:cubicBezTo>
                <a:lnTo>
                  <a:pt x="238919" y="122238"/>
                </a:lnTo>
                <a:cubicBezTo>
                  <a:pt x="248781" y="122238"/>
                  <a:pt x="258157" y="124182"/>
                  <a:pt x="266700" y="127794"/>
                </a:cubicBezTo>
                <a:lnTo>
                  <a:pt x="342265" y="71120"/>
                </a:lnTo>
                <a:cubicBezTo>
                  <a:pt x="352058" y="63758"/>
                  <a:pt x="366018" y="65772"/>
                  <a:pt x="373380" y="75565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22" name="Text 20"/>
          <p:cNvSpPr/>
          <p:nvPr/>
        </p:nvSpPr>
        <p:spPr>
          <a:xfrm>
            <a:off x="1587500" y="56896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Tips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87500" y="6070600"/>
            <a:ext cx="1358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 error messages carefully | Use print statements to trace values | Test with simple inputs first | Check one section at a time | Take breaks — fresh eyes catch bugs faster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vdoszqyzsu2/mnt/agents/output/programming-fundamentals/images/4_Object_Oriented_Programming_OOP_Explaine.png">    </p:cNvPr>
          <p:cNvPicPr>
            <a:picLocks noChangeAspect="1"/>
          </p:cNvPicPr>
          <p:nvPr/>
        </p:nvPicPr>
        <p:blipFill>
          <a:blip r:embed="rId1"/>
          <a:srcRect l="24489" r="2448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52D3A">
                  <a:alpha val="13000"/>
                </a:srgbClr>
              </a:gs>
              <a:gs pos="40000">
                <a:srgbClr val="152D3A">
                  <a:alpha val="63000"/>
                </a:srgbClr>
              </a:gs>
              <a:gs pos="100000">
                <a:srgbClr val="152D3A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794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016000" y="3810000"/>
            <a:ext cx="10160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AND</a:t>
            </a:r>
            <a:endParaRPr lang="en-US" sz="4200" dirty="0"/>
          </a:p>
          <a:p>
            <a:pPr>
              <a:lnSpc>
                <a:spcPct val="130000"/>
              </a:lnSpc>
            </a:pPr>
            <a:r>
              <a:rPr lang="en-US" sz="34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OBJECT-ORIENTED PROGRAMMING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1016000" y="5270500"/>
            <a:ext cx="762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5524500"/>
            <a:ext cx="698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fundamental approaches to organizing and structuring code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Programming — Step-by-Step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14732000" cy="8255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programming paradigm where the program is structured as a sequence of procedures (functions) that operate on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7175500" cy="3302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279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1400" y="3200400"/>
            <a:ext cx="66675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Programs organized around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functions/procedures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and functions are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passed between functions as parameters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executes in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top-down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manner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Emphasizes logical sequence of actions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2667000"/>
            <a:ext cx="7175500" cy="3302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8597900" y="279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Languages &amp; Use Cases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97900" y="3200400"/>
            <a:ext cx="66675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C, Pascal, Fortran, BASIC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straightforward tasks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Smaller programs and scripts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utilities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Performance-critical code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286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95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381" y="10001"/>
                </a:moveTo>
                <a:cubicBezTo>
                  <a:pt x="43825" y="4306"/>
                  <a:pt x="39033" y="0"/>
                  <a:pt x="33337" y="0"/>
                </a:cubicBezTo>
                <a:cubicBezTo>
                  <a:pt x="27642" y="0"/>
                  <a:pt x="22850" y="4306"/>
                  <a:pt x="22225" y="9932"/>
                </a:cubicBezTo>
                <a:lnTo>
                  <a:pt x="12432" y="103971"/>
                </a:lnTo>
                <a:cubicBezTo>
                  <a:pt x="11529" y="108139"/>
                  <a:pt x="11112" y="112375"/>
                  <a:pt x="11112" y="116612"/>
                </a:cubicBezTo>
                <a:cubicBezTo>
                  <a:pt x="11112" y="148491"/>
                  <a:pt x="35491" y="174675"/>
                  <a:pt x="66675" y="177522"/>
                </a:cubicBezTo>
                <a:lnTo>
                  <a:pt x="66675" y="333375"/>
                </a:lnTo>
                <a:cubicBezTo>
                  <a:pt x="66675" y="345668"/>
                  <a:pt x="76607" y="355600"/>
                  <a:pt x="88900" y="355600"/>
                </a:cubicBezTo>
                <a:cubicBezTo>
                  <a:pt x="101193" y="355600"/>
                  <a:pt x="111125" y="345668"/>
                  <a:pt x="111125" y="333375"/>
                </a:cubicBezTo>
                <a:lnTo>
                  <a:pt x="111125" y="177522"/>
                </a:lnTo>
                <a:cubicBezTo>
                  <a:pt x="142309" y="174675"/>
                  <a:pt x="166688" y="148491"/>
                  <a:pt x="166688" y="116612"/>
                </a:cubicBezTo>
                <a:cubicBezTo>
                  <a:pt x="166688" y="112375"/>
                  <a:pt x="166271" y="108139"/>
                  <a:pt x="165368" y="103971"/>
                </a:cubicBezTo>
                <a:lnTo>
                  <a:pt x="155506" y="9932"/>
                </a:lnTo>
                <a:cubicBezTo>
                  <a:pt x="154950" y="4306"/>
                  <a:pt x="150158" y="0"/>
                  <a:pt x="144463" y="0"/>
                </a:cubicBezTo>
                <a:cubicBezTo>
                  <a:pt x="138767" y="0"/>
                  <a:pt x="133975" y="4306"/>
                  <a:pt x="133419" y="10001"/>
                </a:cubicBezTo>
                <a:lnTo>
                  <a:pt x="123974" y="104110"/>
                </a:lnTo>
                <a:cubicBezTo>
                  <a:pt x="123557" y="108069"/>
                  <a:pt x="120223" y="111125"/>
                  <a:pt x="116265" y="111125"/>
                </a:cubicBezTo>
                <a:cubicBezTo>
                  <a:pt x="112236" y="111125"/>
                  <a:pt x="108903" y="108069"/>
                  <a:pt x="108486" y="104041"/>
                </a:cubicBezTo>
                <a:lnTo>
                  <a:pt x="99943" y="10140"/>
                </a:lnTo>
                <a:cubicBezTo>
                  <a:pt x="99457" y="4376"/>
                  <a:pt x="94665" y="0"/>
                  <a:pt x="88900" y="0"/>
                </a:cubicBezTo>
                <a:cubicBezTo>
                  <a:pt x="83135" y="0"/>
                  <a:pt x="78343" y="4376"/>
                  <a:pt x="77857" y="10140"/>
                </a:cubicBezTo>
                <a:lnTo>
                  <a:pt x="69314" y="104041"/>
                </a:lnTo>
                <a:cubicBezTo>
                  <a:pt x="68967" y="108069"/>
                  <a:pt x="65564" y="111125"/>
                  <a:pt x="61535" y="111125"/>
                </a:cubicBezTo>
                <a:cubicBezTo>
                  <a:pt x="57507" y="111125"/>
                  <a:pt x="54173" y="108069"/>
                  <a:pt x="53826" y="104110"/>
                </a:cubicBezTo>
                <a:lnTo>
                  <a:pt x="44381" y="10001"/>
                </a:lnTo>
                <a:close/>
                <a:moveTo>
                  <a:pt x="311150" y="0"/>
                </a:moveTo>
                <a:cubicBezTo>
                  <a:pt x="300038" y="0"/>
                  <a:pt x="222250" y="22225"/>
                  <a:pt x="222250" y="122238"/>
                </a:cubicBezTo>
                <a:lnTo>
                  <a:pt x="222250" y="200025"/>
                </a:lnTo>
                <a:cubicBezTo>
                  <a:pt x="222250" y="224542"/>
                  <a:pt x="242183" y="244475"/>
                  <a:pt x="266700" y="244475"/>
                </a:cubicBezTo>
                <a:lnTo>
                  <a:pt x="288925" y="244475"/>
                </a:lnTo>
                <a:lnTo>
                  <a:pt x="288925" y="333375"/>
                </a:lnTo>
                <a:cubicBezTo>
                  <a:pt x="288925" y="345668"/>
                  <a:pt x="298857" y="355600"/>
                  <a:pt x="311150" y="355600"/>
                </a:cubicBezTo>
                <a:cubicBezTo>
                  <a:pt x="323443" y="355600"/>
                  <a:pt x="333375" y="345668"/>
                  <a:pt x="333375" y="333375"/>
                </a:cubicBezTo>
                <a:lnTo>
                  <a:pt x="333375" y="22225"/>
                </a:lnTo>
                <a:cubicBezTo>
                  <a:pt x="333375" y="9932"/>
                  <a:pt x="323443" y="0"/>
                  <a:pt x="311150" y="0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5" name="Text 13"/>
          <p:cNvSpPr/>
          <p:nvPr/>
        </p:nvSpPr>
        <p:spPr>
          <a:xfrm>
            <a:off x="1587500" y="6451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87500" y="6807200"/>
            <a:ext cx="135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Following 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recipe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Step 1, Step 2, Step 3... each step is a procedure executed in order.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Object-Oriented Programming — Objects and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14732000" cy="8255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paradigm that organizes code around "objects" — self-contained units combining data and the functions that operate on that data.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6670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768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124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blueprint/template defining what an object will contain — its data and functions.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6670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2768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2500" y="3124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instance of a class. A concrete entity created from the blueprint.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667000"/>
            <a:ext cx="4699000" cy="1651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4" name="Text 12"/>
          <p:cNvSpPr/>
          <p:nvPr/>
        </p:nvSpPr>
        <p:spPr>
          <a:xfrm>
            <a:off x="11049000" y="2768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0" y="31242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Bundling data and methods together. Hiding internal details from the outside.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673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000" y="5029200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new classes based on existing ones. Reusing and extending code without rewriting it.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18500" y="4572000"/>
            <a:ext cx="71755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20" name="Text 18"/>
          <p:cNvSpPr/>
          <p:nvPr/>
        </p:nvSpPr>
        <p:spPr>
          <a:xfrm>
            <a:off x="8572500" y="4673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72500" y="5029200"/>
            <a:ext cx="666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method name behaves differently depending on the object. One interface, multiple implementations.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4135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B3A4B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65405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Java, C++, Python, C#, JavaScript |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Large complex applications, code reuse, modeling real-world entities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car factory — Class = car blueprint, Object = each individual car produced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7366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vs Object-Oriented —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08100"/>
            <a:ext cx="635000" cy="38100"/>
          </a:xfrm>
          <a:prstGeom prst="rect">
            <a:avLst/>
          </a:prstGeom>
          <a:solidFill>
            <a:srgbClr val="D4652A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14732000" cy="3937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4964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Object-Oriented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Organization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Functions and procedures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Objects (data + methods)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Handling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is separate, passed as parameters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encapsulated within objects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Reuse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Limited, through functions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Strong, through inheritance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is exposed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can be hidden (private)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C"/>
                    </a:solidFill>
                  </a:tcPr>
                </a:tc>
              </a:tr>
              <a:tr h="67747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Small-medium programs, scripts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 applications, complex systems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842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E8E4DE"/>
          </a:solidFill>
          <a:ln/>
        </p:spPr>
      </p:sp>
      <p:sp>
        <p:nvSpPr>
          <p:cNvPr id="7" name="Shape 4"/>
          <p:cNvSpPr/>
          <p:nvPr/>
        </p:nvSpPr>
        <p:spPr>
          <a:xfrm>
            <a:off x="1123950" y="622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8" name="Text 5"/>
          <p:cNvSpPr/>
          <p:nvPr/>
        </p:nvSpPr>
        <p:spPr>
          <a:xfrm>
            <a:off x="1587500" y="6096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87500" y="6477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programs often use a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 of both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approaches. Neither is "better" — the choice depends on the problem, team, and project size. Many languages (Python, C++) support both paradigms.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62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D465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WEEKS 01-02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968500"/>
            <a:ext cx="1016000" cy="38100"/>
          </a:xfrm>
          <a:prstGeom prst="rect">
            <a:avLst/>
          </a:prstGeom>
          <a:solidFill>
            <a:srgbClr val="D4652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413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 is giving computers instructions to solve problems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31496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Hardware provides the physical platform; Software provides instructions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40386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Programs follow the Input → Process → Output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48006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programming process: Define → Plan → Code → Test → Maintain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5588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D465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Two main paradigms: Procedural and Object-Oriented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2286000"/>
            <a:ext cx="6604000" cy="3556000"/>
          </a:xfrm>
          <a:prstGeom prst="roundRect">
            <a:avLst>
              <a:gd name="adj" fmla="val 5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137900" y="2667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D4652A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34925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"Practice is the key to becoming a skilled programmer."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1500"/>
              </a:spcBef>
            </a:pPr>
            <a:r>
              <a:rPr lang="en-US" sz="16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coding today!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731000"/>
            <a:ext cx="14732000" cy="127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62000" y="70485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FUNDAMENTALS | CS101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7493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 - Weeks 01-02</dc:title>
  <dc:subject>Programming Fundamentals - Weeks 01-02</dc:subject>
  <dc:creator>Kimi</dc:creator>
  <cp:lastModifiedBy>Kimi</cp:lastModifiedBy>
  <cp:revision>1</cp:revision>
  <dcterms:created xsi:type="dcterms:W3CDTF">2026-05-27T22:35:47Z</dcterms:created>
  <dcterms:modified xsi:type="dcterms:W3CDTF">2026-05-27T22:35:47Z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{"Label":"Programming Fundamentals - Weeks 01-02","ContentProducer":"001191110108MACG2KBH8F10000","ProduceID":"19e6b90f-0d82-8bf0-8000-000038d280f2","ReservedCode1":"","ContentPropagator":"001191110108MACG2KBH8F20000","PropagateID":"19e6b90f-0d82-8bf0-8000-000038d280f2","ReservedCode2":""}</vt:lpwstr>
  </property>
</Properties>
</file>