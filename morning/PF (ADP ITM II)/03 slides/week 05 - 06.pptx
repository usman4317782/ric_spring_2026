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6256000" cy="9144000"/>
  <p:notesSz cx="9144000" cy="16256000"/>
  <p:embeddedFontLst>
    <p:embeddedFont>
      <p:font typeface="Liter" charset="-122" pitchFamily="34"/>
      <p:regular r:id="rId35"/>
    </p:embeddedFont>
    <p:embeddedFont>
      <p:font typeface="Quattrocento Sans" charset="-122" pitchFamily="34"/>
      <p:regular r:id="rId3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openxmlformats.org/officeDocument/2006/relationships/font" Target="fonts/font1.fntdata"/><Relationship Id="rId36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zhn6pbbdxlq7k/mnt/agents/output/programming-fundamentals/images/7_Computer_C_Code_Free_Stock_Photo.png">    </p:cNvPr>
          <p:cNvPicPr>
            <a:picLocks noChangeAspect="1"/>
          </p:cNvPicPr>
          <p:nvPr/>
        </p:nvPicPr>
        <p:blipFill>
          <a:blip r:embed="rId1"/>
          <a:srcRect l="2593" r="259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436">
                  <a:alpha val="90000"/>
                </a:srgbClr>
              </a:gs>
              <a:gs pos="50000">
                <a:srgbClr val="2D3436">
                  <a:alpha val="80000"/>
                </a:srgbClr>
              </a:gs>
              <a:gs pos="100000">
                <a:srgbClr val="2D3436">
                  <a:alpha val="94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858000" y="2921000"/>
            <a:ext cx="2540000" cy="508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5" name="Text 2"/>
          <p:cNvSpPr/>
          <p:nvPr/>
        </p:nvSpPr>
        <p:spPr>
          <a:xfrm>
            <a:off x="1778000" y="32258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PROGRAMMING FUNDAMENTALS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778000" y="4191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05-06: Expression and Interactivity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58000" y="4953000"/>
            <a:ext cx="2540000" cy="508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8" name="Text 5"/>
          <p:cNvSpPr/>
          <p:nvPr/>
        </p:nvSpPr>
        <p:spPr>
          <a:xfrm>
            <a:off x="1778000" y="52578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B2BEC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C++ Programming Course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785100" y="6096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29578" y="1429"/>
                </a:moveTo>
                <a:cubicBezTo>
                  <a:pt x="409337" y="-4405"/>
                  <a:pt x="388263" y="7382"/>
                  <a:pt x="382429" y="27622"/>
                </a:cubicBezTo>
                <a:lnTo>
                  <a:pt x="230029" y="561023"/>
                </a:lnTo>
                <a:cubicBezTo>
                  <a:pt x="224195" y="581263"/>
                  <a:pt x="235982" y="602337"/>
                  <a:pt x="256223" y="608171"/>
                </a:cubicBezTo>
                <a:cubicBezTo>
                  <a:pt x="276463" y="614005"/>
                  <a:pt x="297537" y="602218"/>
                  <a:pt x="303371" y="581978"/>
                </a:cubicBezTo>
                <a:lnTo>
                  <a:pt x="455771" y="48578"/>
                </a:lnTo>
                <a:cubicBezTo>
                  <a:pt x="461605" y="28337"/>
                  <a:pt x="449818" y="7263"/>
                  <a:pt x="429577" y="1429"/>
                </a:cubicBezTo>
                <a:close/>
                <a:moveTo>
                  <a:pt x="506492" y="163473"/>
                </a:moveTo>
                <a:cubicBezTo>
                  <a:pt x="491609" y="178356"/>
                  <a:pt x="491609" y="202525"/>
                  <a:pt x="506492" y="217408"/>
                </a:cubicBezTo>
                <a:lnTo>
                  <a:pt x="593884" y="304800"/>
                </a:lnTo>
                <a:lnTo>
                  <a:pt x="506492" y="392192"/>
                </a:lnTo>
                <a:cubicBezTo>
                  <a:pt x="491609" y="407075"/>
                  <a:pt x="491609" y="431244"/>
                  <a:pt x="506492" y="446127"/>
                </a:cubicBezTo>
                <a:cubicBezTo>
                  <a:pt x="521375" y="461010"/>
                  <a:pt x="545544" y="461010"/>
                  <a:pt x="560427" y="446127"/>
                </a:cubicBezTo>
                <a:lnTo>
                  <a:pt x="674727" y="331827"/>
                </a:lnTo>
                <a:cubicBezTo>
                  <a:pt x="689610" y="316944"/>
                  <a:pt x="689610" y="292775"/>
                  <a:pt x="674727" y="277892"/>
                </a:cubicBezTo>
                <a:lnTo>
                  <a:pt x="560427" y="163592"/>
                </a:lnTo>
                <a:cubicBezTo>
                  <a:pt x="545544" y="148709"/>
                  <a:pt x="521375" y="148709"/>
                  <a:pt x="506492" y="163592"/>
                </a:cubicBezTo>
                <a:close/>
                <a:moveTo>
                  <a:pt x="179427" y="163473"/>
                </a:moveTo>
                <a:cubicBezTo>
                  <a:pt x="164544" y="148590"/>
                  <a:pt x="140375" y="148590"/>
                  <a:pt x="125492" y="163473"/>
                </a:cubicBezTo>
                <a:lnTo>
                  <a:pt x="11192" y="277773"/>
                </a:lnTo>
                <a:cubicBezTo>
                  <a:pt x="-3691" y="292656"/>
                  <a:pt x="-3691" y="316825"/>
                  <a:pt x="11192" y="331708"/>
                </a:cubicBezTo>
                <a:lnTo>
                  <a:pt x="125492" y="446008"/>
                </a:lnTo>
                <a:cubicBezTo>
                  <a:pt x="140375" y="460891"/>
                  <a:pt x="164544" y="460891"/>
                  <a:pt x="179427" y="446008"/>
                </a:cubicBezTo>
                <a:cubicBezTo>
                  <a:pt x="194310" y="431125"/>
                  <a:pt x="194310" y="406956"/>
                  <a:pt x="179427" y="392073"/>
                </a:cubicBezTo>
                <a:lnTo>
                  <a:pt x="92035" y="304800"/>
                </a:lnTo>
                <a:lnTo>
                  <a:pt x="179308" y="217408"/>
                </a:lnTo>
                <a:cubicBezTo>
                  <a:pt x="194191" y="202525"/>
                  <a:pt x="194191" y="178356"/>
                  <a:pt x="179308" y="163473"/>
                </a:cubicBezTo>
                <a:close/>
              </a:path>
            </a:pathLst>
          </a:custGeom>
          <a:solidFill>
            <a:srgbClr val="00B89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32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Will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206500"/>
            <a:ext cx="762000" cy="508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2743200" cy="660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62000" y="2032000"/>
            <a:ext cx="2743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71600" y="2921000"/>
            <a:ext cx="1524000" cy="254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3175000"/>
            <a:ext cx="2336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and Expressions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200" y="4318000"/>
            <a:ext cx="23368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cin object, mathematical expressions, operator precedence, type conversion, overflow and underflow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47850" y="7112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63500" y="63500"/>
                </a:moveTo>
                <a:cubicBezTo>
                  <a:pt x="28476" y="63500"/>
                  <a:pt x="0" y="91976"/>
                  <a:pt x="0" y="127000"/>
                </a:cubicBezTo>
                <a:lnTo>
                  <a:pt x="0" y="381000"/>
                </a:lnTo>
                <a:cubicBezTo>
                  <a:pt x="0" y="416024"/>
                  <a:pt x="28476" y="444500"/>
                  <a:pt x="63500" y="444500"/>
                </a:cubicBezTo>
                <a:lnTo>
                  <a:pt x="508000" y="444500"/>
                </a:lnTo>
                <a:cubicBezTo>
                  <a:pt x="543024" y="444500"/>
                  <a:pt x="571500" y="416024"/>
                  <a:pt x="571500" y="381000"/>
                </a:cubicBezTo>
                <a:lnTo>
                  <a:pt x="571500" y="127000"/>
                </a:lnTo>
                <a:cubicBezTo>
                  <a:pt x="571500" y="91976"/>
                  <a:pt x="543024" y="63500"/>
                  <a:pt x="508000" y="63500"/>
                </a:cubicBezTo>
                <a:lnTo>
                  <a:pt x="63500" y="63500"/>
                </a:lnTo>
                <a:close/>
                <a:moveTo>
                  <a:pt x="79375" y="127000"/>
                </a:moveTo>
                <a:lnTo>
                  <a:pt x="111125" y="127000"/>
                </a:lnTo>
                <a:cubicBezTo>
                  <a:pt x="119856" y="127000"/>
                  <a:pt x="127000" y="134144"/>
                  <a:pt x="127000" y="142875"/>
                </a:cubicBezTo>
                <a:lnTo>
                  <a:pt x="127000" y="174625"/>
                </a:lnTo>
                <a:cubicBezTo>
                  <a:pt x="127000" y="183356"/>
                  <a:pt x="119856" y="190500"/>
                  <a:pt x="111125" y="190500"/>
                </a:cubicBezTo>
                <a:lnTo>
                  <a:pt x="79375" y="190500"/>
                </a:lnTo>
                <a:cubicBezTo>
                  <a:pt x="70644" y="190500"/>
                  <a:pt x="63500" y="183356"/>
                  <a:pt x="63500" y="174625"/>
                </a:cubicBezTo>
                <a:lnTo>
                  <a:pt x="63500" y="142875"/>
                </a:lnTo>
                <a:cubicBezTo>
                  <a:pt x="63500" y="134144"/>
                  <a:pt x="70644" y="127000"/>
                  <a:pt x="79375" y="127000"/>
                </a:cubicBezTo>
                <a:close/>
                <a:moveTo>
                  <a:pt x="63500" y="238125"/>
                </a:moveTo>
                <a:cubicBezTo>
                  <a:pt x="63500" y="229394"/>
                  <a:pt x="70644" y="222250"/>
                  <a:pt x="79375" y="222250"/>
                </a:cubicBezTo>
                <a:lnTo>
                  <a:pt x="111125" y="222250"/>
                </a:lnTo>
                <a:cubicBezTo>
                  <a:pt x="119856" y="222250"/>
                  <a:pt x="127000" y="229394"/>
                  <a:pt x="127000" y="238125"/>
                </a:cubicBezTo>
                <a:lnTo>
                  <a:pt x="127000" y="269875"/>
                </a:lnTo>
                <a:cubicBezTo>
                  <a:pt x="127000" y="278606"/>
                  <a:pt x="119856" y="285750"/>
                  <a:pt x="111125" y="285750"/>
                </a:cubicBezTo>
                <a:lnTo>
                  <a:pt x="79375" y="285750"/>
                </a:lnTo>
                <a:cubicBezTo>
                  <a:pt x="70644" y="285750"/>
                  <a:pt x="63500" y="278606"/>
                  <a:pt x="63500" y="269875"/>
                </a:cubicBezTo>
                <a:lnTo>
                  <a:pt x="63500" y="238125"/>
                </a:lnTo>
                <a:close/>
                <a:moveTo>
                  <a:pt x="174625" y="127000"/>
                </a:moveTo>
                <a:lnTo>
                  <a:pt x="206375" y="127000"/>
                </a:lnTo>
                <a:cubicBezTo>
                  <a:pt x="215106" y="127000"/>
                  <a:pt x="222250" y="134144"/>
                  <a:pt x="222250" y="142875"/>
                </a:cubicBezTo>
                <a:lnTo>
                  <a:pt x="222250" y="174625"/>
                </a:lnTo>
                <a:cubicBezTo>
                  <a:pt x="222250" y="183356"/>
                  <a:pt x="215106" y="190500"/>
                  <a:pt x="206375" y="190500"/>
                </a:cubicBezTo>
                <a:lnTo>
                  <a:pt x="174625" y="190500"/>
                </a:lnTo>
                <a:cubicBezTo>
                  <a:pt x="165894" y="190500"/>
                  <a:pt x="158750" y="183356"/>
                  <a:pt x="158750" y="174625"/>
                </a:cubicBezTo>
                <a:lnTo>
                  <a:pt x="158750" y="142875"/>
                </a:lnTo>
                <a:cubicBezTo>
                  <a:pt x="158750" y="134144"/>
                  <a:pt x="165894" y="127000"/>
                  <a:pt x="174625" y="127000"/>
                </a:cubicBezTo>
                <a:close/>
                <a:moveTo>
                  <a:pt x="158750" y="238125"/>
                </a:moveTo>
                <a:cubicBezTo>
                  <a:pt x="158750" y="229394"/>
                  <a:pt x="165894" y="222250"/>
                  <a:pt x="174625" y="222250"/>
                </a:cubicBezTo>
                <a:lnTo>
                  <a:pt x="206375" y="222250"/>
                </a:lnTo>
                <a:cubicBezTo>
                  <a:pt x="215106" y="222250"/>
                  <a:pt x="222250" y="229394"/>
                  <a:pt x="222250" y="238125"/>
                </a:cubicBezTo>
                <a:lnTo>
                  <a:pt x="222250" y="269875"/>
                </a:lnTo>
                <a:cubicBezTo>
                  <a:pt x="222250" y="278606"/>
                  <a:pt x="215106" y="285750"/>
                  <a:pt x="206375" y="285750"/>
                </a:cubicBezTo>
                <a:lnTo>
                  <a:pt x="174625" y="285750"/>
                </a:lnTo>
                <a:cubicBezTo>
                  <a:pt x="165894" y="285750"/>
                  <a:pt x="158750" y="278606"/>
                  <a:pt x="158750" y="269875"/>
                </a:cubicBezTo>
                <a:lnTo>
                  <a:pt x="158750" y="238125"/>
                </a:lnTo>
                <a:close/>
                <a:moveTo>
                  <a:pt x="174625" y="317500"/>
                </a:moveTo>
                <a:lnTo>
                  <a:pt x="396875" y="317500"/>
                </a:lnTo>
                <a:cubicBezTo>
                  <a:pt x="405606" y="317500"/>
                  <a:pt x="412750" y="324644"/>
                  <a:pt x="412750" y="333375"/>
                </a:cubicBezTo>
                <a:lnTo>
                  <a:pt x="412750" y="365125"/>
                </a:lnTo>
                <a:cubicBezTo>
                  <a:pt x="412750" y="373856"/>
                  <a:pt x="405606" y="381000"/>
                  <a:pt x="396875" y="381000"/>
                </a:cubicBezTo>
                <a:lnTo>
                  <a:pt x="174625" y="381000"/>
                </a:lnTo>
                <a:cubicBezTo>
                  <a:pt x="165894" y="381000"/>
                  <a:pt x="158750" y="373856"/>
                  <a:pt x="158750" y="365125"/>
                </a:cubicBezTo>
                <a:lnTo>
                  <a:pt x="158750" y="333375"/>
                </a:lnTo>
                <a:cubicBezTo>
                  <a:pt x="158750" y="324644"/>
                  <a:pt x="165894" y="317500"/>
                  <a:pt x="174625" y="317500"/>
                </a:cubicBezTo>
                <a:close/>
                <a:moveTo>
                  <a:pt x="254000" y="142875"/>
                </a:moveTo>
                <a:cubicBezTo>
                  <a:pt x="254000" y="134144"/>
                  <a:pt x="261144" y="127000"/>
                  <a:pt x="269875" y="127000"/>
                </a:cubicBezTo>
                <a:lnTo>
                  <a:pt x="301625" y="127000"/>
                </a:lnTo>
                <a:cubicBezTo>
                  <a:pt x="310356" y="127000"/>
                  <a:pt x="317500" y="134144"/>
                  <a:pt x="317500" y="142875"/>
                </a:cubicBezTo>
                <a:lnTo>
                  <a:pt x="317500" y="174625"/>
                </a:lnTo>
                <a:cubicBezTo>
                  <a:pt x="317500" y="183356"/>
                  <a:pt x="310356" y="190500"/>
                  <a:pt x="301625" y="190500"/>
                </a:cubicBezTo>
                <a:lnTo>
                  <a:pt x="269875" y="190500"/>
                </a:lnTo>
                <a:cubicBezTo>
                  <a:pt x="261144" y="190500"/>
                  <a:pt x="254000" y="183356"/>
                  <a:pt x="254000" y="174625"/>
                </a:cubicBezTo>
                <a:lnTo>
                  <a:pt x="254000" y="142875"/>
                </a:lnTo>
                <a:close/>
                <a:moveTo>
                  <a:pt x="269875" y="222250"/>
                </a:moveTo>
                <a:lnTo>
                  <a:pt x="301625" y="222250"/>
                </a:lnTo>
                <a:cubicBezTo>
                  <a:pt x="310356" y="222250"/>
                  <a:pt x="317500" y="229394"/>
                  <a:pt x="317500" y="238125"/>
                </a:cubicBezTo>
                <a:lnTo>
                  <a:pt x="317500" y="269875"/>
                </a:lnTo>
                <a:cubicBezTo>
                  <a:pt x="317500" y="278606"/>
                  <a:pt x="310356" y="285750"/>
                  <a:pt x="301625" y="285750"/>
                </a:cubicBezTo>
                <a:lnTo>
                  <a:pt x="269875" y="285750"/>
                </a:lnTo>
                <a:cubicBezTo>
                  <a:pt x="261144" y="285750"/>
                  <a:pt x="254000" y="278606"/>
                  <a:pt x="254000" y="269875"/>
                </a:cubicBezTo>
                <a:lnTo>
                  <a:pt x="254000" y="238125"/>
                </a:lnTo>
                <a:cubicBezTo>
                  <a:pt x="254000" y="229394"/>
                  <a:pt x="261144" y="222250"/>
                  <a:pt x="269875" y="222250"/>
                </a:cubicBezTo>
                <a:close/>
                <a:moveTo>
                  <a:pt x="349250" y="142875"/>
                </a:moveTo>
                <a:cubicBezTo>
                  <a:pt x="349250" y="134144"/>
                  <a:pt x="356394" y="127000"/>
                  <a:pt x="365125" y="127000"/>
                </a:cubicBezTo>
                <a:lnTo>
                  <a:pt x="396875" y="127000"/>
                </a:lnTo>
                <a:cubicBezTo>
                  <a:pt x="405606" y="127000"/>
                  <a:pt x="412750" y="134144"/>
                  <a:pt x="412750" y="142875"/>
                </a:cubicBezTo>
                <a:lnTo>
                  <a:pt x="412750" y="174625"/>
                </a:lnTo>
                <a:cubicBezTo>
                  <a:pt x="412750" y="183356"/>
                  <a:pt x="405606" y="190500"/>
                  <a:pt x="396875" y="190500"/>
                </a:cubicBezTo>
                <a:lnTo>
                  <a:pt x="365125" y="190500"/>
                </a:lnTo>
                <a:cubicBezTo>
                  <a:pt x="356394" y="190500"/>
                  <a:pt x="349250" y="183356"/>
                  <a:pt x="349250" y="174625"/>
                </a:cubicBezTo>
                <a:lnTo>
                  <a:pt x="349250" y="142875"/>
                </a:lnTo>
                <a:close/>
                <a:moveTo>
                  <a:pt x="365125" y="222250"/>
                </a:moveTo>
                <a:lnTo>
                  <a:pt x="396875" y="222250"/>
                </a:lnTo>
                <a:cubicBezTo>
                  <a:pt x="405606" y="222250"/>
                  <a:pt x="412750" y="229394"/>
                  <a:pt x="412750" y="238125"/>
                </a:cubicBezTo>
                <a:lnTo>
                  <a:pt x="412750" y="269875"/>
                </a:lnTo>
                <a:cubicBezTo>
                  <a:pt x="412750" y="278606"/>
                  <a:pt x="405606" y="285750"/>
                  <a:pt x="396875" y="285750"/>
                </a:cubicBezTo>
                <a:lnTo>
                  <a:pt x="365125" y="285750"/>
                </a:lnTo>
                <a:cubicBezTo>
                  <a:pt x="356394" y="285750"/>
                  <a:pt x="349250" y="278606"/>
                  <a:pt x="349250" y="269875"/>
                </a:cubicBezTo>
                <a:lnTo>
                  <a:pt x="349250" y="238125"/>
                </a:lnTo>
                <a:cubicBezTo>
                  <a:pt x="349250" y="229394"/>
                  <a:pt x="356394" y="222250"/>
                  <a:pt x="365125" y="222250"/>
                </a:cubicBezTo>
                <a:close/>
                <a:moveTo>
                  <a:pt x="444500" y="142875"/>
                </a:moveTo>
                <a:cubicBezTo>
                  <a:pt x="444500" y="134144"/>
                  <a:pt x="451644" y="127000"/>
                  <a:pt x="460375" y="127000"/>
                </a:cubicBezTo>
                <a:lnTo>
                  <a:pt x="492125" y="127000"/>
                </a:lnTo>
                <a:cubicBezTo>
                  <a:pt x="500856" y="127000"/>
                  <a:pt x="508000" y="134144"/>
                  <a:pt x="508000" y="142875"/>
                </a:cubicBezTo>
                <a:lnTo>
                  <a:pt x="508000" y="174625"/>
                </a:lnTo>
                <a:cubicBezTo>
                  <a:pt x="508000" y="183356"/>
                  <a:pt x="500856" y="190500"/>
                  <a:pt x="492125" y="190500"/>
                </a:cubicBezTo>
                <a:lnTo>
                  <a:pt x="460375" y="190500"/>
                </a:lnTo>
                <a:cubicBezTo>
                  <a:pt x="451644" y="190500"/>
                  <a:pt x="444500" y="183356"/>
                  <a:pt x="444500" y="174625"/>
                </a:cubicBezTo>
                <a:lnTo>
                  <a:pt x="444500" y="142875"/>
                </a:lnTo>
                <a:close/>
                <a:moveTo>
                  <a:pt x="460375" y="222250"/>
                </a:moveTo>
                <a:lnTo>
                  <a:pt x="492125" y="222250"/>
                </a:lnTo>
                <a:cubicBezTo>
                  <a:pt x="500856" y="222250"/>
                  <a:pt x="508000" y="229394"/>
                  <a:pt x="508000" y="238125"/>
                </a:cubicBezTo>
                <a:lnTo>
                  <a:pt x="508000" y="269875"/>
                </a:lnTo>
                <a:cubicBezTo>
                  <a:pt x="508000" y="278606"/>
                  <a:pt x="500856" y="285750"/>
                  <a:pt x="492125" y="285750"/>
                </a:cubicBezTo>
                <a:lnTo>
                  <a:pt x="460375" y="285750"/>
                </a:lnTo>
                <a:cubicBezTo>
                  <a:pt x="451644" y="285750"/>
                  <a:pt x="444500" y="278606"/>
                  <a:pt x="444500" y="269875"/>
                </a:cubicBezTo>
                <a:lnTo>
                  <a:pt x="444500" y="238125"/>
                </a:lnTo>
                <a:cubicBezTo>
                  <a:pt x="444500" y="229394"/>
                  <a:pt x="451644" y="222250"/>
                  <a:pt x="460375" y="222250"/>
                </a:cubicBezTo>
                <a:close/>
              </a:path>
            </a:pathLst>
          </a:custGeom>
          <a:solidFill>
            <a:srgbClr val="00B894">
              <a:alpha val="18824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759200" y="1651000"/>
            <a:ext cx="2743200" cy="660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59200" y="2032000"/>
            <a:ext cx="2743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68800" y="2921000"/>
            <a:ext cx="1524000" cy="254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3962400" y="3175000"/>
            <a:ext cx="2336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Casting and Assignment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62400" y="4318000"/>
            <a:ext cx="23368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 casting, multiple assignment, combined assignment operators, and formatting output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876800" y="711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498673" y="149423"/>
                </a:moveTo>
                <a:lnTo>
                  <a:pt x="403423" y="244673"/>
                </a:lnTo>
                <a:cubicBezTo>
                  <a:pt x="394295" y="253802"/>
                  <a:pt x="380702" y="256480"/>
                  <a:pt x="368796" y="251520"/>
                </a:cubicBezTo>
                <a:cubicBezTo>
                  <a:pt x="356890" y="246559"/>
                  <a:pt x="349250" y="235049"/>
                  <a:pt x="349250" y="222250"/>
                </a:cubicBezTo>
                <a:lnTo>
                  <a:pt x="349250" y="158750"/>
                </a:lnTo>
                <a:lnTo>
                  <a:pt x="31750" y="158750"/>
                </a:lnTo>
                <a:cubicBezTo>
                  <a:pt x="14188" y="158750"/>
                  <a:pt x="0" y="144562"/>
                  <a:pt x="0" y="127000"/>
                </a:cubicBezTo>
                <a:cubicBezTo>
                  <a:pt x="0" y="109438"/>
                  <a:pt x="14188" y="95250"/>
                  <a:pt x="31750" y="95250"/>
                </a:cubicBezTo>
                <a:lnTo>
                  <a:pt x="349250" y="95250"/>
                </a:lnTo>
                <a:lnTo>
                  <a:pt x="349250" y="31750"/>
                </a:lnTo>
                <a:cubicBezTo>
                  <a:pt x="349250" y="18951"/>
                  <a:pt x="356989" y="7342"/>
                  <a:pt x="368895" y="2381"/>
                </a:cubicBezTo>
                <a:cubicBezTo>
                  <a:pt x="380802" y="-2580"/>
                  <a:pt x="394395" y="198"/>
                  <a:pt x="403523" y="9227"/>
                </a:cubicBezTo>
                <a:lnTo>
                  <a:pt x="498773" y="104477"/>
                </a:lnTo>
                <a:cubicBezTo>
                  <a:pt x="511175" y="116880"/>
                  <a:pt x="511175" y="137021"/>
                  <a:pt x="498773" y="149423"/>
                </a:cubicBezTo>
                <a:close/>
                <a:moveTo>
                  <a:pt x="104477" y="498673"/>
                </a:moveTo>
                <a:lnTo>
                  <a:pt x="9227" y="403423"/>
                </a:lnTo>
                <a:cubicBezTo>
                  <a:pt x="-3175" y="391021"/>
                  <a:pt x="-3175" y="370880"/>
                  <a:pt x="9227" y="358477"/>
                </a:cubicBezTo>
                <a:lnTo>
                  <a:pt x="104477" y="263227"/>
                </a:lnTo>
                <a:cubicBezTo>
                  <a:pt x="113605" y="254099"/>
                  <a:pt x="127198" y="251420"/>
                  <a:pt x="139105" y="256381"/>
                </a:cubicBezTo>
                <a:cubicBezTo>
                  <a:pt x="151011" y="261342"/>
                  <a:pt x="158750" y="272951"/>
                  <a:pt x="158750" y="285750"/>
                </a:cubicBezTo>
                <a:lnTo>
                  <a:pt x="158750" y="349250"/>
                </a:lnTo>
                <a:lnTo>
                  <a:pt x="476250" y="349250"/>
                </a:lnTo>
                <a:cubicBezTo>
                  <a:pt x="493812" y="349250"/>
                  <a:pt x="508000" y="363438"/>
                  <a:pt x="508000" y="381000"/>
                </a:cubicBezTo>
                <a:cubicBezTo>
                  <a:pt x="508000" y="398562"/>
                  <a:pt x="493812" y="412750"/>
                  <a:pt x="476250" y="412750"/>
                </a:cubicBezTo>
                <a:lnTo>
                  <a:pt x="158750" y="412750"/>
                </a:lnTo>
                <a:lnTo>
                  <a:pt x="158750" y="476250"/>
                </a:lnTo>
                <a:cubicBezTo>
                  <a:pt x="158750" y="489049"/>
                  <a:pt x="151011" y="500658"/>
                  <a:pt x="139105" y="505619"/>
                </a:cubicBezTo>
                <a:cubicBezTo>
                  <a:pt x="127198" y="510580"/>
                  <a:pt x="113605" y="507802"/>
                  <a:pt x="104477" y="498773"/>
                </a:cubicBezTo>
                <a:close/>
              </a:path>
            </a:pathLst>
          </a:custGeom>
          <a:solidFill>
            <a:srgbClr val="00B894">
              <a:alpha val="18824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756400" y="1651000"/>
            <a:ext cx="2743200" cy="660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56400" y="2032000"/>
            <a:ext cx="2743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66000" y="2921000"/>
            <a:ext cx="1524000" cy="254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6959600" y="3175000"/>
            <a:ext cx="2336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Characters and Strings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959600" y="4318000"/>
            <a:ext cx="23368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with char data type, string objects, input handling, and string operations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874000" y="711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82873" y="50304"/>
                </a:moveTo>
                <a:cubicBezTo>
                  <a:pt x="277713" y="38993"/>
                  <a:pt x="266402" y="31750"/>
                  <a:pt x="254000" y="31750"/>
                </a:cubicBezTo>
                <a:cubicBezTo>
                  <a:pt x="241598" y="31750"/>
                  <a:pt x="230287" y="38993"/>
                  <a:pt x="225127" y="50304"/>
                </a:cubicBezTo>
                <a:lnTo>
                  <a:pt x="59035" y="412750"/>
                </a:lnTo>
                <a:lnTo>
                  <a:pt x="47625" y="412750"/>
                </a:lnTo>
                <a:cubicBezTo>
                  <a:pt x="30063" y="412750"/>
                  <a:pt x="15875" y="426938"/>
                  <a:pt x="15875" y="444500"/>
                </a:cubicBezTo>
                <a:cubicBezTo>
                  <a:pt x="15875" y="462062"/>
                  <a:pt x="30063" y="476250"/>
                  <a:pt x="47625" y="476250"/>
                </a:cubicBezTo>
                <a:lnTo>
                  <a:pt x="134938" y="476250"/>
                </a:lnTo>
                <a:cubicBezTo>
                  <a:pt x="152499" y="476250"/>
                  <a:pt x="166688" y="462062"/>
                  <a:pt x="166688" y="444500"/>
                </a:cubicBezTo>
                <a:cubicBezTo>
                  <a:pt x="166688" y="426938"/>
                  <a:pt x="152499" y="412750"/>
                  <a:pt x="134938" y="412750"/>
                </a:cubicBezTo>
                <a:lnTo>
                  <a:pt x="128885" y="412750"/>
                </a:lnTo>
                <a:lnTo>
                  <a:pt x="150713" y="365125"/>
                </a:lnTo>
                <a:lnTo>
                  <a:pt x="357386" y="365125"/>
                </a:lnTo>
                <a:lnTo>
                  <a:pt x="379214" y="412750"/>
                </a:lnTo>
                <a:lnTo>
                  <a:pt x="373162" y="412750"/>
                </a:lnTo>
                <a:cubicBezTo>
                  <a:pt x="355600" y="412750"/>
                  <a:pt x="341412" y="426938"/>
                  <a:pt x="341412" y="444500"/>
                </a:cubicBezTo>
                <a:cubicBezTo>
                  <a:pt x="341412" y="462062"/>
                  <a:pt x="355600" y="476250"/>
                  <a:pt x="373162" y="476250"/>
                </a:cubicBezTo>
                <a:lnTo>
                  <a:pt x="460474" y="476250"/>
                </a:lnTo>
                <a:cubicBezTo>
                  <a:pt x="478036" y="476250"/>
                  <a:pt x="492224" y="462062"/>
                  <a:pt x="492224" y="444500"/>
                </a:cubicBezTo>
                <a:cubicBezTo>
                  <a:pt x="492224" y="426938"/>
                  <a:pt x="478036" y="412750"/>
                  <a:pt x="460474" y="412750"/>
                </a:cubicBezTo>
                <a:lnTo>
                  <a:pt x="449064" y="412750"/>
                </a:lnTo>
                <a:lnTo>
                  <a:pt x="282972" y="50304"/>
                </a:lnTo>
                <a:close/>
                <a:moveTo>
                  <a:pt x="328216" y="301625"/>
                </a:moveTo>
                <a:lnTo>
                  <a:pt x="179784" y="301625"/>
                </a:lnTo>
                <a:lnTo>
                  <a:pt x="254000" y="139700"/>
                </a:lnTo>
                <a:lnTo>
                  <a:pt x="328216" y="301625"/>
                </a:lnTo>
                <a:close/>
              </a:path>
            </a:pathLst>
          </a:custGeom>
          <a:solidFill>
            <a:srgbClr val="00B894">
              <a:alpha val="18824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9753600" y="1651000"/>
            <a:ext cx="2743200" cy="660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753600" y="2032000"/>
            <a:ext cx="2743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363200" y="2921000"/>
            <a:ext cx="1524000" cy="254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5" name="Text 23"/>
          <p:cNvSpPr/>
          <p:nvPr/>
        </p:nvSpPr>
        <p:spPr>
          <a:xfrm>
            <a:off x="9956800" y="3175000"/>
            <a:ext cx="2336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Functions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956800" y="4318000"/>
            <a:ext cx="23368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cmath library functions for power, roots, rounding, and trigonometric calculations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934700" y="7112000"/>
            <a:ext cx="381000" cy="508000"/>
          </a:xfrm>
          <a:custGeom>
            <a:avLst/>
            <a:gdLst/>
            <a:ahLst/>
            <a:cxnLst/>
            <a:rect l="l" t="t" r="r" b="b"/>
            <a:pathLst>
              <a:path w="381000" h="508000">
                <a:moveTo>
                  <a:pt x="63500" y="0"/>
                </a:moveTo>
                <a:cubicBezTo>
                  <a:pt x="28476" y="0"/>
                  <a:pt x="0" y="28476"/>
                  <a:pt x="0" y="63500"/>
                </a:cubicBezTo>
                <a:lnTo>
                  <a:pt x="0" y="444500"/>
                </a:lnTo>
                <a:cubicBezTo>
                  <a:pt x="0" y="479524"/>
                  <a:pt x="28476" y="508000"/>
                  <a:pt x="63500" y="508000"/>
                </a:cubicBezTo>
                <a:lnTo>
                  <a:pt x="317500" y="508000"/>
                </a:lnTo>
                <a:cubicBezTo>
                  <a:pt x="352524" y="508000"/>
                  <a:pt x="381000" y="479524"/>
                  <a:pt x="381000" y="444500"/>
                </a:cubicBezTo>
                <a:lnTo>
                  <a:pt x="381000" y="63500"/>
                </a:lnTo>
                <a:cubicBezTo>
                  <a:pt x="381000" y="28476"/>
                  <a:pt x="352524" y="0"/>
                  <a:pt x="317500" y="0"/>
                </a:cubicBezTo>
                <a:lnTo>
                  <a:pt x="63500" y="0"/>
                </a:lnTo>
                <a:close/>
                <a:moveTo>
                  <a:pt x="95250" y="63500"/>
                </a:moveTo>
                <a:lnTo>
                  <a:pt x="285750" y="63500"/>
                </a:lnTo>
                <a:cubicBezTo>
                  <a:pt x="303312" y="63500"/>
                  <a:pt x="317500" y="77688"/>
                  <a:pt x="317500" y="95250"/>
                </a:cubicBezTo>
                <a:lnTo>
                  <a:pt x="317500" y="127000"/>
                </a:lnTo>
                <a:cubicBezTo>
                  <a:pt x="317500" y="144562"/>
                  <a:pt x="303312" y="158750"/>
                  <a:pt x="285750" y="158750"/>
                </a:cubicBezTo>
                <a:lnTo>
                  <a:pt x="95250" y="158750"/>
                </a:lnTo>
                <a:cubicBezTo>
                  <a:pt x="77688" y="158750"/>
                  <a:pt x="63500" y="144562"/>
                  <a:pt x="63500" y="127000"/>
                </a:cubicBezTo>
                <a:lnTo>
                  <a:pt x="63500" y="95250"/>
                </a:lnTo>
                <a:cubicBezTo>
                  <a:pt x="63500" y="77688"/>
                  <a:pt x="77688" y="63500"/>
                  <a:pt x="95250" y="63500"/>
                </a:cubicBezTo>
                <a:close/>
                <a:moveTo>
                  <a:pt x="111125" y="230188"/>
                </a:moveTo>
                <a:cubicBezTo>
                  <a:pt x="111125" y="243330"/>
                  <a:pt x="100455" y="254000"/>
                  <a:pt x="87313" y="254000"/>
                </a:cubicBezTo>
                <a:cubicBezTo>
                  <a:pt x="74170" y="254000"/>
                  <a:pt x="63500" y="243330"/>
                  <a:pt x="63500" y="230188"/>
                </a:cubicBezTo>
                <a:cubicBezTo>
                  <a:pt x="63500" y="217045"/>
                  <a:pt x="74170" y="206375"/>
                  <a:pt x="87313" y="206375"/>
                </a:cubicBezTo>
                <a:cubicBezTo>
                  <a:pt x="100455" y="206375"/>
                  <a:pt x="111125" y="217045"/>
                  <a:pt x="111125" y="230188"/>
                </a:cubicBezTo>
                <a:close/>
                <a:moveTo>
                  <a:pt x="190500" y="254000"/>
                </a:moveTo>
                <a:cubicBezTo>
                  <a:pt x="177358" y="254000"/>
                  <a:pt x="166688" y="243330"/>
                  <a:pt x="166688" y="230188"/>
                </a:cubicBezTo>
                <a:cubicBezTo>
                  <a:pt x="166688" y="217045"/>
                  <a:pt x="177358" y="206375"/>
                  <a:pt x="190500" y="206375"/>
                </a:cubicBezTo>
                <a:cubicBezTo>
                  <a:pt x="203642" y="206375"/>
                  <a:pt x="214313" y="217045"/>
                  <a:pt x="214313" y="230188"/>
                </a:cubicBezTo>
                <a:cubicBezTo>
                  <a:pt x="214313" y="243330"/>
                  <a:pt x="203642" y="254000"/>
                  <a:pt x="190500" y="254000"/>
                </a:cubicBezTo>
                <a:close/>
                <a:moveTo>
                  <a:pt x="317500" y="230188"/>
                </a:moveTo>
                <a:cubicBezTo>
                  <a:pt x="317500" y="243330"/>
                  <a:pt x="306830" y="254000"/>
                  <a:pt x="293688" y="254000"/>
                </a:cubicBezTo>
                <a:cubicBezTo>
                  <a:pt x="280545" y="254000"/>
                  <a:pt x="269875" y="243330"/>
                  <a:pt x="269875" y="230188"/>
                </a:cubicBezTo>
                <a:cubicBezTo>
                  <a:pt x="269875" y="217045"/>
                  <a:pt x="280545" y="206375"/>
                  <a:pt x="293688" y="206375"/>
                </a:cubicBezTo>
                <a:cubicBezTo>
                  <a:pt x="306830" y="206375"/>
                  <a:pt x="317500" y="217045"/>
                  <a:pt x="317500" y="230188"/>
                </a:cubicBezTo>
                <a:close/>
                <a:moveTo>
                  <a:pt x="87313" y="349250"/>
                </a:moveTo>
                <a:cubicBezTo>
                  <a:pt x="74170" y="349250"/>
                  <a:pt x="63500" y="338580"/>
                  <a:pt x="63500" y="325438"/>
                </a:cubicBezTo>
                <a:cubicBezTo>
                  <a:pt x="63500" y="312295"/>
                  <a:pt x="74170" y="301625"/>
                  <a:pt x="87313" y="301625"/>
                </a:cubicBezTo>
                <a:cubicBezTo>
                  <a:pt x="100455" y="301625"/>
                  <a:pt x="111125" y="312295"/>
                  <a:pt x="111125" y="325438"/>
                </a:cubicBezTo>
                <a:cubicBezTo>
                  <a:pt x="111125" y="338580"/>
                  <a:pt x="100455" y="349250"/>
                  <a:pt x="87313" y="349250"/>
                </a:cubicBezTo>
                <a:close/>
                <a:moveTo>
                  <a:pt x="214313" y="325438"/>
                </a:moveTo>
                <a:cubicBezTo>
                  <a:pt x="214313" y="338580"/>
                  <a:pt x="203642" y="349250"/>
                  <a:pt x="190500" y="349250"/>
                </a:cubicBezTo>
                <a:cubicBezTo>
                  <a:pt x="177358" y="349250"/>
                  <a:pt x="166688" y="338580"/>
                  <a:pt x="166688" y="325438"/>
                </a:cubicBezTo>
                <a:cubicBezTo>
                  <a:pt x="166688" y="312295"/>
                  <a:pt x="177358" y="301625"/>
                  <a:pt x="190500" y="301625"/>
                </a:cubicBezTo>
                <a:cubicBezTo>
                  <a:pt x="203642" y="301625"/>
                  <a:pt x="214313" y="312295"/>
                  <a:pt x="214313" y="325438"/>
                </a:cubicBezTo>
                <a:close/>
                <a:moveTo>
                  <a:pt x="293688" y="349250"/>
                </a:moveTo>
                <a:cubicBezTo>
                  <a:pt x="280545" y="349250"/>
                  <a:pt x="269875" y="338580"/>
                  <a:pt x="269875" y="325438"/>
                </a:cubicBezTo>
                <a:cubicBezTo>
                  <a:pt x="269875" y="312295"/>
                  <a:pt x="280545" y="301625"/>
                  <a:pt x="293688" y="301625"/>
                </a:cubicBezTo>
                <a:cubicBezTo>
                  <a:pt x="306830" y="301625"/>
                  <a:pt x="317500" y="312295"/>
                  <a:pt x="317500" y="325438"/>
                </a:cubicBezTo>
                <a:cubicBezTo>
                  <a:pt x="317500" y="338580"/>
                  <a:pt x="306830" y="349250"/>
                  <a:pt x="293688" y="349250"/>
                </a:cubicBezTo>
                <a:close/>
                <a:moveTo>
                  <a:pt x="63500" y="420688"/>
                </a:moveTo>
                <a:cubicBezTo>
                  <a:pt x="63500" y="407491"/>
                  <a:pt x="74116" y="396875"/>
                  <a:pt x="87313" y="396875"/>
                </a:cubicBezTo>
                <a:lnTo>
                  <a:pt x="198438" y="396875"/>
                </a:lnTo>
                <a:cubicBezTo>
                  <a:pt x="211634" y="396875"/>
                  <a:pt x="222250" y="407491"/>
                  <a:pt x="222250" y="420688"/>
                </a:cubicBezTo>
                <a:cubicBezTo>
                  <a:pt x="222250" y="433884"/>
                  <a:pt x="211634" y="444500"/>
                  <a:pt x="198438" y="444500"/>
                </a:cubicBezTo>
                <a:lnTo>
                  <a:pt x="87313" y="444500"/>
                </a:lnTo>
                <a:cubicBezTo>
                  <a:pt x="74116" y="444500"/>
                  <a:pt x="63500" y="433884"/>
                  <a:pt x="63500" y="420688"/>
                </a:cubicBezTo>
                <a:close/>
                <a:moveTo>
                  <a:pt x="293688" y="396875"/>
                </a:moveTo>
                <a:cubicBezTo>
                  <a:pt x="306884" y="396875"/>
                  <a:pt x="317500" y="407491"/>
                  <a:pt x="317500" y="420688"/>
                </a:cubicBezTo>
                <a:cubicBezTo>
                  <a:pt x="317500" y="433884"/>
                  <a:pt x="306884" y="444500"/>
                  <a:pt x="293688" y="444500"/>
                </a:cubicBezTo>
                <a:cubicBezTo>
                  <a:pt x="280491" y="444500"/>
                  <a:pt x="269875" y="433884"/>
                  <a:pt x="269875" y="420688"/>
                </a:cubicBezTo>
                <a:cubicBezTo>
                  <a:pt x="269875" y="407491"/>
                  <a:pt x="280491" y="396875"/>
                  <a:pt x="293688" y="396875"/>
                </a:cubicBezTo>
                <a:close/>
              </a:path>
            </a:pathLst>
          </a:custGeom>
          <a:solidFill>
            <a:srgbClr val="00B894">
              <a:alpha val="18824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12750800" y="1651000"/>
            <a:ext cx="2743200" cy="660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5098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2750800" y="2032000"/>
            <a:ext cx="27432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3360400" y="2921000"/>
            <a:ext cx="1524000" cy="254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1" name="Text 29"/>
          <p:cNvSpPr/>
          <p:nvPr/>
        </p:nvSpPr>
        <p:spPr>
          <a:xfrm>
            <a:off x="12954000" y="3175000"/>
            <a:ext cx="2336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Debugging and Problem Solving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954000" y="4318000"/>
            <a:ext cx="23368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 tracing programs, debugging techniques, and a complete problem-solving case study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836650" y="7112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190500" y="95250"/>
                </a:moveTo>
                <a:cubicBezTo>
                  <a:pt x="190500" y="42664"/>
                  <a:pt x="233164" y="0"/>
                  <a:pt x="285750" y="0"/>
                </a:cubicBezTo>
                <a:cubicBezTo>
                  <a:pt x="338336" y="0"/>
                  <a:pt x="381000" y="42664"/>
                  <a:pt x="381000" y="95250"/>
                </a:cubicBezTo>
                <a:lnTo>
                  <a:pt x="381000" y="98822"/>
                </a:lnTo>
                <a:cubicBezTo>
                  <a:pt x="381000" y="114399"/>
                  <a:pt x="368399" y="127000"/>
                  <a:pt x="352822" y="127000"/>
                </a:cubicBezTo>
                <a:lnTo>
                  <a:pt x="218777" y="127000"/>
                </a:lnTo>
                <a:cubicBezTo>
                  <a:pt x="203200" y="127000"/>
                  <a:pt x="190599" y="114399"/>
                  <a:pt x="190599" y="98822"/>
                </a:cubicBezTo>
                <a:lnTo>
                  <a:pt x="190599" y="95250"/>
                </a:lnTo>
                <a:close/>
                <a:moveTo>
                  <a:pt x="533400" y="107950"/>
                </a:moveTo>
                <a:cubicBezTo>
                  <a:pt x="543917" y="121940"/>
                  <a:pt x="541040" y="141883"/>
                  <a:pt x="527050" y="152400"/>
                </a:cubicBezTo>
                <a:lnTo>
                  <a:pt x="430014" y="225127"/>
                </a:lnTo>
                <a:cubicBezTo>
                  <a:pt x="435273" y="233958"/>
                  <a:pt x="439241" y="243681"/>
                  <a:pt x="441722" y="254000"/>
                </a:cubicBezTo>
                <a:lnTo>
                  <a:pt x="539750" y="254000"/>
                </a:lnTo>
                <a:cubicBezTo>
                  <a:pt x="557312" y="254000"/>
                  <a:pt x="571500" y="268188"/>
                  <a:pt x="571500" y="285750"/>
                </a:cubicBezTo>
                <a:cubicBezTo>
                  <a:pt x="571500" y="303312"/>
                  <a:pt x="557312" y="317500"/>
                  <a:pt x="539750" y="317500"/>
                </a:cubicBezTo>
                <a:lnTo>
                  <a:pt x="444500" y="317500"/>
                </a:lnTo>
                <a:lnTo>
                  <a:pt x="444500" y="349250"/>
                </a:lnTo>
                <a:cubicBezTo>
                  <a:pt x="444500" y="351830"/>
                  <a:pt x="444401" y="354509"/>
                  <a:pt x="444302" y="357088"/>
                </a:cubicBezTo>
                <a:lnTo>
                  <a:pt x="527050" y="419100"/>
                </a:lnTo>
                <a:cubicBezTo>
                  <a:pt x="541040" y="429617"/>
                  <a:pt x="543917" y="449560"/>
                  <a:pt x="533400" y="463550"/>
                </a:cubicBezTo>
                <a:cubicBezTo>
                  <a:pt x="522883" y="477540"/>
                  <a:pt x="502940" y="480417"/>
                  <a:pt x="488950" y="469900"/>
                </a:cubicBezTo>
                <a:lnTo>
                  <a:pt x="426343" y="422970"/>
                </a:lnTo>
                <a:cubicBezTo>
                  <a:pt x="403324" y="466824"/>
                  <a:pt x="360363" y="498574"/>
                  <a:pt x="309562" y="506214"/>
                </a:cubicBezTo>
                <a:lnTo>
                  <a:pt x="309562" y="277813"/>
                </a:lnTo>
                <a:cubicBezTo>
                  <a:pt x="309562" y="264616"/>
                  <a:pt x="298946" y="254000"/>
                  <a:pt x="285750" y="254000"/>
                </a:cubicBezTo>
                <a:cubicBezTo>
                  <a:pt x="272554" y="254000"/>
                  <a:pt x="261937" y="264616"/>
                  <a:pt x="261937" y="277813"/>
                </a:cubicBezTo>
                <a:lnTo>
                  <a:pt x="261937" y="506214"/>
                </a:lnTo>
                <a:cubicBezTo>
                  <a:pt x="211138" y="498574"/>
                  <a:pt x="168176" y="466824"/>
                  <a:pt x="145157" y="422970"/>
                </a:cubicBezTo>
                <a:lnTo>
                  <a:pt x="82550" y="469900"/>
                </a:lnTo>
                <a:cubicBezTo>
                  <a:pt x="68560" y="480417"/>
                  <a:pt x="48617" y="477540"/>
                  <a:pt x="38100" y="463550"/>
                </a:cubicBezTo>
                <a:cubicBezTo>
                  <a:pt x="27583" y="449560"/>
                  <a:pt x="30460" y="429617"/>
                  <a:pt x="44450" y="419100"/>
                </a:cubicBezTo>
                <a:lnTo>
                  <a:pt x="127198" y="357088"/>
                </a:lnTo>
                <a:cubicBezTo>
                  <a:pt x="127099" y="354509"/>
                  <a:pt x="127000" y="351929"/>
                  <a:pt x="127000" y="349250"/>
                </a:cubicBezTo>
                <a:lnTo>
                  <a:pt x="127000" y="317500"/>
                </a:lnTo>
                <a:lnTo>
                  <a:pt x="31750" y="317500"/>
                </a:lnTo>
                <a:cubicBezTo>
                  <a:pt x="14188" y="317500"/>
                  <a:pt x="0" y="303312"/>
                  <a:pt x="0" y="285750"/>
                </a:cubicBezTo>
                <a:cubicBezTo>
                  <a:pt x="0" y="268188"/>
                  <a:pt x="14188" y="254000"/>
                  <a:pt x="31750" y="254000"/>
                </a:cubicBezTo>
                <a:lnTo>
                  <a:pt x="129778" y="254000"/>
                </a:lnTo>
                <a:cubicBezTo>
                  <a:pt x="132259" y="243681"/>
                  <a:pt x="136227" y="233958"/>
                  <a:pt x="141486" y="225127"/>
                </a:cubicBezTo>
                <a:lnTo>
                  <a:pt x="44450" y="152400"/>
                </a:lnTo>
                <a:cubicBezTo>
                  <a:pt x="30460" y="141883"/>
                  <a:pt x="27583" y="121940"/>
                  <a:pt x="38100" y="107950"/>
                </a:cubicBezTo>
                <a:cubicBezTo>
                  <a:pt x="48617" y="93960"/>
                  <a:pt x="68560" y="91083"/>
                  <a:pt x="82550" y="101600"/>
                </a:cubicBezTo>
                <a:lnTo>
                  <a:pt x="190500" y="182563"/>
                </a:lnTo>
                <a:cubicBezTo>
                  <a:pt x="202704" y="177502"/>
                  <a:pt x="216098" y="174625"/>
                  <a:pt x="230188" y="174625"/>
                </a:cubicBezTo>
                <a:lnTo>
                  <a:pt x="341313" y="174625"/>
                </a:lnTo>
                <a:cubicBezTo>
                  <a:pt x="355402" y="174625"/>
                  <a:pt x="368796" y="177403"/>
                  <a:pt x="381000" y="182563"/>
                </a:cubicBezTo>
                <a:lnTo>
                  <a:pt x="488950" y="101600"/>
                </a:lnTo>
                <a:cubicBezTo>
                  <a:pt x="502940" y="91083"/>
                  <a:pt x="522883" y="93960"/>
                  <a:pt x="533400" y="107950"/>
                </a:cubicBezTo>
                <a:close/>
              </a:path>
            </a:pathLst>
          </a:custGeom>
          <a:solidFill>
            <a:srgbClr val="00B894">
              <a:alpha val="18824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FFFFFF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635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and Expressions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B2BEC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Reading user input with cin and building mathematical expressions in C++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3425" y="5842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7150" y="57150"/>
                </a:moveTo>
                <a:cubicBezTo>
                  <a:pt x="25628" y="57150"/>
                  <a:pt x="0" y="82778"/>
                  <a:pt x="0" y="114300"/>
                </a:cubicBezTo>
                <a:lnTo>
                  <a:pt x="0" y="342900"/>
                </a:lnTo>
                <a:cubicBezTo>
                  <a:pt x="0" y="374422"/>
                  <a:pt x="25628" y="400050"/>
                  <a:pt x="57150" y="400050"/>
                </a:cubicBezTo>
                <a:lnTo>
                  <a:pt x="457200" y="400050"/>
                </a:lnTo>
                <a:cubicBezTo>
                  <a:pt x="488722" y="400050"/>
                  <a:pt x="514350" y="374422"/>
                  <a:pt x="514350" y="342900"/>
                </a:cubicBezTo>
                <a:lnTo>
                  <a:pt x="514350" y="114300"/>
                </a:lnTo>
                <a:cubicBezTo>
                  <a:pt x="514350" y="82778"/>
                  <a:pt x="488722" y="57150"/>
                  <a:pt x="457200" y="57150"/>
                </a:cubicBezTo>
                <a:lnTo>
                  <a:pt x="57150" y="57150"/>
                </a:lnTo>
                <a:close/>
                <a:moveTo>
                  <a:pt x="71438" y="114300"/>
                </a:moveTo>
                <a:lnTo>
                  <a:pt x="100013" y="114300"/>
                </a:lnTo>
                <a:cubicBezTo>
                  <a:pt x="107871" y="114300"/>
                  <a:pt x="114300" y="120729"/>
                  <a:pt x="114300" y="128588"/>
                </a:cubicBezTo>
                <a:lnTo>
                  <a:pt x="114300" y="157163"/>
                </a:lnTo>
                <a:cubicBezTo>
                  <a:pt x="114300" y="165021"/>
                  <a:pt x="107871" y="171450"/>
                  <a:pt x="100013" y="171450"/>
                </a:cubicBezTo>
                <a:lnTo>
                  <a:pt x="71438" y="171450"/>
                </a:lnTo>
                <a:cubicBezTo>
                  <a:pt x="63579" y="171450"/>
                  <a:pt x="57150" y="165021"/>
                  <a:pt x="57150" y="157163"/>
                </a:cubicBezTo>
                <a:lnTo>
                  <a:pt x="57150" y="128588"/>
                </a:lnTo>
                <a:cubicBezTo>
                  <a:pt x="57150" y="120729"/>
                  <a:pt x="63579" y="114300"/>
                  <a:pt x="71438" y="114300"/>
                </a:cubicBezTo>
                <a:close/>
                <a:moveTo>
                  <a:pt x="57150" y="214313"/>
                </a:moveTo>
                <a:cubicBezTo>
                  <a:pt x="57150" y="206454"/>
                  <a:pt x="63579" y="200025"/>
                  <a:pt x="71438" y="200025"/>
                </a:cubicBezTo>
                <a:lnTo>
                  <a:pt x="100013" y="200025"/>
                </a:lnTo>
                <a:cubicBezTo>
                  <a:pt x="107871" y="200025"/>
                  <a:pt x="114300" y="206454"/>
                  <a:pt x="114300" y="214313"/>
                </a:cubicBezTo>
                <a:lnTo>
                  <a:pt x="114300" y="242888"/>
                </a:lnTo>
                <a:cubicBezTo>
                  <a:pt x="114300" y="250746"/>
                  <a:pt x="107871" y="257175"/>
                  <a:pt x="100013" y="257175"/>
                </a:cubicBezTo>
                <a:lnTo>
                  <a:pt x="71438" y="257175"/>
                </a:lnTo>
                <a:cubicBezTo>
                  <a:pt x="63579" y="257175"/>
                  <a:pt x="57150" y="250746"/>
                  <a:pt x="57150" y="242888"/>
                </a:cubicBezTo>
                <a:lnTo>
                  <a:pt x="57150" y="214313"/>
                </a:lnTo>
                <a:close/>
                <a:moveTo>
                  <a:pt x="157163" y="114300"/>
                </a:moveTo>
                <a:lnTo>
                  <a:pt x="185738" y="114300"/>
                </a:lnTo>
                <a:cubicBezTo>
                  <a:pt x="193596" y="114300"/>
                  <a:pt x="200025" y="120729"/>
                  <a:pt x="200025" y="128588"/>
                </a:cubicBezTo>
                <a:lnTo>
                  <a:pt x="200025" y="157163"/>
                </a:lnTo>
                <a:cubicBezTo>
                  <a:pt x="200025" y="165021"/>
                  <a:pt x="193596" y="171450"/>
                  <a:pt x="185738" y="171450"/>
                </a:cubicBezTo>
                <a:lnTo>
                  <a:pt x="157163" y="171450"/>
                </a:lnTo>
                <a:cubicBezTo>
                  <a:pt x="149304" y="171450"/>
                  <a:pt x="142875" y="165021"/>
                  <a:pt x="142875" y="157163"/>
                </a:cubicBezTo>
                <a:lnTo>
                  <a:pt x="142875" y="128588"/>
                </a:lnTo>
                <a:cubicBezTo>
                  <a:pt x="142875" y="120729"/>
                  <a:pt x="149304" y="114300"/>
                  <a:pt x="157163" y="114300"/>
                </a:cubicBezTo>
                <a:close/>
                <a:moveTo>
                  <a:pt x="142875" y="214313"/>
                </a:moveTo>
                <a:cubicBezTo>
                  <a:pt x="142875" y="206454"/>
                  <a:pt x="149304" y="200025"/>
                  <a:pt x="157163" y="200025"/>
                </a:cubicBezTo>
                <a:lnTo>
                  <a:pt x="185738" y="200025"/>
                </a:lnTo>
                <a:cubicBezTo>
                  <a:pt x="193596" y="200025"/>
                  <a:pt x="200025" y="206454"/>
                  <a:pt x="200025" y="214313"/>
                </a:cubicBezTo>
                <a:lnTo>
                  <a:pt x="200025" y="242888"/>
                </a:lnTo>
                <a:cubicBezTo>
                  <a:pt x="200025" y="250746"/>
                  <a:pt x="193596" y="257175"/>
                  <a:pt x="185738" y="257175"/>
                </a:cubicBezTo>
                <a:lnTo>
                  <a:pt x="157163" y="257175"/>
                </a:lnTo>
                <a:cubicBezTo>
                  <a:pt x="149304" y="257175"/>
                  <a:pt x="142875" y="250746"/>
                  <a:pt x="142875" y="242888"/>
                </a:cubicBezTo>
                <a:lnTo>
                  <a:pt x="142875" y="214313"/>
                </a:lnTo>
                <a:close/>
                <a:moveTo>
                  <a:pt x="157163" y="285750"/>
                </a:moveTo>
                <a:lnTo>
                  <a:pt x="357188" y="285750"/>
                </a:lnTo>
                <a:cubicBezTo>
                  <a:pt x="365046" y="285750"/>
                  <a:pt x="371475" y="292179"/>
                  <a:pt x="371475" y="300038"/>
                </a:cubicBezTo>
                <a:lnTo>
                  <a:pt x="371475" y="328613"/>
                </a:lnTo>
                <a:cubicBezTo>
                  <a:pt x="371475" y="336471"/>
                  <a:pt x="365046" y="342900"/>
                  <a:pt x="357188" y="342900"/>
                </a:cubicBezTo>
                <a:lnTo>
                  <a:pt x="157163" y="342900"/>
                </a:lnTo>
                <a:cubicBezTo>
                  <a:pt x="149304" y="342900"/>
                  <a:pt x="142875" y="336471"/>
                  <a:pt x="142875" y="328613"/>
                </a:cubicBezTo>
                <a:lnTo>
                  <a:pt x="142875" y="300038"/>
                </a:lnTo>
                <a:cubicBezTo>
                  <a:pt x="142875" y="292179"/>
                  <a:pt x="149304" y="285750"/>
                  <a:pt x="157163" y="285750"/>
                </a:cubicBezTo>
                <a:close/>
                <a:moveTo>
                  <a:pt x="228600" y="128588"/>
                </a:moveTo>
                <a:cubicBezTo>
                  <a:pt x="228600" y="120729"/>
                  <a:pt x="235029" y="114300"/>
                  <a:pt x="242888" y="114300"/>
                </a:cubicBezTo>
                <a:lnTo>
                  <a:pt x="271463" y="114300"/>
                </a:lnTo>
                <a:cubicBezTo>
                  <a:pt x="279321" y="114300"/>
                  <a:pt x="285750" y="120729"/>
                  <a:pt x="285750" y="128588"/>
                </a:cubicBezTo>
                <a:lnTo>
                  <a:pt x="285750" y="157163"/>
                </a:lnTo>
                <a:cubicBezTo>
                  <a:pt x="285750" y="165021"/>
                  <a:pt x="279321" y="171450"/>
                  <a:pt x="271463" y="171450"/>
                </a:cubicBezTo>
                <a:lnTo>
                  <a:pt x="242888" y="171450"/>
                </a:lnTo>
                <a:cubicBezTo>
                  <a:pt x="235029" y="171450"/>
                  <a:pt x="228600" y="165021"/>
                  <a:pt x="228600" y="157163"/>
                </a:cubicBezTo>
                <a:lnTo>
                  <a:pt x="228600" y="128588"/>
                </a:lnTo>
                <a:close/>
                <a:moveTo>
                  <a:pt x="242888" y="200025"/>
                </a:moveTo>
                <a:lnTo>
                  <a:pt x="271463" y="200025"/>
                </a:lnTo>
                <a:cubicBezTo>
                  <a:pt x="279321" y="200025"/>
                  <a:pt x="285750" y="206454"/>
                  <a:pt x="285750" y="214313"/>
                </a:cubicBezTo>
                <a:lnTo>
                  <a:pt x="285750" y="242888"/>
                </a:lnTo>
                <a:cubicBezTo>
                  <a:pt x="285750" y="250746"/>
                  <a:pt x="279321" y="257175"/>
                  <a:pt x="271463" y="257175"/>
                </a:cubicBezTo>
                <a:lnTo>
                  <a:pt x="242888" y="257175"/>
                </a:lnTo>
                <a:cubicBezTo>
                  <a:pt x="235029" y="257175"/>
                  <a:pt x="228600" y="250746"/>
                  <a:pt x="228600" y="242888"/>
                </a:cubicBezTo>
                <a:lnTo>
                  <a:pt x="228600" y="214313"/>
                </a:lnTo>
                <a:cubicBezTo>
                  <a:pt x="228600" y="206454"/>
                  <a:pt x="235029" y="200025"/>
                  <a:pt x="242888" y="200025"/>
                </a:cubicBezTo>
                <a:close/>
                <a:moveTo>
                  <a:pt x="314325" y="128588"/>
                </a:moveTo>
                <a:cubicBezTo>
                  <a:pt x="314325" y="120729"/>
                  <a:pt x="320754" y="114300"/>
                  <a:pt x="328613" y="114300"/>
                </a:cubicBezTo>
                <a:lnTo>
                  <a:pt x="357188" y="114300"/>
                </a:lnTo>
                <a:cubicBezTo>
                  <a:pt x="365046" y="114300"/>
                  <a:pt x="371475" y="120729"/>
                  <a:pt x="371475" y="128588"/>
                </a:cubicBezTo>
                <a:lnTo>
                  <a:pt x="371475" y="157163"/>
                </a:lnTo>
                <a:cubicBezTo>
                  <a:pt x="371475" y="165021"/>
                  <a:pt x="365046" y="171450"/>
                  <a:pt x="357188" y="171450"/>
                </a:cubicBezTo>
                <a:lnTo>
                  <a:pt x="328613" y="171450"/>
                </a:lnTo>
                <a:cubicBezTo>
                  <a:pt x="320754" y="171450"/>
                  <a:pt x="314325" y="165021"/>
                  <a:pt x="314325" y="157163"/>
                </a:cubicBezTo>
                <a:lnTo>
                  <a:pt x="314325" y="128588"/>
                </a:lnTo>
                <a:close/>
                <a:moveTo>
                  <a:pt x="328613" y="200025"/>
                </a:moveTo>
                <a:lnTo>
                  <a:pt x="357188" y="200025"/>
                </a:lnTo>
                <a:cubicBezTo>
                  <a:pt x="365046" y="200025"/>
                  <a:pt x="371475" y="206454"/>
                  <a:pt x="371475" y="214313"/>
                </a:cubicBezTo>
                <a:lnTo>
                  <a:pt x="371475" y="242888"/>
                </a:lnTo>
                <a:cubicBezTo>
                  <a:pt x="371475" y="250746"/>
                  <a:pt x="365046" y="257175"/>
                  <a:pt x="357188" y="257175"/>
                </a:cubicBezTo>
                <a:lnTo>
                  <a:pt x="328613" y="257175"/>
                </a:lnTo>
                <a:cubicBezTo>
                  <a:pt x="320754" y="257175"/>
                  <a:pt x="314325" y="250746"/>
                  <a:pt x="314325" y="242888"/>
                </a:cubicBezTo>
                <a:lnTo>
                  <a:pt x="314325" y="214313"/>
                </a:lnTo>
                <a:cubicBezTo>
                  <a:pt x="314325" y="206454"/>
                  <a:pt x="320754" y="200025"/>
                  <a:pt x="328613" y="200025"/>
                </a:cubicBezTo>
                <a:close/>
                <a:moveTo>
                  <a:pt x="400050" y="128588"/>
                </a:moveTo>
                <a:cubicBezTo>
                  <a:pt x="400050" y="120729"/>
                  <a:pt x="406479" y="114300"/>
                  <a:pt x="414338" y="114300"/>
                </a:cubicBezTo>
                <a:lnTo>
                  <a:pt x="442913" y="114300"/>
                </a:lnTo>
                <a:cubicBezTo>
                  <a:pt x="450771" y="114300"/>
                  <a:pt x="457200" y="120729"/>
                  <a:pt x="457200" y="128588"/>
                </a:cubicBezTo>
                <a:lnTo>
                  <a:pt x="457200" y="157163"/>
                </a:lnTo>
                <a:cubicBezTo>
                  <a:pt x="457200" y="165021"/>
                  <a:pt x="450771" y="171450"/>
                  <a:pt x="442913" y="171450"/>
                </a:cubicBezTo>
                <a:lnTo>
                  <a:pt x="414338" y="171450"/>
                </a:lnTo>
                <a:cubicBezTo>
                  <a:pt x="406479" y="171450"/>
                  <a:pt x="400050" y="165021"/>
                  <a:pt x="400050" y="157163"/>
                </a:cubicBezTo>
                <a:lnTo>
                  <a:pt x="400050" y="128588"/>
                </a:lnTo>
                <a:close/>
                <a:moveTo>
                  <a:pt x="414338" y="200025"/>
                </a:moveTo>
                <a:lnTo>
                  <a:pt x="442913" y="200025"/>
                </a:lnTo>
                <a:cubicBezTo>
                  <a:pt x="450771" y="200025"/>
                  <a:pt x="457200" y="206454"/>
                  <a:pt x="457200" y="214313"/>
                </a:cubicBezTo>
                <a:lnTo>
                  <a:pt x="457200" y="242888"/>
                </a:lnTo>
                <a:cubicBezTo>
                  <a:pt x="457200" y="250746"/>
                  <a:pt x="450771" y="257175"/>
                  <a:pt x="442913" y="257175"/>
                </a:cubicBezTo>
                <a:lnTo>
                  <a:pt x="414338" y="257175"/>
                </a:lnTo>
                <a:cubicBezTo>
                  <a:pt x="406479" y="257175"/>
                  <a:pt x="400050" y="250746"/>
                  <a:pt x="400050" y="242888"/>
                </a:cubicBezTo>
                <a:lnTo>
                  <a:pt x="400050" y="214313"/>
                </a:lnTo>
                <a:cubicBezTo>
                  <a:pt x="400050" y="206454"/>
                  <a:pt x="406479" y="200025"/>
                  <a:pt x="414338" y="200025"/>
                </a:cubicBezTo>
                <a:close/>
              </a:path>
            </a:pathLst>
          </a:custGeom>
          <a:solidFill>
            <a:srgbClr val="00B89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cin Object — Reading User Input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858000" cy="355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0B89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object (from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&lt;iostream&gt;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reads keyboard input using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extraction operator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0B89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&gt;&gt;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Syntax: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</a:t>
            </a:r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cin &gt;&gt; variable;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Points: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Skips leading whitespace automatically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Waits for user input + Enter key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Can be chained for multiple values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0" y="1397000"/>
            <a:ext cx="7366000" cy="4635500"/>
          </a:xfrm>
          <a:prstGeom prst="roundRect">
            <a:avLst>
              <a:gd name="adj" fmla="val 4000"/>
            </a:avLst>
          </a:prstGeom>
          <a:solidFill>
            <a:srgbClr val="1E272E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0" y="1397000"/>
            <a:ext cx="50800" cy="46355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0" y="1498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879600"/>
            <a:ext cx="68580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your age: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age;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are "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&lt;&lt; age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 years old."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60960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60450" y="6350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1524000" y="62230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prompt the user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reading input with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 program that waits silently for input confuses users.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7366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Input Flow Diagram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7874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14" name="Text 12"/>
          <p:cNvSpPr/>
          <p:nvPr/>
        </p:nvSpPr>
        <p:spPr>
          <a:xfrm>
            <a:off x="1270000" y="787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"Prompt"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0" y="8191500"/>
            <a:ext cx="1016000" cy="0"/>
          </a:xfrm>
          <a:prstGeom prst="straightConnector1">
            <a:avLst/>
          </a:prstGeom>
          <a:noFill/>
          <a:ln w="25400">
            <a:solidFill>
              <a:srgbClr val="00B894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4826000" y="7874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00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4826000" y="787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Types Input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66000" y="8191500"/>
            <a:ext cx="1016000" cy="0"/>
          </a:xfrm>
          <a:prstGeom prst="straightConnector1">
            <a:avLst/>
          </a:prstGeom>
          <a:noFill/>
          <a:ln w="25400">
            <a:solidFill>
              <a:srgbClr val="00B894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8382000" y="7874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20" name="Text 18"/>
          <p:cNvSpPr/>
          <p:nvPr/>
        </p:nvSpPr>
        <p:spPr>
          <a:xfrm>
            <a:off x="8382000" y="787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variable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922000" y="8191500"/>
            <a:ext cx="1016000" cy="0"/>
          </a:xfrm>
          <a:prstGeom prst="straightConnector1">
            <a:avLst/>
          </a:prstGeom>
          <a:noFill/>
          <a:ln w="25400">
            <a:solidFill>
              <a:srgbClr val="00B894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11938000" y="7874000"/>
            <a:ext cx="2540000" cy="63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938000" y="787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 Stored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Reading Multiple Values with cin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read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multiple values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a single statement by chaining the extraction operator: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cin &gt;&gt; length &gt;&gt; width;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Values can be separated by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spaces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or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newlines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Each 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&gt;&gt;</a:t>
            </a:r>
            <a:pPr>
              <a:lnSpc>
                <a:spcPct val="16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extracts the next value from the input stream.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0" y="1397000"/>
            <a:ext cx="7366000" cy="2540000"/>
          </a:xfrm>
          <a:prstGeom prst="roundRect">
            <a:avLst>
              <a:gd name="adj" fmla="val 4000"/>
            </a:avLst>
          </a:prstGeom>
          <a:solidFill>
            <a:srgbClr val="1E272E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0" y="1397000"/>
            <a:ext cx="50800" cy="2540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0" y="1498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RECTANGLE AREA EXAMPLE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0" y="1854200"/>
            <a:ext cx="685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length, width, area;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length and width: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length &gt;&gt; width;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area = length * width;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"Area = "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area;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318000"/>
            <a:ext cx="7112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6000" y="4445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Sample Input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8260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Console output: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Enter length and width: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types: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12.5 8.0 [Enter]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Console output: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Area = 100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82000" y="4318000"/>
            <a:ext cx="7112000" cy="17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36000" y="4445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Valid Input Separators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4826000"/>
            <a:ext cx="660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Space: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12.5 8.0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Tab: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12.5[tab]8.0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Newline: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12.5[Enter]8.0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6477000"/>
            <a:ext cx="14732000" cy="1270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60450" y="6794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24000" y="6604000"/>
            <a:ext cx="1371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Always use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display a prompt message before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Silent input requests confuse users — tell them what data to enter and in what format.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2000" y="812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Input Types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Expressions — Arithmetic Operators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397000"/>
          <a:ext cx="14732000" cy="3302000"/>
        </p:xfrm>
        <a:graphic>
          <a:graphicData uri="http://schemas.openxmlformats.org/drawingml/2006/table">
            <a:tbl>
              <a:tblPr/>
              <a:tblGrid>
                <a:gridCol w="2209800"/>
                <a:gridCol w="2209800"/>
                <a:gridCol w="5156200"/>
                <a:gridCol w="5156200"/>
              </a:tblGrid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Addition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Adds two operands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+ 3 → 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Subtraction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Subtracts second from first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5 - 3 → 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*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Multiplies two operands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* 3 → 15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Division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Integer or floating-point division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 / 2 → 3 (int)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50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%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Modulo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Remainder after division (int only)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7 % 2 → 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4953000"/>
            <a:ext cx="14732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762000" y="5270500"/>
            <a:ext cx="7112000" cy="1778000"/>
          </a:xfrm>
          <a:prstGeom prst="roundRect">
            <a:avLst>
              <a:gd name="adj" fmla="val 4000"/>
            </a:avLst>
          </a:prstGeom>
          <a:solidFill>
            <a:srgbClr val="E17055">
              <a:alpha val="823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16000" y="546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8" name="Text 5"/>
          <p:cNvSpPr/>
          <p:nvPr/>
        </p:nvSpPr>
        <p:spPr>
          <a:xfrm>
            <a:off x="1422400" y="5435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Integer Division Trap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5842000"/>
            <a:ext cx="6604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operands are integers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/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performs integer division, truncating the decimal: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2 = 3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3.5!)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382000" y="5270500"/>
            <a:ext cx="7112000" cy="1524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8636000" y="546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202644" y="126623"/>
                </a:moveTo>
                <a:lnTo>
                  <a:pt x="155019" y="202823"/>
                </a:lnTo>
                <a:cubicBezTo>
                  <a:pt x="152519" y="206812"/>
                  <a:pt x="148233" y="209312"/>
                  <a:pt x="143530" y="209550"/>
                </a:cubicBezTo>
                <a:cubicBezTo>
                  <a:pt x="138827" y="209788"/>
                  <a:pt x="134302" y="207645"/>
                  <a:pt x="131505" y="203835"/>
                </a:cubicBezTo>
                <a:lnTo>
                  <a:pt x="102930" y="165735"/>
                </a:lnTo>
                <a:cubicBezTo>
                  <a:pt x="98167" y="159425"/>
                  <a:pt x="99477" y="150495"/>
                  <a:pt x="105787" y="145733"/>
                </a:cubicBezTo>
                <a:cubicBezTo>
                  <a:pt x="112097" y="140970"/>
                  <a:pt x="121027" y="142280"/>
                  <a:pt x="125790" y="148590"/>
                </a:cubicBezTo>
                <a:lnTo>
                  <a:pt x="141863" y="170021"/>
                </a:lnTo>
                <a:lnTo>
                  <a:pt x="178415" y="111502"/>
                </a:lnTo>
                <a:cubicBezTo>
                  <a:pt x="182582" y="104835"/>
                  <a:pt x="191393" y="102751"/>
                  <a:pt x="198120" y="106978"/>
                </a:cubicBezTo>
                <a:cubicBezTo>
                  <a:pt x="204847" y="111204"/>
                  <a:pt x="206871" y="119955"/>
                  <a:pt x="202644" y="126683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12" name="Text 9"/>
          <p:cNvSpPr/>
          <p:nvPr/>
        </p:nvSpPr>
        <p:spPr>
          <a:xfrm>
            <a:off x="9042400" y="54356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Floating-Point Division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0" y="58420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get decimal results, ensure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at least one operand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double: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7.0 / 2 = 3.5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 / 2.0 = 3.5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711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Expression Examples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7569200"/>
            <a:ext cx="14732000" cy="10160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7670800"/>
            <a:ext cx="1422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= 17, b = 5;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/ b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% b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)a / b =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3.4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 Precedence and Associativity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Precedence Order (Highest First)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4572000" cy="762000"/>
          </a:xfrm>
          <a:prstGeom prst="roundRect">
            <a:avLst>
              <a:gd name="adj" fmla="val 6000"/>
            </a:avLst>
          </a:prstGeom>
          <a:solidFill>
            <a:srgbClr val="00B894"/>
          </a:solidFill>
          <a:ln/>
        </p:spPr>
      </p:sp>
      <p:sp>
        <p:nvSpPr>
          <p:cNvPr id="6" name="Text 4"/>
          <p:cNvSpPr/>
          <p:nvPr/>
        </p:nvSpPr>
        <p:spPr>
          <a:xfrm>
            <a:off x="762000" y="1905000"/>
            <a:ext cx="457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 ) Parentheses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48000" y="2667000"/>
            <a:ext cx="0" cy="317500"/>
          </a:xfrm>
          <a:prstGeom prst="straightConnector1">
            <a:avLst/>
          </a:prstGeom>
          <a:noFill/>
          <a:ln w="25400">
            <a:solidFill>
              <a:srgbClr val="636E72"/>
            </a:solidFill>
            <a:prstDash val="solid"/>
            <a:headEnd type="none"/>
            <a:tailEnd type="arrow"/>
          </a:ln>
        </p:spPr>
      </p:sp>
      <p:sp>
        <p:nvSpPr>
          <p:cNvPr id="8" name="Shape 6"/>
          <p:cNvSpPr/>
          <p:nvPr/>
        </p:nvSpPr>
        <p:spPr>
          <a:xfrm>
            <a:off x="762000" y="2984500"/>
            <a:ext cx="4572000" cy="762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2984500"/>
            <a:ext cx="457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* / 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61000" y="3175000"/>
            <a:ext cx="266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Multiplication, Division, Modulo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048000" y="3746500"/>
            <a:ext cx="0" cy="317500"/>
          </a:xfrm>
          <a:prstGeom prst="straightConnector1">
            <a:avLst/>
          </a:prstGeom>
          <a:noFill/>
          <a:ln w="25400">
            <a:solidFill>
              <a:srgbClr val="636E72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762000" y="4064000"/>
            <a:ext cx="4572000" cy="762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064000"/>
            <a:ext cx="457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 -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61000" y="4254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Addition, Subtraction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28000" y="1397000"/>
            <a:ext cx="7366000" cy="35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2000" y="152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Associativity Rule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0" y="19685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Operators of the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precedence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evaluate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left-to-right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(left associativity).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10 - 5 - 2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(10 - 5) - 2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82000" y="3111500"/>
            <a:ext cx="6858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8382000" y="3302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Parentheses!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37465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Parentheses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override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default precedence and make code more readable. When in doubt, add them!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 Evaluation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8420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1E272E"/>
          </a:solidFill>
          <a:ln/>
        </p:spPr>
      </p:sp>
      <p:sp>
        <p:nvSpPr>
          <p:cNvPr id="23" name="Text 21"/>
          <p:cNvSpPr/>
          <p:nvPr/>
        </p:nvSpPr>
        <p:spPr>
          <a:xfrm>
            <a:off x="1016000" y="5943600"/>
            <a:ext cx="660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result = 5 + 3 * 2;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* has higher precedence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5 + (3 * 2) =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82000" y="5842000"/>
            <a:ext cx="7112000" cy="1397000"/>
          </a:xfrm>
          <a:prstGeom prst="roundRect">
            <a:avLst>
              <a:gd name="adj" fmla="val 4000"/>
            </a:avLst>
          </a:prstGeom>
          <a:solidFill>
            <a:srgbClr val="1E272E"/>
          </a:solidFill>
          <a:ln/>
        </p:spPr>
      </p:sp>
      <p:sp>
        <p:nvSpPr>
          <p:cNvPr id="25" name="Text 23"/>
          <p:cNvSpPr/>
          <p:nvPr/>
        </p:nvSpPr>
        <p:spPr>
          <a:xfrm>
            <a:off x="8636000" y="5943600"/>
            <a:ext cx="660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result = (5 + 3) * 2;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() overrides precedence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(5 + 3) * 2 =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16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74930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1016000" y="76200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Mnemonic: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lease 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 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 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unt 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ally → 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arentheses → 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ultiply/Divide/Modulo → 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pPr algn="ctr"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dd/Subtract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Conversion — Implicit Conversion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85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operands of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types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appear in an expression, C++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 converts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one to match the other. This is called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0B89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implicit conversion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type promotion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C++ promotes to the "larger" type to prevent data loss.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Promotion Hierarchy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28000" y="1905000"/>
            <a:ext cx="1143000" cy="508000"/>
          </a:xfrm>
          <a:prstGeom prst="roundRect">
            <a:avLst>
              <a:gd name="adj" fmla="val 8000"/>
            </a:avLst>
          </a:prstGeom>
          <a:solidFill>
            <a:srgbClr val="B2BEC3"/>
          </a:solidFill>
          <a:ln/>
        </p:spPr>
      </p:sp>
      <p:sp>
        <p:nvSpPr>
          <p:cNvPr id="7" name="Text 5"/>
          <p:cNvSpPr/>
          <p:nvPr/>
        </p:nvSpPr>
        <p:spPr>
          <a:xfrm>
            <a:off x="8128000" y="19050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271000" y="2159000"/>
            <a:ext cx="381000" cy="0"/>
          </a:xfrm>
          <a:prstGeom prst="straightConnector1">
            <a:avLst/>
          </a:prstGeom>
          <a:noFill/>
          <a:ln w="25400">
            <a:solidFill>
              <a:srgbClr val="636E72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9652000" y="1905000"/>
            <a:ext cx="1143000" cy="508000"/>
          </a:xfrm>
          <a:prstGeom prst="roundRect">
            <a:avLst>
              <a:gd name="adj" fmla="val 8000"/>
            </a:avLst>
          </a:prstGeom>
          <a:solidFill>
            <a:srgbClr val="B2BEC3"/>
          </a:solidFill>
          <a:ln/>
        </p:spPr>
      </p:sp>
      <p:sp>
        <p:nvSpPr>
          <p:cNvPr id="10" name="Text 8"/>
          <p:cNvSpPr/>
          <p:nvPr/>
        </p:nvSpPr>
        <p:spPr>
          <a:xfrm>
            <a:off x="9652000" y="19050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795000" y="2159000"/>
            <a:ext cx="381000" cy="0"/>
          </a:xfrm>
          <a:prstGeom prst="straightConnector1">
            <a:avLst/>
          </a:prstGeom>
          <a:noFill/>
          <a:ln w="25400">
            <a:solidFill>
              <a:srgbClr val="636E72"/>
            </a:solidFill>
            <a:prstDash val="solid"/>
            <a:headEnd type="none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11176000" y="1905000"/>
            <a:ext cx="1016000" cy="508000"/>
          </a:xfrm>
          <a:prstGeom prst="roundRect">
            <a:avLst>
              <a:gd name="adj" fmla="val 8000"/>
            </a:avLst>
          </a:prstGeom>
          <a:solidFill>
            <a:srgbClr val="636E72"/>
          </a:solidFill>
          <a:ln/>
        </p:spPr>
      </p:sp>
      <p:sp>
        <p:nvSpPr>
          <p:cNvPr id="13" name="Text 11"/>
          <p:cNvSpPr/>
          <p:nvPr/>
        </p:nvSpPr>
        <p:spPr>
          <a:xfrm>
            <a:off x="11176000" y="1905000"/>
            <a:ext cx="101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2192000" y="2159000"/>
            <a:ext cx="381000" cy="0"/>
          </a:xfrm>
          <a:prstGeom prst="straightConnector1">
            <a:avLst/>
          </a:prstGeom>
          <a:noFill/>
          <a:ln w="25400">
            <a:solidFill>
              <a:srgbClr val="636E72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12573000" y="1905000"/>
            <a:ext cx="1143000" cy="508000"/>
          </a:xfrm>
          <a:prstGeom prst="roundRect">
            <a:avLst>
              <a:gd name="adj" fmla="val 8000"/>
            </a:avLst>
          </a:prstGeom>
          <a:solidFill>
            <a:srgbClr val="2D3436"/>
          </a:solidFill>
          <a:ln/>
        </p:spPr>
      </p:sp>
      <p:sp>
        <p:nvSpPr>
          <p:cNvPr id="16" name="Text 14"/>
          <p:cNvSpPr/>
          <p:nvPr/>
        </p:nvSpPr>
        <p:spPr>
          <a:xfrm>
            <a:off x="12573000" y="1905000"/>
            <a:ext cx="1143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3716000" y="2159000"/>
            <a:ext cx="381000" cy="0"/>
          </a:xfrm>
          <a:prstGeom prst="straightConnector1">
            <a:avLst/>
          </a:prstGeom>
          <a:noFill/>
          <a:ln w="25400">
            <a:solidFill>
              <a:srgbClr val="00B894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4097000" y="1905000"/>
            <a:ext cx="1270000" cy="508000"/>
          </a:xfrm>
          <a:prstGeom prst="roundRect">
            <a:avLst>
              <a:gd name="adj" fmla="val 8000"/>
            </a:avLst>
          </a:prstGeom>
          <a:solidFill>
            <a:srgbClr val="00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4097000" y="19050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float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4732000" y="2476500"/>
            <a:ext cx="0" cy="254000"/>
          </a:xfrm>
          <a:prstGeom prst="straightConnector1">
            <a:avLst/>
          </a:prstGeom>
          <a:noFill/>
          <a:ln w="25400">
            <a:solidFill>
              <a:srgbClr val="00B894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13462000" y="2730500"/>
            <a:ext cx="1905000" cy="508000"/>
          </a:xfrm>
          <a:prstGeom prst="roundRect">
            <a:avLst>
              <a:gd name="adj" fmla="val 8000"/>
            </a:avLst>
          </a:prstGeom>
          <a:solidFill>
            <a:srgbClr val="00B894"/>
          </a:solidFill>
          <a:ln/>
        </p:spPr>
      </p:sp>
      <p:sp>
        <p:nvSpPr>
          <p:cNvPr id="22" name="Text 20"/>
          <p:cNvSpPr/>
          <p:nvPr/>
        </p:nvSpPr>
        <p:spPr>
          <a:xfrm>
            <a:off x="13462000" y="2730500"/>
            <a:ext cx="190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128000" y="3429000"/>
            <a:ext cx="736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Arrow direction shows promotion path (smaller → larger type)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3492500"/>
            <a:ext cx="6858000" cy="2667000"/>
          </a:xfrm>
          <a:prstGeom prst="roundRect">
            <a:avLst>
              <a:gd name="adj" fmla="val 4000"/>
            </a:avLst>
          </a:prstGeom>
          <a:solidFill>
            <a:srgbClr val="1E272E"/>
          </a:solidFill>
          <a:ln/>
        </p:spPr>
      </p:sp>
      <p:sp>
        <p:nvSpPr>
          <p:cNvPr id="25" name="Shape 23"/>
          <p:cNvSpPr/>
          <p:nvPr/>
        </p:nvSpPr>
        <p:spPr>
          <a:xfrm>
            <a:off x="762000" y="3492500"/>
            <a:ext cx="50800" cy="2667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6" name="Text 24"/>
          <p:cNvSpPr/>
          <p:nvPr/>
        </p:nvSpPr>
        <p:spPr>
          <a:xfrm>
            <a:off x="1016000" y="3530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3937000"/>
            <a:ext cx="6350000" cy="209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5;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 = 2.5;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result = x + y;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x promoted to double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result =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2230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E17055">
              <a:alpha val="8235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016000" y="6477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61151" y="0"/>
                  <a:pt x="169188" y="4822"/>
                  <a:pt x="173355" y="12502"/>
                </a:cubicBezTo>
                <a:lnTo>
                  <a:pt x="301943" y="250627"/>
                </a:lnTo>
                <a:cubicBezTo>
                  <a:pt x="305931" y="258008"/>
                  <a:pt x="305753" y="266938"/>
                  <a:pt x="301466" y="274141"/>
                </a:cubicBezTo>
                <a:cubicBezTo>
                  <a:pt x="297180" y="281345"/>
                  <a:pt x="289381" y="285750"/>
                  <a:pt x="280987" y="285750"/>
                </a:cubicBezTo>
                <a:lnTo>
                  <a:pt x="23813" y="285750"/>
                </a:lnTo>
                <a:cubicBezTo>
                  <a:pt x="15419" y="285750"/>
                  <a:pt x="7680" y="281345"/>
                  <a:pt x="3334" y="274141"/>
                </a:cubicBezTo>
                <a:cubicBezTo>
                  <a:pt x="-1012" y="266938"/>
                  <a:pt x="-1131" y="258008"/>
                  <a:pt x="2858" y="250627"/>
                </a:cubicBezTo>
                <a:lnTo>
                  <a:pt x="131445" y="12502"/>
                </a:lnTo>
                <a:cubicBezTo>
                  <a:pt x="135612" y="4822"/>
                  <a:pt x="143649" y="0"/>
                  <a:pt x="152400" y="0"/>
                </a:cubicBezTo>
                <a:close/>
                <a:moveTo>
                  <a:pt x="152400" y="100013"/>
                </a:moveTo>
                <a:cubicBezTo>
                  <a:pt x="144482" y="100013"/>
                  <a:pt x="138113" y="106382"/>
                  <a:pt x="138113" y="114300"/>
                </a:cubicBezTo>
                <a:lnTo>
                  <a:pt x="138113" y="180975"/>
                </a:lnTo>
                <a:cubicBezTo>
                  <a:pt x="138113" y="188893"/>
                  <a:pt x="144482" y="195263"/>
                  <a:pt x="152400" y="195263"/>
                </a:cubicBezTo>
                <a:cubicBezTo>
                  <a:pt x="160318" y="195263"/>
                  <a:pt x="166688" y="188893"/>
                  <a:pt x="166688" y="180975"/>
                </a:cubicBezTo>
                <a:lnTo>
                  <a:pt x="166688" y="114300"/>
                </a:lnTo>
                <a:cubicBezTo>
                  <a:pt x="166688" y="106382"/>
                  <a:pt x="160318" y="100013"/>
                  <a:pt x="152400" y="100013"/>
                </a:cubicBezTo>
                <a:close/>
                <a:moveTo>
                  <a:pt x="168295" y="228600"/>
                </a:moveTo>
                <a:cubicBezTo>
                  <a:pt x="168656" y="222700"/>
                  <a:pt x="165714" y="217087"/>
                  <a:pt x="160656" y="214027"/>
                </a:cubicBezTo>
                <a:cubicBezTo>
                  <a:pt x="155599" y="210968"/>
                  <a:pt x="149261" y="210968"/>
                  <a:pt x="144203" y="214027"/>
                </a:cubicBezTo>
                <a:cubicBezTo>
                  <a:pt x="139145" y="217087"/>
                  <a:pt x="136203" y="222700"/>
                  <a:pt x="136565" y="228600"/>
                </a:cubicBezTo>
                <a:cubicBezTo>
                  <a:pt x="136203" y="234500"/>
                  <a:pt x="139145" y="240113"/>
                  <a:pt x="144203" y="243173"/>
                </a:cubicBezTo>
                <a:cubicBezTo>
                  <a:pt x="149261" y="246232"/>
                  <a:pt x="155599" y="246232"/>
                  <a:pt x="160656" y="243173"/>
                </a:cubicBezTo>
                <a:cubicBezTo>
                  <a:pt x="165714" y="240113"/>
                  <a:pt x="168656" y="234500"/>
                  <a:pt x="168295" y="228600"/>
                </a:cubicBez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30" name="Text 28"/>
          <p:cNvSpPr/>
          <p:nvPr/>
        </p:nvSpPr>
        <p:spPr>
          <a:xfrm>
            <a:off x="1473200" y="63500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Precision Loss: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Converting from larger to smaller types (e.g., double → int)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truncates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decimal.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 i = 3.7;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stores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3.7 and not 4!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76200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" y="7747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Rule: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mixed-type expressions, C++ promotes the "smaller" type to the "larger" type before performing the operation.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Overflow and Underflow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data type has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limited range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When a value exceeds that range, unexpected behavior occurs. Understanding these limits is critical for writing reliable programs.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112000" cy="304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0450" y="2730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49046" y="12085"/>
                </a:moveTo>
                <a:cubicBezTo>
                  <a:pt x="140365" y="3403"/>
                  <a:pt x="126266" y="3403"/>
                  <a:pt x="117584" y="12085"/>
                </a:cubicBezTo>
                <a:lnTo>
                  <a:pt x="6459" y="123210"/>
                </a:lnTo>
                <a:cubicBezTo>
                  <a:pt x="-2222" y="131891"/>
                  <a:pt x="-2222" y="145990"/>
                  <a:pt x="6459" y="154672"/>
                </a:cubicBezTo>
                <a:cubicBezTo>
                  <a:pt x="15141" y="163354"/>
                  <a:pt x="29240" y="163354"/>
                  <a:pt x="37921" y="154672"/>
                </a:cubicBezTo>
                <a:lnTo>
                  <a:pt x="111125" y="81469"/>
                </a:lnTo>
                <a:lnTo>
                  <a:pt x="111125" y="338931"/>
                </a:lnTo>
                <a:cubicBezTo>
                  <a:pt x="111125" y="351224"/>
                  <a:pt x="121057" y="361156"/>
                  <a:pt x="133350" y="361156"/>
                </a:cubicBezTo>
                <a:cubicBezTo>
                  <a:pt x="145643" y="361156"/>
                  <a:pt x="155575" y="351224"/>
                  <a:pt x="155575" y="338931"/>
                </a:cubicBezTo>
                <a:lnTo>
                  <a:pt x="155575" y="81469"/>
                </a:lnTo>
                <a:lnTo>
                  <a:pt x="228779" y="154672"/>
                </a:lnTo>
                <a:cubicBezTo>
                  <a:pt x="237460" y="163354"/>
                  <a:pt x="251559" y="163354"/>
                  <a:pt x="260241" y="154672"/>
                </a:cubicBezTo>
                <a:cubicBezTo>
                  <a:pt x="268922" y="145990"/>
                  <a:pt x="268922" y="131891"/>
                  <a:pt x="260241" y="123210"/>
                </a:cubicBezTo>
                <a:lnTo>
                  <a:pt x="149116" y="12085"/>
                </a:lnTo>
                <a:close/>
              </a:path>
            </a:pathLst>
          </a:custGeom>
          <a:solidFill>
            <a:srgbClr val="E17055"/>
          </a:solidFill>
          <a:ln/>
        </p:spPr>
      </p:sp>
      <p:sp>
        <p:nvSpPr>
          <p:cNvPr id="7" name="Text 5"/>
          <p:cNvSpPr/>
          <p:nvPr/>
        </p:nvSpPr>
        <p:spPr>
          <a:xfrm>
            <a:off x="1473200" y="27051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Overflow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2385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value becomes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large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its data type.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max: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2,147,483,647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Integer overflow: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wraps around silently (undefined for signed)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1705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 overflow: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produces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2540000"/>
            <a:ext cx="7112000" cy="304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74B9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0450" y="2730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117654" y="349071"/>
                </a:moveTo>
                <a:cubicBezTo>
                  <a:pt x="126335" y="357753"/>
                  <a:pt x="140434" y="357753"/>
                  <a:pt x="149116" y="349071"/>
                </a:cubicBezTo>
                <a:lnTo>
                  <a:pt x="260241" y="237946"/>
                </a:lnTo>
                <a:cubicBezTo>
                  <a:pt x="268922" y="229265"/>
                  <a:pt x="268922" y="215166"/>
                  <a:pt x="260241" y="206484"/>
                </a:cubicBezTo>
                <a:cubicBezTo>
                  <a:pt x="251559" y="197803"/>
                  <a:pt x="237460" y="197803"/>
                  <a:pt x="228779" y="206484"/>
                </a:cubicBezTo>
                <a:lnTo>
                  <a:pt x="155575" y="279688"/>
                </a:lnTo>
                <a:lnTo>
                  <a:pt x="155575" y="22225"/>
                </a:lnTo>
                <a:cubicBezTo>
                  <a:pt x="155575" y="9932"/>
                  <a:pt x="145643" y="0"/>
                  <a:pt x="133350" y="0"/>
                </a:cubicBezTo>
                <a:cubicBezTo>
                  <a:pt x="121057" y="0"/>
                  <a:pt x="111125" y="9932"/>
                  <a:pt x="111125" y="22225"/>
                </a:cubicBezTo>
                <a:lnTo>
                  <a:pt x="111125" y="279688"/>
                </a:lnTo>
                <a:lnTo>
                  <a:pt x="37921" y="206484"/>
                </a:lnTo>
                <a:cubicBezTo>
                  <a:pt x="29240" y="197802"/>
                  <a:pt x="15141" y="197802"/>
                  <a:pt x="6459" y="206484"/>
                </a:cubicBezTo>
                <a:cubicBezTo>
                  <a:pt x="-2223" y="215166"/>
                  <a:pt x="-2223" y="229265"/>
                  <a:pt x="6459" y="237946"/>
                </a:cubicBezTo>
                <a:lnTo>
                  <a:pt x="117584" y="349071"/>
                </a:lnTo>
                <a:close/>
              </a:path>
            </a:pathLst>
          </a:custGeom>
          <a:solidFill>
            <a:srgbClr val="74B9FF"/>
          </a:solidFill>
          <a:ln/>
        </p:spPr>
      </p:sp>
      <p:sp>
        <p:nvSpPr>
          <p:cNvPr id="11" name="Text 9"/>
          <p:cNvSpPr/>
          <p:nvPr/>
        </p:nvSpPr>
        <p:spPr>
          <a:xfrm>
            <a:off x="9093200" y="27051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Underflow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32385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value becomes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too small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(near zero).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 becomes smaller than minimum positive representable value.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74B9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 underflow: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rounds to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Integer underflow wraps to maximum value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5969000"/>
            <a:ext cx="14732000" cy="1524000"/>
          </a:xfrm>
          <a:prstGeom prst="roundRect">
            <a:avLst>
              <a:gd name="adj" fmla="val 4000"/>
            </a:avLst>
          </a:prstGeom>
          <a:solidFill>
            <a:srgbClr val="1E27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5969000"/>
            <a:ext cx="50800" cy="1524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016000" y="60706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OVERFLOW EXAMPLE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6426200"/>
            <a:ext cx="1422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max = 2147483647;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Maximum int value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max = max + 1;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Overflow! Result: -2147483648 (wraps to negative)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7810500"/>
            <a:ext cx="14732000" cy="762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79756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473200" y="7937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Practice: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Choose data types large enough for expected values. Use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long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ranges are uncertain. Validate user inputs.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FFFFFF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635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Casting and Assignment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B2BEC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 type conversion, combined operations, and formatted output in C++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48806" y="134481"/>
                </a:moveTo>
                <a:lnTo>
                  <a:pt x="363081" y="220206"/>
                </a:lnTo>
                <a:cubicBezTo>
                  <a:pt x="354866" y="228421"/>
                  <a:pt x="342632" y="230832"/>
                  <a:pt x="331916" y="226368"/>
                </a:cubicBezTo>
                <a:cubicBezTo>
                  <a:pt x="321201" y="221903"/>
                  <a:pt x="314325" y="211544"/>
                  <a:pt x="314325" y="200025"/>
                </a:cubicBezTo>
                <a:lnTo>
                  <a:pt x="314325" y="142875"/>
                </a:ln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314325" y="85725"/>
                </a:lnTo>
                <a:lnTo>
                  <a:pt x="314325" y="28575"/>
                </a:lnTo>
                <a:cubicBezTo>
                  <a:pt x="314325" y="17056"/>
                  <a:pt x="321290" y="6608"/>
                  <a:pt x="332006" y="2143"/>
                </a:cubicBezTo>
                <a:cubicBezTo>
                  <a:pt x="342721" y="-2322"/>
                  <a:pt x="354955" y="179"/>
                  <a:pt x="363170" y="8305"/>
                </a:cubicBezTo>
                <a:lnTo>
                  <a:pt x="448895" y="94030"/>
                </a:lnTo>
                <a:cubicBezTo>
                  <a:pt x="460058" y="105192"/>
                  <a:pt x="460058" y="123319"/>
                  <a:pt x="448895" y="134481"/>
                </a:cubicBezTo>
                <a:close/>
                <a:moveTo>
                  <a:pt x="94030" y="448806"/>
                </a:moveTo>
                <a:lnTo>
                  <a:pt x="8305" y="363081"/>
                </a:lnTo>
                <a:cubicBezTo>
                  <a:pt x="-2857" y="351919"/>
                  <a:pt x="-2857" y="333792"/>
                  <a:pt x="8305" y="322630"/>
                </a:cubicBezTo>
                <a:lnTo>
                  <a:pt x="94030" y="236905"/>
                </a:lnTo>
                <a:cubicBezTo>
                  <a:pt x="102245" y="228689"/>
                  <a:pt x="114479" y="226278"/>
                  <a:pt x="125194" y="230743"/>
                </a:cubicBezTo>
                <a:cubicBezTo>
                  <a:pt x="135910" y="235208"/>
                  <a:pt x="142875" y="245656"/>
                  <a:pt x="142875" y="257175"/>
                </a:cubicBezTo>
                <a:lnTo>
                  <a:pt x="142875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cubicBezTo>
                  <a:pt x="457200" y="358706"/>
                  <a:pt x="444431" y="371475"/>
                  <a:pt x="428625" y="371475"/>
                </a:cubicBezTo>
                <a:lnTo>
                  <a:pt x="142875" y="371475"/>
                </a:lnTo>
                <a:lnTo>
                  <a:pt x="142875" y="428625"/>
                </a:lnTo>
                <a:cubicBezTo>
                  <a:pt x="142875" y="440144"/>
                  <a:pt x="135910" y="450592"/>
                  <a:pt x="125194" y="455057"/>
                </a:cubicBezTo>
                <a:cubicBezTo>
                  <a:pt x="114479" y="459522"/>
                  <a:pt x="102245" y="457021"/>
                  <a:pt x="94030" y="448895"/>
                </a:cubicBezTo>
                <a:close/>
              </a:path>
            </a:pathLst>
          </a:custGeom>
          <a:solidFill>
            <a:srgbClr val="00B89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 Casting — Explicit Conversion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1473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0B89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Type casting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explicitly converts a value from one data type to another. Unlike implicit conversion, you control when and how the conversion happens.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413000"/>
            <a:ext cx="7112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254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C-Style Cast (Older)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6000" y="2997200"/>
            <a:ext cx="6604000" cy="7620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8" name="Text 6"/>
          <p:cNvSpPr/>
          <p:nvPr/>
        </p:nvSpPr>
        <p:spPr>
          <a:xfrm>
            <a:off x="1219200" y="3098800"/>
            <a:ext cx="619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)variable 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)(a / b)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38862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Still works in C++ but less safe. The compiler performs minimal type checking with this syntax.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82000" y="2413000"/>
            <a:ext cx="7112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478000" y="2489200"/>
            <a:ext cx="762000" cy="3048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14478000" y="2489200"/>
            <a:ext cx="76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540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C++ static_cast (Preferred)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36000" y="2997200"/>
            <a:ext cx="6604000" cy="7620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5" name="Text 13"/>
          <p:cNvSpPr/>
          <p:nvPr/>
        </p:nvSpPr>
        <p:spPr>
          <a:xfrm>
            <a:off x="8839200" y="3098800"/>
            <a:ext cx="6197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static_cast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&gt;(variable)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36000" y="3886200"/>
            <a:ext cx="660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Compile-time type checking, more readable, and the recommended modern C++ approach.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533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Examples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816600"/>
            <a:ext cx="14732000" cy="27940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943600"/>
            <a:ext cx="14224000" cy="260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avg = 95.7;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rounded =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static_cast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&gt;(avg);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rounded = 95 (truncates decimal)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total = 17, count = 5;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average =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static_cast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&gt;(total) / count;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Forces floating-point division: 3.4 (not 3!)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Assignment and Combined Assignment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Multiple Assignment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1879600"/>
            <a:ext cx="685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Assign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same value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several variables at once. Evaluation is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right-to-left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022600"/>
            <a:ext cx="6858000" cy="10160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1496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a, b, c;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= b = c = 0;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All set to 0 (R-to-L)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38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Combined Assignment Operators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864100"/>
            <a:ext cx="685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 an operation and assignment in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one step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651500"/>
          <a:ext cx="6858000" cy="2667000"/>
        </p:xfrm>
        <a:graphic>
          <a:graphicData uri="http://schemas.openxmlformats.org/drawingml/2006/table">
            <a:tbl>
              <a:tblPr/>
              <a:tblGrid>
                <a:gridCol w="2057400"/>
                <a:gridCol w="2400300"/>
                <a:gridCol w="24003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Operator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Equivalent To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+= 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= x + 5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-=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-= 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= x - 3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*=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*= 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= x * 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/= 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= x / 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%=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%= 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= x % 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382000" y="139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Breakdown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382000" y="1905000"/>
            <a:ext cx="7112000" cy="18415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3" name="Text 10"/>
          <p:cNvSpPr/>
          <p:nvPr/>
        </p:nvSpPr>
        <p:spPr>
          <a:xfrm>
            <a:off x="8636000" y="2006600"/>
            <a:ext cx="660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count = 10;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+= 5;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count = 15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*= 2;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count = 30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 -= 3;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count = 27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8382000" y="387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Increment and Decrement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82000" y="4356100"/>
            <a:ext cx="711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Special cases of combined assignment for adding or subtracting 1: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8382000" y="5245100"/>
            <a:ext cx="7112000" cy="14605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7" name="Text 14"/>
          <p:cNvSpPr/>
          <p:nvPr/>
        </p:nvSpPr>
        <p:spPr>
          <a:xfrm>
            <a:off x="8636000" y="53340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count++;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count += 1 (postfix)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++count;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count += 1 (prefix)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count--;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count -= 1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82000" y="6858000"/>
            <a:ext cx="7112000" cy="762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8636000" y="69850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++i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loops, 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i++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you need the old value.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Formatting Output with cout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&lt;iomanip&gt;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library provides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manipulators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control how output appears on screen. These give your programs a professional, polished look.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413000"/>
          <a:ext cx="14732000" cy="2794000"/>
        </p:xfrm>
        <a:graphic>
          <a:graphicData uri="http://schemas.openxmlformats.org/drawingml/2006/table">
            <a:tbl>
              <a:tblPr/>
              <a:tblGrid>
                <a:gridCol w="3241040"/>
                <a:gridCol w="5598160"/>
                <a:gridCol w="5892800"/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Manipulator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setw(n)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 field width to n characters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setw(10) &lt;&lt; "Hi" → "        Hi"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left / right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 alignment within field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left &lt;&lt; setw(6) &lt;&lt; "A" → "A     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setfill(ch)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 fill character (default: space)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setfill('0') &lt;&lt; setw(5) &lt;&lt; 7 → "00007"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endl / '\n'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Newline (endl also flushes buffer)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cout &lt;&lt; "A" &lt;&lt; endl &lt;&lt; "B";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524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1016000" y="5778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304800"/>
                </a:moveTo>
                <a:cubicBezTo>
                  <a:pt x="236512" y="304800"/>
                  <a:pt x="304800" y="236512"/>
                  <a:pt x="304800" y="152400"/>
                </a:cubicBezTo>
                <a:cubicBezTo>
                  <a:pt x="304800" y="68288"/>
                  <a:pt x="236512" y="0"/>
                  <a:pt x="152400" y="0"/>
                </a:cubicBezTo>
                <a:cubicBezTo>
                  <a:pt x="68288" y="0"/>
                  <a:pt x="0" y="68288"/>
                  <a:pt x="0" y="152400"/>
                </a:cubicBezTo>
                <a:cubicBezTo>
                  <a:pt x="0" y="236512"/>
                  <a:pt x="68288" y="304800"/>
                  <a:pt x="152400" y="304800"/>
                </a:cubicBezTo>
                <a:close/>
                <a:moveTo>
                  <a:pt x="133350" y="95250"/>
                </a:moveTo>
                <a:cubicBezTo>
                  <a:pt x="133350" y="84736"/>
                  <a:pt x="141886" y="76200"/>
                  <a:pt x="152400" y="76200"/>
                </a:cubicBezTo>
                <a:cubicBezTo>
                  <a:pt x="162914" y="76200"/>
                  <a:pt x="171450" y="84736"/>
                  <a:pt x="171450" y="95250"/>
                </a:cubicBezTo>
                <a:cubicBezTo>
                  <a:pt x="171450" y="105764"/>
                  <a:pt x="162914" y="114300"/>
                  <a:pt x="152400" y="114300"/>
                </a:cubicBezTo>
                <a:cubicBezTo>
                  <a:pt x="141886" y="114300"/>
                  <a:pt x="133350" y="105764"/>
                  <a:pt x="133350" y="95250"/>
                </a:cubicBezTo>
                <a:close/>
                <a:moveTo>
                  <a:pt x="128588" y="133350"/>
                </a:moveTo>
                <a:lnTo>
                  <a:pt x="157163" y="133350"/>
                </a:lnTo>
                <a:cubicBezTo>
                  <a:pt x="165080" y="133350"/>
                  <a:pt x="171450" y="139720"/>
                  <a:pt x="171450" y="147638"/>
                </a:cubicBezTo>
                <a:lnTo>
                  <a:pt x="171450" y="200025"/>
                </a:lnTo>
                <a:lnTo>
                  <a:pt x="176212" y="200025"/>
                </a:lnTo>
                <a:cubicBezTo>
                  <a:pt x="184130" y="200025"/>
                  <a:pt x="190500" y="206395"/>
                  <a:pt x="190500" y="214313"/>
                </a:cubicBezTo>
                <a:cubicBezTo>
                  <a:pt x="190500" y="222230"/>
                  <a:pt x="184130" y="228600"/>
                  <a:pt x="176212" y="228600"/>
                </a:cubicBezTo>
                <a:lnTo>
                  <a:pt x="128588" y="228600"/>
                </a:lnTo>
                <a:cubicBezTo>
                  <a:pt x="120670" y="228600"/>
                  <a:pt x="114300" y="222230"/>
                  <a:pt x="114300" y="214313"/>
                </a:cubicBezTo>
                <a:cubicBezTo>
                  <a:pt x="114300" y="206395"/>
                  <a:pt x="120670" y="200025"/>
                  <a:pt x="128588" y="200025"/>
                </a:cubicBezTo>
                <a:lnTo>
                  <a:pt x="142875" y="200025"/>
                </a:lnTo>
                <a:lnTo>
                  <a:pt x="142875" y="161925"/>
                </a:lnTo>
                <a:lnTo>
                  <a:pt x="128588" y="161925"/>
                </a:lnTo>
                <a:cubicBezTo>
                  <a:pt x="120670" y="161925"/>
                  <a:pt x="114300" y="155555"/>
                  <a:pt x="114300" y="147638"/>
                </a:cubicBezTo>
                <a:cubicBezTo>
                  <a:pt x="114300" y="139720"/>
                  <a:pt x="120670" y="133350"/>
                  <a:pt x="128588" y="133350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8" name="Text 5"/>
          <p:cNvSpPr/>
          <p:nvPr/>
        </p:nvSpPr>
        <p:spPr>
          <a:xfrm>
            <a:off x="1473200" y="5651500"/>
            <a:ext cx="1371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Sticky vs. Non-Sticky: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setw()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applies only to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output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must be repeated.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left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right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and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setfill()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sticky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they remain active until changed.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685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Aligned Table Example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62000" y="7315200"/>
            <a:ext cx="14732000" cy="13970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" y="7416800"/>
            <a:ext cx="1422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setw(12) &lt;&lt;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"Product"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setw(8) &lt;&lt;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"Price"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setw(8) &lt;&lt;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"Qty"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endl;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setw(12) &lt;&lt;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"Apple"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setw(8) &lt;&lt; 1.50 &lt;&lt; setw(8) &lt;&lt; 10 &lt;&lt; endl;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setw(12) &lt;&lt;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"Banana"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setw(8) &lt;&lt; 0.75 &lt;&lt; setw(8) &lt;&lt; 20 &lt;&lt; endl;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setprecision, fixed, and showpoint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essential manipulators for controlling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numeric precision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display format. All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sticky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once set, they remain active.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286000"/>
            <a:ext cx="469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000" y="2286000"/>
            <a:ext cx="4699000" cy="635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965200" y="25146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setprecision(n)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5200" y="29464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Sets number of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significant digits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(default mode) or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decimal places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(with 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setprecision(3)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3.14159 →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3.14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78500" y="2286000"/>
            <a:ext cx="4699000" cy="25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78500" y="2286000"/>
            <a:ext cx="4699000" cy="63500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11" name="Text 9"/>
          <p:cNvSpPr/>
          <p:nvPr/>
        </p:nvSpPr>
        <p:spPr>
          <a:xfrm>
            <a:off x="5981700" y="25146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81700" y="2946400"/>
            <a:ext cx="4318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Forces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fixed-point notation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instead of scientific. Combined with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setprecision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controls decimal places.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123.4 → </a:t>
            </a:r>
            <a:pPr>
              <a:lnSpc>
                <a:spcPct val="160000"/>
              </a:lnSpc>
            </a:pPr>
            <a:r>
              <a:rPr lang="en-US" sz="14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123.4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1.2e+02)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795000" y="2286000"/>
            <a:ext cx="469900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95000" y="2286000"/>
            <a:ext cx="4699000" cy="63500"/>
          </a:xfrm>
          <a:prstGeom prst="rect">
            <a:avLst/>
          </a:prstGeom>
          <a:solidFill>
            <a:srgbClr val="74B9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98200" y="2514600"/>
            <a:ext cx="431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showpoint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98200" y="29464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shows the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decimal point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trailing zeros</a:t>
            </a:r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Essential for currency and financial output.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showpoint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3.0 → </a:t>
            </a:r>
            <a:pPr>
              <a:lnSpc>
                <a:spcPct val="16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3.00000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4953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Winning Combination: fixed + setprecision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5435600"/>
            <a:ext cx="14732000" cy="18796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5562600"/>
            <a:ext cx="1422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fixed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setprecision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(2) &lt;&lt;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showpoint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"Price: $"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19.5;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 Price: $19.50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"Tax: $"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1.2;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Output: Tax: $ 1.20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Perfect for currency, grades, measurements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7429500"/>
            <a:ext cx="14732000" cy="1143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016000" y="7556500"/>
            <a:ext cx="1422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currency and consistent decimal display, always use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setprecision(n)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together. Add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showpoint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ensure trailing zeros are visible.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FFFFFF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635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Characters and Strings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B2BEC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Working with character data and the C++ string class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4585" y="45274"/>
                </a:moveTo>
                <a:cubicBezTo>
                  <a:pt x="249942" y="35094"/>
                  <a:pt x="239762" y="28575"/>
                  <a:pt x="228600" y="28575"/>
                </a:cubicBezTo>
                <a:cubicBezTo>
                  <a:pt x="217438" y="28575"/>
                  <a:pt x="207258" y="35094"/>
                  <a:pt x="202615" y="45274"/>
                </a:cubicBezTo>
                <a:lnTo>
                  <a:pt x="53132" y="371475"/>
                </a:lnTo>
                <a:lnTo>
                  <a:pt x="42863" y="371475"/>
                </a:lnTo>
                <a:cubicBezTo>
                  <a:pt x="27057" y="371475"/>
                  <a:pt x="14288" y="384244"/>
                  <a:pt x="14288" y="400050"/>
                </a:cubicBezTo>
                <a:cubicBezTo>
                  <a:pt x="14288" y="415856"/>
                  <a:pt x="27057" y="428625"/>
                  <a:pt x="42863" y="428625"/>
                </a:cubicBezTo>
                <a:lnTo>
                  <a:pt x="121444" y="428625"/>
                </a:lnTo>
                <a:cubicBezTo>
                  <a:pt x="137249" y="428625"/>
                  <a:pt x="150019" y="415856"/>
                  <a:pt x="150019" y="400050"/>
                </a:cubicBezTo>
                <a:cubicBezTo>
                  <a:pt x="150019" y="384244"/>
                  <a:pt x="137249" y="371475"/>
                  <a:pt x="121444" y="371475"/>
                </a:cubicBezTo>
                <a:lnTo>
                  <a:pt x="115997" y="371475"/>
                </a:lnTo>
                <a:lnTo>
                  <a:pt x="135642" y="328613"/>
                </a:lnTo>
                <a:lnTo>
                  <a:pt x="321647" y="328613"/>
                </a:lnTo>
                <a:lnTo>
                  <a:pt x="341293" y="371475"/>
                </a:lnTo>
                <a:lnTo>
                  <a:pt x="335846" y="371475"/>
                </a:lnTo>
                <a:cubicBezTo>
                  <a:pt x="320040" y="371475"/>
                  <a:pt x="307271" y="384244"/>
                  <a:pt x="307271" y="400050"/>
                </a:cubicBezTo>
                <a:cubicBezTo>
                  <a:pt x="307271" y="415856"/>
                  <a:pt x="320040" y="428625"/>
                  <a:pt x="335846" y="428625"/>
                </a:cubicBezTo>
                <a:lnTo>
                  <a:pt x="414427" y="428625"/>
                </a:lnTo>
                <a:cubicBezTo>
                  <a:pt x="430232" y="428625"/>
                  <a:pt x="443002" y="415856"/>
                  <a:pt x="443002" y="400050"/>
                </a:cubicBezTo>
                <a:cubicBezTo>
                  <a:pt x="443002" y="384244"/>
                  <a:pt x="430232" y="371475"/>
                  <a:pt x="414427" y="371475"/>
                </a:cubicBezTo>
                <a:lnTo>
                  <a:pt x="404158" y="371475"/>
                </a:lnTo>
                <a:lnTo>
                  <a:pt x="254675" y="45274"/>
                </a:lnTo>
                <a:close/>
                <a:moveTo>
                  <a:pt x="295394" y="271463"/>
                </a:moveTo>
                <a:lnTo>
                  <a:pt x="161806" y="271463"/>
                </a:lnTo>
                <a:lnTo>
                  <a:pt x="228600" y="125730"/>
                </a:lnTo>
                <a:lnTo>
                  <a:pt x="295394" y="271463"/>
                </a:lnTo>
                <a:close/>
              </a:path>
            </a:pathLst>
          </a:custGeom>
          <a:solidFill>
            <a:srgbClr val="00B89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with Characters — char Data 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858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0B89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data type stores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 character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using 1 byte of memory. Characters are stored internally as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ASCII codes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(integers 0-127).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single quotes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character literals: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'A'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'$'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'7'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0" y="1397000"/>
            <a:ext cx="7366000" cy="1905000"/>
          </a:xfrm>
          <a:prstGeom prst="roundRect">
            <a:avLst>
              <a:gd name="adj" fmla="val 4000"/>
            </a:avLst>
          </a:prstGeom>
          <a:solidFill>
            <a:srgbClr val="1E272E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0" y="1397000"/>
            <a:ext cx="50800" cy="1905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0" y="1524000"/>
            <a:ext cx="685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grade =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Stores ASCII 65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symbol =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'$'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(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)grade;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Prints: 65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grade + 1;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Prints: 66 ('B')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42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Escape Sequences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937000"/>
          <a:ext cx="6858000" cy="2540000"/>
        </p:xfrm>
        <a:graphic>
          <a:graphicData uri="http://schemas.openxmlformats.org/drawingml/2006/table">
            <a:tbl>
              <a:tblPr/>
              <a:tblGrid>
                <a:gridCol w="1714500"/>
                <a:gridCol w="2400300"/>
                <a:gridCol w="2743200"/>
              </a:tblGrid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Sequence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Effect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Newline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Moves to next line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Horizontal tab space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\\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Backslash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Prints a backslash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\'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Quote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Prints a single quote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Double Quote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Prints a double quote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8382000" y="342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Character Arithmetic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82000" y="3937000"/>
            <a:ext cx="711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Since chars are stored as ASCII numbers, you can do math with them: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382000" y="5080000"/>
            <a:ext cx="7112000" cy="15240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3" name="Text 10"/>
          <p:cNvSpPr/>
          <p:nvPr/>
        </p:nvSpPr>
        <p:spPr>
          <a:xfrm>
            <a:off x="8636000" y="5207000"/>
            <a:ext cx="660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letter =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letter = letter + 1;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'B' (ASCII 66)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letter = letter + 32;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'b' (lowercase!)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685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Reading Characters with cin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62000" y="7315200"/>
            <a:ext cx="14732000" cy="8636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7391400"/>
            <a:ext cx="1422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"Enter: "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cin &gt;&gt; ch;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Reads next non-whitespace char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Working with string Objects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685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C++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00B89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class (from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&lt;string&gt;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) stores sequences of characters. Unlike C-strings,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objects handle memory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double quotes</a:t>
            </a:r>
            <a:pPr>
              <a:lnSpc>
                <a:spcPct val="16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for string literals.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128000" y="1397000"/>
            <a:ext cx="7366000" cy="1524000"/>
          </a:xfrm>
          <a:prstGeom prst="roundRect">
            <a:avLst>
              <a:gd name="adj" fmla="val 4000"/>
            </a:avLst>
          </a:prstGeom>
          <a:solidFill>
            <a:srgbClr val="1E272E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0" y="1397000"/>
            <a:ext cx="50800" cy="1524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8382000" y="1524000"/>
            <a:ext cx="6858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&lt;string&gt;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 =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"Alice"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greeting =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"Hello, "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+ name;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04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String Methods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556000"/>
          <a:ext cx="14732000" cy="2540000"/>
        </p:xfrm>
        <a:graphic>
          <a:graphicData uri="http://schemas.openxmlformats.org/drawingml/2006/table">
            <a:tbl>
              <a:tblPr/>
              <a:tblGrid>
                <a:gridCol w="4124960"/>
                <a:gridCol w="5156200"/>
                <a:gridCol w="545084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.length() or .size()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Returns character count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"Hello".length() → 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.substr(start, len)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Extracts a substring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"Hello".substr(1,3) → "ell"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.find(str)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Finds position of substring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"Hello".find("l") → 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 (concatenation)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Joins two strings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"Hi" + " " + "Bob" → "Hi Bob"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762000" y="64770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Reading Lines with getline()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69596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getline(cin, variable)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read an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entire line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including spaces: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62000" y="7721600"/>
            <a:ext cx="14732000" cy="8636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3" name="Text 10"/>
          <p:cNvSpPr/>
          <p:nvPr/>
        </p:nvSpPr>
        <p:spPr>
          <a:xfrm>
            <a:off x="1016000" y="7797800"/>
            <a:ext cx="14224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 getline(cin, name);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Reads full line including spaces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Operations and Input Handling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vs. getline() — What's the Difference?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7112000" cy="2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E170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16000" y="2032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str (Stops at spaces)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4384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name;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Input: "John Smith"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1750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 = "John" only! " Smith" left in buffer.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82000" y="1905000"/>
            <a:ext cx="7112000" cy="203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B89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478000" y="1981200"/>
            <a:ext cx="762000" cy="279400"/>
          </a:xfrm>
          <a:prstGeom prst="roundRect">
            <a:avLst>
              <a:gd name="adj" fmla="val 12000"/>
            </a:avLst>
          </a:prstGeom>
          <a:solidFill>
            <a:srgbClr val="00B894"/>
          </a:solidFill>
          <a:ln/>
        </p:spPr>
      </p:sp>
      <p:sp>
        <p:nvSpPr>
          <p:cNvPr id="11" name="Text 9"/>
          <p:cNvSpPr/>
          <p:nvPr/>
        </p:nvSpPr>
        <p:spPr>
          <a:xfrm>
            <a:off x="14478000" y="1981200"/>
            <a:ext cx="76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36000" y="2032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getline(cin, str) (Reads full line)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24384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getline(cin, name);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Input: "John Smith"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3175000"/>
            <a:ext cx="660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name = "John Smith" (entire line!)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318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Mixing cin &gt;&gt; and getline() — The Buffer Problem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4800600"/>
            <a:ext cx="147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When you use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cin &gt;&gt;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before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getline()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newline character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remains in the input buffer, causing 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getline()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read an empty line!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5588000"/>
            <a:ext cx="14732000" cy="22225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" y="5715000"/>
            <a:ext cx="1422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name;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 &gt;&gt; age;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User enters: 20 [Enter]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cin.ignore();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Clears the leftover newline — REQUIRED!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getline(cin, name); 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Now correctly reads the full name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2000" y="7937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String Comparison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8318500"/>
            <a:ext cx="1473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==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lexicographic comparison. Access chars with 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str[0]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FFFFFF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635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Library Functions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B2BEC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Using C++ cmath library for advanced mathematical computations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9150" y="5842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85725" y="57150"/>
                </a:moveTo>
                <a:lnTo>
                  <a:pt x="257175" y="57150"/>
                </a:lnTo>
                <a:cubicBezTo>
                  <a:pt x="272981" y="57150"/>
                  <a:pt x="285750" y="69919"/>
                  <a:pt x="285750" y="85725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85725" y="142875"/>
                </a:lnTo>
                <a:cubicBezTo>
                  <a:pt x="69919" y="142875"/>
                  <a:pt x="57150" y="130106"/>
                  <a:pt x="57150" y="114300"/>
                </a:cubicBezTo>
                <a:lnTo>
                  <a:pt x="57150" y="85725"/>
                </a:lnTo>
                <a:cubicBezTo>
                  <a:pt x="57150" y="69919"/>
                  <a:pt x="69919" y="57150"/>
                  <a:pt x="85725" y="57150"/>
                </a:cubicBezTo>
                <a:close/>
                <a:moveTo>
                  <a:pt x="100013" y="207169"/>
                </a:moveTo>
                <a:cubicBezTo>
                  <a:pt x="100013" y="218997"/>
                  <a:pt x="90409" y="228600"/>
                  <a:pt x="78581" y="228600"/>
                </a:cubicBezTo>
                <a:cubicBezTo>
                  <a:pt x="66753" y="228600"/>
                  <a:pt x="57150" y="218997"/>
                  <a:pt x="57150" y="207169"/>
                </a:cubicBezTo>
                <a:cubicBezTo>
                  <a:pt x="57150" y="195341"/>
                  <a:pt x="66753" y="185738"/>
                  <a:pt x="78581" y="185738"/>
                </a:cubicBezTo>
                <a:cubicBezTo>
                  <a:pt x="90409" y="185738"/>
                  <a:pt x="100013" y="195341"/>
                  <a:pt x="100013" y="207169"/>
                </a:cubicBezTo>
                <a:close/>
                <a:moveTo>
                  <a:pt x="171450" y="228600"/>
                </a:moveTo>
                <a:cubicBezTo>
                  <a:pt x="159622" y="228600"/>
                  <a:pt x="150019" y="218997"/>
                  <a:pt x="150019" y="207169"/>
                </a:cubicBezTo>
                <a:cubicBezTo>
                  <a:pt x="150019" y="195341"/>
                  <a:pt x="159622" y="185738"/>
                  <a:pt x="171450" y="185738"/>
                </a:cubicBezTo>
                <a:cubicBezTo>
                  <a:pt x="183278" y="185738"/>
                  <a:pt x="192881" y="195341"/>
                  <a:pt x="192881" y="207169"/>
                </a:cubicBezTo>
                <a:cubicBezTo>
                  <a:pt x="192881" y="218997"/>
                  <a:pt x="183278" y="228600"/>
                  <a:pt x="171450" y="228600"/>
                </a:cubicBezTo>
                <a:close/>
                <a:moveTo>
                  <a:pt x="285750" y="207169"/>
                </a:moveTo>
                <a:cubicBezTo>
                  <a:pt x="285750" y="218997"/>
                  <a:pt x="276147" y="228600"/>
                  <a:pt x="264319" y="228600"/>
                </a:cubicBezTo>
                <a:cubicBezTo>
                  <a:pt x="252491" y="228600"/>
                  <a:pt x="242888" y="218997"/>
                  <a:pt x="242888" y="207169"/>
                </a:cubicBezTo>
                <a:cubicBezTo>
                  <a:pt x="242888" y="195341"/>
                  <a:pt x="252491" y="185738"/>
                  <a:pt x="264319" y="185738"/>
                </a:cubicBezTo>
                <a:cubicBezTo>
                  <a:pt x="276147" y="185738"/>
                  <a:pt x="285750" y="195341"/>
                  <a:pt x="285750" y="207169"/>
                </a:cubicBezTo>
                <a:close/>
                <a:moveTo>
                  <a:pt x="78581" y="314325"/>
                </a:moveTo>
                <a:cubicBezTo>
                  <a:pt x="66753" y="314325"/>
                  <a:pt x="57150" y="304722"/>
                  <a:pt x="57150" y="292894"/>
                </a:cubicBezTo>
                <a:cubicBezTo>
                  <a:pt x="57150" y="281066"/>
                  <a:pt x="66753" y="271463"/>
                  <a:pt x="78581" y="271463"/>
                </a:cubicBezTo>
                <a:cubicBezTo>
                  <a:pt x="90409" y="271463"/>
                  <a:pt x="100013" y="281066"/>
                  <a:pt x="100013" y="292894"/>
                </a:cubicBezTo>
                <a:cubicBezTo>
                  <a:pt x="100013" y="304722"/>
                  <a:pt x="90409" y="314325"/>
                  <a:pt x="78581" y="314325"/>
                </a:cubicBezTo>
                <a:close/>
                <a:moveTo>
                  <a:pt x="192881" y="292894"/>
                </a:moveTo>
                <a:cubicBezTo>
                  <a:pt x="192881" y="304722"/>
                  <a:pt x="183278" y="314325"/>
                  <a:pt x="171450" y="314325"/>
                </a:cubicBezTo>
                <a:cubicBezTo>
                  <a:pt x="159622" y="314325"/>
                  <a:pt x="150019" y="304722"/>
                  <a:pt x="150019" y="292894"/>
                </a:cubicBezTo>
                <a:cubicBezTo>
                  <a:pt x="150019" y="281066"/>
                  <a:pt x="159622" y="271463"/>
                  <a:pt x="171450" y="271463"/>
                </a:cubicBezTo>
                <a:cubicBezTo>
                  <a:pt x="183278" y="271463"/>
                  <a:pt x="192881" y="281066"/>
                  <a:pt x="192881" y="292894"/>
                </a:cubicBezTo>
                <a:close/>
                <a:moveTo>
                  <a:pt x="264319" y="314325"/>
                </a:moveTo>
                <a:cubicBezTo>
                  <a:pt x="252491" y="314325"/>
                  <a:pt x="242888" y="304722"/>
                  <a:pt x="242888" y="292894"/>
                </a:cubicBezTo>
                <a:cubicBezTo>
                  <a:pt x="242888" y="281066"/>
                  <a:pt x="252491" y="271463"/>
                  <a:pt x="264319" y="271463"/>
                </a:cubicBezTo>
                <a:cubicBezTo>
                  <a:pt x="276147" y="271463"/>
                  <a:pt x="285750" y="281066"/>
                  <a:pt x="285750" y="292894"/>
                </a:cubicBezTo>
                <a:cubicBezTo>
                  <a:pt x="285750" y="304722"/>
                  <a:pt x="276147" y="314325"/>
                  <a:pt x="264319" y="314325"/>
                </a:cubicBezTo>
                <a:close/>
                <a:moveTo>
                  <a:pt x="57150" y="378619"/>
                </a:moveTo>
                <a:cubicBezTo>
                  <a:pt x="57150" y="366742"/>
                  <a:pt x="66705" y="357188"/>
                  <a:pt x="78581" y="357188"/>
                </a:cubicBezTo>
                <a:lnTo>
                  <a:pt x="178594" y="357188"/>
                </a:lnTo>
                <a:cubicBezTo>
                  <a:pt x="190470" y="357188"/>
                  <a:pt x="200025" y="366742"/>
                  <a:pt x="200025" y="378619"/>
                </a:cubicBezTo>
                <a:cubicBezTo>
                  <a:pt x="200025" y="390495"/>
                  <a:pt x="190470" y="400050"/>
                  <a:pt x="178594" y="400050"/>
                </a:cubicBezTo>
                <a:lnTo>
                  <a:pt x="78581" y="400050"/>
                </a:lnTo>
                <a:cubicBezTo>
                  <a:pt x="66705" y="400050"/>
                  <a:pt x="57150" y="390495"/>
                  <a:pt x="57150" y="378619"/>
                </a:cubicBezTo>
                <a:close/>
                <a:moveTo>
                  <a:pt x="264319" y="357188"/>
                </a:moveTo>
                <a:cubicBezTo>
                  <a:pt x="276195" y="357188"/>
                  <a:pt x="285750" y="366742"/>
                  <a:pt x="285750" y="378619"/>
                </a:cubicBezTo>
                <a:cubicBezTo>
                  <a:pt x="285750" y="390495"/>
                  <a:pt x="276195" y="400050"/>
                  <a:pt x="264319" y="400050"/>
                </a:cubicBezTo>
                <a:cubicBezTo>
                  <a:pt x="252442" y="400050"/>
                  <a:pt x="242888" y="390495"/>
                  <a:pt x="242888" y="378619"/>
                </a:cubicBezTo>
                <a:cubicBezTo>
                  <a:pt x="242888" y="366742"/>
                  <a:pt x="252442" y="357188"/>
                  <a:pt x="264319" y="357188"/>
                </a:cubicBezTo>
                <a:close/>
              </a:path>
            </a:pathLst>
          </a:custGeom>
          <a:solidFill>
            <a:srgbClr val="00B89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1016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Mathematical Library Functions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508000"/>
          </a:xfrm>
          <a:prstGeom prst="roundRect">
            <a:avLst>
              <a:gd name="adj" fmla="val 6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333500"/>
            <a:ext cx="1422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Required: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#include &lt;cmath&gt;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the top of your program. All functions accept and return 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values.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1590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and Roots</a:t>
            </a:r>
            <a:endParaRPr lang="en-US" sz="1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2565400"/>
          <a:ext cx="7112000" cy="1651000"/>
        </p:xfrm>
        <a:graphic>
          <a:graphicData uri="http://schemas.openxmlformats.org/drawingml/2006/table">
            <a:tbl>
              <a:tblPr/>
              <a:tblGrid>
                <a:gridCol w="2133600"/>
                <a:gridCol w="2844800"/>
                <a:gridCol w="2133600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pow(b, e)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 raised to power 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pow(2, 3) → 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sqrt(x)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Square root of 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sqrt(16) → 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cbrt(x)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Cube root of 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cbrt(27) → 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382000" y="21590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Rounding Functions</a:t>
            </a:r>
            <a:endParaRPr lang="en-US" sz="16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2565400"/>
          <a:ext cx="7112000" cy="1651000"/>
        </p:xfrm>
        <a:graphic>
          <a:graphicData uri="http://schemas.openxmlformats.org/drawingml/2006/table">
            <a:tbl>
              <a:tblPr/>
              <a:tblGrid>
                <a:gridCol w="2133600"/>
                <a:gridCol w="2844800"/>
                <a:gridCol w="2133600"/>
              </a:tblGrid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ceil(x)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Round up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ceil(3.2) → 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floor(x)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Round down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floor(3.9) → 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round(x)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Round to nearest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round(3.5) → 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762000" y="4635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Trigonometric Functions</a:t>
            </a:r>
            <a:endParaRPr lang="en-US" sz="1600" dirty="0"/>
          </a:p>
        </p:txBody>
      </p:sp>
      <p:graphicFrame>
        <p:nvGraphicFramePr>
          <p:cNvPr id="6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041900"/>
          <a:ext cx="7112000" cy="1270000"/>
        </p:xfrm>
        <a:graphic>
          <a:graphicData uri="http://schemas.openxmlformats.org/drawingml/2006/table">
            <a:tbl>
              <a:tblPr/>
              <a:tblGrid>
                <a:gridCol w="2133600"/>
                <a:gridCol w="2844800"/>
                <a:gridCol w="2133600"/>
              </a:tblGrid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sin(x)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Sine of 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in radians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cos(x), tan(x)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Cosine and Tangent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 in radians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8382000" y="46355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Logarithmic Functions</a:t>
            </a:r>
            <a:endParaRPr lang="en-US" sz="1600" dirty="0"/>
          </a:p>
        </p:txBody>
      </p:sp>
      <p:graphicFrame>
        <p:nvGraphicFramePr>
          <p:cNvPr id="8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5041900"/>
          <a:ext cx="7112000" cy="1270000"/>
        </p:xfrm>
        <a:graphic>
          <a:graphicData uri="http://schemas.openxmlformats.org/drawingml/2006/table">
            <a:tbl>
              <a:tblPr/>
              <a:tblGrid>
                <a:gridCol w="2133600"/>
                <a:gridCol w="2844800"/>
                <a:gridCol w="2133600"/>
              </a:tblGrid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Function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Description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Example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log(x)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Natural log (ln)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log(2.718) ≈ 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log10(x), exp(x)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Base-10 log, e^x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exp(1) ≈ 2.718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4" name="Text 8"/>
          <p:cNvSpPr/>
          <p:nvPr/>
        </p:nvSpPr>
        <p:spPr>
          <a:xfrm>
            <a:off x="762000" y="6731000"/>
            <a:ext cx="355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Absolute Value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762000" y="7137400"/>
            <a:ext cx="7112000" cy="76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016000" y="7239000"/>
            <a:ext cx="6604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abs(x)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integers,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fabs(x)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doubles. Returns the non-negative magnitude.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8382000" y="6731000"/>
            <a:ext cx="7112000" cy="11684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18" name="Text 12"/>
          <p:cNvSpPr/>
          <p:nvPr/>
        </p:nvSpPr>
        <p:spPr>
          <a:xfrm>
            <a:off x="8636000" y="6858000"/>
            <a:ext cx="660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Trig functions 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radians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not degrees!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Convert: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radians = degrees * 3.14159 / 180;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Text 14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Math Functions in Programs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1: Compound Interest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03400"/>
            <a:ext cx="14732000" cy="13970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30400"/>
            <a:ext cx="1422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principal = 1000.0, rate = 0.05;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years = 10;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amount = principal *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(1 + rate, years);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$1,628.89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4036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2: Distance Between Two Points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810000"/>
            <a:ext cx="14732000" cy="13970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3937000"/>
            <a:ext cx="1422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Distance formula: sqrt((x2-x1)^2 + (y2-y1)^2)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dx = x2 - x1, dy = y2 - y1;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distance =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sqrt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(dx, 2) +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(dy, 2));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54102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3: Random Number in Range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816600"/>
            <a:ext cx="14732000" cy="13970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5943600"/>
            <a:ext cx="142240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&lt;cstdlib&gt;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For rand() and srand()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randomNum = rand() % 100;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0 to 99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inRange = 10 + rand() % 11; 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636E7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10 to 20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74930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54100" y="76835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74367" y="228600"/>
                </a:moveTo>
                <a:cubicBezTo>
                  <a:pt x="178713" y="215325"/>
                  <a:pt x="187404" y="203299"/>
                  <a:pt x="197227" y="192941"/>
                </a:cubicBezTo>
                <a:cubicBezTo>
                  <a:pt x="216694" y="172462"/>
                  <a:pt x="228600" y="144780"/>
                  <a:pt x="228600" y="114300"/>
                </a:cubicBezTo>
                <a:cubicBezTo>
                  <a:pt x="228600" y="51197"/>
                  <a:pt x="177403" y="0"/>
                  <a:pt x="114300" y="0"/>
                </a:cubicBezTo>
                <a:cubicBezTo>
                  <a:pt x="51197" y="0"/>
                  <a:pt x="0" y="51197"/>
                  <a:pt x="0" y="114300"/>
                </a:cubicBezTo>
                <a:cubicBezTo>
                  <a:pt x="0" y="144780"/>
                  <a:pt x="11906" y="172462"/>
                  <a:pt x="31373" y="192941"/>
                </a:cubicBezTo>
                <a:cubicBezTo>
                  <a:pt x="41196" y="203299"/>
                  <a:pt x="49947" y="215325"/>
                  <a:pt x="54233" y="228600"/>
                </a:cubicBezTo>
                <a:lnTo>
                  <a:pt x="174308" y="228600"/>
                </a:lnTo>
                <a:close/>
                <a:moveTo>
                  <a:pt x="171450" y="257175"/>
                </a:moveTo>
                <a:lnTo>
                  <a:pt x="57150" y="257175"/>
                </a:lnTo>
                <a:lnTo>
                  <a:pt x="57150" y="266700"/>
                </a:lnTo>
                <a:cubicBezTo>
                  <a:pt x="57150" y="293013"/>
                  <a:pt x="78462" y="314325"/>
                  <a:pt x="104775" y="314325"/>
                </a:cubicBezTo>
                <a:lnTo>
                  <a:pt x="123825" y="314325"/>
                </a:lnTo>
                <a:cubicBezTo>
                  <a:pt x="150138" y="314325"/>
                  <a:pt x="171450" y="293013"/>
                  <a:pt x="171450" y="266700"/>
                </a:cubicBezTo>
                <a:lnTo>
                  <a:pt x="171450" y="257175"/>
                </a:lnTo>
                <a:close/>
                <a:moveTo>
                  <a:pt x="109537" y="66675"/>
                </a:moveTo>
                <a:cubicBezTo>
                  <a:pt x="85844" y="66675"/>
                  <a:pt x="66675" y="85844"/>
                  <a:pt x="66675" y="109537"/>
                </a:cubicBezTo>
                <a:cubicBezTo>
                  <a:pt x="66675" y="117455"/>
                  <a:pt x="60305" y="123825"/>
                  <a:pt x="52388" y="123825"/>
                </a:cubicBezTo>
                <a:cubicBezTo>
                  <a:pt x="44470" y="123825"/>
                  <a:pt x="38100" y="117455"/>
                  <a:pt x="38100" y="109537"/>
                </a:cubicBezTo>
                <a:cubicBezTo>
                  <a:pt x="38100" y="70068"/>
                  <a:pt x="70068" y="38100"/>
                  <a:pt x="109537" y="38100"/>
                </a:cubicBezTo>
                <a:cubicBezTo>
                  <a:pt x="117455" y="38100"/>
                  <a:pt x="123825" y="44470"/>
                  <a:pt x="123825" y="52388"/>
                </a:cubicBezTo>
                <a:cubicBezTo>
                  <a:pt x="123825" y="60305"/>
                  <a:pt x="117455" y="66675"/>
                  <a:pt x="109537" y="66675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" y="7620000"/>
            <a:ext cx="1371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 Tip: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Combine math functions with formatted output (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setprecision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 for professional-looking results in calculations.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2032000"/>
            <a:ext cx="5080000" cy="203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FFFFFF">
                    <a:alpha val="6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762000" y="3810000"/>
            <a:ext cx="1016000" cy="635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4064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Debugging and Problem Solving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62000" y="4953000"/>
            <a:ext cx="8890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B2BEC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Techniques for tracing programs and solving real-world problems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3425" y="5842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171450" y="85725"/>
                </a:moveTo>
                <a:cubicBezTo>
                  <a:pt x="171450" y="38398"/>
                  <a:pt x="209848" y="0"/>
                  <a:pt x="257175" y="0"/>
                </a:cubicBezTo>
                <a:cubicBezTo>
                  <a:pt x="304502" y="0"/>
                  <a:pt x="342900" y="38398"/>
                  <a:pt x="342900" y="85725"/>
                </a:cubicBezTo>
                <a:lnTo>
                  <a:pt x="342900" y="88940"/>
                </a:lnTo>
                <a:cubicBezTo>
                  <a:pt x="342900" y="102959"/>
                  <a:pt x="331559" y="114300"/>
                  <a:pt x="317540" y="114300"/>
                </a:cubicBezTo>
                <a:lnTo>
                  <a:pt x="196900" y="114300"/>
                </a:lnTo>
                <a:cubicBezTo>
                  <a:pt x="182880" y="114300"/>
                  <a:pt x="171539" y="102959"/>
                  <a:pt x="171539" y="88940"/>
                </a:cubicBezTo>
                <a:lnTo>
                  <a:pt x="171539" y="85725"/>
                </a:lnTo>
                <a:close/>
                <a:moveTo>
                  <a:pt x="480060" y="97155"/>
                </a:moveTo>
                <a:cubicBezTo>
                  <a:pt x="489525" y="109746"/>
                  <a:pt x="486936" y="127695"/>
                  <a:pt x="474345" y="137160"/>
                </a:cubicBezTo>
                <a:lnTo>
                  <a:pt x="387013" y="202615"/>
                </a:lnTo>
                <a:cubicBezTo>
                  <a:pt x="391745" y="210562"/>
                  <a:pt x="395317" y="219313"/>
                  <a:pt x="397550" y="228600"/>
                </a:cubicBezTo>
                <a:lnTo>
                  <a:pt x="485775" y="228600"/>
                </a:lnTo>
                <a:cubicBezTo>
                  <a:pt x="501581" y="228600"/>
                  <a:pt x="514350" y="241369"/>
                  <a:pt x="514350" y="257175"/>
                </a:cubicBezTo>
                <a:cubicBezTo>
                  <a:pt x="514350" y="272981"/>
                  <a:pt x="501581" y="285750"/>
                  <a:pt x="485775" y="285750"/>
                </a:cubicBezTo>
                <a:lnTo>
                  <a:pt x="400050" y="285750"/>
                </a:lnTo>
                <a:lnTo>
                  <a:pt x="400050" y="314325"/>
                </a:lnTo>
                <a:cubicBezTo>
                  <a:pt x="400050" y="316647"/>
                  <a:pt x="399961" y="319058"/>
                  <a:pt x="399871" y="321379"/>
                </a:cubicBezTo>
                <a:lnTo>
                  <a:pt x="474345" y="377190"/>
                </a:lnTo>
                <a:cubicBezTo>
                  <a:pt x="486936" y="386655"/>
                  <a:pt x="489525" y="404604"/>
                  <a:pt x="480060" y="417195"/>
                </a:cubicBezTo>
                <a:cubicBezTo>
                  <a:pt x="470595" y="429786"/>
                  <a:pt x="452646" y="432375"/>
                  <a:pt x="440055" y="422910"/>
                </a:cubicBezTo>
                <a:lnTo>
                  <a:pt x="383709" y="380673"/>
                </a:lnTo>
                <a:cubicBezTo>
                  <a:pt x="362992" y="420142"/>
                  <a:pt x="324326" y="448717"/>
                  <a:pt x="278606" y="455593"/>
                </a:cubicBezTo>
                <a:lnTo>
                  <a:pt x="278606" y="250031"/>
                </a:lnTo>
                <a:cubicBezTo>
                  <a:pt x="278606" y="238155"/>
                  <a:pt x="269051" y="228600"/>
                  <a:pt x="257175" y="228600"/>
                </a:cubicBezTo>
                <a:cubicBezTo>
                  <a:pt x="245299" y="228600"/>
                  <a:pt x="235744" y="238155"/>
                  <a:pt x="235744" y="250031"/>
                </a:cubicBezTo>
                <a:lnTo>
                  <a:pt x="235744" y="455593"/>
                </a:lnTo>
                <a:cubicBezTo>
                  <a:pt x="190024" y="448717"/>
                  <a:pt x="151358" y="420142"/>
                  <a:pt x="130641" y="380673"/>
                </a:cubicBezTo>
                <a:lnTo>
                  <a:pt x="74295" y="422910"/>
                </a:lnTo>
                <a:cubicBezTo>
                  <a:pt x="61704" y="432375"/>
                  <a:pt x="43755" y="429786"/>
                  <a:pt x="34290" y="417195"/>
                </a:cubicBezTo>
                <a:cubicBezTo>
                  <a:pt x="24825" y="404604"/>
                  <a:pt x="27414" y="386655"/>
                  <a:pt x="40005" y="377190"/>
                </a:cubicBezTo>
                <a:lnTo>
                  <a:pt x="114479" y="321379"/>
                </a:lnTo>
                <a:cubicBezTo>
                  <a:pt x="114389" y="319058"/>
                  <a:pt x="114300" y="316736"/>
                  <a:pt x="114300" y="314325"/>
                </a:cubicBezTo>
                <a:lnTo>
                  <a:pt x="114300" y="285750"/>
                </a:lnTo>
                <a:lnTo>
                  <a:pt x="28575" y="285750"/>
                </a:lnTo>
                <a:cubicBezTo>
                  <a:pt x="12769" y="285750"/>
                  <a:pt x="0" y="272981"/>
                  <a:pt x="0" y="257175"/>
                </a:cubicBezTo>
                <a:cubicBezTo>
                  <a:pt x="0" y="241369"/>
                  <a:pt x="12769" y="228600"/>
                  <a:pt x="28575" y="228600"/>
                </a:cubicBezTo>
                <a:lnTo>
                  <a:pt x="116800" y="228600"/>
                </a:lnTo>
                <a:cubicBezTo>
                  <a:pt x="119033" y="219313"/>
                  <a:pt x="122605" y="210562"/>
                  <a:pt x="127337" y="202615"/>
                </a:cubicBezTo>
                <a:lnTo>
                  <a:pt x="40005" y="137160"/>
                </a:lnTo>
                <a:cubicBezTo>
                  <a:pt x="27414" y="127695"/>
                  <a:pt x="24825" y="109746"/>
                  <a:pt x="34290" y="97155"/>
                </a:cubicBezTo>
                <a:cubicBezTo>
                  <a:pt x="43755" y="84564"/>
                  <a:pt x="61704" y="81975"/>
                  <a:pt x="74295" y="91440"/>
                </a:cubicBezTo>
                <a:lnTo>
                  <a:pt x="171450" y="164306"/>
                </a:lnTo>
                <a:cubicBezTo>
                  <a:pt x="182434" y="159752"/>
                  <a:pt x="194489" y="157163"/>
                  <a:pt x="207169" y="157163"/>
                </a:cubicBezTo>
                <a:lnTo>
                  <a:pt x="307181" y="157163"/>
                </a:lnTo>
                <a:cubicBezTo>
                  <a:pt x="319861" y="157163"/>
                  <a:pt x="331916" y="159663"/>
                  <a:pt x="342900" y="164306"/>
                </a:cubicBezTo>
                <a:lnTo>
                  <a:pt x="440055" y="91440"/>
                </a:lnTo>
                <a:cubicBezTo>
                  <a:pt x="452646" y="81975"/>
                  <a:pt x="470595" y="84564"/>
                  <a:pt x="480060" y="97155"/>
                </a:cubicBezTo>
                <a:close/>
              </a:path>
            </a:pathLst>
          </a:custGeom>
          <a:solidFill>
            <a:srgbClr val="00B894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 Tracing a Program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147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00B89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Hand tracing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43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manually stepping through code to verify logic — the most fundamental debugging technique. It helps you understand exactly how variables change with each statement.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66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Hand Tracing Process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30200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330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3302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trace table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columns for each variable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93700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93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937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Walk through each line of code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sequentially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57200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572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572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Update variable values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each statement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62000" y="5207000"/>
            <a:ext cx="457200" cy="45720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762000" y="5207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5207000"/>
            <a:ext cx="609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if the final output </a:t>
            </a:r>
            <a:pPr>
              <a:lnSpc>
                <a:spcPct val="100000"/>
              </a:lnSpc>
            </a:pPr>
            <a:r>
              <a:rPr lang="en-US" sz="16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matches expectations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000" y="2667000"/>
            <a:ext cx="7366000" cy="330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82000" y="2794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Hand Trace?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3276600"/>
            <a:ext cx="6858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Catches logic errors before running the program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Helps understand how variables change over time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Essential for exam preparation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Builds mental model of program execution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70000"/>
              </a:lnSpc>
            </a:pPr>
            <a:r>
              <a:rPr lang="en-US" sz="16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Free — requires only paper and pencil!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2000" y="63500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170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Errors Caught by Hand Tracing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6858000"/>
            <a:ext cx="3429000" cy="762000"/>
          </a:xfrm>
          <a:prstGeom prst="roundRect">
            <a:avLst>
              <a:gd name="adj" fmla="val 4000"/>
            </a:avLst>
          </a:prstGeom>
          <a:solidFill>
            <a:srgbClr val="E17055">
              <a:alpha val="8235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6921500"/>
            <a:ext cx="3124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Off-by-one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errors in loops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445000" y="6858000"/>
            <a:ext cx="3429000" cy="762000"/>
          </a:xfrm>
          <a:prstGeom prst="roundRect">
            <a:avLst>
              <a:gd name="adj" fmla="val 4000"/>
            </a:avLst>
          </a:prstGeom>
          <a:solidFill>
            <a:srgbClr val="E17055">
              <a:alpha val="8235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4597400" y="6921500"/>
            <a:ext cx="3124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Wrong </a:t>
            </a:r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accumulator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initialization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128000" y="6858000"/>
            <a:ext cx="3429000" cy="762000"/>
          </a:xfrm>
          <a:prstGeom prst="roundRect">
            <a:avLst>
              <a:gd name="adj" fmla="val 4000"/>
            </a:avLst>
          </a:prstGeom>
          <a:solidFill>
            <a:srgbClr val="E17055">
              <a:alpha val="8235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280400" y="6921500"/>
            <a:ext cx="3124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Wrong </a:t>
            </a:r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comparison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operators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811000" y="6858000"/>
            <a:ext cx="3683000" cy="762000"/>
          </a:xfrm>
          <a:prstGeom prst="roundRect">
            <a:avLst>
              <a:gd name="adj" fmla="val 4000"/>
            </a:avLst>
          </a:prstGeom>
          <a:solidFill>
            <a:srgbClr val="E17055">
              <a:alpha val="8235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963400" y="6921500"/>
            <a:ext cx="3378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Unexpected </a:t>
            </a:r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 changes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 Tracing Example Walkthrough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Program to Trace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714500"/>
            <a:ext cx="5080000" cy="2540000"/>
          </a:xfrm>
          <a:prstGeom prst="roundRect">
            <a:avLst>
              <a:gd name="adj" fmla="val 3000"/>
            </a:avLst>
          </a:prstGeom>
          <a:solidFill>
            <a:srgbClr val="1E272E"/>
          </a:solidFill>
          <a:ln/>
        </p:spPr>
      </p:sp>
      <p:sp>
        <p:nvSpPr>
          <p:cNvPr id="6" name="Text 4"/>
          <p:cNvSpPr/>
          <p:nvPr/>
        </p:nvSpPr>
        <p:spPr>
          <a:xfrm>
            <a:off x="965200" y="1816100"/>
            <a:ext cx="46736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x = 1, sum = 0;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while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(x &lt;= 4) {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 += x;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x++;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"Sum = "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sum;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50000" y="1333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Trace Table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0000" y="1714500"/>
          <a:ext cx="9144000" cy="25400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2011680"/>
                <a:gridCol w="1828800"/>
              </a:tblGrid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Line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sum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Condition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Output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436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init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1&lt;=4 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2&lt;=4 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3&lt;=4 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A"/>
                    </a:solidFill>
                  </a:tcPr>
                </a:tc>
              </a:tr>
              <a:tr h="423333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while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00B89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4&lt;=4 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43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62000" y="4635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16000" y="4762500"/>
            <a:ext cx="1422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Output: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 = 10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(1+2+3+4 = 10). After x becomes 5, the condition 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&lt;= 4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false, so the loop exits.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6032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 Tracing Best Practices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2000" y="6540500"/>
            <a:ext cx="46990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5200" y="6731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1669" y="210264"/>
                </a:moveTo>
                <a:cubicBezTo>
                  <a:pt x="24110" y="201573"/>
                  <a:pt x="28694" y="193655"/>
                  <a:pt x="35123" y="187226"/>
                </a:cubicBezTo>
                <a:lnTo>
                  <a:pt x="142994" y="79355"/>
                </a:lnTo>
                <a:lnTo>
                  <a:pt x="163175" y="59174"/>
                </a:lnTo>
                <a:cubicBezTo>
                  <a:pt x="173057" y="69056"/>
                  <a:pt x="193715" y="89714"/>
                  <a:pt x="225088" y="121087"/>
                </a:cubicBezTo>
                <a:lnTo>
                  <a:pt x="245269" y="141268"/>
                </a:lnTo>
                <a:lnTo>
                  <a:pt x="225088" y="161449"/>
                </a:lnTo>
                <a:lnTo>
                  <a:pt x="117217" y="269319"/>
                </a:lnTo>
                <a:cubicBezTo>
                  <a:pt x="110847" y="275689"/>
                  <a:pt x="102870" y="280333"/>
                  <a:pt x="94178" y="282773"/>
                </a:cubicBezTo>
                <a:lnTo>
                  <a:pt x="18098" y="303967"/>
                </a:lnTo>
                <a:cubicBezTo>
                  <a:pt x="13156" y="305336"/>
                  <a:pt x="7799" y="303967"/>
                  <a:pt x="4167" y="300276"/>
                </a:cubicBezTo>
                <a:cubicBezTo>
                  <a:pt x="536" y="296585"/>
                  <a:pt x="-833" y="291286"/>
                  <a:pt x="536" y="286345"/>
                </a:cubicBezTo>
                <a:lnTo>
                  <a:pt x="21669" y="210264"/>
                </a:lnTo>
                <a:close/>
                <a:moveTo>
                  <a:pt x="54769" y="208062"/>
                </a:moveTo>
                <a:cubicBezTo>
                  <a:pt x="52149" y="210860"/>
                  <a:pt x="50244" y="214253"/>
                  <a:pt x="49232" y="217944"/>
                </a:cubicBezTo>
                <a:lnTo>
                  <a:pt x="34885" y="269677"/>
                </a:lnTo>
                <a:lnTo>
                  <a:pt x="86618" y="255330"/>
                </a:lnTo>
                <a:cubicBezTo>
                  <a:pt x="90428" y="254258"/>
                  <a:pt x="93881" y="252293"/>
                  <a:pt x="96738" y="249555"/>
                </a:cubicBezTo>
                <a:lnTo>
                  <a:pt x="54709" y="208062"/>
                </a:lnTo>
                <a:close/>
                <a:moveTo>
                  <a:pt x="265509" y="121087"/>
                </a:moveTo>
                <a:cubicBezTo>
                  <a:pt x="255627" y="111204"/>
                  <a:pt x="234970" y="90547"/>
                  <a:pt x="203597" y="59174"/>
                </a:cubicBezTo>
                <a:lnTo>
                  <a:pt x="183356" y="38993"/>
                </a:lnTo>
                <a:cubicBezTo>
                  <a:pt x="199132" y="23217"/>
                  <a:pt x="208002" y="14347"/>
                  <a:pt x="210086" y="12263"/>
                </a:cubicBezTo>
                <a:cubicBezTo>
                  <a:pt x="218123" y="4167"/>
                  <a:pt x="229076" y="-357"/>
                  <a:pt x="240506" y="-357"/>
                </a:cubicBezTo>
                <a:cubicBezTo>
                  <a:pt x="251936" y="-357"/>
                  <a:pt x="262890" y="4167"/>
                  <a:pt x="270927" y="12263"/>
                </a:cubicBezTo>
                <a:lnTo>
                  <a:pt x="292179" y="33516"/>
                </a:lnTo>
                <a:cubicBezTo>
                  <a:pt x="300276" y="41612"/>
                  <a:pt x="304800" y="52566"/>
                  <a:pt x="304800" y="63937"/>
                </a:cubicBezTo>
                <a:cubicBezTo>
                  <a:pt x="304800" y="75307"/>
                  <a:pt x="300276" y="86320"/>
                  <a:pt x="292179" y="94357"/>
                </a:cubicBezTo>
                <a:cubicBezTo>
                  <a:pt x="290096" y="96441"/>
                  <a:pt x="281226" y="105311"/>
                  <a:pt x="265450" y="121087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14" name="Text 11"/>
          <p:cNvSpPr/>
          <p:nvPr/>
        </p:nvSpPr>
        <p:spPr>
          <a:xfrm>
            <a:off x="1371600" y="66675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one row per statement execution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78500" y="6540500"/>
            <a:ext cx="46990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62650" y="6731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19050"/>
                </a:moveTo>
                <a:cubicBezTo>
                  <a:pt x="123349" y="19050"/>
                  <a:pt x="84832" y="40957"/>
                  <a:pt x="56793" y="67032"/>
                </a:cubicBezTo>
                <a:cubicBezTo>
                  <a:pt x="28932" y="92928"/>
                  <a:pt x="10299" y="123825"/>
                  <a:pt x="1429" y="145078"/>
                </a:cubicBezTo>
                <a:cubicBezTo>
                  <a:pt x="-536" y="149781"/>
                  <a:pt x="-536" y="155019"/>
                  <a:pt x="1429" y="159722"/>
                </a:cubicBezTo>
                <a:cubicBezTo>
                  <a:pt x="10299" y="180975"/>
                  <a:pt x="28932" y="211931"/>
                  <a:pt x="56793" y="237768"/>
                </a:cubicBezTo>
                <a:cubicBezTo>
                  <a:pt x="84832" y="263783"/>
                  <a:pt x="123349" y="285750"/>
                  <a:pt x="171450" y="285750"/>
                </a:cubicBezTo>
                <a:cubicBezTo>
                  <a:pt x="219551" y="285750"/>
                  <a:pt x="258068" y="263843"/>
                  <a:pt x="286107" y="237768"/>
                </a:cubicBezTo>
                <a:cubicBezTo>
                  <a:pt x="313968" y="211872"/>
                  <a:pt x="332601" y="180975"/>
                  <a:pt x="341471" y="159722"/>
                </a:cubicBezTo>
                <a:cubicBezTo>
                  <a:pt x="343436" y="155019"/>
                  <a:pt x="343436" y="149781"/>
                  <a:pt x="341471" y="145078"/>
                </a:cubicBezTo>
                <a:cubicBezTo>
                  <a:pt x="332601" y="123825"/>
                  <a:pt x="313968" y="92869"/>
                  <a:pt x="286107" y="67032"/>
                </a:cubicBezTo>
                <a:cubicBezTo>
                  <a:pt x="258068" y="41017"/>
                  <a:pt x="219551" y="19050"/>
                  <a:pt x="171450" y="19050"/>
                </a:cubicBezTo>
                <a:close/>
                <a:moveTo>
                  <a:pt x="85725" y="152400"/>
                </a:moveTo>
                <a:cubicBezTo>
                  <a:pt x="85725" y="105087"/>
                  <a:pt x="124137" y="66675"/>
                  <a:pt x="171450" y="66675"/>
                </a:cubicBezTo>
                <a:cubicBezTo>
                  <a:pt x="218763" y="66675"/>
                  <a:pt x="257175" y="105087"/>
                  <a:pt x="257175" y="152400"/>
                </a:cubicBezTo>
                <a:cubicBezTo>
                  <a:pt x="257175" y="199713"/>
                  <a:pt x="218763" y="238125"/>
                  <a:pt x="171450" y="238125"/>
                </a:cubicBezTo>
                <a:cubicBezTo>
                  <a:pt x="124137" y="238125"/>
                  <a:pt x="85725" y="199713"/>
                  <a:pt x="85725" y="152400"/>
                </a:cubicBezTo>
                <a:close/>
                <a:moveTo>
                  <a:pt x="171450" y="114300"/>
                </a:moveTo>
                <a:cubicBezTo>
                  <a:pt x="171450" y="135315"/>
                  <a:pt x="154365" y="152400"/>
                  <a:pt x="133350" y="152400"/>
                </a:cubicBezTo>
                <a:cubicBezTo>
                  <a:pt x="126504" y="152400"/>
                  <a:pt x="120075" y="150614"/>
                  <a:pt x="114479" y="147399"/>
                </a:cubicBezTo>
                <a:cubicBezTo>
                  <a:pt x="113883" y="153888"/>
                  <a:pt x="114419" y="160556"/>
                  <a:pt x="116205" y="167164"/>
                </a:cubicBezTo>
                <a:cubicBezTo>
                  <a:pt x="124361" y="197644"/>
                  <a:pt x="155734" y="215741"/>
                  <a:pt x="186214" y="207585"/>
                </a:cubicBezTo>
                <a:cubicBezTo>
                  <a:pt x="216694" y="199430"/>
                  <a:pt x="234791" y="168057"/>
                  <a:pt x="226635" y="137577"/>
                </a:cubicBezTo>
                <a:cubicBezTo>
                  <a:pt x="219373" y="110371"/>
                  <a:pt x="193596" y="93047"/>
                  <a:pt x="166449" y="95429"/>
                </a:cubicBezTo>
                <a:cubicBezTo>
                  <a:pt x="169605" y="100965"/>
                  <a:pt x="171450" y="107394"/>
                  <a:pt x="171450" y="114300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17" name="Text 14"/>
          <p:cNvSpPr/>
          <p:nvPr/>
        </p:nvSpPr>
        <p:spPr>
          <a:xfrm>
            <a:off x="6388100" y="66675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every variable, even unchanged ones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795000" y="6540500"/>
            <a:ext cx="4699000" cy="889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036300" y="6731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148769" y="39767"/>
                </a:moveTo>
                <a:cubicBezTo>
                  <a:pt x="154960" y="31254"/>
                  <a:pt x="153055" y="19348"/>
                  <a:pt x="144542" y="13156"/>
                </a:cubicBezTo>
                <a:cubicBezTo>
                  <a:pt x="136029" y="6965"/>
                  <a:pt x="124123" y="8870"/>
                  <a:pt x="117931" y="17383"/>
                </a:cubicBezTo>
                <a:lnTo>
                  <a:pt x="54828" y="104120"/>
                </a:lnTo>
                <a:lnTo>
                  <a:pt x="32504" y="81796"/>
                </a:lnTo>
                <a:cubicBezTo>
                  <a:pt x="25063" y="74355"/>
                  <a:pt x="12978" y="74355"/>
                  <a:pt x="5536" y="81796"/>
                </a:cubicBezTo>
                <a:cubicBezTo>
                  <a:pt x="-1905" y="89237"/>
                  <a:pt x="-1905" y="101322"/>
                  <a:pt x="5536" y="108764"/>
                </a:cubicBezTo>
                <a:lnTo>
                  <a:pt x="43636" y="146864"/>
                </a:lnTo>
                <a:cubicBezTo>
                  <a:pt x="47565" y="150793"/>
                  <a:pt x="53042" y="152817"/>
                  <a:pt x="58579" y="152400"/>
                </a:cubicBezTo>
                <a:cubicBezTo>
                  <a:pt x="64115" y="151983"/>
                  <a:pt x="69235" y="149126"/>
                  <a:pt x="72509" y="144601"/>
                </a:cubicBezTo>
                <a:lnTo>
                  <a:pt x="148709" y="39826"/>
                </a:lnTo>
                <a:close/>
                <a:moveTo>
                  <a:pt x="224969" y="120729"/>
                </a:moveTo>
                <a:cubicBezTo>
                  <a:pt x="231160" y="112216"/>
                  <a:pt x="229255" y="100310"/>
                  <a:pt x="220742" y="94119"/>
                </a:cubicBezTo>
                <a:cubicBezTo>
                  <a:pt x="212229" y="87928"/>
                  <a:pt x="200323" y="89833"/>
                  <a:pt x="194131" y="98346"/>
                </a:cubicBezTo>
                <a:lnTo>
                  <a:pt x="92928" y="237470"/>
                </a:lnTo>
                <a:lnTo>
                  <a:pt x="51554" y="196096"/>
                </a:lnTo>
                <a:cubicBezTo>
                  <a:pt x="44113" y="188655"/>
                  <a:pt x="32028" y="188655"/>
                  <a:pt x="24586" y="196096"/>
                </a:cubicBezTo>
                <a:cubicBezTo>
                  <a:pt x="17145" y="203537"/>
                  <a:pt x="17145" y="215622"/>
                  <a:pt x="24586" y="223064"/>
                </a:cubicBezTo>
                <a:lnTo>
                  <a:pt x="81736" y="280214"/>
                </a:lnTo>
                <a:cubicBezTo>
                  <a:pt x="85665" y="284143"/>
                  <a:pt x="91142" y="286167"/>
                  <a:pt x="96679" y="285750"/>
                </a:cubicBezTo>
                <a:cubicBezTo>
                  <a:pt x="102215" y="285333"/>
                  <a:pt x="107335" y="282476"/>
                  <a:pt x="110609" y="277951"/>
                </a:cubicBezTo>
                <a:lnTo>
                  <a:pt x="224909" y="120789"/>
                </a:ln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20" name="Text 17"/>
          <p:cNvSpPr/>
          <p:nvPr/>
        </p:nvSpPr>
        <p:spPr>
          <a:xfrm>
            <a:off x="11404600" y="6667500"/>
            <a:ext cx="393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Verify output matches your expectation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 1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 Solving — A Case Study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33500"/>
            <a:ext cx="14732000" cy="1016000"/>
          </a:xfrm>
          <a:prstGeom prst="roundRect">
            <a:avLst>
              <a:gd name="adj" fmla="val 4000"/>
            </a:avLst>
          </a:prstGeom>
          <a:solidFill>
            <a:srgbClr val="2D3436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524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122238"/>
                </a:moveTo>
                <a:cubicBezTo>
                  <a:pt x="165507" y="122238"/>
                  <a:pt x="155575" y="132169"/>
                  <a:pt x="155575" y="144463"/>
                </a:cubicBezTo>
                <a:cubicBezTo>
                  <a:pt x="155575" y="153700"/>
                  <a:pt x="148144" y="161131"/>
                  <a:pt x="138906" y="161131"/>
                </a:cubicBezTo>
                <a:cubicBezTo>
                  <a:pt x="129669" y="161131"/>
                  <a:pt x="122238" y="153700"/>
                  <a:pt x="122238" y="144463"/>
                </a:cubicBezTo>
                <a:cubicBezTo>
                  <a:pt x="122238" y="113764"/>
                  <a:pt x="147102" y="88900"/>
                  <a:pt x="177800" y="88900"/>
                </a:cubicBezTo>
                <a:cubicBezTo>
                  <a:pt x="208498" y="88900"/>
                  <a:pt x="233363" y="113764"/>
                  <a:pt x="233363" y="144463"/>
                </a:cubicBezTo>
                <a:cubicBezTo>
                  <a:pt x="233363" y="177244"/>
                  <a:pt x="208359" y="191135"/>
                  <a:pt x="194469" y="196205"/>
                </a:cubicBezTo>
                <a:lnTo>
                  <a:pt x="194469" y="198844"/>
                </a:lnTo>
                <a:cubicBezTo>
                  <a:pt x="194469" y="208082"/>
                  <a:pt x="187037" y="215513"/>
                  <a:pt x="177800" y="215513"/>
                </a:cubicBezTo>
                <a:cubicBezTo>
                  <a:pt x="168563" y="215513"/>
                  <a:pt x="161131" y="208082"/>
                  <a:pt x="161131" y="198844"/>
                </a:cubicBezTo>
                <a:lnTo>
                  <a:pt x="161131" y="193219"/>
                </a:lnTo>
                <a:cubicBezTo>
                  <a:pt x="161131" y="178981"/>
                  <a:pt x="171410" y="168771"/>
                  <a:pt x="182037" y="165298"/>
                </a:cubicBezTo>
                <a:cubicBezTo>
                  <a:pt x="186482" y="163840"/>
                  <a:pt x="191204" y="161479"/>
                  <a:pt x="194677" y="158145"/>
                </a:cubicBezTo>
                <a:cubicBezTo>
                  <a:pt x="197664" y="155228"/>
                  <a:pt x="200025" y="151199"/>
                  <a:pt x="200025" y="144532"/>
                </a:cubicBezTo>
                <a:cubicBezTo>
                  <a:pt x="200025" y="132239"/>
                  <a:pt x="190093" y="122307"/>
                  <a:pt x="177800" y="122307"/>
                </a:cubicBezTo>
                <a:close/>
                <a:moveTo>
                  <a:pt x="155575" y="255587"/>
                </a:moveTo>
                <a:cubicBezTo>
                  <a:pt x="155575" y="243321"/>
                  <a:pt x="165534" y="233363"/>
                  <a:pt x="177800" y="233363"/>
                </a:cubicBezTo>
                <a:cubicBezTo>
                  <a:pt x="190066" y="233363"/>
                  <a:pt x="200025" y="243321"/>
                  <a:pt x="200025" y="255587"/>
                </a:cubicBezTo>
                <a:cubicBezTo>
                  <a:pt x="200025" y="267854"/>
                  <a:pt x="190066" y="277813"/>
                  <a:pt x="177800" y="277813"/>
                </a:cubicBezTo>
                <a:cubicBezTo>
                  <a:pt x="165534" y="277813"/>
                  <a:pt x="155575" y="267854"/>
                  <a:pt x="155575" y="255587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6" name="Text 4"/>
          <p:cNvSpPr/>
          <p:nvPr/>
        </p:nvSpPr>
        <p:spPr>
          <a:xfrm>
            <a:off x="1473200" y="1460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73200" y="1778000"/>
            <a:ext cx="1371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Calculate a student's final grade from: Homework (30%), Midterm (30%), and Final Exam (40%). Display the weighted average and letter grade.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667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Problem-Solving Approach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175000"/>
            <a:ext cx="2743200" cy="1016000"/>
          </a:xfrm>
          <a:prstGeom prst="roundRect">
            <a:avLst>
              <a:gd name="adj" fmla="val 6000"/>
            </a:avLst>
          </a:prstGeom>
          <a:solidFill>
            <a:srgbClr val="00B894"/>
          </a:solidFill>
          <a:ln/>
        </p:spPr>
      </p:sp>
      <p:sp>
        <p:nvSpPr>
          <p:cNvPr id="10" name="Text 8"/>
          <p:cNvSpPr/>
          <p:nvPr/>
        </p:nvSpPr>
        <p:spPr>
          <a:xfrm>
            <a:off x="762000" y="32004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38200" y="3581400"/>
            <a:ext cx="259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 Inputs (3 scores)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05200" y="3810000"/>
            <a:ext cx="304800" cy="0"/>
          </a:xfrm>
          <a:prstGeom prst="straightConnector1">
            <a:avLst/>
          </a:prstGeom>
          <a:noFill/>
          <a:ln w="25400">
            <a:solidFill>
              <a:srgbClr val="00B894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810000" y="3175000"/>
            <a:ext cx="2743200" cy="1270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14" name="Text 12"/>
          <p:cNvSpPr/>
          <p:nvPr/>
        </p:nvSpPr>
        <p:spPr>
          <a:xfrm>
            <a:off x="3810000" y="32385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886200" y="3619500"/>
            <a:ext cx="25908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Determine Formula (weighted sum)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53200" y="3810000"/>
            <a:ext cx="304800" cy="0"/>
          </a:xfrm>
          <a:prstGeom prst="straightConnector1">
            <a:avLst/>
          </a:prstGeom>
          <a:noFill/>
          <a:ln w="25400">
            <a:solidFill>
              <a:srgbClr val="00B894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858000" y="3175000"/>
            <a:ext cx="2743200" cy="1016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32004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34200" y="3581400"/>
            <a:ext cx="259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Plan Output (avg + letter grade)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01200" y="3810000"/>
            <a:ext cx="304800" cy="0"/>
          </a:xfrm>
          <a:prstGeom prst="straightConnector1">
            <a:avLst/>
          </a:prstGeom>
          <a:noFill/>
          <a:ln w="25400">
            <a:solidFill>
              <a:srgbClr val="00B894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9906000" y="3175000"/>
            <a:ext cx="2743200" cy="1016000"/>
          </a:xfrm>
          <a:prstGeom prst="roundRect">
            <a:avLst>
              <a:gd name="adj" fmla="val 6000"/>
            </a:avLst>
          </a:prstGeom>
          <a:solidFill>
            <a:srgbClr val="2D3436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0" y="3200400"/>
            <a:ext cx="2743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982200" y="3581400"/>
            <a:ext cx="2590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Pseudocode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2649200" y="3810000"/>
            <a:ext cx="304800" cy="0"/>
          </a:xfrm>
          <a:prstGeom prst="straightConnector1">
            <a:avLst/>
          </a:prstGeom>
          <a:noFill/>
          <a:ln w="25400">
            <a:solidFill>
              <a:srgbClr val="00B894"/>
            </a:solidFill>
            <a:prstDash val="solid"/>
            <a:headEnd type="none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12954000" y="3175000"/>
            <a:ext cx="2540000" cy="1016000"/>
          </a:xfrm>
          <a:prstGeom prst="roundRect">
            <a:avLst>
              <a:gd name="adj" fmla="val 6000"/>
            </a:avLst>
          </a:prstGeom>
          <a:solidFill>
            <a:srgbClr val="00B894"/>
          </a:solidFill>
          <a:ln/>
        </p:spPr>
      </p:sp>
      <p:sp>
        <p:nvSpPr>
          <p:cNvPr id="26" name="Text 24"/>
          <p:cNvSpPr/>
          <p:nvPr/>
        </p:nvSpPr>
        <p:spPr>
          <a:xfrm>
            <a:off x="12954000" y="3200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030200" y="3581400"/>
            <a:ext cx="23876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in C++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4826000"/>
            <a:ext cx="14732000" cy="889000"/>
          </a:xfrm>
          <a:prstGeom prst="roundRect">
            <a:avLst>
              <a:gd name="adj" fmla="val 4000"/>
            </a:avLst>
          </a:prstGeom>
          <a:solidFill>
            <a:srgbClr val="00B894">
              <a:alpha val="8235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016000" y="4953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Formula: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= (hw * 0.30) + (midterm * 0.30) + (finalExam * 0.40)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000" y="6032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Design Decisions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6515100"/>
            <a:ext cx="4699000" cy="10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84250" y="67691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33" name="Text 31"/>
          <p:cNvSpPr/>
          <p:nvPr/>
        </p:nvSpPr>
        <p:spPr>
          <a:xfrm>
            <a:off x="1371600" y="66421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double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precision in calculations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778500" y="6515100"/>
            <a:ext cx="4699000" cy="10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00750" y="67691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36" name="Text 34"/>
          <p:cNvSpPr/>
          <p:nvPr/>
        </p:nvSpPr>
        <p:spPr>
          <a:xfrm>
            <a:off x="6388100" y="66421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 inputs (0-100 range check)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795000" y="6515100"/>
            <a:ext cx="4699000" cy="10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1017250" y="67691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58842" y="41731"/>
                </a:moveTo>
                <a:cubicBezTo>
                  <a:pt x="267355" y="47923"/>
                  <a:pt x="269260" y="59829"/>
                  <a:pt x="263069" y="68342"/>
                </a:cubicBezTo>
                <a:lnTo>
                  <a:pt x="110669" y="277892"/>
                </a:lnTo>
                <a:cubicBezTo>
                  <a:pt x="107394" y="282416"/>
                  <a:pt x="102334" y="285214"/>
                  <a:pt x="96738" y="285690"/>
                </a:cubicBezTo>
                <a:cubicBezTo>
                  <a:pt x="91142" y="286167"/>
                  <a:pt x="85725" y="284083"/>
                  <a:pt x="81796" y="280154"/>
                </a:cubicBezTo>
                <a:lnTo>
                  <a:pt x="5596" y="203954"/>
                </a:lnTo>
                <a:cubicBezTo>
                  <a:pt x="-1845" y="196513"/>
                  <a:pt x="-1845" y="184428"/>
                  <a:pt x="5596" y="176986"/>
                </a:cubicBezTo>
                <a:cubicBezTo>
                  <a:pt x="13037" y="169545"/>
                  <a:pt x="25122" y="169545"/>
                  <a:pt x="32564" y="176986"/>
                </a:cubicBezTo>
                <a:lnTo>
                  <a:pt x="92988" y="237411"/>
                </a:lnTo>
                <a:lnTo>
                  <a:pt x="232291" y="45899"/>
                </a:lnTo>
                <a:cubicBezTo>
                  <a:pt x="238482" y="37386"/>
                  <a:pt x="250388" y="35481"/>
                  <a:pt x="258901" y="41672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39" name="Text 37"/>
          <p:cNvSpPr/>
          <p:nvPr/>
        </p:nvSpPr>
        <p:spPr>
          <a:xfrm>
            <a:off x="11404600" y="6642100"/>
            <a:ext cx="3937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setprecision(2)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+ 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fixed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clean output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Program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143000"/>
            <a:ext cx="10160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full C++ program demonstrating the grade calculator case study — tying together all concepts from this chapter.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587500"/>
            <a:ext cx="14732000" cy="7112000"/>
          </a:xfrm>
          <a:prstGeom prst="roundRect">
            <a:avLst>
              <a:gd name="adj" fmla="val 2000"/>
            </a:avLst>
          </a:prstGeom>
          <a:solidFill>
            <a:srgbClr val="1E272E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587500"/>
            <a:ext cx="50800" cy="71120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689100"/>
            <a:ext cx="14224000" cy="695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&lt;iostream&gt;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#include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&lt;iomanip&gt;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namespace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std;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() {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double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hw, midterm, finalExam, average;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letterGrade;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homework score: "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cin &gt;&gt; hw;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midterm score: "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cin &gt;&gt; midterm;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"Enter final exam score: "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cin &gt;&gt; finalExam;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= (hw * 0.30) + (midterm * 0.30) + (finalExam * 0.40);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(average &gt;= 90) letterGrade =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'A'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(average &gt;= 80) letterGrade =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'B'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(average &gt;= 70) letterGrade =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'C'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(average &gt;= 60) letterGrade =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'D'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letterGrade =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'F'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fixed &lt;&lt; setprecision(2);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"\nFinal Average: "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average &lt;&lt; endl;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cout &lt;&lt; 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FDCB6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"Letter Grade: "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&lt;&lt; letterGrade &lt;&lt; endl;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74B9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return</a:t>
            </a:r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0;</a:t>
            </a:r>
            <a:endParaRPr lang="en-US" sz="1600" dirty="0"/>
          </a:p>
          <a:p>
            <a:pPr>
              <a:lnSpc>
                <a:spcPct val="142000"/>
              </a:lnSpc>
            </a:pPr>
            <a:r>
              <a:rPr lang="en-US" sz="1200" dirty="0">
                <a:solidFill>
                  <a:srgbClr val="DFE6E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60400"/>
            <a:ext cx="50800" cy="3556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609600"/>
            <a:ext cx="8890000" cy="482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4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Summary — 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469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98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73200" y="14986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 &gt;&gt;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read user input 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prompt first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78500" y="1397000"/>
            <a:ext cx="469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30900" y="1498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89700" y="14986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operator precedence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parentheses are your friend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95000" y="1397000"/>
            <a:ext cx="469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47400" y="1498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06200" y="14986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Know the difference between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implicit conversion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explicit casting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static_cast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238500"/>
            <a:ext cx="469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401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73200" y="33401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Watch for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overflow/underflow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choose appropriate data types for expected ranges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78500" y="3238500"/>
            <a:ext cx="469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30900" y="33401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89700" y="33401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combined assignment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operators (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+=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-=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etc.) for cleaner code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3238500"/>
            <a:ext cx="4699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47400" y="33401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06200" y="3340100"/>
            <a:ext cx="381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Format output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&lt;iomanip&gt;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manipulators for professional display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080000"/>
            <a:ext cx="7112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5181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73200" y="5181600"/>
            <a:ext cx="622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class and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getline()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text data. Remember 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cin.ignore()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mixing input methods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2000" y="5080000"/>
            <a:ext cx="7112000" cy="1524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4400" y="5181600"/>
            <a:ext cx="50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093200" y="5181600"/>
            <a:ext cx="6223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00B89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&lt;cmath&gt;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2D343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mathematical computations. Hand trace programs to verify logic before running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62000" y="6985000"/>
            <a:ext cx="14732000" cy="1397000"/>
          </a:xfrm>
          <a:prstGeom prst="roundRect">
            <a:avLst>
              <a:gd name="adj" fmla="val 4000"/>
            </a:avLst>
          </a:prstGeom>
          <a:solidFill>
            <a:srgbClr val="2D343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17600" y="7366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245666" y="-15002"/>
                </a:moveTo>
                <a:cubicBezTo>
                  <a:pt x="242411" y="-21352"/>
                  <a:pt x="235823" y="-25400"/>
                  <a:pt x="228679" y="-25400"/>
                </a:cubicBezTo>
                <a:cubicBezTo>
                  <a:pt x="221536" y="-25400"/>
                  <a:pt x="214948" y="-21352"/>
                  <a:pt x="211693" y="-15002"/>
                </a:cubicBezTo>
                <a:lnTo>
                  <a:pt x="153273" y="99457"/>
                </a:lnTo>
                <a:lnTo>
                  <a:pt x="26353" y="119618"/>
                </a:lnTo>
                <a:cubicBezTo>
                  <a:pt x="19288" y="120729"/>
                  <a:pt x="13414" y="125730"/>
                  <a:pt x="11192" y="132556"/>
                </a:cubicBezTo>
                <a:cubicBezTo>
                  <a:pt x="8969" y="139383"/>
                  <a:pt x="10795" y="146844"/>
                  <a:pt x="15796" y="151924"/>
                </a:cubicBezTo>
                <a:lnTo>
                  <a:pt x="106601" y="242808"/>
                </a:lnTo>
                <a:lnTo>
                  <a:pt x="86598" y="369729"/>
                </a:lnTo>
                <a:cubicBezTo>
                  <a:pt x="85487" y="376793"/>
                  <a:pt x="88424" y="383937"/>
                  <a:pt x="94218" y="388144"/>
                </a:cubicBezTo>
                <a:cubicBezTo>
                  <a:pt x="100013" y="392351"/>
                  <a:pt x="107633" y="392986"/>
                  <a:pt x="114062" y="389731"/>
                </a:cubicBezTo>
                <a:lnTo>
                  <a:pt x="228679" y="331470"/>
                </a:lnTo>
                <a:lnTo>
                  <a:pt x="343218" y="389731"/>
                </a:lnTo>
                <a:cubicBezTo>
                  <a:pt x="349568" y="392986"/>
                  <a:pt x="357267" y="392351"/>
                  <a:pt x="363061" y="388144"/>
                </a:cubicBezTo>
                <a:cubicBezTo>
                  <a:pt x="368856" y="383937"/>
                  <a:pt x="371793" y="376873"/>
                  <a:pt x="370681" y="369729"/>
                </a:cubicBezTo>
                <a:lnTo>
                  <a:pt x="350599" y="242808"/>
                </a:lnTo>
                <a:lnTo>
                  <a:pt x="441404" y="151924"/>
                </a:lnTo>
                <a:cubicBezTo>
                  <a:pt x="446484" y="146844"/>
                  <a:pt x="448231" y="139383"/>
                  <a:pt x="446008" y="132556"/>
                </a:cubicBezTo>
                <a:cubicBezTo>
                  <a:pt x="443786" y="125730"/>
                  <a:pt x="437991" y="120729"/>
                  <a:pt x="430847" y="119618"/>
                </a:cubicBezTo>
                <a:lnTo>
                  <a:pt x="304006" y="99457"/>
                </a:lnTo>
                <a:lnTo>
                  <a:pt x="245666" y="-15002"/>
                </a:ln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30" name="Text 28"/>
          <p:cNvSpPr/>
          <p:nvPr/>
        </p:nvSpPr>
        <p:spPr>
          <a:xfrm>
            <a:off x="1778000" y="7239000"/>
            <a:ext cx="13335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Programming is about practice. Each concept in this chapter builds on the previous ones. Work through exercises, write small programs, and don't be afraid to make mistakes — that's how you learn!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8763000"/>
            <a:ext cx="14732000" cy="0"/>
          </a:xfrm>
          <a:prstGeom prst="straightConnector1">
            <a:avLst/>
          </a:prstGeom>
          <a:noFill/>
          <a:ln w="12700">
            <a:solidFill>
              <a:srgbClr val="636E72">
                <a:alpha val="30196"/>
              </a:srgbClr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14732000" y="88265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36E7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794000"/>
            <a:ext cx="2540000" cy="508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3" name="Text 1"/>
          <p:cNvSpPr/>
          <p:nvPr/>
        </p:nvSpPr>
        <p:spPr>
          <a:xfrm>
            <a:off x="1778000" y="3175000"/>
            <a:ext cx="1270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8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"The only way to learn a new programming language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28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by writing programs in it."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778000" y="4572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00B89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 Dennis Ritchie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0" y="5207000"/>
            <a:ext cx="2540000" cy="508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5588000"/>
            <a:ext cx="1270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B2BEC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Practice these concepts with exercises and small projects.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785100" y="6477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29578" y="1429"/>
                </a:moveTo>
                <a:cubicBezTo>
                  <a:pt x="409337" y="-4405"/>
                  <a:pt x="388263" y="7382"/>
                  <a:pt x="382429" y="27622"/>
                </a:cubicBezTo>
                <a:lnTo>
                  <a:pt x="230029" y="561023"/>
                </a:lnTo>
                <a:cubicBezTo>
                  <a:pt x="224195" y="581263"/>
                  <a:pt x="235982" y="602337"/>
                  <a:pt x="256223" y="608171"/>
                </a:cubicBezTo>
                <a:cubicBezTo>
                  <a:pt x="276463" y="614005"/>
                  <a:pt x="297537" y="602218"/>
                  <a:pt x="303371" y="581978"/>
                </a:cubicBezTo>
                <a:lnTo>
                  <a:pt x="455771" y="48578"/>
                </a:lnTo>
                <a:cubicBezTo>
                  <a:pt x="461605" y="28337"/>
                  <a:pt x="449818" y="7263"/>
                  <a:pt x="429577" y="1429"/>
                </a:cubicBezTo>
                <a:close/>
                <a:moveTo>
                  <a:pt x="506492" y="163473"/>
                </a:moveTo>
                <a:cubicBezTo>
                  <a:pt x="491609" y="178356"/>
                  <a:pt x="491609" y="202525"/>
                  <a:pt x="506492" y="217408"/>
                </a:cubicBezTo>
                <a:lnTo>
                  <a:pt x="593884" y="304800"/>
                </a:lnTo>
                <a:lnTo>
                  <a:pt x="506492" y="392192"/>
                </a:lnTo>
                <a:cubicBezTo>
                  <a:pt x="491609" y="407075"/>
                  <a:pt x="491609" y="431244"/>
                  <a:pt x="506492" y="446127"/>
                </a:cubicBezTo>
                <a:cubicBezTo>
                  <a:pt x="521375" y="461010"/>
                  <a:pt x="545544" y="461010"/>
                  <a:pt x="560427" y="446127"/>
                </a:cubicBezTo>
                <a:lnTo>
                  <a:pt x="674727" y="331827"/>
                </a:lnTo>
                <a:cubicBezTo>
                  <a:pt x="689610" y="316944"/>
                  <a:pt x="689610" y="292775"/>
                  <a:pt x="674727" y="277892"/>
                </a:cubicBezTo>
                <a:lnTo>
                  <a:pt x="560427" y="163592"/>
                </a:lnTo>
                <a:cubicBezTo>
                  <a:pt x="545544" y="148709"/>
                  <a:pt x="521375" y="148709"/>
                  <a:pt x="506492" y="163592"/>
                </a:cubicBezTo>
                <a:close/>
                <a:moveTo>
                  <a:pt x="179427" y="163473"/>
                </a:moveTo>
                <a:cubicBezTo>
                  <a:pt x="164544" y="148590"/>
                  <a:pt x="140375" y="148590"/>
                  <a:pt x="125492" y="163473"/>
                </a:cubicBezTo>
                <a:lnTo>
                  <a:pt x="11192" y="277773"/>
                </a:lnTo>
                <a:cubicBezTo>
                  <a:pt x="-3691" y="292656"/>
                  <a:pt x="-3691" y="316825"/>
                  <a:pt x="11192" y="331708"/>
                </a:cubicBezTo>
                <a:lnTo>
                  <a:pt x="125492" y="446008"/>
                </a:lnTo>
                <a:cubicBezTo>
                  <a:pt x="140375" y="460891"/>
                  <a:pt x="164544" y="460891"/>
                  <a:pt x="179427" y="446008"/>
                </a:cubicBezTo>
                <a:cubicBezTo>
                  <a:pt x="194310" y="431125"/>
                  <a:pt x="194310" y="406956"/>
                  <a:pt x="179427" y="392073"/>
                </a:cubicBezTo>
                <a:lnTo>
                  <a:pt x="92035" y="304800"/>
                </a:lnTo>
                <a:lnTo>
                  <a:pt x="179308" y="217408"/>
                </a:lnTo>
                <a:cubicBezTo>
                  <a:pt x="194191" y="202525"/>
                  <a:pt x="194191" y="178356"/>
                  <a:pt x="179308" y="163473"/>
                </a:cubicBezTo>
                <a:close/>
              </a:path>
            </a:pathLst>
          </a:custGeom>
          <a:solidFill>
            <a:srgbClr val="00B894"/>
          </a:solidFill>
          <a:ln/>
        </p:spPr>
      </p:sp>
      <p:sp>
        <p:nvSpPr>
          <p:cNvPr id="8" name="Text 6"/>
          <p:cNvSpPr/>
          <p:nvPr/>
        </p:nvSpPr>
        <p:spPr>
          <a:xfrm>
            <a:off x="1778000" y="7366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636E7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Programming Fundamentals — Expression and Interactivity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 - Expression and Interactivity</dc:title>
  <dc:subject>Programming Fundamentals - Expression and Interactivity</dc:subject>
  <dc:creator>Kimi</dc:creator>
  <cp:lastModifiedBy>Kimi</cp:lastModifiedBy>
  <cp:revision>1</cp:revision>
  <dcterms:created xsi:type="dcterms:W3CDTF">2026-05-27T22:57:32Z</dcterms:created>
  <dcterms:modified xsi:type="dcterms:W3CDTF">2026-05-27T22:57:32Z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{"Label":"Programming Fundamentals - Expression and Interactivity","ContentProducer":"001191110108MACG2KBH8F10000","ProduceID":"19e6b9e0-3c92-8d45-8000-0000b5da576e","ReservedCode1":"","ContentPropagator":"001191110108MACG2KBH8F20000","PropagateID":"19e6b9e0-3c92-8d45-8000-0000b5da576e","ReservedCode2":""}</vt:lpwstr>
  </property>
</Properties>
</file>