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Coda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4ebrt44h5lwm/mnt/agents/output/cpp_basics/images/2_Late_night_coding_with_warm_drink.png">    </p:cNvPr>
          <p:cNvPicPr>
            <a:picLocks noChangeAspect="1"/>
          </p:cNvPicPr>
          <p:nvPr/>
        </p:nvPicPr>
        <p:blipFill>
          <a:blip r:embed="rId1"/>
          <a:srcRect l="123" r="12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5E5E">
                  <a:alpha val="60000"/>
                </a:srgbClr>
              </a:gs>
              <a:gs pos="100000">
                <a:srgbClr val="1B5E5E">
                  <a:alpha val="90000"/>
                </a:srgbClr>
              </a:gs>
            </a:gsLst>
            <a:path path="circle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921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Introduction to C++ Programming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048000" y="4699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Basics of Variables, Data Types, and Program Structure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0" y="4445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Shape 4"/>
          <p:cNvSpPr/>
          <p:nvPr/>
        </p:nvSpPr>
        <p:spPr>
          <a:xfrm>
            <a:off x="6223000" y="5969000"/>
            <a:ext cx="3810000" cy="558800"/>
          </a:xfrm>
          <a:prstGeom prst="roundRect">
            <a:avLst>
              <a:gd name="adj" fmla="val 22000"/>
            </a:avLst>
          </a:prstGeom>
          <a:solidFill>
            <a:srgbClr val="E8913A">
              <a:alpha val="20000"/>
            </a:srgbClr>
          </a:solidFill>
          <a:ln w="12700">
            <a:solidFill>
              <a:srgbClr val="E891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3000" y="59690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Beginner Friendly Course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C++?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is a powerful programming language created in the 1980s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is used to build games, apps, operating systems, and more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is like giving step-by-step instructions to a computer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Programs written in C++ run fast and efficiently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 popular tools like browsers and games use C++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is a way to talk to computers. Just like you write a recipe for cooking, you write C++ code to tell the computer what to 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Writing a C++ program is like writing a detailed recipe. The computer is the chef that follows your instructions exactly.</a:t>
            </a:r>
            <a:endParaRPr lang="en-US" sz="1600" dirty="0"/>
          </a:p>
        </p:txBody>
      </p:sp>
      <p:pic>
        <p:nvPicPr>
          <p:cNvPr id="11" name="Image 0" descr="https://kimi-img.moonshot.cn/pub/slides/okc/n4ebrt44h5lwm/mnt/agents/output/cpp_basics/images/7_Free_Young_Coding_Genius_Image_Boy.png">    </p:cNvPr>
          <p:cNvPicPr>
            <a:picLocks noChangeAspect="1"/>
          </p:cNvPicPr>
          <p:nvPr/>
        </p:nvPicPr>
        <p:blipFill>
          <a:blip r:embed="rId1"/>
          <a:srcRect l="17805" r="17805" t="0" b="0"/>
          <a:stretch/>
        </p:blipFill>
        <p:spPr>
          <a:xfrm>
            <a:off x="8636000" y="1524000"/>
            <a:ext cx="6858000" cy="5969000"/>
          </a:xfrm>
          <a:prstGeom prst="roundRect">
            <a:avLst>
              <a:gd name="adj" fmla="val 8000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Why Learn C++?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teaches you how computers think and work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is used in game development (Fortnite, Minecraft engine)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is used in web browsers (Chrome, Firefox)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C++ makes it easier to learn other languages later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programmers are in high demand for jobs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is one of the most important programming languages in the world. Once you learn it, many other languages become much easier to understand.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C++ is like learning to drive a manual car — once you master it, driving an automatic becomes very easy.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1B5E5E">
              <a:alpha val="7059"/>
            </a:srgbClr>
          </a:solidFill>
          <a:ln w="12700">
            <a:solidFill>
              <a:srgbClr val="1B5E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32850" y="1778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400050" y="57150"/>
                </a:moveTo>
                <a:cubicBezTo>
                  <a:pt x="494705" y="57150"/>
                  <a:pt x="571500" y="133945"/>
                  <a:pt x="571500" y="228600"/>
                </a:cubicBezTo>
                <a:cubicBezTo>
                  <a:pt x="571500" y="323255"/>
                  <a:pt x="494705" y="400050"/>
                  <a:pt x="400050" y="400050"/>
                </a:cubicBezTo>
                <a:lnTo>
                  <a:pt x="171450" y="400050"/>
                </a:lnTo>
                <a:cubicBezTo>
                  <a:pt x="76795" y="400050"/>
                  <a:pt x="0" y="323255"/>
                  <a:pt x="0" y="228600"/>
                </a:cubicBezTo>
                <a:cubicBezTo>
                  <a:pt x="0" y="133945"/>
                  <a:pt x="76795" y="57150"/>
                  <a:pt x="171450" y="57150"/>
                </a:cubicBezTo>
                <a:lnTo>
                  <a:pt x="400050" y="57150"/>
                </a:lnTo>
                <a:close/>
                <a:moveTo>
                  <a:pt x="171450" y="157163"/>
                </a:moveTo>
                <a:cubicBezTo>
                  <a:pt x="159574" y="157163"/>
                  <a:pt x="150019" y="166717"/>
                  <a:pt x="150019" y="178594"/>
                </a:cubicBezTo>
                <a:lnTo>
                  <a:pt x="150019" y="207169"/>
                </a:lnTo>
                <a:lnTo>
                  <a:pt x="121444" y="207169"/>
                </a:lnTo>
                <a:cubicBezTo>
                  <a:pt x="109567" y="207169"/>
                  <a:pt x="100013" y="216724"/>
                  <a:pt x="100013" y="228600"/>
                </a:cubicBezTo>
                <a:cubicBezTo>
                  <a:pt x="100013" y="240476"/>
                  <a:pt x="109567" y="250031"/>
                  <a:pt x="121444" y="250031"/>
                </a:cubicBezTo>
                <a:lnTo>
                  <a:pt x="150019" y="250031"/>
                </a:lnTo>
                <a:lnTo>
                  <a:pt x="150019" y="278606"/>
                </a:lnTo>
                <a:cubicBezTo>
                  <a:pt x="150019" y="290483"/>
                  <a:pt x="159574" y="300038"/>
                  <a:pt x="171450" y="300038"/>
                </a:cubicBezTo>
                <a:cubicBezTo>
                  <a:pt x="183326" y="300038"/>
                  <a:pt x="192881" y="290483"/>
                  <a:pt x="192881" y="278606"/>
                </a:cubicBezTo>
                <a:lnTo>
                  <a:pt x="192881" y="250031"/>
                </a:lnTo>
                <a:lnTo>
                  <a:pt x="221456" y="250031"/>
                </a:lnTo>
                <a:cubicBezTo>
                  <a:pt x="233333" y="250031"/>
                  <a:pt x="242888" y="240476"/>
                  <a:pt x="242888" y="228600"/>
                </a:cubicBezTo>
                <a:cubicBezTo>
                  <a:pt x="242888" y="216724"/>
                  <a:pt x="233333" y="207169"/>
                  <a:pt x="221456" y="207169"/>
                </a:cubicBezTo>
                <a:lnTo>
                  <a:pt x="192881" y="207169"/>
                </a:lnTo>
                <a:lnTo>
                  <a:pt x="192881" y="178594"/>
                </a:lnTo>
                <a:cubicBezTo>
                  <a:pt x="192881" y="166717"/>
                  <a:pt x="183326" y="157163"/>
                  <a:pt x="171450" y="157163"/>
                </a:cubicBezTo>
                <a:close/>
                <a:moveTo>
                  <a:pt x="385763" y="242888"/>
                </a:moveTo>
                <a:cubicBezTo>
                  <a:pt x="369992" y="242888"/>
                  <a:pt x="357188" y="255692"/>
                  <a:pt x="357188" y="271463"/>
                </a:cubicBezTo>
                <a:cubicBezTo>
                  <a:pt x="357188" y="287233"/>
                  <a:pt x="369992" y="300038"/>
                  <a:pt x="385763" y="300038"/>
                </a:cubicBezTo>
                <a:cubicBezTo>
                  <a:pt x="401533" y="300038"/>
                  <a:pt x="414338" y="287233"/>
                  <a:pt x="414338" y="271463"/>
                </a:cubicBezTo>
                <a:cubicBezTo>
                  <a:pt x="414338" y="255692"/>
                  <a:pt x="401533" y="242888"/>
                  <a:pt x="385763" y="242888"/>
                </a:cubicBezTo>
                <a:close/>
                <a:moveTo>
                  <a:pt x="442913" y="157163"/>
                </a:moveTo>
                <a:cubicBezTo>
                  <a:pt x="427142" y="157163"/>
                  <a:pt x="414338" y="169967"/>
                  <a:pt x="414338" y="185738"/>
                </a:cubicBezTo>
                <a:cubicBezTo>
                  <a:pt x="414338" y="201508"/>
                  <a:pt x="427142" y="214313"/>
                  <a:pt x="442913" y="214313"/>
                </a:cubicBezTo>
                <a:cubicBezTo>
                  <a:pt x="458683" y="214313"/>
                  <a:pt x="471488" y="201508"/>
                  <a:pt x="471488" y="185738"/>
                </a:cubicBezTo>
                <a:cubicBezTo>
                  <a:pt x="471488" y="169967"/>
                  <a:pt x="458683" y="157163"/>
                  <a:pt x="442913" y="157163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23495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Dev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Fortnite, Minecraft, GTA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0" y="15240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1B5E5E">
              <a:alpha val="7059"/>
            </a:srgbClr>
          </a:solidFill>
          <a:ln w="12700">
            <a:solidFill>
              <a:srgbClr val="1B5E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46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12446000" y="23495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Browsers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Chrome, Firefox, Edge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36000" y="35560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1B5E5E">
              <a:alpha val="7059"/>
            </a:srgbClr>
          </a:solidFill>
          <a:ln w="12700">
            <a:solidFill>
              <a:srgbClr val="1B5E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00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43815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Windows, macOS, Linux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192000" y="35560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1B5E5E">
              <a:alpha val="7059"/>
            </a:srgbClr>
          </a:solidFill>
          <a:ln w="12700">
            <a:solidFill>
              <a:srgbClr val="1B5E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4460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8594" y="42863"/>
                </a:moveTo>
                <a:lnTo>
                  <a:pt x="278606" y="42863"/>
                </a:lnTo>
                <a:cubicBezTo>
                  <a:pt x="282535" y="42863"/>
                  <a:pt x="285750" y="46077"/>
                  <a:pt x="285750" y="50006"/>
                </a:cubicBezTo>
                <a:lnTo>
                  <a:pt x="285750" y="85725"/>
                </a:lnTo>
                <a:lnTo>
                  <a:pt x="171450" y="85725"/>
                </a:lnTo>
                <a:lnTo>
                  <a:pt x="171450" y="50006"/>
                </a:lnTo>
                <a:cubicBezTo>
                  <a:pt x="171450" y="46077"/>
                  <a:pt x="174665" y="42863"/>
                  <a:pt x="178594" y="42863"/>
                </a:cubicBezTo>
                <a:close/>
                <a:moveTo>
                  <a:pt x="128588" y="50006"/>
                </a:moveTo>
                <a:lnTo>
                  <a:pt x="128588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228600"/>
                </a:lnTo>
                <a:lnTo>
                  <a:pt x="457200" y="228600"/>
                </a:ln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28613" y="85725"/>
                </a:lnTo>
                <a:lnTo>
                  <a:pt x="328613" y="50006"/>
                </a:lnTo>
                <a:cubicBezTo>
                  <a:pt x="328613" y="22414"/>
                  <a:pt x="306199" y="0"/>
                  <a:pt x="278606" y="0"/>
                </a:cubicBezTo>
                <a:lnTo>
                  <a:pt x="178594" y="0"/>
                </a:lnTo>
                <a:cubicBezTo>
                  <a:pt x="151001" y="0"/>
                  <a:pt x="128588" y="22414"/>
                  <a:pt x="128588" y="50006"/>
                </a:cubicBezTo>
                <a:close/>
                <a:moveTo>
                  <a:pt x="457200" y="271463"/>
                </a:moveTo>
                <a:lnTo>
                  <a:pt x="285750" y="271463"/>
                </a:lnTo>
                <a:lnTo>
                  <a:pt x="285750" y="285750"/>
                </a:lnTo>
                <a:cubicBezTo>
                  <a:pt x="285750" y="301556"/>
                  <a:pt x="272981" y="314325"/>
                  <a:pt x="257175" y="314325"/>
                </a:cubicBezTo>
                <a:lnTo>
                  <a:pt x="200025" y="314325"/>
                </a:lnTo>
                <a:cubicBezTo>
                  <a:pt x="184219" y="314325"/>
                  <a:pt x="171450" y="301556"/>
                  <a:pt x="171450" y="285750"/>
                </a:cubicBezTo>
                <a:lnTo>
                  <a:pt x="171450" y="271463"/>
                </a:lnTo>
                <a:lnTo>
                  <a:pt x="0" y="271463"/>
                </a:ln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271463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43815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demand, great pay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Your First C++ Program: Hello World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C++ program starts with a basic structure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simplest program prints "Hello World" on the screen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programs need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 function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execution begins here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Statements end with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semicolon (;)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Curly braces { }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group code together into blocks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"Hello World" program is the traditional first program every beginner writes. It teaches you the basic structure all C++ programs follow.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main function is like the front door of a house — every visitor enters through it. The program always starts at main().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 World!"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Parts of a C++ Program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Header files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(#include) bring in pre-written code tools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main() function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entry point of every program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Statements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individual instructions ending with a semicolon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Curly braces { }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 the beginning and end of code blocks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Comments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help humans understand the code (ignored by the computer)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C++ program is like a sandwich with layers. Each part has a specific job, and they all work together to make the program run.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a C++ program like a school day — it has a start time (main), different classes (statements), and an end time (return).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Header (like a toolbox)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Where the program starts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"Learning C++!"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Understanding the Main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C++ program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have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main()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 execution always begins at the first line inside main()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word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"int"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main means the function returns an integer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 0;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tells the computer the program finished successfully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inside main() runs from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 to bottom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line by 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main function is the heart of your program. Without it, the computer does not know where to start. Think of it as the starting line of a race.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main() function is like the "Start" button on a game console. Pressing start is the only way the game knows to begin.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 runs from here first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"Line 1"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"Line 2"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"Line 3"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Program ends here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Program Structure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C++ program flows from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 to bottom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like a waterfall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Include necessary header files at the top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Write the main() function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3: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statements inside main()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4: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End with return 0;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flow of a program helps you write better code. The computer reads your code exactly as you write it, from top to bottom.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flow is like an assembly line — each station (line of code) does one job, and the product moves to the next station.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15240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#include &lt;iostream&gt;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065000" y="2413000"/>
            <a:ext cx="0" cy="381000"/>
          </a:xfrm>
          <a:prstGeom prst="straightConnector1">
            <a:avLst/>
          </a:prstGeom>
          <a:noFill/>
          <a:ln w="25400">
            <a:solidFill>
              <a:srgbClr val="7A9E7E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636000" y="2794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0" y="27940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 main() { ... }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65000" y="3683000"/>
            <a:ext cx="0" cy="381000"/>
          </a:xfrm>
          <a:prstGeom prst="straightConnector1">
            <a:avLst/>
          </a:prstGeom>
          <a:noFill/>
          <a:ln w="25400">
            <a:solidFill>
              <a:srgbClr val="7A9E7E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636000" y="4064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8890000" y="40640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your statements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65000" y="4953000"/>
            <a:ext cx="0" cy="381000"/>
          </a:xfrm>
          <a:prstGeom prst="straightConnector1">
            <a:avLst/>
          </a:prstGeom>
          <a:noFill/>
          <a:ln w="25400">
            <a:solidFill>
              <a:srgbClr val="7A9E7E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636000" y="5334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21" name="Text 19"/>
          <p:cNvSpPr/>
          <p:nvPr/>
        </p:nvSpPr>
        <p:spPr>
          <a:xfrm>
            <a:off x="8890000" y="5334000"/>
            <a:ext cx="635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0; }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6477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500" i="1" dirty="0">
                <a:solidFill>
                  <a:srgbClr val="7A9E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flows from top to bottom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500" i="1" dirty="0">
                <a:solidFill>
                  <a:srgbClr val="7A9E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water flowing down a stream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Statements and Semicolons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statement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single instruction that tells the computer to do something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statement in C++ must end with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semicolon (;)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Forgetting a semicolon causes an error — the program will not run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write multiple statements, each on its own line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Statements are executed one after another, from top to bottom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semicolon in C++ is like a period at the end of a sentence. It tells the computer, "This instruction is complete."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semicolon is like a red traffic light — it says "stop here" before moving to the next instruction.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"First line"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Stmt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"Second line"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Stmt 2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"Third line"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Stmt 3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Final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cout Object — Displaying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used to display text and values on the screen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is pronounced "see-out" — stands for "character output"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&lt;&lt;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sends data to cout for display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display text, numbers, and variable values using cout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endl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"\n"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move to a new line after printing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is your way of talking to the user through the screen. Whatever you send to cout appears on the computer monitor.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cout is like a printer that prints your message on paper. You send it words, and it puts them on the screen.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am learning C++"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100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Using cout with Multiple Items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items using the &lt;&lt; operator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must be inside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 quotes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"Hello"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Numbers can be written directly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quotes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42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endl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adds a new line after the output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mix text and numbers in the same cout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Chaining with &lt;&lt; is like connecting train cars. Each item gets displayed one after another on the same line, unless you add endl.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&lt;&lt; is like building a sentence with word magnets on a fridge. You place one word after another.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"Age: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20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"Price: $"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19.99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"Score: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95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out of 100"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#include Directive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#include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tells the compiler to use pre-written code libraries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iostream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library that provides input and output tools (like cout)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symbol means this is a preprocessor directive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#include &lt;iostream&gt;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cout will not work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Libraries are like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toolboxes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they give you ready-made tools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 of #include as borrowing a toolbox. Instead of building every tool yourself, you include a library that already has the tools you need.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#include is like importing a recipe book before cooking. You do not need to invent recipes — the book already has them ready.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 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"This works because"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of iostream!"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a Variable?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named container that stores data in memory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Variables let you save values and use them later in your program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must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variable before you can use it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variable has three parts: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name, data type, and value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Variable values can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change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while the program runs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variable is like a labeled box. You put something inside it, give it a name, and you can look inside or change what is in it anytime.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variable is like a lunchbox with your name on it. You can put a sandwich inside, eat it later, and put something new in it the next day.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 variable named 'age'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storing 18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18;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age;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Displays: 18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= 19;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Change 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age;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Displays: 19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Declaring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 declare: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dataType variableName;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 declare + assign: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dataType name = value;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give variables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meaningful names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(age, price, score)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Variable names should describe what the data represents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names make your code easier to read and understand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Declaring a variable is like creating a new labeled box. You tell the computer what type of data it will hold and what name to call it by.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Declaring a variable is like registering a new locker at school. You get a number, put your name on it, and decide what to store inside.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Declared, no value yet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studentAge;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studentAge = 20;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Assigned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Declared + initialized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price = 9.99;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Literals — Fixed Values in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literal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fixed value written directly in the code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literal: 42, -7, 100 (whole numbers, no decimals)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Floating-point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literal: 3.14, -0.5, 99.99 (with decimals)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literal: 'A', 'x', '$' (single character in single quotes)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literal: "Hello" (text in double quotes)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Literals are the actual values you type into your code. They never change — what you write is exactly what the computer sees.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literal is like writing a number on a whiteboard with a permanent marker. It stays exactly as you wrote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42 &lt;&lt; endl;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Integer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3.14 &lt;&lt; endl;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Float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Character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String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Assignment Statements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=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assigns a value to a variable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variable goes on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left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value goes on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right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change a variable's value anytime with a new assignment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variable holds only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value at a time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new replaces old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assign the value of one variable to another variable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assignment statement stores a value into a variable. Think of it as putting something into your labeled box. The old item gets replaced.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Assignment is like putting a new book on a bookshelf. The shelf can only hold one book in that spot, so the new book replaces the old 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= 50;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score is 50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 = 75;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now 75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 = 90;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now 90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10;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 = a;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 is 10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b;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Identifiers — Naming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name you give to a variable, function, or item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Rules: Must start with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letter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underscore (_)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contain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letters, digits, and underscores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be a C++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reserved keyword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(like int, return, cout)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is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case-sensitive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Age and age are two different names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Identifiers are simply names. Just like people have names so we can refer to them, variables have names so we can use them in our code.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Naming a variable is like naming a pet. You cannot use numbers at the start or special symbols. "Dog1" works, but "1Dog" does not.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20;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Valid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_score = 95;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Valid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player2 = 5;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Valid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int 2player = 5; INVALID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int my score = 5; INVALID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Good Naming Practices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descriptive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names: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studentAge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better than x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camelCase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multi-word names: myVariableName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Avoid single-letter names except for simple counters (i, j)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Names should explain what the variable stores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Consistent naming makes code easier for others to read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names are like good labels on storage boxes. When you read the label, you immediately know what is inside without opening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naming is like labeling folders in a filing cabinet. "Tax_2024" is much more useful than "Folder_A."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Bad naming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20;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 = 9.99;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Good naming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studentAge = 20;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productPrice = 9.99;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Integer Data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stores whole numbers: positive, negative, or zero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Examples of int values: 42, -10, 0, 1000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Integers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have decimal points — no fractions allowed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typically uses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bytes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memory (~ -2B to +2B)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int for counting items, ages, scores, whole quantities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integer data type is for whole numbers only. Use int for counting items, ages, scores, and whole quantities.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6040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794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72390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integer is like counting apples — whole numbers only, no fractions.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apples = 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 = 30;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temp = -5;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= 95;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"Apples: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apples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char Data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stores a single character: one letter, digit, or symbol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 values are written inside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quotes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'A', '7', '$'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char uses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 byte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memory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store letters, numbers as text, or special symbols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 is different from string — it holds only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character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char type is for storing exactly one character. Think of it as a single key on a keyboard — it can only represent one symbol at a 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char is like a single Scrabble tile. It holds just one letter. If you want a whole word, you need multiple tiles — that is where strings come 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symbol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'$'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digit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'7'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"Grade: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grade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"Symbol: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symbol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C++ string Class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stores a sequence of characters (text)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values are written inside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 quotes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"Hello"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must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#include &lt;string&gt;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use the string type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Strings can hold words, sentences, or even entire paragraphs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strings using the + operator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string is like a row of Scrabble tiles lined up to form a word. It can be as short as one letter or as long as an entire sentence.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string is like a name tag at a conference. It holds text that people read — your name, a message, or any combination of letters.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&lt;string&gt;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msg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"Welcome!"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name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msg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Floating-Point Data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 numbers with decimal points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uses 4 bytes, good for simple decimal values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uses 8 bytes, more precise for complex calculations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Examples: 3.14, -0.5, 99.99, 2.71828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you need accuracy (like money or science)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Floating-point types let you work with decimals. Use float or double for prices, temperatures, and precise measurements.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604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794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7239000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Floating-point is like a digital scale — it measures 2.5 kg precisely, not just whole numbers.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price = 4.99;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pi = 3.14159265;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"Price: $"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price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"Pi: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pi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bool Data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bool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stores one of two values: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false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bool is named after mathematician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George Boole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means "yes" and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false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means "no"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bool uses only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 byte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memory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bool for on/off switches, yes/no questions, and conditions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bool type is the simplest data type. It can only answer yes or no, true or false, on or off. It is the foundation of decision-making in programs.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bool is like a light switch — it has only two states: ON (true) or OFF (false). There is no in-between.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isRaining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isSunny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Shows: 1 for true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"Raining: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isRaining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Shows: 0 for false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"Sunny: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isSunny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Types Comparison Table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318000"/>
        </p:xfrm>
        <a:graphic>
          <a:graphicData uri="http://schemas.openxmlformats.org/drawingml/2006/table">
            <a:tbl>
              <a:tblPr/>
              <a:tblGrid>
                <a:gridCol w="2504440"/>
                <a:gridCol w="4419600"/>
                <a:gridCol w="2504440"/>
                <a:gridCol w="5303520"/>
              </a:tblGrid>
              <a:tr h="68782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It Stores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7260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Whole numbers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42, -10, 0, 1000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7260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character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byte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'A', '7', '$'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60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(multiple chars)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"Hello", "Alice"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7260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Decimal numbers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3.14, -0.5, 9.99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60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or 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byte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true, 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6096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6477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table is your quick reference guide. When you need to store data, look here to pick the right container for the job.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382000" y="6096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55050" y="6286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6"/>
          <p:cNvSpPr/>
          <p:nvPr/>
        </p:nvSpPr>
        <p:spPr>
          <a:xfrm>
            <a:off x="9093200" y="6286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10600" y="6731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Choosing a data type is like picking the right container — a small cup for espresso, a large bottle for water, a box for books.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Determining the Size of a Data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sizeof()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tells you how many bytes a data type uses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sizeof(int)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returns the memory size of an integer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sizeof(variableName)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works on variables too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computers may give slightly different results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Knowing sizes helps you understand how memory is used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sizeof operator is like a measuring tape for your data. It tells you exactly how much space each type takes in the computer's memory.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sizeof is like checking the size of a suitcase before a flight. You want to know how much space your luggage takes.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"int: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bytes"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"char: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bytes"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"double: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bytes"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More About Variable Assignments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Initialization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means giving a variable a value when you create it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x = 10;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initialization — x starts with the value 10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declare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variables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same type in one line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a = 1, b = 2, c = 3;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creates three variables at once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initialize variables before using them to avoid errors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Initializing a variable is like filling a water bottle as soon as you buy it. It is ready to use immediately, and you know exactly what is inside.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Initialization is like setting an alarm clock when you buy it. If you do not set the time, it will not wake you up when you need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= 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Init to 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price = 9.99;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Multiple variables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5,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10,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 = 15;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price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Understanding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defines where in your program a variable can be used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variable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declared inside a function and only works there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 variable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declared outside all functions and works everywhere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variables are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safer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they do not affect other parts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 a beginner, always 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variables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inside main()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 is like a VIP pass. A local variable has a pass that only works in one room (function). A global variable has a pass that works in every room.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is like a name tag at a party. A "Kitchen Crew" tag only works in the kitchen (local). An "All Access" tag works everywhere (global).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globalScore = 100;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Global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localScore = 50;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Local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"Global: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globalScore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"Local: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localScore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Arithmetic Operators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+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adds two values together (5 + 3 = 8)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subtracts one value from another (5 - 3 = 2)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*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multiplies two values (5 * 3 = 15)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divides one value by another (6 / 3 = 2)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%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gives the remainder after division (7 % 3 = 1)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Arithmetic operators are the math tools of programming. They work just like regular math, and you can use them with variables and numbers.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Arithmetic operators are like calculator buttons. Press + to add, - to subtract, * to multiply, / to divide — the computer does the math.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10, b = 3;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"Sum: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a + b &lt;&lt; endl;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13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"Diff: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a - b &lt;&lt; endl;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7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"Product: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a * b &lt;&lt; endl;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"Remainder: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a % b &lt;&lt; endl;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Using Arithmetic in Programs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store the result of an operation in a variable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sum = 5 + 3;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stores 8 in the variable sum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mix variables and numbers: total = price * quantity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Operations follow the same order as math (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PEMDAS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parentheses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control which operation happens first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Arithmetic lets the computer do calculations for you. Use it for shopping totals, game scores, and more.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arithmetic in code is like a cash register — it calculates totals automatically.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price = 25;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qty = 4;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 = price * qty;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"Total: $"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total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avg = (80+90+100)/3;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"Average: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avg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Comments — Making Code Readable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Comments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notes in your code that the computer ignores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Single-line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comment starts with // — everything after is a comment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Multi-line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comment starts with /* and ends with */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comments to explain what your code does and why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comments help other people (and future you) understand the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Comments are like sticky notes on your code. They do not affect how the program runs, but they make it much easier for humans to understand.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6223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7A9E7E">
              <a:alpha val="9412"/>
            </a:srgbClr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0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6858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 are like notes in a recipe cookbook. The recipe still works the same, but your notes help you remember why you made certain choices.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5240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1451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7A9E7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Single-line comment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= 100;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Player's score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This is 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multi-line comment.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spans many lines. */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9E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9E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4ebrt44h5lwm/mnt/agents/output/cpp_basics/images/6_Colorful_programming_code_on_a_laptop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5E5E">
                  <a:alpha val="67000"/>
                </a:srgbClr>
              </a:gs>
              <a:gs pos="100000">
                <a:srgbClr val="1B5E5E">
                  <a:alpha val="90000"/>
                </a:srgbClr>
              </a:gs>
            </a:gsLst>
            <a:path path="circle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540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You Are Ready to Code!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858000" y="37465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064000"/>
            <a:ext cx="1143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now know the building blocks of C++ programming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by writing small programs every day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 the mini-challenges: print your name, calculate a sum, use variables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expert programmer started exactly where you are now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88000" y="6858000"/>
            <a:ext cx="5080000" cy="635000"/>
          </a:xfrm>
          <a:prstGeom prst="roundRect">
            <a:avLst>
              <a:gd name="adj" fmla="val 25000"/>
            </a:avLst>
          </a:prstGeom>
          <a:solidFill>
            <a:srgbClr val="E8913A"/>
          </a:solidFill>
          <a:ln/>
          <a:effectLst>
            <a:outerShdw sx="100000" sy="100000" kx="0" ky="0" algn="bl" rotWithShape="0" blurRad="127000" dist="50800" dir="5400000">
              <a:srgbClr val="000000">
                <a:alpha val="25098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88000" y="685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Keep Coding, Keep Learning!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C++ Programming – Basics of Variables, Data Types, and Program Structure</dc:title>
  <dc:subject>Introduction to C++ Programming – Basics of Variables, Data Types, and Program Structure</dc:subject>
  <dc:creator>Kimi</dc:creator>
  <cp:lastModifiedBy>Kimi</cp:lastModifiedBy>
  <cp:revision>1</cp:revision>
  <dcterms:created xsi:type="dcterms:W3CDTF">2026-05-07T04:15:46Z</dcterms:created>
  <dcterms:modified xsi:type="dcterms:W3CDTF">2026-05-07T04:15:46Z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{"Label":"Introduction to C++ Programming – Basics of Variables, Data Types, and Program Structure","ContentProducer":"001191110108MACG2KBH8F10000","ProduceID":"19e009e3-52e2-8507-8000-0000c2dad187","ReservedCode1":"","ContentPropagator":"001191110108MACG2KBH8F20000","PropagateID":"19e009e3-52e2-8507-8000-0000c2dad187","ReservedCode2":""}</vt:lpwstr>
  </property>
</Properties>
</file>