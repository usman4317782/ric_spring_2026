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  <p:embeddedFont>
      <p:font typeface="Quattrocento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90000" cy="9144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0" y="1524000"/>
            <a:ext cx="5969000" cy="6350000"/>
          </a:xfrm>
          <a:prstGeom prst="roundRect">
            <a:avLst>
              <a:gd name="adj" fmla="val 4000"/>
            </a:avLst>
          </a:prstGeom>
          <a:solidFill>
            <a:srgbClr val="263238"/>
          </a:solidFill>
          <a:ln/>
          <a:effectLst>
            <a:outerShdw sx="100000" sy="100000" kx="0" ky="0" algn="bl" rotWithShape="0" blurRad="254000" dist="101600" dir="5400000">
              <a:srgbClr val="000000">
                <a:alpha val="18824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906000" y="1905000"/>
            <a:ext cx="52070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80CB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Arrays and Vectors in C++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CE93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C5E1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CE93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C5E1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&lt;vector&gt;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F48FB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80CB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an array of 5 integers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F48FB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80CB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 vector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vector&lt;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48FB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grades;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grades.push_back(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80CB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 elements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scores[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CC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 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80CB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85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A5D6A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FUNDAMENTALS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736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2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52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VECTORS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62000" y="53340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Storing and Processing Multiple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 in C++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477000"/>
            <a:ext cx="1016000" cy="508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5D6A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 Data Structures Course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651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2476500"/>
            <a:ext cx="1270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302000"/>
            <a:ext cx="114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3365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3873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Storing multiple values, accessing elements,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bounds checking, and range-based for loops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5588000"/>
            <a:ext cx="114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0" y="5651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Array Techniques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6159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arrays, functions, two-dimensional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multi-dimensional arrays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73660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3302000"/>
            <a:ext cx="114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52000" y="3365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Vectors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3873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STL vector — a dynamic, flexible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to arrays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494000" y="0"/>
            <a:ext cx="762000" cy="9144000"/>
          </a:xfrm>
          <a:prstGeom prst="rect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30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300" kern="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Storing and accessing multiple 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the same 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223000"/>
            <a:ext cx="1016000" cy="508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2795250" y="3556000"/>
            <a:ext cx="1333500" cy="1524000"/>
          </a:xfrm>
          <a:custGeom>
            <a:avLst/>
            <a:gdLst/>
            <a:ahLst/>
            <a:cxnLst/>
            <a:rect l="l" t="t" r="r" b="b"/>
            <a:pathLst>
              <a:path w="1333500" h="1524000">
                <a:moveTo>
                  <a:pt x="1143000" y="285750"/>
                </a:moveTo>
                <a:lnTo>
                  <a:pt x="1143000" y="476250"/>
                </a:lnTo>
                <a:lnTo>
                  <a:pt x="952500" y="476250"/>
                </a:lnTo>
                <a:lnTo>
                  <a:pt x="952500" y="285750"/>
                </a:lnTo>
                <a:lnTo>
                  <a:pt x="1143000" y="285750"/>
                </a:lnTo>
                <a:close/>
                <a:moveTo>
                  <a:pt x="1143000" y="666750"/>
                </a:moveTo>
                <a:lnTo>
                  <a:pt x="1143000" y="857250"/>
                </a:lnTo>
                <a:lnTo>
                  <a:pt x="952500" y="857250"/>
                </a:lnTo>
                <a:lnTo>
                  <a:pt x="952500" y="666750"/>
                </a:lnTo>
                <a:lnTo>
                  <a:pt x="1143000" y="666750"/>
                </a:lnTo>
                <a:close/>
                <a:moveTo>
                  <a:pt x="1143000" y="1047750"/>
                </a:moveTo>
                <a:lnTo>
                  <a:pt x="1143000" y="1238250"/>
                </a:lnTo>
                <a:lnTo>
                  <a:pt x="952500" y="1238250"/>
                </a:lnTo>
                <a:lnTo>
                  <a:pt x="952500" y="1047750"/>
                </a:lnTo>
                <a:lnTo>
                  <a:pt x="1143000" y="1047750"/>
                </a:lnTo>
                <a:close/>
                <a:moveTo>
                  <a:pt x="762000" y="857250"/>
                </a:moveTo>
                <a:lnTo>
                  <a:pt x="571500" y="857250"/>
                </a:lnTo>
                <a:lnTo>
                  <a:pt x="571500" y="666750"/>
                </a:lnTo>
                <a:lnTo>
                  <a:pt x="762000" y="666750"/>
                </a:lnTo>
                <a:lnTo>
                  <a:pt x="762000" y="857250"/>
                </a:lnTo>
                <a:close/>
                <a:moveTo>
                  <a:pt x="571500" y="1047750"/>
                </a:moveTo>
                <a:lnTo>
                  <a:pt x="762000" y="1047750"/>
                </a:lnTo>
                <a:lnTo>
                  <a:pt x="762000" y="1238250"/>
                </a:lnTo>
                <a:lnTo>
                  <a:pt x="571500" y="1238250"/>
                </a:lnTo>
                <a:lnTo>
                  <a:pt x="571500" y="1047750"/>
                </a:lnTo>
                <a:close/>
                <a:moveTo>
                  <a:pt x="381000" y="857250"/>
                </a:moveTo>
                <a:lnTo>
                  <a:pt x="190500" y="857250"/>
                </a:lnTo>
                <a:lnTo>
                  <a:pt x="190500" y="666750"/>
                </a:lnTo>
                <a:lnTo>
                  <a:pt x="381000" y="666750"/>
                </a:lnTo>
                <a:lnTo>
                  <a:pt x="381000" y="857250"/>
                </a:lnTo>
                <a:close/>
                <a:moveTo>
                  <a:pt x="190500" y="1047750"/>
                </a:moveTo>
                <a:lnTo>
                  <a:pt x="381000" y="1047750"/>
                </a:lnTo>
                <a:lnTo>
                  <a:pt x="381000" y="1238250"/>
                </a:lnTo>
                <a:lnTo>
                  <a:pt x="190500" y="1238250"/>
                </a:lnTo>
                <a:lnTo>
                  <a:pt x="190500" y="1047750"/>
                </a:lnTo>
                <a:close/>
                <a:moveTo>
                  <a:pt x="190500" y="476250"/>
                </a:moveTo>
                <a:lnTo>
                  <a:pt x="190500" y="285750"/>
                </a:lnTo>
                <a:lnTo>
                  <a:pt x="381000" y="285750"/>
                </a:lnTo>
                <a:lnTo>
                  <a:pt x="381000" y="476250"/>
                </a:lnTo>
                <a:lnTo>
                  <a:pt x="190500" y="476250"/>
                </a:lnTo>
                <a:close/>
                <a:moveTo>
                  <a:pt x="571500" y="476250"/>
                </a:moveTo>
                <a:lnTo>
                  <a:pt x="571500" y="285750"/>
                </a:lnTo>
                <a:lnTo>
                  <a:pt x="762000" y="285750"/>
                </a:lnTo>
                <a:lnTo>
                  <a:pt x="762000" y="476250"/>
                </a:lnTo>
                <a:lnTo>
                  <a:pt x="571500" y="476250"/>
                </a:lnTo>
                <a:close/>
                <a:moveTo>
                  <a:pt x="190500" y="95250"/>
                </a:moveTo>
                <a:cubicBezTo>
                  <a:pt x="85427" y="95250"/>
                  <a:pt x="0" y="180677"/>
                  <a:pt x="0" y="285750"/>
                </a:cubicBezTo>
                <a:lnTo>
                  <a:pt x="0" y="1238250"/>
                </a:lnTo>
                <a:cubicBezTo>
                  <a:pt x="0" y="1343323"/>
                  <a:pt x="85427" y="1428750"/>
                  <a:pt x="190500" y="1428750"/>
                </a:cubicBezTo>
                <a:lnTo>
                  <a:pt x="1143000" y="1428750"/>
                </a:lnTo>
                <a:cubicBezTo>
                  <a:pt x="1248073" y="1428750"/>
                  <a:pt x="1333500" y="1343323"/>
                  <a:pt x="1333500" y="1238250"/>
                </a:cubicBezTo>
                <a:lnTo>
                  <a:pt x="1333500" y="285750"/>
                </a:lnTo>
                <a:cubicBezTo>
                  <a:pt x="1333500" y="180677"/>
                  <a:pt x="1248073" y="95250"/>
                  <a:pt x="1143000" y="95250"/>
                </a:cubicBezTo>
                <a:lnTo>
                  <a:pt x="190500" y="9525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 Hold Multiple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858000" cy="14224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71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71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array is a collection of elements of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data type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stored in contiguous memory locations.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0480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Characteristics: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 multiple values under a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variable name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Elements are stored in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contiguous memory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 size must be known at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 time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Zero-indexed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first element is at index 0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Declaration: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 arrayName[arraySize];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i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Analogy: Like a row of mailboxes — each has a number (index) and holds one item.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0" y="1524000"/>
            <a:ext cx="7366000" cy="508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0" y="165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0320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array of 5 integers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numbers[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and initialize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String array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"Carol"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Let compiler count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temps[]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98.6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99.1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0" y="6858000"/>
            <a:ext cx="736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LAYOUT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7302500"/>
            <a:ext cx="1397000" cy="762000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8128000" y="730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scores[0]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26600" y="7302500"/>
            <a:ext cx="1397000" cy="762000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9626600" y="730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scores[1]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125200" y="7302500"/>
            <a:ext cx="1397000" cy="762000"/>
          </a:xfrm>
          <a:prstGeom prst="roundRect">
            <a:avLst>
              <a:gd name="adj" fmla="val 4000"/>
            </a:avLst>
          </a:prstGeom>
          <a:solidFill>
            <a:srgbClr val="388E3C"/>
          </a:solidFill>
          <a:ln/>
        </p:spPr>
      </p:sp>
      <p:sp>
        <p:nvSpPr>
          <p:cNvPr id="19" name="Text 17"/>
          <p:cNvSpPr/>
          <p:nvPr/>
        </p:nvSpPr>
        <p:spPr>
          <a:xfrm>
            <a:off x="11125200" y="730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scores[2]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623800" y="7302500"/>
            <a:ext cx="1397000" cy="762000"/>
          </a:xfrm>
          <a:prstGeom prst="roundRect">
            <a:avLst>
              <a:gd name="adj" fmla="val 4000"/>
            </a:avLst>
          </a:prstGeom>
          <a:solidFill>
            <a:srgbClr val="43A047"/>
          </a:solidFill>
          <a:ln/>
        </p:spPr>
      </p:sp>
      <p:sp>
        <p:nvSpPr>
          <p:cNvPr id="21" name="Text 19"/>
          <p:cNvSpPr/>
          <p:nvPr/>
        </p:nvSpPr>
        <p:spPr>
          <a:xfrm>
            <a:off x="12623800" y="730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scores[3]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122400" y="7302500"/>
            <a:ext cx="1397000" cy="762000"/>
          </a:xfrm>
          <a:prstGeom prst="roundRect">
            <a:avLst>
              <a:gd name="adj" fmla="val 4000"/>
            </a:avLst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14122400" y="7302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scores[4]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Array Elements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858000" cy="101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6" name="Shape 4"/>
          <p:cNvSpPr/>
          <p:nvPr/>
        </p:nvSpPr>
        <p:spPr>
          <a:xfrm>
            <a:off x="996950" y="1778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75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336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arrayName[index]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index ranges from 0 to size-1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subscript operator [ ]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an index to access individual elements.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element acts like a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regular variable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be assigned, read, or modified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index must be an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integer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 to size-1)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33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7785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 a value: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numbers[0] = 10;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 a value: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numbers[2];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Copy values: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numbers[3] = numbers[0];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in expressions: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 = numbers[0] + numbers[1];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8000" y="1524000"/>
            <a:ext cx="7366000" cy="6858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65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032000"/>
            <a:ext cx="685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 and display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"First: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&lt;&lt; endl;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85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Modify an element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Sum of first two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 =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+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"Total: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total;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177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Loop through all elements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 : scores) cout &lt;&lt; s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Bounds Checking in C++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13970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6200" cy="1270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184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E6510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Warning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133600"/>
            <a:ext cx="1346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 does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check if an array index is valid. Accessing an out-of-bounds index compiles without error but causes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undefined behavior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1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6195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 declared with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elements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 indices: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0, 1, 2, 3, 4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Accessing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scores[10]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compiles fine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 crash, corrupt memory, or return garbage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compiler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trusts the programmer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0" y="311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0" y="3619500"/>
            <a:ext cx="736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ensure index is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 to size-1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named constants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array size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Validate user input before using as index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Prefer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range-based for loops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possible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Consider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std::vector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safer access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6223000"/>
            <a:ext cx="14732000" cy="203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DANGEROUS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COMPILES but reads random memory!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-1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COMPILES but corrupts memory!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Range-Based for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Introduced in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C++11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range-based for loop provides a cleaner way to iterate over arrays without managing an index.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(dataType element : arrayName) { /* use element */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for Loop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19500"/>
            <a:ext cx="6858000" cy="254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7465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 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i++)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scores[i]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0" y="317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Range-Based for Loop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3619500"/>
            <a:ext cx="7366000" cy="254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37465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: scores)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47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Variations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921500"/>
          <a:ext cx="14732000" cy="1397000"/>
        </p:xfrm>
        <a:graphic>
          <a:graphicData uri="http://schemas.openxmlformats.org/drawingml/2006/table">
            <a:tbl>
              <a:tblPr/>
              <a:tblGrid>
                <a:gridCol w="5156200"/>
                <a:gridCol w="5156200"/>
                <a:gridCol w="441960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Syntax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Read-only access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 (int val : arr)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Displaying elements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Modify elements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 (int &amp;val : arr)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Updating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Array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loops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systematically visit each element and perform computations — sum, average, find max/min, search, and count.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3429000" cy="1397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1035050" y="2692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38100"/>
                </a:moveTo>
                <a:cubicBezTo>
                  <a:pt x="152400" y="27563"/>
                  <a:pt x="143887" y="19050"/>
                  <a:pt x="133350" y="19050"/>
                </a:cubicBezTo>
                <a:cubicBezTo>
                  <a:pt x="122813" y="19050"/>
                  <a:pt x="114300" y="27563"/>
                  <a:pt x="114300" y="38100"/>
                </a:cubicBezTo>
                <a:lnTo>
                  <a:pt x="1143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14300" y="171450"/>
                </a:lnTo>
                <a:lnTo>
                  <a:pt x="114300" y="266700"/>
                </a:lnTo>
                <a:cubicBezTo>
                  <a:pt x="114300" y="277237"/>
                  <a:pt x="122813" y="285750"/>
                  <a:pt x="133350" y="285750"/>
                </a:cubicBezTo>
                <a:cubicBezTo>
                  <a:pt x="143887" y="285750"/>
                  <a:pt x="152400" y="277237"/>
                  <a:pt x="152400" y="266700"/>
                </a:cubicBezTo>
                <a:lnTo>
                  <a:pt x="152400" y="171450"/>
                </a:lnTo>
                <a:lnTo>
                  <a:pt x="247650" y="171450"/>
                </a:lnTo>
                <a:cubicBezTo>
                  <a:pt x="258187" y="171450"/>
                  <a:pt x="266700" y="162937"/>
                  <a:pt x="266700" y="152400"/>
                </a:cubicBezTo>
                <a:cubicBezTo>
                  <a:pt x="266700" y="141863"/>
                  <a:pt x="258187" y="133350"/>
                  <a:pt x="247650" y="133350"/>
                </a:cubicBezTo>
                <a:lnTo>
                  <a:pt x="152400" y="13335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266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 / Total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111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to 0, add each element in a loop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0" y="2540000"/>
            <a:ext cx="3429000" cy="1397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4737100" y="2692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27754" y="10358"/>
                </a:moveTo>
                <a:cubicBezTo>
                  <a:pt x="120313" y="2917"/>
                  <a:pt x="108228" y="2917"/>
                  <a:pt x="100786" y="10358"/>
                </a:cubicBezTo>
                <a:lnTo>
                  <a:pt x="5536" y="105608"/>
                </a:lnTo>
                <a:cubicBezTo>
                  <a:pt x="-1905" y="113050"/>
                  <a:pt x="-1905" y="125135"/>
                  <a:pt x="5536" y="132576"/>
                </a:cubicBezTo>
                <a:cubicBezTo>
                  <a:pt x="12978" y="140018"/>
                  <a:pt x="25063" y="140018"/>
                  <a:pt x="32504" y="132576"/>
                </a:cubicBezTo>
                <a:lnTo>
                  <a:pt x="95250" y="69830"/>
                </a:lnTo>
                <a:lnTo>
                  <a:pt x="95250" y="290513"/>
                </a:lnTo>
                <a:cubicBezTo>
                  <a:pt x="95250" y="301050"/>
                  <a:pt x="103763" y="309563"/>
                  <a:pt x="114300" y="309563"/>
                </a:cubicBezTo>
                <a:cubicBezTo>
                  <a:pt x="124837" y="309563"/>
                  <a:pt x="133350" y="301050"/>
                  <a:pt x="133350" y="290513"/>
                </a:cubicBezTo>
                <a:lnTo>
                  <a:pt x="133350" y="69830"/>
                </a:lnTo>
                <a:lnTo>
                  <a:pt x="196096" y="132576"/>
                </a:lnTo>
                <a:cubicBezTo>
                  <a:pt x="203537" y="140018"/>
                  <a:pt x="215622" y="140018"/>
                  <a:pt x="223064" y="132576"/>
                </a:cubicBezTo>
                <a:cubicBezTo>
                  <a:pt x="230505" y="125135"/>
                  <a:pt x="230505" y="113050"/>
                  <a:pt x="223064" y="105608"/>
                </a:cubicBezTo>
                <a:lnTo>
                  <a:pt x="127814" y="10358"/>
                </a:ln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5105400" y="266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 Maximum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9000" y="3111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first, compare with each subsequent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2540000"/>
            <a:ext cx="3429000" cy="1397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2692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88400" y="266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111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each element until target is found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11000" y="2540000"/>
            <a:ext cx="3683000" cy="1397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03100" y="2692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8100" y="0"/>
                </a:moveTo>
                <a:cubicBezTo>
                  <a:pt x="17085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90500" y="304800"/>
                </a:lnTo>
                <a:cubicBezTo>
                  <a:pt x="211515" y="304800"/>
                  <a:pt x="228600" y="287715"/>
                  <a:pt x="228600" y="266700"/>
                </a:cubicBezTo>
                <a:lnTo>
                  <a:pt x="228600" y="38100"/>
                </a:lnTo>
                <a:cubicBezTo>
                  <a:pt x="228600" y="17085"/>
                  <a:pt x="211515" y="0"/>
                  <a:pt x="190500" y="0"/>
                </a:cubicBezTo>
                <a:lnTo>
                  <a:pt x="38100" y="0"/>
                </a:lnTo>
                <a:close/>
                <a:moveTo>
                  <a:pt x="57150" y="38100"/>
                </a:moveTo>
                <a:lnTo>
                  <a:pt x="171450" y="38100"/>
                </a:lnTo>
                <a:cubicBezTo>
                  <a:pt x="181987" y="38100"/>
                  <a:pt x="190500" y="46613"/>
                  <a:pt x="190500" y="5715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57150" y="95250"/>
                </a:lnTo>
                <a:cubicBezTo>
                  <a:pt x="46613" y="95250"/>
                  <a:pt x="38100" y="86737"/>
                  <a:pt x="38100" y="76200"/>
                </a:cubicBezTo>
                <a:lnTo>
                  <a:pt x="38100" y="57150"/>
                </a:lnTo>
                <a:cubicBezTo>
                  <a:pt x="38100" y="46613"/>
                  <a:pt x="46613" y="38100"/>
                  <a:pt x="57150" y="38100"/>
                </a:cubicBezTo>
                <a:close/>
                <a:moveTo>
                  <a:pt x="66675" y="138113"/>
                </a:moveTo>
                <a:cubicBezTo>
                  <a:pt x="66675" y="145998"/>
                  <a:pt x="60273" y="152400"/>
                  <a:pt x="52388" y="152400"/>
                </a:cubicBezTo>
                <a:cubicBezTo>
                  <a:pt x="44502" y="152400"/>
                  <a:pt x="38100" y="145998"/>
                  <a:pt x="38100" y="138113"/>
                </a:cubicBezTo>
                <a:cubicBezTo>
                  <a:pt x="38100" y="130227"/>
                  <a:pt x="44502" y="123825"/>
                  <a:pt x="52388" y="123825"/>
                </a:cubicBezTo>
                <a:cubicBezTo>
                  <a:pt x="60273" y="123825"/>
                  <a:pt x="66675" y="130227"/>
                  <a:pt x="66675" y="138113"/>
                </a:cubicBezTo>
                <a:close/>
                <a:moveTo>
                  <a:pt x="114300" y="152400"/>
                </a:moveTo>
                <a:cubicBezTo>
                  <a:pt x="106415" y="152400"/>
                  <a:pt x="100013" y="145998"/>
                  <a:pt x="100013" y="138113"/>
                </a:cubicBezTo>
                <a:cubicBezTo>
                  <a:pt x="100013" y="130227"/>
                  <a:pt x="106415" y="123825"/>
                  <a:pt x="114300" y="123825"/>
                </a:cubicBezTo>
                <a:cubicBezTo>
                  <a:pt x="122185" y="123825"/>
                  <a:pt x="128588" y="130227"/>
                  <a:pt x="128588" y="138113"/>
                </a:cubicBezTo>
                <a:cubicBezTo>
                  <a:pt x="128588" y="145998"/>
                  <a:pt x="122185" y="152400"/>
                  <a:pt x="114300" y="152400"/>
                </a:cubicBezTo>
                <a:close/>
                <a:moveTo>
                  <a:pt x="190500" y="138113"/>
                </a:moveTo>
                <a:cubicBezTo>
                  <a:pt x="190500" y="145998"/>
                  <a:pt x="184098" y="152400"/>
                  <a:pt x="176212" y="152400"/>
                </a:cubicBezTo>
                <a:cubicBezTo>
                  <a:pt x="168327" y="152400"/>
                  <a:pt x="161925" y="145998"/>
                  <a:pt x="161925" y="138113"/>
                </a:cubicBezTo>
                <a:cubicBezTo>
                  <a:pt x="161925" y="130227"/>
                  <a:pt x="168327" y="123825"/>
                  <a:pt x="176212" y="123825"/>
                </a:cubicBezTo>
                <a:cubicBezTo>
                  <a:pt x="184098" y="123825"/>
                  <a:pt x="190500" y="130227"/>
                  <a:pt x="190500" y="138113"/>
                </a:cubicBezTo>
                <a:close/>
                <a:moveTo>
                  <a:pt x="52388" y="209550"/>
                </a:moveTo>
                <a:cubicBezTo>
                  <a:pt x="44502" y="209550"/>
                  <a:pt x="38100" y="203148"/>
                  <a:pt x="38100" y="195263"/>
                </a:cubicBezTo>
                <a:cubicBezTo>
                  <a:pt x="38100" y="187377"/>
                  <a:pt x="44502" y="180975"/>
                  <a:pt x="52388" y="180975"/>
                </a:cubicBezTo>
                <a:cubicBezTo>
                  <a:pt x="60273" y="180975"/>
                  <a:pt x="66675" y="187377"/>
                  <a:pt x="66675" y="195263"/>
                </a:cubicBezTo>
                <a:cubicBezTo>
                  <a:pt x="66675" y="203148"/>
                  <a:pt x="60273" y="209550"/>
                  <a:pt x="52388" y="209550"/>
                </a:cubicBezTo>
                <a:close/>
                <a:moveTo>
                  <a:pt x="128588" y="195263"/>
                </a:moveTo>
                <a:cubicBezTo>
                  <a:pt x="128588" y="203148"/>
                  <a:pt x="122185" y="209550"/>
                  <a:pt x="114300" y="209550"/>
                </a:cubicBezTo>
                <a:cubicBezTo>
                  <a:pt x="106415" y="209550"/>
                  <a:pt x="100013" y="203148"/>
                  <a:pt x="100013" y="195263"/>
                </a:cubicBezTo>
                <a:cubicBezTo>
                  <a:pt x="100013" y="187377"/>
                  <a:pt x="106415" y="180975"/>
                  <a:pt x="114300" y="180975"/>
                </a:cubicBezTo>
                <a:cubicBezTo>
                  <a:pt x="122185" y="180975"/>
                  <a:pt x="128588" y="187377"/>
                  <a:pt x="128588" y="195263"/>
                </a:cubicBezTo>
                <a:close/>
                <a:moveTo>
                  <a:pt x="176212" y="209550"/>
                </a:moveTo>
                <a:cubicBezTo>
                  <a:pt x="168327" y="209550"/>
                  <a:pt x="161925" y="203148"/>
                  <a:pt x="161925" y="195263"/>
                </a:cubicBezTo>
                <a:cubicBezTo>
                  <a:pt x="161925" y="187377"/>
                  <a:pt x="168327" y="180975"/>
                  <a:pt x="176212" y="180975"/>
                </a:cubicBezTo>
                <a:cubicBezTo>
                  <a:pt x="184098" y="180975"/>
                  <a:pt x="190500" y="187377"/>
                  <a:pt x="190500" y="195263"/>
                </a:cubicBezTo>
                <a:cubicBezTo>
                  <a:pt x="190500" y="203148"/>
                  <a:pt x="184098" y="209550"/>
                  <a:pt x="176212" y="209550"/>
                </a:cubicBezTo>
                <a:close/>
                <a:moveTo>
                  <a:pt x="38100" y="252413"/>
                </a:moveTo>
                <a:cubicBezTo>
                  <a:pt x="38100" y="244495"/>
                  <a:pt x="44470" y="238125"/>
                  <a:pt x="52388" y="238125"/>
                </a:cubicBezTo>
                <a:lnTo>
                  <a:pt x="119062" y="238125"/>
                </a:lnTo>
                <a:cubicBezTo>
                  <a:pt x="126980" y="238125"/>
                  <a:pt x="133350" y="244495"/>
                  <a:pt x="133350" y="252413"/>
                </a:cubicBezTo>
                <a:cubicBezTo>
                  <a:pt x="133350" y="260330"/>
                  <a:pt x="126980" y="266700"/>
                  <a:pt x="119062" y="266700"/>
                </a:cubicBezTo>
                <a:lnTo>
                  <a:pt x="52388" y="266700"/>
                </a:lnTo>
                <a:cubicBezTo>
                  <a:pt x="44470" y="266700"/>
                  <a:pt x="38100" y="260330"/>
                  <a:pt x="38100" y="252413"/>
                </a:cubicBezTo>
                <a:close/>
                <a:moveTo>
                  <a:pt x="176212" y="238125"/>
                </a:moveTo>
                <a:cubicBezTo>
                  <a:pt x="184130" y="238125"/>
                  <a:pt x="190500" y="244495"/>
                  <a:pt x="190500" y="252413"/>
                </a:cubicBezTo>
                <a:cubicBezTo>
                  <a:pt x="190500" y="260330"/>
                  <a:pt x="184130" y="266700"/>
                  <a:pt x="176212" y="266700"/>
                </a:cubicBezTo>
                <a:cubicBezTo>
                  <a:pt x="168295" y="266700"/>
                  <a:pt x="161925" y="260330"/>
                  <a:pt x="161925" y="252413"/>
                </a:cubicBezTo>
                <a:cubicBezTo>
                  <a:pt x="161925" y="244495"/>
                  <a:pt x="168295" y="238125"/>
                  <a:pt x="176212" y="238125"/>
                </a:cubicBezTo>
                <a:close/>
              </a:path>
            </a:pathLst>
          </a:cu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12471400" y="2667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65000" y="31115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all elements, divide by count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254500"/>
            <a:ext cx="14732000" cy="4064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4381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EXAMPLE: SUM AND AVERAGE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762500"/>
            <a:ext cx="1422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 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scores[SIZE]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sum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 : scores) sum += s;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static_cast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&gt;(sum) / SIZE;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"Sum: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sum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Avg: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avg;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3020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300" kern="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Array Techniques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arrays, functions, and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multi-dimensional arrays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223000"/>
            <a:ext cx="1016000" cy="508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2700000" y="3556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692051" y="15478"/>
                </a:moveTo>
                <a:cubicBezTo>
                  <a:pt x="736402" y="-5060"/>
                  <a:pt x="787598" y="-5060"/>
                  <a:pt x="831949" y="15478"/>
                </a:cubicBezTo>
                <a:lnTo>
                  <a:pt x="1482626" y="316111"/>
                </a:lnTo>
                <a:cubicBezTo>
                  <a:pt x="1507927" y="327720"/>
                  <a:pt x="1524000" y="353020"/>
                  <a:pt x="1524000" y="381000"/>
                </a:cubicBezTo>
                <a:cubicBezTo>
                  <a:pt x="1524000" y="408980"/>
                  <a:pt x="1507927" y="434280"/>
                  <a:pt x="1482626" y="445889"/>
                </a:cubicBezTo>
                <a:lnTo>
                  <a:pt x="831949" y="746522"/>
                </a:lnTo>
                <a:cubicBezTo>
                  <a:pt x="787598" y="767060"/>
                  <a:pt x="736402" y="767060"/>
                  <a:pt x="692051" y="746522"/>
                </a:cubicBezTo>
                <a:lnTo>
                  <a:pt x="41374" y="445889"/>
                </a:lnTo>
                <a:cubicBezTo>
                  <a:pt x="16073" y="433983"/>
                  <a:pt x="0" y="408682"/>
                  <a:pt x="0" y="381000"/>
                </a:cubicBezTo>
                <a:cubicBezTo>
                  <a:pt x="0" y="353318"/>
                  <a:pt x="16073" y="327720"/>
                  <a:pt x="41374" y="316111"/>
                </a:cubicBezTo>
                <a:lnTo>
                  <a:pt x="692051" y="15478"/>
                </a:lnTo>
                <a:close/>
                <a:moveTo>
                  <a:pt x="143173" y="650081"/>
                </a:moveTo>
                <a:lnTo>
                  <a:pt x="632222" y="876002"/>
                </a:lnTo>
                <a:cubicBezTo>
                  <a:pt x="714673" y="914102"/>
                  <a:pt x="809625" y="914102"/>
                  <a:pt x="892076" y="876002"/>
                </a:cubicBezTo>
                <a:lnTo>
                  <a:pt x="1381125" y="650081"/>
                </a:lnTo>
                <a:lnTo>
                  <a:pt x="1482626" y="697111"/>
                </a:lnTo>
                <a:cubicBezTo>
                  <a:pt x="1507927" y="708720"/>
                  <a:pt x="1524000" y="734020"/>
                  <a:pt x="1524000" y="762000"/>
                </a:cubicBezTo>
                <a:cubicBezTo>
                  <a:pt x="1524000" y="789980"/>
                  <a:pt x="1507927" y="815280"/>
                  <a:pt x="1482626" y="826889"/>
                </a:cubicBezTo>
                <a:lnTo>
                  <a:pt x="831949" y="1127522"/>
                </a:lnTo>
                <a:cubicBezTo>
                  <a:pt x="787598" y="1148060"/>
                  <a:pt x="736402" y="1148060"/>
                  <a:pt x="692051" y="1127522"/>
                </a:cubicBezTo>
                <a:lnTo>
                  <a:pt x="41374" y="826889"/>
                </a:lnTo>
                <a:cubicBezTo>
                  <a:pt x="16073" y="814983"/>
                  <a:pt x="0" y="789682"/>
                  <a:pt x="0" y="762000"/>
                </a:cubicBezTo>
                <a:cubicBezTo>
                  <a:pt x="0" y="734318"/>
                  <a:pt x="16073" y="708720"/>
                  <a:pt x="41374" y="697111"/>
                </a:cubicBezTo>
                <a:lnTo>
                  <a:pt x="142875" y="650081"/>
                </a:lnTo>
                <a:close/>
                <a:moveTo>
                  <a:pt x="41374" y="1078111"/>
                </a:moveTo>
                <a:lnTo>
                  <a:pt x="142875" y="1031081"/>
                </a:lnTo>
                <a:lnTo>
                  <a:pt x="631924" y="1257002"/>
                </a:lnTo>
                <a:cubicBezTo>
                  <a:pt x="714375" y="1295102"/>
                  <a:pt x="809327" y="1295102"/>
                  <a:pt x="891778" y="1257002"/>
                </a:cubicBezTo>
                <a:lnTo>
                  <a:pt x="1380827" y="1031081"/>
                </a:lnTo>
                <a:lnTo>
                  <a:pt x="1482328" y="1078111"/>
                </a:lnTo>
                <a:cubicBezTo>
                  <a:pt x="1507629" y="1089720"/>
                  <a:pt x="1523702" y="1115020"/>
                  <a:pt x="1523702" y="1143000"/>
                </a:cubicBezTo>
                <a:cubicBezTo>
                  <a:pt x="1523702" y="1170980"/>
                  <a:pt x="1507629" y="1196280"/>
                  <a:pt x="1482328" y="1207889"/>
                </a:cubicBezTo>
                <a:lnTo>
                  <a:pt x="831652" y="1508522"/>
                </a:lnTo>
                <a:cubicBezTo>
                  <a:pt x="787301" y="1529060"/>
                  <a:pt x="736104" y="1529060"/>
                  <a:pt x="691753" y="1508522"/>
                </a:cubicBezTo>
                <a:lnTo>
                  <a:pt x="41374" y="1207889"/>
                </a:lnTo>
                <a:cubicBezTo>
                  <a:pt x="16073" y="1195983"/>
                  <a:pt x="0" y="1170682"/>
                  <a:pt x="0" y="1143000"/>
                </a:cubicBezTo>
                <a:cubicBezTo>
                  <a:pt x="0" y="1115318"/>
                  <a:pt x="16073" y="1089720"/>
                  <a:pt x="41374" y="1078111"/>
                </a:cubicBez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Parallel Arrays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Parallel arrays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two or more arrays with the same number of elements, where data at the same index is logically related. The index links data across arrays.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34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EXAMPLE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names[]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238500"/>
            <a:ext cx="1778000" cy="635000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23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67000" y="3238500"/>
            <a:ext cx="1778000" cy="635000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2667000" y="323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3238500"/>
            <a:ext cx="1778000" cy="635000"/>
          </a:xfrm>
          <a:prstGeom prst="roundRect">
            <a:avLst>
              <a:gd name="adj" fmla="val 4000"/>
            </a:avLst>
          </a:prstGeom>
          <a:solidFill>
            <a:srgbClr val="388E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23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"Carol"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9370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67000" y="39370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9370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[2]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31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scores[]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826000"/>
            <a:ext cx="1778000" cy="635000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826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67000" y="4826000"/>
            <a:ext cx="1778000" cy="635000"/>
          </a:xfrm>
          <a:prstGeom prst="roundRect">
            <a:avLst>
              <a:gd name="adj" fmla="val 4000"/>
            </a:avLst>
          </a:prstGeom>
          <a:solidFill>
            <a:srgbClr val="EF6C00"/>
          </a:solidFill>
          <a:ln/>
        </p:spPr>
      </p:sp>
      <p:sp>
        <p:nvSpPr>
          <p:cNvPr id="21" name="Text 19"/>
          <p:cNvSpPr/>
          <p:nvPr/>
        </p:nvSpPr>
        <p:spPr>
          <a:xfrm>
            <a:off x="2667000" y="4826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0" y="4826000"/>
            <a:ext cx="1778000" cy="635000"/>
          </a:xfrm>
          <a:prstGeom prst="roundRect">
            <a:avLst>
              <a:gd name="adj" fmla="val 4000"/>
            </a:avLst>
          </a:prstGeom>
          <a:solidFill>
            <a:srgbClr val="F57C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826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12000" y="2794000"/>
            <a:ext cx="838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It Works: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names[i]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scores[i]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 the same student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Index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[0]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Alice with score 92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Index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[1]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Bob with score 85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Index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[2]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Carol with score 78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651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Keeping arrays synchronized is the programmer's responsibility. Vectors of structs are often preferred.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2230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286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667500"/>
            <a:ext cx="1422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"Carol"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{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 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i++)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names[i]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":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scores[i] &lt;&lt; endl;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884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 as Function Arguments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Arrays are passed </a:t>
            </a:r>
            <a:pPr algn="ctr">
              <a:lnSpc>
                <a:spcPct val="14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reference</a:t>
            </a:r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function receives the memory address, so changes affect the original array.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845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 array: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func(int arr[], int size)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 pass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 separately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 cannot determine array size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prevent changes: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display(const int arr[], int size)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0" y="2540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Pass Size?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0" y="2984500"/>
            <a:ext cx="736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Arrays decay to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pointers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passed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sizeof(arr)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gives pointer size, not array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pass size as a second parameter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a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named constant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reliability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715000"/>
            <a:ext cx="14732000" cy="2667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EXAMPLE: DOUBLE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223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Doubles each element (modifies original)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doubleValues(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arr[],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 &lt; size; i++)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arr[i] *=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Two-Dimensional Arrays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571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2D array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array of arrays — like a table with rows and columns. Declaration: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 name[rows][cols];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34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3x4 MATRIX EXAMPLE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794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06600" y="27940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2006600" y="2794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51200" y="27940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388E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51200" y="2794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5800" y="27940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4495800" y="2794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5306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5306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06600" y="35306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EF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2006600" y="35306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51200" y="35306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F57C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51200" y="35306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95800" y="35306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FB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4495800" y="35306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2672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42672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06600" y="42672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2006600" y="42672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51200" y="42672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1E88E5"/>
          </a:solidFill>
          <a:ln/>
        </p:spPr>
      </p:sp>
      <p:sp>
        <p:nvSpPr>
          <p:cNvPr id="28" name="Text 26"/>
          <p:cNvSpPr/>
          <p:nvPr/>
        </p:nvSpPr>
        <p:spPr>
          <a:xfrm>
            <a:off x="3251200" y="42672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95800" y="4267200"/>
            <a:ext cx="1143000" cy="635000"/>
          </a:xfrm>
          <a:prstGeom prst="roundRect">
            <a:avLst>
              <a:gd name="adj" fmla="val 4000"/>
            </a:avLst>
          </a:prstGeom>
          <a:solidFill>
            <a:srgbClr val="42A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495800" y="42672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90500" y="2921000"/>
            <a:ext cx="533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4000" y="3657600"/>
            <a:ext cx="44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0500" y="4394200"/>
            <a:ext cx="533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5016500"/>
            <a:ext cx="4876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C0 C1 C2 C3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Access: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matrix[1][2]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(Row 1, Col 2)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04000" y="1460500"/>
            <a:ext cx="8890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Points: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it as a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or spreadsheet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index =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row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second =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loops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process all elements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initialize: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m[2][3] = {{1,2,3},{4,5,6}};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Applications: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 boards (chess, tic-tac-toe)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Spreadsheets and gradebooks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Image pixel data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Distance matrices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604000" y="6350000"/>
            <a:ext cx="8890000" cy="2159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6477000"/>
            <a:ext cx="279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LOOP EXAMPLE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0" y="6858000"/>
            <a:ext cx="838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matrix[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r 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r++)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 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c++)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matrix[r][c] &lt;&lt;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 with Three or More Dimensions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supports multi-dimensional arrays beyond 2D. Each additional dimension adds another layer of indexing, allowing you to model complex data structures.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14732000" cy="6985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384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dataType arr[x][y][z];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4D: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dataType arr[w][x][y][z];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arr[i][j][k]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65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3D Arrays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Analogy: A Building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index =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Floor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(which level)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Second index =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Row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(which corridor)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Third index =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(which room)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building[2][1][3]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Floor 2, Row 1, Room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0" y="3365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0" y="3810000"/>
            <a:ext cx="736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is still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contiguous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Compiler maps multi-D to linear memory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Higher dimensions 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loops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 mindful of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usage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i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100x100x100 array of ints uses ~4 MB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6604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ARRAY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6985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cube[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 layers, 3 rows, 4 columns = 24 ints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cube[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Set specific element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3 nested loops to process all elements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3020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300" kern="0" dirty="0">
                <a:solidFill>
                  <a:srgbClr val="A5D6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Vectors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flexible, dynamic alternative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8E6C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arrays in C++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223000"/>
            <a:ext cx="1016000" cy="508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2795250" y="3556000"/>
            <a:ext cx="1333500" cy="1524000"/>
          </a:xfrm>
          <a:custGeom>
            <a:avLst/>
            <a:gdLst/>
            <a:ahLst/>
            <a:cxnLst/>
            <a:rect l="l" t="t" r="r" b="b"/>
            <a:pathLst>
              <a:path w="1333500" h="1524000">
                <a:moveTo>
                  <a:pt x="95250" y="95250"/>
                </a:moveTo>
                <a:cubicBezTo>
                  <a:pt x="42565" y="95250"/>
                  <a:pt x="0" y="137815"/>
                  <a:pt x="0" y="190500"/>
                </a:cubicBezTo>
                <a:lnTo>
                  <a:pt x="0" y="476250"/>
                </a:lnTo>
                <a:cubicBezTo>
                  <a:pt x="0" y="528935"/>
                  <a:pt x="42565" y="571500"/>
                  <a:pt x="95250" y="571500"/>
                </a:cubicBezTo>
                <a:cubicBezTo>
                  <a:pt x="147935" y="571500"/>
                  <a:pt x="190500" y="528935"/>
                  <a:pt x="190500" y="476250"/>
                </a:cubicBezTo>
                <a:lnTo>
                  <a:pt x="190500" y="285750"/>
                </a:lnTo>
                <a:lnTo>
                  <a:pt x="381000" y="285750"/>
                </a:lnTo>
                <a:cubicBezTo>
                  <a:pt x="433685" y="285750"/>
                  <a:pt x="476250" y="243185"/>
                  <a:pt x="476250" y="190500"/>
                </a:cubicBezTo>
                <a:cubicBezTo>
                  <a:pt x="476250" y="137815"/>
                  <a:pt x="433685" y="95250"/>
                  <a:pt x="381000" y="95250"/>
                </a:cubicBezTo>
                <a:lnTo>
                  <a:pt x="95250" y="95250"/>
                </a:lnTo>
                <a:close/>
                <a:moveTo>
                  <a:pt x="190500" y="1047750"/>
                </a:moveTo>
                <a:cubicBezTo>
                  <a:pt x="190500" y="995065"/>
                  <a:pt x="147935" y="952500"/>
                  <a:pt x="95250" y="952500"/>
                </a:cubicBezTo>
                <a:cubicBezTo>
                  <a:pt x="42565" y="952500"/>
                  <a:pt x="0" y="995065"/>
                  <a:pt x="0" y="1047750"/>
                </a:cubicBezTo>
                <a:lnTo>
                  <a:pt x="0" y="1333500"/>
                </a:lnTo>
                <a:cubicBezTo>
                  <a:pt x="0" y="1386185"/>
                  <a:pt x="42565" y="1428750"/>
                  <a:pt x="95250" y="1428750"/>
                </a:cubicBezTo>
                <a:lnTo>
                  <a:pt x="381000" y="1428750"/>
                </a:lnTo>
                <a:cubicBezTo>
                  <a:pt x="433685" y="1428750"/>
                  <a:pt x="476250" y="1386185"/>
                  <a:pt x="476250" y="1333500"/>
                </a:cubicBezTo>
                <a:cubicBezTo>
                  <a:pt x="476250" y="1280815"/>
                  <a:pt x="433685" y="1238250"/>
                  <a:pt x="381000" y="1238250"/>
                </a:cubicBezTo>
                <a:lnTo>
                  <a:pt x="190500" y="1238250"/>
                </a:lnTo>
                <a:lnTo>
                  <a:pt x="190500" y="1047750"/>
                </a:lnTo>
                <a:close/>
                <a:moveTo>
                  <a:pt x="952500" y="95250"/>
                </a:moveTo>
                <a:cubicBezTo>
                  <a:pt x="899815" y="95250"/>
                  <a:pt x="857250" y="137815"/>
                  <a:pt x="857250" y="190500"/>
                </a:cubicBezTo>
                <a:cubicBezTo>
                  <a:pt x="857250" y="243185"/>
                  <a:pt x="899815" y="285750"/>
                  <a:pt x="952500" y="285750"/>
                </a:cubicBezTo>
                <a:lnTo>
                  <a:pt x="1143000" y="285750"/>
                </a:lnTo>
                <a:lnTo>
                  <a:pt x="1143000" y="476250"/>
                </a:lnTo>
                <a:cubicBezTo>
                  <a:pt x="1143000" y="528935"/>
                  <a:pt x="1185565" y="571500"/>
                  <a:pt x="1238250" y="571500"/>
                </a:cubicBezTo>
                <a:cubicBezTo>
                  <a:pt x="1290935" y="571500"/>
                  <a:pt x="1333500" y="528935"/>
                  <a:pt x="1333500" y="476250"/>
                </a:cubicBezTo>
                <a:lnTo>
                  <a:pt x="1333500" y="190500"/>
                </a:lnTo>
                <a:cubicBezTo>
                  <a:pt x="1333500" y="137815"/>
                  <a:pt x="1290935" y="95250"/>
                  <a:pt x="1238250" y="95250"/>
                </a:cubicBezTo>
                <a:lnTo>
                  <a:pt x="952500" y="95250"/>
                </a:lnTo>
                <a:close/>
                <a:moveTo>
                  <a:pt x="1333500" y="1047750"/>
                </a:moveTo>
                <a:cubicBezTo>
                  <a:pt x="1333500" y="995065"/>
                  <a:pt x="1290935" y="952500"/>
                  <a:pt x="1238250" y="952500"/>
                </a:cubicBezTo>
                <a:cubicBezTo>
                  <a:pt x="1185565" y="952500"/>
                  <a:pt x="1143000" y="995065"/>
                  <a:pt x="1143000" y="1047750"/>
                </a:cubicBezTo>
                <a:lnTo>
                  <a:pt x="1143000" y="1238250"/>
                </a:lnTo>
                <a:lnTo>
                  <a:pt x="952500" y="1238250"/>
                </a:lnTo>
                <a:cubicBezTo>
                  <a:pt x="899815" y="1238250"/>
                  <a:pt x="857250" y="1280815"/>
                  <a:pt x="857250" y="1333500"/>
                </a:cubicBezTo>
                <a:cubicBezTo>
                  <a:pt x="857250" y="1386185"/>
                  <a:pt x="899815" y="1428750"/>
                  <a:pt x="952500" y="1428750"/>
                </a:cubicBezTo>
                <a:lnTo>
                  <a:pt x="1238250" y="1428750"/>
                </a:lnTo>
                <a:cubicBezTo>
                  <a:pt x="1290935" y="1428750"/>
                  <a:pt x="1333500" y="1386185"/>
                  <a:pt x="1333500" y="1333500"/>
                </a:cubicBezTo>
                <a:lnTo>
                  <a:pt x="1333500" y="104775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the STL vector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8255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container class in the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 Standard Template Library (STL)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Unlike arrays, vectors can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 and shrink dynamically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runtime.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Arrays vs. Vectors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48000"/>
          <a:ext cx="14732000" cy="2540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Array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Fixed at compile 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 — grows/shrinks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Manual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Automatic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Bounds Checking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.at() provides checking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Built-in (no header)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121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#include 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90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Vector Operations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350000"/>
            <a:ext cx="14732000" cy="2476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6477000"/>
            <a:ext cx="1422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&lt;vector&gt;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vector&lt;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scores;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Empty vector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scores.push_back(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Add element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scores.size();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count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scores[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scores.at(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Bounds-checked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86000" y="88646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Study: Processing Student Grades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6985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0" b="1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2121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 5 test scores, calculate the average, and find the highest score.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Steps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2667000" cy="698500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921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Declare array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scores[5]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000" y="311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1" name="Shape 9"/>
          <p:cNvSpPr/>
          <p:nvPr/>
        </p:nvSpPr>
        <p:spPr>
          <a:xfrm>
            <a:off x="3937000" y="2921000"/>
            <a:ext cx="2667000" cy="698500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000" y="2921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Input scores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 + cin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31000" y="311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4" name="Shape 12"/>
          <p:cNvSpPr/>
          <p:nvPr/>
        </p:nvSpPr>
        <p:spPr>
          <a:xfrm>
            <a:off x="7112000" y="2921000"/>
            <a:ext cx="2667000" cy="698500"/>
          </a:xfrm>
          <a:prstGeom prst="roundRect">
            <a:avLst>
              <a:gd name="adj" fmla="val 4000"/>
            </a:avLst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7112000" y="2921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Calculate sum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Accumulator loop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0" y="311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921000"/>
            <a:ext cx="2667000" cy="698500"/>
          </a:xfrm>
          <a:prstGeom prst="roundRect">
            <a:avLst>
              <a:gd name="adj" fmla="val 4000"/>
            </a:avLst>
          </a:prstGeom>
          <a:solidFill>
            <a:srgbClr val="43A0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287000" y="2921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Find maximum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loop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081000" y="311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62000" y="2921000"/>
            <a:ext cx="2032000" cy="698500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13462000" y="2921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Display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results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873500"/>
            <a:ext cx="14732000" cy="4508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400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455A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SOLUTION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4381500"/>
            <a:ext cx="1422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 int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 =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scores[SIZE], sum =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 &lt; SIZE; i++) {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"Score: "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cin &gt;&gt; scores[i]; sum += scores[i];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maxScore = scores[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E65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 : scores)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 &gt; maxScore) maxScore = s;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 = sum /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56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(SIZE);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"Avg: "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avg &lt;&lt;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Max: "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2121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maxScore;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5E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016000" cy="508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 multiple values of the same type in contiguous memory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Declared as: 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 name[size];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elements with 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name[index]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 to size-1)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E651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bounds checking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stay within limits!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range-based for loops for cleaner iteration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1600"/>
              </a:spcBef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Techniques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Parallel arrays link related data across arrays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Arrays pass by reference to functions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Multi-dimensional arrays model tables and grids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0" y="1651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Vectors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STL container with 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sizing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Include 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&lt;vector&gt;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use 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std::vector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push_back()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add, 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size()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count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.at()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provides bounds checking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Safer and more flexible than raw arrays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1600"/>
              </a:spcBef>
            </a:pPr>
            <a:r>
              <a:rPr lang="en-US" sz="1700" b="1" dirty="0">
                <a:solidFill>
                  <a:srgbClr val="1B5E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to Use What?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Arrays: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Fixed size, performance-critical, simple data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Vectors:</a:t>
            </a:r>
            <a:pPr>
              <a:lnSpc>
                <a:spcPct val="180000"/>
              </a:lnSpc>
              <a:spcBef>
                <a:spcPts val="10"/>
              </a:spcBef>
            </a:pPr>
            <a:r>
              <a:rPr lang="en-US" sz="1700" dirty="0">
                <a:solidFill>
                  <a:srgbClr val="2121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Dynamic size, safety, modern C++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778000"/>
            <a:ext cx="12700" cy="4826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6985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7112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"Master arrays and vectors, and you master the foundation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data storage in C++."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and Vectors - Programming Fundamentals</dc:title>
  <dc:subject>Arrays and Vectors - Programming Fundamentals</dc:subject>
  <dc:creator>Kimi</dc:creator>
  <cp:lastModifiedBy>Kimi</cp:lastModifiedBy>
  <cp:revision>1</cp:revision>
  <dcterms:created xsi:type="dcterms:W3CDTF">2026-05-27T22:56:27Z</dcterms:created>
  <dcterms:modified xsi:type="dcterms:W3CDTF">2026-05-27T22:56:27Z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{"Label":"Arrays and Vectors - Programming Fundamentals","ContentProducer":"001191110108MACG2KBH8F10000","ProduceID":"19e6b97a-ebb2-8c5b-8000-00005a0d4425","ReservedCode1":"","ContentPropagator":"001191110108MACG2KBH8F20000","PropagateID":"19e6b97a-ebb2-8c5b-8000-00005a0d4425","ReservedCode2":""}</vt:lpwstr>
  </property>
</Properties>
</file>