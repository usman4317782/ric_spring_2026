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Liter" charset="-122" pitchFamily="34"/>
      <p:regular r:id="rId33"/>
    </p:embeddedFont>
    <p:embeddedFont>
      <p:font typeface="Quattrocento Sans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6000" y="-1016000"/>
            <a:ext cx="5080000" cy="508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65000" y="-254000"/>
            <a:ext cx="3810000" cy="381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5000"/>
            <a:ext cx="16256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-1270000" y="5715000"/>
            <a:ext cx="3175000" cy="3175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8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CHAPTERS 07 — 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3429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FUNDAMENTALS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18000" y="4445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Decisions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3000" y="52705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 Statements | Control Structures | Decision Logic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3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778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8000" y="254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Making Fundamentals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984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operators, if statements, if/else, nested if, if/else if chains, and flags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7366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4572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4572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Operators &amp; Advanced Decisions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5016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operators, numeric range checking, menus, input validation, string comparison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096000"/>
            <a:ext cx="7366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6604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6604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Alternative Decision Structures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704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 operator, switch statement, switch vs if/else if, blocks and variable scope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1524000"/>
            <a:ext cx="6350000" cy="6096000"/>
          </a:xfrm>
          <a:prstGeom prst="roundRect">
            <a:avLst>
              <a:gd name="adj" fmla="val 8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0" y="1905000"/>
            <a:ext cx="558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Decision structures overview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when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(other)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another condition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(value)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1: ...;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2: ...;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...;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5715000"/>
            <a:ext cx="3810000" cy="381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10000"/>
            <a:ext cx="6350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873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Making Fundamentals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operators and conditional statements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Operators — Comparing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825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operators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compare two values and produce a boolean result —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76500"/>
          <a:ext cx="8255000" cy="3937000"/>
        </p:xfrm>
        <a:graphic>
          <a:graphicData uri="http://schemas.openxmlformats.org/drawingml/2006/table">
            <a:tbl>
              <a:tblPr/>
              <a:tblGrid>
                <a:gridCol w="1816100"/>
                <a:gridCol w="2311400"/>
                <a:gridCol w="41275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==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== 5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!=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equal 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!= 3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Greater than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&gt; 5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than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&lt; 7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Greater or equal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&gt;= 8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or equal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&lt;= 6 →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667500"/>
            <a:ext cx="8255000" cy="1016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2000" y="6667500"/>
            <a:ext cx="635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Shape 6"/>
          <p:cNvSpPr/>
          <p:nvPr/>
        </p:nvSpPr>
        <p:spPr>
          <a:xfrm>
            <a:off x="1016000" y="695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7"/>
          <p:cNvSpPr/>
          <p:nvPr/>
        </p:nvSpPr>
        <p:spPr>
          <a:xfrm>
            <a:off x="1460500" y="67945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mistake: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==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compares values,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assigns values. Using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condition is a frequent beginner error!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525000" y="1460500"/>
            <a:ext cx="5969000" cy="6223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42500" y="165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42500" y="209550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Relational expressions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10, b = 20;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result;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(a == b);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(a != b);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(a &gt; b);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(a &lt; b);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(a &gt;= 10);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= (b &lt;= 15);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Used in if: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 &lt; b) { }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Operators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expressions are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 blocks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decision-making. They answer yes/no questions in your code.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expression evaluates to either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 (1)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 (0)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91000"/>
          <a:ext cx="7112000" cy="3302000"/>
        </p:xfrm>
        <a:graphic>
          <a:graphicData uri="http://schemas.openxmlformats.org/drawingml/2006/table">
            <a:tbl>
              <a:tblPr/>
              <a:tblGrid>
                <a:gridCol w="2844800"/>
                <a:gridCol w="2133600"/>
                <a:gridCol w="2133600"/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Result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Why?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==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Values match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!=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Values differ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&gt;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is larger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&lt;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C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is not smaller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&gt;= 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satisfies ≥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82000" y="1498600"/>
            <a:ext cx="7112000" cy="6159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99500" y="2133600"/>
            <a:ext cx="647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Relational operators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85;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passing = 60;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passed =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(score &gt;= passing);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passed =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perfect =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(score == 100);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perfect =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CAUTION: == compares, = assigns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C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(score = 100)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BUG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4100" y="7899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9"/>
          <p:cNvSpPr/>
          <p:nvPr/>
        </p:nvSpPr>
        <p:spPr>
          <a:xfrm>
            <a:off x="1460500" y="78486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Relational operators have lower precedence than arithmetic operators. In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+ b &gt; c * 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arithmetic is done first, then comparison.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if Statement — Making Simple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statement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executes a block of code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when a condition is true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is the foundation of all decision-making in programming.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112000" cy="8255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0600" y="273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190500"/>
                </a:moveTo>
                <a:cubicBezTo>
                  <a:pt x="25598" y="190500"/>
                  <a:pt x="0" y="164902"/>
                  <a:pt x="0" y="133350"/>
                </a:cubicBezTo>
                <a:cubicBezTo>
                  <a:pt x="0" y="108049"/>
                  <a:pt x="16431" y="86558"/>
                  <a:pt x="39231" y="79058"/>
                </a:cubicBezTo>
                <a:cubicBezTo>
                  <a:pt x="38457" y="75069"/>
                  <a:pt x="38100" y="70902"/>
                  <a:pt x="38100" y="66675"/>
                </a:cubicBezTo>
                <a:cubicBezTo>
                  <a:pt x="38100" y="29825"/>
                  <a:pt x="67925" y="0"/>
                  <a:pt x="104775" y="0"/>
                </a:cubicBezTo>
                <a:cubicBezTo>
                  <a:pt x="130433" y="0"/>
                  <a:pt x="152698" y="14466"/>
                  <a:pt x="163830" y="35719"/>
                </a:cubicBezTo>
                <a:cubicBezTo>
                  <a:pt x="172581" y="25539"/>
                  <a:pt x="185559" y="19050"/>
                  <a:pt x="200025" y="19050"/>
                </a:cubicBezTo>
                <a:cubicBezTo>
                  <a:pt x="226338" y="19050"/>
                  <a:pt x="247650" y="40362"/>
                  <a:pt x="247650" y="66675"/>
                </a:cubicBezTo>
                <a:cubicBezTo>
                  <a:pt x="247650" y="69949"/>
                  <a:pt x="247293" y="73104"/>
                  <a:pt x="246698" y="76200"/>
                </a:cubicBezTo>
                <a:cubicBezTo>
                  <a:pt x="246995" y="76200"/>
                  <a:pt x="247352" y="76200"/>
                  <a:pt x="247650" y="76200"/>
                </a:cubicBezTo>
                <a:cubicBezTo>
                  <a:pt x="279202" y="76200"/>
                  <a:pt x="304800" y="101798"/>
                  <a:pt x="304800" y="133350"/>
                </a:cubicBezTo>
                <a:cubicBezTo>
                  <a:pt x="304800" y="164902"/>
                  <a:pt x="279202" y="190500"/>
                  <a:pt x="247650" y="190500"/>
                </a:cubicBezTo>
                <a:lnTo>
                  <a:pt x="57150" y="190500"/>
                </a:lnTo>
                <a:close/>
                <a:moveTo>
                  <a:pt x="58103" y="231100"/>
                </a:moveTo>
                <a:cubicBezTo>
                  <a:pt x="58757" y="229612"/>
                  <a:pt x="60246" y="228600"/>
                  <a:pt x="61912" y="228600"/>
                </a:cubicBezTo>
                <a:cubicBezTo>
                  <a:pt x="63579" y="228600"/>
                  <a:pt x="65068" y="229553"/>
                  <a:pt x="65723" y="231100"/>
                </a:cubicBezTo>
                <a:lnTo>
                  <a:pt x="83701" y="271701"/>
                </a:lnTo>
                <a:cubicBezTo>
                  <a:pt x="85011" y="274737"/>
                  <a:pt x="85725" y="277951"/>
                  <a:pt x="85725" y="281226"/>
                </a:cubicBezTo>
                <a:cubicBezTo>
                  <a:pt x="85725" y="294263"/>
                  <a:pt x="74950" y="304800"/>
                  <a:pt x="61912" y="304800"/>
                </a:cubicBezTo>
                <a:cubicBezTo>
                  <a:pt x="48875" y="304800"/>
                  <a:pt x="38100" y="294263"/>
                  <a:pt x="38100" y="281226"/>
                </a:cubicBezTo>
                <a:cubicBezTo>
                  <a:pt x="38100" y="277951"/>
                  <a:pt x="38814" y="274677"/>
                  <a:pt x="40124" y="271701"/>
                </a:cubicBezTo>
                <a:lnTo>
                  <a:pt x="58103" y="231100"/>
                </a:lnTo>
                <a:close/>
                <a:moveTo>
                  <a:pt x="148590" y="231100"/>
                </a:moveTo>
                <a:cubicBezTo>
                  <a:pt x="149245" y="229612"/>
                  <a:pt x="150733" y="228600"/>
                  <a:pt x="152400" y="228600"/>
                </a:cubicBezTo>
                <a:cubicBezTo>
                  <a:pt x="154067" y="228600"/>
                  <a:pt x="155555" y="229553"/>
                  <a:pt x="156210" y="231100"/>
                </a:cubicBezTo>
                <a:lnTo>
                  <a:pt x="174188" y="271701"/>
                </a:lnTo>
                <a:cubicBezTo>
                  <a:pt x="175498" y="274737"/>
                  <a:pt x="176212" y="277951"/>
                  <a:pt x="176212" y="281226"/>
                </a:cubicBezTo>
                <a:cubicBezTo>
                  <a:pt x="176212" y="294263"/>
                  <a:pt x="165437" y="304800"/>
                  <a:pt x="152400" y="304800"/>
                </a:cubicBezTo>
                <a:cubicBezTo>
                  <a:pt x="139363" y="304800"/>
                  <a:pt x="128587" y="294263"/>
                  <a:pt x="128587" y="281226"/>
                </a:cubicBezTo>
                <a:cubicBezTo>
                  <a:pt x="128587" y="277951"/>
                  <a:pt x="129302" y="274677"/>
                  <a:pt x="130612" y="271701"/>
                </a:cubicBezTo>
                <a:lnTo>
                  <a:pt x="148590" y="231100"/>
                </a:lnTo>
                <a:close/>
                <a:moveTo>
                  <a:pt x="221099" y="271701"/>
                </a:moveTo>
                <a:lnTo>
                  <a:pt x="239078" y="231100"/>
                </a:lnTo>
                <a:cubicBezTo>
                  <a:pt x="239732" y="229612"/>
                  <a:pt x="241221" y="228600"/>
                  <a:pt x="242888" y="228600"/>
                </a:cubicBezTo>
                <a:cubicBezTo>
                  <a:pt x="244554" y="228600"/>
                  <a:pt x="246043" y="229553"/>
                  <a:pt x="246698" y="231100"/>
                </a:cubicBezTo>
                <a:lnTo>
                  <a:pt x="264676" y="271701"/>
                </a:lnTo>
                <a:cubicBezTo>
                  <a:pt x="265986" y="274737"/>
                  <a:pt x="266700" y="277951"/>
                  <a:pt x="266700" y="281226"/>
                </a:cubicBezTo>
                <a:cubicBezTo>
                  <a:pt x="266700" y="294263"/>
                  <a:pt x="255925" y="304800"/>
                  <a:pt x="242887" y="304800"/>
                </a:cubicBezTo>
                <a:cubicBezTo>
                  <a:pt x="229850" y="304800"/>
                  <a:pt x="219075" y="294263"/>
                  <a:pt x="219075" y="281226"/>
                </a:cubicBezTo>
                <a:cubicBezTo>
                  <a:pt x="219075" y="277951"/>
                  <a:pt x="219789" y="274677"/>
                  <a:pt x="221099" y="27170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603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is raining, take an umbrella." The action only happens when the condition is true.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619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000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statements execute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if condition is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84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1000" y="5905500"/>
            <a:ext cx="1524000" cy="5080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1000" y="5905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83000" y="6413500"/>
            <a:ext cx="0" cy="38100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286000" y="6794500"/>
            <a:ext cx="2794000" cy="889000"/>
          </a:xfrm>
          <a:prstGeom prst="diamond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67945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24000" y="7213600"/>
            <a:ext cx="762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arrow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587500" y="6921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429500"/>
            <a:ext cx="1524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7429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Block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0" y="7213600"/>
            <a:ext cx="762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5143500" y="6921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42000" y="7429500"/>
            <a:ext cx="1524000" cy="508000"/>
          </a:xfrm>
          <a:prstGeom prst="rect">
            <a:avLst/>
          </a:prstGeom>
          <a:solidFill>
            <a:srgbClr val="7A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5842000" y="7429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Skip Block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if user can vote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19;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&gt;= 18)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can vote!"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if number is positive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 = 42;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 &gt; 0)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"Positive"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Condition in (), block in {}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7747000"/>
            <a:ext cx="7112000" cy="635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0600" y="789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9042400" y="78486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condition is evaluated first. Only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triggers execution.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Expanding the if Statement — Multiple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if statement can execute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statements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grouping them in braces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 }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group is called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block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compound statement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statement1;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statement2;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statement3;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207000"/>
            <a:ext cx="7112000" cy="12065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5207000"/>
            <a:ext cx="63500" cy="1206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Shape 8"/>
          <p:cNvSpPr/>
          <p:nvPr/>
        </p:nvSpPr>
        <p:spPr>
          <a:xfrm>
            <a:off x="996950" y="5397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422400" y="533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689600"/>
            <a:ext cx="6667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braces even for single statements — prevents bugs when adding more code later.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604000"/>
            <a:ext cx="7112000" cy="863600"/>
          </a:xfrm>
          <a:prstGeom prst="roundRect">
            <a:avLst>
              <a:gd name="adj" fmla="val 5000"/>
            </a:avLst>
          </a:prstGeom>
          <a:solidFill>
            <a:srgbClr val="C44444">
              <a:alpha val="6275"/>
            </a:srgbClr>
          </a:solidFill>
          <a:ln w="12700">
            <a:solidFill>
              <a:srgbClr val="C44444">
                <a:alpha val="18824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6604000"/>
            <a:ext cx="63500" cy="86360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673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C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6629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C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BUG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93420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braces, only the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statement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if is controlled.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CORRECT: With braces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60)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passed!"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"Great job!"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DANGEROUS: No braces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60)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passed!"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"Great job!"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^ This ALWAYS prints!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Rule: Always use { }.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if/else Statement — Two-Way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if/else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provides two paths: one for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one for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Exactly one path always executes.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50" y="2692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114300"/>
                </a:lnTo>
                <a:cubicBezTo>
                  <a:pt x="0" y="119539"/>
                  <a:pt x="4405" y="123646"/>
                  <a:pt x="9346" y="125373"/>
                </a:cubicBezTo>
                <a:cubicBezTo>
                  <a:pt x="20538" y="129242"/>
                  <a:pt x="28575" y="139898"/>
                  <a:pt x="28575" y="152400"/>
                </a:cubicBezTo>
                <a:cubicBezTo>
                  <a:pt x="28575" y="164902"/>
                  <a:pt x="20538" y="175558"/>
                  <a:pt x="9346" y="179427"/>
                </a:cubicBezTo>
                <a:cubicBezTo>
                  <a:pt x="4405" y="181154"/>
                  <a:pt x="0" y="185261"/>
                  <a:pt x="0" y="1905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304800" y="266700"/>
                </a:lnTo>
                <a:cubicBezTo>
                  <a:pt x="325815" y="266700"/>
                  <a:pt x="342900" y="249615"/>
                  <a:pt x="342900" y="228600"/>
                </a:cubicBezTo>
                <a:lnTo>
                  <a:pt x="342900" y="190500"/>
                </a:lnTo>
                <a:cubicBezTo>
                  <a:pt x="342900" y="185261"/>
                  <a:pt x="338495" y="181154"/>
                  <a:pt x="333554" y="179427"/>
                </a:cubicBezTo>
                <a:cubicBezTo>
                  <a:pt x="322362" y="175558"/>
                  <a:pt x="314325" y="164902"/>
                  <a:pt x="314325" y="152400"/>
                </a:cubicBezTo>
                <a:cubicBezTo>
                  <a:pt x="314325" y="139898"/>
                  <a:pt x="322362" y="129242"/>
                  <a:pt x="333554" y="125373"/>
                </a:cubicBezTo>
                <a:cubicBezTo>
                  <a:pt x="338495" y="123646"/>
                  <a:pt x="342900" y="119539"/>
                  <a:pt x="342900" y="114300"/>
                </a:cubicBezTo>
                <a:lnTo>
                  <a:pt x="342900" y="76200"/>
                </a:lnTo>
                <a:cubicBezTo>
                  <a:pt x="342900" y="55185"/>
                  <a:pt x="325815" y="38100"/>
                  <a:pt x="304800" y="38100"/>
                </a:cubicBezTo>
                <a:lnTo>
                  <a:pt x="38100" y="38100"/>
                </a:lnTo>
                <a:close/>
                <a:moveTo>
                  <a:pt x="247650" y="200025"/>
                </a:moveTo>
                <a:lnTo>
                  <a:pt x="247650" y="104775"/>
                </a:lnTo>
                <a:lnTo>
                  <a:pt x="95250" y="104775"/>
                </a:lnTo>
                <a:lnTo>
                  <a:pt x="95250" y="200025"/>
                </a:lnTo>
                <a:lnTo>
                  <a:pt x="247650" y="200025"/>
                </a:lnTo>
                <a:close/>
                <a:moveTo>
                  <a:pt x="66675" y="95250"/>
                </a:moveTo>
                <a:cubicBezTo>
                  <a:pt x="66675" y="84713"/>
                  <a:pt x="75188" y="76200"/>
                  <a:pt x="85725" y="76200"/>
                </a:cubicBezTo>
                <a:lnTo>
                  <a:pt x="257175" y="76200"/>
                </a:lnTo>
                <a:cubicBezTo>
                  <a:pt x="267712" y="76200"/>
                  <a:pt x="276225" y="84713"/>
                  <a:pt x="276225" y="95250"/>
                </a:cubicBezTo>
                <a:lnTo>
                  <a:pt x="276225" y="209550"/>
                </a:lnTo>
                <a:cubicBezTo>
                  <a:pt x="276225" y="220087"/>
                  <a:pt x="267712" y="228600"/>
                  <a:pt x="257175" y="228600"/>
                </a:cubicBezTo>
                <a:lnTo>
                  <a:pt x="85725" y="228600"/>
                </a:lnTo>
                <a:cubicBezTo>
                  <a:pt x="75188" y="228600"/>
                  <a:pt x="66675" y="220087"/>
                  <a:pt x="66675" y="209550"/>
                </a:cubicBezTo>
                <a:lnTo>
                  <a:pt x="66675" y="952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603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you have a ticket, enter; otherwise, go to the box office."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56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 path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false path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94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0" y="6223000"/>
            <a:ext cx="2286000" cy="889000"/>
          </a:xfrm>
          <a:prstGeom prst="diamond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2540000" y="6223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78000" y="6642100"/>
            <a:ext cx="762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arrow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841500" y="6350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858000"/>
            <a:ext cx="1524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858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block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26000" y="6642100"/>
            <a:ext cx="762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4889500" y="6350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8000" y="6858000"/>
            <a:ext cx="1524000" cy="508000"/>
          </a:xfrm>
          <a:prstGeom prst="rect">
            <a:avLst/>
          </a:prstGeom>
          <a:solidFill>
            <a:srgbClr val="7A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5588000" y="6858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block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if even or odd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number = 7;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(number % 2 == 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"Even"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"Odd"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Validate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 cin &gt;&gt;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&gt;= 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if Statements — Decisions Within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if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if statement inside another if. It allows checking conditions in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hierarchical manner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(condition1)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(condition2)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both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953000"/>
            <a:ext cx="7112000" cy="12065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4953000"/>
            <a:ext cx="63500" cy="1206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100" y="5105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4224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435600"/>
            <a:ext cx="6667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nesting (3+ levels) makes code harder to read. Consider using logical operators instead.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2865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C44444">
              <a:alpha val="6275"/>
            </a:srgbClr>
          </a:solidFill>
          <a:ln w="12700">
            <a:solidFill>
              <a:srgbClr val="C44444">
                <a:alpha val="18824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6286500"/>
            <a:ext cx="63500" cy="76200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C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6413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nested level should be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indented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readability.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login credentials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"admin"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"1234"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(user ==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"admin"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(pass ==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"1234"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"Granted"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"Wrong pass"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"Unknown"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Can use &amp;&amp; instead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if/else if Statement — Multiple Choices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if/else if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handles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mutually exclusive conditions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Only the first true block executes.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(cond1)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(cond2)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(cond3)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27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6515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Letter grade assignment (A, B, C, D, F)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Menu selection handling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 group classification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level 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Determine age group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&lt; 13)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"Child"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&lt; 20)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"Teen"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&lt; 65)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"Adult"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"Senior"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Adult (first match)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if/else if — Complete Example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Scenario: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Build a grade classification system that assigns letter grades based on a numeric score.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7366000" cy="5334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9500" y="228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GRADE SYSTEM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692400"/>
            <a:ext cx="673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85;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90)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80)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'B'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70)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'C'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60)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'D'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'F'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grade;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Grade: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9000" y="2133600"/>
            <a:ext cx="6985000" cy="53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6500" y="228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26500" y="2794000"/>
            <a:ext cx="6350000" cy="4572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17000" y="2794000"/>
            <a:ext cx="596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&gt;= 90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85 &gt;= 90?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26500" y="3429000"/>
            <a:ext cx="6350000" cy="4572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7000" y="3429000"/>
            <a:ext cx="596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&gt;= 80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85 &gt;= 80?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26500" y="4064000"/>
            <a:ext cx="6350000" cy="457200"/>
          </a:xfrm>
          <a:prstGeom prst="roundRect">
            <a:avLst>
              <a:gd name="adj" fmla="val 5000"/>
            </a:avLst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4064000"/>
            <a:ext cx="596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Execute: grade = 'B'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Skip remaining checks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38000" y="5080000"/>
            <a:ext cx="0" cy="38100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826500" y="5080000"/>
            <a:ext cx="6350000" cy="508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9017000" y="50800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Output: Grade: 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6500" y="5778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order of conditions matters! Always check most specific conditions first.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— Decision Making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Flags — Boolean Variables as Signals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boolean variable used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 whether a condition has occurred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Flags track state across operations.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650" y="2692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603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flag on a mailbox signals "mail to be picked up" — a simple true/false signal.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5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isFound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Was the target located?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hasError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Did an error occur?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isValid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Is the input acceptable?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isComplete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Is the process finished?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651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0325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isFound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... search ...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(target located)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isFound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Search for value 42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nums[] = {3, 7, 42, 15};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isFound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 : nums)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 == 42) isFound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(isFound)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"Found!"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"Not found."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5715000"/>
            <a:ext cx="3810000" cy="381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10000"/>
            <a:ext cx="6350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873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Operators &amp; Advanced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conditions, building menus, and validating input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Operators — Combining Conditions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Logical operators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multiple relational expressions into a single boolean result.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7112000" cy="2540000"/>
        </p:xfrm>
        <a:graphic>
          <a:graphicData uri="http://schemas.openxmlformats.org/drawingml/2006/table">
            <a:tbl>
              <a:tblPr/>
              <a:tblGrid>
                <a:gridCol w="1280160"/>
                <a:gridCol w="1564640"/>
                <a:gridCol w="42672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&amp;&amp;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only if BOTH conditions are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||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if AT LEAST ONE condition is 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!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Reverses the truth value (true ↔ false)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778500"/>
            <a:ext cx="2222500" cy="1714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6550" y="590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6286500"/>
            <a:ext cx="184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&amp;&amp;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9000" y="66294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need a ticket AND an ID to enter."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0" y="5778500"/>
            <a:ext cx="2222500" cy="1714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83050" y="5905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3390900" y="6286500"/>
            <a:ext cx="184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||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27400" y="66294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"Pay with cash OR credit card."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38800" y="5778500"/>
            <a:ext cx="2222500" cy="1714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02400" y="590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5"/>
          <p:cNvSpPr/>
          <p:nvPr/>
        </p:nvSpPr>
        <p:spPr>
          <a:xfrm>
            <a:off x="5829300" y="6286500"/>
            <a:ext cx="184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!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65800" y="66294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NOT raining, go outside."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AND: Both must be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&gt;= 18 &amp;&amp; hasID)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"Entry allowed"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OR: At least one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(cash &gt; 0 || cardOK)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"Can purchase"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NOT: Reverse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(!isRaining)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"Go outside!"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(isOpen &amp;&amp; !isFull) { }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Truth Tables &amp; Operator Precedence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&amp;&amp;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4572000" cy="1778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828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&amp;&amp;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C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C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42000" y="1498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||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2000" y="1879600"/>
          <a:ext cx="4572000" cy="1778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828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||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C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922000" y="1498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!</a:t>
            </a:r>
            <a:endParaRPr lang="en-US" sz="16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22000" y="1879600"/>
          <a:ext cx="4572000" cy="12700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!A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C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62000" y="393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PRECEDENCE (HIGH TO LOW)</a:t>
            </a:r>
            <a:endParaRPr lang="en-US" sz="16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81500"/>
          <a:ext cx="7620000" cy="1524000"/>
        </p:xfrm>
        <a:graphic>
          <a:graphicData uri="http://schemas.openxmlformats.org/drawingml/2006/table">
            <a:tbl>
              <a:tblPr/>
              <a:tblGrid>
                <a:gridCol w="1143000"/>
                <a:gridCol w="2667000"/>
                <a:gridCol w="38100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!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(highest precedence)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&amp;&amp;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||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 (lowest precedence)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762000" y="622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SHORT-CIRCUIT EVALUATION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62000" y="6604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&amp;&amp; B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If A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evaluated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|| B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If A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evaluated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8890000" y="3937000"/>
            <a:ext cx="6604000" cy="3683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207500" y="412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USE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207500" y="4572000"/>
            <a:ext cx="596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parentheses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((a &gt; 0) &amp;&amp; (b &gt; 0))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Short-circuit safety: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(ptr !=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nullptr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&amp;&amp; *ptr &gt; 0) { }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9" name="Text 13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Checking Numeric Ranges with Logical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&amp;&amp;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(AND) to check if a value falls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range. 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||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(OR) to check if it falls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outside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WAY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7112000" cy="15875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2984500"/>
            <a:ext cx="63500" cy="1587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496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if score is valid (0-100)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&gt;= 0 &amp;&amp; score &lt;= 100)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 score"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673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C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826000"/>
            <a:ext cx="7112000" cy="1587500"/>
          </a:xfrm>
          <a:prstGeom prst="roundRect">
            <a:avLst>
              <a:gd name="adj" fmla="val 5000"/>
            </a:avLst>
          </a:prstGeom>
          <a:solidFill>
            <a:srgbClr val="C44444">
              <a:alpha val="6275"/>
            </a:srgbClr>
          </a:solidFill>
          <a:ln w="12700">
            <a:solidFill>
              <a:srgbClr val="C44444">
                <a:alpha val="18824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4826000"/>
            <a:ext cx="63500" cy="158750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9911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Looks right but is WRONG: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C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(0 &lt;= score &lt;= 100)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BUG!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Always true — wrong!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60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CHECKING OUTSIDE RANGE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959600"/>
            <a:ext cx="711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&lt; 0 || score &gt; 100)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invalid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EXAMPLES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Temperature check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(temp &gt;= 68 &amp;&amp; temp &lt;= 72)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"Comfortable"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Age validation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(age &gt;= 18 &amp;&amp; age &lt;= 120)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 age"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Exclusive range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(x &gt; 0 &amp;&amp; x &lt; 100)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Always use &amp;&amp; for ranges!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Menus — Building Interactive Programs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present users with numbered options and execute code based on their choice using if/else if structures.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Display menu options to the user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 the user's choice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if/else if to handle each option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 an option to quit/exit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8895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4889500"/>
            <a:ext cx="63500" cy="889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422400" y="5016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validate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the user's choice is a valid menu option before processing.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"1. Add 2. Delete"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"3. View 4. Exit"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"Choice: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choice; cin &gt;&gt; choice;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== 1) addItem();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== 2) deleteItem();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== 3) viewItems();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== 4)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"Goodbye!"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Validating User Input — Software Engineering Focus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VALIDATE INPUT?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program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crashes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unexpected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calculations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results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against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vulnerabilities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65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TECHNIQUES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746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if input is within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range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cin.fail()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errors with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cin.clear()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Discard bad input with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cin.ignore()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7112000" cy="9525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5461000"/>
            <a:ext cx="63500" cy="952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0154" y="70604"/>
                </a:moveTo>
                <a:cubicBezTo>
                  <a:pt x="287595" y="63163"/>
                  <a:pt x="287595" y="51078"/>
                  <a:pt x="280154" y="43636"/>
                </a:cubicBezTo>
                <a:lnTo>
                  <a:pt x="242054" y="5536"/>
                </a:lnTo>
                <a:cubicBezTo>
                  <a:pt x="236577" y="60"/>
                  <a:pt x="228421" y="-1548"/>
                  <a:pt x="221278" y="1429"/>
                </a:cubicBezTo>
                <a:cubicBezTo>
                  <a:pt x="214134" y="4405"/>
                  <a:pt x="209550" y="11370"/>
                  <a:pt x="209550" y="19050"/>
                </a:cubicBezTo>
                <a:lnTo>
                  <a:pt x="209550" y="38100"/>
                </a:lnTo>
                <a:lnTo>
                  <a:pt x="114300" y="38100"/>
                </a:lnTo>
                <a:cubicBezTo>
                  <a:pt x="51197" y="38100"/>
                  <a:pt x="0" y="89297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cubicBezTo>
                  <a:pt x="29587" y="171450"/>
                  <a:pt x="38100" y="162937"/>
                  <a:pt x="38100" y="152400"/>
                </a:cubicBezTo>
                <a:cubicBezTo>
                  <a:pt x="38100" y="110311"/>
                  <a:pt x="72211" y="76200"/>
                  <a:pt x="114300" y="76200"/>
                </a:cubicBezTo>
                <a:lnTo>
                  <a:pt x="209550" y="76200"/>
                </a:lnTo>
                <a:lnTo>
                  <a:pt x="209550" y="95250"/>
                </a:lnTo>
                <a:cubicBezTo>
                  <a:pt x="209550" y="102930"/>
                  <a:pt x="214193" y="109895"/>
                  <a:pt x="221337" y="112871"/>
                </a:cubicBezTo>
                <a:cubicBezTo>
                  <a:pt x="228481" y="115848"/>
                  <a:pt x="236637" y="114181"/>
                  <a:pt x="242114" y="108764"/>
                </a:cubicBezTo>
                <a:lnTo>
                  <a:pt x="280214" y="70664"/>
                </a:lnTo>
                <a:close/>
                <a:moveTo>
                  <a:pt x="24646" y="234196"/>
                </a:moveTo>
                <a:cubicBezTo>
                  <a:pt x="17205" y="241637"/>
                  <a:pt x="17205" y="253722"/>
                  <a:pt x="24646" y="261164"/>
                </a:cubicBezTo>
                <a:lnTo>
                  <a:pt x="62746" y="299264"/>
                </a:lnTo>
                <a:cubicBezTo>
                  <a:pt x="68223" y="304740"/>
                  <a:pt x="76379" y="306348"/>
                  <a:pt x="83522" y="303371"/>
                </a:cubicBezTo>
                <a:cubicBezTo>
                  <a:pt x="90666" y="300395"/>
                  <a:pt x="95250" y="293430"/>
                  <a:pt x="95250" y="285750"/>
                </a:cubicBezTo>
                <a:lnTo>
                  <a:pt x="95250" y="266700"/>
                </a:lnTo>
                <a:lnTo>
                  <a:pt x="190500" y="266700"/>
                </a:lnTo>
                <a:cubicBezTo>
                  <a:pt x="253603" y="266700"/>
                  <a:pt x="304800" y="215503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cubicBezTo>
                  <a:pt x="275213" y="133350"/>
                  <a:pt x="266700" y="141863"/>
                  <a:pt x="266700" y="152400"/>
                </a:cubicBezTo>
                <a:cubicBezTo>
                  <a:pt x="266700" y="194489"/>
                  <a:pt x="232589" y="228600"/>
                  <a:pt x="190500" y="228600"/>
                </a:cubicBezTo>
                <a:lnTo>
                  <a:pt x="95250" y="228600"/>
                </a:lnTo>
                <a:lnTo>
                  <a:pt x="95250" y="209550"/>
                </a:lnTo>
                <a:cubicBezTo>
                  <a:pt x="95250" y="201870"/>
                  <a:pt x="90607" y="194905"/>
                  <a:pt x="83463" y="191929"/>
                </a:cubicBezTo>
                <a:cubicBezTo>
                  <a:pt x="76319" y="188952"/>
                  <a:pt x="68163" y="190619"/>
                  <a:pt x="62686" y="196036"/>
                </a:cubicBezTo>
                <a:lnTo>
                  <a:pt x="24586" y="23413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558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a loop to repeatedly prompt until valid input is received — "defensive programming."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498600"/>
            <a:ext cx="7112000" cy="6159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133600"/>
            <a:ext cx="647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age: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Validate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(cin.fail() || age &lt; 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|| age &gt; 150)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cin.clear();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cin.ignore(1000,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'\n'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"Valid: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cin.fail() detects bad input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— Logical Operators &amp; Advanced Decisions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Characters and Strings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COMPARISON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 are compared using their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ASCII values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'A'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(65) &lt;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'B'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(66) &lt;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'C'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(67) — uppercase sequential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'a'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(97) &gt;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'A'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(65) — lowercase &gt; uppercase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30600"/>
          <a:ext cx="7112000" cy="1092200"/>
        </p:xfrm>
        <a:graphic>
          <a:graphicData uri="http://schemas.openxmlformats.org/drawingml/2006/table">
            <a:tbl>
              <a:tblPr/>
              <a:tblGrid>
                <a:gridCol w="1422400"/>
                <a:gridCol w="1422400"/>
                <a:gridCol w="1422400"/>
                <a:gridCol w="1422400"/>
                <a:gridCol w="14224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'0'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'z'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ASCII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COMPARISON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785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Strings are compared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by character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left to right: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"Apple"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"Banana"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(first char 'A' &lt; 'B')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"abc"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"ABC"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(lowercase &gt; uppercase)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Character comparisons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'B'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&gt;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'Z'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String comparison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s1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s2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"World"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(s1 == s2)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(s1 &lt; s2)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Case-insensitive: same case first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C-strings need strcmp()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5715000"/>
            <a:ext cx="3810000" cy="381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10000"/>
            <a:ext cx="6350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873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Alternative Decision Structures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conditional operator, switch statement, and variable scope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— Alternative Decision Structures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Conditional Operator — Compact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conditional (ternary) operator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shorthand for simple if/else statements. It is the only ternary operator in C++.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84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 ? expr_if_true : expr_if_false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0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3815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Find the maximum of two 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= (a &gt; b) ? a : b;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Determine sign of a number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 = (num &gt;= 0) ?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"positive"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"negative"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324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705600"/>
            <a:ext cx="711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assignments or return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nested ternaries — they hurt readability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IF/ELSE VS TERNARY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These two are equivalent: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if/else version: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 &gt; b) max = a;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 = b;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Ternary version: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 = (a &gt; b) ? a : b;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Ternary is an EXPRESSION —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inline: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(x &gt; 0 ?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"+"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"-"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— Alternative Decision Structures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switch Statement — Multi-Way Branching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switch statement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provides a cleaner alternative to long if/else if chains when testing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discrete values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(expr)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v1: ...;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v2: ...;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...;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6223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Expression must be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integer, char, or enum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exits the switch (don't forget it!)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all unlisted values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498600"/>
            <a:ext cx="7112000" cy="59944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133600"/>
            <a:ext cx="647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day = 3;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(day)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"Tue"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"Thu"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"Fri"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"Weekend!"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Wed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— Alternative Decision Structures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vs if-else if — When to Use Which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Criteria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switch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if-else if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 integer/char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Ranges, complex conditions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Condition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Equality only (==)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condition (&gt;, &lt;, !=, etc.)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types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int, char, enum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data types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Cleaner for many cases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Fall-through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Supported (can group cases)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applicable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ADVANTAGES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223000"/>
            <a:ext cx="6858000" cy="1397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6000" y="6324600"/>
            <a:ext cx="635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readable for many discrete 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Potentially faster (jump table optimization)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Intentional fall-through can group cases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IF-ELSE IF ADVANTAGES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28000" y="6223000"/>
            <a:ext cx="7366000" cy="13970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0" y="6324600"/>
            <a:ext cx="685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flexible — any condition possible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Works with all data types (strings, floats)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check ranges (e.g., score &gt;= 90)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4100" y="7899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1460500" y="78486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thumb: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equality checks on integers/chars with many cases. Use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if-else if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everything else.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— Alternative Decision Structures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Blocks and Variable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block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group of statements in braces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 }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Variables declared inside a block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that block.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Variables declared inside a block are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accessible within that block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Variables in outer blocks are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in inner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(nested) blocks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Same-name variables can exist in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blocks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variable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outer variable with same name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2705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1B3A4B">
              <a:alpha val="6275"/>
            </a:srgbClr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5270500"/>
            <a:ext cx="63500" cy="889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Shape 8"/>
          <p:cNvSpPr/>
          <p:nvPr/>
        </p:nvSpPr>
        <p:spPr>
          <a:xfrm>
            <a:off x="996950" y="5461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422400" y="53594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Declare variables in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smallest scope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needed — improves readability and reduces conflicts.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498600"/>
            <a:ext cx="7112000" cy="6159500"/>
          </a:xfrm>
          <a:prstGeom prst="roundRect">
            <a:avLst>
              <a:gd name="adj" fmla="val 5000"/>
            </a:avLst>
          </a:prstGeom>
          <a:solidFill>
            <a:srgbClr val="F0EDE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0" y="16891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9500" y="2133600"/>
            <a:ext cx="647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10;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(x &gt; 5)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= 20;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inner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x &lt;&lt; y;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cout &lt;&lt; y; // ERROR!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y not accessible here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Variable hiding: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x; 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99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x;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—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46990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073" y="1250"/>
                </a:moveTo>
                <a:cubicBezTo>
                  <a:pt x="144324" y="-1320"/>
                  <a:pt x="151477" y="69"/>
                  <a:pt x="156270" y="4862"/>
                </a:cubicBezTo>
                <a:lnTo>
                  <a:pt x="195163" y="43755"/>
                </a:lnTo>
                <a:cubicBezTo>
                  <a:pt x="201692" y="50284"/>
                  <a:pt x="201692" y="60841"/>
                  <a:pt x="195163" y="67300"/>
                </a:cubicBezTo>
                <a:lnTo>
                  <a:pt x="156270" y="106194"/>
                </a:lnTo>
                <a:cubicBezTo>
                  <a:pt x="151477" y="110986"/>
                  <a:pt x="144324" y="112375"/>
                  <a:pt x="138073" y="109805"/>
                </a:cubicBezTo>
                <a:cubicBezTo>
                  <a:pt x="131822" y="107236"/>
                  <a:pt x="127794" y="101193"/>
                  <a:pt x="127794" y="94456"/>
                </a:cubicBezTo>
                <a:lnTo>
                  <a:pt x="127794" y="77788"/>
                </a:lnTo>
                <a:lnTo>
                  <a:pt x="111125" y="77788"/>
                </a:lnTo>
                <a:cubicBezTo>
                  <a:pt x="98832" y="77788"/>
                  <a:pt x="88900" y="87719"/>
                  <a:pt x="88900" y="100013"/>
                </a:cubicBezTo>
                <a:lnTo>
                  <a:pt x="88900" y="249128"/>
                </a:lnTo>
                <a:cubicBezTo>
                  <a:pt x="108555" y="257671"/>
                  <a:pt x="122238" y="277257"/>
                  <a:pt x="122238" y="300038"/>
                </a:cubicBezTo>
                <a:cubicBezTo>
                  <a:pt x="122238" y="330736"/>
                  <a:pt x="97373" y="355600"/>
                  <a:pt x="66675" y="355600"/>
                </a:cubicBezTo>
                <a:cubicBezTo>
                  <a:pt x="35977" y="355600"/>
                  <a:pt x="11112" y="330736"/>
                  <a:pt x="11112" y="300038"/>
                </a:cubicBezTo>
                <a:cubicBezTo>
                  <a:pt x="11112" y="277257"/>
                  <a:pt x="24795" y="257671"/>
                  <a:pt x="44450" y="249128"/>
                </a:cubicBezTo>
                <a:lnTo>
                  <a:pt x="44450" y="100013"/>
                </a:lnTo>
                <a:cubicBezTo>
                  <a:pt x="44450" y="63202"/>
                  <a:pt x="74315" y="33337"/>
                  <a:pt x="111125" y="33337"/>
                </a:cubicBezTo>
                <a:lnTo>
                  <a:pt x="127794" y="33337"/>
                </a:lnTo>
                <a:lnTo>
                  <a:pt x="127794" y="16669"/>
                </a:lnTo>
                <a:cubicBezTo>
                  <a:pt x="127794" y="9932"/>
                  <a:pt x="131822" y="3820"/>
                  <a:pt x="138073" y="1250"/>
                </a:cubicBezTo>
                <a:close/>
                <a:moveTo>
                  <a:pt x="272256" y="55563"/>
                </a:moveTo>
                <a:cubicBezTo>
                  <a:pt x="272256" y="64762"/>
                  <a:pt x="279725" y="72231"/>
                  <a:pt x="288925" y="72231"/>
                </a:cubicBezTo>
                <a:cubicBezTo>
                  <a:pt x="298125" y="72231"/>
                  <a:pt x="305594" y="64762"/>
                  <a:pt x="305594" y="55563"/>
                </a:cubicBezTo>
                <a:cubicBezTo>
                  <a:pt x="305594" y="46363"/>
                  <a:pt x="298125" y="38894"/>
                  <a:pt x="288925" y="38894"/>
                </a:cubicBezTo>
                <a:cubicBezTo>
                  <a:pt x="279725" y="38894"/>
                  <a:pt x="272256" y="46363"/>
                  <a:pt x="272256" y="55563"/>
                </a:cubicBezTo>
                <a:close/>
                <a:moveTo>
                  <a:pt x="266700" y="106472"/>
                </a:moveTo>
                <a:cubicBezTo>
                  <a:pt x="247045" y="97929"/>
                  <a:pt x="233363" y="78343"/>
                  <a:pt x="233363" y="55563"/>
                </a:cubicBezTo>
                <a:cubicBezTo>
                  <a:pt x="233363" y="24864"/>
                  <a:pt x="258227" y="0"/>
                  <a:pt x="288925" y="0"/>
                </a:cubicBezTo>
                <a:cubicBezTo>
                  <a:pt x="319623" y="0"/>
                  <a:pt x="344488" y="24864"/>
                  <a:pt x="344488" y="55563"/>
                </a:cubicBezTo>
                <a:cubicBezTo>
                  <a:pt x="344488" y="78343"/>
                  <a:pt x="330805" y="97929"/>
                  <a:pt x="311150" y="106472"/>
                </a:cubicBezTo>
                <a:lnTo>
                  <a:pt x="311150" y="255587"/>
                </a:lnTo>
                <a:cubicBezTo>
                  <a:pt x="311150" y="292398"/>
                  <a:pt x="281285" y="322263"/>
                  <a:pt x="244475" y="322263"/>
                </a:cubicBezTo>
                <a:lnTo>
                  <a:pt x="227806" y="322263"/>
                </a:lnTo>
                <a:lnTo>
                  <a:pt x="227806" y="338931"/>
                </a:lnTo>
                <a:cubicBezTo>
                  <a:pt x="227806" y="345668"/>
                  <a:pt x="223778" y="351780"/>
                  <a:pt x="217527" y="354350"/>
                </a:cubicBezTo>
                <a:cubicBezTo>
                  <a:pt x="211276" y="356920"/>
                  <a:pt x="204123" y="355531"/>
                  <a:pt x="199330" y="350738"/>
                </a:cubicBezTo>
                <a:lnTo>
                  <a:pt x="160437" y="311845"/>
                </a:lnTo>
                <a:cubicBezTo>
                  <a:pt x="153908" y="305316"/>
                  <a:pt x="153908" y="294759"/>
                  <a:pt x="160437" y="288300"/>
                </a:cubicBezTo>
                <a:lnTo>
                  <a:pt x="199330" y="249406"/>
                </a:lnTo>
                <a:cubicBezTo>
                  <a:pt x="204123" y="244614"/>
                  <a:pt x="211276" y="243225"/>
                  <a:pt x="217527" y="245795"/>
                </a:cubicBezTo>
                <a:cubicBezTo>
                  <a:pt x="223778" y="248364"/>
                  <a:pt x="227806" y="254407"/>
                  <a:pt x="227806" y="261144"/>
                </a:cubicBezTo>
                <a:lnTo>
                  <a:pt x="227806" y="277813"/>
                </a:lnTo>
                <a:lnTo>
                  <a:pt x="244475" y="277813"/>
                </a:lnTo>
                <a:cubicBezTo>
                  <a:pt x="256768" y="277813"/>
                  <a:pt x="266700" y="267881"/>
                  <a:pt x="266700" y="255587"/>
                </a:cubicBezTo>
                <a:lnTo>
                  <a:pt x="266700" y="106472"/>
                </a:lnTo>
                <a:close/>
                <a:moveTo>
                  <a:pt x="50006" y="300038"/>
                </a:moveTo>
                <a:cubicBezTo>
                  <a:pt x="50006" y="309237"/>
                  <a:pt x="57475" y="316706"/>
                  <a:pt x="66675" y="316706"/>
                </a:cubicBezTo>
                <a:cubicBezTo>
                  <a:pt x="75875" y="316706"/>
                  <a:pt x="83344" y="309237"/>
                  <a:pt x="83344" y="300038"/>
                </a:cubicBezTo>
                <a:cubicBezTo>
                  <a:pt x="83344" y="290838"/>
                  <a:pt x="75875" y="283369"/>
                  <a:pt x="66675" y="283369"/>
                </a:cubicBezTo>
                <a:cubicBezTo>
                  <a:pt x="57475" y="283369"/>
                  <a:pt x="50006" y="290838"/>
                  <a:pt x="50006" y="30003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891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Operators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equal,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equal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greater,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greater/equal,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less/equal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true (1) or false (0)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confuse == with =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8500" y="1460500"/>
            <a:ext cx="4699000" cy="63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60547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6891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Statements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222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single condition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if/else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two-way branch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if/else if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multiple choices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discrete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 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compact ternary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460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0" y="1460500"/>
            <a:ext cx="4699000" cy="63500"/>
          </a:xfrm>
          <a:prstGeom prst="rect">
            <a:avLst/>
          </a:prstGeom>
          <a:solidFill>
            <a:srgbClr val="7A8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04550" y="1714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16891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Concepts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2225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&amp;&amp;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||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Flags track state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all user input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Blocks define variable scope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 chars by ASCII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080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7600" y="5397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5270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decision structures is fundamental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appear in virtually every program you will write. Practice combining relational operators, logical operators, and conditional statements to solve real problems.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667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7A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 CARD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048500"/>
          <a:ext cx="14732000" cy="13335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When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When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 / else if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Ranges, complex conditions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switch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 int/char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/>
          <p:nvPr/>
        </p:nvSpPr>
        <p:spPr>
          <a:xfrm>
            <a:off x="14732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6000" y="-1016000"/>
            <a:ext cx="5080000" cy="5080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715000"/>
            <a:ext cx="3175000" cy="31750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5000"/>
            <a:ext cx="16256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318000" y="254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CHAPTERS 07 — 08 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3175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Makes Perfect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75500" y="41910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2413000" y="4508500"/>
            <a:ext cx="1143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programming is by writing programs."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Start coding with decision structures today!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48000" y="571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Operators | if Statements | Logical Operators | switch | Variable Scope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Fundamentals: Making Decisions</dc:title>
  <dc:subject>Programming Fundamentals: Making Decisions</dc:subject>
  <dc:creator>Kimi</dc:creator>
  <cp:lastModifiedBy>Kimi</cp:lastModifiedBy>
  <cp:revision>1</cp:revision>
  <dcterms:created xsi:type="dcterms:W3CDTF">2026-05-27T22:58:31Z</dcterms:created>
  <dcterms:modified xsi:type="dcterms:W3CDTF">2026-05-27T22:58:31Z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{"Label":"Programming Fundamentals: Making Decisions","ContentProducer":"001191110108MACG2KBH8F10000","ProduceID":"19e6ba71-1cd2-8540-8000-0000d41c3275","ReservedCode1":"","ContentPropagator":"001191110108MACG2KBH8F20000","PropagateID":"19e6ba71-1cd2-8540-8000-0000d41c3275","ReservedCode2":""}</vt:lpwstr>
  </property>
</Properties>
</file>