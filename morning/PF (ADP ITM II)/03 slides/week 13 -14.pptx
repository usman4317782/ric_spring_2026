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6256000" cy="9144000"/>
  <p:notesSz cx="9144000" cy="16256000"/>
  <p:embeddedFontLst>
    <p:embeddedFont>
      <p:font typeface="Quattrocento Sans" charset="-122" pitchFamily="34"/>
      <p:regular r:id="rId21"/>
    </p:embeddedFont>
    <p:embeddedFont>
      <p:font typeface="Liter" charset="-122" pitchFamily="34"/>
      <p:regular r:id="rId22"/>
    </p:embeddedFont>
    <p:embeddedFont>
      <p:font typeface="MiSans" charset="-122" pitchFamily="34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8000" y="3302000"/>
            <a:ext cx="5080000" cy="0"/>
          </a:xfrm>
          <a:prstGeom prst="straightConnector1">
            <a:avLst/>
          </a:prstGeom>
          <a:noFill/>
          <a:ln w="25400">
            <a:solidFill>
              <a:srgbClr val="0D7377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778000" y="3556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Programming Fundamentals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83000" y="450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 — Building Modular Programs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588000" y="5270500"/>
            <a:ext cx="5080000" cy="0"/>
          </a:xfrm>
          <a:prstGeom prst="straightConnector1">
            <a:avLst/>
          </a:prstGeom>
          <a:noFill/>
          <a:ln w="25400">
            <a:solidFill>
              <a:srgbClr val="0D7377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588000" y="5588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5A6C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Course Module 5 | C++ Programming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spc="300" kern="0" dirty="0">
                <a:solidFill>
                  <a:srgbClr val="5A6C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016000" cy="0"/>
          </a:xfrm>
          <a:prstGeom prst="straightConnector1">
            <a:avLst/>
          </a:prstGeom>
          <a:noFill/>
          <a:ln w="38100">
            <a:solidFill>
              <a:srgbClr val="0D7377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62000" y="2413000"/>
            <a:ext cx="101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778000" y="2514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to Functions &amp; Modular Programming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778000" y="2921000"/>
            <a:ext cx="6350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762000" y="3302000"/>
            <a:ext cx="101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778000" y="3403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Defining, Calling &amp; Prototyping Functions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778000" y="3810000"/>
            <a:ext cx="6350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62000" y="4191000"/>
            <a:ext cx="101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778000" y="4292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Passing Data to Functions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778000" y="4699000"/>
            <a:ext cx="6350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762000" y="5080000"/>
            <a:ext cx="101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778000" y="5181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Returning Data from Functions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778000" y="5588000"/>
            <a:ext cx="6350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762000" y="5969000"/>
            <a:ext cx="101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778000" y="6070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Variable Scope &amp; Lifetime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778000" y="6477000"/>
            <a:ext cx="6350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62000" y="6858000"/>
            <a:ext cx="101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778000" y="6959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Advanced Function Concepts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778000" y="7366000"/>
            <a:ext cx="6350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525000" y="1524000"/>
            <a:ext cx="5969000" cy="6350000"/>
          </a:xfrm>
          <a:prstGeom prst="roundRect">
            <a:avLst>
              <a:gd name="adj" fmla="val 8000"/>
            </a:avLst>
          </a:prstGeom>
          <a:solidFill>
            <a:srgbClr val="F0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874500" y="3302000"/>
            <a:ext cx="1143000" cy="1016000"/>
          </a:xfrm>
          <a:custGeom>
            <a:avLst/>
            <a:gdLst/>
            <a:ahLst/>
            <a:cxnLst/>
            <a:rect l="l" t="t" r="r" b="b"/>
            <a:pathLst>
              <a:path w="1143000" h="1016000">
                <a:moveTo>
                  <a:pt x="715963" y="2381"/>
                </a:moveTo>
                <a:cubicBezTo>
                  <a:pt x="682228" y="-7342"/>
                  <a:pt x="647105" y="12303"/>
                  <a:pt x="637381" y="46037"/>
                </a:cubicBezTo>
                <a:lnTo>
                  <a:pt x="383381" y="935038"/>
                </a:lnTo>
                <a:cubicBezTo>
                  <a:pt x="373658" y="968772"/>
                  <a:pt x="393303" y="1003895"/>
                  <a:pt x="427038" y="1013619"/>
                </a:cubicBezTo>
                <a:cubicBezTo>
                  <a:pt x="460772" y="1023342"/>
                  <a:pt x="495895" y="1003697"/>
                  <a:pt x="505619" y="969963"/>
                </a:cubicBezTo>
                <a:lnTo>
                  <a:pt x="759619" y="80963"/>
                </a:lnTo>
                <a:cubicBezTo>
                  <a:pt x="769342" y="47228"/>
                  <a:pt x="749697" y="12105"/>
                  <a:pt x="715962" y="2381"/>
                </a:cubicBezTo>
                <a:close/>
                <a:moveTo>
                  <a:pt x="844153" y="272455"/>
                </a:moveTo>
                <a:cubicBezTo>
                  <a:pt x="819348" y="297259"/>
                  <a:pt x="819348" y="337542"/>
                  <a:pt x="844153" y="362347"/>
                </a:cubicBezTo>
                <a:lnTo>
                  <a:pt x="989806" y="508000"/>
                </a:lnTo>
                <a:lnTo>
                  <a:pt x="844153" y="653653"/>
                </a:lnTo>
                <a:cubicBezTo>
                  <a:pt x="819348" y="678458"/>
                  <a:pt x="819348" y="718741"/>
                  <a:pt x="844153" y="743545"/>
                </a:cubicBezTo>
                <a:cubicBezTo>
                  <a:pt x="868958" y="768350"/>
                  <a:pt x="909241" y="768350"/>
                  <a:pt x="934045" y="743545"/>
                </a:cubicBezTo>
                <a:lnTo>
                  <a:pt x="1124545" y="553045"/>
                </a:lnTo>
                <a:cubicBezTo>
                  <a:pt x="1149350" y="528241"/>
                  <a:pt x="1149350" y="487958"/>
                  <a:pt x="1124545" y="463153"/>
                </a:cubicBezTo>
                <a:lnTo>
                  <a:pt x="934045" y="272653"/>
                </a:lnTo>
                <a:cubicBezTo>
                  <a:pt x="909241" y="247848"/>
                  <a:pt x="868958" y="247848"/>
                  <a:pt x="844153" y="272653"/>
                </a:cubicBezTo>
                <a:close/>
                <a:moveTo>
                  <a:pt x="299045" y="272455"/>
                </a:moveTo>
                <a:cubicBezTo>
                  <a:pt x="274241" y="247650"/>
                  <a:pt x="233958" y="247650"/>
                  <a:pt x="209153" y="272455"/>
                </a:cubicBezTo>
                <a:lnTo>
                  <a:pt x="18653" y="462955"/>
                </a:lnTo>
                <a:cubicBezTo>
                  <a:pt x="-6152" y="487759"/>
                  <a:pt x="-6152" y="528042"/>
                  <a:pt x="18653" y="552847"/>
                </a:cubicBezTo>
                <a:lnTo>
                  <a:pt x="209153" y="743347"/>
                </a:lnTo>
                <a:cubicBezTo>
                  <a:pt x="233958" y="768152"/>
                  <a:pt x="274241" y="768152"/>
                  <a:pt x="299045" y="743347"/>
                </a:cubicBezTo>
                <a:cubicBezTo>
                  <a:pt x="323850" y="718542"/>
                  <a:pt x="323850" y="678259"/>
                  <a:pt x="299045" y="653455"/>
                </a:cubicBezTo>
                <a:lnTo>
                  <a:pt x="153392" y="508000"/>
                </a:lnTo>
                <a:lnTo>
                  <a:pt x="298847" y="362347"/>
                </a:lnTo>
                <a:cubicBezTo>
                  <a:pt x="323652" y="337542"/>
                  <a:pt x="323652" y="297259"/>
                  <a:pt x="298847" y="272455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6" name="Text 24"/>
          <p:cNvSpPr/>
          <p:nvPr/>
        </p:nvSpPr>
        <p:spPr>
          <a:xfrm>
            <a:off x="10033000" y="4699000"/>
            <a:ext cx="482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5A6C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 how functions make your code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5A6C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modular, reusable, and professional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C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286000"/>
            <a:ext cx="254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16000" y="3683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Functions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4508500"/>
            <a:ext cx="1524000" cy="0"/>
          </a:xfrm>
          <a:prstGeom prst="straightConnector1">
            <a:avLst/>
          </a:prstGeom>
          <a:noFill/>
          <a:ln w="38100">
            <a:solidFill>
              <a:srgbClr val="0D7377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016000" y="4762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8E8E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modular programming and why functions are the building blocks of well-structured software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55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Modular Programming — Divide and Conquer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335000" y="4445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C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2000" y="1079500"/>
            <a:ext cx="14732000" cy="1143000"/>
          </a:xfrm>
          <a:prstGeom prst="roundRect">
            <a:avLst>
              <a:gd name="adj" fmla="val 5000"/>
            </a:avLst>
          </a:prstGeom>
          <a:solidFill>
            <a:srgbClr val="F0F4F4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079500"/>
            <a:ext cx="63500" cy="1143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143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Modular programming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breaks large programs into smaller, manageable pieces called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modules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(functions). Each module is developed, tested, and debugged independently before being integrated into the whole program.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6450" y="2540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25400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ANALOGY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022600"/>
            <a:ext cx="685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car is assembled from separate modules —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engine, transmission, brakes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each built and tested independently. Functions work the same way in software.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457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1219200" y="4572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5054600"/>
            <a:ext cx="6858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Easier to understand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each function does one thing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Easier to test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test functions independently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Easier to debug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isolate problems to specific functions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Easier to maintain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changes affect only one module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Code reuse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use the same function in multiple programs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28000" y="2540000"/>
            <a:ext cx="7366000" cy="5816600"/>
          </a:xfrm>
          <a:prstGeom prst="roundRect">
            <a:avLst>
              <a:gd name="adj" fmla="val 5000"/>
            </a:avLst>
          </a:prstGeom>
          <a:solidFill>
            <a:srgbClr val="F0F4F4"/>
          </a:solidFill>
          <a:ln/>
        </p:spPr>
      </p:sp>
      <p:sp>
        <p:nvSpPr>
          <p:cNvPr id="15" name="Text 13"/>
          <p:cNvSpPr/>
          <p:nvPr/>
        </p:nvSpPr>
        <p:spPr>
          <a:xfrm>
            <a:off x="8382000" y="26670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MODULAR PROGRAM STRUCTURE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541000" y="3238500"/>
            <a:ext cx="2540000" cy="635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10541000" y="3238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main()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811000" y="3873500"/>
            <a:ext cx="0" cy="381000"/>
          </a:xfrm>
          <a:prstGeom prst="straightConnector1">
            <a:avLst/>
          </a:prstGeom>
          <a:noFill/>
          <a:ln w="25400">
            <a:solidFill>
              <a:srgbClr val="5A6C7D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8636000" y="4381500"/>
            <a:ext cx="1778000" cy="571500"/>
          </a:xfrm>
          <a:prstGeom prst="roundRect">
            <a:avLst>
              <a:gd name="adj" fmla="val 8000"/>
            </a:avLst>
          </a:prstGeom>
          <a:solidFill>
            <a:srgbClr val="F0F4F4"/>
          </a:solidFill>
          <a:ln w="254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36000" y="43815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getInput()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922000" y="4381500"/>
            <a:ext cx="1778000" cy="571500"/>
          </a:xfrm>
          <a:prstGeom prst="roundRect">
            <a:avLst>
              <a:gd name="adj" fmla="val 8000"/>
            </a:avLst>
          </a:prstGeom>
          <a:solidFill>
            <a:srgbClr val="F0F4F4"/>
          </a:solidFill>
          <a:ln w="254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2000" y="43815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calculate()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3208000" y="4381500"/>
            <a:ext cx="1778000" cy="571500"/>
          </a:xfrm>
          <a:prstGeom prst="roundRect">
            <a:avLst>
              <a:gd name="adj" fmla="val 8000"/>
            </a:avLst>
          </a:prstGeom>
          <a:solidFill>
            <a:srgbClr val="F0F4F4"/>
          </a:solidFill>
          <a:ln w="254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08000" y="43815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display()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525000" y="4953000"/>
            <a:ext cx="0" cy="381000"/>
          </a:xfrm>
          <a:prstGeom prst="straightConnector1">
            <a:avLst/>
          </a:prstGeom>
          <a:noFill/>
          <a:ln w="25400">
            <a:solidFill>
              <a:srgbClr val="5A6C7D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1811000" y="4953000"/>
            <a:ext cx="0" cy="381000"/>
          </a:xfrm>
          <a:prstGeom prst="straightConnector1">
            <a:avLst/>
          </a:prstGeom>
          <a:noFill/>
          <a:ln w="25400">
            <a:solidFill>
              <a:srgbClr val="5A6C7D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14097000" y="4953000"/>
            <a:ext cx="0" cy="381000"/>
          </a:xfrm>
          <a:prstGeom prst="straightConnector1">
            <a:avLst/>
          </a:prstGeom>
          <a:noFill/>
          <a:ln w="25400">
            <a:solidFill>
              <a:srgbClr val="5A6C7D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8636000" y="5461000"/>
            <a:ext cx="1778000" cy="508000"/>
          </a:xfrm>
          <a:prstGeom prst="roundRect">
            <a:avLst>
              <a:gd name="adj" fmla="val 8000"/>
            </a:avLst>
          </a:prstGeom>
          <a:solidFill>
            <a:srgbClr val="E8F0F0"/>
          </a:solidFill>
          <a:ln/>
        </p:spPr>
      </p:sp>
      <p:sp>
        <p:nvSpPr>
          <p:cNvPr id="29" name="Text 27"/>
          <p:cNvSpPr/>
          <p:nvPr/>
        </p:nvSpPr>
        <p:spPr>
          <a:xfrm>
            <a:off x="8636000" y="54610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validate()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922000" y="5461000"/>
            <a:ext cx="1778000" cy="508000"/>
          </a:xfrm>
          <a:prstGeom prst="roundRect">
            <a:avLst>
              <a:gd name="adj" fmla="val 8000"/>
            </a:avLst>
          </a:prstGeom>
          <a:solidFill>
            <a:srgbClr val="E8F0F0"/>
          </a:solidFill>
          <a:ln/>
        </p:spPr>
      </p:sp>
      <p:sp>
        <p:nvSpPr>
          <p:cNvPr id="31" name="Text 29"/>
          <p:cNvSpPr/>
          <p:nvPr/>
        </p:nvSpPr>
        <p:spPr>
          <a:xfrm>
            <a:off x="10922000" y="54610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computeTax()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3208000" y="5461000"/>
            <a:ext cx="1778000" cy="508000"/>
          </a:xfrm>
          <a:prstGeom prst="roundRect">
            <a:avLst>
              <a:gd name="adj" fmla="val 8000"/>
            </a:avLst>
          </a:prstGeom>
          <a:solidFill>
            <a:srgbClr val="E8F0F0"/>
          </a:solidFill>
          <a:ln/>
        </p:spPr>
      </p:sp>
      <p:sp>
        <p:nvSpPr>
          <p:cNvPr id="33" name="Text 31"/>
          <p:cNvSpPr/>
          <p:nvPr/>
        </p:nvSpPr>
        <p:spPr>
          <a:xfrm>
            <a:off x="13208000" y="54610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format()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82000" y="6223000"/>
            <a:ext cx="6858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5A6C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function performs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5A6C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specific task.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5A6C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 can call other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5A6C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functions, creating a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5A6C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hierarchical structure.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C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55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Defining, Calling &amp; Prototyping Functions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335000" y="4445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C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2000" y="1079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 SYNTAX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422400"/>
            <a:ext cx="7366000" cy="698500"/>
          </a:xfrm>
          <a:prstGeom prst="roundRect">
            <a:avLst>
              <a:gd name="adj" fmla="val 6000"/>
            </a:avLst>
          </a:prstGeom>
          <a:solidFill>
            <a:srgbClr val="F0F4F4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1498600"/>
            <a:ext cx="698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returnType functionName(parameterList) { statements; 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349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TWO-STEP PROCESS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768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579" y="11569"/>
                </a:moveTo>
                <a:lnTo>
                  <a:pt x="168077" y="36071"/>
                </a:lnTo>
                <a:lnTo>
                  <a:pt x="243329" y="111323"/>
                </a:lnTo>
                <a:lnTo>
                  <a:pt x="267831" y="86821"/>
                </a:lnTo>
                <a:cubicBezTo>
                  <a:pt x="275253" y="79454"/>
                  <a:pt x="279400" y="69413"/>
                  <a:pt x="279400" y="58936"/>
                </a:cubicBezTo>
                <a:cubicBezTo>
                  <a:pt x="279400" y="48458"/>
                  <a:pt x="275253" y="38418"/>
                  <a:pt x="267831" y="31051"/>
                </a:cubicBezTo>
                <a:lnTo>
                  <a:pt x="248349" y="11569"/>
                </a:lnTo>
                <a:cubicBezTo>
                  <a:pt x="240983" y="4147"/>
                  <a:pt x="230942" y="0"/>
                  <a:pt x="220464" y="0"/>
                </a:cubicBezTo>
                <a:cubicBezTo>
                  <a:pt x="209987" y="0"/>
                  <a:pt x="199946" y="4147"/>
                  <a:pt x="192579" y="11569"/>
                </a:cubicBezTo>
                <a:close/>
                <a:moveTo>
                  <a:pt x="149577" y="54570"/>
                </a:moveTo>
                <a:lnTo>
                  <a:pt x="32142" y="171951"/>
                </a:lnTo>
                <a:cubicBezTo>
                  <a:pt x="26303" y="177790"/>
                  <a:pt x="22046" y="185103"/>
                  <a:pt x="19809" y="193070"/>
                </a:cubicBezTo>
                <a:lnTo>
                  <a:pt x="491" y="262811"/>
                </a:lnTo>
                <a:cubicBezTo>
                  <a:pt x="-764" y="267340"/>
                  <a:pt x="491" y="272251"/>
                  <a:pt x="3874" y="275580"/>
                </a:cubicBezTo>
                <a:cubicBezTo>
                  <a:pt x="7258" y="278909"/>
                  <a:pt x="12115" y="280219"/>
                  <a:pt x="16644" y="278963"/>
                </a:cubicBezTo>
                <a:lnTo>
                  <a:pt x="86385" y="259591"/>
                </a:lnTo>
                <a:cubicBezTo>
                  <a:pt x="94352" y="257354"/>
                  <a:pt x="101610" y="253152"/>
                  <a:pt x="107504" y="247258"/>
                </a:cubicBezTo>
                <a:lnTo>
                  <a:pt x="224830" y="129823"/>
                </a:lnTo>
                <a:lnTo>
                  <a:pt x="149577" y="5457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730500"/>
            <a:ext cx="685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Define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function with return type, name, parameters, and body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3530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87422" y="13643"/>
                </a:moveTo>
                <a:cubicBezTo>
                  <a:pt x="83111" y="3329"/>
                  <a:pt x="71869" y="-2128"/>
                  <a:pt x="61173" y="764"/>
                </a:cubicBezTo>
                <a:lnTo>
                  <a:pt x="58172" y="1583"/>
                </a:lnTo>
                <a:cubicBezTo>
                  <a:pt x="22920" y="11187"/>
                  <a:pt x="-7203" y="45348"/>
                  <a:pt x="1583" y="86931"/>
                </a:cubicBezTo>
                <a:cubicBezTo>
                  <a:pt x="21828" y="182429"/>
                  <a:pt x="96971" y="257572"/>
                  <a:pt x="192469" y="277817"/>
                </a:cubicBezTo>
                <a:cubicBezTo>
                  <a:pt x="234107" y="286658"/>
                  <a:pt x="268213" y="256480"/>
                  <a:pt x="277817" y="221228"/>
                </a:cubicBezTo>
                <a:lnTo>
                  <a:pt x="278636" y="218227"/>
                </a:lnTo>
                <a:cubicBezTo>
                  <a:pt x="281583" y="207476"/>
                  <a:pt x="276071" y="196235"/>
                  <a:pt x="265812" y="191978"/>
                </a:cubicBezTo>
                <a:lnTo>
                  <a:pt x="212715" y="169877"/>
                </a:lnTo>
                <a:cubicBezTo>
                  <a:pt x="203711" y="166112"/>
                  <a:pt x="193288" y="168731"/>
                  <a:pt x="187067" y="176317"/>
                </a:cubicBezTo>
                <a:lnTo>
                  <a:pt x="166003" y="202074"/>
                </a:lnTo>
                <a:cubicBezTo>
                  <a:pt x="127640" y="183029"/>
                  <a:pt x="96753" y="151160"/>
                  <a:pt x="79018" y="112033"/>
                </a:cubicBezTo>
                <a:lnTo>
                  <a:pt x="103138" y="92388"/>
                </a:lnTo>
                <a:cubicBezTo>
                  <a:pt x="110723" y="86221"/>
                  <a:pt x="113288" y="75798"/>
                  <a:pt x="109577" y="66739"/>
                </a:cubicBezTo>
                <a:lnTo>
                  <a:pt x="87422" y="13643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492500"/>
            <a:ext cx="685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Call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function from main() or another function to execute 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318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NAMING CONVENTION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4673600"/>
            <a:ext cx="736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descriptive camelCase names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calculateTotal, displayMenu, getUserInput. The name should tell you what the function does.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571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PROTOTYPES?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6070600"/>
            <a:ext cx="736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prototype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declares the function's interface before its definition: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Syntax: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returnType functionName(parameterTypes);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compiler must know about a function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before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it is called. Prototypes enable flexible code organization.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09000" y="1079500"/>
            <a:ext cx="6985000" cy="7302500"/>
          </a:xfrm>
          <a:prstGeom prst="roundRect">
            <a:avLst>
              <a:gd name="adj" fmla="val 5000"/>
            </a:avLst>
          </a:prstGeom>
          <a:solidFill>
            <a:srgbClr val="F0F4F4"/>
          </a:solidFill>
          <a:ln/>
        </p:spPr>
      </p:sp>
      <p:sp>
        <p:nvSpPr>
          <p:cNvPr id="18" name="Text 16"/>
          <p:cNvSpPr/>
          <p:nvPr/>
        </p:nvSpPr>
        <p:spPr>
          <a:xfrm>
            <a:off x="8763000" y="1206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63000" y="1549400"/>
            <a:ext cx="6477000" cy="666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Function prototype</a:t>
            </a:r>
            <a:endParaRPr lang="en-US" sz="15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square(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number);</a:t>
            </a:r>
            <a:endParaRPr lang="en-US" sz="15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Main function</a:t>
            </a:r>
            <a:endParaRPr lang="en-US" sz="15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main() {</a:t>
            </a:r>
            <a:endParaRPr lang="en-US" sz="15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result = square(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5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cout &lt;&lt; result; 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Outputs: 25</a:t>
            </a:r>
            <a:endParaRPr lang="en-US" sz="15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</a:t>
            </a:r>
            <a:endParaRPr lang="en-US" sz="15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5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Function definition</a:t>
            </a:r>
            <a:endParaRPr lang="en-US" sz="15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square(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number) {</a:t>
            </a:r>
            <a:endParaRPr lang="en-US" sz="15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number * number;</a:t>
            </a:r>
            <a:endParaRPr lang="en-US" sz="15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C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55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Parameters &amp; Pass by Value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335000" y="4445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C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FLOW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2000" y="1079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PARAMETERS VS ARGUMENTS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4351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Parameters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 variables in the function definition that receive data.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Arguments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 the actual values passed when calling the function.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857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 BY VALUE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213100"/>
            <a:ext cx="7112000" cy="1079500"/>
          </a:xfrm>
          <a:prstGeom prst="roundRect">
            <a:avLst>
              <a:gd name="adj" fmla="val 5000"/>
            </a:avLst>
          </a:prstGeom>
          <a:solidFill>
            <a:srgbClr val="F0F4F4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3213100"/>
            <a:ext cx="63500" cy="1079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32766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By default, C++ passes arguments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by value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copy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the data is sent. Changes inside the function do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affect the original.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0100" y="45085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1168400" y="4508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889500"/>
            <a:ext cx="711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It's like giving someone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photocopy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a document — they can write on it without affecting your original.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584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1168400" y="5842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ADVANTAGE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6223000"/>
            <a:ext cx="711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Pass by value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protects original data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from unintended modifications — a safety feature by design.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55000" y="1079500"/>
            <a:ext cx="7239000" cy="5842000"/>
          </a:xfrm>
          <a:prstGeom prst="roundRect">
            <a:avLst>
              <a:gd name="adj" fmla="val 5000"/>
            </a:avLst>
          </a:prstGeom>
          <a:solidFill>
            <a:srgbClr val="F0F4F4"/>
          </a:solidFill>
          <a:ln/>
        </p:spPr>
      </p:sp>
      <p:sp>
        <p:nvSpPr>
          <p:cNvPr id="18" name="Text 16"/>
          <p:cNvSpPr/>
          <p:nvPr/>
        </p:nvSpPr>
        <p:spPr>
          <a:xfrm>
            <a:off x="8509000" y="1206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 BY VALUE DEMONSTRATION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9000" y="1549400"/>
            <a:ext cx="6731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Function receives a COPY</a:t>
            </a:r>
            <a:endParaRPr lang="en-US" sz="15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changeValue(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num) {</a:t>
            </a:r>
            <a:endParaRPr lang="en-US" sz="15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num = 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 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Only changes the copy</a:t>
            </a:r>
            <a:endParaRPr lang="en-US" sz="15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5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main() {</a:t>
            </a:r>
            <a:endParaRPr lang="en-US" sz="15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x = 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</a:t>
            </a:r>
            <a:endParaRPr lang="en-US" sz="15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changeValue(x);</a:t>
            </a:r>
            <a:endParaRPr lang="en-US" sz="15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x is still 5!</a:t>
            </a:r>
            <a:endParaRPr lang="en-US" sz="15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cout &lt;&lt; x; 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Outputs: 5</a:t>
            </a:r>
            <a:endParaRPr lang="en-US" sz="15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</a:t>
            </a:r>
            <a:endParaRPr lang="en-US" sz="15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55000" y="7175500"/>
            <a:ext cx="7239000" cy="1016000"/>
          </a:xfrm>
          <a:prstGeom prst="roundRect">
            <a:avLst>
              <a:gd name="adj" fmla="val 5000"/>
            </a:avLst>
          </a:prstGeom>
          <a:solidFill>
            <a:srgbClr val="E8F0F0"/>
          </a:solidFill>
          <a:ln/>
        </p:spPr>
      </p:sp>
      <p:sp>
        <p:nvSpPr>
          <p:cNvPr id="21" name="Text 19"/>
          <p:cNvSpPr/>
          <p:nvPr/>
        </p:nvSpPr>
        <p:spPr>
          <a:xfrm>
            <a:off x="8509000" y="7302500"/>
            <a:ext cx="673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5A6C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Flow:</a:t>
            </a:r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A6C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main() → argument copied → parameter receives copy → function works on copy → original unchanged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C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55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Menu-Driven Programs with Functions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954000" y="444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C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SOFTWARE ENGINEERING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2000" y="1079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Functions make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menu-driven programs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clean and maintainable. Each menu option calls a separate function — this is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modular design in practice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1968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 STRUCTURE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51000" y="2413000"/>
            <a:ext cx="2286000" cy="635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2413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displayMenu()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37000" y="2730500"/>
            <a:ext cx="762000" cy="0"/>
          </a:xfrm>
          <a:prstGeom prst="straightConnector1">
            <a:avLst/>
          </a:prstGeom>
          <a:noFill/>
          <a:ln w="25400">
            <a:solidFill>
              <a:srgbClr val="5A6C7D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699000" y="2413000"/>
            <a:ext cx="2286000" cy="635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4699000" y="2413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getUserChoice()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85000" y="2730500"/>
            <a:ext cx="762000" cy="0"/>
          </a:xfrm>
          <a:prstGeom prst="straightConnector1">
            <a:avLst/>
          </a:prstGeom>
          <a:noFill/>
          <a:ln w="25400">
            <a:solidFill>
              <a:srgbClr val="5A6C7D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7747000" y="2413000"/>
            <a:ext cx="2286000" cy="635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14" name="Text 12"/>
          <p:cNvSpPr/>
          <p:nvPr/>
        </p:nvSpPr>
        <p:spPr>
          <a:xfrm>
            <a:off x="7747000" y="2413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callFunction()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22000" y="1968500"/>
            <a:ext cx="1778000" cy="508000"/>
          </a:xfrm>
          <a:prstGeom prst="roundRect">
            <a:avLst>
              <a:gd name="adj" fmla="val 8000"/>
            </a:avLst>
          </a:prstGeom>
          <a:solidFill>
            <a:srgbClr val="F0F4F4"/>
          </a:solidFill>
          <a:ln w="254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22000" y="19685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add()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827000" y="1968500"/>
            <a:ext cx="1778000" cy="508000"/>
          </a:xfrm>
          <a:prstGeom prst="roundRect">
            <a:avLst>
              <a:gd name="adj" fmla="val 8000"/>
            </a:avLst>
          </a:prstGeom>
          <a:solidFill>
            <a:srgbClr val="F0F4F4"/>
          </a:solidFill>
          <a:ln w="254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27000" y="19685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subtract()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922000" y="2603500"/>
            <a:ext cx="1778000" cy="508000"/>
          </a:xfrm>
          <a:prstGeom prst="roundRect">
            <a:avLst>
              <a:gd name="adj" fmla="val 8000"/>
            </a:avLst>
          </a:prstGeom>
          <a:solidFill>
            <a:srgbClr val="F0F4F4"/>
          </a:solidFill>
          <a:ln w="254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22000" y="26035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multiply()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827000" y="2603500"/>
            <a:ext cx="1778000" cy="508000"/>
          </a:xfrm>
          <a:prstGeom prst="roundRect">
            <a:avLst>
              <a:gd name="adj" fmla="val 8000"/>
            </a:avLst>
          </a:prstGeom>
          <a:solidFill>
            <a:srgbClr val="F0F4F4"/>
          </a:solidFill>
          <a:ln w="254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27000" y="26035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divide()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033000" y="3048000"/>
            <a:ext cx="889000" cy="381000"/>
          </a:xfrm>
          <a:prstGeom prst="straightConnector1">
            <a:avLst/>
          </a:prstGeom>
          <a:noFill/>
          <a:ln w="25400">
            <a:solidFill>
              <a:srgbClr val="5A6C7D"/>
            </a:solidFill>
            <a:prstDash val="solid"/>
            <a:headEnd type="none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762000" y="3429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OF THIS DESIGN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37846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Easy to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 new menu options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without changing existing code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operation is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isolated and testable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Code is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self-documenting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function names describe actions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Follows the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Single Responsibility Principle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62000" y="5715000"/>
            <a:ext cx="14732000" cy="2667000"/>
          </a:xfrm>
          <a:prstGeom prst="roundRect">
            <a:avLst>
              <a:gd name="adj" fmla="val 4000"/>
            </a:avLst>
          </a:prstGeom>
          <a:solidFill>
            <a:srgbClr val="F0F4F4"/>
          </a:solidFill>
          <a:ln/>
        </p:spPr>
      </p:sp>
      <p:sp>
        <p:nvSpPr>
          <p:cNvPr id="27" name="Text 25"/>
          <p:cNvSpPr/>
          <p:nvPr/>
        </p:nvSpPr>
        <p:spPr>
          <a:xfrm>
            <a:off x="1016000" y="5816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CALCULATOR MENU SKELETON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6000" y="6159500"/>
            <a:ext cx="14224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displayMenu() { cout &lt;&lt;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"1. Add 2. Subtract 3. Multiply 4. Divide"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 }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getUserChoice() {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choice; cin &gt;&gt; choice;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choice; }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main() {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choice = getUserChoice();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(choice ==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add();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else if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(choice ==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subtract();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and so on...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 }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C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55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return Statement &amp; Boolean Functions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335000" y="4445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C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RETURNING DATA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2000" y="1079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return STATEMENT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435100"/>
            <a:ext cx="711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return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statement sends a value back to the caller: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Syntax: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return expression;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function can return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only one value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directly. The return type in the definition must match the value returned.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3492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 FUNCTIONS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848100"/>
            <a:ext cx="711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Functions with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return type don't return a value. They use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return;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(no value) to exit early when needed.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4953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BOOLEAN FUNCTIONS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308600"/>
            <a:ext cx="711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Boolean functions return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true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false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ideal for validation and decision-making.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Naming convention: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question-like names: isValid(), isEven(), hasPermission()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7340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USE CASES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7696200"/>
            <a:ext cx="711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Input validation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checking if data is valid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Condition testing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is a number even?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55000" y="1079500"/>
            <a:ext cx="7239000" cy="7302500"/>
          </a:xfrm>
          <a:prstGeom prst="roundRect">
            <a:avLst>
              <a:gd name="adj" fmla="val 5000"/>
            </a:avLst>
          </a:prstGeom>
          <a:solidFill>
            <a:srgbClr val="F0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8509000" y="1206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9000" y="1549400"/>
            <a:ext cx="6731000" cy="666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Returns a calculated value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circleArea(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r) {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3.14159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* r * r;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Boolean function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bool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isEven(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num) {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num %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==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Using boolean in condition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main() {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(isEven(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cout &lt;&lt;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"It's even!"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C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286000"/>
            <a:ext cx="254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16000" y="3683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 Scope &amp; Data Sharing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4508500"/>
            <a:ext cx="1524000" cy="0"/>
          </a:xfrm>
          <a:prstGeom prst="straightConnector1">
            <a:avLst/>
          </a:prstGeom>
          <a:noFill/>
          <a:ln w="38100">
            <a:solidFill>
              <a:srgbClr val="0D7377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016000" y="4762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8E8E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where variables exist, how long they persist, and how functions share data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55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Local, Global &amp; Static Variables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335000" y="4445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C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VARIABLE SCOPE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2000" y="1079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VARIABLES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435100"/>
            <a:ext cx="4699000" cy="1333500"/>
          </a:xfrm>
          <a:prstGeom prst="roundRect">
            <a:avLst>
              <a:gd name="adj" fmla="val 5000"/>
            </a:avLst>
          </a:prstGeom>
          <a:solidFill>
            <a:srgbClr val="F0F4F4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435100"/>
            <a:ext cx="63500" cy="133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1498600"/>
            <a:ext cx="4318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Declared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inside a function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Only accessible within that function. Created when the function starts, destroyed when it ends.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0" y="1079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VARIABLES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1435100"/>
            <a:ext cx="4699000" cy="1333500"/>
          </a:xfrm>
          <a:prstGeom prst="roundRect">
            <a:avLst>
              <a:gd name="adj" fmla="val 5000"/>
            </a:avLst>
          </a:prstGeom>
          <a:solidFill>
            <a:srgbClr val="F0F4F4"/>
          </a:solidFill>
          <a:ln/>
        </p:spPr>
      </p:sp>
      <p:sp>
        <p:nvSpPr>
          <p:cNvPr id="11" name="Shape 9"/>
          <p:cNvSpPr/>
          <p:nvPr/>
        </p:nvSpPr>
        <p:spPr>
          <a:xfrm>
            <a:off x="5715000" y="1435100"/>
            <a:ext cx="63500" cy="13335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1498600"/>
            <a:ext cx="4318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Declared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outside all functions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Accessible from any function. Persists for the entire program lifetime.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68000" y="1079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B6B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LOCAL VARIABLES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668000" y="1435100"/>
            <a:ext cx="4826000" cy="1333500"/>
          </a:xfrm>
          <a:prstGeom prst="roundRect">
            <a:avLst>
              <a:gd name="adj" fmla="val 5000"/>
            </a:avLst>
          </a:prstGeom>
          <a:solidFill>
            <a:srgbClr val="F0F4F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68000" y="1435100"/>
            <a:ext cx="63500" cy="1333500"/>
          </a:xfrm>
          <a:prstGeom prst="rect">
            <a:avLst/>
          </a:prstGeom>
          <a:solidFill>
            <a:srgbClr val="7B6BA0"/>
          </a:solidFill>
          <a:ln/>
        </p:spPr>
      </p:sp>
      <p:sp>
        <p:nvSpPr>
          <p:cNvPr id="16" name="Text 14"/>
          <p:cNvSpPr/>
          <p:nvPr/>
        </p:nvSpPr>
        <p:spPr>
          <a:xfrm>
            <a:off x="10896600" y="1498600"/>
            <a:ext cx="4445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Declared with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keyword inside a function. Retains value between function calls. Scope is still local.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04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8" name="Text 16"/>
          <p:cNvSpPr/>
          <p:nvPr/>
        </p:nvSpPr>
        <p:spPr>
          <a:xfrm>
            <a:off x="1168400" y="3048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34290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Minimize global variables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they make programs harder to debug and maintain. Prefer passing data through parameters. Use static locals only when you need to preserve state between calls (e.g., counters).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2000" y="4381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 TABLE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762500"/>
          <a:ext cx="14732000" cy="3556000"/>
        </p:xfrm>
        <a:graphic>
          <a:graphicData uri="http://schemas.openxmlformats.org/drawingml/2006/table">
            <a:tbl>
              <a:tblPr/>
              <a:tblGrid>
                <a:gridCol w="3241040"/>
                <a:gridCol w="3830320"/>
                <a:gridCol w="3830320"/>
                <a:gridCol w="3830320"/>
              </a:tblGrid>
              <a:tr h="639568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Local Variable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Global Variable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Static Local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729108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Scope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Inside function only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Entire program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Inside function only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729108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Lifetime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Function execution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Program lifetime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Program lifetime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4"/>
                    </a:solidFill>
                  </a:tcPr>
                </a:tc>
              </a:tr>
              <a:tr h="729108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Initialized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Each call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Once at start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Once at first call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729108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For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Temporary calculations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Shared constants (rarely)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Counters, caching values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C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55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Arguments &amp; Reference Parameters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335000" y="4445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C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SHARING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2000" y="1079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ARGUMENTS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435100"/>
            <a:ext cx="7112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Default arguments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provide preset values for parameters when the caller doesn't supply them.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Syntax: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void print(string msg = "Hello")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3048000"/>
            <a:ext cx="711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Default arguments must be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rightmost parameters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All parameters to their right must also have defaults.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4127500"/>
            <a:ext cx="7112000" cy="1778000"/>
          </a:xfrm>
          <a:prstGeom prst="roundRect">
            <a:avLst>
              <a:gd name="adj" fmla="val 5000"/>
            </a:avLst>
          </a:prstGeom>
          <a:solidFill>
            <a:srgbClr val="F0F4F4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4229100"/>
            <a:ext cx="66548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Function with default argument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greet(string name =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"Guest"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{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cout &lt;&lt;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"Hello, "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&lt;&lt; name; }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greet();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"Hello, Guest"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greet(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"Alice"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"Hello, Alice"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000" y="5969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REFERENCE PARAMETERS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6324600"/>
            <a:ext cx="7112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reference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an alias for an existing variable. When used as a parameter, the function can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modify the original argument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directly.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Syntax: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void swap(int &amp;a, int &amp;b)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&amp;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indicates a reference. Unlike pass-by-value, changes affect the original variable.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55000" y="1079500"/>
            <a:ext cx="7239000" cy="7175500"/>
          </a:xfrm>
          <a:prstGeom prst="roundRect">
            <a:avLst>
              <a:gd name="adj" fmla="val 5000"/>
            </a:avLst>
          </a:prstGeom>
          <a:solidFill>
            <a:srgbClr val="F0F4F4"/>
          </a:solidFill>
          <a:ln/>
        </p:spPr>
      </p:sp>
      <p:sp>
        <p:nvSpPr>
          <p:cNvPr id="13" name="Text 11"/>
          <p:cNvSpPr/>
          <p:nvPr/>
        </p:nvSpPr>
        <p:spPr>
          <a:xfrm>
            <a:off x="8509000" y="1206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REFERENCE PARAMETER EXAMPLE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09000" y="1549400"/>
            <a:ext cx="6731000" cy="654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References modify the original!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swap(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&amp;a,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&amp;b) {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temp = a;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= b;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 = temp;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main() {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x =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y =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swap(x, y);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x is now 10, y is 5!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cout &lt;&lt; x &lt;&lt;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 "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&lt;&lt; y;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Output: 10 5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C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286000"/>
            <a:ext cx="254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16000" y="3683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Function Concepts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4508500"/>
            <a:ext cx="1524000" cy="0"/>
          </a:xfrm>
          <a:prstGeom prst="straightConnector1">
            <a:avLst/>
          </a:prstGeom>
          <a:noFill/>
          <a:ln w="38100">
            <a:solidFill>
              <a:srgbClr val="0D7377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016000" y="4762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8E8E9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Overloading, program termination, and testing techniques for professional development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55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Overloading, exit(), Stubs &amp; Drivers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335000" y="4445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C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ADVANCED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2000" y="1079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 OVERLOADING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435100"/>
            <a:ext cx="711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Overloading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allows multiple functions with the same name but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different parameter lists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The compiler picks the right one based on arguments.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9464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Same name, different parameters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area(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r);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circle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area(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w,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h);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rectangle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40640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Note: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Return type alone does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distinguish overloaded functions.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4953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exit() FUNCTION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308600"/>
            <a:ext cx="7112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exit()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terminates the program immediately from any function. Include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&lt;cstdlib&gt;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exit(0)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normal termination |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exit(1)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error termination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68834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STUBS &amp; DRIVERS — TESTING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7239000"/>
            <a:ext cx="711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Stubs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 placeholder functions that return dummy values for unfinished code.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Drivers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 test programs that call and verify individual functions.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Practice: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Test each function independently before integrating.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55000" y="1079500"/>
            <a:ext cx="7239000" cy="7493000"/>
          </a:xfrm>
          <a:prstGeom prst="roundRect">
            <a:avLst>
              <a:gd name="adj" fmla="val 5000"/>
            </a:avLst>
          </a:prstGeom>
          <a:solidFill>
            <a:srgbClr val="F0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8509000" y="1206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OVERLOADING IN ACTION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9000" y="1549400"/>
            <a:ext cx="6731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Three overloaded functions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area(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r) {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3.14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* r * r; }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area(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w,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h) {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 * h; }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area(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a,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b,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c) {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 = (a+b+c)/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sqrt(s*(s-a)*(s-b)*(s-c)); }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509000" y="4762500"/>
            <a:ext cx="6731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8509000" y="49276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STUB EXAMPLE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9000" y="5270500"/>
            <a:ext cx="6731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Stub — placeholder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complexCalc(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x) {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0.0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dummy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Driver — test program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D494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main() {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cout &lt;&lt; area(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5.0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circle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cout &lt;&lt; area(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4.0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6.0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0D73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rect</a:t>
            </a:r>
            <a:endParaRPr lang="en-US" sz="15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A6C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 }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A6C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8000" y="1651000"/>
            <a:ext cx="5080000" cy="0"/>
          </a:xfrm>
          <a:prstGeom prst="straightConnector1">
            <a:avLst/>
          </a:prstGeom>
          <a:noFill/>
          <a:ln w="25400">
            <a:solidFill>
              <a:srgbClr val="0D7377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778000" y="1905000"/>
            <a:ext cx="1270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588000" y="2794000"/>
            <a:ext cx="5080000" cy="0"/>
          </a:xfrm>
          <a:prstGeom prst="straightConnector1">
            <a:avLst/>
          </a:prstGeom>
          <a:noFill/>
          <a:ln w="25400">
            <a:solidFill>
              <a:srgbClr val="0D7377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778000" y="336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7247" y="-903"/>
                </a:moveTo>
                <a:cubicBezTo>
                  <a:pt x="185231" y="-7848"/>
                  <a:pt x="170369" y="-7848"/>
                  <a:pt x="158353" y="-903"/>
                </a:cubicBezTo>
                <a:lnTo>
                  <a:pt x="99874" y="32851"/>
                </a:lnTo>
                <a:cubicBezTo>
                  <a:pt x="87858" y="39797"/>
                  <a:pt x="80427" y="52645"/>
                  <a:pt x="80427" y="66536"/>
                </a:cubicBezTo>
                <a:lnTo>
                  <a:pt x="80427" y="137309"/>
                </a:lnTo>
                <a:lnTo>
                  <a:pt x="19100" y="172730"/>
                </a:lnTo>
                <a:cubicBezTo>
                  <a:pt x="7084" y="179675"/>
                  <a:pt x="-347" y="192524"/>
                  <a:pt x="-347" y="206415"/>
                </a:cubicBezTo>
                <a:lnTo>
                  <a:pt x="-347" y="273993"/>
                </a:lnTo>
                <a:cubicBezTo>
                  <a:pt x="-347" y="287883"/>
                  <a:pt x="7084" y="300732"/>
                  <a:pt x="19100" y="307677"/>
                </a:cubicBezTo>
                <a:lnTo>
                  <a:pt x="77649" y="341432"/>
                </a:lnTo>
                <a:cubicBezTo>
                  <a:pt x="89664" y="348377"/>
                  <a:pt x="104527" y="348377"/>
                  <a:pt x="116542" y="341432"/>
                </a:cubicBezTo>
                <a:lnTo>
                  <a:pt x="177869" y="306010"/>
                </a:lnTo>
                <a:lnTo>
                  <a:pt x="239197" y="341432"/>
                </a:lnTo>
                <a:cubicBezTo>
                  <a:pt x="251212" y="348377"/>
                  <a:pt x="266075" y="348377"/>
                  <a:pt x="278090" y="341432"/>
                </a:cubicBezTo>
                <a:lnTo>
                  <a:pt x="336500" y="307677"/>
                </a:lnTo>
                <a:cubicBezTo>
                  <a:pt x="348516" y="300732"/>
                  <a:pt x="355947" y="287883"/>
                  <a:pt x="355947" y="273993"/>
                </a:cubicBezTo>
                <a:lnTo>
                  <a:pt x="355947" y="206415"/>
                </a:lnTo>
                <a:cubicBezTo>
                  <a:pt x="355947" y="192524"/>
                  <a:pt x="348516" y="179675"/>
                  <a:pt x="336500" y="172730"/>
                </a:cubicBezTo>
                <a:lnTo>
                  <a:pt x="275173" y="137309"/>
                </a:lnTo>
                <a:lnTo>
                  <a:pt x="275173" y="66536"/>
                </a:lnTo>
                <a:cubicBezTo>
                  <a:pt x="275173" y="52645"/>
                  <a:pt x="267742" y="39797"/>
                  <a:pt x="255726" y="32851"/>
                </a:cubicBezTo>
                <a:lnTo>
                  <a:pt x="197247" y="-903"/>
                </a:lnTo>
                <a:close/>
                <a:moveTo>
                  <a:pt x="161131" y="203220"/>
                </a:moveTo>
                <a:lnTo>
                  <a:pt x="161131" y="277187"/>
                </a:lnTo>
                <a:lnTo>
                  <a:pt x="99804" y="312609"/>
                </a:lnTo>
                <a:cubicBezTo>
                  <a:pt x="98971" y="313095"/>
                  <a:pt x="97998" y="313373"/>
                  <a:pt x="97026" y="313373"/>
                </a:cubicBezTo>
                <a:lnTo>
                  <a:pt x="97026" y="240238"/>
                </a:lnTo>
                <a:lnTo>
                  <a:pt x="161131" y="203220"/>
                </a:lnTo>
                <a:close/>
                <a:moveTo>
                  <a:pt x="321846" y="203637"/>
                </a:moveTo>
                <a:cubicBezTo>
                  <a:pt x="322332" y="204470"/>
                  <a:pt x="322610" y="205442"/>
                  <a:pt x="322610" y="206415"/>
                </a:cubicBezTo>
                <a:lnTo>
                  <a:pt x="322610" y="273993"/>
                </a:lnTo>
                <a:cubicBezTo>
                  <a:pt x="322610" y="276007"/>
                  <a:pt x="321568" y="277813"/>
                  <a:pt x="319832" y="278785"/>
                </a:cubicBezTo>
                <a:lnTo>
                  <a:pt x="261283" y="312539"/>
                </a:lnTo>
                <a:cubicBezTo>
                  <a:pt x="260449" y="313025"/>
                  <a:pt x="259477" y="313303"/>
                  <a:pt x="258505" y="313303"/>
                </a:cubicBezTo>
                <a:lnTo>
                  <a:pt x="258505" y="240169"/>
                </a:lnTo>
                <a:lnTo>
                  <a:pt x="321846" y="203637"/>
                </a:lnTo>
                <a:close/>
                <a:moveTo>
                  <a:pt x="241905" y="66536"/>
                </a:moveTo>
                <a:lnTo>
                  <a:pt x="241905" y="137309"/>
                </a:lnTo>
                <a:lnTo>
                  <a:pt x="177800" y="174327"/>
                </a:lnTo>
                <a:lnTo>
                  <a:pt x="177800" y="100360"/>
                </a:lnTo>
                <a:lnTo>
                  <a:pt x="241141" y="63827"/>
                </a:lnTo>
                <a:cubicBezTo>
                  <a:pt x="241627" y="64661"/>
                  <a:pt x="241905" y="65633"/>
                  <a:pt x="241905" y="66606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3302000"/>
            <a:ext cx="1219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 are the foundation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modular, maintainable code. Break problems into smaller pieces — divide and conquer.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55775" y="4381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4318000"/>
            <a:ext cx="1219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 the essentials: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prototypes, parameters, return values, and scope. These are your daily tools as a programmer.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778000" y="539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9071" y="104596"/>
                </a:moveTo>
                <a:lnTo>
                  <a:pt x="282396" y="171271"/>
                </a:lnTo>
                <a:cubicBezTo>
                  <a:pt x="276007" y="177661"/>
                  <a:pt x="266492" y="179536"/>
                  <a:pt x="258157" y="176064"/>
                </a:cubicBezTo>
                <a:cubicBezTo>
                  <a:pt x="249823" y="172591"/>
                  <a:pt x="244475" y="164534"/>
                  <a:pt x="244475" y="155575"/>
                </a:cubicBezTo>
                <a:lnTo>
                  <a:pt x="244475" y="111125"/>
                </a:lnTo>
                <a:lnTo>
                  <a:pt x="22225" y="111125"/>
                </a:lnTo>
                <a:cubicBezTo>
                  <a:pt x="9932" y="111125"/>
                  <a:pt x="0" y="101193"/>
                  <a:pt x="0" y="88900"/>
                </a:cubicBezTo>
                <a:cubicBezTo>
                  <a:pt x="0" y="76607"/>
                  <a:pt x="9932" y="66675"/>
                  <a:pt x="22225" y="66675"/>
                </a:cubicBezTo>
                <a:lnTo>
                  <a:pt x="244475" y="66675"/>
                </a:lnTo>
                <a:lnTo>
                  <a:pt x="244475" y="22225"/>
                </a:lnTo>
                <a:cubicBezTo>
                  <a:pt x="244475" y="13266"/>
                  <a:pt x="249892" y="5140"/>
                  <a:pt x="258227" y="1667"/>
                </a:cubicBezTo>
                <a:cubicBezTo>
                  <a:pt x="266561" y="-1806"/>
                  <a:pt x="276076" y="139"/>
                  <a:pt x="282466" y="6459"/>
                </a:cubicBezTo>
                <a:lnTo>
                  <a:pt x="349141" y="73134"/>
                </a:lnTo>
                <a:cubicBezTo>
                  <a:pt x="357823" y="81816"/>
                  <a:pt x="357823" y="95915"/>
                  <a:pt x="349141" y="104596"/>
                </a:cubicBezTo>
                <a:close/>
                <a:moveTo>
                  <a:pt x="73134" y="349071"/>
                </a:moveTo>
                <a:lnTo>
                  <a:pt x="6459" y="282396"/>
                </a:lnTo>
                <a:cubicBezTo>
                  <a:pt x="-2222" y="273715"/>
                  <a:pt x="-2222" y="259616"/>
                  <a:pt x="6459" y="250934"/>
                </a:cubicBezTo>
                <a:lnTo>
                  <a:pt x="73134" y="184259"/>
                </a:lnTo>
                <a:cubicBezTo>
                  <a:pt x="79524" y="177869"/>
                  <a:pt x="89039" y="175994"/>
                  <a:pt x="97373" y="179467"/>
                </a:cubicBezTo>
                <a:cubicBezTo>
                  <a:pt x="105708" y="182940"/>
                  <a:pt x="111125" y="191066"/>
                  <a:pt x="111125" y="200025"/>
                </a:cubicBezTo>
                <a:lnTo>
                  <a:pt x="111125" y="244475"/>
                </a:lnTo>
                <a:lnTo>
                  <a:pt x="333375" y="244475"/>
                </a:lnTo>
                <a:cubicBezTo>
                  <a:pt x="345668" y="244475"/>
                  <a:pt x="355600" y="254407"/>
                  <a:pt x="355600" y="266700"/>
                </a:cubicBezTo>
                <a:cubicBezTo>
                  <a:pt x="355600" y="278993"/>
                  <a:pt x="345668" y="288925"/>
                  <a:pt x="333375" y="288925"/>
                </a:cubicBezTo>
                <a:lnTo>
                  <a:pt x="111125" y="288925"/>
                </a:lnTo>
                <a:lnTo>
                  <a:pt x="111125" y="333375"/>
                </a:lnTo>
                <a:cubicBezTo>
                  <a:pt x="111125" y="342334"/>
                  <a:pt x="105708" y="350460"/>
                  <a:pt x="97373" y="353933"/>
                </a:cubicBezTo>
                <a:cubicBezTo>
                  <a:pt x="89039" y="357406"/>
                  <a:pt x="79524" y="355461"/>
                  <a:pt x="73134" y="349141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5334000"/>
            <a:ext cx="1219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 by value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protects data;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references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 direct modification with efficiency. Choose wisely.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00225" y="6413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00025" y="0"/>
                </a:moveTo>
                <a:lnTo>
                  <a:pt x="88900" y="0"/>
                </a:lnTo>
                <a:cubicBezTo>
                  <a:pt x="76607" y="0"/>
                  <a:pt x="66675" y="9932"/>
                  <a:pt x="66675" y="22225"/>
                </a:cubicBezTo>
                <a:cubicBezTo>
                  <a:pt x="66675" y="34518"/>
                  <a:pt x="76607" y="44450"/>
                  <a:pt x="88900" y="44450"/>
                </a:cubicBezTo>
                <a:lnTo>
                  <a:pt x="88900" y="149671"/>
                </a:lnTo>
                <a:lnTo>
                  <a:pt x="5209" y="296079"/>
                </a:lnTo>
                <a:cubicBezTo>
                  <a:pt x="1806" y="302121"/>
                  <a:pt x="0" y="308858"/>
                  <a:pt x="0" y="315803"/>
                </a:cubicBezTo>
                <a:cubicBezTo>
                  <a:pt x="0" y="337820"/>
                  <a:pt x="17780" y="355600"/>
                  <a:pt x="39797" y="355600"/>
                </a:cubicBezTo>
                <a:lnTo>
                  <a:pt x="271353" y="355600"/>
                </a:lnTo>
                <a:cubicBezTo>
                  <a:pt x="293301" y="355600"/>
                  <a:pt x="311150" y="337820"/>
                  <a:pt x="311150" y="315803"/>
                </a:cubicBezTo>
                <a:cubicBezTo>
                  <a:pt x="311150" y="308858"/>
                  <a:pt x="309344" y="302052"/>
                  <a:pt x="305941" y="296079"/>
                </a:cubicBezTo>
                <a:lnTo>
                  <a:pt x="222250" y="149671"/>
                </a:lnTo>
                <a:lnTo>
                  <a:pt x="222250" y="44450"/>
                </a:lnTo>
                <a:cubicBezTo>
                  <a:pt x="234543" y="44450"/>
                  <a:pt x="244475" y="34518"/>
                  <a:pt x="244475" y="22225"/>
                </a:cubicBezTo>
                <a:cubicBezTo>
                  <a:pt x="244475" y="9932"/>
                  <a:pt x="234543" y="0"/>
                  <a:pt x="222250" y="0"/>
                </a:cubicBezTo>
                <a:lnTo>
                  <a:pt x="200025" y="0"/>
                </a:lnTo>
                <a:close/>
                <a:moveTo>
                  <a:pt x="133350" y="149671"/>
                </a:moveTo>
                <a:lnTo>
                  <a:pt x="133350" y="44450"/>
                </a:lnTo>
                <a:lnTo>
                  <a:pt x="177800" y="44450"/>
                </a:lnTo>
                <a:lnTo>
                  <a:pt x="177800" y="149671"/>
                </a:lnTo>
                <a:cubicBezTo>
                  <a:pt x="177800" y="157381"/>
                  <a:pt x="179814" y="165021"/>
                  <a:pt x="183634" y="171758"/>
                </a:cubicBezTo>
                <a:lnTo>
                  <a:pt x="212527" y="222250"/>
                </a:lnTo>
                <a:lnTo>
                  <a:pt x="98623" y="222250"/>
                </a:lnTo>
                <a:lnTo>
                  <a:pt x="127516" y="171758"/>
                </a:lnTo>
                <a:cubicBezTo>
                  <a:pt x="131336" y="165021"/>
                  <a:pt x="133350" y="157450"/>
                  <a:pt x="133350" y="149671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6350000"/>
            <a:ext cx="1219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software engineering principles: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 with stubs/drivers, design with modularity, write clean reusable code.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18000" y="7493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functions. Build better software.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Fundamentals: Functions</dc:title>
  <dc:subject>Programming Fundamentals: Functions</dc:subject>
  <dc:creator>Kimi</dc:creator>
  <cp:lastModifiedBy>Kimi</cp:lastModifiedBy>
  <cp:revision>1</cp:revision>
  <dcterms:created xsi:type="dcterms:W3CDTF">2026-05-27T22:33:21Z</dcterms:created>
  <dcterms:modified xsi:type="dcterms:W3CDTF">2026-05-27T22:33:21Z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{"Label":"Programming Fundamentals: Functions","ContentProducer":"001191110108MACG2KBH8F10000","ProduceID":"19e6b90d-d972-8da5-8000-0000dc759a42","ReservedCode1":"","ContentPropagator":"001191110108MACG2KBH8F20000","PropagateID":"19e6b90d-d972-8da5-8000-0000dc759a42","ReservedCode2":""}</vt:lpwstr>
  </property>
</Properties>
</file>