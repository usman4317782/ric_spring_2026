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  <p:embeddedFontLst>
    <p:embeddedFont>
      <p:font typeface="Quattrocento Sans" charset="-122" pitchFamily="34"/>
      <p:regular r:id="rId33"/>
    </p:embeddedFont>
    <p:embeddedFont>
      <p:font typeface="Liter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sokuakso5iyo/mnt/agents/output/intro-to-cpp/images/3_Dark_blue_technology_background_Images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1C2E">
                  <a:alpha val="80000"/>
                </a:srgbClr>
              </a:gs>
              <a:gs pos="100000">
                <a:srgbClr val="131C2E">
                  <a:alpha val="94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C++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3683000" y="457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B0B8C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Fundamentals — Weeks 3-4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18000" y="762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300" kern="0" dirty="0">
                <a:solidFill>
                  <a:srgbClr val="7A84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MODULE 03-04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Learn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016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3495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03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02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 with C++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7846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structure, the cout object, and preprocessor directives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3495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2603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3302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and Data Types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37846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Storing data with variables, identifiers, and C++ data types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5245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778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477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Operators and Best Practices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9596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Arithmetic operators, comments, constants, and programming style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55245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5778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6477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&amp; 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69596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Quiz preparation and key concepts summary for Week 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sokuakso5iyo/mnt/agents/output/intro-to-cpp/images/6_Dark_Blue_Technology_Stock_Photos.png">    </p:cNvPr>
          <p:cNvPicPr>
            <a:picLocks noChangeAspect="1"/>
          </p:cNvPicPr>
          <p:nvPr/>
        </p:nvPicPr>
        <p:blipFill>
          <a:blip r:embed="rId1"/>
          <a:srcRect l="1540" r="154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1C2E">
                  <a:alpha val="94000"/>
                </a:srgbClr>
              </a:gs>
              <a:gs pos="60000">
                <a:srgbClr val="131C2E">
                  <a:alpha val="88000"/>
                </a:srgbClr>
              </a:gs>
              <a:gs pos="100000">
                <a:srgbClr val="131C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 with C++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0AA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structure of a C++ program, output operations, and preprocessor directives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Parts of a C++ Program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6858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22400"/>
            <a:ext cx="635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C++ program has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structure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essential components that work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03500"/>
            <a:ext cx="6858000" cy="5969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ANATOMY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175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Preprocessor directive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556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937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Namespace declaration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318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826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Main function — entry 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207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" y="55880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"Hello, World!"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59690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Exit status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350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0" y="1333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0" y="1841500"/>
            <a:ext cx="7366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main()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entry point where program execution begins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#include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Brings in pre-written code from header files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namespace std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Allows using standard library items without prefix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Braces {}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Define the body of functions and code blocks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Semicolon ;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Required at the end of every statement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0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Signals successful program completion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cout Object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(character output) displays text and values on the screen.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Defined in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&lt;iostream&gt;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part of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 insertion operator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&lt;&lt;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send data to output.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multiple outputs in a single statement.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endl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"\n"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insert a new 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826000"/>
            <a:ext cx="6858000" cy="3810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953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5334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"Hello!"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20;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"Age: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333500"/>
            <a:ext cx="7366000" cy="1524000"/>
          </a:xfrm>
          <a:prstGeom prst="roundRect">
            <a:avLst>
              <a:gd name="adj" fmla="val 6000"/>
            </a:avLst>
          </a:prstGeom>
          <a:solidFill>
            <a:srgbClr val="E8F0E8"/>
          </a:solidFill>
          <a:ln/>
        </p:spPr>
      </p:sp>
      <p:sp>
        <p:nvSpPr>
          <p:cNvPr id="9" name="Shape 7"/>
          <p:cNvSpPr/>
          <p:nvPr/>
        </p:nvSpPr>
        <p:spPr>
          <a:xfrm>
            <a:off x="83820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70604"/>
                </a:moveTo>
                <a:cubicBezTo>
                  <a:pt x="-1845" y="63163"/>
                  <a:pt x="-1845" y="51078"/>
                  <a:pt x="5596" y="43636"/>
                </a:cubicBezTo>
                <a:cubicBezTo>
                  <a:pt x="13037" y="36195"/>
                  <a:pt x="25122" y="36195"/>
                  <a:pt x="32564" y="43636"/>
                </a:cubicBezTo>
                <a:lnTo>
                  <a:pt x="127814" y="138886"/>
                </a:lnTo>
                <a:cubicBezTo>
                  <a:pt x="135255" y="146328"/>
                  <a:pt x="135255" y="158413"/>
                  <a:pt x="127814" y="165854"/>
                </a:cubicBezTo>
                <a:lnTo>
                  <a:pt x="32564" y="261104"/>
                </a:lnTo>
                <a:cubicBezTo>
                  <a:pt x="25122" y="268545"/>
                  <a:pt x="13037" y="268545"/>
                  <a:pt x="5596" y="261104"/>
                </a:cubicBezTo>
                <a:cubicBezTo>
                  <a:pt x="-1845" y="253663"/>
                  <a:pt x="-1845" y="241578"/>
                  <a:pt x="5596" y="234136"/>
                </a:cubicBezTo>
                <a:lnTo>
                  <a:pt x="87332" y="152400"/>
                </a:lnTo>
                <a:lnTo>
                  <a:pt x="5596" y="70604"/>
                </a:ln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0" name="Text 8"/>
          <p:cNvSpPr/>
          <p:nvPr/>
        </p:nvSpPr>
        <p:spPr>
          <a:xfrm>
            <a:off x="87884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9685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Hello!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Age: 20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3175000"/>
            <a:ext cx="7366000" cy="5461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8489950" y="342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3403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5500" y="3937000"/>
            <a:ext cx="67945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&lt;&lt;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insertion operator — it "inserts" data into the output stream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endl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adds a newline AND flushes the output buffer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"\n"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adds only a newline (faster for many outputs)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 mix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one cout statement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include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#include &lt;iostream&gt;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using cout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#include Directive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preprocessor directive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tells the compiler to include a header file before compilation.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4318000" cy="8890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76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Write Source Code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07000" y="2819400"/>
            <a:ext cx="508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842000" y="2476500"/>
            <a:ext cx="4318000" cy="889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5842000" y="2476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Preprocessor Runs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87000" y="2819400"/>
            <a:ext cx="508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0922000" y="2476500"/>
            <a:ext cx="4572000" cy="8890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24765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Compiler Generates EXE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746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Forms of #include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445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889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Angle brackets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&lt;&gt;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system/header files that come with the compiler. The compiler searches in system directories.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223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350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"myheader.h"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794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quotes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your own custom header files. The compiler searches in the current project directory first.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746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Header Files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4318000"/>
          <a:ext cx="7112000" cy="3556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Header File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&lt;iostream&gt;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 and output operations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&lt;string&gt;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 manipulation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&lt;cmath&gt;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Math functions (sqrt, pow)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&lt;iomanip&gt;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formatting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sokuakso5iyo/mnt/agents/output/intro-to-cpp/images/6_Dark_Blue_Technology_Stock_Photos.png">    </p:cNvPr>
          <p:cNvPicPr>
            <a:picLocks noChangeAspect="1"/>
          </p:cNvPicPr>
          <p:nvPr/>
        </p:nvPicPr>
        <p:blipFill>
          <a:blip r:embed="rId1"/>
          <a:srcRect l="1540" r="154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1C2E">
                  <a:alpha val="94000"/>
                </a:srgbClr>
              </a:gs>
              <a:gs pos="60000">
                <a:srgbClr val="131C2E">
                  <a:alpha val="88000"/>
                </a:srgbClr>
              </a:gs>
              <a:gs pos="100000">
                <a:srgbClr val="131C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and Data Types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0AA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Storing and manipulating data with variables, identifiers, and C++ data types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Variables, Literals, and Assignment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14732000" cy="825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397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named memory location that stores a value.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fixed value written directly in code.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Analogy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3048000"/>
            <a:ext cx="2032000" cy="1270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111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5306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6000" y="3048000"/>
            <a:ext cx="2032000" cy="1270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556000" y="3111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56000" y="35306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9.99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3048000"/>
            <a:ext cx="2032000" cy="1270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3111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35306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445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variable is a named "box" in memory that holds a value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01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Patterns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524500"/>
            <a:ext cx="457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a variable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Assign a value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= 20;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+ assign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20;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88000" y="5524500"/>
            <a:ext cx="457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Literals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integer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string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3.14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floating-point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character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2476500"/>
            <a:ext cx="4826000" cy="6223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85500" y="273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0" y="27051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Rules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85500" y="3302000"/>
            <a:ext cx="42545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must be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use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specify 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 can be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changed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assignment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names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x, y, z)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Uninitialized variables contain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garbage values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494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name given to a variable, function, or other program element. C++ 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case-sensitive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for Valid Identifiers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5050" y="2857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7" name="Text 5"/>
          <p:cNvSpPr/>
          <p:nvPr/>
        </p:nvSpPr>
        <p:spPr>
          <a:xfrm>
            <a:off x="1460500" y="28194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start with a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letter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(a-z, A-Z) or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underscore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(_)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35050" y="3327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32893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contain letters, digits (0-9), and underscores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35050" y="3797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37592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be a C++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reserved keyword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35050" y="426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42291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Case-sensitive: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different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953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Examples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397500"/>
            <a:ext cx="6858000" cy="1524000"/>
          </a:xfrm>
          <a:prstGeom prst="roundRect">
            <a:avLst>
              <a:gd name="adj" fmla="val 6000"/>
            </a:avLst>
          </a:prstGeom>
          <a:solidFill>
            <a:srgbClr val="E8F0E8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524500"/>
            <a:ext cx="635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studentName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_count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age25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totalScore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MAX_SIZE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firstName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0" y="4953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Examples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5397500"/>
            <a:ext cx="7366000" cy="1524000"/>
          </a:xfrm>
          <a:prstGeom prst="roundRect">
            <a:avLst>
              <a:gd name="adj" fmla="val 6000"/>
            </a:avLst>
          </a:prstGeom>
          <a:solidFill>
            <a:srgbClr val="F5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55245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25age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(starts with digit)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my-age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(contains hyphen)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class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(reserved keyword)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717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Reserved Keywords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620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return if else class namespace using const bool char double float long short signed unsigned void while for do break continue switch case default struct enum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Data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whole numbers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decimal points — positive, negative, or zero. C++ provides multiple integer types with different sizes.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3302000"/>
        </p:xfrm>
        <a:graphic>
          <a:graphicData uri="http://schemas.openxmlformats.org/drawingml/2006/table">
            <a:tbl>
              <a:tblPr/>
              <a:tblGrid>
                <a:gridCol w="2651760"/>
                <a:gridCol w="1767840"/>
                <a:gridCol w="5156200"/>
                <a:gridCol w="5156200"/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 (Signed)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 bytes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-32,768 to 32,767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 s = 100;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bytes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-2,147,483,648 to 2,147,483,647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 age = 20;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4-8 bytes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dependent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 dist = 150000L;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 long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bytes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large numbers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 long big = 9e18;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90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unsigned Modifier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413500"/>
            <a:ext cx="6858000" cy="1778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540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Prefix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unsigned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store only positive values — this doubles the positive range.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unsigned int score = 95;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28000" y="5905500"/>
            <a:ext cx="7366000" cy="22860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/>
        </p:spPr>
      </p:sp>
      <p:sp>
        <p:nvSpPr>
          <p:cNvPr id="10" name="Shape 7"/>
          <p:cNvSpPr/>
          <p:nvPr/>
        </p:nvSpPr>
        <p:spPr>
          <a:xfrm>
            <a:off x="8489950" y="6096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8"/>
          <p:cNvSpPr/>
          <p:nvPr/>
        </p:nvSpPr>
        <p:spPr>
          <a:xfrm>
            <a:off x="8890000" y="6070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45500" y="6604000"/>
            <a:ext cx="679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most purposes — it is the standard integer type and works on all systems. 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long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when you need very large numbers.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char Data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character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letter, digit, or symbol. It uses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byte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stores the character's ASCII code internally.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Declared with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quotes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 grade = 'A';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98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ASCII Values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429000"/>
          <a:ext cx="7112000" cy="2794000"/>
        </p:xfrm>
        <a:graphic>
          <a:graphicData uri="http://schemas.openxmlformats.org/drawingml/2006/table">
            <a:tbl>
              <a:tblPr/>
              <a:tblGrid>
                <a:gridCol w="1422400"/>
                <a:gridCol w="1422400"/>
                <a:gridCol w="1422400"/>
                <a:gridCol w="1422400"/>
                <a:gridCol w="14224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ASCII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ASCII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'0' - '9'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48 - 57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'A' - 'Z'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65 - 90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'a' - 'z'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97 - 122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 ' (space)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'\n'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'\t'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413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chars store ASCII values, you can do arithmetic: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 + 1 = 'B'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Escape Sequences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778000"/>
          <a:ext cx="7112000" cy="2794000"/>
        </p:xfrm>
        <a:graphic>
          <a:graphicData uri="http://schemas.openxmlformats.org/drawingml/2006/table">
            <a:tbl>
              <a:tblPr/>
              <a:tblGrid>
                <a:gridCol w="2133600"/>
                <a:gridCol w="2489200"/>
                <a:gridCol w="24892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Result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'\\n'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Newline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Moves to next line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'\\t'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Horizontal tab space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'\\\\'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Backslash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Prints a \ character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'\\''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quote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Prints a ' character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382000" y="49530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11" name="Text 7"/>
          <p:cNvSpPr/>
          <p:nvPr/>
        </p:nvSpPr>
        <p:spPr>
          <a:xfrm>
            <a:off x="8636000" y="5080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36000" y="54610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grade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symbol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'$'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grade;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'\n'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Newline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'\t'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Tab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next =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+ 1;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next = 'B'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C++ string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stores a sequence of characters (text). Unlike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which holds one character, strings can hold entire words, sentences, or paragraphs.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&lt;string&gt;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header file. Part of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064000"/>
            <a:ext cx="7112000" cy="4699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191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4572000"/>
            <a:ext cx="660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&lt;string&gt;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msg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"Hello,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name;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msg;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Hello, Alice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msg.length();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Operations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7780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9685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Declaration: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double quotes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 = "Hello";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Concatenation: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+ operator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full = first + " " + last;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Length: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.length() method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n = name.length();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 vs. string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5842000"/>
          <a:ext cx="7112000" cy="1778000"/>
        </p:xfrm>
        <a:graphic>
          <a:graphicData uri="http://schemas.openxmlformats.org/drawingml/2006/table">
            <a:tbl>
              <a:tblPr/>
              <a:tblGrid>
                <a:gridCol w="2133600"/>
                <a:gridCol w="2489200"/>
                <a:gridCol w="2489200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Capacity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character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Many characters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Quotes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'A' (single)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 (double)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Floating-Point Data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Floating-point types store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numbers with decimal points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They are essential for scientific, financial, and mathematical calculations.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2540000"/>
        </p:xfrm>
        <a:graphic>
          <a:graphicData uri="http://schemas.openxmlformats.org/drawingml/2006/table">
            <a:tbl>
              <a:tblPr/>
              <a:tblGrid>
                <a:gridCol w="2651760"/>
                <a:gridCol w="1767840"/>
                <a:gridCol w="2209800"/>
                <a:gridCol w="81026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bytes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~7 digits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 price = 9.99f; (note the 'f' suffix)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bytes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 digits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pi = 3.141592653589;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 double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8-16 bytes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Extended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 double precise = 1.23456789L;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143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4"/>
          <p:cNvSpPr/>
          <p:nvPr/>
        </p:nvSpPr>
        <p:spPr>
          <a:xfrm>
            <a:off x="10160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8" name="Text 5"/>
          <p:cNvSpPr/>
          <p:nvPr/>
        </p:nvSpPr>
        <p:spPr>
          <a:xfrm>
            <a:off x="1498600" y="530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Warning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5778500"/>
            <a:ext cx="660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Floating-point arithmetic can have tiny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rounding errors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due to how numbers are stored in binary.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 + 0.2 might equal 0.30000000000000004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most applications. Use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when memory is limited.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2000" y="5143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11" name="Text 8"/>
          <p:cNvSpPr/>
          <p:nvPr/>
        </p:nvSpPr>
        <p:spPr>
          <a:xfrm>
            <a:off x="8636000" y="527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LITERAL SUFFIXES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0" y="57150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3.14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double (default)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3.14f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float (f suffix)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3.14L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long double (L suffix)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3.14e2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scientific notation = 314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bool Data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14732000" cy="825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397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stores a Boolean value — either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D8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450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is the foundation of decision-making in programs.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bool Works Internally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31115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3D8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2385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8735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stored as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31115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C450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2385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8735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stored as 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953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Size: 1 byte. Any non-zero value converts to true; zero converts to false.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524500"/>
            <a:ext cx="7112000" cy="2921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651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0325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isReady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isDone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isReady;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prints: 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isDone;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prints: 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254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048000"/>
            <a:ext cx="7112000" cy="5397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9" name="Text 17"/>
          <p:cNvSpPr/>
          <p:nvPr/>
        </p:nvSpPr>
        <p:spPr>
          <a:xfrm>
            <a:off x="8699500" y="3302000"/>
            <a:ext cx="6477000" cy="488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 and States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 isLoggedIn = false;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Making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 hasPermission = true;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States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 gameOver = false;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Toggles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 darkMode = true;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Determining the Size of a Data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sizeof()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 returns the size of a data type or variable 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helps you understand memory usage.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7112000" cy="4318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349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7305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8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10;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(x);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6794500"/>
            <a:ext cx="7112000" cy="1968500"/>
          </a:xfrm>
          <a:prstGeom prst="roundRect">
            <a:avLst>
              <a:gd name="adj" fmla="val 6000"/>
            </a:avLst>
          </a:prstGeom>
          <a:solidFill>
            <a:srgbClr val="E8F0E8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698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70604"/>
                </a:moveTo>
                <a:cubicBezTo>
                  <a:pt x="-1845" y="63163"/>
                  <a:pt x="-1845" y="51078"/>
                  <a:pt x="5596" y="43636"/>
                </a:cubicBezTo>
                <a:cubicBezTo>
                  <a:pt x="13037" y="36195"/>
                  <a:pt x="25122" y="36195"/>
                  <a:pt x="32564" y="43636"/>
                </a:cubicBezTo>
                <a:lnTo>
                  <a:pt x="127814" y="138886"/>
                </a:lnTo>
                <a:cubicBezTo>
                  <a:pt x="135255" y="146328"/>
                  <a:pt x="135255" y="158413"/>
                  <a:pt x="127814" y="165854"/>
                </a:cubicBezTo>
                <a:lnTo>
                  <a:pt x="32564" y="261104"/>
                </a:lnTo>
                <a:cubicBezTo>
                  <a:pt x="25122" y="268545"/>
                  <a:pt x="13037" y="268545"/>
                  <a:pt x="5596" y="261104"/>
                </a:cubicBezTo>
                <a:cubicBezTo>
                  <a:pt x="-1845" y="253663"/>
                  <a:pt x="-1845" y="241578"/>
                  <a:pt x="5596" y="234136"/>
                </a:cubicBezTo>
                <a:lnTo>
                  <a:pt x="87332" y="152400"/>
                </a:lnTo>
                <a:lnTo>
                  <a:pt x="5596" y="70604"/>
                </a:ln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6921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7302500"/>
            <a:ext cx="6604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22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Typical Sizes (Most Systems)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667000"/>
          <a:ext cx="7112000" cy="3556000"/>
        </p:xfrm>
        <a:graphic>
          <a:graphicData uri="http://schemas.openxmlformats.org/drawingml/2006/table">
            <a:tbl>
              <a:tblPr/>
              <a:tblGrid>
                <a:gridCol w="2844800"/>
                <a:gridCol w="2133600"/>
                <a:gridCol w="21336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Type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 (bytes)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 (bits)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382000" y="6604000"/>
            <a:ext cx="7112000" cy="17145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/>
        </p:spPr>
      </p:sp>
      <p:sp>
        <p:nvSpPr>
          <p:cNvPr id="15" name="Shape 12"/>
          <p:cNvSpPr/>
          <p:nvPr/>
        </p:nvSpPr>
        <p:spPr>
          <a:xfrm>
            <a:off x="8674100" y="6794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6" name="Text 13"/>
          <p:cNvSpPr/>
          <p:nvPr/>
        </p:nvSpPr>
        <p:spPr>
          <a:xfrm>
            <a:off x="9067800" y="6731000"/>
            <a:ext cx="6172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Sizes can vary between 32-bit and 64-bit systems. Use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write portable code that adapts to any platform.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Assignments and Initialization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Assignment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gives a value to an existing variable.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gives a value at the time of declaration. C++ offers multiple ways to initialize.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Ways to Initialize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4699000" cy="228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984500"/>
            <a:ext cx="1778000" cy="3556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98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492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10;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064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traditional way. Uses the equals sign. Most commonly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794000"/>
            <a:ext cx="4699000" cy="228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2984500"/>
            <a:ext cx="1778000" cy="3556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298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3492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x(10);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4064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parentheses. Less common but valid in all C++ versions.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794000"/>
            <a:ext cx="4699000" cy="22860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0" y="2984500"/>
            <a:ext cx="2286000" cy="355600"/>
          </a:xfrm>
          <a:prstGeom prst="roundRect">
            <a:avLst>
              <a:gd name="adj" fmla="val 10000"/>
            </a:avLst>
          </a:prstGeom>
          <a:solidFill>
            <a:srgbClr val="3D8B5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984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(C++11)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3492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x{10};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4064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braces. Prevents narrowing conversions. Recommended in modern C++.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461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5E8D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1562100" y="5715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622300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uninitialized variable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contains a garbage value. Always initialize variables before using them!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11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Declarations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7556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1, b = 2, c = 3;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and initialize multiple variables of the same type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defines where in the program a variable can be accessed. Keeping variables in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smallest scope possible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best practice.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Visualization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7112000" cy="5588000"/>
          </a:xfrm>
          <a:prstGeom prst="roundRect">
            <a:avLst>
              <a:gd name="adj" fmla="val 4000"/>
            </a:avLst>
          </a:prstGeom>
          <a:solidFill>
            <a:srgbClr val="D5DDE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92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302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globalVar = 100;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3746500"/>
            <a:ext cx="6604000" cy="4381500"/>
          </a:xfrm>
          <a:prstGeom prst="roundRect">
            <a:avLst>
              <a:gd name="adj" fmla="val 5000"/>
            </a:avLst>
          </a:prstGeom>
          <a:solidFill>
            <a:srgbClr val="B8C8D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0000" y="387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main() FUNCTION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4254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mainVar = 50;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4699000"/>
            <a:ext cx="6096000" cy="3175000"/>
          </a:xfrm>
          <a:prstGeom prst="roundRect">
            <a:avLst>
              <a:gd name="adj" fmla="val 6000"/>
            </a:avLst>
          </a:prstGeom>
          <a:solidFill>
            <a:srgbClr val="9BB0C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4826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BLOCK {}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4000" y="5207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blockVar = 25;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5715000"/>
            <a:ext cx="558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Inside this block, you can access: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8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blockVar (own scope)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8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mainVar (outer scope)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8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globalVar (global scope)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28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Types of Scope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27940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8743950" y="304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9169400" y="3022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Scope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35560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declared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inside a function or block {}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Only accessible within that block. Destroyed when the block ends.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main() { int x = 5; 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56515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9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69400" y="58801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Scope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9500" y="64135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declared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 all functions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Accessible from anywhere in the program. Exists for the entire program lifetime.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g = 10; int main() { ... }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sokuakso5iyo/mnt/agents/output/intro-to-cpp/images/6_Dark_Blue_Technology_Stock_Photos.png">    </p:cNvPr>
          <p:cNvPicPr>
            <a:picLocks noChangeAspect="1"/>
          </p:cNvPicPr>
          <p:nvPr/>
        </p:nvPicPr>
        <p:blipFill>
          <a:blip r:embed="rId1"/>
          <a:srcRect l="1540" r="154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1C2E">
                  <a:alpha val="94000"/>
                </a:srgbClr>
              </a:gs>
              <a:gs pos="60000">
                <a:srgbClr val="131C2E">
                  <a:alpha val="88000"/>
                </a:srgbClr>
              </a:gs>
              <a:gs pos="100000">
                <a:srgbClr val="131C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Operators and Best Practices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0AA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with arithmetic operators, writing clear comments, and following programming conventions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 Operators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3556000"/>
        </p:xfrm>
        <a:graphic>
          <a:graphicData uri="http://schemas.openxmlformats.org/drawingml/2006/table">
            <a:tbl>
              <a:tblPr/>
              <a:tblGrid>
                <a:gridCol w="1767840"/>
                <a:gridCol w="2946400"/>
                <a:gridCol w="4861560"/>
                <a:gridCol w="5156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Addition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Adds two values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+ 3 = 8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Subtraction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Subtracts second from first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5 - 3 = 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*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Multiplication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Multiplies two values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* 3 = 15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Division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Divides first by second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/ 3 = 1 (integer!)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Modulo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Remainder after division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5 % 3 = 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Parentheses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Override precedence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(2 + 3) * 4 = 20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2705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F5E8D5"/>
          </a:solidFill>
          <a:ln/>
        </p:spPr>
      </p:sp>
      <p:sp>
        <p:nvSpPr>
          <p:cNvPr id="6" name="Shape 3"/>
          <p:cNvSpPr/>
          <p:nvPr/>
        </p:nvSpPr>
        <p:spPr>
          <a:xfrm>
            <a:off x="1016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1498600" y="5435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Division Trap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59436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/ 2 = 3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3.5!)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get a decimal result, use floating-point operands: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7.0 / 2.0 = 3.5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82000" y="52705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/>
        </p:spPr>
      </p:sp>
      <p:sp>
        <p:nvSpPr>
          <p:cNvPr id="10" name="Shape 7"/>
          <p:cNvSpPr/>
          <p:nvPr/>
        </p:nvSpPr>
        <p:spPr>
          <a:xfrm>
            <a:off x="8636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9118600" y="5435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 Precedence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0" y="59436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Parentheses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highest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/ %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(left to right)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-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(left to right)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7620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7683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Modulo %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works only with integers. It is useful for: checking even/odd (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 % 2 == 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), cycling through values, and extracting digits.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notes in code that are ignored by the compiler. They explain the code to human readers — including your future self!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Single-Line Comment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30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8956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This is a single-line comment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20;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Comment after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228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Multi-Line Comment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730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8956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This comment spans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lines */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Write Comments?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8895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WHY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what — the code shows what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 sections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easy navigation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Temporarily disable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code for testing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48895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complex logic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isn't obvious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teammates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 your code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future self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remember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302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vs. Bad Comments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7747000"/>
            <a:ext cx="7112000" cy="762000"/>
          </a:xfrm>
          <a:prstGeom prst="roundRect">
            <a:avLst>
              <a:gd name="adj" fmla="val 6000"/>
            </a:avLst>
          </a:prstGeom>
          <a:solidFill>
            <a:srgbClr val="F5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7810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x + 1;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Increment x (redundant!)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7747000"/>
            <a:ext cx="7112000" cy="762000"/>
          </a:xfrm>
          <a:prstGeom prst="roundRect">
            <a:avLst>
              <a:gd name="adj" fmla="val 6000"/>
            </a:avLst>
          </a:prstGeom>
          <a:solidFill>
            <a:srgbClr val="E8F0E8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7810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count++;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B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Track items processed (explains why)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Named Constants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14732000" cy="825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397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constant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variable whose value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change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during program execution. Use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to declare 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7112000" cy="3175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03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PI = 3.14159;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MAX_SIZE = 100;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Must be initialized when declared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A7B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Cannot assign a new value later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PI = 3.14; // ERROR!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9055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969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Convention: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ALL_CAPS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underscores for constant names: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MAX_SIZE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Constants?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2921000"/>
            <a:ext cx="7112000" cy="3937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3" name="Text 11"/>
          <p:cNvSpPr/>
          <p:nvPr/>
        </p:nvSpPr>
        <p:spPr>
          <a:xfrm>
            <a:off x="8699500" y="3175000"/>
            <a:ext cx="6477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Readability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MAX_SIZE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clearer than 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accidental value changes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Maintainability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one line, update everywhere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7175500"/>
            <a:ext cx="7112000" cy="1333500"/>
          </a:xfrm>
          <a:prstGeom prst="roundRect">
            <a:avLst>
              <a:gd name="adj" fmla="val 6000"/>
            </a:avLst>
          </a:prstGeom>
          <a:solidFill>
            <a:srgbClr val="F5E8D5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7302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 vs. #define: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Prefer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C++. It has type safety, scope rules, and is debugger-friendly.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#define PI 3.14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old C-style macro.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Style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style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about writing clean, readable, and maintainable code. Good style makes code easier to debug and collaborate 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0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STYLE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92400"/>
            <a:ext cx="7112000" cy="2476500"/>
          </a:xfrm>
          <a:prstGeom prst="roundRect">
            <a:avLst>
              <a:gd name="adj" fmla="val 6000"/>
            </a:avLst>
          </a:prstGeom>
          <a:solidFill>
            <a:srgbClr val="F5E0E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8194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(){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a=5,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b=10,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c=a+b;cout&lt;&lt;c;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2286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D8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STYLE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692400"/>
            <a:ext cx="7112000" cy="2476500"/>
          </a:xfrm>
          <a:prstGeom prst="roundRect">
            <a:avLst>
              <a:gd name="adj" fmla="val 6000"/>
            </a:avLst>
          </a:prstGeom>
          <a:solidFill>
            <a:srgbClr val="E8F0E8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8194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firstNum = 5;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secondNum = 10;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7DB8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sum = firstNum + secondNum;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sum;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52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Style Guidelines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33462" y="6096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3" name="Text 11"/>
          <p:cNvSpPr/>
          <p:nvPr/>
        </p:nvSpPr>
        <p:spPr>
          <a:xfrm>
            <a:off x="1422400" y="60579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indentation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 or 4 spaces)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33462" y="6540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5" name="Text 13"/>
          <p:cNvSpPr/>
          <p:nvPr/>
        </p:nvSpPr>
        <p:spPr>
          <a:xfrm>
            <a:off x="1422400" y="65024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names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totalPrice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tp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33462" y="6985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7" name="Text 15"/>
          <p:cNvSpPr/>
          <p:nvPr/>
        </p:nvSpPr>
        <p:spPr>
          <a:xfrm>
            <a:off x="1422400" y="69469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spaces around operators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a + b;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99463" y="6096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88400" y="60579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statement per line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99463" y="6540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21" name="Text 19"/>
          <p:cNvSpPr/>
          <p:nvPr/>
        </p:nvSpPr>
        <p:spPr>
          <a:xfrm>
            <a:off x="8788400" y="65024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lines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80-100 characters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99463" y="6985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3D8B5C"/>
          </a:solidFill>
          <a:ln/>
        </p:spPr>
      </p:sp>
      <p:sp>
        <p:nvSpPr>
          <p:cNvPr id="23" name="Text 21"/>
          <p:cNvSpPr/>
          <p:nvPr/>
        </p:nvSpPr>
        <p:spPr>
          <a:xfrm>
            <a:off x="8788400" y="69469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brace placement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sokuakso5iyo/mnt/agents/output/intro-to-cpp/images/6_Dark_Blue_Technology_Stock_Photos.png">    </p:cNvPr>
          <p:cNvPicPr>
            <a:picLocks noChangeAspect="1"/>
          </p:cNvPicPr>
          <p:nvPr/>
        </p:nvPicPr>
        <p:blipFill>
          <a:blip r:embed="rId1"/>
          <a:srcRect l="1540" r="154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1C2E">
                  <a:alpha val="94000"/>
                </a:srgbClr>
              </a:gs>
              <a:gs pos="60000">
                <a:srgbClr val="131C2E">
                  <a:alpha val="88000"/>
                </a:srgbClr>
              </a:gs>
              <a:gs pos="100000">
                <a:srgbClr val="131C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&amp; Review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20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A0AA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Quiz preparation and key concepts summary for Week 4 evaluation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Quiz-02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Week 4 Quiz covers all topics from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3-4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Here are the key areas to review: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699000" cy="6223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857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302000"/>
            <a:ext cx="4191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Parts of a C++ program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Preprocessor directives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syntax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files purpose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Statements and semicolons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with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095500"/>
            <a:ext cx="4699000" cy="6223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857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Variables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302000"/>
            <a:ext cx="4191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declaration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Assignment &amp; initialization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Identifier naming rules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Reserved keywords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 types (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int, short, long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char, string, float, double, bool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(local vs. global)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095500"/>
            <a:ext cx="4699000" cy="6223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857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Operators &amp; Style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3302000"/>
            <a:ext cx="4191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Arithmetic operators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precedence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 division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&amp; multi-line comments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constants (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style rules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5" name="Shape 3"/>
          <p:cNvSpPr/>
          <p:nvPr/>
        </p:nvSpPr>
        <p:spPr>
          <a:xfrm>
            <a:off x="993775" y="152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498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C++ program needs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main()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statements ending with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333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6054725" y="152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515100" y="1498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right type: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int, char, string, float, double, bool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333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1600" y="1498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meaningful names. Follow the rules. Avoid reserved keywords.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873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94040"/>
                </a:lnTo>
                <a:cubicBezTo>
                  <a:pt x="0" y="98762"/>
                  <a:pt x="3056" y="102791"/>
                  <a:pt x="7015" y="105360"/>
                </a:cubicBezTo>
                <a:cubicBezTo>
                  <a:pt x="16183" y="111333"/>
                  <a:pt x="22225" y="121612"/>
                  <a:pt x="22225" y="133350"/>
                </a:cubicBezTo>
                <a:cubicBezTo>
                  <a:pt x="22225" y="145088"/>
                  <a:pt x="16183" y="155367"/>
                  <a:pt x="7015" y="161340"/>
                </a:cubicBezTo>
                <a:cubicBezTo>
                  <a:pt x="3056" y="163909"/>
                  <a:pt x="0" y="167938"/>
                  <a:pt x="0" y="172660"/>
                </a:cubicBezTo>
                <a:lnTo>
                  <a:pt x="0" y="211138"/>
                </a:lnTo>
                <a:lnTo>
                  <a:pt x="355600" y="211138"/>
                </a:lnTo>
                <a:lnTo>
                  <a:pt x="355600" y="172660"/>
                </a:lnTo>
                <a:cubicBezTo>
                  <a:pt x="355600" y="167938"/>
                  <a:pt x="352544" y="163909"/>
                  <a:pt x="348585" y="161340"/>
                </a:cubicBezTo>
                <a:cubicBezTo>
                  <a:pt x="339417" y="155367"/>
                  <a:pt x="333375" y="145088"/>
                  <a:pt x="333375" y="133350"/>
                </a:cubicBezTo>
                <a:cubicBezTo>
                  <a:pt x="333375" y="121612"/>
                  <a:pt x="339417" y="111333"/>
                  <a:pt x="348585" y="105360"/>
                </a:cubicBezTo>
                <a:cubicBezTo>
                  <a:pt x="352544" y="102791"/>
                  <a:pt x="355600" y="98762"/>
                  <a:pt x="355600" y="9404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355600" y="288925"/>
                </a:moveTo>
                <a:lnTo>
                  <a:pt x="355600" y="244475"/>
                </a:lnTo>
                <a:lnTo>
                  <a:pt x="0" y="244475"/>
                </a:lnTo>
                <a:lnTo>
                  <a:pt x="0" y="288925"/>
                </a:lnTo>
                <a:cubicBezTo>
                  <a:pt x="0" y="301218"/>
                  <a:pt x="9932" y="311150"/>
                  <a:pt x="22225" y="311150"/>
                </a:cubicBezTo>
                <a:lnTo>
                  <a:pt x="66675" y="311150"/>
                </a:lnTo>
                <a:lnTo>
                  <a:pt x="66675" y="294481"/>
                </a:lnTo>
                <a:cubicBezTo>
                  <a:pt x="66675" y="285244"/>
                  <a:pt x="74106" y="277813"/>
                  <a:pt x="83344" y="277813"/>
                </a:cubicBezTo>
                <a:cubicBezTo>
                  <a:pt x="92581" y="277813"/>
                  <a:pt x="100013" y="285244"/>
                  <a:pt x="100013" y="294481"/>
                </a:cubicBezTo>
                <a:lnTo>
                  <a:pt x="100013" y="311150"/>
                </a:lnTo>
                <a:lnTo>
                  <a:pt x="161131" y="311150"/>
                </a:lnTo>
                <a:lnTo>
                  <a:pt x="161131" y="294481"/>
                </a:lnTo>
                <a:cubicBezTo>
                  <a:pt x="161131" y="285244"/>
                  <a:pt x="168563" y="277813"/>
                  <a:pt x="177800" y="277813"/>
                </a:cubicBezTo>
                <a:cubicBezTo>
                  <a:pt x="187037" y="277813"/>
                  <a:pt x="194469" y="285244"/>
                  <a:pt x="194469" y="294481"/>
                </a:cubicBezTo>
                <a:lnTo>
                  <a:pt x="194469" y="311150"/>
                </a:lnTo>
                <a:lnTo>
                  <a:pt x="255587" y="311150"/>
                </a:lnTo>
                <a:lnTo>
                  <a:pt x="255587" y="294481"/>
                </a:lnTo>
                <a:cubicBezTo>
                  <a:pt x="255587" y="285244"/>
                  <a:pt x="263019" y="277813"/>
                  <a:pt x="272256" y="277813"/>
                </a:cubicBezTo>
                <a:cubicBezTo>
                  <a:pt x="281494" y="277813"/>
                  <a:pt x="288925" y="285244"/>
                  <a:pt x="288925" y="294481"/>
                </a:cubicBezTo>
                <a:lnTo>
                  <a:pt x="288925" y="311150"/>
                </a:ln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lose/>
                <a:moveTo>
                  <a:pt x="111125" y="111125"/>
                </a:moveTo>
                <a:lnTo>
                  <a:pt x="111125" y="155575"/>
                </a:lnTo>
                <a:cubicBezTo>
                  <a:pt x="111125" y="167868"/>
                  <a:pt x="101193" y="177800"/>
                  <a:pt x="88900" y="177800"/>
                </a:cubicBezTo>
                <a:cubicBezTo>
                  <a:pt x="76607" y="177800"/>
                  <a:pt x="66675" y="167868"/>
                  <a:pt x="66675" y="155575"/>
                </a:cubicBezTo>
                <a:lnTo>
                  <a:pt x="66675" y="111125"/>
                </a:lnTo>
                <a:cubicBezTo>
                  <a:pt x="66675" y="98832"/>
                  <a:pt x="76607" y="88900"/>
                  <a:pt x="88900" y="88900"/>
                </a:cubicBezTo>
                <a:cubicBezTo>
                  <a:pt x="101193" y="88900"/>
                  <a:pt x="111125" y="98832"/>
                  <a:pt x="111125" y="111125"/>
                </a:cubicBezTo>
                <a:close/>
                <a:moveTo>
                  <a:pt x="200025" y="111125"/>
                </a:moveTo>
                <a:lnTo>
                  <a:pt x="200025" y="155575"/>
                </a:lnTo>
                <a:cubicBezTo>
                  <a:pt x="200025" y="167868"/>
                  <a:pt x="190093" y="177800"/>
                  <a:pt x="177800" y="177800"/>
                </a:cubicBezTo>
                <a:cubicBezTo>
                  <a:pt x="165507" y="177800"/>
                  <a:pt x="155575" y="167868"/>
                  <a:pt x="155575" y="155575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88925" y="111125"/>
                </a:moveTo>
                <a:lnTo>
                  <a:pt x="288925" y="155575"/>
                </a:lnTo>
                <a:cubicBezTo>
                  <a:pt x="288925" y="167868"/>
                  <a:pt x="278993" y="177800"/>
                  <a:pt x="266700" y="177800"/>
                </a:cubicBezTo>
                <a:cubicBezTo>
                  <a:pt x="254407" y="177800"/>
                  <a:pt x="244475" y="167868"/>
                  <a:pt x="244475" y="155575"/>
                </a:cubicBezTo>
                <a:lnTo>
                  <a:pt x="244475" y="111125"/>
                </a:lnTo>
                <a:cubicBezTo>
                  <a:pt x="244475" y="98832"/>
                  <a:pt x="254407" y="88900"/>
                  <a:pt x="266700" y="88900"/>
                </a:cubicBezTo>
                <a:cubicBezTo>
                  <a:pt x="278993" y="88900"/>
                  <a:pt x="288925" y="98832"/>
                  <a:pt x="288925" y="111125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4038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before use. Understand scope. Use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values that shouldn't change.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0" y="3873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6950" y="4064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66675" y="44450"/>
                </a:moveTo>
                <a:lnTo>
                  <a:pt x="200025" y="44450"/>
                </a:lnTo>
                <a:cubicBezTo>
                  <a:pt x="212318" y="44450"/>
                  <a:pt x="222250" y="54382"/>
                  <a:pt x="222250" y="66675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66675" y="111125"/>
                </a:lnTo>
                <a:cubicBezTo>
                  <a:pt x="54382" y="111125"/>
                  <a:pt x="44450" y="101193"/>
                  <a:pt x="44450" y="88900"/>
                </a:cubicBezTo>
                <a:lnTo>
                  <a:pt x="44450" y="66675"/>
                </a:lnTo>
                <a:cubicBezTo>
                  <a:pt x="44450" y="54382"/>
                  <a:pt x="54382" y="44450"/>
                  <a:pt x="66675" y="44450"/>
                </a:cubicBezTo>
                <a:close/>
                <a:moveTo>
                  <a:pt x="77788" y="161131"/>
                </a:moveTo>
                <a:cubicBezTo>
                  <a:pt x="77788" y="170331"/>
                  <a:pt x="70318" y="177800"/>
                  <a:pt x="61119" y="177800"/>
                </a:cubicBezTo>
                <a:cubicBezTo>
                  <a:pt x="51919" y="177800"/>
                  <a:pt x="44450" y="170331"/>
                  <a:pt x="44450" y="161131"/>
                </a:cubicBezTo>
                <a:cubicBezTo>
                  <a:pt x="44450" y="151932"/>
                  <a:pt x="51919" y="144463"/>
                  <a:pt x="61119" y="144463"/>
                </a:cubicBezTo>
                <a:cubicBezTo>
                  <a:pt x="70318" y="144463"/>
                  <a:pt x="77788" y="151932"/>
                  <a:pt x="77788" y="161131"/>
                </a:cubicBezTo>
                <a:close/>
                <a:moveTo>
                  <a:pt x="133350" y="177800"/>
                </a:moveTo>
                <a:cubicBezTo>
                  <a:pt x="124150" y="177800"/>
                  <a:pt x="116681" y="170331"/>
                  <a:pt x="116681" y="161131"/>
                </a:cubicBezTo>
                <a:cubicBezTo>
                  <a:pt x="116681" y="151932"/>
                  <a:pt x="124150" y="144463"/>
                  <a:pt x="133350" y="144463"/>
                </a:cubicBezTo>
                <a:cubicBezTo>
                  <a:pt x="142550" y="144463"/>
                  <a:pt x="150019" y="151932"/>
                  <a:pt x="150019" y="161131"/>
                </a:cubicBezTo>
                <a:cubicBezTo>
                  <a:pt x="150019" y="170331"/>
                  <a:pt x="142550" y="177800"/>
                  <a:pt x="133350" y="177800"/>
                </a:cubicBezTo>
                <a:close/>
                <a:moveTo>
                  <a:pt x="222250" y="161131"/>
                </a:moveTo>
                <a:cubicBezTo>
                  <a:pt x="222250" y="170331"/>
                  <a:pt x="214781" y="177800"/>
                  <a:pt x="205581" y="177800"/>
                </a:cubicBezTo>
                <a:cubicBezTo>
                  <a:pt x="196382" y="177800"/>
                  <a:pt x="188913" y="170331"/>
                  <a:pt x="188913" y="161131"/>
                </a:cubicBezTo>
                <a:cubicBezTo>
                  <a:pt x="188913" y="151932"/>
                  <a:pt x="196382" y="144463"/>
                  <a:pt x="205581" y="144463"/>
                </a:cubicBezTo>
                <a:cubicBezTo>
                  <a:pt x="214781" y="144463"/>
                  <a:pt x="222250" y="151932"/>
                  <a:pt x="222250" y="161131"/>
                </a:cubicBezTo>
                <a:close/>
                <a:moveTo>
                  <a:pt x="61119" y="244475"/>
                </a:moveTo>
                <a:cubicBezTo>
                  <a:pt x="51919" y="244475"/>
                  <a:pt x="44450" y="237006"/>
                  <a:pt x="44450" y="227806"/>
                </a:cubicBezTo>
                <a:cubicBezTo>
                  <a:pt x="44450" y="218607"/>
                  <a:pt x="51919" y="211138"/>
                  <a:pt x="61119" y="211138"/>
                </a:cubicBezTo>
                <a:cubicBezTo>
                  <a:pt x="70318" y="211138"/>
                  <a:pt x="77788" y="218607"/>
                  <a:pt x="77788" y="227806"/>
                </a:cubicBezTo>
                <a:cubicBezTo>
                  <a:pt x="77788" y="237006"/>
                  <a:pt x="70318" y="244475"/>
                  <a:pt x="61119" y="244475"/>
                </a:cubicBezTo>
                <a:close/>
                <a:moveTo>
                  <a:pt x="150019" y="227806"/>
                </a:moveTo>
                <a:cubicBezTo>
                  <a:pt x="150019" y="237006"/>
                  <a:pt x="142550" y="244475"/>
                  <a:pt x="133350" y="244475"/>
                </a:cubicBezTo>
                <a:cubicBezTo>
                  <a:pt x="124150" y="244475"/>
                  <a:pt x="116681" y="237006"/>
                  <a:pt x="116681" y="227806"/>
                </a:cubicBezTo>
                <a:cubicBezTo>
                  <a:pt x="116681" y="218607"/>
                  <a:pt x="124150" y="211138"/>
                  <a:pt x="133350" y="211138"/>
                </a:cubicBezTo>
                <a:cubicBezTo>
                  <a:pt x="142550" y="211138"/>
                  <a:pt x="150019" y="218607"/>
                  <a:pt x="150019" y="227806"/>
                </a:cubicBezTo>
                <a:close/>
                <a:moveTo>
                  <a:pt x="205581" y="244475"/>
                </a:moveTo>
                <a:cubicBezTo>
                  <a:pt x="196382" y="244475"/>
                  <a:pt x="188913" y="237006"/>
                  <a:pt x="188913" y="227806"/>
                </a:cubicBezTo>
                <a:cubicBezTo>
                  <a:pt x="188913" y="218607"/>
                  <a:pt x="196382" y="211138"/>
                  <a:pt x="205581" y="211138"/>
                </a:cubicBezTo>
                <a:cubicBezTo>
                  <a:pt x="214781" y="211138"/>
                  <a:pt x="222250" y="218607"/>
                  <a:pt x="222250" y="227806"/>
                </a:cubicBezTo>
                <a:cubicBezTo>
                  <a:pt x="222250" y="237006"/>
                  <a:pt x="214781" y="244475"/>
                  <a:pt x="205581" y="244475"/>
                </a:cubicBezTo>
                <a:close/>
                <a:moveTo>
                  <a:pt x="44450" y="294481"/>
                </a:moveTo>
                <a:cubicBezTo>
                  <a:pt x="44450" y="285244"/>
                  <a:pt x="51881" y="277813"/>
                  <a:pt x="61119" y="277813"/>
                </a:cubicBezTo>
                <a:lnTo>
                  <a:pt x="138906" y="277813"/>
                </a:lnTo>
                <a:cubicBezTo>
                  <a:pt x="148144" y="277813"/>
                  <a:pt x="155575" y="285244"/>
                  <a:pt x="155575" y="294481"/>
                </a:cubicBezTo>
                <a:cubicBezTo>
                  <a:pt x="155575" y="303719"/>
                  <a:pt x="148144" y="311150"/>
                  <a:pt x="138906" y="311150"/>
                </a:cubicBezTo>
                <a:lnTo>
                  <a:pt x="61119" y="311150"/>
                </a:lnTo>
                <a:cubicBezTo>
                  <a:pt x="51881" y="311150"/>
                  <a:pt x="44450" y="303719"/>
                  <a:pt x="44450" y="294481"/>
                </a:cubicBezTo>
                <a:close/>
                <a:moveTo>
                  <a:pt x="205581" y="277813"/>
                </a:moveTo>
                <a:cubicBezTo>
                  <a:pt x="214819" y="277813"/>
                  <a:pt x="222250" y="285244"/>
                  <a:pt x="222250" y="294481"/>
                </a:cubicBezTo>
                <a:cubicBezTo>
                  <a:pt x="222250" y="303719"/>
                  <a:pt x="214819" y="311150"/>
                  <a:pt x="205581" y="311150"/>
                </a:cubicBezTo>
                <a:cubicBezTo>
                  <a:pt x="196344" y="311150"/>
                  <a:pt x="188913" y="303719"/>
                  <a:pt x="188913" y="294481"/>
                </a:cubicBezTo>
                <a:cubicBezTo>
                  <a:pt x="188913" y="285244"/>
                  <a:pt x="196344" y="277813"/>
                  <a:pt x="205581" y="277813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5100" y="4038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your arithmetic operators. Watch out for integer division!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95000" y="3873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49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5100" y="14724"/>
                </a:moveTo>
                <a:lnTo>
                  <a:pt x="213916" y="45909"/>
                </a:lnTo>
                <a:lnTo>
                  <a:pt x="309691" y="141684"/>
                </a:lnTo>
                <a:lnTo>
                  <a:pt x="340876" y="110500"/>
                </a:lnTo>
                <a:cubicBezTo>
                  <a:pt x="350322" y="101124"/>
                  <a:pt x="355600" y="88344"/>
                  <a:pt x="355600" y="75009"/>
                </a:cubicBezTo>
                <a:cubicBezTo>
                  <a:pt x="355600" y="61674"/>
                  <a:pt x="350322" y="48895"/>
                  <a:pt x="340876" y="39519"/>
                </a:cubicBezTo>
                <a:lnTo>
                  <a:pt x="316081" y="14724"/>
                </a:lnTo>
                <a:cubicBezTo>
                  <a:pt x="306705" y="5278"/>
                  <a:pt x="293926" y="0"/>
                  <a:pt x="280591" y="0"/>
                </a:cubicBezTo>
                <a:cubicBezTo>
                  <a:pt x="267256" y="0"/>
                  <a:pt x="254476" y="5278"/>
                  <a:pt x="245100" y="14724"/>
                </a:cubicBezTo>
                <a:close/>
                <a:moveTo>
                  <a:pt x="190371" y="69453"/>
                </a:moveTo>
                <a:lnTo>
                  <a:pt x="40908" y="218847"/>
                </a:lnTo>
                <a:cubicBezTo>
                  <a:pt x="33476" y="226278"/>
                  <a:pt x="28059" y="235585"/>
                  <a:pt x="25211" y="245725"/>
                </a:cubicBezTo>
                <a:lnTo>
                  <a:pt x="625" y="334486"/>
                </a:lnTo>
                <a:cubicBezTo>
                  <a:pt x="-972" y="340251"/>
                  <a:pt x="625" y="346502"/>
                  <a:pt x="4931" y="350738"/>
                </a:cubicBezTo>
                <a:cubicBezTo>
                  <a:pt x="9237" y="354975"/>
                  <a:pt x="15419" y="356642"/>
                  <a:pt x="21183" y="355044"/>
                </a:cubicBezTo>
                <a:lnTo>
                  <a:pt x="109944" y="330389"/>
                </a:lnTo>
                <a:cubicBezTo>
                  <a:pt x="120084" y="327541"/>
                  <a:pt x="129322" y="322193"/>
                  <a:pt x="136823" y="314692"/>
                </a:cubicBezTo>
                <a:lnTo>
                  <a:pt x="286147" y="165229"/>
                </a:lnTo>
                <a:lnTo>
                  <a:pt x="190371" y="69453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1531600" y="4038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comments explaining WHY. Keep code clean and readable.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41425" y="692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57200" y="400050"/>
                </a:lnTo>
                <a:cubicBezTo>
                  <a:pt x="488722" y="400050"/>
                  <a:pt x="514350" y="374422"/>
                  <a:pt x="514350" y="342900"/>
                </a:cubicBezTo>
                <a:lnTo>
                  <a:pt x="514350" y="114300"/>
                </a:lnTo>
                <a:cubicBezTo>
                  <a:pt x="514350" y="82778"/>
                  <a:pt x="488722" y="57150"/>
                  <a:pt x="457200" y="57150"/>
                </a:cubicBezTo>
                <a:lnTo>
                  <a:pt x="57150" y="57150"/>
                </a:lnTo>
                <a:close/>
                <a:moveTo>
                  <a:pt x="71438" y="114300"/>
                </a:moveTo>
                <a:lnTo>
                  <a:pt x="100013" y="114300"/>
                </a:lnTo>
                <a:cubicBezTo>
                  <a:pt x="107871" y="114300"/>
                  <a:pt x="114300" y="120729"/>
                  <a:pt x="114300" y="128588"/>
                </a:cubicBezTo>
                <a:lnTo>
                  <a:pt x="114300" y="157163"/>
                </a:lnTo>
                <a:cubicBezTo>
                  <a:pt x="114300" y="165021"/>
                  <a:pt x="107871" y="171450"/>
                  <a:pt x="100013" y="171450"/>
                </a:cubicBezTo>
                <a:lnTo>
                  <a:pt x="71438" y="171450"/>
                </a:lnTo>
                <a:cubicBezTo>
                  <a:pt x="63579" y="171450"/>
                  <a:pt x="57150" y="165021"/>
                  <a:pt x="57150" y="157163"/>
                </a:cubicBezTo>
                <a:lnTo>
                  <a:pt x="57150" y="128588"/>
                </a:lnTo>
                <a:cubicBezTo>
                  <a:pt x="57150" y="120729"/>
                  <a:pt x="63579" y="114300"/>
                  <a:pt x="71438" y="114300"/>
                </a:cubicBezTo>
                <a:close/>
                <a:moveTo>
                  <a:pt x="57150" y="214313"/>
                </a:moveTo>
                <a:cubicBezTo>
                  <a:pt x="57150" y="206454"/>
                  <a:pt x="63579" y="200025"/>
                  <a:pt x="71438" y="200025"/>
                </a:cubicBezTo>
                <a:lnTo>
                  <a:pt x="100013" y="200025"/>
                </a:lnTo>
                <a:cubicBezTo>
                  <a:pt x="107871" y="200025"/>
                  <a:pt x="114300" y="206454"/>
                  <a:pt x="114300" y="214313"/>
                </a:cubicBezTo>
                <a:lnTo>
                  <a:pt x="114300" y="242888"/>
                </a:lnTo>
                <a:cubicBezTo>
                  <a:pt x="114300" y="250746"/>
                  <a:pt x="107871" y="257175"/>
                  <a:pt x="100013" y="257175"/>
                </a:cubicBezTo>
                <a:lnTo>
                  <a:pt x="71438" y="257175"/>
                </a:lnTo>
                <a:cubicBezTo>
                  <a:pt x="63579" y="257175"/>
                  <a:pt x="57150" y="250746"/>
                  <a:pt x="57150" y="242888"/>
                </a:cubicBezTo>
                <a:lnTo>
                  <a:pt x="57150" y="214313"/>
                </a:lnTo>
                <a:close/>
                <a:moveTo>
                  <a:pt x="157163" y="114300"/>
                </a:moveTo>
                <a:lnTo>
                  <a:pt x="185738" y="114300"/>
                </a:lnTo>
                <a:cubicBezTo>
                  <a:pt x="193596" y="114300"/>
                  <a:pt x="200025" y="120729"/>
                  <a:pt x="200025" y="128588"/>
                </a:cubicBezTo>
                <a:lnTo>
                  <a:pt x="200025" y="157163"/>
                </a:lnTo>
                <a:cubicBezTo>
                  <a:pt x="200025" y="165021"/>
                  <a:pt x="193596" y="171450"/>
                  <a:pt x="185738" y="171450"/>
                </a:cubicBezTo>
                <a:lnTo>
                  <a:pt x="157163" y="171450"/>
                </a:lnTo>
                <a:cubicBezTo>
                  <a:pt x="149304" y="171450"/>
                  <a:pt x="142875" y="165021"/>
                  <a:pt x="142875" y="157163"/>
                </a:cubicBezTo>
                <a:lnTo>
                  <a:pt x="142875" y="128588"/>
                </a:lnTo>
                <a:cubicBezTo>
                  <a:pt x="142875" y="120729"/>
                  <a:pt x="149304" y="114300"/>
                  <a:pt x="157163" y="114300"/>
                </a:cubicBezTo>
                <a:close/>
                <a:moveTo>
                  <a:pt x="142875" y="214313"/>
                </a:moveTo>
                <a:cubicBezTo>
                  <a:pt x="142875" y="206454"/>
                  <a:pt x="149304" y="200025"/>
                  <a:pt x="157163" y="200025"/>
                </a:cubicBezTo>
                <a:lnTo>
                  <a:pt x="185738" y="200025"/>
                </a:lnTo>
                <a:cubicBezTo>
                  <a:pt x="193596" y="200025"/>
                  <a:pt x="200025" y="206454"/>
                  <a:pt x="200025" y="214313"/>
                </a:cubicBezTo>
                <a:lnTo>
                  <a:pt x="200025" y="242888"/>
                </a:lnTo>
                <a:cubicBezTo>
                  <a:pt x="200025" y="250746"/>
                  <a:pt x="193596" y="257175"/>
                  <a:pt x="185738" y="257175"/>
                </a:cubicBezTo>
                <a:lnTo>
                  <a:pt x="157163" y="257175"/>
                </a:lnTo>
                <a:cubicBezTo>
                  <a:pt x="149304" y="257175"/>
                  <a:pt x="142875" y="250746"/>
                  <a:pt x="142875" y="242888"/>
                </a:cubicBezTo>
                <a:lnTo>
                  <a:pt x="142875" y="214313"/>
                </a:lnTo>
                <a:close/>
                <a:moveTo>
                  <a:pt x="157163" y="285750"/>
                </a:moveTo>
                <a:lnTo>
                  <a:pt x="357188" y="285750"/>
                </a:lnTo>
                <a:cubicBezTo>
                  <a:pt x="365046" y="285750"/>
                  <a:pt x="371475" y="292179"/>
                  <a:pt x="371475" y="300038"/>
                </a:cubicBezTo>
                <a:lnTo>
                  <a:pt x="371475" y="328613"/>
                </a:lnTo>
                <a:cubicBezTo>
                  <a:pt x="371475" y="336471"/>
                  <a:pt x="365046" y="342900"/>
                  <a:pt x="357188" y="342900"/>
                </a:cubicBezTo>
                <a:lnTo>
                  <a:pt x="157163" y="342900"/>
                </a:lnTo>
                <a:cubicBezTo>
                  <a:pt x="149304" y="342900"/>
                  <a:pt x="142875" y="336471"/>
                  <a:pt x="142875" y="328613"/>
                </a:cubicBezTo>
                <a:lnTo>
                  <a:pt x="142875" y="300038"/>
                </a:lnTo>
                <a:cubicBezTo>
                  <a:pt x="142875" y="292179"/>
                  <a:pt x="149304" y="285750"/>
                  <a:pt x="157163" y="285750"/>
                </a:cubicBezTo>
                <a:close/>
                <a:moveTo>
                  <a:pt x="228600" y="128588"/>
                </a:moveTo>
                <a:cubicBezTo>
                  <a:pt x="228600" y="120729"/>
                  <a:pt x="235029" y="114300"/>
                  <a:pt x="242888" y="114300"/>
                </a:cubicBezTo>
                <a:lnTo>
                  <a:pt x="271463" y="114300"/>
                </a:lnTo>
                <a:cubicBezTo>
                  <a:pt x="279321" y="114300"/>
                  <a:pt x="285750" y="120729"/>
                  <a:pt x="285750" y="128588"/>
                </a:cubicBezTo>
                <a:lnTo>
                  <a:pt x="285750" y="157163"/>
                </a:lnTo>
                <a:cubicBezTo>
                  <a:pt x="285750" y="165021"/>
                  <a:pt x="279321" y="171450"/>
                  <a:pt x="271463" y="171450"/>
                </a:cubicBezTo>
                <a:lnTo>
                  <a:pt x="242888" y="171450"/>
                </a:lnTo>
                <a:cubicBezTo>
                  <a:pt x="235029" y="171450"/>
                  <a:pt x="228600" y="165021"/>
                  <a:pt x="228600" y="157163"/>
                </a:cubicBezTo>
                <a:lnTo>
                  <a:pt x="228600" y="128588"/>
                </a:lnTo>
                <a:close/>
                <a:moveTo>
                  <a:pt x="242888" y="200025"/>
                </a:moveTo>
                <a:lnTo>
                  <a:pt x="271463" y="200025"/>
                </a:lnTo>
                <a:cubicBezTo>
                  <a:pt x="279321" y="200025"/>
                  <a:pt x="285750" y="206454"/>
                  <a:pt x="285750" y="214313"/>
                </a:cubicBezTo>
                <a:lnTo>
                  <a:pt x="285750" y="242888"/>
                </a:lnTo>
                <a:cubicBezTo>
                  <a:pt x="285750" y="250746"/>
                  <a:pt x="279321" y="257175"/>
                  <a:pt x="271463" y="257175"/>
                </a:cubicBezTo>
                <a:lnTo>
                  <a:pt x="242888" y="257175"/>
                </a:lnTo>
                <a:cubicBezTo>
                  <a:pt x="235029" y="257175"/>
                  <a:pt x="228600" y="250746"/>
                  <a:pt x="228600" y="242888"/>
                </a:cubicBezTo>
                <a:lnTo>
                  <a:pt x="228600" y="214313"/>
                </a:lnTo>
                <a:cubicBezTo>
                  <a:pt x="228600" y="206454"/>
                  <a:pt x="235029" y="200025"/>
                  <a:pt x="242888" y="200025"/>
                </a:cubicBezTo>
                <a:close/>
                <a:moveTo>
                  <a:pt x="314325" y="128588"/>
                </a:moveTo>
                <a:cubicBezTo>
                  <a:pt x="314325" y="120729"/>
                  <a:pt x="320754" y="114300"/>
                  <a:pt x="328613" y="114300"/>
                </a:cubicBezTo>
                <a:lnTo>
                  <a:pt x="357188" y="114300"/>
                </a:lnTo>
                <a:cubicBezTo>
                  <a:pt x="365046" y="114300"/>
                  <a:pt x="371475" y="120729"/>
                  <a:pt x="371475" y="128588"/>
                </a:cubicBezTo>
                <a:lnTo>
                  <a:pt x="371475" y="157163"/>
                </a:lnTo>
                <a:cubicBezTo>
                  <a:pt x="371475" y="165021"/>
                  <a:pt x="365046" y="171450"/>
                  <a:pt x="357188" y="171450"/>
                </a:cubicBezTo>
                <a:lnTo>
                  <a:pt x="328613" y="171450"/>
                </a:lnTo>
                <a:cubicBezTo>
                  <a:pt x="320754" y="171450"/>
                  <a:pt x="314325" y="165021"/>
                  <a:pt x="314325" y="157163"/>
                </a:cubicBezTo>
                <a:lnTo>
                  <a:pt x="314325" y="128588"/>
                </a:lnTo>
                <a:close/>
                <a:moveTo>
                  <a:pt x="328613" y="200025"/>
                </a:moveTo>
                <a:lnTo>
                  <a:pt x="357188" y="200025"/>
                </a:lnTo>
                <a:cubicBezTo>
                  <a:pt x="365046" y="200025"/>
                  <a:pt x="371475" y="206454"/>
                  <a:pt x="371475" y="214313"/>
                </a:cubicBezTo>
                <a:lnTo>
                  <a:pt x="371475" y="242888"/>
                </a:lnTo>
                <a:cubicBezTo>
                  <a:pt x="371475" y="250746"/>
                  <a:pt x="365046" y="257175"/>
                  <a:pt x="357188" y="257175"/>
                </a:cubicBezTo>
                <a:lnTo>
                  <a:pt x="328613" y="257175"/>
                </a:lnTo>
                <a:cubicBezTo>
                  <a:pt x="320754" y="257175"/>
                  <a:pt x="314325" y="250746"/>
                  <a:pt x="314325" y="242888"/>
                </a:cubicBezTo>
                <a:lnTo>
                  <a:pt x="314325" y="214313"/>
                </a:lnTo>
                <a:cubicBezTo>
                  <a:pt x="314325" y="206454"/>
                  <a:pt x="320754" y="200025"/>
                  <a:pt x="328613" y="200025"/>
                </a:cubicBezTo>
                <a:close/>
                <a:moveTo>
                  <a:pt x="400050" y="128588"/>
                </a:moveTo>
                <a:cubicBezTo>
                  <a:pt x="400050" y="120729"/>
                  <a:pt x="406479" y="114300"/>
                  <a:pt x="414338" y="114300"/>
                </a:cubicBezTo>
                <a:lnTo>
                  <a:pt x="442913" y="114300"/>
                </a:lnTo>
                <a:cubicBezTo>
                  <a:pt x="450771" y="114300"/>
                  <a:pt x="457200" y="120729"/>
                  <a:pt x="457200" y="128588"/>
                </a:cubicBezTo>
                <a:lnTo>
                  <a:pt x="457200" y="157163"/>
                </a:lnTo>
                <a:cubicBezTo>
                  <a:pt x="457200" y="165021"/>
                  <a:pt x="450771" y="171450"/>
                  <a:pt x="442913" y="171450"/>
                </a:cubicBezTo>
                <a:lnTo>
                  <a:pt x="414338" y="171450"/>
                </a:lnTo>
                <a:cubicBezTo>
                  <a:pt x="406479" y="171450"/>
                  <a:pt x="400050" y="165021"/>
                  <a:pt x="400050" y="157163"/>
                </a:cubicBezTo>
                <a:lnTo>
                  <a:pt x="400050" y="128588"/>
                </a:lnTo>
                <a:close/>
                <a:moveTo>
                  <a:pt x="414338" y="200025"/>
                </a:moveTo>
                <a:lnTo>
                  <a:pt x="442913" y="200025"/>
                </a:lnTo>
                <a:cubicBezTo>
                  <a:pt x="450771" y="200025"/>
                  <a:pt x="457200" y="206454"/>
                  <a:pt x="457200" y="214313"/>
                </a:cubicBezTo>
                <a:lnTo>
                  <a:pt x="457200" y="242888"/>
                </a:lnTo>
                <a:cubicBezTo>
                  <a:pt x="457200" y="250746"/>
                  <a:pt x="450771" y="257175"/>
                  <a:pt x="442913" y="257175"/>
                </a:cubicBezTo>
                <a:lnTo>
                  <a:pt x="414338" y="257175"/>
                </a:lnTo>
                <a:cubicBezTo>
                  <a:pt x="406479" y="257175"/>
                  <a:pt x="400050" y="250746"/>
                  <a:pt x="400050" y="242888"/>
                </a:cubicBezTo>
                <a:lnTo>
                  <a:pt x="400050" y="214313"/>
                </a:lnTo>
                <a:cubicBezTo>
                  <a:pt x="400050" y="206454"/>
                  <a:pt x="406479" y="200025"/>
                  <a:pt x="414338" y="20002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30" name="Text 28"/>
          <p:cNvSpPr/>
          <p:nvPr/>
        </p:nvSpPr>
        <p:spPr>
          <a:xfrm>
            <a:off x="1905000" y="6731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Remember: Practice is Essential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905000" y="7239000"/>
            <a:ext cx="1320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small programs every day. Experiment with different data types. Break code on purpose to understand error messages. The best way to learn programming is by programming.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sokuakso5iyo/mnt/agents/output/intro-to-cpp/images/3_Dark_blue_technology_background_Images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1C2E">
                  <a:alpha val="80000"/>
                </a:srgbClr>
              </a:gs>
              <a:gs pos="100000">
                <a:srgbClr val="131C2E">
                  <a:alpha val="94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3048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CODING!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191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457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i="1" dirty="0">
                <a:solidFill>
                  <a:srgbClr val="A0AA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only way to learn a new programming language is by writing programs in it."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A0AA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Dennis Ritchie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711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300" kern="0" dirty="0">
                <a:solidFill>
                  <a:srgbClr val="7A84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FUNDAMENTALS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C++</dc:title>
  <dc:subject>Introduction to C++</dc:subject>
  <dc:creator>Kimi</dc:creator>
  <cp:lastModifiedBy>Kimi</cp:lastModifiedBy>
  <cp:revision>1</cp:revision>
  <dcterms:created xsi:type="dcterms:W3CDTF">2026-05-27T22:36:36Z</dcterms:created>
  <dcterms:modified xsi:type="dcterms:W3CDTF">2026-05-27T22:36:36Z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{"Label":"Introduction to C++","ContentProducer":"001191110108MACG2KBH8F10000","ProduceID":"19e6b92d-b802-8ecf-8000-0000129541f2","ReservedCode1":"","ContentPropagator":"001191110108MACG2KBH8F20000","PropagateID":"19e6b92d-b802-8ecf-8000-0000129541f2","ReservedCode2":""}</vt:lpwstr>
  </property>
</Properties>
</file>